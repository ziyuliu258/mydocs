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4"/>
  </p:notesMasterIdLst>
  <p:handoutMasterIdLst>
    <p:handoutMasterId r:id="rId15"/>
  </p:handoutMasterIdLst>
  <p:sldIdLst>
    <p:sldId id="322" r:id="rId2"/>
    <p:sldId id="392" r:id="rId3"/>
    <p:sldId id="397" r:id="rId4"/>
    <p:sldId id="398" r:id="rId5"/>
    <p:sldId id="399" r:id="rId6"/>
    <p:sldId id="405" r:id="rId7"/>
    <p:sldId id="400" r:id="rId8"/>
    <p:sldId id="402" r:id="rId9"/>
    <p:sldId id="401" r:id="rId10"/>
    <p:sldId id="403" r:id="rId11"/>
    <p:sldId id="404" r:id="rId12"/>
    <p:sldId id="393" r:id="rId13"/>
  </p:sldIdLst>
  <p:sldSz cx="9144000" cy="6858000" type="screen4x3"/>
  <p:notesSz cx="6648450" cy="978058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5pPr>
    <a:lvl6pPr marL="22860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6pPr>
    <a:lvl7pPr marL="27432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7pPr>
    <a:lvl8pPr marL="32004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8pPr>
    <a:lvl9pPr marL="3657600" algn="l" defTabSz="914400" rtl="0" eaLnBrk="1" latinLnBrk="0" hangingPunct="1">
      <a:defRPr kumimoji="1" sz="4800" b="1" kern="1200">
        <a:solidFill>
          <a:srgbClr val="996633"/>
        </a:solidFill>
        <a:latin typeface="隶书" pitchFamily="49" charset="-122"/>
        <a:ea typeface="隶书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  <a:srgbClr val="CC9900"/>
    <a:srgbClr val="CCCC99"/>
    <a:srgbClr val="993300"/>
    <a:srgbClr val="FF9900"/>
    <a:srgbClr val="6600FF"/>
    <a:srgbClr val="FF0066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1000" autoAdjust="0"/>
  </p:normalViewPr>
  <p:slideViewPr>
    <p:cSldViewPr>
      <p:cViewPr varScale="1">
        <p:scale>
          <a:sx n="133" d="100"/>
          <a:sy n="133" d="100"/>
        </p:scale>
        <p:origin x="1288" y="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70" y="-102"/>
      </p:cViewPr>
      <p:guideLst>
        <p:guide orient="horz" pos="3081"/>
        <p:guide pos="209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005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005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25D01681-DA43-44EF-9A76-FC9C89F431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7118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8725" y="0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1063" y="733425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6800" cy="440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1638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8725" y="9291638"/>
            <a:ext cx="28797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335" tIns="44668" rIns="89335" bIns="44668" numCol="1" anchor="b" anchorCtr="0" compatLnSpc="1">
            <a:prstTxWarp prst="textNoShape">
              <a:avLst/>
            </a:prstTxWarp>
          </a:bodyPr>
          <a:lstStyle>
            <a:lvl1pPr algn="r" defTabSz="893763">
              <a:defRPr sz="11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3D87B5F7-9E23-41C7-968F-A71FC1C22F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9731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1pPr>
            <a:lvl2pPr marL="742950" indent="-28575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2pPr>
            <a:lvl3pPr marL="11430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3pPr>
            <a:lvl4pPr marL="16002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4pPr>
            <a:lvl5pPr marL="2057400" indent="-228600" defTabSz="893763" eaLnBrk="0" hangingPunct="0"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5pPr>
            <a:lvl6pPr marL="25146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6pPr>
            <a:lvl7pPr marL="29718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7pPr>
            <a:lvl8pPr marL="34290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8pPr>
            <a:lvl9pPr marL="3886200" indent="-228600" defTabSz="893763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996633"/>
                </a:solidFill>
                <a:latin typeface="隶书" pitchFamily="49" charset="-122"/>
                <a:ea typeface="隶书" pitchFamily="49" charset="-122"/>
              </a:defRPr>
            </a:lvl9pPr>
          </a:lstStyle>
          <a:p>
            <a:pPr eaLnBrk="1" hangingPunct="1"/>
            <a:fld id="{9BF5ADA2-6294-41EF-896E-81994FA777D0}" type="slidenum">
              <a:rPr lang="en-US" altLang="zh-CN" sz="1100" b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pPr eaLnBrk="1" hangingPunct="1"/>
              <a:t>1</a:t>
            </a:fld>
            <a:endParaRPr lang="en-US" altLang="zh-CN" sz="11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10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8400" y="2494800"/>
            <a:ext cx="6913463" cy="4365114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098550" y="784225"/>
            <a:ext cx="7580313" cy="14859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0" y="68263"/>
            <a:ext cx="990600" cy="6713537"/>
            <a:chOff x="0" y="43"/>
            <a:chExt cx="624" cy="4229"/>
          </a:xfrm>
        </p:grpSpPr>
        <p:sp>
          <p:nvSpPr>
            <p:cNvPr id="7" name="Line 5"/>
            <p:cNvSpPr>
              <a:spLocks noChangeShapeType="1"/>
            </p:cNvSpPr>
            <p:nvPr userDrawn="1"/>
          </p:nvSpPr>
          <p:spPr bwMode="auto">
            <a:xfrm>
              <a:off x="0" y="420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42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 userDrawn="1"/>
          </p:nvSpPr>
          <p:spPr bwMode="auto">
            <a:xfrm>
              <a:off x="0" y="427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 userDrawn="1"/>
          </p:nvSpPr>
          <p:spPr bwMode="auto">
            <a:xfrm>
              <a:off x="0" y="4113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 userDrawn="1"/>
          </p:nvSpPr>
          <p:spPr bwMode="auto">
            <a:xfrm>
              <a:off x="0" y="406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 userDrawn="1"/>
          </p:nvSpPr>
          <p:spPr bwMode="auto">
            <a:xfrm>
              <a:off x="0" y="41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 userDrawn="1"/>
          </p:nvSpPr>
          <p:spPr bwMode="auto">
            <a:xfrm>
              <a:off x="0" y="366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 userDrawn="1"/>
          </p:nvSpPr>
          <p:spPr bwMode="auto">
            <a:xfrm>
              <a:off x="0" y="363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 userDrawn="1"/>
          </p:nvSpPr>
          <p:spPr bwMode="auto">
            <a:xfrm>
              <a:off x="0" y="402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 userDrawn="1"/>
          </p:nvSpPr>
          <p:spPr bwMode="auto">
            <a:xfrm>
              <a:off x="0" y="389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 userDrawn="1"/>
          </p:nvSpPr>
          <p:spPr bwMode="auto">
            <a:xfrm>
              <a:off x="0" y="381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/>
            <p:cNvSpPr>
              <a:spLocks noChangeShapeType="1"/>
            </p:cNvSpPr>
            <p:nvPr userDrawn="1"/>
          </p:nvSpPr>
          <p:spPr bwMode="auto">
            <a:xfrm>
              <a:off x="0" y="399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/>
            <p:cNvSpPr>
              <a:spLocks noChangeShapeType="1"/>
            </p:cNvSpPr>
            <p:nvPr userDrawn="1"/>
          </p:nvSpPr>
          <p:spPr bwMode="auto">
            <a:xfrm>
              <a:off x="0" y="368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 userDrawn="1"/>
          </p:nvSpPr>
          <p:spPr bwMode="auto">
            <a:xfrm>
              <a:off x="0" y="374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/>
            <p:cNvSpPr>
              <a:spLocks noChangeShapeType="1"/>
            </p:cNvSpPr>
            <p:nvPr userDrawn="1"/>
          </p:nvSpPr>
          <p:spPr bwMode="auto">
            <a:xfrm>
              <a:off x="0" y="39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/>
            <p:cNvSpPr>
              <a:spLocks noChangeShapeType="1"/>
            </p:cNvSpPr>
            <p:nvPr userDrawn="1"/>
          </p:nvSpPr>
          <p:spPr bwMode="auto">
            <a:xfrm>
              <a:off x="0" y="39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/>
            <p:cNvSpPr>
              <a:spLocks noChangeShapeType="1"/>
            </p:cNvSpPr>
            <p:nvPr userDrawn="1"/>
          </p:nvSpPr>
          <p:spPr bwMode="auto">
            <a:xfrm>
              <a:off x="0" y="351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2"/>
            <p:cNvSpPr>
              <a:spLocks noChangeShapeType="1"/>
            </p:cNvSpPr>
            <p:nvPr userDrawn="1"/>
          </p:nvSpPr>
          <p:spPr bwMode="auto">
            <a:xfrm>
              <a:off x="0" y="35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 userDrawn="1"/>
          </p:nvSpPr>
          <p:spPr bwMode="auto">
            <a:xfrm>
              <a:off x="0" y="357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 userDrawn="1"/>
          </p:nvSpPr>
          <p:spPr bwMode="auto">
            <a:xfrm>
              <a:off x="0" y="342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 userDrawn="1"/>
          </p:nvSpPr>
          <p:spPr bwMode="auto">
            <a:xfrm>
              <a:off x="0" y="337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 userDrawn="1"/>
          </p:nvSpPr>
          <p:spPr bwMode="auto">
            <a:xfrm>
              <a:off x="0" y="346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 userDrawn="1"/>
          </p:nvSpPr>
          <p:spPr bwMode="auto">
            <a:xfrm>
              <a:off x="0" y="297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 userDrawn="1"/>
          </p:nvSpPr>
          <p:spPr bwMode="auto">
            <a:xfrm>
              <a:off x="0" y="294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9"/>
            <p:cNvSpPr>
              <a:spLocks noChangeShapeType="1"/>
            </p:cNvSpPr>
            <p:nvPr userDrawn="1"/>
          </p:nvSpPr>
          <p:spPr bwMode="auto">
            <a:xfrm>
              <a:off x="0" y="332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 userDrawn="1"/>
          </p:nvSpPr>
          <p:spPr bwMode="auto">
            <a:xfrm>
              <a:off x="0" y="320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1"/>
            <p:cNvSpPr>
              <a:spLocks noChangeShapeType="1"/>
            </p:cNvSpPr>
            <p:nvPr userDrawn="1"/>
          </p:nvSpPr>
          <p:spPr bwMode="auto">
            <a:xfrm>
              <a:off x="0" y="312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 userDrawn="1"/>
          </p:nvSpPr>
          <p:spPr bwMode="auto">
            <a:xfrm>
              <a:off x="0" y="330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/>
            <p:cNvSpPr>
              <a:spLocks noChangeShapeType="1"/>
            </p:cNvSpPr>
            <p:nvPr userDrawn="1"/>
          </p:nvSpPr>
          <p:spPr bwMode="auto">
            <a:xfrm>
              <a:off x="0" y="299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 userDrawn="1"/>
          </p:nvSpPr>
          <p:spPr bwMode="auto">
            <a:xfrm>
              <a:off x="0" y="304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 userDrawn="1"/>
          </p:nvSpPr>
          <p:spPr bwMode="auto">
            <a:xfrm>
              <a:off x="0" y="324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 userDrawn="1"/>
          </p:nvSpPr>
          <p:spPr bwMode="auto">
            <a:xfrm>
              <a:off x="0" y="322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 userDrawn="1"/>
          </p:nvSpPr>
          <p:spPr bwMode="auto">
            <a:xfrm>
              <a:off x="0" y="283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 userDrawn="1"/>
          </p:nvSpPr>
          <p:spPr bwMode="auto">
            <a:xfrm>
              <a:off x="0" y="275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 userDrawn="1"/>
          </p:nvSpPr>
          <p:spPr bwMode="auto">
            <a:xfrm>
              <a:off x="0" y="267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 userDrawn="1"/>
          </p:nvSpPr>
          <p:spPr bwMode="auto">
            <a:xfrm>
              <a:off x="0" y="287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 userDrawn="1"/>
          </p:nvSpPr>
          <p:spPr bwMode="auto">
            <a:xfrm>
              <a:off x="0" y="285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 userDrawn="1"/>
          </p:nvSpPr>
          <p:spPr bwMode="auto">
            <a:xfrm>
              <a:off x="0" y="2554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3"/>
            <p:cNvSpPr>
              <a:spLocks noChangeShapeType="1"/>
            </p:cNvSpPr>
            <p:nvPr userDrawn="1"/>
          </p:nvSpPr>
          <p:spPr bwMode="auto">
            <a:xfrm>
              <a:off x="0" y="2590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 userDrawn="1"/>
          </p:nvSpPr>
          <p:spPr bwMode="auto">
            <a:xfrm>
              <a:off x="0" y="2623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 userDrawn="1"/>
          </p:nvSpPr>
          <p:spPr bwMode="auto">
            <a:xfrm>
              <a:off x="0" y="246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 userDrawn="1"/>
          </p:nvSpPr>
          <p:spPr bwMode="auto">
            <a:xfrm>
              <a:off x="0" y="241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7"/>
            <p:cNvSpPr>
              <a:spLocks noChangeShapeType="1"/>
            </p:cNvSpPr>
            <p:nvPr userDrawn="1"/>
          </p:nvSpPr>
          <p:spPr bwMode="auto">
            <a:xfrm>
              <a:off x="0" y="250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 userDrawn="1"/>
          </p:nvSpPr>
          <p:spPr bwMode="auto">
            <a:xfrm>
              <a:off x="0" y="237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49"/>
            <p:cNvSpPr>
              <a:spLocks noChangeShapeType="1"/>
            </p:cNvSpPr>
            <p:nvPr userDrawn="1"/>
          </p:nvSpPr>
          <p:spPr bwMode="auto">
            <a:xfrm>
              <a:off x="0" y="2245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50"/>
            <p:cNvSpPr>
              <a:spLocks noChangeShapeType="1"/>
            </p:cNvSpPr>
            <p:nvPr userDrawn="1"/>
          </p:nvSpPr>
          <p:spPr bwMode="auto">
            <a:xfrm>
              <a:off x="0" y="235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51"/>
            <p:cNvSpPr>
              <a:spLocks noChangeShapeType="1"/>
            </p:cNvSpPr>
            <p:nvPr userDrawn="1"/>
          </p:nvSpPr>
          <p:spPr bwMode="auto">
            <a:xfrm>
              <a:off x="0" y="2290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52"/>
            <p:cNvSpPr>
              <a:spLocks noChangeShapeType="1"/>
            </p:cNvSpPr>
            <p:nvPr userDrawn="1"/>
          </p:nvSpPr>
          <p:spPr bwMode="auto">
            <a:xfrm>
              <a:off x="0" y="2269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3"/>
            <p:cNvSpPr>
              <a:spLocks noChangeShapeType="1"/>
            </p:cNvSpPr>
            <p:nvPr userDrawn="1"/>
          </p:nvSpPr>
          <p:spPr bwMode="auto">
            <a:xfrm>
              <a:off x="0" y="213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4"/>
            <p:cNvSpPr>
              <a:spLocks noChangeShapeType="1"/>
            </p:cNvSpPr>
            <p:nvPr userDrawn="1"/>
          </p:nvSpPr>
          <p:spPr bwMode="auto">
            <a:xfrm>
              <a:off x="0" y="21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5"/>
            <p:cNvSpPr>
              <a:spLocks noChangeShapeType="1"/>
            </p:cNvSpPr>
            <p:nvPr userDrawn="1"/>
          </p:nvSpPr>
          <p:spPr bwMode="auto">
            <a:xfrm>
              <a:off x="0" y="219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6"/>
            <p:cNvSpPr>
              <a:spLocks noChangeShapeType="1"/>
            </p:cNvSpPr>
            <p:nvPr userDrawn="1"/>
          </p:nvSpPr>
          <p:spPr bwMode="auto">
            <a:xfrm>
              <a:off x="0" y="204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7"/>
            <p:cNvSpPr>
              <a:spLocks noChangeShapeType="1"/>
            </p:cNvSpPr>
            <p:nvPr userDrawn="1"/>
          </p:nvSpPr>
          <p:spPr bwMode="auto">
            <a:xfrm>
              <a:off x="0" y="1992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8"/>
            <p:cNvSpPr>
              <a:spLocks noChangeShapeType="1"/>
            </p:cNvSpPr>
            <p:nvPr userDrawn="1"/>
          </p:nvSpPr>
          <p:spPr bwMode="auto">
            <a:xfrm>
              <a:off x="0" y="208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59"/>
            <p:cNvSpPr>
              <a:spLocks noChangeShapeType="1"/>
            </p:cNvSpPr>
            <p:nvPr userDrawn="1"/>
          </p:nvSpPr>
          <p:spPr bwMode="auto">
            <a:xfrm>
              <a:off x="0" y="1593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60"/>
            <p:cNvSpPr>
              <a:spLocks noChangeShapeType="1"/>
            </p:cNvSpPr>
            <p:nvPr userDrawn="1"/>
          </p:nvSpPr>
          <p:spPr bwMode="auto">
            <a:xfrm>
              <a:off x="0" y="156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61"/>
            <p:cNvSpPr>
              <a:spLocks noChangeShapeType="1"/>
            </p:cNvSpPr>
            <p:nvPr userDrawn="1"/>
          </p:nvSpPr>
          <p:spPr bwMode="auto">
            <a:xfrm>
              <a:off x="0" y="194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2"/>
            <p:cNvSpPr>
              <a:spLocks noChangeShapeType="1"/>
            </p:cNvSpPr>
            <p:nvPr userDrawn="1"/>
          </p:nvSpPr>
          <p:spPr bwMode="auto">
            <a:xfrm>
              <a:off x="0" y="1821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3"/>
            <p:cNvSpPr>
              <a:spLocks noChangeShapeType="1"/>
            </p:cNvSpPr>
            <p:nvPr userDrawn="1"/>
          </p:nvSpPr>
          <p:spPr bwMode="auto">
            <a:xfrm>
              <a:off x="0" y="1740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4"/>
            <p:cNvSpPr>
              <a:spLocks noChangeShapeType="1"/>
            </p:cNvSpPr>
            <p:nvPr userDrawn="1"/>
          </p:nvSpPr>
          <p:spPr bwMode="auto">
            <a:xfrm>
              <a:off x="0" y="192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/>
            <p:cNvSpPr>
              <a:spLocks noChangeShapeType="1"/>
            </p:cNvSpPr>
            <p:nvPr userDrawn="1"/>
          </p:nvSpPr>
          <p:spPr bwMode="auto">
            <a:xfrm>
              <a:off x="0" y="161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6"/>
            <p:cNvSpPr>
              <a:spLocks noChangeShapeType="1"/>
            </p:cNvSpPr>
            <p:nvPr userDrawn="1"/>
          </p:nvSpPr>
          <p:spPr bwMode="auto">
            <a:xfrm>
              <a:off x="0" y="166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/>
            <p:cNvSpPr>
              <a:spLocks noChangeShapeType="1"/>
            </p:cNvSpPr>
            <p:nvPr userDrawn="1"/>
          </p:nvSpPr>
          <p:spPr bwMode="auto">
            <a:xfrm>
              <a:off x="0" y="186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8"/>
            <p:cNvSpPr>
              <a:spLocks noChangeShapeType="1"/>
            </p:cNvSpPr>
            <p:nvPr userDrawn="1"/>
          </p:nvSpPr>
          <p:spPr bwMode="auto">
            <a:xfrm>
              <a:off x="0" y="1845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9"/>
            <p:cNvSpPr>
              <a:spLocks noChangeShapeType="1"/>
            </p:cNvSpPr>
            <p:nvPr userDrawn="1"/>
          </p:nvSpPr>
          <p:spPr bwMode="auto">
            <a:xfrm>
              <a:off x="0" y="1437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70"/>
            <p:cNvSpPr>
              <a:spLocks noChangeShapeType="1"/>
            </p:cNvSpPr>
            <p:nvPr userDrawn="1"/>
          </p:nvSpPr>
          <p:spPr bwMode="auto">
            <a:xfrm>
              <a:off x="0" y="147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71"/>
            <p:cNvSpPr>
              <a:spLocks noChangeShapeType="1"/>
            </p:cNvSpPr>
            <p:nvPr userDrawn="1"/>
          </p:nvSpPr>
          <p:spPr bwMode="auto">
            <a:xfrm>
              <a:off x="0" y="1506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72"/>
            <p:cNvSpPr>
              <a:spLocks noChangeShapeType="1"/>
            </p:cNvSpPr>
            <p:nvPr userDrawn="1"/>
          </p:nvSpPr>
          <p:spPr bwMode="auto">
            <a:xfrm>
              <a:off x="0" y="1347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73"/>
            <p:cNvSpPr>
              <a:spLocks noChangeShapeType="1"/>
            </p:cNvSpPr>
            <p:nvPr userDrawn="1"/>
          </p:nvSpPr>
          <p:spPr bwMode="auto">
            <a:xfrm>
              <a:off x="0" y="1392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74"/>
            <p:cNvSpPr>
              <a:spLocks noChangeShapeType="1"/>
            </p:cNvSpPr>
            <p:nvPr userDrawn="1"/>
          </p:nvSpPr>
          <p:spPr bwMode="auto">
            <a:xfrm>
              <a:off x="0" y="1016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5"/>
            <p:cNvSpPr>
              <a:spLocks noChangeShapeType="1"/>
            </p:cNvSpPr>
            <p:nvPr userDrawn="1"/>
          </p:nvSpPr>
          <p:spPr bwMode="auto">
            <a:xfrm>
              <a:off x="0" y="989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76"/>
            <p:cNvSpPr>
              <a:spLocks noChangeShapeType="1"/>
            </p:cNvSpPr>
            <p:nvPr userDrawn="1"/>
          </p:nvSpPr>
          <p:spPr bwMode="auto">
            <a:xfrm>
              <a:off x="0" y="1244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7"/>
            <p:cNvSpPr>
              <a:spLocks noChangeShapeType="1"/>
            </p:cNvSpPr>
            <p:nvPr userDrawn="1"/>
          </p:nvSpPr>
          <p:spPr bwMode="auto">
            <a:xfrm>
              <a:off x="0" y="1163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78"/>
            <p:cNvSpPr>
              <a:spLocks noChangeShapeType="1"/>
            </p:cNvSpPr>
            <p:nvPr userDrawn="1"/>
          </p:nvSpPr>
          <p:spPr bwMode="auto">
            <a:xfrm>
              <a:off x="0" y="1037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79"/>
            <p:cNvSpPr>
              <a:spLocks noChangeShapeType="1"/>
            </p:cNvSpPr>
            <p:nvPr userDrawn="1"/>
          </p:nvSpPr>
          <p:spPr bwMode="auto">
            <a:xfrm>
              <a:off x="0" y="10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80"/>
            <p:cNvSpPr>
              <a:spLocks noChangeShapeType="1"/>
            </p:cNvSpPr>
            <p:nvPr userDrawn="1"/>
          </p:nvSpPr>
          <p:spPr bwMode="auto">
            <a:xfrm>
              <a:off x="0" y="128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81"/>
            <p:cNvSpPr>
              <a:spLocks noChangeShapeType="1"/>
            </p:cNvSpPr>
            <p:nvPr userDrawn="1"/>
          </p:nvSpPr>
          <p:spPr bwMode="auto">
            <a:xfrm>
              <a:off x="0" y="126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82"/>
            <p:cNvSpPr>
              <a:spLocks noChangeShapeType="1"/>
            </p:cNvSpPr>
            <p:nvPr userDrawn="1"/>
          </p:nvSpPr>
          <p:spPr bwMode="auto">
            <a:xfrm>
              <a:off x="0" y="86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83"/>
            <p:cNvSpPr>
              <a:spLocks noChangeShapeType="1"/>
            </p:cNvSpPr>
            <p:nvPr userDrawn="1"/>
          </p:nvSpPr>
          <p:spPr bwMode="auto">
            <a:xfrm>
              <a:off x="0" y="896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84"/>
            <p:cNvSpPr>
              <a:spLocks noChangeShapeType="1"/>
            </p:cNvSpPr>
            <p:nvPr userDrawn="1"/>
          </p:nvSpPr>
          <p:spPr bwMode="auto">
            <a:xfrm>
              <a:off x="0" y="92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5"/>
            <p:cNvSpPr>
              <a:spLocks noChangeShapeType="1"/>
            </p:cNvSpPr>
            <p:nvPr userDrawn="1"/>
          </p:nvSpPr>
          <p:spPr bwMode="auto">
            <a:xfrm>
              <a:off x="0" y="770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6"/>
            <p:cNvSpPr>
              <a:spLocks noChangeShapeType="1"/>
            </p:cNvSpPr>
            <p:nvPr userDrawn="1"/>
          </p:nvSpPr>
          <p:spPr bwMode="auto">
            <a:xfrm>
              <a:off x="0" y="815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87"/>
            <p:cNvSpPr>
              <a:spLocks noChangeShapeType="1"/>
            </p:cNvSpPr>
            <p:nvPr userDrawn="1"/>
          </p:nvSpPr>
          <p:spPr bwMode="auto">
            <a:xfrm>
              <a:off x="0" y="718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88"/>
            <p:cNvSpPr>
              <a:spLocks noChangeShapeType="1"/>
            </p:cNvSpPr>
            <p:nvPr userDrawn="1"/>
          </p:nvSpPr>
          <p:spPr bwMode="auto">
            <a:xfrm>
              <a:off x="0" y="646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89"/>
            <p:cNvSpPr>
              <a:spLocks noChangeShapeType="1"/>
            </p:cNvSpPr>
            <p:nvPr userDrawn="1"/>
          </p:nvSpPr>
          <p:spPr bwMode="auto">
            <a:xfrm>
              <a:off x="0" y="522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90"/>
            <p:cNvSpPr>
              <a:spLocks noChangeShapeType="1"/>
            </p:cNvSpPr>
            <p:nvPr userDrawn="1"/>
          </p:nvSpPr>
          <p:spPr bwMode="auto">
            <a:xfrm>
              <a:off x="0" y="558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91"/>
            <p:cNvSpPr>
              <a:spLocks noChangeShapeType="1"/>
            </p:cNvSpPr>
            <p:nvPr userDrawn="1"/>
          </p:nvSpPr>
          <p:spPr bwMode="auto">
            <a:xfrm>
              <a:off x="0" y="591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92"/>
            <p:cNvSpPr>
              <a:spLocks noChangeShapeType="1"/>
            </p:cNvSpPr>
            <p:nvPr userDrawn="1"/>
          </p:nvSpPr>
          <p:spPr bwMode="auto">
            <a:xfrm>
              <a:off x="0" y="432"/>
              <a:ext cx="624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93"/>
            <p:cNvSpPr>
              <a:spLocks noChangeShapeType="1"/>
            </p:cNvSpPr>
            <p:nvPr userDrawn="1"/>
          </p:nvSpPr>
          <p:spPr bwMode="auto">
            <a:xfrm>
              <a:off x="0" y="384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94"/>
            <p:cNvSpPr>
              <a:spLocks noChangeShapeType="1"/>
            </p:cNvSpPr>
            <p:nvPr userDrawn="1"/>
          </p:nvSpPr>
          <p:spPr bwMode="auto">
            <a:xfrm>
              <a:off x="0" y="477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95"/>
            <p:cNvSpPr>
              <a:spLocks noChangeShapeType="1"/>
            </p:cNvSpPr>
            <p:nvPr userDrawn="1"/>
          </p:nvSpPr>
          <p:spPr bwMode="auto">
            <a:xfrm>
              <a:off x="0" y="339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96"/>
            <p:cNvSpPr>
              <a:spLocks noChangeShapeType="1"/>
            </p:cNvSpPr>
            <p:nvPr userDrawn="1"/>
          </p:nvSpPr>
          <p:spPr bwMode="auto">
            <a:xfrm>
              <a:off x="0" y="318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97"/>
            <p:cNvSpPr>
              <a:spLocks noChangeShapeType="1"/>
            </p:cNvSpPr>
            <p:nvPr userDrawn="1"/>
          </p:nvSpPr>
          <p:spPr bwMode="auto">
            <a:xfrm>
              <a:off x="0" y="258"/>
              <a:ext cx="624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98"/>
            <p:cNvSpPr>
              <a:spLocks noChangeShapeType="1"/>
            </p:cNvSpPr>
            <p:nvPr userDrawn="1"/>
          </p:nvSpPr>
          <p:spPr bwMode="auto">
            <a:xfrm>
              <a:off x="0" y="70"/>
              <a:ext cx="624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99"/>
            <p:cNvSpPr>
              <a:spLocks noChangeShapeType="1"/>
            </p:cNvSpPr>
            <p:nvPr userDrawn="1"/>
          </p:nvSpPr>
          <p:spPr bwMode="auto">
            <a:xfrm>
              <a:off x="0" y="43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100"/>
            <p:cNvSpPr>
              <a:spLocks noChangeShapeType="1"/>
            </p:cNvSpPr>
            <p:nvPr userDrawn="1"/>
          </p:nvSpPr>
          <p:spPr bwMode="auto">
            <a:xfrm>
              <a:off x="0" y="91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101"/>
            <p:cNvSpPr>
              <a:spLocks noChangeShapeType="1"/>
            </p:cNvSpPr>
            <p:nvPr userDrawn="1"/>
          </p:nvSpPr>
          <p:spPr bwMode="auto">
            <a:xfrm>
              <a:off x="0" y="145"/>
              <a:ext cx="624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102"/>
            <p:cNvSpPr>
              <a:spLocks noChangeShapeType="1"/>
            </p:cNvSpPr>
            <p:nvPr userDrawn="1"/>
          </p:nvSpPr>
          <p:spPr bwMode="auto">
            <a:xfrm>
              <a:off x="0" y="202"/>
              <a:ext cx="624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rgbClr val="CC990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6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5882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5883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080000" y="2376488"/>
            <a:ext cx="7239000" cy="33115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07" name="Rectangle 10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4388" y="6400800"/>
            <a:ext cx="190658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98DF6-77D2-4AC3-94D5-48C3DAD2268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685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0000" y="288000"/>
            <a:ext cx="7920000" cy="1080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7499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roup 3"/>
          <p:cNvGrpSpPr>
            <a:grpSpLocks/>
          </p:cNvGrpSpPr>
          <p:nvPr userDrawn="1"/>
        </p:nvGrpSpPr>
        <p:grpSpPr bwMode="auto">
          <a:xfrm>
            <a:off x="35496" y="64220"/>
            <a:ext cx="216000" cy="6461125"/>
            <a:chOff x="0" y="202"/>
            <a:chExt cx="5760" cy="4070"/>
          </a:xfrm>
        </p:grpSpPr>
        <p:sp>
          <p:nvSpPr>
            <p:cNvPr id="1036" name="Line 4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5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6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7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8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9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2" name="Line 10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3" name="Line 11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" name="Line 12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" name="Line 13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" name="Line 14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7" name="Line 15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" name="Line 16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Line 17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Line 18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Line 19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Line 20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Line 21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22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" name="Line 23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" name="Line 24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" name="Line 25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8" name="Line 26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9" name="Line 27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0" name="Line 28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" name="Line 29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2" name="Line 30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3" name="Line 31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4" name="Line 32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" name="Line 33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6" name="Line 34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7" name="Line 35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8" name="Line 36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9" name="Line 37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0" name="Line 38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1" name="Line 39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2" name="Line 40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3" name="Line 41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4" name="Line 42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" name="Line 43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6" name="Line 44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7" name="Line 45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8" name="Line 46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9" name="Line 47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0" name="Line 48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1" name="Line 49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2" name="Line 50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3" name="Line 51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4" name="Line 52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" name="Line 53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" name="Line 54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7" name="Line 55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8" name="Line 56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9" name="Line 57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0" name="Line 58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1" name="Line 59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2" name="Line 60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3" name="Line 61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4" name="Line 62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" name="Line 63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6" name="Line 64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7" name="Line 65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" name="Line 66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9" name="Line 67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0" name="Line 68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1" name="Line 69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2" name="Line 70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3" name="Line 71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4" name="Line 72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5" name="Line 73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" name="Line 74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" name="Line 75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" name="Line 76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9" name="Line 77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0" name="Line 78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1" name="Line 79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2" name="Line 80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3" name="Line 81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4" name="Line 82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5" name="Line 83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" name="Line 84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7" name="Line 85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8" name="Line 86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9" name="Line 87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0" name="Line 88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1" name="Line 89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2" name="Line 90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3" name="Line 91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4" name="Line 92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5" name="Line 93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6" name="Line 94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" name="Line 95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" name="Line 96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" name="Line 101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rgbClr val="CC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2" name="Rectangle 103"/>
          <p:cNvSpPr>
            <a:spLocks noChangeArrowheads="1"/>
          </p:cNvSpPr>
          <p:nvPr userDrawn="1"/>
        </p:nvSpPr>
        <p:spPr bwMode="auto">
          <a:xfrm>
            <a:off x="500758" y="68982"/>
            <a:ext cx="360000" cy="1152000"/>
          </a:xfrm>
          <a:prstGeom prst="rect">
            <a:avLst/>
          </a:prstGeom>
          <a:solidFill>
            <a:srgbClr val="CC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Rectangle 104"/>
          <p:cNvSpPr>
            <a:spLocks noChangeArrowheads="1"/>
          </p:cNvSpPr>
          <p:nvPr userDrawn="1"/>
        </p:nvSpPr>
        <p:spPr bwMode="auto">
          <a:xfrm>
            <a:off x="251520" y="200744"/>
            <a:ext cx="5662613" cy="77787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6624000"/>
            <a:ext cx="9144000" cy="252000"/>
          </a:xfrm>
          <a:prstGeom prst="rect">
            <a:avLst/>
          </a:prstGeom>
          <a:gradFill flip="none" rotWithShape="1">
            <a:gsLst>
              <a:gs pos="40000">
                <a:srgbClr val="CCCC99">
                  <a:alpha val="80000"/>
                </a:srgbClr>
              </a:gs>
              <a:gs pos="76126">
                <a:srgbClr val="EBEBD6"/>
              </a:gs>
              <a:gs pos="57820">
                <a:srgbClr val="DBDBB7"/>
              </a:gs>
              <a:gs pos="30000">
                <a:srgbClr val="CCCC99"/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  <a:softEdge rad="31750"/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4800" b="1" i="0" u="none" strike="noStrike" cap="none" normalizeH="0" baseline="0">
              <a:ln>
                <a:noFill/>
              </a:ln>
              <a:solidFill>
                <a:srgbClr val="996633"/>
              </a:solidFill>
              <a:effectLst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11" name="图片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4000" y="0"/>
            <a:ext cx="1799792" cy="51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07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24000" y="1404000"/>
            <a:ext cx="8640000" cy="52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4862" name="Rectangle 110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48488" y="6624000"/>
            <a:ext cx="2193925" cy="28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49A7A74-4E33-482D-9B61-523748FF653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9" name="Rectangle 111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00000" y="288000"/>
            <a:ext cx="7920000" cy="1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72000" y="6624000"/>
            <a:ext cx="144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计算机体系结构</a:t>
            </a:r>
          </a:p>
        </p:txBody>
      </p:sp>
      <p:sp>
        <p:nvSpPr>
          <p:cNvPr id="113" name="文本框 112"/>
          <p:cNvSpPr txBox="1"/>
          <p:nvPr userDrawn="1"/>
        </p:nvSpPr>
        <p:spPr>
          <a:xfrm>
            <a:off x="3635896" y="6624000"/>
            <a:ext cx="2412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0" kern="120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西安交通大学  新</a:t>
            </a:r>
            <a:r>
              <a:rPr lang="zh-CN" altLang="en-US" sz="1200" b="0" dirty="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型计算机研究所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0" r:id="rId2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 b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u"/>
        <a:defRPr kumimoji="1" sz="32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 sz="28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4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w"/>
        <a:defRPr kumimoji="1" sz="2000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kumimoji="1" baseline="0">
          <a:solidFill>
            <a:schemeClr val="tx1"/>
          </a:solidFill>
          <a:latin typeface="Consolas" panose="020B0609020204030204" pitchFamily="49" charset="0"/>
          <a:ea typeface="黑体" panose="02010609060101010101" pitchFamily="49" charset="-122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>
                <a:ea typeface="仿宋_GB2312" pitchFamily="49" charset="-122"/>
              </a:rPr>
              <a:t>计算机体系结构</a:t>
            </a:r>
            <a:endParaRPr lang="zh-CN" altLang="en-US" sz="4800" b="1" dirty="0">
              <a:ea typeface="仿宋_GB2312" pitchFamily="49" charset="-122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980131" y="3429000"/>
            <a:ext cx="5760000" cy="316835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华文楷体" panose="02010600040101010101" pitchFamily="2" charset="-122"/>
              </a:rPr>
              <a:t>新型计算机研究所</a:t>
            </a:r>
            <a:endParaRPr lang="zh-CN" altLang="en-US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华文楷体" panose="02010600040101010101" pitchFamily="2" charset="-122"/>
              </a:rPr>
              <a:t>陈  衡</a:t>
            </a:r>
            <a:endParaRPr lang="zh-CN" altLang="en-US" sz="2400" b="1" dirty="0">
              <a:latin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2400"/>
              </a:spcBef>
            </a:pPr>
            <a:r>
              <a:rPr lang="zh-CN" altLang="en-US" sz="2800" b="1" dirty="0"/>
              <a:t>西一楼Ａ段</a:t>
            </a:r>
            <a:r>
              <a:rPr lang="en-US" altLang="zh-CN" sz="2800" b="1" dirty="0"/>
              <a:t>415</a:t>
            </a:r>
            <a:r>
              <a:rPr lang="zh-CN" altLang="en-US" sz="2800" b="1" dirty="0"/>
              <a:t>室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ea typeface="仿宋_GB2312" pitchFamily="49" charset="-122"/>
              </a:rPr>
              <a:t>Email: </a:t>
            </a:r>
            <a:r>
              <a:rPr lang="en-US" altLang="zh-CN" sz="2800" b="1" dirty="0">
                <a:solidFill>
                  <a:srgbClr val="0000FF"/>
                </a:solidFill>
                <a:ea typeface="Verdana" panose="020B0604030504040204" pitchFamily="34" charset="0"/>
              </a:rPr>
              <a:t>heng</a:t>
            </a:r>
            <a:r>
              <a:rPr lang="en-US" altLang="zh-CN" sz="2800" b="1" dirty="0">
                <a:solidFill>
                  <a:srgbClr val="FF0000"/>
                </a:solidFill>
                <a:ea typeface="Verdana" panose="020B0604030504040204" pitchFamily="34" charset="0"/>
              </a:rPr>
              <a:t>chen</a:t>
            </a:r>
            <a:r>
              <a:rPr lang="en-US" altLang="zh-CN" sz="2800" b="1" dirty="0">
                <a:ea typeface="Verdana" panose="020B0604030504040204" pitchFamily="34" charset="0"/>
              </a:rPr>
              <a:t>@</a:t>
            </a:r>
            <a:r>
              <a:rPr lang="en-US" altLang="zh-CN" sz="2800" b="1" dirty="0">
                <a:solidFill>
                  <a:srgbClr val="00B050"/>
                </a:solidFill>
                <a:ea typeface="Verdana" panose="020B0604030504040204" pitchFamily="34" charset="0"/>
              </a:rPr>
              <a:t>xjtu</a:t>
            </a:r>
            <a:r>
              <a:rPr lang="en-US" altLang="zh-CN" sz="2800" b="1" dirty="0">
                <a:ea typeface="Verdana" panose="020B0604030504040204" pitchFamily="34" charset="0"/>
              </a:rPr>
              <a:t>.edu.cn</a:t>
            </a:r>
          </a:p>
          <a:p>
            <a:pPr eaLnBrk="1" hangingPunct="1">
              <a:lnSpc>
                <a:spcPct val="120000"/>
              </a:lnSpc>
            </a:pPr>
            <a:endParaRPr lang="zh-CN" altLang="en-US" sz="2400" b="1" dirty="0">
              <a:solidFill>
                <a:srgbClr val="0000FF"/>
              </a:solidFill>
              <a:ea typeface="仿宋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次上机实验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  <a:endParaRPr lang="en-US" altLang="zh-CN" dirty="0"/>
          </a:p>
          <a:p>
            <a:pPr lvl="1"/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zh-CN" altLang="en-US" dirty="0"/>
              <a:t>实验内容和步骤</a:t>
            </a:r>
            <a:endParaRPr lang="en-US" altLang="zh-CN" dirty="0"/>
          </a:p>
          <a:p>
            <a:pPr lvl="1"/>
            <a:r>
              <a:rPr lang="zh-CN" altLang="en-US" dirty="0"/>
              <a:t>实验结果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531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pPr lvl="1"/>
            <a:r>
              <a:rPr lang="zh-CN" altLang="en-US" dirty="0"/>
              <a:t>加深对</a:t>
            </a:r>
            <a:r>
              <a:rPr lang="en-US" altLang="zh-CN" dirty="0"/>
              <a:t>cache</a:t>
            </a:r>
            <a:r>
              <a:rPr lang="zh-CN" altLang="en-US" dirty="0"/>
              <a:t>大小、相联度、替换算法等对 </a:t>
            </a:r>
            <a:r>
              <a:rPr lang="en-US" altLang="zh-CN" dirty="0"/>
              <a:t>cache</a:t>
            </a:r>
            <a:r>
              <a:rPr lang="zh-CN" altLang="en-US" dirty="0"/>
              <a:t>性能的影响。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189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999" y="1404000"/>
            <a:ext cx="8820001" cy="5220000"/>
          </a:xfrm>
        </p:spPr>
        <p:txBody>
          <a:bodyPr/>
          <a:lstStyle/>
          <a:p>
            <a:r>
              <a:rPr lang="zh-CN" altLang="en-US" dirty="0"/>
              <a:t>实验平台</a:t>
            </a:r>
            <a:endParaRPr lang="en-US" altLang="zh-CN" dirty="0"/>
          </a:p>
          <a:p>
            <a:pPr lvl="1"/>
            <a:r>
              <a:rPr lang="en-US" altLang="zh-CN" dirty="0"/>
              <a:t>(1)</a:t>
            </a:r>
            <a:r>
              <a:rPr lang="zh-CN" altLang="en-US" dirty="0"/>
              <a:t>自己设计一个</a:t>
            </a:r>
            <a:r>
              <a:rPr lang="en-US" altLang="zh-CN" dirty="0"/>
              <a:t>Cache</a:t>
            </a:r>
            <a:r>
              <a:rPr lang="zh-CN" altLang="en-US" dirty="0"/>
              <a:t>模拟器（简称：模拟器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(2)</a:t>
            </a:r>
            <a:r>
              <a:rPr lang="zh-CN" altLang="en-US" dirty="0"/>
              <a:t>使用开源</a:t>
            </a:r>
            <a:r>
              <a:rPr lang="en-US" altLang="zh-CN" dirty="0"/>
              <a:t>Cache</a:t>
            </a:r>
            <a:r>
              <a:rPr lang="zh-CN" altLang="en-US" dirty="0"/>
              <a:t>算法模拟器（简称：模拟器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(3)</a:t>
            </a:r>
            <a:r>
              <a:rPr lang="zh-CN" altLang="en-US" dirty="0"/>
              <a:t>使用教材附带的</a:t>
            </a:r>
            <a:r>
              <a:rPr lang="en-US" altLang="zh-CN" dirty="0" err="1"/>
              <a:t>mycache</a:t>
            </a:r>
            <a:r>
              <a:rPr lang="zh-CN" altLang="en-US" dirty="0"/>
              <a:t>算法模拟器（简称：模拟器</a:t>
            </a:r>
            <a:r>
              <a:rPr lang="en-US" altLang="zh-CN" dirty="0"/>
              <a:t>C</a:t>
            </a:r>
            <a:r>
              <a:rPr lang="zh-CN" altLang="en-US" dirty="0"/>
              <a:t>）；</a:t>
            </a:r>
            <a:endParaRPr lang="e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720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96752"/>
            <a:ext cx="8820000" cy="5373248"/>
          </a:xfrm>
        </p:spPr>
        <p:txBody>
          <a:bodyPr lIns="72000" rIns="72000"/>
          <a:lstStyle/>
          <a:p>
            <a:r>
              <a:rPr lang="zh-CN" altLang="en-US" sz="2800" dirty="0"/>
              <a:t>实验步骤，对模拟器</a:t>
            </a:r>
            <a:r>
              <a:rPr lang="en-US" altLang="zh-CN" sz="2800" dirty="0"/>
              <a:t>A</a:t>
            </a:r>
            <a:r>
              <a:rPr lang="zh-CN" altLang="en-US" sz="2800" dirty="0"/>
              <a:t>和模拟器</a:t>
            </a:r>
            <a:r>
              <a:rPr lang="en-US" altLang="zh-CN" sz="2800" dirty="0"/>
              <a:t>B</a:t>
            </a:r>
            <a:r>
              <a:rPr lang="zh-CN" altLang="en-US" sz="2800" dirty="0"/>
              <a:t>，至少实现以下功能</a:t>
            </a:r>
            <a:endParaRPr lang="en-US" altLang="zh-CN" sz="2800" dirty="0"/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能够模拟</a:t>
            </a:r>
            <a:r>
              <a:rPr lang="en-US" altLang="zh-CN" sz="2400" dirty="0"/>
              <a:t>Cache</a:t>
            </a:r>
            <a:r>
              <a:rPr lang="zh-CN" altLang="en-US" sz="2400" dirty="0"/>
              <a:t>的执行过程，以课堂讲授为参考；</a:t>
            </a:r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支持图形交互或者命令交互；</a:t>
            </a:r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模拟器至少支持以下</a:t>
            </a:r>
            <a:r>
              <a:rPr lang="en-US" altLang="zh-CN" sz="2400" dirty="0"/>
              <a:t>4</a:t>
            </a:r>
            <a:r>
              <a:rPr lang="zh-CN" altLang="en-US" sz="2400" dirty="0"/>
              <a:t>个参数： </a:t>
            </a:r>
            <a:r>
              <a:rPr lang="en-US" altLang="zh-CN" sz="2400" dirty="0" err="1"/>
              <a:t>trace_input_file</a:t>
            </a:r>
            <a:r>
              <a:rPr lang="zh-CN" altLang="en-US" sz="2400" dirty="0"/>
              <a:t>， </a:t>
            </a:r>
            <a:r>
              <a:rPr lang="en-US" altLang="zh-CN" sz="2400" dirty="0" err="1"/>
              <a:t>cache_size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cache_associativity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cache_block_size</a:t>
            </a:r>
            <a:r>
              <a:rPr lang="zh-CN" altLang="en-US" sz="2400" dirty="0"/>
              <a:t>；</a:t>
            </a:r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Cache</a:t>
            </a:r>
            <a:r>
              <a:rPr lang="zh-CN" altLang="en-US" sz="2400" dirty="0"/>
              <a:t>和</a:t>
            </a:r>
            <a:r>
              <a:rPr lang="en-US" altLang="zh-CN" sz="2400" dirty="0"/>
              <a:t>block</a:t>
            </a:r>
            <a:r>
              <a:rPr lang="zh-CN" altLang="en-US" sz="2400" dirty="0"/>
              <a:t>的单位都是字节，</a:t>
            </a:r>
            <a:r>
              <a:rPr lang="en-US" altLang="zh-CN" sz="2400" dirty="0"/>
              <a:t>cache</a:t>
            </a:r>
            <a:r>
              <a:rPr lang="zh-CN" altLang="en-US" sz="2400" dirty="0"/>
              <a:t>大小至少支持</a:t>
            </a:r>
            <a:r>
              <a:rPr lang="en-US" altLang="zh-CN" sz="2400" dirty="0"/>
              <a:t>8KB</a:t>
            </a:r>
            <a:r>
              <a:rPr lang="zh-CN" altLang="en-US" sz="2400" dirty="0"/>
              <a:t>，</a:t>
            </a:r>
            <a:r>
              <a:rPr lang="en-US" altLang="zh-CN" sz="2400" dirty="0"/>
              <a:t>16KB</a:t>
            </a:r>
            <a:r>
              <a:rPr lang="zh-CN" altLang="en-US" sz="2400" dirty="0"/>
              <a:t>，</a:t>
            </a:r>
            <a:r>
              <a:rPr lang="en-US" altLang="zh-CN" sz="2400" dirty="0"/>
              <a:t>32KB</a:t>
            </a:r>
            <a:r>
              <a:rPr lang="zh-CN" altLang="en-US" sz="2400" dirty="0"/>
              <a:t>，</a:t>
            </a:r>
            <a:r>
              <a:rPr lang="en-US" altLang="zh-CN" sz="2400" dirty="0"/>
              <a:t>64KB</a:t>
            </a:r>
            <a:r>
              <a:rPr lang="zh-CN" altLang="en-US" sz="2400" dirty="0"/>
              <a:t>，块大小至少支持</a:t>
            </a:r>
            <a:r>
              <a:rPr lang="en-US" altLang="zh-CN" sz="2400" dirty="0"/>
              <a:t>16B</a:t>
            </a:r>
            <a:r>
              <a:rPr lang="zh-CN" altLang="en-US" sz="2400" dirty="0"/>
              <a:t>，</a:t>
            </a:r>
            <a:r>
              <a:rPr lang="en-US" altLang="zh-CN" sz="2400" dirty="0"/>
              <a:t>32B</a:t>
            </a:r>
            <a:r>
              <a:rPr lang="zh-CN" altLang="en-US" sz="2400" dirty="0"/>
              <a:t>，</a:t>
            </a:r>
            <a:r>
              <a:rPr lang="en-US" altLang="zh-CN" sz="2400" dirty="0"/>
              <a:t>64B</a:t>
            </a:r>
            <a:r>
              <a:rPr lang="zh-CN" altLang="en-US" sz="2400" dirty="0"/>
              <a:t>，</a:t>
            </a:r>
            <a:r>
              <a:rPr lang="en-US" altLang="zh-CN" sz="2400" dirty="0"/>
              <a:t>128B</a:t>
            </a:r>
            <a:r>
              <a:rPr lang="zh-CN" altLang="en-US" sz="2400" dirty="0"/>
              <a:t>，相联度至少支持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  <a:r>
              <a:rPr lang="zh-CN" altLang="en-US" sz="2400" dirty="0"/>
              <a:t>，</a:t>
            </a:r>
            <a:r>
              <a:rPr lang="en-US" altLang="zh-CN" sz="2400" dirty="0"/>
              <a:t>8</a:t>
            </a:r>
            <a:r>
              <a:rPr lang="zh-CN" altLang="en-US" sz="2400" dirty="0"/>
              <a:t>；</a:t>
            </a:r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Cache</a:t>
            </a:r>
            <a:r>
              <a:rPr lang="zh-CN" altLang="en-US" sz="2400" dirty="0"/>
              <a:t>替换算法使用</a:t>
            </a:r>
            <a:r>
              <a:rPr lang="en-US" altLang="zh-CN" sz="2400" dirty="0"/>
              <a:t>LRU</a:t>
            </a:r>
            <a:r>
              <a:rPr lang="zh-CN" altLang="en-US" sz="2400" dirty="0"/>
              <a:t>，写失效策略选择 写分配；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可以使用你喜欢的</a:t>
            </a:r>
            <a:r>
              <a:rPr lang="zh-CN" altLang="en-US" sz="2400" b="1" dirty="0">
                <a:solidFill>
                  <a:srgbClr val="0000FF"/>
                </a:solidFill>
              </a:rPr>
              <a:t>任何语言</a:t>
            </a:r>
            <a:r>
              <a:rPr lang="zh-CN" altLang="en-US" sz="2400" dirty="0"/>
              <a:t>来实现；</a:t>
            </a:r>
          </a:p>
          <a:p>
            <a:pPr lvl="1">
              <a:spcBef>
                <a:spcPts val="600"/>
              </a:spcBef>
            </a:pPr>
            <a:r>
              <a:rPr lang="zh-CN" altLang="en-US" sz="2400" dirty="0"/>
              <a:t>可参考模拟器</a:t>
            </a:r>
            <a:r>
              <a:rPr lang="en-US" altLang="zh-CN" sz="2400" dirty="0"/>
              <a:t>C</a:t>
            </a:r>
            <a:r>
              <a:rPr lang="zh-CN" altLang="en-US" sz="2400" dirty="0"/>
              <a:t>的功能；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528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96752"/>
            <a:ext cx="8820000" cy="5373248"/>
          </a:xfrm>
        </p:spPr>
        <p:txBody>
          <a:bodyPr lIns="72000" rIns="72000"/>
          <a:lstStyle/>
          <a:p>
            <a:r>
              <a:rPr lang="zh-CN" altLang="en-US" sz="2800" dirty="0"/>
              <a:t>实验步骤，对模拟器</a:t>
            </a:r>
            <a:r>
              <a:rPr lang="en-US" altLang="zh-CN" sz="2800" dirty="0"/>
              <a:t>A</a:t>
            </a:r>
            <a:r>
              <a:rPr lang="zh-CN" altLang="en-US" sz="2800" dirty="0"/>
              <a:t>和模拟器</a:t>
            </a:r>
            <a:r>
              <a:rPr lang="en-US" altLang="zh-CN" sz="2800" dirty="0"/>
              <a:t>B</a:t>
            </a:r>
            <a:r>
              <a:rPr lang="zh-CN" altLang="en-US" sz="2800" dirty="0"/>
              <a:t>，至少实现以下功能</a:t>
            </a:r>
            <a:endParaRPr lang="en-US" altLang="zh-CN" sz="28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使用本次实验提供的</a:t>
            </a:r>
            <a:r>
              <a:rPr lang="en-US" altLang="zh-CN" sz="2400" dirty="0"/>
              <a:t>4</a:t>
            </a:r>
            <a:r>
              <a:rPr lang="zh-CN" altLang="en-US" sz="2400" dirty="0"/>
              <a:t>个</a:t>
            </a:r>
            <a:r>
              <a:rPr lang="en-US" altLang="zh-CN" sz="2400" dirty="0"/>
              <a:t>trace</a:t>
            </a:r>
            <a:r>
              <a:rPr lang="zh-CN" altLang="en-US" sz="2400" dirty="0"/>
              <a:t>文件作为输入文件；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每个</a:t>
            </a:r>
            <a:r>
              <a:rPr lang="en-US" altLang="zh-CN" sz="2400" dirty="0"/>
              <a:t>trace</a:t>
            </a:r>
            <a:r>
              <a:rPr lang="zh-CN" altLang="en-US" sz="2400" dirty="0"/>
              <a:t>有若干行记录组成，每一行的格式是</a:t>
            </a:r>
            <a:r>
              <a:rPr lang="en-US" altLang="zh-CN" sz="2400" dirty="0" err="1"/>
              <a:t>access_type</a:t>
            </a:r>
            <a:r>
              <a:rPr lang="en-US" altLang="zh-CN" sz="2400" dirty="0"/>
              <a:t> address size/data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其中</a:t>
            </a:r>
            <a:r>
              <a:rPr lang="en-US" altLang="zh-CN" dirty="0" err="1"/>
              <a:t>access_type</a:t>
            </a:r>
            <a:r>
              <a:rPr lang="zh-CN" altLang="en-US" dirty="0"/>
              <a:t>的值分别是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load data</a:t>
            </a:r>
            <a:r>
              <a:rPr lang="zh-CN" altLang="en-US" dirty="0"/>
              <a:t>；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store data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fetch instruction</a:t>
            </a:r>
            <a:r>
              <a:rPr lang="zh-CN" altLang="en-US" dirty="0"/>
              <a:t>；</a:t>
            </a:r>
            <a:endParaRPr lang="en-US" altLang="zh-CN" dirty="0"/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address</a:t>
            </a:r>
            <a:r>
              <a:rPr lang="zh-CN" altLang="en-US" dirty="0"/>
              <a:t>为</a:t>
            </a:r>
            <a:r>
              <a:rPr lang="en-US" altLang="zh-CN" dirty="0"/>
              <a:t>32</a:t>
            </a:r>
            <a:r>
              <a:rPr lang="zh-CN" altLang="en-US" dirty="0"/>
              <a:t>位地址，用</a:t>
            </a:r>
            <a:r>
              <a:rPr lang="en-US" altLang="zh-CN" dirty="0"/>
              <a:t>16</a:t>
            </a:r>
            <a:r>
              <a:rPr lang="zh-CN" altLang="en-US" dirty="0"/>
              <a:t>进制表示；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为简化模拟器实现，仅考虑</a:t>
            </a:r>
            <a:r>
              <a:rPr lang="en-US" altLang="zh-CN" sz="2400" dirty="0"/>
              <a:t>load data </a:t>
            </a:r>
            <a:r>
              <a:rPr lang="zh-CN" altLang="en-US" sz="2400" dirty="0"/>
              <a:t>和 </a:t>
            </a:r>
            <a:r>
              <a:rPr lang="en-US" altLang="zh-CN" sz="2400" dirty="0"/>
              <a:t>store data</a:t>
            </a:r>
            <a:r>
              <a:rPr lang="zh-CN" altLang="en-US" sz="2400" dirty="0"/>
              <a:t>， </a:t>
            </a:r>
            <a:r>
              <a:rPr lang="en-US" altLang="zh-CN" sz="2400" dirty="0"/>
              <a:t>data</a:t>
            </a:r>
            <a:r>
              <a:rPr lang="zh-CN" altLang="en-US" sz="2400" dirty="0"/>
              <a:t>仅考虑</a:t>
            </a:r>
            <a:r>
              <a:rPr lang="en-US" altLang="zh-CN" sz="2400" dirty="0"/>
              <a:t>4B</a:t>
            </a:r>
            <a:r>
              <a:rPr lang="zh-CN" altLang="en-US" sz="2400" dirty="0"/>
              <a:t>的整数，</a:t>
            </a:r>
            <a:endParaRPr lang="en-US" altLang="zh-CN" sz="24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如果使用模拟器</a:t>
            </a:r>
            <a:r>
              <a:rPr lang="en-US" altLang="zh-CN" sz="2400" dirty="0"/>
              <a:t>B</a:t>
            </a:r>
            <a:r>
              <a:rPr lang="zh-CN" altLang="en-US" sz="2400" dirty="0"/>
              <a:t>和</a:t>
            </a:r>
            <a:r>
              <a:rPr lang="en-US" altLang="zh-CN" sz="2400" dirty="0"/>
              <a:t>C</a:t>
            </a:r>
            <a:r>
              <a:rPr lang="zh-CN" altLang="en-US" sz="2400" dirty="0"/>
              <a:t>，可以根据需要对提供的</a:t>
            </a:r>
            <a:r>
              <a:rPr lang="en-US" altLang="zh-CN" sz="2400" dirty="0"/>
              <a:t>trace</a:t>
            </a:r>
            <a:r>
              <a:rPr lang="zh-CN" altLang="en-US" sz="2400" dirty="0"/>
              <a:t>文件进行必要的处理；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056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实验步骤，对至少</a:t>
            </a:r>
            <a:r>
              <a:rPr lang="en-US" altLang="zh-CN" dirty="0"/>
              <a:t>4</a:t>
            </a:r>
            <a:r>
              <a:rPr lang="zh-CN" altLang="en-US" dirty="0"/>
              <a:t>种</a:t>
            </a:r>
            <a:r>
              <a:rPr lang="en-US" altLang="zh-CN" dirty="0"/>
              <a:t>trace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cache</a:t>
            </a:r>
            <a:r>
              <a:rPr lang="zh-CN" altLang="en-US" dirty="0"/>
              <a:t>大小，</a:t>
            </a:r>
            <a:r>
              <a:rPr lang="en-US" altLang="zh-CN" dirty="0"/>
              <a:t>4</a:t>
            </a:r>
            <a:r>
              <a:rPr lang="zh-CN" altLang="en-US" dirty="0"/>
              <a:t>个相联度，</a:t>
            </a:r>
            <a:r>
              <a:rPr lang="en-US" altLang="zh-CN" dirty="0"/>
              <a:t>4</a:t>
            </a:r>
            <a:r>
              <a:rPr lang="zh-CN" altLang="en-US" dirty="0"/>
              <a:t>个块大小进行充分的测试，并分别给出以下实验结论，可以采用图表的方式进行展示：</a:t>
            </a:r>
          </a:p>
          <a:p>
            <a:pPr lvl="1"/>
            <a:r>
              <a:rPr lang="zh-CN" altLang="en-US" dirty="0"/>
              <a:t>使用的测试参数组合情况；</a:t>
            </a:r>
          </a:p>
          <a:p>
            <a:pPr lvl="1"/>
            <a:r>
              <a:rPr lang="en-US" altLang="zh-CN" dirty="0"/>
              <a:t>Cache</a:t>
            </a:r>
            <a:r>
              <a:rPr lang="zh-CN" altLang="en-US" dirty="0"/>
              <a:t>的统计情况：读、写的</a:t>
            </a:r>
            <a:r>
              <a:rPr lang="en-US" altLang="zh-CN" dirty="0"/>
              <a:t>cache</a:t>
            </a:r>
            <a:r>
              <a:rPr lang="zh-CN" altLang="en-US" dirty="0"/>
              <a:t>块数量，替换的块数量，读写失效率等；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436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场景举例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65984-3B52-4484-8A40-D5C72A37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351" y="1303927"/>
            <a:ext cx="6425565" cy="23410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18068A-1875-4313-A7DD-6B35411C1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667001"/>
            <a:ext cx="6852950" cy="257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86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</a:t>
            </a:r>
            <a:endParaRPr lang="en-US" altLang="zh-CN" dirty="0"/>
          </a:p>
          <a:p>
            <a:r>
              <a:rPr lang="en-US" altLang="zh-CN" dirty="0"/>
              <a:t>(1) </a:t>
            </a:r>
            <a:r>
              <a:rPr lang="zh-CN" altLang="en-US" dirty="0"/>
              <a:t>模拟器</a:t>
            </a:r>
            <a:r>
              <a:rPr lang="en-US" altLang="zh-CN" dirty="0"/>
              <a:t>A</a:t>
            </a:r>
            <a:r>
              <a:rPr lang="zh-CN" altLang="en-US" dirty="0"/>
              <a:t>和模拟器</a:t>
            </a:r>
            <a:r>
              <a:rPr lang="en-US" altLang="zh-CN" dirty="0"/>
              <a:t>B</a:t>
            </a:r>
            <a:r>
              <a:rPr lang="zh-CN" altLang="en-US" dirty="0"/>
              <a:t>需提交完整的源代码、编译过程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完整的实验报告至少包含：</a:t>
            </a:r>
            <a:endParaRPr lang="en-US" altLang="zh-CN" dirty="0"/>
          </a:p>
          <a:p>
            <a:pPr lvl="1"/>
            <a:r>
              <a:rPr lang="zh-CN" altLang="en-US" dirty="0"/>
              <a:t>模拟器</a:t>
            </a:r>
            <a:r>
              <a:rPr lang="en" altLang="zh-CN" dirty="0"/>
              <a:t>A</a:t>
            </a:r>
            <a:r>
              <a:rPr lang="zh-CN" altLang="en" dirty="0"/>
              <a:t>、</a:t>
            </a:r>
            <a:r>
              <a:rPr lang="en" altLang="zh-CN" dirty="0"/>
              <a:t>B</a:t>
            </a:r>
            <a:r>
              <a:rPr lang="zh-CN" altLang="en-US" dirty="0"/>
              <a:t>的设计思想、特色</a:t>
            </a:r>
            <a:r>
              <a:rPr lang="en-US" altLang="zh-CN" dirty="0"/>
              <a:t>;</a:t>
            </a:r>
            <a:endParaRPr lang="zh-CN" altLang="en-US" dirty="0"/>
          </a:p>
          <a:p>
            <a:pPr lvl="1"/>
            <a:r>
              <a:rPr lang="zh-CN" altLang="en-US" dirty="0"/>
              <a:t>模拟器的测试组合，测试结果，以图文并茂的方式呈现；</a:t>
            </a:r>
          </a:p>
          <a:p>
            <a:pPr lvl="1"/>
            <a:r>
              <a:rPr lang="zh-CN" altLang="en-US" dirty="0"/>
              <a:t>根据上述测试结果，对</a:t>
            </a:r>
            <a:r>
              <a:rPr lang="en-US" altLang="zh-CN" dirty="0"/>
              <a:t>Cache</a:t>
            </a:r>
            <a:r>
              <a:rPr lang="zh-CN" altLang="en-US" dirty="0"/>
              <a:t>性能进行必要的分析，给出你的结论；</a:t>
            </a:r>
          </a:p>
          <a:p>
            <a:pPr lvl="1"/>
            <a:r>
              <a:rPr lang="zh-CN" altLang="en-US" dirty="0"/>
              <a:t>实验感悟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9462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47F5D44-643E-428C-AE98-E9E7EB6BB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221"/>
            <a:ext cx="9144000" cy="270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9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基本性能分析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实验结果，举例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301277-9F5C-4BC8-8EA4-20D3325EC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5" y="1950761"/>
            <a:ext cx="3686442" cy="27623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2A01FB-4432-4E49-A62C-289EF7EE4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1268760"/>
            <a:ext cx="5011440" cy="24635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3DECF5-CC4F-488C-BE6B-F920F90D1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72" y="4149080"/>
            <a:ext cx="5652120" cy="23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5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作业提交要求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使用思源学堂</a:t>
            </a:r>
            <a:endParaRPr lang="en-US" altLang="zh-CN" dirty="0"/>
          </a:p>
          <a:p>
            <a:pPr lvl="1"/>
            <a:r>
              <a:rPr lang="en-US" altLang="zh-CN" dirty="0"/>
              <a:t>http://lms.xjtu.edu.cn/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作业提交的截至时间为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周</a:t>
            </a:r>
            <a:r>
              <a:rPr lang="en-US" altLang="zh-CN" dirty="0">
                <a:sym typeface="Wingdings" panose="05000000000000000000" pitchFamily="2" charset="2"/>
              </a:rPr>
              <a:t>(7</a:t>
            </a:r>
            <a:r>
              <a:rPr lang="zh-CN" altLang="en-US" dirty="0">
                <a:sym typeface="Wingdings" panose="05000000000000000000" pitchFamily="2" charset="2"/>
              </a:rPr>
              <a:t>月</a:t>
            </a:r>
            <a:r>
              <a:rPr lang="en-US" altLang="zh-CN">
                <a:sym typeface="Wingdings" panose="05000000000000000000" pitchFamily="2" charset="2"/>
              </a:rPr>
              <a:t>8</a:t>
            </a:r>
            <a:r>
              <a:rPr lang="zh-CN" altLang="en-US">
                <a:sym typeface="Wingdings" panose="05000000000000000000" pitchFamily="2" charset="2"/>
              </a:rPr>
              <a:t>日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r>
              <a:rPr lang="zh-CN" altLang="en-US" dirty="0">
                <a:sym typeface="Wingdings" panose="05000000000000000000" pitchFamily="2" charset="2"/>
              </a:rPr>
              <a:t>，以思源学堂的时间为准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格式要求：</a:t>
            </a:r>
            <a:r>
              <a:rPr lang="en-US" altLang="zh-CN" dirty="0">
                <a:sym typeface="Wingdings" panose="05000000000000000000" pitchFamily="2" charset="2"/>
              </a:rPr>
              <a:t>pdf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逾期提交会做扣分处理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A36C83-FD0B-4842-92F3-6D526A5BF9CE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461033"/>
      </p:ext>
    </p:extLst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yCAFont">
      <a:majorFont>
        <a:latin typeface="Consolas"/>
        <a:ea typeface="黑体"/>
        <a:cs typeface=""/>
      </a:majorFont>
      <a:minorFont>
        <a:latin typeface="Consolas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4800" b="1" i="0" u="none" strike="noStrike" cap="none" normalizeH="0" baseline="0" smtClean="0">
            <a:ln>
              <a:noFill/>
            </a:ln>
            <a:solidFill>
              <a:srgbClr val="996633"/>
            </a:solidFill>
            <a:effectLst/>
            <a:latin typeface="隶书" pitchFamily="49" charset="-122"/>
            <a:ea typeface="隶书" pitchFamily="49" charset="-122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7117</TotalTime>
  <Words>627</Words>
  <Application>Microsoft Office PowerPoint</Application>
  <PresentationFormat>全屏显示(4:3)</PresentationFormat>
  <Paragraphs>72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华文楷体</vt:lpstr>
      <vt:lpstr>华文行楷</vt:lpstr>
      <vt:lpstr>隶书</vt:lpstr>
      <vt:lpstr>微软雅黑</vt:lpstr>
      <vt:lpstr>Consolas</vt:lpstr>
      <vt:lpstr>Times New Roman</vt:lpstr>
      <vt:lpstr>Wingdings</vt:lpstr>
      <vt:lpstr>Straight Edge</vt:lpstr>
      <vt:lpstr>计算机体系结构</vt:lpstr>
      <vt:lpstr>第4次上机实验</vt:lpstr>
      <vt:lpstr>Cache基本性能分析</vt:lpstr>
      <vt:lpstr>Cache基本性能分析</vt:lpstr>
      <vt:lpstr>Cache基本性能分析</vt:lpstr>
      <vt:lpstr>Cache基本性能分析</vt:lpstr>
      <vt:lpstr>Cache基本性能分析</vt:lpstr>
      <vt:lpstr>Cache基本性能分析</vt:lpstr>
      <vt:lpstr>Cache基本性能分析</vt:lpstr>
      <vt:lpstr>Cache基本性能分析</vt:lpstr>
      <vt:lpstr>Cache基本性能分析</vt:lpstr>
      <vt:lpstr>作业提交要求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计算机体系结构</dc:title>
  <dc:creator>XJTUarch</dc:creator>
  <cp:lastModifiedBy>chen</cp:lastModifiedBy>
  <cp:revision>34</cp:revision>
  <cp:lastPrinted>2012-02-15T08:53:58Z</cp:lastPrinted>
  <dcterms:created xsi:type="dcterms:W3CDTF">2001-11-18T11:43:33Z</dcterms:created>
  <dcterms:modified xsi:type="dcterms:W3CDTF">2026-06-16T03:33:29Z</dcterms:modified>
</cp:coreProperties>
</file>
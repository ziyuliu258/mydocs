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322" r:id="rId2"/>
    <p:sldId id="392" r:id="rId3"/>
    <p:sldId id="397" r:id="rId4"/>
    <p:sldId id="398" r:id="rId5"/>
    <p:sldId id="399" r:id="rId6"/>
    <p:sldId id="400" r:id="rId7"/>
    <p:sldId id="402" r:id="rId8"/>
    <p:sldId id="401" r:id="rId9"/>
    <p:sldId id="403" r:id="rId10"/>
    <p:sldId id="404" r:id="rId11"/>
    <p:sldId id="393" r:id="rId12"/>
  </p:sldIdLst>
  <p:sldSz cx="9144000" cy="6858000" type="screen4x3"/>
  <p:notesSz cx="6648450" cy="978058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5pPr>
    <a:lvl6pPr marL="22860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6pPr>
    <a:lvl7pPr marL="27432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7pPr>
    <a:lvl8pPr marL="32004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8pPr>
    <a:lvl9pPr marL="36576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00"/>
    <a:srgbClr val="CC9900"/>
    <a:srgbClr val="CCCC99"/>
    <a:srgbClr val="993300"/>
    <a:srgbClr val="FF9900"/>
    <a:srgbClr val="6600FF"/>
    <a:srgbClr val="FF0066"/>
    <a:srgbClr val="99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 autoAdjust="0"/>
    <p:restoredTop sz="91000" autoAdjust="0"/>
  </p:normalViewPr>
  <p:slideViewPr>
    <p:cSldViewPr>
      <p:cViewPr varScale="1">
        <p:scale>
          <a:sx n="127" d="100"/>
          <a:sy n="127" d="100"/>
        </p:scale>
        <p:origin x="34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970" y="-102"/>
      </p:cViewPr>
      <p:guideLst>
        <p:guide orient="horz" pos="3081"/>
        <p:guide pos="209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005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25D01681-DA43-44EF-9A76-FC9C89F431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7118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8725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1063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5025"/>
            <a:ext cx="4876800" cy="440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1638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8725" y="9291638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3D87B5F7-9E23-41C7-968F-A71FC1C22F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9731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9BF5ADA2-6294-41EF-896E-81994FA777D0}" type="slidenum">
              <a:rPr lang="en-US" altLang="zh-CN" sz="1100" b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pPr eaLnBrk="1" hangingPunct="1"/>
              <a:t>1</a:t>
            </a:fld>
            <a:endParaRPr lang="en-US" altLang="zh-CN" sz="11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片 1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8400" y="2494800"/>
            <a:ext cx="6913463" cy="4365114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098550" y="784225"/>
            <a:ext cx="7580313" cy="14859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0" y="68263"/>
            <a:ext cx="990600" cy="6713537"/>
            <a:chOff x="0" y="43"/>
            <a:chExt cx="624" cy="4229"/>
          </a:xfrm>
        </p:grpSpPr>
        <p:sp>
          <p:nvSpPr>
            <p:cNvPr id="7" name="Line 5"/>
            <p:cNvSpPr>
              <a:spLocks noChangeShapeType="1"/>
            </p:cNvSpPr>
            <p:nvPr userDrawn="1"/>
          </p:nvSpPr>
          <p:spPr bwMode="auto">
            <a:xfrm>
              <a:off x="0" y="420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42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 userDrawn="1"/>
          </p:nvSpPr>
          <p:spPr bwMode="auto">
            <a:xfrm>
              <a:off x="0" y="427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 userDrawn="1"/>
          </p:nvSpPr>
          <p:spPr bwMode="auto">
            <a:xfrm>
              <a:off x="0" y="4113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 userDrawn="1"/>
          </p:nvSpPr>
          <p:spPr bwMode="auto">
            <a:xfrm>
              <a:off x="0" y="406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 userDrawn="1"/>
          </p:nvSpPr>
          <p:spPr bwMode="auto">
            <a:xfrm>
              <a:off x="0" y="41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 userDrawn="1"/>
          </p:nvSpPr>
          <p:spPr bwMode="auto">
            <a:xfrm>
              <a:off x="0" y="366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 userDrawn="1"/>
          </p:nvSpPr>
          <p:spPr bwMode="auto">
            <a:xfrm>
              <a:off x="0" y="36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 userDrawn="1"/>
          </p:nvSpPr>
          <p:spPr bwMode="auto">
            <a:xfrm>
              <a:off x="0" y="402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 userDrawn="1"/>
          </p:nvSpPr>
          <p:spPr bwMode="auto">
            <a:xfrm>
              <a:off x="0" y="389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 userDrawn="1"/>
          </p:nvSpPr>
          <p:spPr bwMode="auto">
            <a:xfrm>
              <a:off x="0" y="381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 userDrawn="1"/>
          </p:nvSpPr>
          <p:spPr bwMode="auto">
            <a:xfrm>
              <a:off x="0" y="399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 userDrawn="1"/>
          </p:nvSpPr>
          <p:spPr bwMode="auto">
            <a:xfrm>
              <a:off x="0" y="368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 userDrawn="1"/>
          </p:nvSpPr>
          <p:spPr bwMode="auto">
            <a:xfrm>
              <a:off x="0" y="374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 userDrawn="1"/>
          </p:nvSpPr>
          <p:spPr bwMode="auto">
            <a:xfrm>
              <a:off x="0" y="39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 userDrawn="1"/>
          </p:nvSpPr>
          <p:spPr bwMode="auto">
            <a:xfrm>
              <a:off x="0" y="39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 userDrawn="1"/>
          </p:nvSpPr>
          <p:spPr bwMode="auto">
            <a:xfrm>
              <a:off x="0" y="351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 userDrawn="1"/>
          </p:nvSpPr>
          <p:spPr bwMode="auto">
            <a:xfrm>
              <a:off x="0" y="35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 userDrawn="1"/>
          </p:nvSpPr>
          <p:spPr bwMode="auto">
            <a:xfrm>
              <a:off x="0" y="357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 userDrawn="1"/>
          </p:nvSpPr>
          <p:spPr bwMode="auto">
            <a:xfrm>
              <a:off x="0" y="342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 userDrawn="1"/>
          </p:nvSpPr>
          <p:spPr bwMode="auto">
            <a:xfrm>
              <a:off x="0" y="337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 userDrawn="1"/>
          </p:nvSpPr>
          <p:spPr bwMode="auto">
            <a:xfrm>
              <a:off x="0" y="346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 userDrawn="1"/>
          </p:nvSpPr>
          <p:spPr bwMode="auto">
            <a:xfrm>
              <a:off x="0" y="297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 userDrawn="1"/>
          </p:nvSpPr>
          <p:spPr bwMode="auto">
            <a:xfrm>
              <a:off x="0" y="29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9"/>
            <p:cNvSpPr>
              <a:spLocks noChangeShapeType="1"/>
            </p:cNvSpPr>
            <p:nvPr userDrawn="1"/>
          </p:nvSpPr>
          <p:spPr bwMode="auto">
            <a:xfrm>
              <a:off x="0" y="332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 userDrawn="1"/>
          </p:nvSpPr>
          <p:spPr bwMode="auto">
            <a:xfrm>
              <a:off x="0" y="320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1"/>
            <p:cNvSpPr>
              <a:spLocks noChangeShapeType="1"/>
            </p:cNvSpPr>
            <p:nvPr userDrawn="1"/>
          </p:nvSpPr>
          <p:spPr bwMode="auto">
            <a:xfrm>
              <a:off x="0" y="312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 userDrawn="1"/>
          </p:nvSpPr>
          <p:spPr bwMode="auto">
            <a:xfrm>
              <a:off x="0" y="330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3"/>
            <p:cNvSpPr>
              <a:spLocks noChangeShapeType="1"/>
            </p:cNvSpPr>
            <p:nvPr userDrawn="1"/>
          </p:nvSpPr>
          <p:spPr bwMode="auto">
            <a:xfrm>
              <a:off x="0" y="299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4"/>
            <p:cNvSpPr>
              <a:spLocks noChangeShapeType="1"/>
            </p:cNvSpPr>
            <p:nvPr userDrawn="1"/>
          </p:nvSpPr>
          <p:spPr bwMode="auto">
            <a:xfrm>
              <a:off x="0" y="304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 userDrawn="1"/>
          </p:nvSpPr>
          <p:spPr bwMode="auto">
            <a:xfrm>
              <a:off x="0" y="324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 userDrawn="1"/>
          </p:nvSpPr>
          <p:spPr bwMode="auto">
            <a:xfrm>
              <a:off x="0" y="322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 userDrawn="1"/>
          </p:nvSpPr>
          <p:spPr bwMode="auto">
            <a:xfrm>
              <a:off x="0" y="283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 userDrawn="1"/>
          </p:nvSpPr>
          <p:spPr bwMode="auto">
            <a:xfrm>
              <a:off x="0" y="275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 userDrawn="1"/>
          </p:nvSpPr>
          <p:spPr bwMode="auto">
            <a:xfrm>
              <a:off x="0" y="267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 userDrawn="1"/>
          </p:nvSpPr>
          <p:spPr bwMode="auto">
            <a:xfrm>
              <a:off x="0" y="287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 userDrawn="1"/>
          </p:nvSpPr>
          <p:spPr bwMode="auto">
            <a:xfrm>
              <a:off x="0" y="285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 userDrawn="1"/>
          </p:nvSpPr>
          <p:spPr bwMode="auto">
            <a:xfrm>
              <a:off x="0" y="2554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3"/>
            <p:cNvSpPr>
              <a:spLocks noChangeShapeType="1"/>
            </p:cNvSpPr>
            <p:nvPr userDrawn="1"/>
          </p:nvSpPr>
          <p:spPr bwMode="auto">
            <a:xfrm>
              <a:off x="0" y="2590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 userDrawn="1"/>
          </p:nvSpPr>
          <p:spPr bwMode="auto">
            <a:xfrm>
              <a:off x="0" y="2623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 userDrawn="1"/>
          </p:nvSpPr>
          <p:spPr bwMode="auto">
            <a:xfrm>
              <a:off x="0" y="246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46"/>
            <p:cNvSpPr>
              <a:spLocks noChangeShapeType="1"/>
            </p:cNvSpPr>
            <p:nvPr userDrawn="1"/>
          </p:nvSpPr>
          <p:spPr bwMode="auto">
            <a:xfrm>
              <a:off x="0" y="241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7"/>
            <p:cNvSpPr>
              <a:spLocks noChangeShapeType="1"/>
            </p:cNvSpPr>
            <p:nvPr userDrawn="1"/>
          </p:nvSpPr>
          <p:spPr bwMode="auto">
            <a:xfrm>
              <a:off x="0" y="250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8"/>
            <p:cNvSpPr>
              <a:spLocks noChangeShapeType="1"/>
            </p:cNvSpPr>
            <p:nvPr userDrawn="1"/>
          </p:nvSpPr>
          <p:spPr bwMode="auto">
            <a:xfrm>
              <a:off x="0" y="237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49"/>
            <p:cNvSpPr>
              <a:spLocks noChangeShapeType="1"/>
            </p:cNvSpPr>
            <p:nvPr userDrawn="1"/>
          </p:nvSpPr>
          <p:spPr bwMode="auto">
            <a:xfrm>
              <a:off x="0" y="2245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50"/>
            <p:cNvSpPr>
              <a:spLocks noChangeShapeType="1"/>
            </p:cNvSpPr>
            <p:nvPr userDrawn="1"/>
          </p:nvSpPr>
          <p:spPr bwMode="auto">
            <a:xfrm>
              <a:off x="0" y="235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51"/>
            <p:cNvSpPr>
              <a:spLocks noChangeShapeType="1"/>
            </p:cNvSpPr>
            <p:nvPr userDrawn="1"/>
          </p:nvSpPr>
          <p:spPr bwMode="auto">
            <a:xfrm>
              <a:off x="0" y="229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52"/>
            <p:cNvSpPr>
              <a:spLocks noChangeShapeType="1"/>
            </p:cNvSpPr>
            <p:nvPr userDrawn="1"/>
          </p:nvSpPr>
          <p:spPr bwMode="auto">
            <a:xfrm>
              <a:off x="0" y="226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53"/>
            <p:cNvSpPr>
              <a:spLocks noChangeShapeType="1"/>
            </p:cNvSpPr>
            <p:nvPr userDrawn="1"/>
          </p:nvSpPr>
          <p:spPr bwMode="auto">
            <a:xfrm>
              <a:off x="0" y="213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4"/>
            <p:cNvSpPr>
              <a:spLocks noChangeShapeType="1"/>
            </p:cNvSpPr>
            <p:nvPr userDrawn="1"/>
          </p:nvSpPr>
          <p:spPr bwMode="auto">
            <a:xfrm>
              <a:off x="0" y="21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5"/>
            <p:cNvSpPr>
              <a:spLocks noChangeShapeType="1"/>
            </p:cNvSpPr>
            <p:nvPr userDrawn="1"/>
          </p:nvSpPr>
          <p:spPr bwMode="auto">
            <a:xfrm>
              <a:off x="0" y="219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6"/>
            <p:cNvSpPr>
              <a:spLocks noChangeShapeType="1"/>
            </p:cNvSpPr>
            <p:nvPr userDrawn="1"/>
          </p:nvSpPr>
          <p:spPr bwMode="auto">
            <a:xfrm>
              <a:off x="0" y="204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7"/>
            <p:cNvSpPr>
              <a:spLocks noChangeShapeType="1"/>
            </p:cNvSpPr>
            <p:nvPr userDrawn="1"/>
          </p:nvSpPr>
          <p:spPr bwMode="auto">
            <a:xfrm>
              <a:off x="0" y="199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8"/>
            <p:cNvSpPr>
              <a:spLocks noChangeShapeType="1"/>
            </p:cNvSpPr>
            <p:nvPr userDrawn="1"/>
          </p:nvSpPr>
          <p:spPr bwMode="auto">
            <a:xfrm>
              <a:off x="0" y="208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59"/>
            <p:cNvSpPr>
              <a:spLocks noChangeShapeType="1"/>
            </p:cNvSpPr>
            <p:nvPr userDrawn="1"/>
          </p:nvSpPr>
          <p:spPr bwMode="auto">
            <a:xfrm>
              <a:off x="0" y="159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0"/>
            <p:cNvSpPr>
              <a:spLocks noChangeShapeType="1"/>
            </p:cNvSpPr>
            <p:nvPr userDrawn="1"/>
          </p:nvSpPr>
          <p:spPr bwMode="auto">
            <a:xfrm>
              <a:off x="0" y="15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1"/>
            <p:cNvSpPr>
              <a:spLocks noChangeShapeType="1"/>
            </p:cNvSpPr>
            <p:nvPr userDrawn="1"/>
          </p:nvSpPr>
          <p:spPr bwMode="auto">
            <a:xfrm>
              <a:off x="0" y="194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2"/>
            <p:cNvSpPr>
              <a:spLocks noChangeShapeType="1"/>
            </p:cNvSpPr>
            <p:nvPr userDrawn="1"/>
          </p:nvSpPr>
          <p:spPr bwMode="auto">
            <a:xfrm>
              <a:off x="0" y="182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3"/>
            <p:cNvSpPr>
              <a:spLocks noChangeShapeType="1"/>
            </p:cNvSpPr>
            <p:nvPr userDrawn="1"/>
          </p:nvSpPr>
          <p:spPr bwMode="auto">
            <a:xfrm>
              <a:off x="0" y="174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4"/>
            <p:cNvSpPr>
              <a:spLocks noChangeShapeType="1"/>
            </p:cNvSpPr>
            <p:nvPr userDrawn="1"/>
          </p:nvSpPr>
          <p:spPr bwMode="auto">
            <a:xfrm>
              <a:off x="0" y="192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5"/>
            <p:cNvSpPr>
              <a:spLocks noChangeShapeType="1"/>
            </p:cNvSpPr>
            <p:nvPr userDrawn="1"/>
          </p:nvSpPr>
          <p:spPr bwMode="auto">
            <a:xfrm>
              <a:off x="0" y="161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6"/>
            <p:cNvSpPr>
              <a:spLocks noChangeShapeType="1"/>
            </p:cNvSpPr>
            <p:nvPr userDrawn="1"/>
          </p:nvSpPr>
          <p:spPr bwMode="auto">
            <a:xfrm>
              <a:off x="0" y="166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7"/>
            <p:cNvSpPr>
              <a:spLocks noChangeShapeType="1"/>
            </p:cNvSpPr>
            <p:nvPr userDrawn="1"/>
          </p:nvSpPr>
          <p:spPr bwMode="auto">
            <a:xfrm>
              <a:off x="0" y="186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68"/>
            <p:cNvSpPr>
              <a:spLocks noChangeShapeType="1"/>
            </p:cNvSpPr>
            <p:nvPr userDrawn="1"/>
          </p:nvSpPr>
          <p:spPr bwMode="auto">
            <a:xfrm>
              <a:off x="0" y="184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69"/>
            <p:cNvSpPr>
              <a:spLocks noChangeShapeType="1"/>
            </p:cNvSpPr>
            <p:nvPr userDrawn="1"/>
          </p:nvSpPr>
          <p:spPr bwMode="auto">
            <a:xfrm>
              <a:off x="0" y="1437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0"/>
            <p:cNvSpPr>
              <a:spLocks noChangeShapeType="1"/>
            </p:cNvSpPr>
            <p:nvPr userDrawn="1"/>
          </p:nvSpPr>
          <p:spPr bwMode="auto">
            <a:xfrm>
              <a:off x="0" y="147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71"/>
            <p:cNvSpPr>
              <a:spLocks noChangeShapeType="1"/>
            </p:cNvSpPr>
            <p:nvPr userDrawn="1"/>
          </p:nvSpPr>
          <p:spPr bwMode="auto">
            <a:xfrm>
              <a:off x="0" y="150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72"/>
            <p:cNvSpPr>
              <a:spLocks noChangeShapeType="1"/>
            </p:cNvSpPr>
            <p:nvPr userDrawn="1"/>
          </p:nvSpPr>
          <p:spPr bwMode="auto">
            <a:xfrm>
              <a:off x="0" y="1347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73"/>
            <p:cNvSpPr>
              <a:spLocks noChangeShapeType="1"/>
            </p:cNvSpPr>
            <p:nvPr userDrawn="1"/>
          </p:nvSpPr>
          <p:spPr bwMode="auto">
            <a:xfrm>
              <a:off x="0" y="139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74"/>
            <p:cNvSpPr>
              <a:spLocks noChangeShapeType="1"/>
            </p:cNvSpPr>
            <p:nvPr userDrawn="1"/>
          </p:nvSpPr>
          <p:spPr bwMode="auto">
            <a:xfrm>
              <a:off x="0" y="101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75"/>
            <p:cNvSpPr>
              <a:spLocks noChangeShapeType="1"/>
            </p:cNvSpPr>
            <p:nvPr userDrawn="1"/>
          </p:nvSpPr>
          <p:spPr bwMode="auto">
            <a:xfrm>
              <a:off x="0" y="98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76"/>
            <p:cNvSpPr>
              <a:spLocks noChangeShapeType="1"/>
            </p:cNvSpPr>
            <p:nvPr userDrawn="1"/>
          </p:nvSpPr>
          <p:spPr bwMode="auto">
            <a:xfrm>
              <a:off x="0" y="124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77"/>
            <p:cNvSpPr>
              <a:spLocks noChangeShapeType="1"/>
            </p:cNvSpPr>
            <p:nvPr userDrawn="1"/>
          </p:nvSpPr>
          <p:spPr bwMode="auto">
            <a:xfrm>
              <a:off x="0" y="116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78"/>
            <p:cNvSpPr>
              <a:spLocks noChangeShapeType="1"/>
            </p:cNvSpPr>
            <p:nvPr userDrawn="1"/>
          </p:nvSpPr>
          <p:spPr bwMode="auto">
            <a:xfrm>
              <a:off x="0" y="103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79"/>
            <p:cNvSpPr>
              <a:spLocks noChangeShapeType="1"/>
            </p:cNvSpPr>
            <p:nvPr userDrawn="1"/>
          </p:nvSpPr>
          <p:spPr bwMode="auto">
            <a:xfrm>
              <a:off x="0" y="10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80"/>
            <p:cNvSpPr>
              <a:spLocks noChangeShapeType="1"/>
            </p:cNvSpPr>
            <p:nvPr userDrawn="1"/>
          </p:nvSpPr>
          <p:spPr bwMode="auto">
            <a:xfrm>
              <a:off x="0" y="128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81"/>
            <p:cNvSpPr>
              <a:spLocks noChangeShapeType="1"/>
            </p:cNvSpPr>
            <p:nvPr userDrawn="1"/>
          </p:nvSpPr>
          <p:spPr bwMode="auto">
            <a:xfrm>
              <a:off x="0" y="126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82"/>
            <p:cNvSpPr>
              <a:spLocks noChangeShapeType="1"/>
            </p:cNvSpPr>
            <p:nvPr userDrawn="1"/>
          </p:nvSpPr>
          <p:spPr bwMode="auto">
            <a:xfrm>
              <a:off x="0" y="86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83"/>
            <p:cNvSpPr>
              <a:spLocks noChangeShapeType="1"/>
            </p:cNvSpPr>
            <p:nvPr userDrawn="1"/>
          </p:nvSpPr>
          <p:spPr bwMode="auto">
            <a:xfrm>
              <a:off x="0" y="89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84"/>
            <p:cNvSpPr>
              <a:spLocks noChangeShapeType="1"/>
            </p:cNvSpPr>
            <p:nvPr userDrawn="1"/>
          </p:nvSpPr>
          <p:spPr bwMode="auto">
            <a:xfrm>
              <a:off x="0" y="92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5"/>
            <p:cNvSpPr>
              <a:spLocks noChangeShapeType="1"/>
            </p:cNvSpPr>
            <p:nvPr userDrawn="1"/>
          </p:nvSpPr>
          <p:spPr bwMode="auto">
            <a:xfrm>
              <a:off x="0" y="77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86"/>
            <p:cNvSpPr>
              <a:spLocks noChangeShapeType="1"/>
            </p:cNvSpPr>
            <p:nvPr userDrawn="1"/>
          </p:nvSpPr>
          <p:spPr bwMode="auto">
            <a:xfrm>
              <a:off x="0" y="81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87"/>
            <p:cNvSpPr>
              <a:spLocks noChangeShapeType="1"/>
            </p:cNvSpPr>
            <p:nvPr userDrawn="1"/>
          </p:nvSpPr>
          <p:spPr bwMode="auto">
            <a:xfrm>
              <a:off x="0" y="71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88"/>
            <p:cNvSpPr>
              <a:spLocks noChangeShapeType="1"/>
            </p:cNvSpPr>
            <p:nvPr userDrawn="1"/>
          </p:nvSpPr>
          <p:spPr bwMode="auto">
            <a:xfrm>
              <a:off x="0" y="64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89"/>
            <p:cNvSpPr>
              <a:spLocks noChangeShapeType="1"/>
            </p:cNvSpPr>
            <p:nvPr userDrawn="1"/>
          </p:nvSpPr>
          <p:spPr bwMode="auto">
            <a:xfrm>
              <a:off x="0" y="522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0"/>
            <p:cNvSpPr>
              <a:spLocks noChangeShapeType="1"/>
            </p:cNvSpPr>
            <p:nvPr userDrawn="1"/>
          </p:nvSpPr>
          <p:spPr bwMode="auto">
            <a:xfrm>
              <a:off x="0" y="558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91"/>
            <p:cNvSpPr>
              <a:spLocks noChangeShapeType="1"/>
            </p:cNvSpPr>
            <p:nvPr userDrawn="1"/>
          </p:nvSpPr>
          <p:spPr bwMode="auto">
            <a:xfrm>
              <a:off x="0" y="59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2"/>
            <p:cNvSpPr>
              <a:spLocks noChangeShapeType="1"/>
            </p:cNvSpPr>
            <p:nvPr userDrawn="1"/>
          </p:nvSpPr>
          <p:spPr bwMode="auto">
            <a:xfrm>
              <a:off x="0" y="432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3"/>
            <p:cNvSpPr>
              <a:spLocks noChangeShapeType="1"/>
            </p:cNvSpPr>
            <p:nvPr userDrawn="1"/>
          </p:nvSpPr>
          <p:spPr bwMode="auto">
            <a:xfrm>
              <a:off x="0" y="38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4"/>
            <p:cNvSpPr>
              <a:spLocks noChangeShapeType="1"/>
            </p:cNvSpPr>
            <p:nvPr userDrawn="1"/>
          </p:nvSpPr>
          <p:spPr bwMode="auto">
            <a:xfrm>
              <a:off x="0" y="47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5"/>
            <p:cNvSpPr>
              <a:spLocks noChangeShapeType="1"/>
            </p:cNvSpPr>
            <p:nvPr userDrawn="1"/>
          </p:nvSpPr>
          <p:spPr bwMode="auto">
            <a:xfrm>
              <a:off x="0" y="3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6"/>
            <p:cNvSpPr>
              <a:spLocks noChangeShapeType="1"/>
            </p:cNvSpPr>
            <p:nvPr userDrawn="1"/>
          </p:nvSpPr>
          <p:spPr bwMode="auto">
            <a:xfrm>
              <a:off x="0" y="3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7"/>
            <p:cNvSpPr>
              <a:spLocks noChangeShapeType="1"/>
            </p:cNvSpPr>
            <p:nvPr userDrawn="1"/>
          </p:nvSpPr>
          <p:spPr bwMode="auto">
            <a:xfrm>
              <a:off x="0" y="2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98"/>
            <p:cNvSpPr>
              <a:spLocks noChangeShapeType="1"/>
            </p:cNvSpPr>
            <p:nvPr userDrawn="1"/>
          </p:nvSpPr>
          <p:spPr bwMode="auto">
            <a:xfrm>
              <a:off x="0" y="7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99"/>
            <p:cNvSpPr>
              <a:spLocks noChangeShapeType="1"/>
            </p:cNvSpPr>
            <p:nvPr userDrawn="1"/>
          </p:nvSpPr>
          <p:spPr bwMode="auto">
            <a:xfrm>
              <a:off x="0" y="4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00"/>
            <p:cNvSpPr>
              <a:spLocks noChangeShapeType="1"/>
            </p:cNvSpPr>
            <p:nvPr userDrawn="1"/>
          </p:nvSpPr>
          <p:spPr bwMode="auto">
            <a:xfrm>
              <a:off x="0" y="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101"/>
            <p:cNvSpPr>
              <a:spLocks noChangeShapeType="1"/>
            </p:cNvSpPr>
            <p:nvPr userDrawn="1"/>
          </p:nvSpPr>
          <p:spPr bwMode="auto">
            <a:xfrm>
              <a:off x="0" y="14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102"/>
            <p:cNvSpPr>
              <a:spLocks noChangeShapeType="1"/>
            </p:cNvSpPr>
            <p:nvPr userDrawn="1"/>
          </p:nvSpPr>
          <p:spPr bwMode="auto">
            <a:xfrm>
              <a:off x="0" y="202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rgbClr val="CC990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6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5882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5883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080000" y="2376488"/>
            <a:ext cx="7239000" cy="33115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07" name="Rectangle 10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4388" y="6400800"/>
            <a:ext cx="1906587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98DF6-77D2-4AC3-94D5-48C3DAD2268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685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0000" y="288000"/>
            <a:ext cx="7920000" cy="108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74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roup 3"/>
          <p:cNvGrpSpPr>
            <a:grpSpLocks/>
          </p:cNvGrpSpPr>
          <p:nvPr userDrawn="1"/>
        </p:nvGrpSpPr>
        <p:grpSpPr bwMode="auto">
          <a:xfrm>
            <a:off x="35496" y="64220"/>
            <a:ext cx="216000" cy="6461125"/>
            <a:chOff x="0" y="202"/>
            <a:chExt cx="5760" cy="4070"/>
          </a:xfrm>
        </p:grpSpPr>
        <p:sp>
          <p:nvSpPr>
            <p:cNvPr id="1036" name="Line 4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5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6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7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8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9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Line 10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Line 11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Line 12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Line 13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Line 14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Line 15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Line 16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Line 17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Line 18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Line 19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Line 20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Line 21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Line 22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Line 23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Line 24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Line 25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Line 26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Line 27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Line 28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Line 29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Line 30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Line 31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4" name="Line 32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" name="Line 33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6" name="Line 34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7" name="Line 35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8" name="Line 36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9" name="Line 37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0" name="Line 38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1" name="Line 39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2" name="Line 40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3" name="Line 41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4" name="Line 42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" name="Line 43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" name="Line 44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" name="Line 45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8" name="Line 46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9" name="Line 47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0" name="Line 48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1" name="Line 49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2" name="Line 50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3" name="Line 51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4" name="Line 52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" name="Line 53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" name="Line 54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7" name="Line 55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8" name="Line 56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9" name="Line 57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0" name="Line 58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1" name="Line 59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" name="Line 60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" name="Line 61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4" name="Line 62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" name="Line 63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" name="Line 64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7" name="Line 65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" name="Line 66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9" name="Line 67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0" name="Line 68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1" name="Line 69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" name="Line 70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3" name="Line 71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4" name="Line 72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" name="Line 73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" name="Line 74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" name="Line 75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" name="Line 76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9" name="Line 77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" name="Line 78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" name="Line 79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" name="Line 80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" name="Line 81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4" name="Line 82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5" name="Line 83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" name="Line 84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" name="Line 85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8" name="Line 86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9" name="Line 87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0" name="Line 88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" name="Line 89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2" name="Line 90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3" name="Line 91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4" name="Line 92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5" name="Line 93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" name="Line 94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" name="Line 95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" name="Line 96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" name="Line 101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2" name="Rectangle 103"/>
          <p:cNvSpPr>
            <a:spLocks noChangeArrowheads="1"/>
          </p:cNvSpPr>
          <p:nvPr userDrawn="1"/>
        </p:nvSpPr>
        <p:spPr bwMode="auto">
          <a:xfrm>
            <a:off x="500758" y="68982"/>
            <a:ext cx="360000" cy="1152000"/>
          </a:xfrm>
          <a:prstGeom prst="rect">
            <a:avLst/>
          </a:prstGeom>
          <a:solidFill>
            <a:srgbClr val="CC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Rectangle 104"/>
          <p:cNvSpPr>
            <a:spLocks noChangeArrowheads="1"/>
          </p:cNvSpPr>
          <p:nvPr userDrawn="1"/>
        </p:nvSpPr>
        <p:spPr bwMode="auto">
          <a:xfrm>
            <a:off x="251520" y="200744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 bwMode="auto">
          <a:xfrm>
            <a:off x="0" y="6624000"/>
            <a:ext cx="9144000" cy="252000"/>
          </a:xfrm>
          <a:prstGeom prst="rect">
            <a:avLst/>
          </a:prstGeom>
          <a:gradFill flip="none" rotWithShape="1">
            <a:gsLst>
              <a:gs pos="40000">
                <a:srgbClr val="CCCC99">
                  <a:alpha val="80000"/>
                </a:srgbClr>
              </a:gs>
              <a:gs pos="76126">
                <a:srgbClr val="EBEBD6"/>
              </a:gs>
              <a:gs pos="57820">
                <a:srgbClr val="DBDBB7"/>
              </a:gs>
              <a:gs pos="30000">
                <a:srgbClr val="CCCC99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  <a:softEdge rad="31750"/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48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11" name="图片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44000" y="0"/>
            <a:ext cx="1799792" cy="51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07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24000" y="1404000"/>
            <a:ext cx="8640000" cy="52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4862" name="Rectangle 110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48488" y="6624000"/>
            <a:ext cx="2193925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49A7A74-4E33-482D-9B61-523748FF653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9" name="Rectangle 111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00000" y="288000"/>
            <a:ext cx="7920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72000" y="6624000"/>
            <a:ext cx="144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计算机体系结构</a:t>
            </a:r>
          </a:p>
        </p:txBody>
      </p:sp>
      <p:sp>
        <p:nvSpPr>
          <p:cNvPr id="113" name="文本框 112"/>
          <p:cNvSpPr txBox="1"/>
          <p:nvPr userDrawn="1"/>
        </p:nvSpPr>
        <p:spPr>
          <a:xfrm>
            <a:off x="3635896" y="6624000"/>
            <a:ext cx="2412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kern="12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西安交通大学  新</a:t>
            </a:r>
            <a:r>
              <a:rPr lang="zh-CN" altLang="en-US" sz="1200" b="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型计算机研究所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0" r:id="rId2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 b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u"/>
        <a:defRPr kumimoji="1" sz="3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 sz="28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4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w"/>
        <a:defRPr kumimoji="1" sz="20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kumimoji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>
                <a:ea typeface="仿宋_GB2312" pitchFamily="49" charset="-122"/>
              </a:rPr>
              <a:t>计算机体系结构</a:t>
            </a:r>
            <a:endParaRPr lang="zh-CN" altLang="en-US" sz="4800" b="1" dirty="0">
              <a:ea typeface="仿宋_GB2312" pitchFamily="49" charset="-122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980131" y="3429000"/>
            <a:ext cx="5760000" cy="316835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华文楷体" panose="02010600040101010101" pitchFamily="2" charset="-122"/>
              </a:rPr>
              <a:t>新型计算机研究所</a:t>
            </a:r>
            <a:endParaRPr lang="zh-CN" altLang="en-US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华文楷体" panose="02010600040101010101" pitchFamily="2" charset="-122"/>
              </a:rPr>
              <a:t>陈  衡</a:t>
            </a:r>
            <a:endParaRPr lang="zh-CN" altLang="en-US" sz="2400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2400"/>
              </a:spcBef>
            </a:pPr>
            <a:r>
              <a:rPr lang="zh-CN" altLang="en-US" sz="2800" b="1" dirty="0"/>
              <a:t>西一楼Ａ段</a:t>
            </a:r>
            <a:r>
              <a:rPr lang="en-US" altLang="zh-CN" sz="2800" b="1" dirty="0"/>
              <a:t>415</a:t>
            </a:r>
            <a:r>
              <a:rPr lang="zh-CN" altLang="en-US" sz="2800" b="1" dirty="0"/>
              <a:t>室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ea typeface="仿宋_GB2312" pitchFamily="49" charset="-122"/>
              </a:rPr>
              <a:t>Email: </a:t>
            </a:r>
            <a:r>
              <a:rPr lang="en-US" altLang="zh-CN" sz="2800" b="1" dirty="0">
                <a:solidFill>
                  <a:srgbClr val="0000FF"/>
                </a:solidFill>
                <a:ea typeface="Verdana" panose="020B0604030504040204" pitchFamily="34" charset="0"/>
              </a:rPr>
              <a:t>heng</a:t>
            </a:r>
            <a:r>
              <a:rPr lang="en-US" altLang="zh-CN" sz="2800" b="1" dirty="0">
                <a:solidFill>
                  <a:srgbClr val="FF0000"/>
                </a:solidFill>
                <a:ea typeface="Verdana" panose="020B0604030504040204" pitchFamily="34" charset="0"/>
              </a:rPr>
              <a:t>chen</a:t>
            </a:r>
            <a:r>
              <a:rPr lang="en-US" altLang="zh-CN" sz="2800" b="1" dirty="0">
                <a:ea typeface="Verdana" panose="020B0604030504040204" pitchFamily="34" charset="0"/>
              </a:rPr>
              <a:t>@</a:t>
            </a:r>
            <a:r>
              <a:rPr lang="en-US" altLang="zh-CN" sz="2800" b="1" dirty="0">
                <a:solidFill>
                  <a:srgbClr val="00B050"/>
                </a:solidFill>
                <a:ea typeface="Verdana" panose="020B0604030504040204" pitchFamily="34" charset="0"/>
              </a:rPr>
              <a:t>xjtu</a:t>
            </a:r>
            <a:r>
              <a:rPr lang="en-US" altLang="zh-CN" sz="2800" b="1" dirty="0">
                <a:ea typeface="Verdana" panose="020B0604030504040204" pitchFamily="34" charset="0"/>
              </a:rPr>
              <a:t>.edu.cn</a:t>
            </a:r>
          </a:p>
          <a:p>
            <a:pPr eaLnBrk="1" hangingPunct="1">
              <a:lnSpc>
                <a:spcPct val="120000"/>
              </a:lnSpc>
            </a:pPr>
            <a:endParaRPr lang="zh-CN" altLang="en-US" sz="2400" b="1" dirty="0">
              <a:solidFill>
                <a:srgbClr val="0000FF"/>
              </a:solidFill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次上机实验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  <a:r>
              <a:rPr lang="en-US" altLang="zh-CN" dirty="0"/>
              <a:t>II</a:t>
            </a:r>
          </a:p>
          <a:p>
            <a:pPr lvl="1"/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zh-CN" altLang="en-US" dirty="0"/>
              <a:t>实验内容和步骤</a:t>
            </a:r>
            <a:endParaRPr lang="en-US" altLang="zh-CN" dirty="0"/>
          </a:p>
          <a:p>
            <a:pPr lvl="1"/>
            <a:r>
              <a:rPr lang="zh-CN" altLang="en-US" dirty="0"/>
              <a:t>实验结果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531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加深对计算机流水线基本概念的理解</a:t>
            </a:r>
            <a:r>
              <a:rPr lang="en-US" altLang="zh-CN" dirty="0"/>
              <a:t>;</a:t>
            </a:r>
          </a:p>
          <a:p>
            <a:pPr lvl="1"/>
            <a:r>
              <a:rPr lang="zh-CN" altLang="en-US" dirty="0"/>
              <a:t>理解</a:t>
            </a:r>
            <a:r>
              <a:rPr lang="en-US" altLang="zh-CN" dirty="0"/>
              <a:t>MIPS </a:t>
            </a:r>
            <a:r>
              <a:rPr lang="zh-CN" altLang="en-US" dirty="0"/>
              <a:t>结构如何用</a:t>
            </a:r>
            <a:r>
              <a:rPr lang="en-US" altLang="zh-CN" dirty="0"/>
              <a:t>5 </a:t>
            </a:r>
            <a:r>
              <a:rPr lang="zh-CN" altLang="en-US" dirty="0"/>
              <a:t>段流水线来实现，理解各段的功能和基本操作；</a:t>
            </a:r>
            <a:endParaRPr lang="en-US" altLang="zh-CN" dirty="0"/>
          </a:p>
          <a:p>
            <a:pPr lvl="1"/>
            <a:r>
              <a:rPr lang="zh-CN" altLang="en-US" dirty="0"/>
              <a:t>加深对数据冲突、结构冲突、控制冲突的理解，并能够分析这些冲突对</a:t>
            </a:r>
            <a:r>
              <a:rPr lang="en-US" altLang="zh-CN" dirty="0"/>
              <a:t>CPU </a:t>
            </a:r>
            <a:r>
              <a:rPr lang="zh-CN" altLang="en-US" dirty="0"/>
              <a:t>性能的影响；</a:t>
            </a:r>
            <a:endParaRPr lang="en-US" altLang="zh-CN" dirty="0"/>
          </a:p>
          <a:p>
            <a:pPr lvl="1"/>
            <a:r>
              <a:rPr lang="zh-CN" altLang="en-US" dirty="0"/>
              <a:t>进一步理解解决数据冲突的方法，掌握如何应用定性技术来减少数据冲突引起的流水线停顿。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189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999" y="1404000"/>
            <a:ext cx="8640489" cy="5220000"/>
          </a:xfrm>
        </p:spPr>
        <p:txBody>
          <a:bodyPr/>
          <a:lstStyle/>
          <a:p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自己设计一个流水线模拟器</a:t>
            </a:r>
            <a:r>
              <a:rPr lang="en-US" altLang="zh-CN" dirty="0"/>
              <a:t>(</a:t>
            </a:r>
            <a:r>
              <a:rPr lang="zh-CN" altLang="en-US" dirty="0"/>
              <a:t>简称</a:t>
            </a:r>
            <a:r>
              <a:rPr lang="en-US" altLang="zh-CN" dirty="0"/>
              <a:t>:</a:t>
            </a:r>
            <a:r>
              <a:rPr lang="zh-CN" altLang="en-US" dirty="0"/>
              <a:t>模拟器</a:t>
            </a:r>
            <a:r>
              <a:rPr lang="en" altLang="zh-CN" dirty="0"/>
              <a:t>A) </a:t>
            </a:r>
          </a:p>
          <a:p>
            <a:pPr lvl="1"/>
            <a:r>
              <a:rPr lang="en" altLang="zh-CN" dirty="0"/>
              <a:t>(2) </a:t>
            </a:r>
            <a:r>
              <a:rPr lang="zh-CN" altLang="en-US" dirty="0"/>
              <a:t>使用开源流水线模拟器</a:t>
            </a:r>
            <a:r>
              <a:rPr lang="en-US" altLang="zh-CN" dirty="0"/>
              <a:t>(</a:t>
            </a:r>
            <a:r>
              <a:rPr lang="zh-CN" altLang="en-US" dirty="0"/>
              <a:t>简称</a:t>
            </a:r>
            <a:r>
              <a:rPr lang="en-US" altLang="zh-CN" dirty="0"/>
              <a:t>:</a:t>
            </a:r>
            <a:r>
              <a:rPr lang="zh-CN" altLang="en-US" dirty="0"/>
              <a:t>模拟器</a:t>
            </a:r>
            <a:r>
              <a:rPr lang="en" altLang="zh-CN" dirty="0"/>
              <a:t>B);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720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000" y="1196752"/>
            <a:ext cx="8640000" cy="5373248"/>
          </a:xfrm>
        </p:spPr>
        <p:txBody>
          <a:bodyPr/>
          <a:lstStyle/>
          <a:p>
            <a:r>
              <a:rPr lang="zh-CN" altLang="en-US" sz="2800" dirty="0"/>
              <a:t>实验步骤，至少实现以下功能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能够模拟</a:t>
            </a:r>
            <a:r>
              <a:rPr lang="en-US" altLang="zh-CN" sz="2400" dirty="0"/>
              <a:t>MIPS</a:t>
            </a:r>
            <a:r>
              <a:rPr lang="zh-CN" altLang="en-US" sz="2400" dirty="0"/>
              <a:t>的</a:t>
            </a:r>
            <a:r>
              <a:rPr lang="en-US" altLang="zh-CN" sz="2400" dirty="0"/>
              <a:t>5</a:t>
            </a:r>
            <a:r>
              <a:rPr lang="zh-CN" altLang="en-US" sz="2400" dirty="0"/>
              <a:t>段流水线，以课堂讲授为参考；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熟悉图形交互或者命令交互；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熟悉单步执行（一次一个时钟周期）、执行到断点、执行到程序结束；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掌握流水线各个段、寄存器状态的查看；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掌握是否使用定向路径的功能选项；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提供程序执行后的性能统计分析；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按照</a:t>
            </a:r>
            <a:r>
              <a:rPr lang="en-US" altLang="zh-CN" sz="2400" dirty="0"/>
              <a:t>MIPS </a:t>
            </a:r>
            <a:r>
              <a:rPr lang="zh-CN" altLang="en-US" sz="2400" dirty="0"/>
              <a:t>语法，至少支持 </a:t>
            </a:r>
            <a:r>
              <a:rPr lang="en-US" altLang="zh-CN" sz="2400" dirty="0"/>
              <a:t>load</a:t>
            </a:r>
            <a:r>
              <a:rPr lang="zh-CN" altLang="en-US" sz="2400" dirty="0"/>
              <a:t>、</a:t>
            </a:r>
            <a:r>
              <a:rPr lang="en-US" altLang="zh-CN" sz="2400" dirty="0"/>
              <a:t>store</a:t>
            </a:r>
            <a:r>
              <a:rPr lang="zh-CN" altLang="en-US" sz="2400" dirty="0"/>
              <a:t>、</a:t>
            </a:r>
            <a:r>
              <a:rPr lang="en-US" altLang="zh-CN" sz="2400" dirty="0"/>
              <a:t>add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beqz</a:t>
            </a:r>
            <a:r>
              <a:rPr lang="en-US" altLang="zh-CN" sz="2400" dirty="0"/>
              <a:t> </a:t>
            </a:r>
            <a:r>
              <a:rPr lang="zh-CN" altLang="en-US" sz="2400" dirty="0"/>
              <a:t>操作；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要执行的程序可以直接输入，或通过文件载入的方式运行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可以使用你喜欢的</a:t>
            </a:r>
            <a:r>
              <a:rPr lang="zh-CN" altLang="en-US" sz="2400" b="1" dirty="0">
                <a:solidFill>
                  <a:srgbClr val="0000FF"/>
                </a:solidFill>
              </a:rPr>
              <a:t>任何语言</a:t>
            </a:r>
            <a:r>
              <a:rPr lang="zh-CN" altLang="en-US" sz="2400" dirty="0"/>
              <a:t>来实现</a:t>
            </a:r>
            <a:r>
              <a:rPr lang="en-US" altLang="zh-CN" sz="2400" dirty="0"/>
              <a:t>;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可参考上机实验 </a:t>
            </a:r>
            <a:r>
              <a:rPr lang="en-US" altLang="zh-CN" sz="2400" dirty="0"/>
              <a:t>I </a:t>
            </a:r>
            <a:r>
              <a:rPr lang="zh-CN" altLang="en-US" sz="2400" dirty="0"/>
              <a:t>中的两个模拟器中实现的功能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528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实验步骤，至少实现以下场景</a:t>
            </a:r>
            <a:endParaRPr lang="en-US" altLang="zh-CN" dirty="0"/>
          </a:p>
          <a:p>
            <a:pPr lvl="1"/>
            <a:r>
              <a:rPr lang="zh-CN" altLang="en-US" dirty="0"/>
              <a:t>没有任何冲突的流水线场景；</a:t>
            </a:r>
          </a:p>
          <a:p>
            <a:pPr lvl="1"/>
            <a:r>
              <a:rPr lang="zh-CN" altLang="en-US" dirty="0"/>
              <a:t>有至少一次的</a:t>
            </a:r>
            <a:r>
              <a:rPr lang="en-US" altLang="zh-CN" dirty="0"/>
              <a:t>RAW </a:t>
            </a:r>
            <a:r>
              <a:rPr lang="zh-CN" altLang="en-US" dirty="0"/>
              <a:t>冲突；</a:t>
            </a:r>
          </a:p>
          <a:p>
            <a:pPr lvl="1"/>
            <a:r>
              <a:rPr lang="zh-CN" altLang="en-US" dirty="0"/>
              <a:t>有至少一次的分支跳转；</a:t>
            </a:r>
          </a:p>
          <a:p>
            <a:pPr lvl="1"/>
            <a:r>
              <a:rPr lang="zh-CN" altLang="en-US" dirty="0"/>
              <a:t>使用课堂讲授的内容，对上述每一种场景进行分析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436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场景举例</a:t>
            </a:r>
            <a:endParaRPr lang="en-US" altLang="zh-CN" dirty="0"/>
          </a:p>
          <a:p>
            <a:pPr lvl="1"/>
            <a:r>
              <a:rPr lang="zh-CN" altLang="en-US" dirty="0"/>
              <a:t>没有任何冲突的流水线场景；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8BFA67-1A3D-4213-AF5F-208B5232BD94}"/>
              </a:ext>
            </a:extLst>
          </p:cNvPr>
          <p:cNvSpPr txBox="1"/>
          <p:nvPr/>
        </p:nvSpPr>
        <p:spPr>
          <a:xfrm>
            <a:off x="1259632" y="2564904"/>
            <a:ext cx="457933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.text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main: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ADDIU $r1,$r0,A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LW $r2,0($r1)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LW $r3,4($r1)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ADDIU $r4,$r0,B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SW $r2,0($r4)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SW $r2,4($r4)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.data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A: .word 1, 2, 4, 8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B: .word 1, 2, 3, 4</a:t>
            </a:r>
          </a:p>
        </p:txBody>
      </p:sp>
    </p:spTree>
    <p:extLst>
      <p:ext uri="{BB962C8B-B14F-4D97-AF65-F5344CB8AC3E}">
        <p14:creationId xmlns:p14="http://schemas.microsoft.com/office/powerpoint/2010/main" val="301498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zh-CN" altLang="en-US" dirty="0"/>
              <a:t>模拟器</a:t>
            </a:r>
            <a:r>
              <a:rPr lang="en-US" altLang="zh-CN" dirty="0"/>
              <a:t>A</a:t>
            </a:r>
            <a:r>
              <a:rPr lang="zh-CN" altLang="en-US" dirty="0"/>
              <a:t>和模拟器</a:t>
            </a:r>
            <a:r>
              <a:rPr lang="en-US" altLang="zh-CN" dirty="0"/>
              <a:t>B</a:t>
            </a:r>
            <a:r>
              <a:rPr lang="zh-CN" altLang="en-US" dirty="0"/>
              <a:t>需提交完整的源代码、编译过程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完整的实验报告至少包含：</a:t>
            </a:r>
            <a:endParaRPr lang="en-US" altLang="zh-CN" dirty="0"/>
          </a:p>
          <a:p>
            <a:pPr lvl="1"/>
            <a:r>
              <a:rPr lang="zh-CN" altLang="en-US" dirty="0"/>
              <a:t>模拟器</a:t>
            </a:r>
            <a:r>
              <a:rPr lang="en" altLang="zh-CN" dirty="0"/>
              <a:t>A</a:t>
            </a:r>
            <a:r>
              <a:rPr lang="zh-CN" altLang="en" dirty="0"/>
              <a:t>、</a:t>
            </a:r>
            <a:r>
              <a:rPr lang="en" altLang="zh-CN" dirty="0"/>
              <a:t>B</a:t>
            </a:r>
            <a:r>
              <a:rPr lang="zh-CN" altLang="en-US" dirty="0"/>
              <a:t>的设计思想、特色</a:t>
            </a:r>
            <a:r>
              <a:rPr lang="en-US" altLang="zh-CN" dirty="0"/>
              <a:t>;</a:t>
            </a:r>
            <a:endParaRPr lang="zh-CN" altLang="en-US" dirty="0"/>
          </a:p>
          <a:p>
            <a:pPr lvl="1"/>
            <a:r>
              <a:rPr lang="zh-CN" altLang="en-US" dirty="0"/>
              <a:t>测试代码组合在模拟器</a:t>
            </a:r>
            <a:r>
              <a:rPr lang="en-US" altLang="zh-CN" dirty="0"/>
              <a:t>A</a:t>
            </a:r>
            <a:r>
              <a:rPr lang="zh-CN" altLang="en-US" dirty="0"/>
              <a:t>或</a:t>
            </a:r>
            <a:r>
              <a:rPr lang="en-US" altLang="zh-CN" dirty="0"/>
              <a:t>B</a:t>
            </a:r>
            <a:r>
              <a:rPr lang="zh-CN" altLang="en-US" dirty="0"/>
              <a:t>中的执行情况；</a:t>
            </a:r>
          </a:p>
          <a:p>
            <a:pPr lvl="1"/>
            <a:r>
              <a:rPr lang="zh-CN" altLang="en-US" dirty="0"/>
              <a:t>测试代码在模拟器的执行过程，以图文并茂的方式呈现；</a:t>
            </a:r>
          </a:p>
          <a:p>
            <a:pPr lvl="1"/>
            <a:r>
              <a:rPr lang="zh-CN" altLang="en-US" dirty="0"/>
              <a:t>实验感悟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462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09F593-A344-4288-B883-2B2859A2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16832"/>
            <a:ext cx="5762149" cy="20356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0DC6C99-80E4-4F21-A40F-6AE732A9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4014000"/>
            <a:ext cx="4896056" cy="2582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58CEBA1-1CB7-44BF-B05A-D0A34236D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3988450"/>
            <a:ext cx="5093713" cy="249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9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D9D6C8-3858-47C4-AA0D-781961B70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138" y="1063006"/>
            <a:ext cx="4007712" cy="25820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A2E256E-ABC8-4E98-A254-764D784AB5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" t="10169" r="42264" b="3637"/>
          <a:stretch/>
        </p:blipFill>
        <p:spPr>
          <a:xfrm>
            <a:off x="297458" y="3456000"/>
            <a:ext cx="3744000" cy="298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D425FC4-248C-432D-9FE0-AEF462684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729111"/>
            <a:ext cx="3635497" cy="292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作业提交要求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使用思源学堂</a:t>
            </a:r>
            <a:endParaRPr lang="en-US" altLang="zh-CN" dirty="0"/>
          </a:p>
          <a:p>
            <a:pPr lvl="1"/>
            <a:r>
              <a:rPr lang="en-US" altLang="zh-CN" dirty="0"/>
              <a:t>http://lms.xjtu.edu.cn/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作业提交的截至时间为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周</a:t>
            </a:r>
            <a:r>
              <a:rPr lang="en-US" altLang="zh-CN" dirty="0">
                <a:sym typeface="Wingdings" panose="05000000000000000000" pitchFamily="2" charset="2"/>
              </a:rPr>
              <a:t>(5</a:t>
            </a:r>
            <a:r>
              <a:rPr lang="zh-CN" altLang="en-US" dirty="0">
                <a:sym typeface="Wingdings" panose="05000000000000000000" pitchFamily="2" charset="2"/>
              </a:rPr>
              <a:t>月</a:t>
            </a:r>
            <a:r>
              <a:rPr lang="en-US" altLang="zh-CN" dirty="0">
                <a:sym typeface="Wingdings" panose="05000000000000000000" pitchFamily="2" charset="2"/>
              </a:rPr>
              <a:t>30</a:t>
            </a:r>
            <a:r>
              <a:rPr lang="zh-CN" altLang="en-US" dirty="0">
                <a:sym typeface="Wingdings" panose="05000000000000000000" pitchFamily="2" charset="2"/>
              </a:rPr>
              <a:t>日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r>
              <a:rPr lang="zh-CN" altLang="en-US" dirty="0">
                <a:sym typeface="Wingdings" panose="05000000000000000000" pitchFamily="2" charset="2"/>
              </a:rPr>
              <a:t>，以思源学堂的时间为准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格式要求：</a:t>
            </a:r>
            <a:r>
              <a:rPr lang="en-US" altLang="zh-CN" dirty="0">
                <a:sym typeface="Wingdings" panose="05000000000000000000" pitchFamily="2" charset="2"/>
              </a:rPr>
              <a:t>pdf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逾期提交会做扣分处理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461033"/>
      </p:ext>
    </p:extLst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yCAFont">
      <a:majorFont>
        <a:latin typeface="Consolas"/>
        <a:ea typeface="黑体"/>
        <a:cs typeface=""/>
      </a:majorFont>
      <a:minorFont>
        <a:latin typeface="Consolas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6988</TotalTime>
  <Words>591</Words>
  <Application>Microsoft Office PowerPoint</Application>
  <PresentationFormat>全屏显示(4:3)</PresentationFormat>
  <Paragraphs>82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华文楷体</vt:lpstr>
      <vt:lpstr>华文行楷</vt:lpstr>
      <vt:lpstr>隶书</vt:lpstr>
      <vt:lpstr>微软雅黑</vt:lpstr>
      <vt:lpstr>Consolas</vt:lpstr>
      <vt:lpstr>Times New Roman</vt:lpstr>
      <vt:lpstr>Wingdings</vt:lpstr>
      <vt:lpstr>Straight Edge</vt:lpstr>
      <vt:lpstr>计算机体系结构</vt:lpstr>
      <vt:lpstr>第2次上机实验</vt:lpstr>
      <vt:lpstr>流水线性能分析</vt:lpstr>
      <vt:lpstr>流水线性能分析</vt:lpstr>
      <vt:lpstr>流水线性能分析</vt:lpstr>
      <vt:lpstr>流水线性能分析</vt:lpstr>
      <vt:lpstr>流水线性能分析</vt:lpstr>
      <vt:lpstr>流水线性能分析</vt:lpstr>
      <vt:lpstr>流水线性能分析</vt:lpstr>
      <vt:lpstr>流水线性能分析</vt:lpstr>
      <vt:lpstr>作业提交要求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计算机体系结构</dc:title>
  <dc:creator>XJTUarch</dc:creator>
  <cp:lastModifiedBy>chen</cp:lastModifiedBy>
  <cp:revision>20</cp:revision>
  <cp:lastPrinted>2012-02-15T08:53:58Z</cp:lastPrinted>
  <dcterms:created xsi:type="dcterms:W3CDTF">2001-11-18T11:43:33Z</dcterms:created>
  <dcterms:modified xsi:type="dcterms:W3CDTF">2026-05-14T03:48:07Z</dcterms:modified>
</cp:coreProperties>
</file>
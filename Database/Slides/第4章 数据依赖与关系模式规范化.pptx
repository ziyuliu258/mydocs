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1"/>
  </p:handoutMasterIdLst>
  <p:sldIdLst>
    <p:sldId id="256" r:id="rId3"/>
    <p:sldId id="312" r:id="rId5"/>
    <p:sldId id="259" r:id="rId6"/>
    <p:sldId id="257" r:id="rId7"/>
    <p:sldId id="258" r:id="rId8"/>
    <p:sldId id="260" r:id="rId9"/>
    <p:sldId id="313" r:id="rId10"/>
    <p:sldId id="315" r:id="rId11"/>
    <p:sldId id="262" r:id="rId12"/>
    <p:sldId id="263" r:id="rId13"/>
    <p:sldId id="314" r:id="rId14"/>
    <p:sldId id="264" r:id="rId15"/>
    <p:sldId id="316" r:id="rId16"/>
    <p:sldId id="317" r:id="rId17"/>
    <p:sldId id="265" r:id="rId18"/>
    <p:sldId id="266" r:id="rId19"/>
    <p:sldId id="318" r:id="rId20"/>
    <p:sldId id="270" r:id="rId21"/>
    <p:sldId id="271" r:id="rId22"/>
    <p:sldId id="321" r:id="rId23"/>
    <p:sldId id="322" r:id="rId24"/>
    <p:sldId id="323" r:id="rId25"/>
    <p:sldId id="272" r:id="rId26"/>
    <p:sldId id="273" r:id="rId27"/>
    <p:sldId id="331" r:id="rId28"/>
    <p:sldId id="333" r:id="rId29"/>
    <p:sldId id="332" r:id="rId30"/>
    <p:sldId id="334" r:id="rId31"/>
    <p:sldId id="335" r:id="rId32"/>
    <p:sldId id="336" r:id="rId33"/>
    <p:sldId id="337" r:id="rId34"/>
    <p:sldId id="277" r:id="rId35"/>
    <p:sldId id="325" r:id="rId36"/>
    <p:sldId id="279" r:id="rId37"/>
    <p:sldId id="326" r:id="rId38"/>
    <p:sldId id="310" r:id="rId39"/>
    <p:sldId id="311" r:id="rId40"/>
    <p:sldId id="396" r:id="rId41"/>
    <p:sldId id="382" r:id="rId42"/>
    <p:sldId id="383" r:id="rId43"/>
    <p:sldId id="384" r:id="rId44"/>
    <p:sldId id="385" r:id="rId45"/>
    <p:sldId id="386" r:id="rId46"/>
    <p:sldId id="387" r:id="rId47"/>
    <p:sldId id="388" r:id="rId48"/>
    <p:sldId id="389" r:id="rId49"/>
    <p:sldId id="417" r:id="rId50"/>
    <p:sldId id="418" r:id="rId51"/>
    <p:sldId id="392" r:id="rId52"/>
    <p:sldId id="393" r:id="rId53"/>
    <p:sldId id="394" r:id="rId54"/>
    <p:sldId id="419" r:id="rId55"/>
    <p:sldId id="327" r:id="rId56"/>
    <p:sldId id="339" r:id="rId57"/>
    <p:sldId id="341" r:id="rId58"/>
    <p:sldId id="342" r:id="rId59"/>
    <p:sldId id="343" r:id="rId60"/>
    <p:sldId id="344" r:id="rId61"/>
    <p:sldId id="346" r:id="rId62"/>
    <p:sldId id="349" r:id="rId63"/>
    <p:sldId id="350" r:id="rId64"/>
    <p:sldId id="351" r:id="rId65"/>
    <p:sldId id="352" r:id="rId66"/>
    <p:sldId id="353" r:id="rId67"/>
    <p:sldId id="354" r:id="rId68"/>
    <p:sldId id="357" r:id="rId69"/>
    <p:sldId id="358" r:id="rId70"/>
    <p:sldId id="359" r:id="rId71"/>
    <p:sldId id="360" r:id="rId72"/>
    <p:sldId id="361" r:id="rId73"/>
    <p:sldId id="362" r:id="rId74"/>
    <p:sldId id="363" r:id="rId75"/>
    <p:sldId id="364" r:id="rId76"/>
    <p:sldId id="365" r:id="rId77"/>
    <p:sldId id="374" r:id="rId78"/>
    <p:sldId id="376" r:id="rId79"/>
    <p:sldId id="375" r:id="rId80"/>
    <p:sldId id="371" r:id="rId81"/>
    <p:sldId id="397" r:id="rId82"/>
    <p:sldId id="380" r:id="rId83"/>
    <p:sldId id="377" r:id="rId84"/>
    <p:sldId id="378" r:id="rId85"/>
    <p:sldId id="292" r:id="rId86"/>
    <p:sldId id="293" r:id="rId87"/>
    <p:sldId id="296" r:id="rId88"/>
    <p:sldId id="294" r:id="rId89"/>
    <p:sldId id="421" r:id="rId90"/>
    <p:sldId id="398" r:id="rId91"/>
    <p:sldId id="420" r:id="rId92"/>
    <p:sldId id="295" r:id="rId93"/>
    <p:sldId id="399" r:id="rId94"/>
    <p:sldId id="400" r:id="rId95"/>
    <p:sldId id="401" r:id="rId96"/>
    <p:sldId id="297" r:id="rId97"/>
    <p:sldId id="402" r:id="rId98"/>
    <p:sldId id="298" r:id="rId99"/>
    <p:sldId id="408" r:id="rId100"/>
    <p:sldId id="409" r:id="rId101"/>
    <p:sldId id="412" r:id="rId102"/>
    <p:sldId id="413" r:id="rId103"/>
    <p:sldId id="415" r:id="rId104"/>
    <p:sldId id="416" r:id="rId105"/>
    <p:sldId id="300" r:id="rId106"/>
    <p:sldId id="301" r:id="rId107"/>
    <p:sldId id="381" r:id="rId108"/>
    <p:sldId id="302" r:id="rId109"/>
    <p:sldId id="303" r:id="rId110"/>
    <p:sldId id="304" r:id="rId111"/>
    <p:sldId id="305" r:id="rId112"/>
    <p:sldId id="306" r:id="rId113"/>
    <p:sldId id="404" r:id="rId114"/>
    <p:sldId id="307" r:id="rId115"/>
    <p:sldId id="405" r:id="rId116"/>
    <p:sldId id="406" r:id="rId117"/>
    <p:sldId id="407" r:id="rId118"/>
    <p:sldId id="410" r:id="rId119"/>
    <p:sldId id="411" r:id="rId120"/>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3600" b="1" i="0" u="none" kern="1200" baseline="0">
        <a:solidFill>
          <a:schemeClr val="tx1"/>
        </a:solidFill>
        <a:latin typeface="Arial" panose="020B060402020202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sz="3600" b="1" i="0" u="none" kern="1200" baseline="0">
        <a:solidFill>
          <a:schemeClr val="tx1"/>
        </a:solidFill>
        <a:latin typeface="Arial" panose="020B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3600" b="1" i="0" u="none" kern="1200" baseline="0">
        <a:solidFill>
          <a:schemeClr val="tx1"/>
        </a:solidFill>
        <a:latin typeface="Arial" panose="020B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3600" b="1" i="0" u="none" kern="1200" baseline="0">
        <a:solidFill>
          <a:schemeClr val="tx1"/>
        </a:solidFill>
        <a:latin typeface="Arial" panose="020B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3600" b="1" i="0" u="none" kern="1200" baseline="0">
        <a:solidFill>
          <a:schemeClr val="tx1"/>
        </a:solidFill>
        <a:latin typeface="Arial" panose="020B0604020202020204" pitchFamily="34"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sz="3600" b="1" i="0" u="none" kern="1200" baseline="0">
        <a:solidFill>
          <a:schemeClr val="tx1"/>
        </a:solidFill>
        <a:latin typeface="Arial" panose="020B0604020202020204" pitchFamily="34"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sz="3600" b="1" i="0" u="none" kern="1200" baseline="0">
        <a:solidFill>
          <a:schemeClr val="tx1"/>
        </a:solidFill>
        <a:latin typeface="Arial" panose="020B0604020202020204" pitchFamily="34"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sz="3600" b="1" i="0" u="none" kern="1200" baseline="0">
        <a:solidFill>
          <a:schemeClr val="tx1"/>
        </a:solidFill>
        <a:latin typeface="Arial" panose="020B0604020202020204" pitchFamily="34"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sz="3600" b="1" i="0" u="none" kern="1200" baseline="0">
        <a:solidFill>
          <a:schemeClr val="tx1"/>
        </a:solidFill>
        <a:latin typeface="Arial" panose="020B0604020202020204"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990099"/>
    <a:srgbClr val="339966"/>
    <a:srgbClr val="3366FF"/>
    <a:srgbClr val="FFFF99"/>
    <a:srgbClr val="FF0000"/>
    <a:srgbClr val="CC00FF"/>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2574"/>
    <p:restoredTop sz="94600"/>
  </p:normalViewPr>
  <p:slideViewPr>
    <p:cSldViewPr showGuides="1">
      <p:cViewPr varScale="1">
        <p:scale>
          <a:sx n="126" d="100"/>
          <a:sy n="126" d="100"/>
        </p:scale>
        <p:origin x="1290" y="132"/>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1827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4" Type="http://schemas.openxmlformats.org/officeDocument/2006/relationships/tableStyles" Target="tableStyles.xml"/><Relationship Id="rId123" Type="http://schemas.openxmlformats.org/officeDocument/2006/relationships/viewProps" Target="viewProps.xml"/><Relationship Id="rId122" Type="http://schemas.openxmlformats.org/officeDocument/2006/relationships/presProps" Target="presProps.xml"/><Relationship Id="rId121" Type="http://schemas.openxmlformats.org/officeDocument/2006/relationships/handoutMaster" Target="handoutMasters/handoutMaster1.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20.emf"/><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24.emf"/><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21.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nSpc>
                <a:spcPct val="100000"/>
              </a:lnSpc>
              <a:spcBef>
                <a:spcPct val="0"/>
              </a:spcBef>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itchFamily="2" charset="-122"/>
              <a:cs typeface="+mn-cs"/>
            </a:endParaRPr>
          </a:p>
        </p:txBody>
      </p:sp>
      <p:sp>
        <p:nvSpPr>
          <p:cNvPr id="819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lnSpc>
                <a:spcPct val="100000"/>
              </a:lnSpc>
              <a:spcBef>
                <a:spcPct val="0"/>
              </a:spcBef>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itchFamily="2" charset="-122"/>
              <a:cs typeface="+mn-cs"/>
            </a:endParaRPr>
          </a:p>
        </p:txBody>
      </p:sp>
      <p:sp>
        <p:nvSpPr>
          <p:cNvPr id="819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nSpc>
                <a:spcPct val="100000"/>
              </a:lnSpc>
              <a:spcBef>
                <a:spcPct val="0"/>
              </a:spcBef>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itchFamily="2" charset="-122"/>
              <a:cs typeface="+mn-cs"/>
            </a:endParaRPr>
          </a:p>
        </p:txBody>
      </p:sp>
      <p:sp>
        <p:nvSpPr>
          <p:cNvPr id="819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3BA1741F-D4E1-4372-9F27-6125BCB51750}" type="slidenum">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nSpc>
                <a:spcPct val="100000"/>
              </a:lnSpc>
              <a:spcBef>
                <a:spcPct val="0"/>
              </a:spcBef>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itchFamily="2" charset="-122"/>
              <a:cs typeface="+mn-cs"/>
            </a:endParaRPr>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lnSpc>
                <a:spcPct val="100000"/>
              </a:lnSpc>
              <a:spcBef>
                <a:spcPct val="0"/>
              </a:spcBef>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宋体" pitchFamily="2" charset="-122"/>
              <a:ea typeface="宋体" pitchFamily="2" charset="-122"/>
              <a:cs typeface="+mn-cs"/>
            </a:endParaRP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nSpc>
                <a:spcPct val="100000"/>
              </a:lnSpc>
              <a:spcBef>
                <a:spcPct val="0"/>
              </a:spcBef>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itchFamily="2" charset="-122"/>
              <a:cs typeface="+mn-cs"/>
            </a:endParaRPr>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E1ED5566-58C1-4B25-9298-767A7A704928}" type="slidenum">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6147" name="Rectangle 2"/>
          <p:cNvSpPr>
            <a:spLocks noGrp="1" noRot="1" noChangeAspect="1" noTextEdit="1"/>
          </p:cNvSpPr>
          <p:nvPr>
            <p:ph type="sldImg"/>
          </p:nvPr>
        </p:nvSpPr>
        <p:spPr>
          <a:ln/>
        </p:spPr>
      </p:sp>
      <p:sp>
        <p:nvSpPr>
          <p:cNvPr id="614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8195" name="Rectangle 2"/>
          <p:cNvSpPr>
            <a:spLocks noGrp="1" noRot="1" noChangeAspect="1" noTextEdit="1"/>
          </p:cNvSpPr>
          <p:nvPr>
            <p:ph type="sldImg"/>
          </p:nvPr>
        </p:nvSpPr>
        <p:spPr>
          <a:ln/>
        </p:spPr>
      </p:sp>
      <p:sp>
        <p:nvSpPr>
          <p:cNvPr id="819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0243" name="Rectangle 2"/>
          <p:cNvSpPr>
            <a:spLocks noGrp="1" noRot="1" noChangeAspect="1" noTextEdit="1"/>
          </p:cNvSpPr>
          <p:nvPr>
            <p:ph type="sldImg"/>
          </p:nvPr>
        </p:nvSpPr>
        <p:spPr>
          <a:ln/>
        </p:spPr>
      </p:sp>
      <p:sp>
        <p:nvSpPr>
          <p:cNvPr id="1024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2291" name="Rectangle 2"/>
          <p:cNvSpPr>
            <a:spLocks noGrp="1" noRot="1" noChangeAspect="1" noTextEdit="1"/>
          </p:cNvSpPr>
          <p:nvPr>
            <p:ph type="sldImg"/>
          </p:nvPr>
        </p:nvSpPr>
        <p:spPr>
          <a:ln/>
        </p:spPr>
      </p:sp>
      <p:sp>
        <p:nvSpPr>
          <p:cNvPr id="1229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4339" name="Rectangle 2"/>
          <p:cNvSpPr>
            <a:spLocks noGrp="1" noRot="1" noChangeAspect="1" noTextEdit="1"/>
          </p:cNvSpPr>
          <p:nvPr>
            <p:ph type="sldImg"/>
          </p:nvPr>
        </p:nvSpPr>
        <p:spPr>
          <a:ln/>
        </p:spPr>
      </p:sp>
      <p:sp>
        <p:nvSpPr>
          <p:cNvPr id="1434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6387" name="Rectangle 2"/>
          <p:cNvSpPr>
            <a:spLocks noGrp="1" noRot="1" noChangeAspect="1" noTextEdit="1"/>
          </p:cNvSpPr>
          <p:nvPr>
            <p:ph type="sldImg"/>
          </p:nvPr>
        </p:nvSpPr>
        <p:spPr>
          <a:ln/>
        </p:spPr>
      </p:sp>
      <p:sp>
        <p:nvSpPr>
          <p:cNvPr id="1638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8435" name="Rectangle 2"/>
          <p:cNvSpPr>
            <a:spLocks noGrp="1" noRot="1" noChangeAspect="1" noTextEdit="1"/>
          </p:cNvSpPr>
          <p:nvPr>
            <p:ph type="sldImg"/>
          </p:nvPr>
        </p:nvSpPr>
        <p:spPr>
          <a:ln/>
        </p:spPr>
      </p:sp>
      <p:sp>
        <p:nvSpPr>
          <p:cNvPr id="18436" name="Rectangle 3"/>
          <p:cNvSpPr>
            <a:spLocks noGrp="1"/>
          </p:cNvSpPr>
          <p:nvPr>
            <p:ph type="body" idx="1"/>
          </p:nvPr>
        </p:nvSpPr>
        <p:spPr>
          <a:xfrm>
            <a:off x="914400" y="4343400"/>
            <a:ext cx="5029200" cy="4114800"/>
          </a:xfrm>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0483" name="Rectangle 2"/>
          <p:cNvSpPr>
            <a:spLocks noGrp="1" noRot="1" noChangeAspect="1" noTextEdit="1"/>
          </p:cNvSpPr>
          <p:nvPr>
            <p:ph type="sldImg"/>
          </p:nvPr>
        </p:nvSpPr>
        <p:spPr>
          <a:ln/>
        </p:spPr>
      </p:sp>
      <p:sp>
        <p:nvSpPr>
          <p:cNvPr id="2048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2531" name="Rectangle 2"/>
          <p:cNvSpPr>
            <a:spLocks noGrp="1" noRot="1" noChangeAspect="1" noTextEdit="1"/>
          </p:cNvSpPr>
          <p:nvPr>
            <p:ph type="sldImg"/>
          </p:nvPr>
        </p:nvSpPr>
        <p:spPr>
          <a:ln/>
        </p:spPr>
      </p:sp>
      <p:sp>
        <p:nvSpPr>
          <p:cNvPr id="2253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4579" name="Rectangle 2"/>
          <p:cNvSpPr>
            <a:spLocks noGrp="1" noRot="1" noChangeAspect="1" noTextEdit="1"/>
          </p:cNvSpPr>
          <p:nvPr>
            <p:ph type="sldImg"/>
          </p:nvPr>
        </p:nvSpPr>
        <p:spPr>
          <a:ln/>
        </p:spPr>
      </p:sp>
      <p:sp>
        <p:nvSpPr>
          <p:cNvPr id="2458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6627" name="Rectangle 2"/>
          <p:cNvSpPr>
            <a:spLocks noGrp="1" noRot="1" noChangeAspect="1" noTextEdit="1"/>
          </p:cNvSpPr>
          <p:nvPr>
            <p:ph type="sldImg"/>
          </p:nvPr>
        </p:nvSpPr>
        <p:spPr>
          <a:ln/>
        </p:spPr>
      </p:sp>
      <p:sp>
        <p:nvSpPr>
          <p:cNvPr id="2662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8675" name="Rectangle 2"/>
          <p:cNvSpPr>
            <a:spLocks noGrp="1" noRot="1" noChangeAspect="1" noTextEdit="1"/>
          </p:cNvSpPr>
          <p:nvPr>
            <p:ph type="sldImg"/>
          </p:nvPr>
        </p:nvSpPr>
        <p:spPr>
          <a:ln/>
        </p:spPr>
      </p:sp>
      <p:sp>
        <p:nvSpPr>
          <p:cNvPr id="2867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30723" name="Rectangle 2"/>
          <p:cNvSpPr>
            <a:spLocks noGrp="1" noRot="1" noChangeAspect="1" noTextEdit="1"/>
          </p:cNvSpPr>
          <p:nvPr>
            <p:ph type="sldImg"/>
          </p:nvPr>
        </p:nvSpPr>
        <p:spPr>
          <a:ln/>
        </p:spPr>
      </p:sp>
      <p:sp>
        <p:nvSpPr>
          <p:cNvPr id="3072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32771" name="Rectangle 2"/>
          <p:cNvSpPr>
            <a:spLocks noGrp="1" noRot="1" noChangeAspect="1" noTextEdit="1"/>
          </p:cNvSpPr>
          <p:nvPr>
            <p:ph type="sldImg"/>
          </p:nvPr>
        </p:nvSpPr>
        <p:spPr>
          <a:ln/>
        </p:spPr>
      </p:sp>
      <p:sp>
        <p:nvSpPr>
          <p:cNvPr id="3277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34819" name="Rectangle 2"/>
          <p:cNvSpPr>
            <a:spLocks noGrp="1" noRot="1" noChangeAspect="1" noTextEdit="1"/>
          </p:cNvSpPr>
          <p:nvPr>
            <p:ph type="sldImg"/>
          </p:nvPr>
        </p:nvSpPr>
        <p:spPr>
          <a:ln/>
        </p:spPr>
      </p:sp>
      <p:sp>
        <p:nvSpPr>
          <p:cNvPr id="3482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36867" name="Rectangle 2"/>
          <p:cNvSpPr>
            <a:spLocks noGrp="1" noRot="1" noChangeAspect="1" noTextEdit="1"/>
          </p:cNvSpPr>
          <p:nvPr>
            <p:ph type="sldImg"/>
          </p:nvPr>
        </p:nvSpPr>
        <p:spPr>
          <a:ln/>
        </p:spPr>
      </p:sp>
      <p:sp>
        <p:nvSpPr>
          <p:cNvPr id="3686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38915" name="Rectangle 2"/>
          <p:cNvSpPr>
            <a:spLocks noGrp="1" noRot="1" noChangeAspect="1" noTextEdit="1"/>
          </p:cNvSpPr>
          <p:nvPr>
            <p:ph type="sldImg"/>
          </p:nvPr>
        </p:nvSpPr>
        <p:spPr>
          <a:ln/>
        </p:spPr>
      </p:sp>
      <p:sp>
        <p:nvSpPr>
          <p:cNvPr id="3891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40963" name="Rectangle 2"/>
          <p:cNvSpPr>
            <a:spLocks noGrp="1" noRot="1" noChangeAspect="1" noTextEdit="1"/>
          </p:cNvSpPr>
          <p:nvPr>
            <p:ph type="sldImg"/>
          </p:nvPr>
        </p:nvSpPr>
        <p:spPr>
          <a:ln/>
        </p:spPr>
      </p:sp>
      <p:sp>
        <p:nvSpPr>
          <p:cNvPr id="4096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43011" name="Rectangle 2"/>
          <p:cNvSpPr>
            <a:spLocks noGrp="1" noRot="1" noChangeAspect="1" noTextEdit="1"/>
          </p:cNvSpPr>
          <p:nvPr>
            <p:ph type="sldImg"/>
          </p:nvPr>
        </p:nvSpPr>
        <p:spPr>
          <a:ln/>
        </p:spPr>
      </p:sp>
      <p:sp>
        <p:nvSpPr>
          <p:cNvPr id="4301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45059" name="Rectangle 2"/>
          <p:cNvSpPr>
            <a:spLocks noGrp="1" noRot="1" noChangeAspect="1" noTextEdit="1"/>
          </p:cNvSpPr>
          <p:nvPr>
            <p:ph type="sldImg"/>
          </p:nvPr>
        </p:nvSpPr>
        <p:spPr>
          <a:ln/>
        </p:spPr>
      </p:sp>
      <p:sp>
        <p:nvSpPr>
          <p:cNvPr id="4506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47107" name="Rectangle 2"/>
          <p:cNvSpPr>
            <a:spLocks noGrp="1" noRot="1" noChangeAspect="1" noTextEdit="1"/>
          </p:cNvSpPr>
          <p:nvPr>
            <p:ph type="sldImg"/>
          </p:nvPr>
        </p:nvSpPr>
        <p:spPr>
          <a:ln/>
        </p:spPr>
      </p:sp>
      <p:sp>
        <p:nvSpPr>
          <p:cNvPr id="4710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49155" name="Rectangle 2"/>
          <p:cNvSpPr>
            <a:spLocks noGrp="1" noRot="1" noChangeAspect="1" noTextEdit="1"/>
          </p:cNvSpPr>
          <p:nvPr>
            <p:ph type="sldImg"/>
          </p:nvPr>
        </p:nvSpPr>
        <p:spPr>
          <a:ln/>
        </p:spPr>
      </p:sp>
      <p:sp>
        <p:nvSpPr>
          <p:cNvPr id="4915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51203" name="Rectangle 2"/>
          <p:cNvSpPr>
            <a:spLocks noGrp="1" noRot="1" noChangeAspect="1" noTextEdit="1"/>
          </p:cNvSpPr>
          <p:nvPr>
            <p:ph type="sldImg"/>
          </p:nvPr>
        </p:nvSpPr>
        <p:spPr>
          <a:ln/>
        </p:spPr>
      </p:sp>
      <p:sp>
        <p:nvSpPr>
          <p:cNvPr id="5120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53251" name="Rectangle 2"/>
          <p:cNvSpPr>
            <a:spLocks noGrp="1" noRot="1" noChangeAspect="1" noTextEdit="1"/>
          </p:cNvSpPr>
          <p:nvPr>
            <p:ph type="sldImg"/>
          </p:nvPr>
        </p:nvSpPr>
        <p:spPr>
          <a:ln/>
        </p:spPr>
      </p:sp>
      <p:sp>
        <p:nvSpPr>
          <p:cNvPr id="5325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55299" name="Rectangle 2"/>
          <p:cNvSpPr>
            <a:spLocks noGrp="1" noRot="1" noChangeAspect="1" noTextEdit="1"/>
          </p:cNvSpPr>
          <p:nvPr>
            <p:ph type="sldImg"/>
          </p:nvPr>
        </p:nvSpPr>
        <p:spPr>
          <a:ln/>
        </p:spPr>
      </p:sp>
      <p:sp>
        <p:nvSpPr>
          <p:cNvPr id="5530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57347" name="Rectangle 2"/>
          <p:cNvSpPr>
            <a:spLocks noGrp="1" noRot="1" noChangeAspect="1" noTextEdit="1"/>
          </p:cNvSpPr>
          <p:nvPr>
            <p:ph type="sldImg"/>
          </p:nvPr>
        </p:nvSpPr>
        <p:spPr>
          <a:ln/>
        </p:spPr>
      </p:sp>
      <p:sp>
        <p:nvSpPr>
          <p:cNvPr id="5734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59395" name="Rectangle 2"/>
          <p:cNvSpPr>
            <a:spLocks noGrp="1" noRot="1" noChangeAspect="1" noTextEdit="1"/>
          </p:cNvSpPr>
          <p:nvPr>
            <p:ph type="sldImg"/>
          </p:nvPr>
        </p:nvSpPr>
        <p:spPr>
          <a:ln/>
        </p:spPr>
      </p:sp>
      <p:sp>
        <p:nvSpPr>
          <p:cNvPr id="5939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61443" name="Rectangle 2"/>
          <p:cNvSpPr>
            <a:spLocks noGrp="1" noRot="1" noChangeAspect="1" noTextEdit="1"/>
          </p:cNvSpPr>
          <p:nvPr>
            <p:ph type="sldImg"/>
          </p:nvPr>
        </p:nvSpPr>
        <p:spPr>
          <a:ln/>
        </p:spPr>
      </p:sp>
      <p:sp>
        <p:nvSpPr>
          <p:cNvPr id="6144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63491" name="Rectangle 2"/>
          <p:cNvSpPr>
            <a:spLocks noGrp="1" noRot="1" noChangeAspect="1" noTextEdit="1"/>
          </p:cNvSpPr>
          <p:nvPr>
            <p:ph type="sldImg"/>
          </p:nvPr>
        </p:nvSpPr>
        <p:spPr>
          <a:ln/>
        </p:spPr>
      </p:sp>
      <p:sp>
        <p:nvSpPr>
          <p:cNvPr id="6349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65539" name="Rectangle 2"/>
          <p:cNvSpPr>
            <a:spLocks noGrp="1" noRot="1" noChangeAspect="1" noTextEdit="1"/>
          </p:cNvSpPr>
          <p:nvPr>
            <p:ph type="sldImg"/>
          </p:nvPr>
        </p:nvSpPr>
        <p:spPr>
          <a:ln/>
        </p:spPr>
      </p:sp>
      <p:sp>
        <p:nvSpPr>
          <p:cNvPr id="6554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67587" name="Rectangle 2"/>
          <p:cNvSpPr>
            <a:spLocks noGrp="1" noRot="1" noChangeAspect="1" noTextEdit="1"/>
          </p:cNvSpPr>
          <p:nvPr>
            <p:ph type="sldImg"/>
          </p:nvPr>
        </p:nvSpPr>
        <p:spPr>
          <a:ln/>
        </p:spPr>
      </p:sp>
      <p:sp>
        <p:nvSpPr>
          <p:cNvPr id="6758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69635" name="Rectangle 2"/>
          <p:cNvSpPr>
            <a:spLocks noGrp="1" noRot="1" noChangeAspect="1" noTextEdit="1"/>
          </p:cNvSpPr>
          <p:nvPr>
            <p:ph type="sldImg"/>
          </p:nvPr>
        </p:nvSpPr>
        <p:spPr>
          <a:ln/>
        </p:spPr>
      </p:sp>
      <p:sp>
        <p:nvSpPr>
          <p:cNvPr id="6963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71683" name="Rectangle 2"/>
          <p:cNvSpPr>
            <a:spLocks noGrp="1" noRot="1" noChangeAspect="1" noTextEdit="1"/>
          </p:cNvSpPr>
          <p:nvPr>
            <p:ph type="sldImg"/>
          </p:nvPr>
        </p:nvSpPr>
        <p:spPr>
          <a:ln/>
        </p:spPr>
      </p:sp>
      <p:sp>
        <p:nvSpPr>
          <p:cNvPr id="7168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73731" name="Rectangle 2"/>
          <p:cNvSpPr>
            <a:spLocks noGrp="1" noRot="1" noChangeAspect="1" noTextEdit="1"/>
          </p:cNvSpPr>
          <p:nvPr>
            <p:ph type="sldImg"/>
          </p:nvPr>
        </p:nvSpPr>
        <p:spPr>
          <a:ln/>
        </p:spPr>
      </p:sp>
      <p:sp>
        <p:nvSpPr>
          <p:cNvPr id="7373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75779" name="Rectangle 2"/>
          <p:cNvSpPr>
            <a:spLocks noGrp="1" noRot="1" noChangeAspect="1" noTextEdit="1"/>
          </p:cNvSpPr>
          <p:nvPr>
            <p:ph type="sldImg"/>
          </p:nvPr>
        </p:nvSpPr>
        <p:spPr>
          <a:ln/>
        </p:spPr>
      </p:sp>
      <p:sp>
        <p:nvSpPr>
          <p:cNvPr id="7578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77827" name="Rectangle 2"/>
          <p:cNvSpPr>
            <a:spLocks noGrp="1" noRot="1" noChangeAspect="1" noTextEdit="1"/>
          </p:cNvSpPr>
          <p:nvPr>
            <p:ph type="sldImg"/>
          </p:nvPr>
        </p:nvSpPr>
        <p:spPr>
          <a:ln/>
        </p:spPr>
      </p:sp>
      <p:sp>
        <p:nvSpPr>
          <p:cNvPr id="7782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79875" name="Rectangle 2"/>
          <p:cNvSpPr>
            <a:spLocks noGrp="1" noRot="1" noChangeAspect="1" noTextEdit="1"/>
          </p:cNvSpPr>
          <p:nvPr>
            <p:ph type="sldImg"/>
          </p:nvPr>
        </p:nvSpPr>
        <p:spPr>
          <a:ln/>
        </p:spPr>
      </p:sp>
      <p:sp>
        <p:nvSpPr>
          <p:cNvPr id="7987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81923" name="Rectangle 2"/>
          <p:cNvSpPr>
            <a:spLocks noGrp="1" noRot="1" noChangeAspect="1" noTextEdit="1"/>
          </p:cNvSpPr>
          <p:nvPr>
            <p:ph type="sldImg"/>
          </p:nvPr>
        </p:nvSpPr>
        <p:spPr>
          <a:ln/>
        </p:spPr>
      </p:sp>
      <p:sp>
        <p:nvSpPr>
          <p:cNvPr id="8192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83971" name="Rectangle 2"/>
          <p:cNvSpPr>
            <a:spLocks noGrp="1" noRot="1" noChangeAspect="1" noTextEdit="1"/>
          </p:cNvSpPr>
          <p:nvPr>
            <p:ph type="sldImg"/>
          </p:nvPr>
        </p:nvSpPr>
        <p:spPr>
          <a:ln/>
        </p:spPr>
      </p:sp>
      <p:sp>
        <p:nvSpPr>
          <p:cNvPr id="8397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86019" name="Rectangle 2"/>
          <p:cNvSpPr>
            <a:spLocks noGrp="1" noRot="1" noChangeAspect="1" noTextEdit="1"/>
          </p:cNvSpPr>
          <p:nvPr>
            <p:ph type="sldImg"/>
          </p:nvPr>
        </p:nvSpPr>
        <p:spPr>
          <a:ln/>
        </p:spPr>
      </p:sp>
      <p:sp>
        <p:nvSpPr>
          <p:cNvPr id="8602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88067" name="Rectangle 2"/>
          <p:cNvSpPr>
            <a:spLocks noGrp="1" noRot="1" noChangeAspect="1" noTextEdit="1"/>
          </p:cNvSpPr>
          <p:nvPr>
            <p:ph type="sldImg"/>
          </p:nvPr>
        </p:nvSpPr>
        <p:spPr>
          <a:ln/>
        </p:spPr>
      </p:sp>
      <p:sp>
        <p:nvSpPr>
          <p:cNvPr id="8806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90115" name="Rectangle 2"/>
          <p:cNvSpPr>
            <a:spLocks noGrp="1" noRot="1" noChangeAspect="1" noTextEdit="1"/>
          </p:cNvSpPr>
          <p:nvPr>
            <p:ph type="sldImg"/>
          </p:nvPr>
        </p:nvSpPr>
        <p:spPr>
          <a:ln/>
        </p:spPr>
      </p:sp>
      <p:sp>
        <p:nvSpPr>
          <p:cNvPr id="9011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92163" name="Rectangle 2"/>
          <p:cNvSpPr>
            <a:spLocks noGrp="1" noRot="1" noChangeAspect="1" noTextEdit="1"/>
          </p:cNvSpPr>
          <p:nvPr>
            <p:ph type="sldImg"/>
          </p:nvPr>
        </p:nvSpPr>
        <p:spPr>
          <a:ln/>
        </p:spPr>
      </p:sp>
      <p:sp>
        <p:nvSpPr>
          <p:cNvPr id="9216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94211" name="Rectangle 2"/>
          <p:cNvSpPr>
            <a:spLocks noGrp="1" noRot="1" noChangeAspect="1" noTextEdit="1"/>
          </p:cNvSpPr>
          <p:nvPr>
            <p:ph type="sldImg"/>
          </p:nvPr>
        </p:nvSpPr>
        <p:spPr>
          <a:ln/>
        </p:spPr>
      </p:sp>
      <p:sp>
        <p:nvSpPr>
          <p:cNvPr id="9421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96259" name="Rectangle 2"/>
          <p:cNvSpPr>
            <a:spLocks noGrp="1" noRot="1" noChangeAspect="1" noTextEdit="1"/>
          </p:cNvSpPr>
          <p:nvPr>
            <p:ph type="sldImg"/>
          </p:nvPr>
        </p:nvSpPr>
        <p:spPr>
          <a:ln/>
        </p:spPr>
      </p:sp>
      <p:sp>
        <p:nvSpPr>
          <p:cNvPr id="9626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98307" name="Rectangle 2"/>
          <p:cNvSpPr>
            <a:spLocks noGrp="1" noRot="1" noChangeAspect="1" noTextEdit="1"/>
          </p:cNvSpPr>
          <p:nvPr>
            <p:ph type="sldImg"/>
          </p:nvPr>
        </p:nvSpPr>
        <p:spPr>
          <a:ln/>
        </p:spPr>
      </p:sp>
      <p:sp>
        <p:nvSpPr>
          <p:cNvPr id="9830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02403" name="Rectangle 2"/>
          <p:cNvSpPr>
            <a:spLocks noGrp="1" noRot="1" noChangeAspect="1" noTextEdit="1"/>
          </p:cNvSpPr>
          <p:nvPr>
            <p:ph type="sldImg"/>
          </p:nvPr>
        </p:nvSpPr>
        <p:spPr>
          <a:ln/>
        </p:spPr>
      </p:sp>
      <p:sp>
        <p:nvSpPr>
          <p:cNvPr id="10240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04451" name="Rectangle 2"/>
          <p:cNvSpPr>
            <a:spLocks noGrp="1" noRot="1" noChangeAspect="1" noTextEdit="1"/>
          </p:cNvSpPr>
          <p:nvPr>
            <p:ph type="sldImg"/>
          </p:nvPr>
        </p:nvSpPr>
        <p:spPr>
          <a:ln/>
        </p:spPr>
      </p:sp>
      <p:sp>
        <p:nvSpPr>
          <p:cNvPr id="10445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06499" name="Rectangle 2"/>
          <p:cNvSpPr>
            <a:spLocks noGrp="1" noRot="1" noChangeAspect="1" noTextEdit="1"/>
          </p:cNvSpPr>
          <p:nvPr>
            <p:ph type="sldImg"/>
          </p:nvPr>
        </p:nvSpPr>
        <p:spPr>
          <a:ln/>
        </p:spPr>
      </p:sp>
      <p:sp>
        <p:nvSpPr>
          <p:cNvPr id="10650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09571" name="Rectangle 2"/>
          <p:cNvSpPr>
            <a:spLocks noGrp="1" noRot="1" noChangeAspect="1" noTextEdit="1"/>
          </p:cNvSpPr>
          <p:nvPr>
            <p:ph type="sldImg"/>
          </p:nvPr>
        </p:nvSpPr>
        <p:spPr>
          <a:ln/>
        </p:spPr>
      </p:sp>
      <p:sp>
        <p:nvSpPr>
          <p:cNvPr id="10957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11619" name="Rectangle 2"/>
          <p:cNvSpPr>
            <a:spLocks noGrp="1" noRot="1" noChangeAspect="1" noTextEdit="1"/>
          </p:cNvSpPr>
          <p:nvPr>
            <p:ph type="sldImg"/>
          </p:nvPr>
        </p:nvSpPr>
        <p:spPr>
          <a:ln/>
        </p:spPr>
      </p:sp>
      <p:sp>
        <p:nvSpPr>
          <p:cNvPr id="11162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13667" name="Rectangle 2"/>
          <p:cNvSpPr>
            <a:spLocks noGrp="1" noRot="1" noChangeAspect="1" noTextEdit="1"/>
          </p:cNvSpPr>
          <p:nvPr>
            <p:ph type="sldImg"/>
          </p:nvPr>
        </p:nvSpPr>
        <p:spPr>
          <a:ln/>
        </p:spPr>
      </p:sp>
      <p:sp>
        <p:nvSpPr>
          <p:cNvPr id="11366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15715" name="Rectangle 2"/>
          <p:cNvSpPr>
            <a:spLocks noGrp="1" noRot="1" noChangeAspect="1" noTextEdit="1"/>
          </p:cNvSpPr>
          <p:nvPr>
            <p:ph type="sldImg"/>
          </p:nvPr>
        </p:nvSpPr>
        <p:spPr>
          <a:ln/>
        </p:spPr>
      </p:sp>
      <p:sp>
        <p:nvSpPr>
          <p:cNvPr id="11571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17763" name="Rectangle 2"/>
          <p:cNvSpPr>
            <a:spLocks noGrp="1" noRot="1" noChangeAspect="1" noTextEdit="1"/>
          </p:cNvSpPr>
          <p:nvPr>
            <p:ph type="sldImg"/>
          </p:nvPr>
        </p:nvSpPr>
        <p:spPr>
          <a:ln/>
        </p:spPr>
      </p:sp>
      <p:sp>
        <p:nvSpPr>
          <p:cNvPr id="11776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19811" name="Rectangle 2"/>
          <p:cNvSpPr>
            <a:spLocks noGrp="1" noRot="1" noChangeAspect="1" noTextEdit="1"/>
          </p:cNvSpPr>
          <p:nvPr>
            <p:ph type="sldImg"/>
          </p:nvPr>
        </p:nvSpPr>
        <p:spPr>
          <a:ln/>
        </p:spPr>
      </p:sp>
      <p:sp>
        <p:nvSpPr>
          <p:cNvPr id="11981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21859" name="Rectangle 2"/>
          <p:cNvSpPr>
            <a:spLocks noGrp="1" noRot="1" noChangeAspect="1" noTextEdit="1"/>
          </p:cNvSpPr>
          <p:nvPr>
            <p:ph type="sldImg"/>
          </p:nvPr>
        </p:nvSpPr>
        <p:spPr>
          <a:ln/>
        </p:spPr>
      </p:sp>
      <p:sp>
        <p:nvSpPr>
          <p:cNvPr id="12186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23907" name="Rectangle 2"/>
          <p:cNvSpPr>
            <a:spLocks noGrp="1" noRot="1" noChangeAspect="1" noTextEdit="1"/>
          </p:cNvSpPr>
          <p:nvPr>
            <p:ph type="sldImg"/>
          </p:nvPr>
        </p:nvSpPr>
        <p:spPr>
          <a:ln/>
        </p:spPr>
      </p:sp>
      <p:sp>
        <p:nvSpPr>
          <p:cNvPr id="12390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25955" name="Rectangle 2"/>
          <p:cNvSpPr>
            <a:spLocks noGrp="1" noRot="1" noChangeAspect="1" noTextEdit="1"/>
          </p:cNvSpPr>
          <p:nvPr>
            <p:ph type="sldImg"/>
          </p:nvPr>
        </p:nvSpPr>
        <p:spPr>
          <a:ln/>
        </p:spPr>
      </p:sp>
      <p:sp>
        <p:nvSpPr>
          <p:cNvPr id="12595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28003" name="Rectangle 2"/>
          <p:cNvSpPr>
            <a:spLocks noGrp="1" noRot="1" noChangeAspect="1" noTextEdit="1"/>
          </p:cNvSpPr>
          <p:nvPr>
            <p:ph type="sldImg"/>
          </p:nvPr>
        </p:nvSpPr>
        <p:spPr>
          <a:ln/>
        </p:spPr>
      </p:sp>
      <p:sp>
        <p:nvSpPr>
          <p:cNvPr id="12800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30051" name="Rectangle 2"/>
          <p:cNvSpPr>
            <a:spLocks noGrp="1" noRot="1" noChangeAspect="1" noTextEdit="1"/>
          </p:cNvSpPr>
          <p:nvPr>
            <p:ph type="sldImg"/>
          </p:nvPr>
        </p:nvSpPr>
        <p:spPr>
          <a:ln/>
        </p:spPr>
      </p:sp>
      <p:sp>
        <p:nvSpPr>
          <p:cNvPr id="13005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32099" name="Rectangle 2"/>
          <p:cNvSpPr>
            <a:spLocks noGrp="1" noRot="1" noChangeAspect="1" noTextEdit="1"/>
          </p:cNvSpPr>
          <p:nvPr>
            <p:ph type="sldImg"/>
          </p:nvPr>
        </p:nvSpPr>
        <p:spPr>
          <a:ln/>
        </p:spPr>
      </p:sp>
      <p:sp>
        <p:nvSpPr>
          <p:cNvPr id="13210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34147" name="Rectangle 2"/>
          <p:cNvSpPr>
            <a:spLocks noGrp="1" noRot="1" noChangeAspect="1" noTextEdit="1"/>
          </p:cNvSpPr>
          <p:nvPr>
            <p:ph type="sldImg"/>
          </p:nvPr>
        </p:nvSpPr>
        <p:spPr>
          <a:ln/>
        </p:spPr>
      </p:sp>
      <p:sp>
        <p:nvSpPr>
          <p:cNvPr id="13414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36195" name="Rectangle 2"/>
          <p:cNvSpPr>
            <a:spLocks noGrp="1" noRot="1" noChangeAspect="1" noTextEdit="1"/>
          </p:cNvSpPr>
          <p:nvPr>
            <p:ph type="sldImg"/>
          </p:nvPr>
        </p:nvSpPr>
        <p:spPr>
          <a:ln/>
        </p:spPr>
      </p:sp>
      <p:sp>
        <p:nvSpPr>
          <p:cNvPr id="13619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38243" name="Rectangle 2"/>
          <p:cNvSpPr>
            <a:spLocks noGrp="1" noRot="1" noChangeAspect="1" noTextEdit="1"/>
          </p:cNvSpPr>
          <p:nvPr>
            <p:ph type="sldImg"/>
          </p:nvPr>
        </p:nvSpPr>
        <p:spPr>
          <a:ln/>
        </p:spPr>
      </p:sp>
      <p:sp>
        <p:nvSpPr>
          <p:cNvPr id="13824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40291" name="Rectangle 2"/>
          <p:cNvSpPr>
            <a:spLocks noGrp="1" noRot="1" noChangeAspect="1" noTextEdit="1"/>
          </p:cNvSpPr>
          <p:nvPr>
            <p:ph type="sldImg"/>
          </p:nvPr>
        </p:nvSpPr>
        <p:spPr>
          <a:ln/>
        </p:spPr>
      </p:sp>
      <p:sp>
        <p:nvSpPr>
          <p:cNvPr id="14029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42339" name="Rectangle 2"/>
          <p:cNvSpPr>
            <a:spLocks noGrp="1" noRot="1" noChangeAspect="1" noTextEdit="1"/>
          </p:cNvSpPr>
          <p:nvPr>
            <p:ph type="sldImg"/>
          </p:nvPr>
        </p:nvSpPr>
        <p:spPr>
          <a:ln/>
        </p:spPr>
      </p:sp>
      <p:sp>
        <p:nvSpPr>
          <p:cNvPr id="14234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44387" name="Rectangle 2"/>
          <p:cNvSpPr>
            <a:spLocks noGrp="1" noRot="1" noChangeAspect="1" noTextEdit="1"/>
          </p:cNvSpPr>
          <p:nvPr>
            <p:ph type="sldImg"/>
          </p:nvPr>
        </p:nvSpPr>
        <p:spPr>
          <a:ln/>
        </p:spPr>
      </p:sp>
      <p:sp>
        <p:nvSpPr>
          <p:cNvPr id="14438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46435" name="Rectangle 2"/>
          <p:cNvSpPr>
            <a:spLocks noGrp="1" noRot="1" noChangeAspect="1" noTextEdit="1"/>
          </p:cNvSpPr>
          <p:nvPr>
            <p:ph type="sldImg"/>
          </p:nvPr>
        </p:nvSpPr>
        <p:spPr>
          <a:ln/>
        </p:spPr>
      </p:sp>
      <p:sp>
        <p:nvSpPr>
          <p:cNvPr id="14643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48483" name="Rectangle 2"/>
          <p:cNvSpPr>
            <a:spLocks noGrp="1" noRot="1" noChangeAspect="1" noTextEdit="1"/>
          </p:cNvSpPr>
          <p:nvPr>
            <p:ph type="sldImg"/>
          </p:nvPr>
        </p:nvSpPr>
        <p:spPr>
          <a:ln/>
        </p:spPr>
      </p:sp>
      <p:sp>
        <p:nvSpPr>
          <p:cNvPr id="14848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50531" name="Rectangle 2"/>
          <p:cNvSpPr>
            <a:spLocks noGrp="1" noRot="1" noChangeAspect="1" noTextEdit="1"/>
          </p:cNvSpPr>
          <p:nvPr>
            <p:ph type="sldImg"/>
          </p:nvPr>
        </p:nvSpPr>
        <p:spPr>
          <a:ln/>
        </p:spPr>
      </p:sp>
      <p:sp>
        <p:nvSpPr>
          <p:cNvPr id="15053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52579" name="Rectangle 2"/>
          <p:cNvSpPr>
            <a:spLocks noGrp="1" noRot="1" noChangeAspect="1" noTextEdit="1"/>
          </p:cNvSpPr>
          <p:nvPr>
            <p:ph type="sldImg"/>
          </p:nvPr>
        </p:nvSpPr>
        <p:spPr>
          <a:ln/>
        </p:spPr>
      </p:sp>
      <p:sp>
        <p:nvSpPr>
          <p:cNvPr id="15258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54627" name="Rectangle 2"/>
          <p:cNvSpPr>
            <a:spLocks noGrp="1" noRot="1" noChangeAspect="1" noTextEdit="1"/>
          </p:cNvSpPr>
          <p:nvPr>
            <p:ph type="sldImg"/>
          </p:nvPr>
        </p:nvSpPr>
        <p:spPr>
          <a:ln/>
        </p:spPr>
      </p:sp>
      <p:sp>
        <p:nvSpPr>
          <p:cNvPr id="15462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56675" name="Rectangle 2"/>
          <p:cNvSpPr>
            <a:spLocks noGrp="1" noRot="1" noChangeAspect="1" noTextEdit="1"/>
          </p:cNvSpPr>
          <p:nvPr>
            <p:ph type="sldImg"/>
          </p:nvPr>
        </p:nvSpPr>
        <p:spPr>
          <a:ln/>
        </p:spPr>
      </p:sp>
      <p:sp>
        <p:nvSpPr>
          <p:cNvPr id="15667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58723" name="Rectangle 2"/>
          <p:cNvSpPr>
            <a:spLocks noGrp="1" noRot="1" noChangeAspect="1" noTextEdit="1"/>
          </p:cNvSpPr>
          <p:nvPr>
            <p:ph type="sldImg"/>
          </p:nvPr>
        </p:nvSpPr>
        <p:spPr>
          <a:ln/>
        </p:spPr>
      </p:sp>
      <p:sp>
        <p:nvSpPr>
          <p:cNvPr id="15872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60771" name="Rectangle 2"/>
          <p:cNvSpPr>
            <a:spLocks noGrp="1" noRot="1" noChangeAspect="1" noTextEdit="1"/>
          </p:cNvSpPr>
          <p:nvPr>
            <p:ph type="sldImg"/>
          </p:nvPr>
        </p:nvSpPr>
        <p:spPr>
          <a:ln/>
        </p:spPr>
      </p:sp>
      <p:sp>
        <p:nvSpPr>
          <p:cNvPr id="16077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62819" name="Rectangle 2"/>
          <p:cNvSpPr>
            <a:spLocks noGrp="1" noRot="1" noChangeAspect="1" noTextEdit="1"/>
          </p:cNvSpPr>
          <p:nvPr>
            <p:ph type="sldImg"/>
          </p:nvPr>
        </p:nvSpPr>
        <p:spPr>
          <a:ln/>
        </p:spPr>
      </p:sp>
      <p:sp>
        <p:nvSpPr>
          <p:cNvPr id="16282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64867" name="Rectangle 2"/>
          <p:cNvSpPr>
            <a:spLocks noGrp="1" noRot="1" noChangeAspect="1" noTextEdit="1"/>
          </p:cNvSpPr>
          <p:nvPr>
            <p:ph type="sldImg"/>
          </p:nvPr>
        </p:nvSpPr>
        <p:spPr>
          <a:ln/>
        </p:spPr>
      </p:sp>
      <p:sp>
        <p:nvSpPr>
          <p:cNvPr id="16486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66915" name="Rectangle 2"/>
          <p:cNvSpPr>
            <a:spLocks noGrp="1" noRot="1" noChangeAspect="1" noTextEdit="1"/>
          </p:cNvSpPr>
          <p:nvPr>
            <p:ph type="sldImg"/>
          </p:nvPr>
        </p:nvSpPr>
        <p:spPr>
          <a:ln/>
        </p:spPr>
      </p:sp>
      <p:sp>
        <p:nvSpPr>
          <p:cNvPr id="16691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68963" name="Rectangle 2"/>
          <p:cNvSpPr>
            <a:spLocks noGrp="1" noRot="1" noChangeAspect="1" noTextEdit="1"/>
          </p:cNvSpPr>
          <p:nvPr>
            <p:ph type="sldImg"/>
          </p:nvPr>
        </p:nvSpPr>
        <p:spPr>
          <a:ln/>
        </p:spPr>
      </p:sp>
      <p:sp>
        <p:nvSpPr>
          <p:cNvPr id="16896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71011" name="Rectangle 2"/>
          <p:cNvSpPr>
            <a:spLocks noGrp="1" noRot="1" noChangeAspect="1" noTextEdit="1"/>
          </p:cNvSpPr>
          <p:nvPr>
            <p:ph type="sldImg"/>
          </p:nvPr>
        </p:nvSpPr>
        <p:spPr>
          <a:ln/>
        </p:spPr>
      </p:sp>
      <p:sp>
        <p:nvSpPr>
          <p:cNvPr id="17101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73059" name="Rectangle 2"/>
          <p:cNvSpPr>
            <a:spLocks noGrp="1" noRot="1" noChangeAspect="1" noTextEdit="1"/>
          </p:cNvSpPr>
          <p:nvPr>
            <p:ph type="sldImg"/>
          </p:nvPr>
        </p:nvSpPr>
        <p:spPr>
          <a:ln/>
        </p:spPr>
      </p:sp>
      <p:sp>
        <p:nvSpPr>
          <p:cNvPr id="17306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75107" name="Rectangle 2"/>
          <p:cNvSpPr>
            <a:spLocks noGrp="1" noRot="1" noChangeAspect="1" noTextEdit="1"/>
          </p:cNvSpPr>
          <p:nvPr>
            <p:ph type="sldImg"/>
          </p:nvPr>
        </p:nvSpPr>
        <p:spPr>
          <a:ln/>
        </p:spPr>
      </p:sp>
      <p:sp>
        <p:nvSpPr>
          <p:cNvPr id="17510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77155" name="Rectangle 2"/>
          <p:cNvSpPr>
            <a:spLocks noGrp="1" noRot="1" noChangeAspect="1" noTextEdit="1"/>
          </p:cNvSpPr>
          <p:nvPr>
            <p:ph type="sldImg"/>
          </p:nvPr>
        </p:nvSpPr>
        <p:spPr>
          <a:ln/>
        </p:spPr>
      </p:sp>
      <p:sp>
        <p:nvSpPr>
          <p:cNvPr id="17715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80227" name="Rectangle 2"/>
          <p:cNvSpPr>
            <a:spLocks noGrp="1" noRot="1" noChangeAspect="1" noTextEdit="1"/>
          </p:cNvSpPr>
          <p:nvPr>
            <p:ph type="sldImg"/>
          </p:nvPr>
        </p:nvSpPr>
        <p:spPr>
          <a:ln/>
        </p:spPr>
      </p:sp>
      <p:sp>
        <p:nvSpPr>
          <p:cNvPr id="18022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83299" name="Rectangle 2"/>
          <p:cNvSpPr>
            <a:spLocks noGrp="1" noRot="1" noChangeAspect="1" noTextEdit="1"/>
          </p:cNvSpPr>
          <p:nvPr>
            <p:ph type="sldImg"/>
          </p:nvPr>
        </p:nvSpPr>
        <p:spPr>
          <a:ln/>
        </p:spPr>
      </p:sp>
      <p:sp>
        <p:nvSpPr>
          <p:cNvPr id="18330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85347" name="Rectangle 2"/>
          <p:cNvSpPr>
            <a:spLocks noGrp="1" noRot="1" noChangeAspect="1" noTextEdit="1"/>
          </p:cNvSpPr>
          <p:nvPr>
            <p:ph type="sldImg"/>
          </p:nvPr>
        </p:nvSpPr>
        <p:spPr>
          <a:ln/>
        </p:spPr>
      </p:sp>
      <p:sp>
        <p:nvSpPr>
          <p:cNvPr id="18534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87395" name="Rectangle 2"/>
          <p:cNvSpPr>
            <a:spLocks noGrp="1" noRot="1" noChangeAspect="1" noTextEdit="1"/>
          </p:cNvSpPr>
          <p:nvPr>
            <p:ph type="sldImg"/>
          </p:nvPr>
        </p:nvSpPr>
        <p:spPr>
          <a:ln/>
        </p:spPr>
      </p:sp>
      <p:sp>
        <p:nvSpPr>
          <p:cNvPr id="18739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89443" name="Rectangle 2"/>
          <p:cNvSpPr>
            <a:spLocks noGrp="1" noRot="1" noChangeAspect="1" noTextEdit="1"/>
          </p:cNvSpPr>
          <p:nvPr>
            <p:ph type="sldImg"/>
          </p:nvPr>
        </p:nvSpPr>
        <p:spPr>
          <a:ln/>
        </p:spPr>
      </p:sp>
      <p:sp>
        <p:nvSpPr>
          <p:cNvPr id="18944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91491" name="Rectangle 2"/>
          <p:cNvSpPr>
            <a:spLocks noGrp="1" noRot="1" noChangeAspect="1" noTextEdit="1"/>
          </p:cNvSpPr>
          <p:nvPr>
            <p:ph type="sldImg"/>
          </p:nvPr>
        </p:nvSpPr>
        <p:spPr>
          <a:ln/>
        </p:spPr>
      </p:sp>
      <p:sp>
        <p:nvSpPr>
          <p:cNvPr id="19149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93539" name="Rectangle 2"/>
          <p:cNvSpPr>
            <a:spLocks noGrp="1" noRot="1" noChangeAspect="1" noTextEdit="1"/>
          </p:cNvSpPr>
          <p:nvPr>
            <p:ph type="sldImg"/>
          </p:nvPr>
        </p:nvSpPr>
        <p:spPr>
          <a:ln/>
        </p:spPr>
      </p:sp>
      <p:sp>
        <p:nvSpPr>
          <p:cNvPr id="19354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95587" name="Rectangle 2"/>
          <p:cNvSpPr>
            <a:spLocks noGrp="1" noRot="1" noChangeAspect="1" noTextEdit="1"/>
          </p:cNvSpPr>
          <p:nvPr>
            <p:ph type="sldImg"/>
          </p:nvPr>
        </p:nvSpPr>
        <p:spPr>
          <a:ln/>
        </p:spPr>
      </p:sp>
      <p:sp>
        <p:nvSpPr>
          <p:cNvPr id="19558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97635" name="Rectangle 2"/>
          <p:cNvSpPr>
            <a:spLocks noGrp="1" noRot="1" noChangeAspect="1" noTextEdit="1"/>
          </p:cNvSpPr>
          <p:nvPr>
            <p:ph type="sldImg"/>
          </p:nvPr>
        </p:nvSpPr>
        <p:spPr>
          <a:ln/>
        </p:spPr>
      </p:sp>
      <p:sp>
        <p:nvSpPr>
          <p:cNvPr id="19763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99683" name="Rectangle 2"/>
          <p:cNvSpPr>
            <a:spLocks noGrp="1" noRot="1" noChangeAspect="1" noTextEdit="1"/>
          </p:cNvSpPr>
          <p:nvPr>
            <p:ph type="sldImg"/>
          </p:nvPr>
        </p:nvSpPr>
        <p:spPr>
          <a:ln/>
        </p:spPr>
      </p:sp>
      <p:sp>
        <p:nvSpPr>
          <p:cNvPr id="19968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01731" name="Rectangle 2"/>
          <p:cNvSpPr>
            <a:spLocks noGrp="1" noRot="1" noChangeAspect="1" noTextEdit="1"/>
          </p:cNvSpPr>
          <p:nvPr>
            <p:ph type="sldImg"/>
          </p:nvPr>
        </p:nvSpPr>
        <p:spPr>
          <a:ln/>
        </p:spPr>
      </p:sp>
      <p:sp>
        <p:nvSpPr>
          <p:cNvPr id="20173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03779" name="Rectangle 2"/>
          <p:cNvSpPr>
            <a:spLocks noGrp="1" noRot="1" noChangeAspect="1" noTextEdit="1"/>
          </p:cNvSpPr>
          <p:nvPr>
            <p:ph type="sldImg"/>
          </p:nvPr>
        </p:nvSpPr>
        <p:spPr>
          <a:ln/>
        </p:spPr>
      </p:sp>
      <p:sp>
        <p:nvSpPr>
          <p:cNvPr id="20378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05827" name="Rectangle 2"/>
          <p:cNvSpPr>
            <a:spLocks noGrp="1" noRot="1" noChangeAspect="1" noTextEdit="1"/>
          </p:cNvSpPr>
          <p:nvPr>
            <p:ph type="sldImg"/>
          </p:nvPr>
        </p:nvSpPr>
        <p:spPr>
          <a:ln/>
        </p:spPr>
      </p:sp>
      <p:sp>
        <p:nvSpPr>
          <p:cNvPr id="20582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07875" name="Rectangle 2"/>
          <p:cNvSpPr>
            <a:spLocks noGrp="1" noRot="1" noChangeAspect="1" noTextEdit="1"/>
          </p:cNvSpPr>
          <p:nvPr>
            <p:ph type="sldImg"/>
          </p:nvPr>
        </p:nvSpPr>
        <p:spPr>
          <a:ln/>
        </p:spPr>
      </p:sp>
      <p:sp>
        <p:nvSpPr>
          <p:cNvPr id="20787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09923" name="Rectangle 2"/>
          <p:cNvSpPr>
            <a:spLocks noGrp="1" noRot="1" noChangeAspect="1" noTextEdit="1"/>
          </p:cNvSpPr>
          <p:nvPr>
            <p:ph type="sldImg"/>
          </p:nvPr>
        </p:nvSpPr>
        <p:spPr>
          <a:ln/>
        </p:spPr>
      </p:sp>
      <p:sp>
        <p:nvSpPr>
          <p:cNvPr id="20992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11971" name="Rectangle 2"/>
          <p:cNvSpPr>
            <a:spLocks noGrp="1" noRot="1" noChangeAspect="1" noTextEdit="1"/>
          </p:cNvSpPr>
          <p:nvPr>
            <p:ph type="sldImg"/>
          </p:nvPr>
        </p:nvSpPr>
        <p:spPr>
          <a:ln/>
        </p:spPr>
      </p:sp>
      <p:sp>
        <p:nvSpPr>
          <p:cNvPr id="21197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14019" name="Rectangle 2"/>
          <p:cNvSpPr>
            <a:spLocks noGrp="1" noRot="1" noChangeAspect="1" noTextEdit="1"/>
          </p:cNvSpPr>
          <p:nvPr>
            <p:ph type="sldImg"/>
          </p:nvPr>
        </p:nvSpPr>
        <p:spPr>
          <a:ln/>
        </p:spPr>
      </p:sp>
      <p:sp>
        <p:nvSpPr>
          <p:cNvPr id="21402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16067" name="Rectangle 2"/>
          <p:cNvSpPr>
            <a:spLocks noGrp="1" noRot="1" noChangeAspect="1" noTextEdit="1"/>
          </p:cNvSpPr>
          <p:nvPr>
            <p:ph type="sldImg"/>
          </p:nvPr>
        </p:nvSpPr>
        <p:spPr>
          <a:ln/>
        </p:spPr>
      </p:sp>
      <p:sp>
        <p:nvSpPr>
          <p:cNvPr id="21606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18115" name="Rectangle 2"/>
          <p:cNvSpPr>
            <a:spLocks noGrp="1" noRot="1" noChangeAspect="1" noTextEdit="1"/>
          </p:cNvSpPr>
          <p:nvPr>
            <p:ph type="sldImg"/>
          </p:nvPr>
        </p:nvSpPr>
        <p:spPr>
          <a:ln/>
        </p:spPr>
      </p:sp>
      <p:sp>
        <p:nvSpPr>
          <p:cNvPr id="21811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20163" name="Rectangle 2"/>
          <p:cNvSpPr>
            <a:spLocks noGrp="1" noRot="1" noChangeAspect="1" noTextEdit="1"/>
          </p:cNvSpPr>
          <p:nvPr>
            <p:ph type="sldImg"/>
          </p:nvPr>
        </p:nvSpPr>
        <p:spPr>
          <a:ln/>
        </p:spPr>
      </p:sp>
      <p:sp>
        <p:nvSpPr>
          <p:cNvPr id="22016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22211" name="Rectangle 2"/>
          <p:cNvSpPr>
            <a:spLocks noGrp="1" noRot="1" noChangeAspect="1" noTextEdit="1"/>
          </p:cNvSpPr>
          <p:nvPr>
            <p:ph type="sldImg"/>
          </p:nvPr>
        </p:nvSpPr>
        <p:spPr>
          <a:ln/>
        </p:spPr>
      </p:sp>
      <p:sp>
        <p:nvSpPr>
          <p:cNvPr id="22221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24259" name="Rectangle 2"/>
          <p:cNvSpPr>
            <a:spLocks noGrp="1" noRot="1" noChangeAspect="1" noTextEdit="1"/>
          </p:cNvSpPr>
          <p:nvPr>
            <p:ph type="sldImg"/>
          </p:nvPr>
        </p:nvSpPr>
        <p:spPr>
          <a:ln/>
        </p:spPr>
      </p:sp>
      <p:sp>
        <p:nvSpPr>
          <p:cNvPr id="22426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26307" name="Rectangle 2"/>
          <p:cNvSpPr>
            <a:spLocks noGrp="1" noRot="1" noChangeAspect="1" noTextEdit="1"/>
          </p:cNvSpPr>
          <p:nvPr>
            <p:ph type="sldImg"/>
          </p:nvPr>
        </p:nvSpPr>
        <p:spPr>
          <a:ln/>
        </p:spPr>
      </p:sp>
      <p:sp>
        <p:nvSpPr>
          <p:cNvPr id="22630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28355" name="Rectangle 2"/>
          <p:cNvSpPr>
            <a:spLocks noGrp="1" noRot="1" noChangeAspect="1" noTextEdit="1"/>
          </p:cNvSpPr>
          <p:nvPr>
            <p:ph type="sldImg"/>
          </p:nvPr>
        </p:nvSpPr>
        <p:spPr>
          <a:ln/>
        </p:spPr>
      </p:sp>
      <p:sp>
        <p:nvSpPr>
          <p:cNvPr id="22835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30403" name="Rectangle 2"/>
          <p:cNvSpPr>
            <a:spLocks noGrp="1" noRot="1" noChangeAspect="1" noTextEdit="1"/>
          </p:cNvSpPr>
          <p:nvPr>
            <p:ph type="sldImg"/>
          </p:nvPr>
        </p:nvSpPr>
        <p:spPr>
          <a:ln/>
        </p:spPr>
      </p:sp>
      <p:sp>
        <p:nvSpPr>
          <p:cNvPr id="23040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32451" name="Rectangle 2"/>
          <p:cNvSpPr>
            <a:spLocks noGrp="1" noRot="1" noChangeAspect="1" noTextEdit="1"/>
          </p:cNvSpPr>
          <p:nvPr>
            <p:ph type="sldImg"/>
          </p:nvPr>
        </p:nvSpPr>
        <p:spPr>
          <a:ln/>
        </p:spPr>
      </p:sp>
      <p:sp>
        <p:nvSpPr>
          <p:cNvPr id="23245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34499" name="Rectangle 2"/>
          <p:cNvSpPr>
            <a:spLocks noGrp="1" noRot="1" noChangeAspect="1" noTextEdit="1"/>
          </p:cNvSpPr>
          <p:nvPr>
            <p:ph type="sldImg"/>
          </p:nvPr>
        </p:nvSpPr>
        <p:spPr>
          <a:ln/>
        </p:spPr>
      </p:sp>
      <p:sp>
        <p:nvSpPr>
          <p:cNvPr id="23450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36547" name="Rectangle 2"/>
          <p:cNvSpPr>
            <a:spLocks noGrp="1" noRot="1" noChangeAspect="1" noTextEdit="1"/>
          </p:cNvSpPr>
          <p:nvPr>
            <p:ph type="sldImg"/>
          </p:nvPr>
        </p:nvSpPr>
        <p:spPr>
          <a:ln/>
        </p:spPr>
      </p:sp>
      <p:sp>
        <p:nvSpPr>
          <p:cNvPr id="23654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238595" name="Rectangle 2"/>
          <p:cNvSpPr>
            <a:spLocks noGrp="1" noRot="1" noChangeAspect="1" noTextEdit="1"/>
          </p:cNvSpPr>
          <p:nvPr>
            <p:ph type="sldImg"/>
          </p:nvPr>
        </p:nvSpPr>
        <p:spPr>
          <a:ln/>
        </p:spPr>
      </p:sp>
      <p:sp>
        <p:nvSpPr>
          <p:cNvPr id="23859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279525" y="1600200"/>
            <a:ext cx="7085013" cy="1066800"/>
          </a:xfrm>
        </p:spPr>
        <p:txBody>
          <a:bodyPr/>
          <a:lstStyle>
            <a:lvl1pPr>
              <a:defRPr/>
            </a:lvl1pPr>
          </a:lstStyle>
          <a:p>
            <a:pPr lvl="0"/>
            <a:r>
              <a:rPr lang="zh-CN" altLang="en-US" noProof="0"/>
              <a:t>单击此处编辑母版标题样式</a:t>
            </a:r>
            <a:endParaRPr lang="zh-CN" altLang="en-US" noProof="0"/>
          </a:p>
        </p:txBody>
      </p:sp>
      <p:sp>
        <p:nvSpPr>
          <p:cNvPr id="3075" name="Rectangle 3"/>
          <p:cNvSpPr>
            <a:spLocks noGrp="1" noChangeArrowheads="1"/>
          </p:cNvSpPr>
          <p:nvPr>
            <p:ph type="subTitle" idx="1"/>
          </p:nvPr>
        </p:nvSpPr>
        <p:spPr>
          <a:xfrm>
            <a:off x="1279525" y="2819400"/>
            <a:ext cx="5256213" cy="1143000"/>
          </a:xfrm>
        </p:spPr>
        <p:txBody>
          <a:bodyPr/>
          <a:lstStyle>
            <a:lvl1pPr marL="0" indent="0">
              <a:buFontTx/>
              <a:buNone/>
              <a:defRPr/>
            </a:lvl1pPr>
          </a:lstStyle>
          <a:p>
            <a:pPr lvl="0"/>
            <a:r>
              <a:rPr lang="zh-CN" altLang="en-US" noProof="0"/>
              <a:t>单击此处编辑母版副标题样式</a:t>
            </a:r>
            <a:endParaRPr lang="zh-CN" altLang="en-US" noProof="0"/>
          </a:p>
        </p:txBody>
      </p:sp>
      <p:sp>
        <p:nvSpPr>
          <p:cNvPr id="7" name="Rectangle 4"/>
          <p:cNvSpPr>
            <a:spLocks noGrp="1" noChangeArrowheads="1"/>
          </p:cNvSpPr>
          <p:nvPr>
            <p:ph type="dt" sz="half" idx="2"/>
          </p:nvPr>
        </p:nvSpPr>
        <p:spPr bwMode="auto">
          <a:xfrm>
            <a:off x="457200" y="6429375"/>
            <a:ext cx="2133600" cy="323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8" name="Rectangle 5"/>
          <p:cNvSpPr>
            <a:spLocks noGrp="1" noChangeArrowheads="1"/>
          </p:cNvSpPr>
          <p:nvPr>
            <p:ph type="ftr" sz="quarter" idx="3"/>
          </p:nvPr>
        </p:nvSpPr>
        <p:spPr bwMode="auto">
          <a:xfrm>
            <a:off x="3124200" y="6429375"/>
            <a:ext cx="2895600" cy="323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9" name="Rectangle 6"/>
          <p:cNvSpPr>
            <a:spLocks noGrp="1" noChangeArrowheads="1"/>
          </p:cNvSpPr>
          <p:nvPr>
            <p:ph type="sldNum" sz="quarter" idx="4"/>
          </p:nvPr>
        </p:nvSpPr>
        <p:spPr bwMode="auto">
          <a:xfrm>
            <a:off x="6553200" y="6429375"/>
            <a:ext cx="2133600" cy="323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8EED659-7A92-4199-95D7-950308A103CB}"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279525" y="1600200"/>
            <a:ext cx="25527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3984625" y="1600200"/>
            <a:ext cx="25527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4475" y="685800"/>
            <a:ext cx="1771650" cy="54403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279525" y="685800"/>
            <a:ext cx="5162550" cy="54403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79525" y="685800"/>
            <a:ext cx="7086600" cy="731838"/>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279525" y="1600200"/>
            <a:ext cx="25527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3984625" y="1600200"/>
            <a:ext cx="25527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279525" y="685800"/>
            <a:ext cx="7086600" cy="54403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79525" y="685800"/>
            <a:ext cx="7086600" cy="731838"/>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279525" y="1600200"/>
            <a:ext cx="25527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3984625" y="1600200"/>
            <a:ext cx="25527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3984625" y="3938588"/>
            <a:ext cx="25527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Date Placeholder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7" name="Footer Placeholder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8" name="Slide Number Placeholder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p:sp>
        <p:nvSpPr>
          <p:cNvPr id="1026" name="Rectangle 2"/>
          <p:cNvSpPr>
            <a:spLocks noGrp="1"/>
          </p:cNvSpPr>
          <p:nvPr>
            <p:ph type="title"/>
          </p:nvPr>
        </p:nvSpPr>
        <p:spPr>
          <a:xfrm>
            <a:off x="1279525" y="685800"/>
            <a:ext cx="7086600" cy="731838"/>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idx="1"/>
          </p:nvPr>
        </p:nvSpPr>
        <p:spPr>
          <a:xfrm>
            <a:off x="1279525" y="1600200"/>
            <a:ext cx="52578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1" name="Rectangle 7"/>
          <p:cNvSpPr>
            <a:spLocks noGrp="1" noChangeArrowheads="1"/>
          </p:cNvSpPr>
          <p:nvPr>
            <p:ph type="dt" sz="half" idx="2"/>
          </p:nvPr>
        </p:nvSpPr>
        <p:spPr bwMode="auto">
          <a:xfrm>
            <a:off x="457200" y="6429375"/>
            <a:ext cx="2133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nSpc>
                <a:spcPct val="100000"/>
              </a:lnSpc>
              <a:spcBef>
                <a:spcPct val="0"/>
              </a:spcBef>
              <a:defRPr sz="1200" b="0">
                <a:latin typeface="Century Gothic"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1032" name="Rectangle 8"/>
          <p:cNvSpPr>
            <a:spLocks noGrp="1" noChangeArrowheads="1"/>
          </p:cNvSpPr>
          <p:nvPr>
            <p:ph type="ftr" sz="quarter" idx="3"/>
          </p:nvPr>
        </p:nvSpPr>
        <p:spPr bwMode="auto">
          <a:xfrm>
            <a:off x="3124200" y="6429375"/>
            <a:ext cx="2895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lnSpc>
                <a:spcPct val="100000"/>
              </a:lnSpc>
              <a:spcBef>
                <a:spcPct val="0"/>
              </a:spcBef>
              <a:defRPr sz="1200" b="0">
                <a:latin typeface="Century Gothic"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
        <p:nvSpPr>
          <p:cNvPr id="1033" name="Rectangle 9"/>
          <p:cNvSpPr>
            <a:spLocks noGrp="1" noChangeArrowheads="1"/>
          </p:cNvSpPr>
          <p:nvPr>
            <p:ph type="sldNum" sz="quarter" idx="4"/>
          </p:nvPr>
        </p:nvSpPr>
        <p:spPr bwMode="auto">
          <a:xfrm>
            <a:off x="6553200" y="6429375"/>
            <a:ext cx="2133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b="0">
                <a:latin typeface="Century Gothic"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49CC1C3-31D9-45C5-9536-94014E3C78F2}" type="slidenum">
              <a:rPr kumimoji="0" lang="zh-CN" altLang="en-US" sz="1200" b="0" i="0" u="none" strike="noStrike" kern="1200" cap="none" spc="0" normalizeH="0" baseline="0" noProof="0" smtClean="0">
                <a:ln>
                  <a:noFill/>
                </a:ln>
                <a:solidFill>
                  <a:schemeClr val="tx1"/>
                </a:solidFill>
                <a:effectLst/>
                <a:uLnTx/>
                <a:uFillTx/>
                <a:latin typeface="Century Gothic"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Century Gothic"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宋体" pitchFamily="2" charset="-122"/>
          <a:ea typeface="宋体" pitchFamily="2" charset="-122"/>
        </a:defRPr>
      </a:lvl2pPr>
      <a:lvl3pPr algn="l" rtl="0" eaLnBrk="0" fontAlgn="base" hangingPunct="0">
        <a:spcBef>
          <a:spcPct val="0"/>
        </a:spcBef>
        <a:spcAft>
          <a:spcPct val="0"/>
        </a:spcAft>
        <a:defRPr sz="3600">
          <a:solidFill>
            <a:schemeClr val="tx2"/>
          </a:solidFill>
          <a:latin typeface="宋体" pitchFamily="2" charset="-122"/>
          <a:ea typeface="宋体" pitchFamily="2" charset="-122"/>
        </a:defRPr>
      </a:lvl3pPr>
      <a:lvl4pPr algn="l" rtl="0" eaLnBrk="0" fontAlgn="base" hangingPunct="0">
        <a:spcBef>
          <a:spcPct val="0"/>
        </a:spcBef>
        <a:spcAft>
          <a:spcPct val="0"/>
        </a:spcAft>
        <a:defRPr sz="3600">
          <a:solidFill>
            <a:schemeClr val="tx2"/>
          </a:solidFill>
          <a:latin typeface="宋体" pitchFamily="2" charset="-122"/>
          <a:ea typeface="宋体" pitchFamily="2" charset="-122"/>
        </a:defRPr>
      </a:lvl4pPr>
      <a:lvl5pPr algn="l" rtl="0" eaLnBrk="0" fontAlgn="base" hangingPunct="0">
        <a:spcBef>
          <a:spcPct val="0"/>
        </a:spcBef>
        <a:spcAft>
          <a:spcPct val="0"/>
        </a:spcAft>
        <a:defRPr sz="3600">
          <a:solidFill>
            <a:schemeClr val="tx2"/>
          </a:solidFill>
          <a:latin typeface="宋体" pitchFamily="2" charset="-122"/>
          <a:ea typeface="宋体" pitchFamily="2" charset="-122"/>
        </a:defRPr>
      </a:lvl5pPr>
      <a:lvl6pPr marL="457200" algn="l" rtl="0" fontAlgn="base">
        <a:spcBef>
          <a:spcPct val="0"/>
        </a:spcBef>
        <a:spcAft>
          <a:spcPct val="0"/>
        </a:spcAft>
        <a:defRPr sz="3600">
          <a:solidFill>
            <a:schemeClr val="tx2"/>
          </a:solidFill>
          <a:latin typeface="宋体" pitchFamily="2" charset="-122"/>
          <a:ea typeface="宋体" pitchFamily="2" charset="-122"/>
        </a:defRPr>
      </a:lvl6pPr>
      <a:lvl7pPr marL="914400" algn="l" rtl="0" fontAlgn="base">
        <a:spcBef>
          <a:spcPct val="0"/>
        </a:spcBef>
        <a:spcAft>
          <a:spcPct val="0"/>
        </a:spcAft>
        <a:defRPr sz="3600">
          <a:solidFill>
            <a:schemeClr val="tx2"/>
          </a:solidFill>
          <a:latin typeface="宋体" pitchFamily="2" charset="-122"/>
          <a:ea typeface="宋体" pitchFamily="2" charset="-122"/>
        </a:defRPr>
      </a:lvl7pPr>
      <a:lvl8pPr marL="1371600" algn="l" rtl="0" fontAlgn="base">
        <a:spcBef>
          <a:spcPct val="0"/>
        </a:spcBef>
        <a:spcAft>
          <a:spcPct val="0"/>
        </a:spcAft>
        <a:defRPr sz="3600">
          <a:solidFill>
            <a:schemeClr val="tx2"/>
          </a:solidFill>
          <a:latin typeface="宋体" pitchFamily="2" charset="-122"/>
          <a:ea typeface="宋体" pitchFamily="2" charset="-122"/>
        </a:defRPr>
      </a:lvl8pPr>
      <a:lvl9pPr marL="1828800" algn="l" rtl="0" fontAlgn="base">
        <a:spcBef>
          <a:spcPct val="0"/>
        </a:spcBef>
        <a:spcAft>
          <a:spcPct val="0"/>
        </a:spcAft>
        <a:defRPr sz="3600">
          <a:solidFill>
            <a:schemeClr val="tx2"/>
          </a:solidFill>
          <a:latin typeface="宋体" pitchFamily="2" charset="-122"/>
          <a:ea typeface="宋体" pitchFamily="2" charset="-122"/>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2.bin"/><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7" Type="http://schemas.openxmlformats.org/officeDocument/2006/relationships/notesSlide" Target="../notesSlides/notesSlide51.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11.emf"/><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4.xml"/><Relationship Id="rId1" Type="http://schemas.openxmlformats.org/officeDocument/2006/relationships/image" Target="../media/image13.png"/></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vmlDrawing" Target="../drawings/vmlDrawing5.vml"/><Relationship Id="rId3" Type="http://schemas.openxmlformats.org/officeDocument/2006/relationships/slideLayout" Target="../slideLayouts/slideLayout12.xml"/><Relationship Id="rId2" Type="http://schemas.openxmlformats.org/officeDocument/2006/relationships/image" Target="../media/image14.emf"/><Relationship Id="rId1" Type="http://schemas.openxmlformats.org/officeDocument/2006/relationships/oleObject" Target="../embeddings/oleObject7.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8.bin"/></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0.emf"/><Relationship Id="rId7" Type="http://schemas.openxmlformats.org/officeDocument/2006/relationships/oleObject" Target="../embeddings/oleObject12.bin"/><Relationship Id="rId6" Type="http://schemas.openxmlformats.org/officeDocument/2006/relationships/image" Target="../media/image19.emf"/><Relationship Id="rId5" Type="http://schemas.openxmlformats.org/officeDocument/2006/relationships/oleObject" Target="../embeddings/oleObject11.bin"/><Relationship Id="rId4" Type="http://schemas.openxmlformats.org/officeDocument/2006/relationships/image" Target="../media/image18.emf"/><Relationship Id="rId3" Type="http://schemas.openxmlformats.org/officeDocument/2006/relationships/oleObject" Target="../embeddings/oleObject10.bin"/><Relationship Id="rId2" Type="http://schemas.openxmlformats.org/officeDocument/2006/relationships/image" Target="../media/image17.emf"/><Relationship Id="rId11" Type="http://schemas.openxmlformats.org/officeDocument/2006/relationships/notesSlide" Target="../notesSlides/notesSlide66.xml"/><Relationship Id="rId10" Type="http://schemas.openxmlformats.org/officeDocument/2006/relationships/vmlDrawing" Target="../drawings/vmlDrawing7.vml"/><Relationship Id="rId1" Type="http://schemas.openxmlformats.org/officeDocument/2006/relationships/oleObject" Target="../embeddings/oleObject9.bin"/></Relationships>
</file>

<file path=ppt/slides/_rels/slide7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4.emf"/><Relationship Id="rId7" Type="http://schemas.openxmlformats.org/officeDocument/2006/relationships/oleObject" Target="../embeddings/oleObject16.bin"/><Relationship Id="rId6" Type="http://schemas.openxmlformats.org/officeDocument/2006/relationships/image" Target="../media/image23.emf"/><Relationship Id="rId5" Type="http://schemas.openxmlformats.org/officeDocument/2006/relationships/oleObject" Target="../embeddings/oleObject15.bin"/><Relationship Id="rId4" Type="http://schemas.openxmlformats.org/officeDocument/2006/relationships/image" Target="../media/image22.emf"/><Relationship Id="rId3" Type="http://schemas.openxmlformats.org/officeDocument/2006/relationships/oleObject" Target="../embeddings/oleObject14.bin"/><Relationship Id="rId2" Type="http://schemas.openxmlformats.org/officeDocument/2006/relationships/image" Target="../media/image21.emf"/><Relationship Id="rId11" Type="http://schemas.openxmlformats.org/officeDocument/2006/relationships/notesSlide" Target="../notesSlides/notesSlide67.xml"/><Relationship Id="rId10" Type="http://schemas.openxmlformats.org/officeDocument/2006/relationships/vmlDrawing" Target="../drawings/vmlDrawing8.vml"/><Relationship Id="rId1" Type="http://schemas.openxmlformats.org/officeDocument/2006/relationships/oleObject" Target="../embeddings/oleObject13.bin"/></Relationships>
</file>

<file path=ppt/slides/_rels/slide71.xml.rels><?xml version="1.0" encoding="UTF-8" standalone="yes"?>
<Relationships xmlns="http://schemas.openxmlformats.org/package/2006/relationships"><Relationship Id="rId7" Type="http://schemas.openxmlformats.org/officeDocument/2006/relationships/notesSlide" Target="../notesSlides/notesSlide68.xml"/><Relationship Id="rId6" Type="http://schemas.openxmlformats.org/officeDocument/2006/relationships/vmlDrawing" Target="../drawings/vmlDrawing9.vml"/><Relationship Id="rId5" Type="http://schemas.openxmlformats.org/officeDocument/2006/relationships/slideLayout" Target="../slideLayouts/slideLayout14.xml"/><Relationship Id="rId4" Type="http://schemas.openxmlformats.org/officeDocument/2006/relationships/image" Target="../media/image26.emf"/><Relationship Id="rId3" Type="http://schemas.openxmlformats.org/officeDocument/2006/relationships/oleObject" Target="../embeddings/oleObject18.bin"/><Relationship Id="rId2" Type="http://schemas.openxmlformats.org/officeDocument/2006/relationships/image" Target="../media/image25.emf"/><Relationship Id="rId1" Type="http://schemas.openxmlformats.org/officeDocument/2006/relationships/oleObject" Target="../embeddings/oleObject17.bin"/></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5" Type="http://schemas.openxmlformats.org/officeDocument/2006/relationships/notesSlide" Target="../notesSlides/notesSlide88.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oleObject" Target="../embeddings/oleObject19.bin"/></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122" name="Rectangle 6"/>
          <p:cNvSpPr/>
          <p:nvPr/>
        </p:nvSpPr>
        <p:spPr>
          <a:xfrm>
            <a:off x="755650" y="565150"/>
            <a:ext cx="7848600" cy="91440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第</a:t>
            </a:r>
            <a:r>
              <a:rPr lang="en-US" altLang="zh-CN" sz="4000" b="1" dirty="0">
                <a:solidFill>
                  <a:srgbClr val="E40000"/>
                </a:solidFill>
                <a:latin typeface="Arial" panose="020B0604020202020204" pitchFamily="34" charset="0"/>
              </a:rPr>
              <a:t>4</a:t>
            </a:r>
            <a:r>
              <a:rPr lang="zh-CN" altLang="en-US" sz="4000" b="1" dirty="0">
                <a:solidFill>
                  <a:srgbClr val="E40000"/>
                </a:solidFill>
                <a:latin typeface="Arial" panose="020B0604020202020204" pitchFamily="34" charset="0"/>
              </a:rPr>
              <a:t>章 数据依赖与关系模式规范化</a:t>
            </a:r>
            <a:endParaRPr lang="zh-CN" altLang="en-US" sz="4000" b="1" dirty="0">
              <a:solidFill>
                <a:srgbClr val="E40000"/>
              </a:solidFill>
              <a:latin typeface="Arial" panose="020B0604020202020204" pitchFamily="34" charset="0"/>
            </a:endParaRPr>
          </a:p>
        </p:txBody>
      </p:sp>
      <p:sp>
        <p:nvSpPr>
          <p:cNvPr id="5123" name="Rectangle 7"/>
          <p:cNvSpPr/>
          <p:nvPr/>
        </p:nvSpPr>
        <p:spPr>
          <a:xfrm>
            <a:off x="1131888" y="1600200"/>
            <a:ext cx="7486650" cy="3700463"/>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609600" lvl="0" indent="-609600" eaLnBrk="1" hangingPunct="1">
              <a:lnSpc>
                <a:spcPct val="160000"/>
              </a:lnSpc>
              <a:buNone/>
            </a:pPr>
            <a:r>
              <a:rPr lang="en-US" altLang="zh-CN" sz="3200" b="1" dirty="0">
                <a:latin typeface="Arial" panose="020B0604020202020204" pitchFamily="34" charset="0"/>
              </a:rPr>
              <a:t> </a:t>
            </a:r>
            <a:r>
              <a:rPr lang="en-US" altLang="zh-CN" sz="3600" b="1" dirty="0">
                <a:latin typeface="Arial" panose="020B0604020202020204" pitchFamily="34" charset="0"/>
              </a:rPr>
              <a:t>4.1 </a:t>
            </a:r>
            <a:r>
              <a:rPr lang="zh-CN" altLang="en-US" sz="3600" b="1" dirty="0">
                <a:latin typeface="Arial" panose="020B0604020202020204" pitchFamily="34" charset="0"/>
              </a:rPr>
              <a:t>问题的提出</a:t>
            </a:r>
            <a:endParaRPr lang="zh-CN" altLang="en-US" sz="3600" b="1" dirty="0">
              <a:latin typeface="Arial" panose="020B0604020202020204" pitchFamily="34" charset="0"/>
            </a:endParaRPr>
          </a:p>
          <a:p>
            <a:pPr marL="609600" lvl="0" indent="-609600" eaLnBrk="1" hangingPunct="1">
              <a:lnSpc>
                <a:spcPct val="160000"/>
              </a:lnSpc>
              <a:buNone/>
            </a:pPr>
            <a:r>
              <a:rPr lang="en-US" altLang="zh-CN" sz="3600" b="1" dirty="0">
                <a:latin typeface="Arial" panose="020B0604020202020204" pitchFamily="34" charset="0"/>
              </a:rPr>
              <a:t> 4.2 </a:t>
            </a:r>
            <a:r>
              <a:rPr lang="zh-CN" altLang="en-US" sz="3600" b="1" dirty="0">
                <a:latin typeface="Arial" panose="020B0604020202020204" pitchFamily="34" charset="0"/>
              </a:rPr>
              <a:t>数据依赖</a:t>
            </a:r>
            <a:endParaRPr lang="zh-CN" altLang="en-US" sz="3600" b="1" dirty="0">
              <a:latin typeface="Arial" panose="020B0604020202020204" pitchFamily="34" charset="0"/>
            </a:endParaRPr>
          </a:p>
          <a:p>
            <a:pPr marL="609600" lvl="0" indent="-609600" eaLnBrk="1" hangingPunct="1">
              <a:lnSpc>
                <a:spcPct val="160000"/>
              </a:lnSpc>
              <a:buNone/>
            </a:pPr>
            <a:r>
              <a:rPr lang="zh-CN" altLang="en-US" sz="3600" b="1" dirty="0">
                <a:latin typeface="Arial" panose="020B0604020202020204" pitchFamily="34" charset="0"/>
              </a:rPr>
              <a:t> </a:t>
            </a:r>
            <a:r>
              <a:rPr lang="en-US" altLang="zh-CN" sz="3600" b="1" dirty="0">
                <a:latin typeface="Arial" panose="020B0604020202020204" pitchFamily="34" charset="0"/>
              </a:rPr>
              <a:t>4.3 </a:t>
            </a:r>
            <a:r>
              <a:rPr lang="zh-CN" altLang="en-US" sz="3600" b="1" dirty="0">
                <a:latin typeface="Arial" panose="020B0604020202020204" pitchFamily="34" charset="0"/>
              </a:rPr>
              <a:t>关系模式分解</a:t>
            </a:r>
            <a:endParaRPr lang="zh-CN" altLang="en-US" sz="3600" b="1" dirty="0">
              <a:latin typeface="Arial" panose="020B0604020202020204" pitchFamily="34" charset="0"/>
            </a:endParaRPr>
          </a:p>
          <a:p>
            <a:pPr marL="609600" lvl="0" indent="-609600" eaLnBrk="1" hangingPunct="1">
              <a:lnSpc>
                <a:spcPct val="160000"/>
              </a:lnSpc>
              <a:buNone/>
            </a:pPr>
            <a:r>
              <a:rPr lang="zh-CN" altLang="en-US" sz="3600" b="1" dirty="0">
                <a:latin typeface="Arial" panose="020B0604020202020204" pitchFamily="34" charset="0"/>
              </a:rPr>
              <a:t> </a:t>
            </a:r>
            <a:r>
              <a:rPr lang="en-US" altLang="zh-CN" sz="3600" b="1" dirty="0">
                <a:latin typeface="Arial" panose="020B0604020202020204" pitchFamily="34" charset="0"/>
              </a:rPr>
              <a:t>4.4 </a:t>
            </a:r>
            <a:r>
              <a:rPr lang="zh-CN" altLang="en-US" sz="3600" b="1" dirty="0">
                <a:latin typeface="Arial" panose="020B0604020202020204" pitchFamily="34" charset="0"/>
              </a:rPr>
              <a:t>关系模式规范化</a:t>
            </a:r>
            <a:endParaRPr lang="zh-CN" altLang="en-US" sz="3600" b="1" dirty="0">
              <a:latin typeface="Arial" panose="020B0604020202020204" pitchFamily="34" charset="0"/>
            </a:endParaRPr>
          </a:p>
          <a:p>
            <a:pPr marL="609600" lvl="0" indent="-609600" eaLnBrk="1" hangingPunct="1">
              <a:lnSpc>
                <a:spcPct val="160000"/>
              </a:lnSpc>
              <a:buNone/>
            </a:pPr>
            <a:endParaRPr lang="zh-CN" altLang="en-US" sz="3600" b="1" dirty="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170" name="Rectangle 2"/>
          <p:cNvSpPr>
            <a:spLocks noGrp="1"/>
          </p:cNvSpPr>
          <p:nvPr>
            <p:ph type="title"/>
          </p:nvPr>
        </p:nvSpPr>
        <p:spPr>
          <a:xfrm>
            <a:off x="971550" y="765175"/>
            <a:ext cx="7086600" cy="731838"/>
          </a:xfrm>
          <a:ln/>
        </p:spPr>
        <p:txBody>
          <a:bodyPr vert="horz" wrap="square" lIns="91440" tIns="45720" rIns="91440" bIns="45720" anchor="ctr" anchorCtr="0"/>
          <a:p>
            <a:pPr algn="ctr" eaLnBrk="1" hangingPunct="1"/>
            <a:r>
              <a:rPr lang="en-US" altLang="zh-CN" sz="4000" b="1" dirty="0">
                <a:solidFill>
                  <a:srgbClr val="E40000"/>
                </a:solidFill>
                <a:latin typeface="Arial" panose="020B0604020202020204" pitchFamily="34" charset="0"/>
              </a:rPr>
              <a:t>4.1 </a:t>
            </a:r>
            <a:r>
              <a:rPr lang="zh-CN" altLang="en-US" sz="4000" b="1" dirty="0">
                <a:solidFill>
                  <a:srgbClr val="E40000"/>
                </a:solidFill>
                <a:latin typeface="Arial" panose="020B0604020202020204" pitchFamily="34" charset="0"/>
              </a:rPr>
              <a:t>关系模式设计中的问题</a:t>
            </a:r>
            <a:endParaRPr lang="zh-CN" altLang="en-US" sz="4000" b="1" dirty="0">
              <a:solidFill>
                <a:srgbClr val="E40000"/>
              </a:solidFill>
              <a:latin typeface="Arial" panose="020B0604020202020204" pitchFamily="34" charset="0"/>
            </a:endParaRPr>
          </a:p>
        </p:txBody>
      </p:sp>
      <p:sp>
        <p:nvSpPr>
          <p:cNvPr id="7171" name="Rectangle 3"/>
          <p:cNvSpPr>
            <a:spLocks noGrp="1"/>
          </p:cNvSpPr>
          <p:nvPr>
            <p:ph idx="1"/>
          </p:nvPr>
        </p:nvSpPr>
        <p:spPr>
          <a:xfrm>
            <a:off x="827088" y="1916113"/>
            <a:ext cx="7777162" cy="4525962"/>
          </a:xfrm>
          <a:ln/>
        </p:spPr>
        <p:txBody>
          <a:bodyPr vert="horz" wrap="square" lIns="91440" tIns="45720" rIns="91440" bIns="45720" anchor="t" anchorCtr="0"/>
          <a:p>
            <a:pPr eaLnBrk="1" hangingPunct="1">
              <a:lnSpc>
                <a:spcPct val="80000"/>
              </a:lnSpc>
            </a:pPr>
            <a:r>
              <a:rPr lang="zh-CN" altLang="en-US" b="1" dirty="0"/>
              <a:t>前面我们已经讨论了关系数据库的基本概念、关系模型的三个部分以及关系数据库的标准语言</a:t>
            </a:r>
            <a:r>
              <a:rPr lang="en-US" altLang="zh-CN" b="1" dirty="0"/>
              <a:t>SQL</a:t>
            </a:r>
            <a:endParaRPr lang="zh-CN" altLang="en-US" b="1" dirty="0"/>
          </a:p>
          <a:p>
            <a:pPr eaLnBrk="1" hangingPunct="1">
              <a:lnSpc>
                <a:spcPct val="80000"/>
              </a:lnSpc>
            </a:pPr>
            <a:r>
              <a:rPr lang="zh-CN" altLang="en-US" b="1" dirty="0"/>
              <a:t>但是，还有一个基本问题尚未涉及，即针对一个具体的应用问题，应该如何构造一个适合于它的关系数据库模式？应该构造几个关系模式？每个关系由哪些属性组成？</a:t>
            </a:r>
            <a:endParaRPr lang="zh-CN" altLang="en-US" b="1" dirty="0"/>
          </a:p>
          <a:p>
            <a:pPr eaLnBrk="1" hangingPunct="1">
              <a:lnSpc>
                <a:spcPct val="80000"/>
              </a:lnSpc>
            </a:pPr>
            <a:r>
              <a:rPr lang="zh-CN" altLang="en-US" b="1" dirty="0"/>
              <a:t>本章的任务是研究设计一个“好”的（即没有“毛病”的）关系模式的方法</a:t>
            </a:r>
            <a:endParaRPr lang="zh-CN" alt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218" name="Rectangle 4"/>
          <p:cNvSpPr>
            <a:spLocks noGrp="1"/>
          </p:cNvSpPr>
          <p:nvPr>
            <p:ph type="title"/>
          </p:nvPr>
        </p:nvSpPr>
        <p:spPr>
          <a:xfrm>
            <a:off x="971550" y="404813"/>
            <a:ext cx="7086600" cy="731837"/>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实例分析</a:t>
            </a:r>
            <a:endParaRPr lang="zh-CN" altLang="en-US" sz="4000" b="1" dirty="0">
              <a:solidFill>
                <a:srgbClr val="E40000"/>
              </a:solidFill>
              <a:latin typeface="Arial" panose="020B0604020202020204" pitchFamily="34" charset="0"/>
            </a:endParaRPr>
          </a:p>
        </p:txBody>
      </p:sp>
      <p:sp>
        <p:nvSpPr>
          <p:cNvPr id="9219" name="Rectangle 5"/>
          <p:cNvSpPr/>
          <p:nvPr/>
        </p:nvSpPr>
        <p:spPr>
          <a:xfrm>
            <a:off x="539750" y="1412875"/>
            <a:ext cx="8007350"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lnSpc>
                <a:spcPct val="160000"/>
              </a:lnSpc>
            </a:pPr>
            <a:r>
              <a:rPr lang="zh-CN" altLang="en-US" b="1" dirty="0">
                <a:latin typeface="黑体" pitchFamily="49" charset="-122"/>
                <a:ea typeface="黑体" pitchFamily="49" charset="-122"/>
              </a:rPr>
              <a:t>前面章节中多次引用过的三个基本表：</a:t>
            </a:r>
            <a:endParaRPr lang="zh-CN" altLang="en-US" b="1" dirty="0">
              <a:latin typeface="黑体" pitchFamily="49" charset="-122"/>
              <a:ea typeface="黑体" pitchFamily="49" charset="-122"/>
            </a:endParaRPr>
          </a:p>
          <a:p>
            <a:pPr marL="273050" lvl="0" indent="-273050" eaLnBrk="1" hangingPunct="1">
              <a:lnSpc>
                <a:spcPct val="160000"/>
              </a:lnSpc>
              <a:buNone/>
            </a:pPr>
            <a:r>
              <a:rPr lang="en-US" altLang="zh-CN" sz="2000" dirty="0">
                <a:latin typeface="黑体" pitchFamily="49" charset="-122"/>
                <a:ea typeface="黑体" pitchFamily="49" charset="-122"/>
              </a:rPr>
              <a:t>   </a:t>
            </a:r>
            <a:r>
              <a:rPr lang="en-US" altLang="zh-CN" sz="2000" b="1" dirty="0">
                <a:latin typeface="黑体" pitchFamily="49" charset="-122"/>
                <a:ea typeface="黑体" pitchFamily="49" charset="-122"/>
              </a:rPr>
              <a:t>Student(S#</a:t>
            </a:r>
            <a:r>
              <a:rPr lang="zh-CN" altLang="en-US" sz="2000" b="1" dirty="0">
                <a:latin typeface="黑体" pitchFamily="49" charset="-122"/>
                <a:ea typeface="黑体" pitchFamily="49" charset="-122"/>
              </a:rPr>
              <a:t>，</a:t>
            </a:r>
            <a:r>
              <a:rPr lang="en-US" altLang="zh-CN" sz="2000" b="1" dirty="0">
                <a:latin typeface="黑体" pitchFamily="49" charset="-122"/>
                <a:ea typeface="黑体" pitchFamily="49" charset="-122"/>
              </a:rPr>
              <a:t>Class</a:t>
            </a:r>
            <a:r>
              <a:rPr lang="zh-CN" altLang="en-US" sz="2000" b="1" dirty="0">
                <a:latin typeface="黑体" pitchFamily="49" charset="-122"/>
                <a:ea typeface="黑体" pitchFamily="49" charset="-122"/>
              </a:rPr>
              <a:t>，</a:t>
            </a:r>
            <a:r>
              <a:rPr lang="en-US" altLang="zh-CN" sz="2000" b="1" dirty="0">
                <a:latin typeface="黑体" pitchFamily="49" charset="-122"/>
                <a:ea typeface="黑体" pitchFamily="49" charset="-122"/>
              </a:rPr>
              <a:t>Sname</a:t>
            </a:r>
            <a:r>
              <a:rPr lang="zh-CN" altLang="en-US" sz="2000" b="1" dirty="0">
                <a:latin typeface="黑体" pitchFamily="49" charset="-122"/>
                <a:ea typeface="黑体" pitchFamily="49" charset="-122"/>
              </a:rPr>
              <a:t>，</a:t>
            </a:r>
            <a:r>
              <a:rPr lang="en-US" altLang="zh-CN" sz="2000" b="1" dirty="0">
                <a:ea typeface="黑体" pitchFamily="49" charset="-122"/>
              </a:rPr>
              <a:t>…</a:t>
            </a:r>
            <a:r>
              <a:rPr lang="en-US" altLang="zh-CN" sz="2000" b="1" dirty="0">
                <a:latin typeface="黑体" pitchFamily="49" charset="-122"/>
                <a:ea typeface="黑体" pitchFamily="49" charset="-122"/>
              </a:rPr>
              <a:t>)</a:t>
            </a:r>
            <a:r>
              <a:rPr lang="zh-CN" altLang="en-US" sz="2000" b="1" dirty="0">
                <a:latin typeface="黑体" pitchFamily="49" charset="-122"/>
                <a:ea typeface="黑体" pitchFamily="49" charset="-122"/>
              </a:rPr>
              <a:t>、</a:t>
            </a:r>
            <a:endParaRPr lang="zh-CN" altLang="en-US" sz="2000" b="1" dirty="0">
              <a:latin typeface="黑体" pitchFamily="49" charset="-122"/>
              <a:ea typeface="黑体" pitchFamily="49" charset="-122"/>
            </a:endParaRPr>
          </a:p>
          <a:p>
            <a:pPr marL="273050" lvl="0" indent="-273050" eaLnBrk="1" hangingPunct="1">
              <a:lnSpc>
                <a:spcPct val="160000"/>
              </a:lnSpc>
              <a:buNone/>
            </a:pPr>
            <a:r>
              <a:rPr lang="en-US" altLang="zh-CN" sz="2000" b="1" dirty="0">
                <a:latin typeface="黑体" pitchFamily="49" charset="-122"/>
                <a:ea typeface="黑体" pitchFamily="49" charset="-122"/>
              </a:rPr>
              <a:t>   Course(C#</a:t>
            </a:r>
            <a:r>
              <a:rPr lang="zh-CN" altLang="en-US" sz="2000" b="1" dirty="0">
                <a:latin typeface="黑体" pitchFamily="49" charset="-122"/>
                <a:ea typeface="黑体" pitchFamily="49" charset="-122"/>
              </a:rPr>
              <a:t>，</a:t>
            </a:r>
            <a:r>
              <a:rPr lang="en-US" altLang="zh-CN" sz="2000" b="1" dirty="0">
                <a:latin typeface="黑体" pitchFamily="49" charset="-122"/>
                <a:ea typeface="黑体" pitchFamily="49" charset="-122"/>
              </a:rPr>
              <a:t>Cname</a:t>
            </a:r>
            <a:r>
              <a:rPr lang="zh-CN" altLang="en-US" sz="2000" b="1" dirty="0">
                <a:latin typeface="黑体" pitchFamily="49" charset="-122"/>
                <a:ea typeface="黑体" pitchFamily="49" charset="-122"/>
              </a:rPr>
              <a:t>，</a:t>
            </a:r>
            <a:r>
              <a:rPr lang="en-US" altLang="zh-CN" sz="2000" b="1" dirty="0">
                <a:latin typeface="黑体" pitchFamily="49" charset="-122"/>
                <a:ea typeface="黑体" pitchFamily="49" charset="-122"/>
              </a:rPr>
              <a:t>Teacher)</a:t>
            </a:r>
            <a:r>
              <a:rPr lang="zh-CN" altLang="en-US" sz="2000" b="1" dirty="0">
                <a:latin typeface="黑体" pitchFamily="49" charset="-122"/>
                <a:ea typeface="黑体" pitchFamily="49" charset="-122"/>
              </a:rPr>
              <a:t>、</a:t>
            </a:r>
            <a:endParaRPr lang="zh-CN" altLang="en-US" sz="2000" b="1" dirty="0">
              <a:latin typeface="黑体" pitchFamily="49" charset="-122"/>
              <a:ea typeface="黑体" pitchFamily="49" charset="-122"/>
            </a:endParaRPr>
          </a:p>
          <a:p>
            <a:pPr marL="273050" lvl="0" indent="-273050" eaLnBrk="1" hangingPunct="1">
              <a:lnSpc>
                <a:spcPct val="160000"/>
              </a:lnSpc>
              <a:buNone/>
            </a:pPr>
            <a:r>
              <a:rPr lang="en-US" altLang="zh-CN" sz="2000" b="1" dirty="0">
                <a:latin typeface="黑体" pitchFamily="49" charset="-122"/>
                <a:ea typeface="黑体" pitchFamily="49" charset="-122"/>
              </a:rPr>
              <a:t>   SC(S#</a:t>
            </a:r>
            <a:r>
              <a:rPr lang="zh-CN" altLang="en-US" sz="2000" b="1" dirty="0">
                <a:latin typeface="黑体" pitchFamily="49" charset="-122"/>
                <a:ea typeface="黑体" pitchFamily="49" charset="-122"/>
              </a:rPr>
              <a:t>，</a:t>
            </a:r>
            <a:r>
              <a:rPr lang="en-US" altLang="zh-CN" sz="2000" b="1" dirty="0">
                <a:latin typeface="黑体" pitchFamily="49" charset="-122"/>
                <a:ea typeface="黑体" pitchFamily="49" charset="-122"/>
              </a:rPr>
              <a:t>C#</a:t>
            </a:r>
            <a:r>
              <a:rPr lang="zh-CN" altLang="en-US" sz="2000" b="1" dirty="0">
                <a:latin typeface="黑体" pitchFamily="49" charset="-122"/>
                <a:ea typeface="黑体" pitchFamily="49" charset="-122"/>
              </a:rPr>
              <a:t>，</a:t>
            </a:r>
            <a:r>
              <a:rPr lang="en-US" altLang="zh-CN" sz="2000" b="1" dirty="0">
                <a:latin typeface="黑体" pitchFamily="49" charset="-122"/>
                <a:ea typeface="黑体" pitchFamily="49" charset="-122"/>
              </a:rPr>
              <a:t>Grade)</a:t>
            </a:r>
            <a:endParaRPr lang="en-US" altLang="zh-CN" sz="2000" b="1" dirty="0">
              <a:latin typeface="黑体" pitchFamily="49" charset="-122"/>
              <a:ea typeface="黑体" pitchFamily="49" charset="-122"/>
            </a:endParaRPr>
          </a:p>
          <a:p>
            <a:pPr marL="273050" lvl="0" indent="-273050" eaLnBrk="1" hangingPunct="1">
              <a:lnSpc>
                <a:spcPct val="160000"/>
              </a:lnSpc>
            </a:pPr>
            <a:r>
              <a:rPr lang="zh-CN" altLang="en-US" b="1" dirty="0">
                <a:latin typeface="黑体" pitchFamily="49" charset="-122"/>
                <a:ea typeface="黑体" pitchFamily="49" charset="-122"/>
              </a:rPr>
              <a:t>对于这个应用而言，为什么仅设计了这三个表，如果将这三个表合并成一个或两个表，或者将其拆分为更多的表，这样是否更合适？</a:t>
            </a:r>
            <a:endParaRPr lang="zh-CN" altLang="en-US" b="1" dirty="0">
              <a:latin typeface="黑体" pitchFamily="49" charset="-122"/>
              <a:ea typeface="黑体"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11266" name="Group 5"/>
          <p:cNvGrpSpPr/>
          <p:nvPr/>
        </p:nvGrpSpPr>
        <p:grpSpPr>
          <a:xfrm>
            <a:off x="1187450" y="3355975"/>
            <a:ext cx="7056438" cy="3168650"/>
            <a:chOff x="4140" y="1908"/>
            <a:chExt cx="3804" cy="2652"/>
          </a:xfrm>
        </p:grpSpPr>
        <p:sp>
          <p:nvSpPr>
            <p:cNvPr id="11269" name="Text Box 6"/>
            <p:cNvSpPr txBox="1"/>
            <p:nvPr/>
          </p:nvSpPr>
          <p:spPr>
            <a:xfrm>
              <a:off x="4140" y="1908"/>
              <a:ext cx="72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S#</a:t>
              </a:r>
              <a:endParaRPr lang="en-US" altLang="zh-CN" sz="2400" dirty="0">
                <a:latin typeface="Arial" panose="020B0604020202020204" pitchFamily="34" charset="0"/>
              </a:endParaRPr>
            </a:p>
          </p:txBody>
        </p:sp>
        <p:sp>
          <p:nvSpPr>
            <p:cNvPr id="11270" name="Text Box 7"/>
            <p:cNvSpPr txBox="1"/>
            <p:nvPr/>
          </p:nvSpPr>
          <p:spPr>
            <a:xfrm>
              <a:off x="5220" y="1908"/>
              <a:ext cx="72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C#</a:t>
              </a:r>
              <a:endParaRPr lang="en-US" altLang="zh-CN" sz="2400" dirty="0">
                <a:latin typeface="Arial" panose="020B0604020202020204" pitchFamily="34" charset="0"/>
              </a:endParaRPr>
            </a:p>
          </p:txBody>
        </p:sp>
        <p:sp>
          <p:nvSpPr>
            <p:cNvPr id="11271" name="Line 8"/>
            <p:cNvSpPr/>
            <p:nvPr/>
          </p:nvSpPr>
          <p:spPr>
            <a:xfrm>
              <a:off x="4500" y="2376"/>
              <a:ext cx="0" cy="468"/>
            </a:xfrm>
            <a:prstGeom prst="line">
              <a:avLst/>
            </a:prstGeom>
            <a:ln w="9525" cap="flat" cmpd="sng">
              <a:solidFill>
                <a:srgbClr val="000000"/>
              </a:solidFill>
              <a:prstDash val="solid"/>
              <a:headEnd type="none" w="med" len="med"/>
              <a:tailEnd type="none" w="med" len="med"/>
            </a:ln>
          </p:spPr>
        </p:sp>
        <p:sp>
          <p:nvSpPr>
            <p:cNvPr id="11272" name="Line 9"/>
            <p:cNvSpPr/>
            <p:nvPr/>
          </p:nvSpPr>
          <p:spPr>
            <a:xfrm>
              <a:off x="5580" y="2376"/>
              <a:ext cx="0" cy="468"/>
            </a:xfrm>
            <a:prstGeom prst="line">
              <a:avLst/>
            </a:prstGeom>
            <a:ln w="9525" cap="flat" cmpd="sng">
              <a:solidFill>
                <a:srgbClr val="000000"/>
              </a:solidFill>
              <a:prstDash val="solid"/>
              <a:headEnd type="none" w="med" len="med"/>
              <a:tailEnd type="none" w="med" len="med"/>
            </a:ln>
          </p:spPr>
        </p:sp>
        <p:sp>
          <p:nvSpPr>
            <p:cNvPr id="11273" name="Line 10"/>
            <p:cNvSpPr/>
            <p:nvPr/>
          </p:nvSpPr>
          <p:spPr>
            <a:xfrm>
              <a:off x="4500" y="2844"/>
              <a:ext cx="1080" cy="0"/>
            </a:xfrm>
            <a:prstGeom prst="line">
              <a:avLst/>
            </a:prstGeom>
            <a:ln w="9525" cap="flat" cmpd="sng">
              <a:solidFill>
                <a:srgbClr val="000000"/>
              </a:solidFill>
              <a:prstDash val="solid"/>
              <a:headEnd type="none" w="med" len="med"/>
              <a:tailEnd type="none" w="med" len="med"/>
            </a:ln>
          </p:spPr>
        </p:sp>
        <p:sp>
          <p:nvSpPr>
            <p:cNvPr id="11274" name="Line 11"/>
            <p:cNvSpPr/>
            <p:nvPr/>
          </p:nvSpPr>
          <p:spPr>
            <a:xfrm>
              <a:off x="5040" y="2844"/>
              <a:ext cx="0" cy="468"/>
            </a:xfrm>
            <a:prstGeom prst="line">
              <a:avLst/>
            </a:prstGeom>
            <a:ln w="9525" cap="flat" cmpd="sng">
              <a:solidFill>
                <a:srgbClr val="000000"/>
              </a:solidFill>
              <a:prstDash val="solid"/>
              <a:headEnd type="none" w="med" len="med"/>
              <a:tailEnd type="triangle" w="med" len="med"/>
            </a:ln>
          </p:spPr>
        </p:sp>
        <p:sp>
          <p:nvSpPr>
            <p:cNvPr id="11275" name="Text Box 12"/>
            <p:cNvSpPr txBox="1"/>
            <p:nvPr/>
          </p:nvSpPr>
          <p:spPr>
            <a:xfrm>
              <a:off x="4584" y="3312"/>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Grade</a:t>
              </a:r>
              <a:endParaRPr lang="en-US" altLang="zh-CN" sz="2400" dirty="0">
                <a:latin typeface="Arial" panose="020B0604020202020204" pitchFamily="34" charset="0"/>
              </a:endParaRPr>
            </a:p>
          </p:txBody>
        </p:sp>
        <p:sp>
          <p:nvSpPr>
            <p:cNvPr id="11276" name="Line 13"/>
            <p:cNvSpPr/>
            <p:nvPr/>
          </p:nvSpPr>
          <p:spPr>
            <a:xfrm>
              <a:off x="5940" y="2136"/>
              <a:ext cx="1080" cy="0"/>
            </a:xfrm>
            <a:prstGeom prst="line">
              <a:avLst/>
            </a:prstGeom>
            <a:ln w="9525" cap="flat" cmpd="sng">
              <a:solidFill>
                <a:srgbClr val="000000"/>
              </a:solidFill>
              <a:prstDash val="solid"/>
              <a:headEnd type="none" w="med" len="med"/>
              <a:tailEnd type="triangle" w="med" len="med"/>
            </a:ln>
          </p:spPr>
        </p:sp>
        <p:sp>
          <p:nvSpPr>
            <p:cNvPr id="11277" name="Text Box 14"/>
            <p:cNvSpPr txBox="1"/>
            <p:nvPr/>
          </p:nvSpPr>
          <p:spPr>
            <a:xfrm>
              <a:off x="7044" y="1911"/>
              <a:ext cx="876" cy="468"/>
            </a:xfrm>
            <a:prstGeom prst="rect">
              <a:avLst/>
            </a:prstGeom>
            <a:solidFill>
              <a:srgbClr val="FFFFFF"/>
            </a:solidFill>
            <a:ln w="9525" cap="flat" cmpd="sng">
              <a:solidFill>
                <a:srgbClr val="000000"/>
              </a:solidFill>
              <a:prstDash val="solid"/>
              <a:miter/>
              <a:headEnd type="none" w="med" len="med"/>
              <a:tailEnd type="none" w="med" len="med"/>
            </a:ln>
          </p:spPr>
          <p:txBody>
            <a:bodyPr lIns="0" rIns="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Teacher</a:t>
              </a:r>
              <a:endParaRPr lang="en-US" altLang="zh-CN" sz="2400" dirty="0">
                <a:latin typeface="Arial" panose="020B0604020202020204" pitchFamily="34" charset="0"/>
              </a:endParaRPr>
            </a:p>
          </p:txBody>
        </p:sp>
        <p:sp>
          <p:nvSpPr>
            <p:cNvPr id="11278" name="Line 15"/>
            <p:cNvSpPr/>
            <p:nvPr/>
          </p:nvSpPr>
          <p:spPr>
            <a:xfrm>
              <a:off x="7500" y="2388"/>
              <a:ext cx="0" cy="936"/>
            </a:xfrm>
            <a:prstGeom prst="line">
              <a:avLst/>
            </a:prstGeom>
            <a:ln w="9525" cap="flat" cmpd="sng">
              <a:solidFill>
                <a:srgbClr val="000000"/>
              </a:solidFill>
              <a:prstDash val="solid"/>
              <a:headEnd type="none" w="med" len="med"/>
              <a:tailEnd type="triangle" w="med" len="med"/>
            </a:ln>
          </p:spPr>
        </p:sp>
        <p:sp>
          <p:nvSpPr>
            <p:cNvPr id="11279" name="Text Box 16"/>
            <p:cNvSpPr txBox="1"/>
            <p:nvPr/>
          </p:nvSpPr>
          <p:spPr>
            <a:xfrm>
              <a:off x="7044" y="3348"/>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Dept</a:t>
              </a:r>
              <a:endParaRPr lang="en-US" altLang="zh-CN" sz="2400" dirty="0">
                <a:latin typeface="Arial" panose="020B0604020202020204" pitchFamily="34" charset="0"/>
              </a:endParaRPr>
            </a:p>
          </p:txBody>
        </p:sp>
        <p:sp>
          <p:nvSpPr>
            <p:cNvPr id="11280" name="Text Box 17"/>
            <p:cNvSpPr txBox="1"/>
            <p:nvPr/>
          </p:nvSpPr>
          <p:spPr>
            <a:xfrm>
              <a:off x="4140" y="4092"/>
              <a:ext cx="3780" cy="468"/>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2400" b="1" dirty="0">
                  <a:latin typeface="Times New Roman" panose="02020603050405020304" pitchFamily="18" charset="0"/>
                </a:rPr>
                <a:t>图</a:t>
              </a:r>
              <a:r>
                <a:rPr lang="en-US" altLang="zh-CN" sz="2400" b="1" dirty="0">
                  <a:latin typeface="Times New Roman" panose="02020603050405020304" pitchFamily="18" charset="0"/>
                </a:rPr>
                <a:t>4.1</a:t>
              </a:r>
              <a:r>
                <a:rPr lang="zh-CN" altLang="en-US" sz="2400" b="1" dirty="0">
                  <a:latin typeface="Times New Roman" panose="02020603050405020304" pitchFamily="18" charset="0"/>
                </a:rPr>
                <a:t>关系模式</a:t>
              </a:r>
              <a:r>
                <a:rPr lang="en-US" altLang="zh-CN" sz="2400" b="1" dirty="0">
                  <a:latin typeface="Times New Roman" panose="02020603050405020304" pitchFamily="18" charset="0"/>
                </a:rPr>
                <a:t>SCT</a:t>
              </a:r>
              <a:r>
                <a:rPr lang="zh-CN" altLang="en-US" sz="2400" b="1" dirty="0">
                  <a:latin typeface="Times New Roman" panose="02020603050405020304" pitchFamily="18" charset="0"/>
                </a:rPr>
                <a:t>属性间依赖关系</a:t>
              </a:r>
              <a:endParaRPr lang="zh-CN" altLang="en-US" sz="2400" b="1" dirty="0">
                <a:latin typeface="Arial" panose="020B0604020202020204" pitchFamily="34" charset="0"/>
              </a:endParaRPr>
            </a:p>
          </p:txBody>
        </p:sp>
      </p:grpSp>
      <p:sp>
        <p:nvSpPr>
          <p:cNvPr id="11267" name="Rectangle 35"/>
          <p:cNvSpPr>
            <a:spLocks noGrp="1"/>
          </p:cNvSpPr>
          <p:nvPr>
            <p:ph type="title"/>
          </p:nvPr>
        </p:nvSpPr>
        <p:spPr>
          <a:xfrm>
            <a:off x="1042988" y="404813"/>
            <a:ext cx="7086600" cy="731837"/>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实例分析</a:t>
            </a:r>
            <a:endParaRPr lang="zh-CN" altLang="en-US" sz="4000" b="1" dirty="0">
              <a:solidFill>
                <a:srgbClr val="E40000"/>
              </a:solidFill>
              <a:latin typeface="Arial" panose="020B0604020202020204" pitchFamily="34" charset="0"/>
            </a:endParaRPr>
          </a:p>
        </p:txBody>
      </p:sp>
      <p:sp>
        <p:nvSpPr>
          <p:cNvPr id="11268" name="Rectangle 36"/>
          <p:cNvSpPr/>
          <p:nvPr/>
        </p:nvSpPr>
        <p:spPr>
          <a:xfrm>
            <a:off x="539750" y="1412875"/>
            <a:ext cx="8007350" cy="1439863"/>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lnSpc>
                <a:spcPct val="160000"/>
              </a:lnSpc>
            </a:pPr>
            <a:r>
              <a:rPr lang="zh-CN" altLang="en-US" b="1" dirty="0">
                <a:latin typeface="黑体" pitchFamily="49" charset="-122"/>
                <a:ea typeface="黑体" pitchFamily="49" charset="-122"/>
              </a:rPr>
              <a:t>考虑下面的关系模式</a:t>
            </a:r>
            <a:r>
              <a:rPr lang="en-US" altLang="zh-CN" b="1" dirty="0">
                <a:latin typeface="黑体" pitchFamily="49" charset="-122"/>
                <a:ea typeface="黑体" pitchFamily="49" charset="-122"/>
              </a:rPr>
              <a:t>SCT:</a:t>
            </a:r>
            <a:endParaRPr lang="en-US" altLang="zh-CN" b="1" dirty="0">
              <a:latin typeface="黑体" pitchFamily="49" charset="-122"/>
              <a:ea typeface="黑体" pitchFamily="49" charset="-122"/>
            </a:endParaRPr>
          </a:p>
          <a:p>
            <a:pPr marL="273050" lvl="0" indent="-273050" eaLnBrk="1" hangingPunct="1">
              <a:lnSpc>
                <a:spcPct val="160000"/>
              </a:lnSpc>
              <a:buNone/>
            </a:pPr>
            <a:r>
              <a:rPr lang="en-US" altLang="zh-CN" sz="2400" b="1" dirty="0"/>
              <a:t>    SCT(S#,C#,Grade,Teacher,Dept)</a:t>
            </a:r>
            <a:endParaRPr lang="zh-CN" altLang="en-US"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11555" name="Group 291"/>
          <p:cNvGraphicFramePr>
            <a:graphicFrameLocks noGrp="1"/>
          </p:cNvGraphicFramePr>
          <p:nvPr/>
        </p:nvGraphicFramePr>
        <p:xfrm>
          <a:off x="1331913" y="1916113"/>
          <a:ext cx="6481763" cy="2536825"/>
        </p:xfrm>
        <a:graphic>
          <a:graphicData uri="http://schemas.openxmlformats.org/drawingml/2006/table">
            <a:tbl>
              <a:tblPr/>
              <a:tblGrid>
                <a:gridCol w="1211262"/>
                <a:gridCol w="1363663"/>
                <a:gridCol w="1187450"/>
                <a:gridCol w="1363662"/>
                <a:gridCol w="1355725"/>
              </a:tblGrid>
              <a:tr h="439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S#</a:t>
                      </a:r>
                      <a:endPar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Grade</a:t>
                      </a:r>
                      <a:endPar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Teacher</a:t>
                      </a:r>
                      <a:endPar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Dept</a:t>
                      </a:r>
                      <a:endParaRPr kumimoji="0" lang="en-US" altLang="zh-CN" sz="2000" b="1"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09708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02055019</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02055019</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02055037</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02055066</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02055066</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a:ea typeface="黑体" pitchFamily="49"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CS</a:t>
                      </a:r>
                      <a:r>
                        <a:rPr kumimoji="0" lang="zh-CN" altLang="en-US"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a:t>
                      </a: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01</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CS</a:t>
                      </a:r>
                      <a:r>
                        <a:rPr kumimoji="0" lang="zh-CN" altLang="en-US"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a:t>
                      </a: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03</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CS</a:t>
                      </a:r>
                      <a:r>
                        <a:rPr kumimoji="0" lang="zh-CN" altLang="en-US"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a:t>
                      </a: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01</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CS</a:t>
                      </a:r>
                      <a:r>
                        <a:rPr kumimoji="0" lang="zh-CN" altLang="en-US"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a:t>
                      </a: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02</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CS</a:t>
                      </a:r>
                      <a:r>
                        <a:rPr kumimoji="0" lang="zh-CN" altLang="en-US"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a:t>
                      </a: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03</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a:ea typeface="黑体" pitchFamily="49"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89</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86</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68</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92</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73</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a:ea typeface="黑体" pitchFamily="49"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rgbClr val="FF6600"/>
                          </a:solidFill>
                          <a:effectLst/>
                          <a:latin typeface="黑体" pitchFamily="49" charset="-122"/>
                          <a:ea typeface="黑体" pitchFamily="49" charset="-122"/>
                          <a:cs typeface="Times New Roman" panose="02020603050405020304" pitchFamily="18" charset="0"/>
                        </a:rPr>
                        <a:t>刘朝</a:t>
                      </a:r>
                      <a:endParaRPr kumimoji="0" lang="zh-CN" altLang="en-US" sz="2000" b="1" i="0" u="none" strike="noStrike" cap="none" normalizeH="0" baseline="0">
                        <a:ln>
                          <a:noFill/>
                        </a:ln>
                        <a:solidFill>
                          <a:srgbClr val="FF6600"/>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FF0000"/>
                          </a:solidFill>
                          <a:effectLst/>
                          <a:latin typeface="黑体" pitchFamily="49" charset="-122"/>
                          <a:ea typeface="黑体" pitchFamily="49" charset="-122"/>
                          <a:cs typeface="Times New Roman" panose="02020603050405020304" pitchFamily="18" charset="0"/>
                        </a:rPr>
                        <a:t>张莹</a:t>
                      </a:r>
                      <a:endParaRPr kumimoji="0" lang="zh-CN" altLang="en-US" sz="2000" b="0" i="0" u="none" strike="noStrike" cap="none" normalizeH="0" baseline="0">
                        <a:ln>
                          <a:noFill/>
                        </a:ln>
                        <a:solidFill>
                          <a:srgbClr val="FF0000"/>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rgbClr val="FF6600"/>
                          </a:solidFill>
                          <a:effectLst/>
                          <a:latin typeface="黑体" pitchFamily="49" charset="-122"/>
                          <a:ea typeface="黑体" pitchFamily="49" charset="-122"/>
                          <a:cs typeface="Times New Roman" panose="02020603050405020304" pitchFamily="18" charset="0"/>
                        </a:rPr>
                        <a:t>刘朝</a:t>
                      </a:r>
                      <a:endParaRPr kumimoji="0" lang="zh-CN" altLang="en-US" sz="2000" b="1" i="0" u="none" strike="noStrike" cap="none" normalizeH="0" baseline="0">
                        <a:ln>
                          <a:noFill/>
                        </a:ln>
                        <a:solidFill>
                          <a:srgbClr val="FF6600"/>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rPr>
                        <a:t>林琳</a:t>
                      </a:r>
                      <a:endParaRPr kumimoji="0" lang="zh-CN" altLang="en-US"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FF0000"/>
                          </a:solidFill>
                          <a:effectLst/>
                          <a:latin typeface="黑体" pitchFamily="49" charset="-122"/>
                          <a:ea typeface="黑体" pitchFamily="49" charset="-122"/>
                          <a:cs typeface="Times New Roman" panose="02020603050405020304" pitchFamily="18" charset="0"/>
                        </a:rPr>
                        <a:t>张莹</a:t>
                      </a:r>
                      <a:endParaRPr kumimoji="0" lang="zh-CN" altLang="en-US" sz="2000" b="0" i="0" u="none" strike="noStrike" cap="none" normalizeH="0" baseline="0">
                        <a:ln>
                          <a:noFill/>
                        </a:ln>
                        <a:solidFill>
                          <a:srgbClr val="FF0000"/>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a:ea typeface="黑体" pitchFamily="49"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rPr>
                        <a:t>计算机</a:t>
                      </a:r>
                      <a:endPar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rPr>
                        <a:t>计算机</a:t>
                      </a:r>
                      <a:endPar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rPr>
                        <a:t>计算机</a:t>
                      </a:r>
                      <a:endPar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rPr>
                        <a:t>计算机</a:t>
                      </a:r>
                      <a:endPar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rPr>
                        <a:t>计算机</a:t>
                      </a:r>
                      <a:endParaRPr kumimoji="0" lang="zh-CN" altLang="en-US" sz="2000" b="0" i="0" u="none" strike="noStrike" cap="none" normalizeH="0" baseline="0">
                        <a:ln>
                          <a:noFill/>
                        </a:ln>
                        <a:solidFill>
                          <a:srgbClr val="3366FF"/>
                        </a:solidFill>
                        <a:effectLst/>
                        <a:latin typeface="黑体" pitchFamily="49" charset="-122"/>
                        <a:ea typeface="黑体"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a:ea typeface="黑体" pitchFamily="49"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黑体" pitchFamily="49" charset="-122"/>
                        <a:ea typeface="黑体"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3334" name="Rectangle 283"/>
          <p:cNvSpPr/>
          <p:nvPr/>
        </p:nvSpPr>
        <p:spPr>
          <a:xfrm>
            <a:off x="2587625" y="4792663"/>
            <a:ext cx="3917950" cy="51911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b="1" dirty="0">
                <a:latin typeface="黑体" pitchFamily="49" charset="-122"/>
                <a:ea typeface="黑体" pitchFamily="49" charset="-122"/>
              </a:rPr>
              <a:t>图</a:t>
            </a:r>
            <a:r>
              <a:rPr lang="en-US" altLang="zh-CN" b="1" dirty="0">
                <a:latin typeface="黑体" pitchFamily="49" charset="-122"/>
                <a:ea typeface="黑体" pitchFamily="49" charset="-122"/>
              </a:rPr>
              <a:t>4.2 </a:t>
            </a:r>
            <a:r>
              <a:rPr lang="zh-CN" altLang="en-US" b="1" dirty="0">
                <a:latin typeface="黑体" pitchFamily="49" charset="-122"/>
                <a:ea typeface="黑体" pitchFamily="49" charset="-122"/>
              </a:rPr>
              <a:t>关系模式</a:t>
            </a:r>
            <a:r>
              <a:rPr lang="en-US" altLang="zh-CN" b="1" dirty="0">
                <a:latin typeface="黑体" pitchFamily="49" charset="-122"/>
                <a:ea typeface="黑体" pitchFamily="49" charset="-122"/>
              </a:rPr>
              <a:t>SCT</a:t>
            </a:r>
            <a:r>
              <a:rPr lang="zh-CN" altLang="en-US" b="1" dirty="0">
                <a:latin typeface="黑体" pitchFamily="49" charset="-122"/>
                <a:ea typeface="黑体" pitchFamily="49" charset="-122"/>
              </a:rPr>
              <a:t>实例</a:t>
            </a:r>
            <a:endParaRPr lang="zh-CN" altLang="en-US" b="1" dirty="0">
              <a:latin typeface="黑体" pitchFamily="49" charset="-122"/>
              <a:ea typeface="黑体" pitchFamily="49" charset="-122"/>
            </a:endParaRPr>
          </a:p>
        </p:txBody>
      </p:sp>
      <p:sp>
        <p:nvSpPr>
          <p:cNvPr id="13335" name="Rectangle 286"/>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实例分析</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362" name="Rectangle 5"/>
          <p:cNvSpPr/>
          <p:nvPr/>
        </p:nvSpPr>
        <p:spPr>
          <a:xfrm>
            <a:off x="1042988" y="1773238"/>
            <a:ext cx="7575550" cy="4535487"/>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533400" lvl="0" indent="-533400" eaLnBrk="1" hangingPunct="1">
              <a:lnSpc>
                <a:spcPct val="125000"/>
              </a:lnSpc>
            </a:pPr>
            <a:r>
              <a:rPr lang="zh-CN" altLang="zh-CN" sz="3200" b="1" dirty="0">
                <a:latin typeface="黑体" pitchFamily="49" charset="-122"/>
                <a:ea typeface="黑体" pitchFamily="49" charset="-122"/>
              </a:rPr>
              <a:t>关系模式SCT</a:t>
            </a:r>
            <a:r>
              <a:rPr lang="zh-CN" altLang="en-US" sz="3200" b="1" dirty="0">
                <a:latin typeface="黑体" pitchFamily="49" charset="-122"/>
                <a:ea typeface="黑体" pitchFamily="49" charset="-122"/>
              </a:rPr>
              <a:t>存在</a:t>
            </a:r>
            <a:r>
              <a:rPr lang="zh-CN" altLang="zh-CN" sz="3200" b="1" dirty="0">
                <a:latin typeface="黑体" pitchFamily="49" charset="-122"/>
                <a:ea typeface="黑体" pitchFamily="49" charset="-122"/>
              </a:rPr>
              <a:t>的问题：</a:t>
            </a:r>
            <a:r>
              <a:rPr lang="zh-CN" altLang="zh-CN" sz="3600" b="1" dirty="0"/>
              <a:t> </a:t>
            </a:r>
            <a:endParaRPr lang="zh-CN" altLang="en-US" sz="3600" b="1" dirty="0"/>
          </a:p>
          <a:p>
            <a:pPr marL="1341755" lvl="1" indent="-533400" eaLnBrk="1" hangingPunct="1">
              <a:lnSpc>
                <a:spcPct val="180000"/>
              </a:lnSpc>
              <a:buClr>
                <a:srgbClr val="E40000"/>
              </a:buClr>
              <a:buFont typeface="Wingdings" panose="05000000000000000000" pitchFamily="2" charset="2"/>
              <a:buAutoNum type="arabicPeriod"/>
            </a:pPr>
            <a:r>
              <a:rPr lang="zh-CN" altLang="zh-CN" sz="2800" b="1" dirty="0"/>
              <a:t>数据冗余</a:t>
            </a:r>
            <a:r>
              <a:rPr lang="zh-CN" altLang="en-US" sz="2800" b="1" dirty="0"/>
              <a:t>(</a:t>
            </a:r>
            <a:r>
              <a:rPr lang="en-US" altLang="zh-CN" sz="2800" b="1" dirty="0"/>
              <a:t>R</a:t>
            </a:r>
            <a:r>
              <a:rPr lang="zh-CN" altLang="zh-CN" sz="2800" b="1" dirty="0"/>
              <a:t>edundancy</a:t>
            </a:r>
            <a:r>
              <a:rPr lang="en-US" altLang="zh-CN" sz="2800" b="1" dirty="0"/>
              <a:t>)</a:t>
            </a:r>
            <a:endParaRPr lang="zh-CN" altLang="zh-CN" sz="2800" b="1" dirty="0"/>
          </a:p>
          <a:p>
            <a:pPr marL="1341755" lvl="1" indent="-533400" eaLnBrk="1" hangingPunct="1">
              <a:lnSpc>
                <a:spcPct val="150000"/>
              </a:lnSpc>
              <a:buNone/>
            </a:pPr>
            <a:r>
              <a:rPr lang="en-US" altLang="zh-CN" sz="2800" b="1" dirty="0"/>
              <a:t>2. </a:t>
            </a:r>
            <a:r>
              <a:rPr lang="zh-CN" altLang="en-US" sz="2800" b="1" dirty="0"/>
              <a:t>更新异常</a:t>
            </a:r>
            <a:r>
              <a:rPr lang="en-US" altLang="zh-CN" sz="2800" b="1" dirty="0"/>
              <a:t>(Update Anomalies)</a:t>
            </a:r>
            <a:endParaRPr lang="zh-CN" altLang="en-US" sz="2800" b="1" dirty="0"/>
          </a:p>
          <a:p>
            <a:pPr marL="1341755" lvl="1" indent="-533400" eaLnBrk="1" hangingPunct="1">
              <a:lnSpc>
                <a:spcPct val="150000"/>
              </a:lnSpc>
              <a:buNone/>
            </a:pPr>
            <a:r>
              <a:rPr lang="en-US" altLang="zh-CN" sz="2800" b="1" dirty="0"/>
              <a:t>3. </a:t>
            </a:r>
            <a:r>
              <a:rPr lang="zh-CN" altLang="en-US" sz="2800" b="1" dirty="0"/>
              <a:t>插入异常</a:t>
            </a:r>
            <a:r>
              <a:rPr lang="en-US" altLang="zh-CN" sz="2800" b="1" dirty="0"/>
              <a:t>(Insertion Anomalies)</a:t>
            </a:r>
            <a:endParaRPr lang="zh-CN" altLang="en-US" sz="2800" b="1" dirty="0"/>
          </a:p>
          <a:p>
            <a:pPr marL="1341755" lvl="1" indent="-533400" eaLnBrk="1" hangingPunct="1">
              <a:lnSpc>
                <a:spcPct val="150000"/>
              </a:lnSpc>
              <a:buNone/>
            </a:pPr>
            <a:r>
              <a:rPr lang="en-US" altLang="zh-CN" sz="2800" b="1" dirty="0"/>
              <a:t>4. </a:t>
            </a:r>
            <a:r>
              <a:rPr lang="zh-CN" altLang="en-US" sz="2800" b="1" dirty="0"/>
              <a:t>删除异常</a:t>
            </a:r>
            <a:r>
              <a:rPr lang="en-US" altLang="zh-CN" sz="2800" b="1" dirty="0"/>
              <a:t>(Deletion Anomalies)</a:t>
            </a:r>
            <a:endParaRPr lang="zh-CN" altLang="en-US" sz="2800" b="1" dirty="0"/>
          </a:p>
        </p:txBody>
      </p:sp>
      <p:sp>
        <p:nvSpPr>
          <p:cNvPr id="15363" name="Rectangle 8"/>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实例分析</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410" name="Rectangle 2"/>
          <p:cNvSpPr>
            <a:spLocks noGrp="1"/>
          </p:cNvSpPr>
          <p:nvPr>
            <p:ph type="title"/>
          </p:nvPr>
        </p:nvSpPr>
        <p:spPr>
          <a:xfrm>
            <a:off x="1116013" y="692150"/>
            <a:ext cx="7086600" cy="731838"/>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实例分析</a:t>
            </a:r>
            <a:endParaRPr lang="zh-CN" altLang="en-US" sz="4000" b="1" dirty="0">
              <a:solidFill>
                <a:srgbClr val="E40000"/>
              </a:solidFill>
              <a:latin typeface="Arial" panose="020B0604020202020204" pitchFamily="34" charset="0"/>
            </a:endParaRPr>
          </a:p>
        </p:txBody>
      </p:sp>
      <p:sp>
        <p:nvSpPr>
          <p:cNvPr id="17411" name="Rectangle 3"/>
          <p:cNvSpPr>
            <a:spLocks noGrp="1"/>
          </p:cNvSpPr>
          <p:nvPr>
            <p:ph idx="1"/>
          </p:nvPr>
        </p:nvSpPr>
        <p:spPr>
          <a:xfrm>
            <a:off x="684213" y="1700213"/>
            <a:ext cx="8154987" cy="4492625"/>
          </a:xfrm>
          <a:ln/>
        </p:spPr>
        <p:txBody>
          <a:bodyPr vert="horz" wrap="square" lIns="91440" tIns="45720" rIns="91440" bIns="45720" anchor="t" anchorCtr="0"/>
          <a:p>
            <a:pPr eaLnBrk="1" hangingPunct="1">
              <a:lnSpc>
                <a:spcPct val="120000"/>
              </a:lnSpc>
            </a:pPr>
            <a:r>
              <a:rPr lang="zh-CN" altLang="en-US" b="1" dirty="0">
                <a:latin typeface="黑体" pitchFamily="49" charset="-122"/>
                <a:ea typeface="黑体" pitchFamily="49" charset="-122"/>
              </a:rPr>
              <a:t>结论：</a:t>
            </a:r>
            <a:endParaRPr lang="zh-CN" altLang="en-US" b="1" dirty="0">
              <a:latin typeface="黑体" pitchFamily="49" charset="-122"/>
              <a:ea typeface="黑体" pitchFamily="49" charset="-122"/>
            </a:endParaRPr>
          </a:p>
          <a:p>
            <a:pPr lvl="1" eaLnBrk="1" hangingPunct="1">
              <a:lnSpc>
                <a:spcPct val="120000"/>
              </a:lnSpc>
              <a:buSzPct val="75000"/>
              <a:buFont typeface="Wingdings" panose="05000000000000000000" pitchFamily="2" charset="2"/>
              <a:buChar char="n"/>
            </a:pPr>
            <a:r>
              <a:rPr lang="zh-CN" altLang="zh-CN" sz="2000" b="1" dirty="0"/>
              <a:t>SCT</a:t>
            </a:r>
            <a:r>
              <a:rPr lang="zh-CN" altLang="en-US" sz="2200" b="1" dirty="0"/>
              <a:t>不是一个</a:t>
            </a:r>
            <a:r>
              <a:rPr lang="en-US" altLang="zh-CN" sz="2200" b="1" dirty="0">
                <a:latin typeface="Arial" panose="020B0604020202020204" pitchFamily="34" charset="0"/>
              </a:rPr>
              <a:t>”</a:t>
            </a:r>
            <a:r>
              <a:rPr lang="zh-CN" altLang="en-US" sz="2200" b="1" dirty="0"/>
              <a:t>好</a:t>
            </a:r>
            <a:r>
              <a:rPr lang="en-US" altLang="zh-CN" sz="2200" b="1" dirty="0">
                <a:latin typeface="Arial" panose="020B0604020202020204" pitchFamily="34" charset="0"/>
              </a:rPr>
              <a:t>”</a:t>
            </a:r>
            <a:r>
              <a:rPr lang="zh-CN" altLang="en-US" sz="2200" b="1" dirty="0"/>
              <a:t>的关系模式</a:t>
            </a:r>
            <a:endParaRPr lang="zh-CN" altLang="en-US" sz="2200" b="1" dirty="0"/>
          </a:p>
          <a:p>
            <a:pPr lvl="1" eaLnBrk="1" hangingPunct="1">
              <a:lnSpc>
                <a:spcPct val="120000"/>
              </a:lnSpc>
              <a:buSzPct val="75000"/>
              <a:buFont typeface="Wingdings" panose="05000000000000000000" pitchFamily="2" charset="2"/>
              <a:buChar char="n"/>
            </a:pPr>
            <a:r>
              <a:rPr lang="zh-CN" altLang="en-US" sz="2200" b="1" dirty="0">
                <a:latin typeface="Arial" panose="020B0604020202020204" pitchFamily="34" charset="0"/>
              </a:rPr>
              <a:t>“</a:t>
            </a:r>
            <a:r>
              <a:rPr lang="zh-CN" altLang="en-US" sz="2200" b="1" dirty="0"/>
              <a:t>好</a:t>
            </a:r>
            <a:r>
              <a:rPr lang="zh-CN" altLang="en-US" sz="2200" b="1" dirty="0">
                <a:latin typeface="Arial" panose="020B0604020202020204" pitchFamily="34" charset="0"/>
              </a:rPr>
              <a:t>”</a:t>
            </a:r>
            <a:r>
              <a:rPr lang="zh-CN" altLang="en-US" sz="2200" b="1" dirty="0"/>
              <a:t>的模式：数据冗余应尽可能少，不会发生插入异常、删除异常、更新异常</a:t>
            </a:r>
            <a:endParaRPr lang="zh-CN" altLang="en-US" sz="2200" b="1" dirty="0"/>
          </a:p>
          <a:p>
            <a:pPr eaLnBrk="1" hangingPunct="1">
              <a:lnSpc>
                <a:spcPct val="120000"/>
              </a:lnSpc>
            </a:pPr>
            <a:r>
              <a:rPr lang="zh-CN" altLang="en-US" b="1" dirty="0">
                <a:latin typeface="黑体" pitchFamily="49" charset="-122"/>
                <a:ea typeface="黑体" pitchFamily="49" charset="-122"/>
              </a:rPr>
              <a:t>原因：</a:t>
            </a:r>
            <a:endParaRPr lang="zh-CN" altLang="en-US" b="1" dirty="0">
              <a:latin typeface="黑体" pitchFamily="49" charset="-122"/>
              <a:ea typeface="黑体" pitchFamily="49" charset="-122"/>
            </a:endParaRPr>
          </a:p>
          <a:p>
            <a:pPr lvl="1" eaLnBrk="1" hangingPunct="1">
              <a:lnSpc>
                <a:spcPct val="120000"/>
              </a:lnSpc>
            </a:pPr>
            <a:r>
              <a:rPr lang="zh-CN" altLang="en-US" sz="2200" b="1" dirty="0"/>
              <a:t>由存在于模式中的某些</a:t>
            </a:r>
            <a:r>
              <a:rPr lang="en-US" altLang="zh-CN" sz="2200" b="1" dirty="0">
                <a:latin typeface="Arial" panose="020B0604020202020204" pitchFamily="34" charset="0"/>
              </a:rPr>
              <a:t>”</a:t>
            </a:r>
            <a:r>
              <a:rPr lang="zh-CN" altLang="en-US" sz="2200" b="1" dirty="0"/>
              <a:t>数据依赖</a:t>
            </a:r>
            <a:r>
              <a:rPr lang="en-US" altLang="zh-CN" sz="2200" b="1" dirty="0">
                <a:latin typeface="Arial" panose="020B0604020202020204" pitchFamily="34" charset="0"/>
              </a:rPr>
              <a:t>”</a:t>
            </a:r>
            <a:r>
              <a:rPr lang="zh-CN" altLang="en-US" sz="2200" b="1" dirty="0"/>
              <a:t>引起的</a:t>
            </a:r>
            <a:endParaRPr lang="zh-CN" altLang="en-US" sz="2200" b="1" dirty="0"/>
          </a:p>
          <a:p>
            <a:pPr eaLnBrk="1" hangingPunct="1">
              <a:lnSpc>
                <a:spcPct val="120000"/>
              </a:lnSpc>
            </a:pPr>
            <a:r>
              <a:rPr lang="zh-CN" altLang="en-US" b="1" dirty="0">
                <a:latin typeface="黑体" pitchFamily="49" charset="-122"/>
                <a:ea typeface="黑体" pitchFamily="49" charset="-122"/>
              </a:rPr>
              <a:t>解决方法</a:t>
            </a:r>
            <a:r>
              <a:rPr lang="zh-CN" altLang="en-US" b="1" dirty="0"/>
              <a:t>：</a:t>
            </a:r>
            <a:endParaRPr lang="zh-CN" altLang="en-US" b="1" dirty="0"/>
          </a:p>
          <a:p>
            <a:pPr lvl="1" eaLnBrk="1" hangingPunct="1">
              <a:lnSpc>
                <a:spcPct val="120000"/>
              </a:lnSpc>
            </a:pPr>
            <a:r>
              <a:rPr lang="zh-CN" altLang="en-US" sz="2200" b="1" dirty="0"/>
              <a:t>通过</a:t>
            </a:r>
            <a:r>
              <a:rPr lang="zh-CN" altLang="en-US" sz="2200" b="1" dirty="0">
                <a:solidFill>
                  <a:srgbClr val="FF9933"/>
                </a:solidFill>
              </a:rPr>
              <a:t>分解</a:t>
            </a:r>
            <a:r>
              <a:rPr lang="zh-CN" altLang="en-US" sz="2200" b="1" dirty="0"/>
              <a:t>关系模式来消除其中不合适的数据依赖</a:t>
            </a:r>
            <a:endParaRPr lang="zh-CN" altLang="en-US" sz="2200" b="1" dirty="0"/>
          </a:p>
          <a:p>
            <a:pPr eaLnBrk="1" hangingPunct="1">
              <a:lnSpc>
                <a:spcPct val="80000"/>
              </a:lnSpc>
              <a:buNone/>
            </a:pPr>
            <a:endParaRPr lang="zh-CN" altLang="en-US" sz="22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458" name="Rectangle 2"/>
          <p:cNvSpPr>
            <a:spLocks noGrp="1"/>
          </p:cNvSpPr>
          <p:nvPr>
            <p:ph type="title"/>
          </p:nvPr>
        </p:nvSpPr>
        <p:spPr>
          <a:xfrm>
            <a:off x="1042988" y="692150"/>
            <a:ext cx="7086600" cy="731838"/>
          </a:xfrm>
          <a:ln/>
        </p:spPr>
        <p:txBody>
          <a:bodyPr vert="horz" wrap="square" lIns="91440" tIns="45720" rIns="91440" bIns="45720" anchor="ctr" anchorCtr="0"/>
          <a:p>
            <a:pPr algn="ctr" eaLnBrk="1" hangingPunct="1"/>
            <a:r>
              <a:rPr lang="en-US" altLang="zh-CN" sz="4000" b="1" dirty="0">
                <a:solidFill>
                  <a:srgbClr val="E40000"/>
                </a:solidFill>
                <a:latin typeface="Arial" panose="020B0604020202020204" pitchFamily="34" charset="0"/>
              </a:rPr>
              <a:t>4.2  </a:t>
            </a:r>
            <a:r>
              <a:rPr lang="zh-CN" altLang="en-US" sz="4000" b="1" dirty="0">
                <a:solidFill>
                  <a:srgbClr val="E40000"/>
                </a:solidFill>
                <a:latin typeface="Arial" panose="020B0604020202020204" pitchFamily="34" charset="0"/>
              </a:rPr>
              <a:t>数据依赖</a:t>
            </a:r>
            <a:endParaRPr lang="zh-CN" altLang="en-US" sz="4000" b="1" dirty="0">
              <a:solidFill>
                <a:srgbClr val="E40000"/>
              </a:solidFill>
              <a:latin typeface="Arial" panose="020B0604020202020204" pitchFamily="34" charset="0"/>
            </a:endParaRPr>
          </a:p>
        </p:txBody>
      </p:sp>
      <p:sp>
        <p:nvSpPr>
          <p:cNvPr id="19459" name="Rectangle 3"/>
          <p:cNvSpPr>
            <a:spLocks noGrp="1"/>
          </p:cNvSpPr>
          <p:nvPr>
            <p:ph idx="1"/>
          </p:nvPr>
        </p:nvSpPr>
        <p:spPr>
          <a:xfrm>
            <a:off x="684213" y="1773238"/>
            <a:ext cx="7848600" cy="4525962"/>
          </a:xfrm>
          <a:ln/>
        </p:spPr>
        <p:txBody>
          <a:bodyPr vert="horz" wrap="square" lIns="91440" tIns="45720" rIns="91440" bIns="45720" anchor="t" anchorCtr="0"/>
          <a:p>
            <a:pPr eaLnBrk="1" hangingPunct="1"/>
            <a:r>
              <a:rPr lang="zh-CN" altLang="en-US" b="1" dirty="0">
                <a:solidFill>
                  <a:srgbClr val="FF9933"/>
                </a:solidFill>
                <a:latin typeface="黑体" pitchFamily="49" charset="-122"/>
                <a:ea typeface="黑体" pitchFamily="49" charset="-122"/>
              </a:rPr>
              <a:t>数据依赖</a:t>
            </a:r>
            <a:r>
              <a:rPr lang="en-US" altLang="zh-CN" b="1" dirty="0">
                <a:latin typeface="黑体" pitchFamily="49" charset="-122"/>
                <a:ea typeface="黑体" pitchFamily="49" charset="-122"/>
              </a:rPr>
              <a:t>(Data Dependency)</a:t>
            </a:r>
            <a:r>
              <a:rPr lang="zh-CN" altLang="en-US" b="1" dirty="0">
                <a:latin typeface="黑体" pitchFamily="49" charset="-122"/>
                <a:ea typeface="黑体" pitchFamily="49" charset="-122"/>
              </a:rPr>
              <a:t>是通过一个关系中各属性值相等与否体现出来的一种数据间的</a:t>
            </a:r>
            <a:r>
              <a:rPr lang="zh-CN" altLang="en-US" b="1" dirty="0">
                <a:solidFill>
                  <a:srgbClr val="339966"/>
                </a:solidFill>
                <a:latin typeface="黑体" pitchFamily="49" charset="-122"/>
                <a:ea typeface="黑体" pitchFamily="49" charset="-122"/>
              </a:rPr>
              <a:t>相互制约关系</a:t>
            </a:r>
            <a:r>
              <a:rPr lang="zh-CN" altLang="en-US" b="1" dirty="0">
                <a:latin typeface="黑体" pitchFamily="49" charset="-122"/>
                <a:ea typeface="黑体" pitchFamily="49" charset="-122"/>
              </a:rPr>
              <a:t>，是现实世界中事物属性间相互联系的抽象，是数据内在的性质，是</a:t>
            </a:r>
            <a:r>
              <a:rPr lang="zh-CN" altLang="en-US" b="1" u="sng" dirty="0">
                <a:latin typeface="黑体" pitchFamily="49" charset="-122"/>
                <a:ea typeface="黑体" pitchFamily="49" charset="-122"/>
              </a:rPr>
              <a:t>语义的体现</a:t>
            </a:r>
            <a:endParaRPr lang="zh-CN" altLang="en-US" b="1" u="sng" dirty="0">
              <a:latin typeface="黑体" pitchFamily="49" charset="-122"/>
              <a:ea typeface="黑体" pitchFamily="49" charset="-122"/>
            </a:endParaRPr>
          </a:p>
          <a:p>
            <a:pPr eaLnBrk="1" hangingPunct="1"/>
            <a:r>
              <a:rPr lang="zh-CN" altLang="en-US" b="1" dirty="0">
                <a:latin typeface="黑体" pitchFamily="49" charset="-122"/>
                <a:ea typeface="黑体" pitchFamily="49" charset="-122"/>
              </a:rPr>
              <a:t>人们已经提出了许多种类型的数据依赖，其中最重要的是</a:t>
            </a:r>
            <a:r>
              <a:rPr lang="zh-CN" altLang="en-US" b="1" dirty="0">
                <a:solidFill>
                  <a:srgbClr val="990099"/>
                </a:solidFill>
                <a:latin typeface="黑体" pitchFamily="49" charset="-122"/>
                <a:ea typeface="黑体" pitchFamily="49" charset="-122"/>
              </a:rPr>
              <a:t>函数依赖</a:t>
            </a:r>
            <a:r>
              <a:rPr lang="en-US" altLang="zh-CN" b="1" dirty="0">
                <a:latin typeface="黑体" pitchFamily="49" charset="-122"/>
                <a:ea typeface="黑体" pitchFamily="49" charset="-122"/>
              </a:rPr>
              <a:t>(Functional Dependency</a:t>
            </a:r>
            <a:r>
              <a:rPr lang="zh-CN" altLang="en-US" b="1" dirty="0">
                <a:latin typeface="黑体" pitchFamily="49" charset="-122"/>
                <a:ea typeface="黑体" pitchFamily="49" charset="-122"/>
              </a:rPr>
              <a:t>简记为</a:t>
            </a:r>
            <a:r>
              <a:rPr lang="en-US" altLang="zh-CN" b="1" dirty="0">
                <a:latin typeface="黑体" pitchFamily="49" charset="-122"/>
                <a:ea typeface="黑体" pitchFamily="49" charset="-122"/>
              </a:rPr>
              <a:t>FD)</a:t>
            </a:r>
            <a:r>
              <a:rPr lang="zh-CN" altLang="en-US" b="1" dirty="0">
                <a:latin typeface="黑体" pitchFamily="49" charset="-122"/>
                <a:ea typeface="黑体" pitchFamily="49" charset="-122"/>
              </a:rPr>
              <a:t>和</a:t>
            </a:r>
            <a:r>
              <a:rPr lang="zh-CN" altLang="en-US" b="1" dirty="0">
                <a:solidFill>
                  <a:srgbClr val="990099"/>
                </a:solidFill>
                <a:latin typeface="黑体" pitchFamily="49" charset="-122"/>
                <a:ea typeface="黑体" pitchFamily="49" charset="-122"/>
              </a:rPr>
              <a:t>多值依赖</a:t>
            </a:r>
            <a:r>
              <a:rPr lang="en-US" altLang="zh-CN" b="1" dirty="0">
                <a:latin typeface="黑体" pitchFamily="49" charset="-122"/>
                <a:ea typeface="黑体" pitchFamily="49" charset="-122"/>
              </a:rPr>
              <a:t>(Multivalued Dependency</a:t>
            </a:r>
            <a:r>
              <a:rPr lang="zh-CN" altLang="en-US" b="1" dirty="0">
                <a:latin typeface="黑体" pitchFamily="49" charset="-122"/>
                <a:ea typeface="黑体" pitchFamily="49" charset="-122"/>
              </a:rPr>
              <a:t>简记为</a:t>
            </a:r>
            <a:r>
              <a:rPr lang="en-US" altLang="zh-CN" b="1" dirty="0">
                <a:latin typeface="黑体" pitchFamily="49" charset="-122"/>
                <a:ea typeface="黑体" pitchFamily="49" charset="-122"/>
              </a:rPr>
              <a:t>MVD)</a:t>
            </a:r>
            <a:r>
              <a:rPr lang="zh-CN" altLang="en-US" b="1" dirty="0">
                <a:latin typeface="黑体" pitchFamily="49" charset="-122"/>
                <a:ea typeface="黑体" pitchFamily="49" charset="-122"/>
              </a:rPr>
              <a:t> </a:t>
            </a:r>
            <a:endParaRPr lang="zh-CN" altLang="en-US" b="1" dirty="0">
              <a:latin typeface="黑体" pitchFamily="49" charset="-122"/>
              <a:ea typeface="黑体" pitchFamily="49" charset="-122"/>
            </a:endParaRPr>
          </a:p>
          <a:p>
            <a:pPr eaLnBrk="1" hangingPunct="1"/>
            <a:endParaRPr lang="zh-CN" altLang="en-US" b="1" dirty="0">
              <a:latin typeface="黑体" pitchFamily="49" charset="-122"/>
              <a:ea typeface="黑体"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506" name="Rectangle 5"/>
          <p:cNvSpPr/>
          <p:nvPr/>
        </p:nvSpPr>
        <p:spPr>
          <a:xfrm>
            <a:off x="684213" y="1700213"/>
            <a:ext cx="8172450"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lnSpc>
                <a:spcPct val="130000"/>
              </a:lnSpc>
              <a:buClr>
                <a:srgbClr val="3366FF"/>
              </a:buClr>
              <a:buSzPct val="70000"/>
              <a:buFont typeface="Wingdings" panose="05000000000000000000" pitchFamily="2" charset="2"/>
              <a:buChar char="n"/>
            </a:pP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表示一个抽象的关系模式，</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上全部函数依赖的集合记为</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a:t>
            </a:r>
            <a:endParaRPr lang="zh-CN" altLang="en-US" b="1" dirty="0">
              <a:latin typeface="黑体" pitchFamily="49" charset="-122"/>
              <a:ea typeface="黑体" pitchFamily="49" charset="-122"/>
            </a:endParaRPr>
          </a:p>
          <a:p>
            <a:pPr marL="273050" lvl="0" indent="-273050" eaLnBrk="1" hangingPunct="1">
              <a:lnSpc>
                <a:spcPct val="130000"/>
              </a:lnSpc>
              <a:buClr>
                <a:srgbClr val="3366FF"/>
              </a:buClr>
              <a:buSzPct val="70000"/>
              <a:buFont typeface="Wingdings" panose="05000000000000000000" pitchFamily="2" charset="2"/>
              <a:buChar char="n"/>
            </a:pP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的属性全集一般用</a:t>
            </a:r>
            <a:r>
              <a:rPr lang="en-US" altLang="zh-CN" b="1" dirty="0">
                <a:latin typeface="黑体" pitchFamily="49" charset="-122"/>
                <a:ea typeface="黑体" pitchFamily="49" charset="-122"/>
              </a:rPr>
              <a:t>U</a:t>
            </a:r>
            <a:r>
              <a:rPr lang="zh-CN" altLang="en-US" b="1" dirty="0">
                <a:latin typeface="黑体" pitchFamily="49" charset="-122"/>
                <a:ea typeface="黑体" pitchFamily="49" charset="-122"/>
              </a:rPr>
              <a:t>表示，</a:t>
            </a:r>
            <a:r>
              <a:rPr lang="en-US" altLang="zh-CN" b="1" dirty="0">
                <a:latin typeface="黑体" pitchFamily="49" charset="-122"/>
                <a:ea typeface="黑体" pitchFamily="49" charset="-122"/>
              </a:rPr>
              <a:t>U</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{A1</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A2</a:t>
            </a:r>
            <a:r>
              <a:rPr lang="zh-CN" altLang="en-US" b="1" dirty="0">
                <a:latin typeface="黑体" pitchFamily="49" charset="-122"/>
                <a:ea typeface="黑体" pitchFamily="49" charset="-122"/>
              </a:rPr>
              <a:t>，</a:t>
            </a:r>
            <a:r>
              <a:rPr lang="en-US" altLang="zh-CN" b="1" dirty="0">
                <a:ea typeface="黑体" pitchFamily="49" charset="-122"/>
              </a:rPr>
              <a:t>…</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An}</a:t>
            </a:r>
            <a:r>
              <a:rPr lang="zh-CN" altLang="en-US" b="1" dirty="0">
                <a:latin typeface="黑体" pitchFamily="49" charset="-122"/>
                <a:ea typeface="黑体" pitchFamily="49" charset="-122"/>
              </a:rPr>
              <a:t>，其中的每一个 </a:t>
            </a:r>
            <a:r>
              <a:rPr lang="en-US" altLang="zh-CN" b="1" dirty="0">
                <a:latin typeface="黑体" pitchFamily="49" charset="-122"/>
                <a:ea typeface="黑体" pitchFamily="49" charset="-122"/>
              </a:rPr>
              <a:t>Ai</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1≤i≤n</a:t>
            </a:r>
            <a:r>
              <a:rPr lang="zh-CN" altLang="en-US" b="1" dirty="0">
                <a:latin typeface="黑体" pitchFamily="49" charset="-122"/>
                <a:ea typeface="黑体" pitchFamily="49" charset="-122"/>
              </a:rPr>
              <a:t>）均表示</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的一个属性，</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Z</a:t>
            </a:r>
            <a:r>
              <a:rPr lang="zh-CN" altLang="en-US" b="1" dirty="0">
                <a:latin typeface="黑体" pitchFamily="49" charset="-122"/>
                <a:ea typeface="黑体" pitchFamily="49" charset="-122"/>
              </a:rPr>
              <a:t>等表示</a:t>
            </a:r>
            <a:r>
              <a:rPr lang="en-US" altLang="zh-CN" b="1" dirty="0">
                <a:latin typeface="黑体" pitchFamily="49" charset="-122"/>
                <a:ea typeface="黑体" pitchFamily="49" charset="-122"/>
              </a:rPr>
              <a:t>U</a:t>
            </a:r>
            <a:r>
              <a:rPr lang="zh-CN" altLang="en-US" b="1" dirty="0">
                <a:latin typeface="黑体" pitchFamily="49" charset="-122"/>
                <a:ea typeface="黑体" pitchFamily="49" charset="-122"/>
              </a:rPr>
              <a:t>的一个真子集，也就是若干属性的集合；</a:t>
            </a:r>
            <a:endParaRPr lang="zh-CN" altLang="en-US" b="1" dirty="0">
              <a:latin typeface="黑体" pitchFamily="49" charset="-122"/>
              <a:ea typeface="黑体" pitchFamily="49" charset="-122"/>
            </a:endParaRPr>
          </a:p>
        </p:txBody>
      </p:sp>
      <p:sp>
        <p:nvSpPr>
          <p:cNvPr id="21507" name="Rectangle 8"/>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常用符号及其含义</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554" name="Rectangle 5"/>
          <p:cNvSpPr/>
          <p:nvPr/>
        </p:nvSpPr>
        <p:spPr>
          <a:xfrm>
            <a:off x="684213" y="1557338"/>
            <a:ext cx="7934325"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177800" lvl="0" indent="-177800" eaLnBrk="1" hangingPunct="1">
              <a:lnSpc>
                <a:spcPct val="135000"/>
              </a:lnSpc>
              <a:buClr>
                <a:srgbClr val="3366FF"/>
              </a:buClr>
              <a:buSzPct val="70000"/>
              <a:buFont typeface="Wingdings" panose="05000000000000000000" pitchFamily="2" charset="2"/>
              <a:buChar char="n"/>
            </a:pP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是关系模式</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上的一个实例，即满足</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的一些元组的集合，</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可以有多个不同的实例</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，通常关系模式很少变化，经常发生变化的是关系的实例，因此将关系的模式称为关系的</a:t>
            </a:r>
            <a:r>
              <a:rPr lang="zh-CN" altLang="en-US" b="1" dirty="0">
                <a:solidFill>
                  <a:srgbClr val="FF9933"/>
                </a:solidFill>
                <a:latin typeface="黑体" pitchFamily="49" charset="-122"/>
                <a:ea typeface="黑体" pitchFamily="49" charset="-122"/>
              </a:rPr>
              <a:t>内涵</a:t>
            </a:r>
            <a:r>
              <a:rPr lang="zh-CN" altLang="en-US" b="1" dirty="0">
                <a:latin typeface="黑体" pitchFamily="49" charset="-122"/>
                <a:ea typeface="黑体" pitchFamily="49" charset="-122"/>
              </a:rPr>
              <a:t>，而将关系的实例</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称为关系的</a:t>
            </a:r>
            <a:r>
              <a:rPr lang="zh-CN" altLang="en-US" b="1" dirty="0">
                <a:solidFill>
                  <a:srgbClr val="FF9933"/>
                </a:solidFill>
                <a:latin typeface="黑体" pitchFamily="49" charset="-122"/>
                <a:ea typeface="黑体" pitchFamily="49" charset="-122"/>
              </a:rPr>
              <a:t>外延</a:t>
            </a:r>
            <a:r>
              <a:rPr lang="zh-CN" altLang="en-US" b="1" dirty="0">
                <a:latin typeface="黑体" pitchFamily="49" charset="-122"/>
                <a:ea typeface="黑体" pitchFamily="49" charset="-122"/>
              </a:rPr>
              <a:t>，由于用户经常对关系进行插入、删除和修改操作，因此外延是与时间有关的，随着时间的推移在不断变化</a:t>
            </a:r>
            <a:endParaRPr lang="zh-CN" altLang="zh-CN" b="1" dirty="0">
              <a:latin typeface="黑体" pitchFamily="49" charset="-122"/>
              <a:ea typeface="黑体" pitchFamily="49" charset="-122"/>
            </a:endParaRPr>
          </a:p>
        </p:txBody>
      </p:sp>
      <p:sp>
        <p:nvSpPr>
          <p:cNvPr id="23555" name="Rectangle 8"/>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关系的内涵和外延</a:t>
            </a:r>
            <a:endParaRPr lang="en-US" altLang="zh-CN" sz="4000" b="1" dirty="0">
              <a:solidFill>
                <a:srgbClr val="E40000"/>
              </a:solidFill>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5602"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关系的内涵和外延</a:t>
            </a:r>
            <a:endParaRPr lang="zh-CN" altLang="en-US" sz="4000" b="1" dirty="0">
              <a:solidFill>
                <a:srgbClr val="E40000"/>
              </a:solidFill>
              <a:latin typeface="Arial" panose="020B0604020202020204" pitchFamily="34" charset="0"/>
            </a:endParaRPr>
          </a:p>
        </p:txBody>
      </p:sp>
      <p:sp>
        <p:nvSpPr>
          <p:cNvPr id="25603" name="Rectangle 3"/>
          <p:cNvSpPr>
            <a:spLocks noGrp="1"/>
          </p:cNvSpPr>
          <p:nvPr>
            <p:ph idx="1"/>
          </p:nvPr>
        </p:nvSpPr>
        <p:spPr>
          <a:xfrm>
            <a:off x="755650" y="1844675"/>
            <a:ext cx="7848600" cy="4525963"/>
          </a:xfrm>
          <a:ln/>
        </p:spPr>
        <p:txBody>
          <a:bodyPr vert="horz" wrap="square" lIns="91440" tIns="45720" rIns="91440" bIns="45720" anchor="t" anchorCtr="0"/>
          <a:p>
            <a:pPr eaLnBrk="1" hangingPunct="1">
              <a:lnSpc>
                <a:spcPct val="80000"/>
              </a:lnSpc>
            </a:pPr>
            <a:r>
              <a:rPr lang="zh-CN" altLang="en-US" b="1" dirty="0">
                <a:latin typeface="黑体" pitchFamily="49" charset="-122"/>
                <a:ea typeface="黑体" pitchFamily="49" charset="-122"/>
              </a:rPr>
              <a:t>关系的内涵是对数据的定义以及数据完整性约束的定义，一般是与时间独立的</a:t>
            </a:r>
            <a:endParaRPr lang="zh-CN" altLang="en-US" b="1" dirty="0">
              <a:latin typeface="黑体" pitchFamily="49" charset="-122"/>
              <a:ea typeface="黑体" pitchFamily="49" charset="-122"/>
            </a:endParaRPr>
          </a:p>
          <a:p>
            <a:pPr eaLnBrk="1" hangingPunct="1">
              <a:lnSpc>
                <a:spcPct val="80000"/>
              </a:lnSpc>
            </a:pPr>
            <a:r>
              <a:rPr lang="zh-CN" altLang="en-US" b="1" dirty="0">
                <a:latin typeface="黑体" pitchFamily="49" charset="-122"/>
                <a:ea typeface="黑体" pitchFamily="49" charset="-122"/>
              </a:rPr>
              <a:t>对数据的定义包括对关系、属性、域的定义和说明。对数据完整性约束的定义涉及面较广，主要包括以下几个方面：</a:t>
            </a:r>
            <a:endParaRPr lang="zh-CN" altLang="en-US" b="1" dirty="0">
              <a:latin typeface="黑体" pitchFamily="49" charset="-122"/>
              <a:ea typeface="黑体" pitchFamily="49" charset="-122"/>
            </a:endParaRPr>
          </a:p>
          <a:p>
            <a:pPr lvl="1" eaLnBrk="1" hangingPunct="1">
              <a:lnSpc>
                <a:spcPct val="80000"/>
              </a:lnSpc>
            </a:pPr>
            <a:r>
              <a:rPr lang="zh-CN" altLang="en-US" b="1" dirty="0">
                <a:latin typeface="黑体" pitchFamily="49" charset="-122"/>
                <a:ea typeface="黑体" pitchFamily="49" charset="-122"/>
              </a:rPr>
              <a:t>静态约束，涉及到数据之间联系（称为</a:t>
            </a:r>
            <a:r>
              <a:rPr lang="zh-CN" altLang="en-US" b="1" dirty="0">
                <a:ea typeface="黑体" pitchFamily="49" charset="-122"/>
              </a:rPr>
              <a:t>“</a:t>
            </a:r>
            <a:r>
              <a:rPr lang="zh-CN" altLang="en-US" b="1" dirty="0">
                <a:latin typeface="黑体" pitchFamily="49" charset="-122"/>
                <a:ea typeface="黑体" pitchFamily="49" charset="-122"/>
              </a:rPr>
              <a:t>数据依赖，</a:t>
            </a:r>
            <a:r>
              <a:rPr lang="en-US" altLang="zh-CN" b="1" dirty="0">
                <a:latin typeface="黑体" pitchFamily="49" charset="-122"/>
                <a:ea typeface="黑体" pitchFamily="49" charset="-122"/>
              </a:rPr>
              <a:t>data dependences</a:t>
            </a:r>
            <a:r>
              <a:rPr lang="zh-CN" altLang="en-US" b="1" dirty="0">
                <a:latin typeface="黑体" pitchFamily="49" charset="-122"/>
                <a:ea typeface="黑体" pitchFamily="49" charset="-122"/>
              </a:rPr>
              <a:t>）、主键和值域的设计</a:t>
            </a:r>
            <a:endParaRPr lang="zh-CN" altLang="en-US" b="1" dirty="0">
              <a:latin typeface="黑体" pitchFamily="49" charset="-122"/>
              <a:ea typeface="黑体" pitchFamily="49" charset="-122"/>
            </a:endParaRPr>
          </a:p>
          <a:p>
            <a:pPr lvl="1" eaLnBrk="1" hangingPunct="1">
              <a:lnSpc>
                <a:spcPct val="80000"/>
              </a:lnSpc>
            </a:pPr>
            <a:r>
              <a:rPr lang="zh-CN" altLang="en-US" b="1" dirty="0">
                <a:latin typeface="黑体" pitchFamily="49" charset="-122"/>
                <a:ea typeface="黑体" pitchFamily="49" charset="-122"/>
              </a:rPr>
              <a:t>动态约束，定义各种操作（插入、删除、修改）对关系值的影响 </a:t>
            </a:r>
            <a:endParaRPr lang="zh-CN" altLang="en-US" b="1" dirty="0">
              <a:latin typeface="黑体" pitchFamily="49" charset="-122"/>
              <a:ea typeface="黑体"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7650" name="Rectangle 5"/>
          <p:cNvSpPr/>
          <p:nvPr/>
        </p:nvSpPr>
        <p:spPr>
          <a:xfrm>
            <a:off x="611188" y="1557338"/>
            <a:ext cx="8007350"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60000"/>
              </a:lnSpc>
              <a:buClr>
                <a:srgbClr val="E40000"/>
              </a:buClr>
              <a:buFont typeface="Wingdings" panose="05000000000000000000" pitchFamily="2" charset="2"/>
              <a:buChar char="Ø"/>
            </a:pPr>
            <a:r>
              <a:rPr lang="zh-CN" altLang="zh-CN" b="1" dirty="0">
                <a:latin typeface="黑体" pitchFamily="49" charset="-122"/>
                <a:ea typeface="黑体" pitchFamily="49" charset="-122"/>
              </a:rPr>
              <a:t>定义4</a:t>
            </a:r>
            <a:r>
              <a:rPr lang="zh-CN" altLang="en-US" b="1" dirty="0">
                <a:latin typeface="黑体" pitchFamily="49" charset="-122"/>
                <a:ea typeface="黑体" pitchFamily="49" charset="-122"/>
              </a:rPr>
              <a:t>.</a:t>
            </a:r>
            <a:r>
              <a:rPr lang="zh-CN" altLang="zh-CN" b="1" dirty="0">
                <a:latin typeface="黑体" pitchFamily="49" charset="-122"/>
                <a:ea typeface="黑体" pitchFamily="49" charset="-122"/>
              </a:rPr>
              <a:t>1：设R为关系模式，r是R上的</a:t>
            </a:r>
            <a:r>
              <a:rPr lang="zh-CN" altLang="zh-CN" b="1" dirty="0">
                <a:solidFill>
                  <a:srgbClr val="FF9933"/>
                </a:solidFill>
                <a:latin typeface="黑体" pitchFamily="49" charset="-122"/>
                <a:ea typeface="黑体" pitchFamily="49" charset="-122"/>
              </a:rPr>
              <a:t>任意</a:t>
            </a:r>
            <a:r>
              <a:rPr lang="zh-CN" altLang="zh-CN" b="1" dirty="0">
                <a:latin typeface="黑体" pitchFamily="49" charset="-122"/>
                <a:ea typeface="黑体" pitchFamily="49" charset="-122"/>
              </a:rPr>
              <a:t>一个关系实例，X，Y</a:t>
            </a:r>
            <a:r>
              <a:rPr lang="en-US" altLang="zh-CN" b="1" dirty="0">
                <a:sym typeface="Symbol" panose="05050102010706020507" pitchFamily="18" charset="2"/>
              </a:rPr>
              <a:t></a:t>
            </a:r>
            <a:r>
              <a:rPr lang="zh-CN" altLang="zh-CN" b="1" dirty="0">
                <a:latin typeface="黑体" pitchFamily="49" charset="-122"/>
                <a:ea typeface="黑体" pitchFamily="49" charset="-122"/>
              </a:rPr>
              <a:t>U是R的两个属性子集，若对于r上的</a:t>
            </a:r>
            <a:r>
              <a:rPr lang="zh-CN" altLang="zh-CN" b="1" dirty="0">
                <a:solidFill>
                  <a:srgbClr val="FF9933"/>
                </a:solidFill>
                <a:latin typeface="黑体" pitchFamily="49" charset="-122"/>
                <a:ea typeface="黑体" pitchFamily="49" charset="-122"/>
              </a:rPr>
              <a:t>任意</a:t>
            </a:r>
            <a:r>
              <a:rPr lang="zh-CN" altLang="zh-CN" b="1" dirty="0">
                <a:latin typeface="黑体" pitchFamily="49" charset="-122"/>
                <a:ea typeface="黑体" pitchFamily="49" charset="-122"/>
              </a:rPr>
              <a:t>两个元组t1，t2∈r都有</a:t>
            </a:r>
            <a:r>
              <a:rPr lang="zh-CN" altLang="en-US" b="1" dirty="0">
                <a:latin typeface="黑体" pitchFamily="49" charset="-122"/>
                <a:ea typeface="黑体" pitchFamily="49" charset="-122"/>
              </a:rPr>
              <a:t>：</a:t>
            </a:r>
            <a:r>
              <a:rPr lang="zh-CN" altLang="zh-CN" b="1" dirty="0">
                <a:latin typeface="黑体" pitchFamily="49" charset="-122"/>
                <a:ea typeface="黑体" pitchFamily="49" charset="-122"/>
              </a:rPr>
              <a:t>如果</a:t>
            </a:r>
            <a:r>
              <a:rPr lang="zh-CN" altLang="en-US" b="1" dirty="0">
                <a:latin typeface="黑体" pitchFamily="49" charset="-122"/>
                <a:ea typeface="黑体" pitchFamily="49" charset="-122"/>
              </a:rPr>
              <a:t> </a:t>
            </a:r>
            <a:r>
              <a:rPr lang="zh-CN" altLang="zh-CN" b="1" dirty="0">
                <a:latin typeface="黑体" pitchFamily="49" charset="-122"/>
                <a:ea typeface="黑体" pitchFamily="49" charset="-122"/>
              </a:rPr>
              <a:t>t1[X]＝t2[X]，则必有t1[Y]=t2[Y]，则称在R上X函数决定Y或者Y函数依赖于X，记为X→Y，X称为决定子(Determinant)</a:t>
            </a:r>
            <a:endParaRPr lang="zh-CN" altLang="en-US" b="1" dirty="0">
              <a:latin typeface="黑体" pitchFamily="49" charset="-122"/>
              <a:ea typeface="黑体" pitchFamily="49" charset="-122"/>
            </a:endParaRPr>
          </a:p>
        </p:txBody>
      </p:sp>
      <p:sp>
        <p:nvSpPr>
          <p:cNvPr id="27651" name="Rectangle 8"/>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函数依赖</a:t>
            </a:r>
            <a:r>
              <a:rPr lang="en-US" altLang="zh-CN" sz="4000" b="1" dirty="0">
                <a:solidFill>
                  <a:srgbClr val="E40000"/>
                </a:solidFill>
                <a:latin typeface="Arial" panose="020B0604020202020204" pitchFamily="34" charset="0"/>
              </a:rPr>
              <a:t>的</a:t>
            </a:r>
            <a:r>
              <a:rPr lang="zh-CN" altLang="en-US" sz="4000" b="1" dirty="0">
                <a:solidFill>
                  <a:srgbClr val="E40000"/>
                </a:solidFill>
                <a:latin typeface="Arial" panose="020B0604020202020204" pitchFamily="34" charset="0"/>
              </a:rPr>
              <a:t>定义</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698" name="Rectangle 2"/>
          <p:cNvSpPr>
            <a:spLocks noGrp="1"/>
          </p:cNvSpPr>
          <p:nvPr>
            <p:ph type="body" sz="half" idx="1"/>
          </p:nvPr>
        </p:nvSpPr>
        <p:spPr>
          <a:xfrm>
            <a:off x="250825" y="334963"/>
            <a:ext cx="4035425" cy="4530725"/>
          </a:xfrm>
          <a:ln/>
        </p:spPr>
        <p:txBody>
          <a:bodyPr vert="horz" wrap="square" lIns="91440" tIns="45720" rIns="91440" bIns="45720" anchor="t" anchorCtr="0"/>
          <a:p>
            <a:pPr eaLnBrk="1" hangingPunct="1">
              <a:buClrTx/>
              <a:buSzTx/>
              <a:buFontTx/>
            </a:pPr>
            <a:r>
              <a:rPr lang="zh-CN" altLang="en-US" sz="2400" dirty="0"/>
              <a:t>例：</a:t>
            </a:r>
            <a:endParaRPr lang="zh-CN" altLang="en-US" sz="2400" dirty="0"/>
          </a:p>
        </p:txBody>
      </p:sp>
      <p:graphicFrame>
        <p:nvGraphicFramePr>
          <p:cNvPr id="213051" name="Group 59"/>
          <p:cNvGraphicFramePr>
            <a:graphicFrameLocks noGrp="1"/>
          </p:cNvGraphicFramePr>
          <p:nvPr>
            <p:ph sz="half" idx="1"/>
          </p:nvPr>
        </p:nvGraphicFramePr>
        <p:xfrm>
          <a:off x="468313" y="1171575"/>
          <a:ext cx="8154988" cy="3455988"/>
        </p:xfrm>
        <a:graphic>
          <a:graphicData uri="http://schemas.openxmlformats.org/drawingml/2006/table">
            <a:tbl>
              <a:tblPr/>
              <a:tblGrid>
                <a:gridCol w="904875"/>
                <a:gridCol w="908050"/>
                <a:gridCol w="904875"/>
                <a:gridCol w="906462"/>
                <a:gridCol w="906463"/>
                <a:gridCol w="906462"/>
                <a:gridCol w="904875"/>
                <a:gridCol w="908050"/>
                <a:gridCol w="904875"/>
              </a:tblGrid>
              <a:tr h="8509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19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66357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cap="flat">
                      <a:noFill/>
                    </a:lnR>
                    <a:lnT>
                      <a:noFill/>
                    </a:lnT>
                    <a:lnB>
                      <a:noFill/>
                    </a:lnB>
                    <a:lnTlToBr>
                      <a:noFill/>
                    </a:lnTlToBr>
                    <a:lnBlToTr>
                      <a:noFill/>
                    </a:lnBlToTr>
                    <a:noFill/>
                  </a:tcPr>
                </a:tc>
              </a:tr>
              <a:tr h="6175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cap="flat">
                      <a:noFill/>
                    </a:lnR>
                    <a:lnT>
                      <a:noFill/>
                    </a:lnT>
                    <a:lnB>
                      <a:noFill/>
                    </a:lnB>
                    <a:lnTlToBr>
                      <a:noFill/>
                    </a:lnTlToBr>
                    <a:lnBlToTr>
                      <a:noFill/>
                    </a:lnBlToTr>
                    <a:noFill/>
                  </a:tcPr>
                </a:tc>
              </a:tr>
              <a:tr h="6619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cap="flat">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a:ln>
                          <a:noFill/>
                        </a:ln>
                        <a:solidFill>
                          <a:schemeClr val="tx1"/>
                        </a:solidFill>
                        <a:effectLst/>
                        <a:latin typeface="Times New Roman" panose="02020603050405020304" pitchFamily="18" charset="0"/>
                        <a:ea typeface="宋体" pitchFamily="2" charset="-122"/>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a:noFill/>
                    </a:lnL>
                    <a:lnR cap="flat">
                      <a:noFill/>
                    </a:lnR>
                    <a:lnT>
                      <a:noFill/>
                    </a:lnT>
                    <a:lnB cap="flat">
                      <a:noFill/>
                    </a:lnB>
                    <a:lnTlToBr>
                      <a:noFill/>
                    </a:lnTlToBr>
                    <a:lnBlToTr>
                      <a:noFill/>
                    </a:lnBlToTr>
                    <a:noFill/>
                  </a:tcPr>
                </a:tc>
              </a:tr>
            </a:tbl>
          </a:graphicData>
        </a:graphic>
      </p:graphicFrame>
      <p:sp>
        <p:nvSpPr>
          <p:cNvPr id="29749" name="Rectangle 58"/>
          <p:cNvSpPr/>
          <p:nvPr/>
        </p:nvSpPr>
        <p:spPr>
          <a:xfrm>
            <a:off x="323850" y="4843463"/>
            <a:ext cx="8229600" cy="1970087"/>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42900" lvl="0" indent="-342900" eaLnBrk="1" hangingPunct="1">
              <a:lnSpc>
                <a:spcPct val="90000"/>
              </a:lnSpc>
            </a:pPr>
            <a:r>
              <a:rPr lang="zh-CN" altLang="en-US" sz="2000" b="1" dirty="0"/>
              <a:t>分别检验：</a:t>
            </a:r>
            <a:r>
              <a:rPr lang="en-US" altLang="zh-CN" sz="2000" b="1" dirty="0"/>
              <a:t>A→C？C→A？AB→D？</a:t>
            </a:r>
            <a:endParaRPr lang="en-US" altLang="zh-CN" sz="2000" b="1" dirty="0"/>
          </a:p>
          <a:p>
            <a:pPr marL="342900" lvl="0" indent="-342900" eaLnBrk="1" hangingPunct="1">
              <a:lnSpc>
                <a:spcPct val="90000"/>
              </a:lnSpc>
            </a:pPr>
            <a:r>
              <a:rPr lang="zh-CN" altLang="en-US" sz="2000" b="1" dirty="0"/>
              <a:t>辨识：</a:t>
            </a:r>
            <a:endParaRPr lang="zh-CN" altLang="en-US" sz="2000" b="1" dirty="0"/>
          </a:p>
          <a:p>
            <a:pPr marL="742950" lvl="1" indent="-285750" eaLnBrk="1" hangingPunct="1">
              <a:lnSpc>
                <a:spcPct val="90000"/>
              </a:lnSpc>
            </a:pPr>
            <a:r>
              <a:rPr lang="zh-CN" altLang="en-US" sz="2000" b="1" dirty="0"/>
              <a:t>满足依赖的关系：依赖在模式的某个关系实例上成立</a:t>
            </a:r>
            <a:endParaRPr lang="zh-CN" altLang="en-US" sz="2000" b="1" dirty="0"/>
          </a:p>
          <a:p>
            <a:pPr marL="742950" lvl="1" indent="-285750" eaLnBrk="1" hangingPunct="1">
              <a:lnSpc>
                <a:spcPct val="90000"/>
              </a:lnSpc>
            </a:pPr>
            <a:r>
              <a:rPr lang="zh-CN" altLang="en-US" sz="2000" b="1" dirty="0"/>
              <a:t>模式上成立的依赖：依赖在模式的所有关系实例上都成立</a:t>
            </a:r>
            <a:endParaRPr lang="zh-CN" altLang="en-US" sz="2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1746" name="Rectangle 2"/>
          <p:cNvSpPr>
            <a:spLocks noGrp="1"/>
          </p:cNvSpPr>
          <p:nvPr>
            <p:ph type="title"/>
          </p:nvPr>
        </p:nvSpPr>
        <p:spPr>
          <a:xfrm>
            <a:off x="900113" y="549275"/>
            <a:ext cx="7772400" cy="1143000"/>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函数依赖</a:t>
            </a:r>
            <a:r>
              <a:rPr lang="en-US" altLang="zh-CN" sz="4000" b="1" dirty="0">
                <a:solidFill>
                  <a:srgbClr val="E40000"/>
                </a:solidFill>
                <a:latin typeface="Arial" panose="020B0604020202020204" pitchFamily="34" charset="0"/>
              </a:rPr>
              <a:t>的</a:t>
            </a:r>
            <a:r>
              <a:rPr lang="zh-CN" altLang="en-US" sz="4000" b="1" dirty="0">
                <a:solidFill>
                  <a:srgbClr val="E40000"/>
                </a:solidFill>
                <a:latin typeface="Arial" panose="020B0604020202020204" pitchFamily="34" charset="0"/>
              </a:rPr>
              <a:t>定义</a:t>
            </a:r>
            <a:endParaRPr lang="zh-CN" altLang="en-US" sz="4000" b="1" dirty="0">
              <a:solidFill>
                <a:srgbClr val="E40000"/>
              </a:solidFill>
              <a:latin typeface="Arial" panose="020B0604020202020204" pitchFamily="34" charset="0"/>
            </a:endParaRPr>
          </a:p>
        </p:txBody>
      </p:sp>
      <p:sp>
        <p:nvSpPr>
          <p:cNvPr id="31747" name="Rectangle 3"/>
          <p:cNvSpPr>
            <a:spLocks noGrp="1"/>
          </p:cNvSpPr>
          <p:nvPr>
            <p:ph idx="1"/>
          </p:nvPr>
        </p:nvSpPr>
        <p:spPr>
          <a:xfrm>
            <a:off x="900113" y="1700213"/>
            <a:ext cx="7561262" cy="4248150"/>
          </a:xfrm>
          <a:ln/>
        </p:spPr>
        <p:txBody>
          <a:bodyPr vert="horz" wrap="square" lIns="91440" tIns="45720" rIns="91440" bIns="45720" anchor="t" anchorCtr="0"/>
          <a:p>
            <a:pPr eaLnBrk="1" hangingPunct="1"/>
            <a:r>
              <a:rPr lang="zh-CN" altLang="en-US" b="1" dirty="0">
                <a:latin typeface="黑体" pitchFamily="49" charset="-122"/>
                <a:ea typeface="黑体" pitchFamily="49" charset="-122"/>
              </a:rPr>
              <a:t>函数依赖是语义范畴的概念，它反映了一种语义完整性约束，只能根据语义来确定一个函数依赖是否成立</a:t>
            </a:r>
            <a:endParaRPr lang="en-US" altLang="zh-CN" b="1" dirty="0">
              <a:latin typeface="黑体" pitchFamily="49" charset="-122"/>
              <a:ea typeface="黑体" pitchFamily="49" charset="-122"/>
            </a:endParaRPr>
          </a:p>
          <a:p>
            <a:pPr eaLnBrk="1" hangingPunct="1"/>
            <a:r>
              <a:rPr lang="zh-CN" altLang="en-US" b="1" dirty="0">
                <a:latin typeface="黑体" pitchFamily="49" charset="-122"/>
                <a:ea typeface="黑体" pitchFamily="49" charset="-122"/>
              </a:rPr>
              <a:t>例如，</a:t>
            </a:r>
            <a:r>
              <a:rPr lang="zh-CN" altLang="en-US" b="1" dirty="0">
                <a:ea typeface="黑体" pitchFamily="49" charset="-122"/>
              </a:rPr>
              <a:t>“</a:t>
            </a:r>
            <a:r>
              <a:rPr lang="zh-CN" altLang="en-US" b="1" dirty="0">
                <a:latin typeface="黑体" pitchFamily="49" charset="-122"/>
                <a:ea typeface="黑体" pitchFamily="49" charset="-122"/>
              </a:rPr>
              <a:t>姓名</a:t>
            </a:r>
            <a:r>
              <a:rPr lang="zh-CN" altLang="en-US" b="1" dirty="0">
                <a:ea typeface="黑体" pitchFamily="49" charset="-122"/>
              </a:rPr>
              <a:t>”</a:t>
            </a:r>
            <a:r>
              <a:rPr lang="en-US" altLang="zh-CN" b="1" dirty="0">
                <a:latin typeface="黑体" pitchFamily="49" charset="-122"/>
                <a:ea typeface="黑体" pitchFamily="49" charset="-122"/>
                <a:sym typeface="Wingdings" panose="05000000000000000000" pitchFamily="2" charset="2"/>
              </a:rPr>
              <a:t></a:t>
            </a:r>
            <a:r>
              <a:rPr lang="en-US" altLang="zh-CN" b="1" dirty="0">
                <a:ea typeface="黑体" pitchFamily="49" charset="-122"/>
              </a:rPr>
              <a:t>“</a:t>
            </a:r>
            <a:r>
              <a:rPr lang="zh-CN" altLang="en-US" b="1" dirty="0">
                <a:latin typeface="黑体" pitchFamily="49" charset="-122"/>
                <a:ea typeface="黑体" pitchFamily="49" charset="-122"/>
              </a:rPr>
              <a:t>年龄</a:t>
            </a:r>
            <a:r>
              <a:rPr lang="zh-CN" altLang="en-US" b="1" dirty="0">
                <a:ea typeface="黑体" pitchFamily="49" charset="-122"/>
              </a:rPr>
              <a:t>”</a:t>
            </a:r>
            <a:r>
              <a:rPr lang="zh-CN" altLang="en-US" b="1" dirty="0">
                <a:latin typeface="黑体" pitchFamily="49" charset="-122"/>
                <a:ea typeface="黑体" pitchFamily="49" charset="-122"/>
              </a:rPr>
              <a:t>这个函数依赖只有在没有同名人的条件下成立，否则，此函数依赖不成立</a:t>
            </a:r>
            <a:endParaRPr lang="zh-CN" altLang="en-US" b="1" dirty="0">
              <a:latin typeface="黑体" pitchFamily="49" charset="-122"/>
              <a:ea typeface="黑体" pitchFamily="49" charset="-122"/>
            </a:endParaRPr>
          </a:p>
          <a:p>
            <a:pPr eaLnBrk="1" hangingPunct="1"/>
            <a:r>
              <a:rPr lang="zh-CN" altLang="en-US" b="1" dirty="0">
                <a:latin typeface="黑体" pitchFamily="49" charset="-122"/>
                <a:ea typeface="黑体" pitchFamily="49" charset="-122"/>
              </a:rPr>
              <a:t>函数依赖是指关系</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模式的</a:t>
            </a:r>
            <a:r>
              <a:rPr lang="zh-CN" altLang="en-US" b="1" u="sng" dirty="0">
                <a:latin typeface="黑体" pitchFamily="49" charset="-122"/>
                <a:ea typeface="黑体" pitchFamily="49" charset="-122"/>
              </a:rPr>
              <a:t>所有</a:t>
            </a:r>
            <a:r>
              <a:rPr lang="zh-CN" altLang="en-US" b="1" dirty="0">
                <a:latin typeface="黑体" pitchFamily="49" charset="-122"/>
                <a:ea typeface="黑体" pitchFamily="49" charset="-122"/>
              </a:rPr>
              <a:t>关系元组均应满足的约束条件</a:t>
            </a:r>
            <a:r>
              <a:rPr lang="en-US" altLang="zh-CN" b="1" dirty="0">
                <a:latin typeface="黑体" pitchFamily="49" charset="-122"/>
                <a:ea typeface="黑体" pitchFamily="49" charset="-122"/>
              </a:rPr>
              <a:t>,</a:t>
            </a:r>
            <a:r>
              <a:rPr lang="zh-CN" altLang="en-US" b="1" dirty="0">
                <a:latin typeface="黑体" pitchFamily="49" charset="-122"/>
                <a:ea typeface="黑体" pitchFamily="49" charset="-122"/>
              </a:rPr>
              <a:t>而不是关系模式中的某个或某些元组满足的约束条件</a:t>
            </a:r>
            <a:endParaRPr lang="zh-CN" altLang="en-US" b="1" dirty="0">
              <a:latin typeface="黑体" pitchFamily="49" charset="-122"/>
              <a:ea typeface="黑体"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3794" name="Rectangle 5"/>
          <p:cNvSpPr/>
          <p:nvPr/>
        </p:nvSpPr>
        <p:spPr>
          <a:xfrm>
            <a:off x="611188" y="1600200"/>
            <a:ext cx="8208962"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35000"/>
              </a:lnSpc>
              <a:buClr>
                <a:srgbClr val="E40000"/>
              </a:buClr>
              <a:buFont typeface="Wingdings" panose="05000000000000000000" pitchFamily="2" charset="2"/>
              <a:buChar char="Ø"/>
            </a:pPr>
            <a:r>
              <a:rPr lang="zh-CN" altLang="en-US" b="1" dirty="0">
                <a:latin typeface="黑体" pitchFamily="49" charset="-122"/>
                <a:ea typeface="黑体" pitchFamily="49" charset="-122"/>
              </a:rPr>
              <a:t>定义</a:t>
            </a:r>
            <a:r>
              <a:rPr lang="en-US" altLang="zh-CN" b="1" dirty="0">
                <a:latin typeface="黑体" pitchFamily="49" charset="-122"/>
                <a:ea typeface="黑体" pitchFamily="49" charset="-122"/>
              </a:rPr>
              <a:t>4.2</a:t>
            </a:r>
            <a:r>
              <a:rPr lang="zh-CN" altLang="en-US" b="1" dirty="0">
                <a:latin typeface="黑体" pitchFamily="49" charset="-122"/>
                <a:ea typeface="黑体" pitchFamily="49" charset="-122"/>
              </a:rPr>
              <a:t>：设</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为关系模式，</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是</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的不同属性集，如果</a:t>
            </a:r>
            <a:r>
              <a:rPr lang="en-US" altLang="zh-CN" b="1" dirty="0">
                <a:latin typeface="黑体" pitchFamily="49" charset="-122"/>
                <a:ea typeface="黑体" pitchFamily="49" charset="-122"/>
              </a:rPr>
              <a:t>X</a:t>
            </a:r>
            <a:r>
              <a:rPr lang="en-US" altLang="zh-CN" b="1" dirty="0">
                <a:latin typeface="Times New Roman" panose="02020603050405020304" pitchFamily="18" charset="0"/>
                <a:ea typeface="黑体" pitchFamily="49" charset="-122"/>
              </a:rPr>
              <a:t>→</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成立，且不存在</a:t>
            </a:r>
            <a:r>
              <a:rPr lang="en-US" altLang="zh-CN" b="1" dirty="0">
                <a:latin typeface="黑体" pitchFamily="49" charset="-122"/>
                <a:ea typeface="黑体" pitchFamily="49" charset="-122"/>
              </a:rPr>
              <a:t>X</a:t>
            </a:r>
            <a:r>
              <a:rPr lang="en-US" altLang="zh-CN" b="1" dirty="0">
                <a:latin typeface="Arial Unicode MS" pitchFamily="34" charset="-122"/>
                <a:ea typeface="Arial Unicode MS" pitchFamily="34" charset="-122"/>
              </a:rPr>
              <a:t>’</a:t>
            </a:r>
            <a:r>
              <a:rPr lang="en-US" altLang="zh-CN" b="1" dirty="0">
                <a:ea typeface="黑体" pitchFamily="49" charset="-122"/>
              </a:rPr>
              <a:t>⊂</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使得</a:t>
            </a:r>
            <a:r>
              <a:rPr lang="en-US" altLang="zh-CN" b="1" dirty="0">
                <a:latin typeface="黑体" pitchFamily="49" charset="-122"/>
                <a:ea typeface="黑体" pitchFamily="49" charset="-122"/>
              </a:rPr>
              <a:t>X</a:t>
            </a:r>
            <a:r>
              <a:rPr lang="en-US" altLang="zh-CN" b="1" dirty="0">
                <a:latin typeface="Arial Unicode MS" pitchFamily="34" charset="-122"/>
                <a:ea typeface="Arial Unicode MS" pitchFamily="34" charset="-122"/>
              </a:rPr>
              <a:t>’</a:t>
            </a:r>
            <a:r>
              <a:rPr lang="en-US" altLang="zh-CN" b="1" dirty="0">
                <a:latin typeface="Times New Roman" panose="02020603050405020304" pitchFamily="18" charset="0"/>
                <a:ea typeface="黑体" pitchFamily="49" charset="-122"/>
              </a:rPr>
              <a:t>→</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也成立，则称</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完全函数依赖于</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，记为</a:t>
            </a:r>
            <a:r>
              <a:rPr lang="en-US" altLang="zh-CN" b="1" dirty="0">
                <a:latin typeface="黑体" pitchFamily="49" charset="-122"/>
                <a:ea typeface="黑体" pitchFamily="49" charset="-122"/>
              </a:rPr>
              <a:t>X   Y</a:t>
            </a:r>
            <a:r>
              <a:rPr lang="zh-CN" altLang="en-US" b="1" dirty="0">
                <a:latin typeface="黑体" pitchFamily="49" charset="-122"/>
                <a:ea typeface="黑体" pitchFamily="49" charset="-122"/>
              </a:rPr>
              <a:t>，否则称</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部分依赖于</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，记为</a:t>
            </a:r>
            <a:r>
              <a:rPr lang="en-US" altLang="zh-CN" b="1" dirty="0">
                <a:latin typeface="黑体" pitchFamily="49" charset="-122"/>
                <a:ea typeface="黑体" pitchFamily="49" charset="-122"/>
              </a:rPr>
              <a:t>X   Y</a:t>
            </a:r>
            <a:endParaRPr lang="zh-CN" altLang="en-US" b="1" dirty="0">
              <a:latin typeface="黑体" pitchFamily="49" charset="-122"/>
              <a:ea typeface="黑体" pitchFamily="49" charset="-122"/>
            </a:endParaRPr>
          </a:p>
          <a:p>
            <a:pPr marL="355600" lvl="0" indent="-355600" eaLnBrk="1" hangingPunct="1">
              <a:lnSpc>
                <a:spcPct val="120000"/>
              </a:lnSpc>
              <a:buClr>
                <a:srgbClr val="E40000"/>
              </a:buClr>
              <a:buFont typeface="Wingdings" panose="05000000000000000000" pitchFamily="2" charset="2"/>
              <a:buBlip>
                <a:blip r:embed="rId1"/>
              </a:buBlip>
            </a:pPr>
            <a:r>
              <a:rPr lang="zh-CN" altLang="en-US" b="1" dirty="0">
                <a:latin typeface="黑体" pitchFamily="49" charset="-122"/>
                <a:ea typeface="黑体" pitchFamily="49" charset="-122"/>
              </a:rPr>
              <a:t>完全函数依赖中的决定子不包含冗余属性，即只要将决定子中的任何一个属性去掉，这个函数依赖就不再成立了</a:t>
            </a:r>
            <a:endParaRPr lang="zh-CN" altLang="en-US" b="1" dirty="0">
              <a:latin typeface="黑体" pitchFamily="49" charset="-122"/>
              <a:ea typeface="黑体" pitchFamily="49" charset="-122"/>
            </a:endParaRPr>
          </a:p>
          <a:p>
            <a:pPr marL="355600" lvl="0" indent="-355600" eaLnBrk="1" hangingPunct="1">
              <a:lnSpc>
                <a:spcPct val="120000"/>
              </a:lnSpc>
              <a:buClr>
                <a:srgbClr val="E40000"/>
              </a:buClr>
              <a:buFont typeface="Wingdings" panose="05000000000000000000" pitchFamily="2" charset="2"/>
              <a:buBlip>
                <a:blip r:embed="rId1"/>
              </a:buBlip>
            </a:pPr>
            <a:r>
              <a:rPr lang="zh-CN" altLang="en-US" b="1" dirty="0">
                <a:latin typeface="黑体" pitchFamily="49" charset="-122"/>
                <a:ea typeface="黑体" pitchFamily="49" charset="-122"/>
              </a:rPr>
              <a:t>定义</a:t>
            </a:r>
            <a:r>
              <a:rPr lang="en-US" altLang="zh-CN" b="1" dirty="0">
                <a:latin typeface="黑体" pitchFamily="49" charset="-122"/>
                <a:ea typeface="黑体" pitchFamily="49" charset="-122"/>
              </a:rPr>
              <a:t>4.3</a:t>
            </a:r>
            <a:r>
              <a:rPr lang="zh-CN" altLang="en-US" b="1" dirty="0">
                <a:latin typeface="黑体" pitchFamily="49" charset="-122"/>
                <a:ea typeface="黑体" pitchFamily="49" charset="-122"/>
              </a:rPr>
              <a:t>：如果</a:t>
            </a:r>
            <a:r>
              <a:rPr lang="en-US" altLang="zh-CN" b="1" dirty="0">
                <a:latin typeface="黑体" pitchFamily="49" charset="-122"/>
                <a:ea typeface="黑体" pitchFamily="49" charset="-122"/>
              </a:rPr>
              <a:t>Y</a:t>
            </a:r>
            <a:r>
              <a:rPr lang="en-US" altLang="zh-CN" b="1" dirty="0">
                <a:sym typeface="Symbol" panose="05050102010706020507" pitchFamily="18" charset="2"/>
              </a:rPr>
              <a:t>X,</a:t>
            </a:r>
            <a:r>
              <a:rPr lang="zh-CN" altLang="en-US" b="1" dirty="0">
                <a:sym typeface="Symbol" panose="05050102010706020507" pitchFamily="18" charset="2"/>
              </a:rPr>
              <a:t>则称</a:t>
            </a:r>
            <a:r>
              <a:rPr lang="en-US" altLang="zh-CN" b="1" dirty="0">
                <a:latin typeface="黑体" pitchFamily="49" charset="-122"/>
                <a:ea typeface="黑体" pitchFamily="49" charset="-122"/>
              </a:rPr>
              <a:t>X</a:t>
            </a:r>
            <a:r>
              <a:rPr lang="en-US" altLang="zh-CN" b="1" dirty="0">
                <a:latin typeface="Times New Roman" panose="02020603050405020304" pitchFamily="18" charset="0"/>
                <a:ea typeface="黑体" pitchFamily="49" charset="-122"/>
              </a:rPr>
              <a:t>→</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为平凡的函数依赖</a:t>
            </a:r>
            <a:endParaRPr lang="zh-CN" altLang="en-US" b="1" dirty="0">
              <a:latin typeface="黑体" pitchFamily="49" charset="-122"/>
              <a:ea typeface="黑体" pitchFamily="49" charset="-122"/>
            </a:endParaRPr>
          </a:p>
        </p:txBody>
      </p:sp>
      <p:sp>
        <p:nvSpPr>
          <p:cNvPr id="33795" name="Rectangle 7"/>
          <p:cNvSpPr/>
          <p:nvPr/>
        </p:nvSpPr>
        <p:spPr>
          <a:xfrm>
            <a:off x="0" y="332898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graphicFrame>
        <p:nvGraphicFramePr>
          <p:cNvPr id="33796" name="Object 6"/>
          <p:cNvGraphicFramePr>
            <a:graphicFrameLocks noChangeAspect="1"/>
          </p:cNvGraphicFramePr>
          <p:nvPr/>
        </p:nvGraphicFramePr>
        <p:xfrm>
          <a:off x="4768850" y="3467100"/>
          <a:ext cx="595313" cy="280988"/>
        </p:xfrm>
        <a:graphic>
          <a:graphicData uri="http://schemas.openxmlformats.org/presentationml/2006/ole">
            <mc:AlternateContent xmlns:mc="http://schemas.openxmlformats.org/markup-compatibility/2006">
              <mc:Choice xmlns:v="urn:schemas-microsoft-com:vml" Requires="v">
                <p:oleObj spid="_x0000_s3076" name="" r:id="rId2" imgW="799465" imgH="381000" progId="Equation.3">
                  <p:embed/>
                </p:oleObj>
              </mc:Choice>
              <mc:Fallback>
                <p:oleObj name="" r:id="rId2" imgW="799465" imgH="381000" progId="Equation.3">
                  <p:embed/>
                  <p:pic>
                    <p:nvPicPr>
                      <p:cNvPr id="0" name="Picture 3075"/>
                      <p:cNvPicPr/>
                      <p:nvPr/>
                    </p:nvPicPr>
                    <p:blipFill>
                      <a:blip r:embed="rId3"/>
                      <a:stretch>
                        <a:fillRect/>
                      </a:stretch>
                    </p:blipFill>
                    <p:spPr>
                      <a:xfrm>
                        <a:off x="4768850" y="3467100"/>
                        <a:ext cx="595313" cy="280988"/>
                      </a:xfrm>
                      <a:prstGeom prst="rect">
                        <a:avLst/>
                      </a:prstGeom>
                      <a:noFill/>
                      <a:ln w="38100">
                        <a:noFill/>
                        <a:miter/>
                      </a:ln>
                    </p:spPr>
                  </p:pic>
                </p:oleObj>
              </mc:Fallback>
            </mc:AlternateContent>
          </a:graphicData>
        </a:graphic>
      </p:graphicFrame>
      <p:sp>
        <p:nvSpPr>
          <p:cNvPr id="33797" name="Rectangle 9"/>
          <p:cNvSpPr/>
          <p:nvPr/>
        </p:nvSpPr>
        <p:spPr>
          <a:xfrm>
            <a:off x="0" y="336708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33798" name="Rectangle 11"/>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graphicFrame>
        <p:nvGraphicFramePr>
          <p:cNvPr id="33799" name="Object 10"/>
          <p:cNvGraphicFramePr>
            <a:graphicFrameLocks noChangeAspect="1"/>
          </p:cNvGraphicFramePr>
          <p:nvPr/>
        </p:nvGraphicFramePr>
        <p:xfrm>
          <a:off x="6578600" y="2898775"/>
          <a:ext cx="585788" cy="276225"/>
        </p:xfrm>
        <a:graphic>
          <a:graphicData uri="http://schemas.openxmlformats.org/presentationml/2006/ole">
            <mc:AlternateContent xmlns:mc="http://schemas.openxmlformats.org/markup-compatibility/2006">
              <mc:Choice xmlns:v="urn:schemas-microsoft-com:vml" Requires="v">
                <p:oleObj spid="_x0000_s3077" name="" r:id="rId4" imgW="799465" imgH="381000" progId="Equation.3">
                  <p:embed/>
                </p:oleObj>
              </mc:Choice>
              <mc:Fallback>
                <p:oleObj name="" r:id="rId4" imgW="799465" imgH="381000" progId="Equation.3">
                  <p:embed/>
                  <p:pic>
                    <p:nvPicPr>
                      <p:cNvPr id="0" name="Picture 3076"/>
                      <p:cNvPicPr/>
                      <p:nvPr/>
                    </p:nvPicPr>
                    <p:blipFill>
                      <a:blip r:embed="rId5"/>
                      <a:stretch>
                        <a:fillRect/>
                      </a:stretch>
                    </p:blipFill>
                    <p:spPr>
                      <a:xfrm>
                        <a:off x="6578600" y="2898775"/>
                        <a:ext cx="585788" cy="276225"/>
                      </a:xfrm>
                      <a:prstGeom prst="rect">
                        <a:avLst/>
                      </a:prstGeom>
                      <a:noFill/>
                      <a:ln w="38100">
                        <a:noFill/>
                        <a:miter/>
                      </a:ln>
                    </p:spPr>
                  </p:pic>
                </p:oleObj>
              </mc:Fallback>
            </mc:AlternateContent>
          </a:graphicData>
        </a:graphic>
      </p:graphicFrame>
      <p:sp>
        <p:nvSpPr>
          <p:cNvPr id="33800" name="Rectangle 14"/>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函数依赖</a:t>
            </a:r>
            <a:r>
              <a:rPr lang="en-US" altLang="zh-CN" sz="4000" b="1" dirty="0">
                <a:solidFill>
                  <a:srgbClr val="E40000"/>
                </a:solidFill>
                <a:latin typeface="Arial" panose="020B0604020202020204" pitchFamily="34" charset="0"/>
              </a:rPr>
              <a:t>的</a:t>
            </a:r>
            <a:r>
              <a:rPr lang="zh-CN" altLang="en-US" sz="4000" b="1" dirty="0">
                <a:solidFill>
                  <a:srgbClr val="E40000"/>
                </a:solidFill>
                <a:latin typeface="Arial" panose="020B0604020202020204" pitchFamily="34" charset="0"/>
              </a:rPr>
              <a:t>定义</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5842" name="Rectangle 5"/>
          <p:cNvSpPr/>
          <p:nvPr/>
        </p:nvSpPr>
        <p:spPr>
          <a:xfrm>
            <a:off x="755650" y="1457325"/>
            <a:ext cx="7862888"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60000"/>
              </a:lnSpc>
              <a:buClr>
                <a:srgbClr val="E40000"/>
              </a:buClr>
              <a:buFont typeface="Wingdings" panose="05000000000000000000" pitchFamily="2" charset="2"/>
              <a:buChar char="Ø"/>
            </a:pPr>
            <a:r>
              <a:rPr lang="zh-CN" altLang="en-US" b="1" dirty="0">
                <a:latin typeface="黑体" pitchFamily="49" charset="-122"/>
                <a:ea typeface="黑体" pitchFamily="49" charset="-122"/>
              </a:rPr>
              <a:t>定义</a:t>
            </a:r>
            <a:r>
              <a:rPr lang="en-US" altLang="zh-CN" b="1" dirty="0">
                <a:latin typeface="黑体" pitchFamily="49" charset="-122"/>
                <a:ea typeface="黑体" pitchFamily="49" charset="-122"/>
              </a:rPr>
              <a:t>4.4</a:t>
            </a:r>
            <a:r>
              <a:rPr lang="zh-CN" altLang="en-US" b="1" dirty="0">
                <a:latin typeface="黑体" pitchFamily="49" charset="-122"/>
                <a:ea typeface="黑体" pitchFamily="49" charset="-122"/>
              </a:rPr>
              <a:t>：设</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Z</a:t>
            </a:r>
            <a:r>
              <a:rPr lang="zh-CN" altLang="en-US" b="1" dirty="0">
                <a:latin typeface="黑体" pitchFamily="49" charset="-122"/>
                <a:ea typeface="黑体" pitchFamily="49" charset="-122"/>
              </a:rPr>
              <a:t>是</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上的不同属性集合，如果有</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Y→Z</a:t>
            </a:r>
            <a:r>
              <a:rPr lang="zh-CN" altLang="en-US" b="1" dirty="0">
                <a:latin typeface="黑体" pitchFamily="49" charset="-122"/>
                <a:ea typeface="黑体" pitchFamily="49" charset="-122"/>
              </a:rPr>
              <a:t>成立且</a:t>
            </a:r>
            <a:r>
              <a:rPr lang="en-US" altLang="zh-CN" b="1" dirty="0">
                <a:latin typeface="黑体" pitchFamily="49" charset="-122"/>
                <a:ea typeface="黑体" pitchFamily="49" charset="-122"/>
              </a:rPr>
              <a:t>Y   X</a:t>
            </a:r>
            <a:r>
              <a:rPr lang="zh-CN" altLang="en-US" b="1" dirty="0">
                <a:latin typeface="黑体" pitchFamily="49" charset="-122"/>
                <a:ea typeface="黑体" pitchFamily="49" charset="-122"/>
              </a:rPr>
              <a:t>，则称</a:t>
            </a:r>
            <a:r>
              <a:rPr lang="en-US" altLang="zh-CN" b="1" dirty="0">
                <a:latin typeface="黑体" pitchFamily="49" charset="-122"/>
                <a:ea typeface="黑体" pitchFamily="49" charset="-122"/>
              </a:rPr>
              <a:t>Z</a:t>
            </a:r>
            <a:r>
              <a:rPr lang="zh-CN" altLang="en-US" b="1" dirty="0">
                <a:latin typeface="黑体" pitchFamily="49" charset="-122"/>
                <a:ea typeface="黑体" pitchFamily="49" charset="-122"/>
              </a:rPr>
              <a:t>传递函数依赖于</a:t>
            </a:r>
            <a:r>
              <a:rPr lang="en-US" altLang="zh-CN" b="1" dirty="0">
                <a:latin typeface="黑体" pitchFamily="49" charset="-122"/>
                <a:ea typeface="黑体" pitchFamily="49" charset="-122"/>
              </a:rPr>
              <a:t>X</a:t>
            </a:r>
            <a:endParaRPr lang="en-US" altLang="zh-CN" b="1" dirty="0">
              <a:latin typeface="黑体" pitchFamily="49" charset="-122"/>
              <a:ea typeface="黑体" pitchFamily="49" charset="-122"/>
            </a:endParaRPr>
          </a:p>
          <a:p>
            <a:pPr marL="355600" lvl="0" indent="-355600" eaLnBrk="1" hangingPunct="1">
              <a:lnSpc>
                <a:spcPct val="130000"/>
              </a:lnSpc>
              <a:buClr>
                <a:srgbClr val="E40000"/>
              </a:buClr>
              <a:buFont typeface="Wingdings" panose="05000000000000000000" pitchFamily="2" charset="2"/>
              <a:buChar char="Ø"/>
            </a:pPr>
            <a:r>
              <a:rPr lang="zh-CN" altLang="en-US" b="1" dirty="0">
                <a:latin typeface="黑体" pitchFamily="49" charset="-122"/>
                <a:ea typeface="黑体" pitchFamily="49" charset="-122"/>
              </a:rPr>
              <a:t>条件</a:t>
            </a:r>
            <a:r>
              <a:rPr lang="en-US" altLang="zh-CN" b="1" dirty="0">
                <a:latin typeface="黑体" pitchFamily="49" charset="-122"/>
                <a:ea typeface="黑体" pitchFamily="49" charset="-122"/>
              </a:rPr>
              <a:t>Y   X</a:t>
            </a:r>
            <a:r>
              <a:rPr lang="zh-CN" altLang="en-US" b="1" dirty="0">
                <a:latin typeface="黑体" pitchFamily="49" charset="-122"/>
                <a:ea typeface="黑体" pitchFamily="49" charset="-122"/>
              </a:rPr>
              <a:t>非常重要，如果没有这个条件，那么</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与</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就是一一对应关系，从而</a:t>
            </a:r>
            <a:r>
              <a:rPr lang="en-US" altLang="zh-CN" b="1" dirty="0">
                <a:latin typeface="黑体" pitchFamily="49" charset="-122"/>
                <a:ea typeface="黑体" pitchFamily="49" charset="-122"/>
              </a:rPr>
              <a:t>X→Z</a:t>
            </a:r>
            <a:r>
              <a:rPr lang="zh-CN" altLang="en-US" b="1" dirty="0">
                <a:latin typeface="黑体" pitchFamily="49" charset="-122"/>
                <a:ea typeface="黑体" pitchFamily="49" charset="-122"/>
              </a:rPr>
              <a:t>就是直接函数依赖</a:t>
            </a:r>
            <a:endParaRPr lang="zh-CN" altLang="en-US" b="1" dirty="0">
              <a:latin typeface="黑体" pitchFamily="49" charset="-122"/>
              <a:ea typeface="黑体" pitchFamily="49" charset="-122"/>
            </a:endParaRPr>
          </a:p>
          <a:p>
            <a:pPr marL="355600" lvl="0" indent="-355600" eaLnBrk="1" hangingPunct="1">
              <a:lnSpc>
                <a:spcPct val="130000"/>
              </a:lnSpc>
              <a:buClr>
                <a:srgbClr val="E40000"/>
              </a:buClr>
              <a:buFont typeface="Wingdings" panose="05000000000000000000" pitchFamily="2" charset="2"/>
              <a:buChar char="Ø"/>
            </a:pPr>
            <a:endParaRPr lang="en-US" altLang="zh-CN" b="1" dirty="0">
              <a:latin typeface="黑体" pitchFamily="49" charset="-122"/>
              <a:ea typeface="黑体" pitchFamily="49" charset="-122"/>
            </a:endParaRPr>
          </a:p>
        </p:txBody>
      </p:sp>
      <p:sp>
        <p:nvSpPr>
          <p:cNvPr id="35843" name="Rectangle 7"/>
          <p:cNvSpPr/>
          <p:nvPr/>
        </p:nvSpPr>
        <p:spPr>
          <a:xfrm>
            <a:off x="0" y="336232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graphicFrame>
        <p:nvGraphicFramePr>
          <p:cNvPr id="35844" name="Object 6"/>
          <p:cNvGraphicFramePr>
            <a:graphicFrameLocks noChangeAspect="1"/>
          </p:cNvGraphicFramePr>
          <p:nvPr/>
        </p:nvGraphicFramePr>
        <p:xfrm>
          <a:off x="5383213" y="2497138"/>
          <a:ext cx="373062" cy="217487"/>
        </p:xfrm>
        <a:graphic>
          <a:graphicData uri="http://schemas.openxmlformats.org/presentationml/2006/ole">
            <mc:AlternateContent xmlns:mc="http://schemas.openxmlformats.org/markup-compatibility/2006">
              <mc:Choice xmlns:v="urn:schemas-microsoft-com:vml" Requires="v">
                <p:oleObj spid="_x0000_s3078" name="" r:id="rId1" imgW="228600" imgH="133350" progId="Paint.Picture">
                  <p:embed/>
                </p:oleObj>
              </mc:Choice>
              <mc:Fallback>
                <p:oleObj name="" r:id="rId1" imgW="228600" imgH="133350" progId="Paint.Picture">
                  <p:embed/>
                  <p:pic>
                    <p:nvPicPr>
                      <p:cNvPr id="0" name="Picture 3077"/>
                      <p:cNvPicPr/>
                      <p:nvPr/>
                    </p:nvPicPr>
                    <p:blipFill>
                      <a:blip r:embed="rId2"/>
                      <a:stretch>
                        <a:fillRect/>
                      </a:stretch>
                    </p:blipFill>
                    <p:spPr>
                      <a:xfrm>
                        <a:off x="5383213" y="2497138"/>
                        <a:ext cx="373062" cy="217487"/>
                      </a:xfrm>
                      <a:prstGeom prst="rect">
                        <a:avLst/>
                      </a:prstGeom>
                      <a:noFill/>
                      <a:ln w="38100">
                        <a:noFill/>
                        <a:miter/>
                      </a:ln>
                    </p:spPr>
                  </p:pic>
                </p:oleObj>
              </mc:Fallback>
            </mc:AlternateContent>
          </a:graphicData>
        </a:graphic>
      </p:graphicFrame>
      <p:pic>
        <p:nvPicPr>
          <p:cNvPr id="35845" name="Picture 9"/>
          <p:cNvPicPr>
            <a:picLocks noChangeAspect="1"/>
          </p:cNvPicPr>
          <p:nvPr/>
        </p:nvPicPr>
        <p:blipFill>
          <a:blip r:embed="rId3"/>
          <a:stretch>
            <a:fillRect/>
          </a:stretch>
        </p:blipFill>
        <p:spPr>
          <a:xfrm>
            <a:off x="2143125" y="3838575"/>
            <a:ext cx="403225" cy="234950"/>
          </a:xfrm>
          <a:prstGeom prst="rect">
            <a:avLst/>
          </a:prstGeom>
          <a:noFill/>
          <a:ln w="9525">
            <a:noFill/>
          </a:ln>
        </p:spPr>
      </p:pic>
      <p:sp>
        <p:nvSpPr>
          <p:cNvPr id="35846" name="Rectangle 12"/>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函数依赖</a:t>
            </a:r>
            <a:r>
              <a:rPr lang="en-US" altLang="zh-CN" sz="4000" b="1" dirty="0">
                <a:solidFill>
                  <a:srgbClr val="E40000"/>
                </a:solidFill>
                <a:latin typeface="Arial" panose="020B0604020202020204" pitchFamily="34" charset="0"/>
              </a:rPr>
              <a:t>的</a:t>
            </a:r>
            <a:r>
              <a:rPr lang="zh-CN" altLang="en-US" sz="4000" b="1" dirty="0">
                <a:solidFill>
                  <a:srgbClr val="E40000"/>
                </a:solidFill>
                <a:latin typeface="Arial" panose="020B0604020202020204" pitchFamily="34" charset="0"/>
              </a:rPr>
              <a:t>定义</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7890" name="Rectangle 2"/>
          <p:cNvSpPr>
            <a:spLocks noGrp="1"/>
          </p:cNvSpPr>
          <p:nvPr>
            <p:ph type="title"/>
          </p:nvPr>
        </p:nvSpPr>
        <p:spPr>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函数依赖</a:t>
            </a:r>
            <a:r>
              <a:rPr lang="en-US" altLang="zh-CN" sz="4000" b="1" dirty="0">
                <a:solidFill>
                  <a:srgbClr val="E40000"/>
                </a:solidFill>
                <a:latin typeface="Arial" panose="020B0604020202020204" pitchFamily="34" charset="0"/>
              </a:rPr>
              <a:t>的</a:t>
            </a:r>
            <a:r>
              <a:rPr lang="zh-CN" altLang="en-US" sz="4000" b="1" dirty="0">
                <a:solidFill>
                  <a:srgbClr val="E40000"/>
                </a:solidFill>
                <a:latin typeface="Arial" panose="020B0604020202020204" pitchFamily="34" charset="0"/>
              </a:rPr>
              <a:t>逻辑蕴涵</a:t>
            </a:r>
            <a:endParaRPr lang="zh-CN" altLang="en-US" sz="4000" b="1" dirty="0">
              <a:solidFill>
                <a:srgbClr val="E40000"/>
              </a:solidFill>
              <a:latin typeface="Arial" panose="020B0604020202020204" pitchFamily="34" charset="0"/>
            </a:endParaRPr>
          </a:p>
        </p:txBody>
      </p:sp>
      <p:sp>
        <p:nvSpPr>
          <p:cNvPr id="37891" name="Rectangle 3"/>
          <p:cNvSpPr>
            <a:spLocks noGrp="1"/>
          </p:cNvSpPr>
          <p:nvPr>
            <p:ph idx="1"/>
          </p:nvPr>
        </p:nvSpPr>
        <p:spPr>
          <a:xfrm>
            <a:off x="900113" y="1844675"/>
            <a:ext cx="7756525" cy="4525963"/>
          </a:xfrm>
          <a:ln/>
        </p:spPr>
        <p:txBody>
          <a:bodyPr vert="horz" wrap="square" lIns="91440" tIns="45720" rIns="91440" bIns="45720" anchor="t" anchorCtr="0"/>
          <a:p>
            <a:pPr eaLnBrk="1" hangingPunct="1">
              <a:lnSpc>
                <a:spcPct val="90000"/>
              </a:lnSpc>
              <a:buFont typeface="Wingdings" panose="05000000000000000000" pitchFamily="2" charset="2"/>
              <a:buChar char="Ø"/>
            </a:pPr>
            <a:r>
              <a:rPr lang="zh-CN" altLang="en-US" b="1" dirty="0">
                <a:latin typeface="黑体" pitchFamily="49" charset="-122"/>
                <a:ea typeface="黑体" pitchFamily="49" charset="-122"/>
              </a:rPr>
              <a:t>定义</a:t>
            </a:r>
            <a:r>
              <a:rPr lang="en-US" altLang="zh-CN" b="1" dirty="0">
                <a:latin typeface="黑体" pitchFamily="49" charset="-122"/>
                <a:ea typeface="黑体" pitchFamily="49" charset="-122"/>
              </a:rPr>
              <a:t>4.5</a:t>
            </a:r>
            <a:r>
              <a:rPr lang="zh-CN" altLang="en-US" b="1" dirty="0">
                <a:latin typeface="黑体" pitchFamily="49" charset="-122"/>
                <a:ea typeface="黑体" pitchFamily="49" charset="-122"/>
              </a:rPr>
              <a:t>：设</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是在关系模式</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上成立的函数依赖的集合，</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是一个函数依赖，如果对于</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的每个满足</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的关系</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也满足</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，那么称</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逻辑蕴涵</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，记为</a:t>
            </a:r>
            <a:r>
              <a:rPr lang="en-US" altLang="zh-CN" b="1" dirty="0">
                <a:latin typeface="黑体" pitchFamily="49" charset="-122"/>
                <a:ea typeface="黑体" pitchFamily="49" charset="-122"/>
              </a:rPr>
              <a:t>F ⊨ X→Y</a:t>
            </a:r>
            <a:endParaRPr lang="en-US" altLang="zh-CN" b="1" dirty="0">
              <a:latin typeface="黑体" pitchFamily="49" charset="-122"/>
              <a:ea typeface="黑体" pitchFamily="49" charset="-122"/>
            </a:endParaRPr>
          </a:p>
          <a:p>
            <a:pPr eaLnBrk="1" hangingPunct="1">
              <a:lnSpc>
                <a:spcPct val="160000"/>
              </a:lnSpc>
              <a:buClr>
                <a:srgbClr val="E40000"/>
              </a:buClr>
              <a:buFont typeface="Wingdings" panose="05000000000000000000" pitchFamily="2" charset="2"/>
              <a:buChar char="Ø"/>
            </a:pPr>
            <a:r>
              <a:rPr lang="zh-CN" altLang="en-US" b="1" dirty="0">
                <a:latin typeface="黑体" pitchFamily="49" charset="-122"/>
                <a:ea typeface="黑体" pitchFamily="49" charset="-122"/>
              </a:rPr>
              <a:t>例如：</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Y→Z} ⊨ X→Z</a:t>
            </a:r>
            <a:endParaRPr lang="zh-CN" altLang="en-US" b="1" dirty="0">
              <a:latin typeface="黑体" pitchFamily="49" charset="-122"/>
              <a:ea typeface="黑体" pitchFamily="49" charset="-122"/>
            </a:endParaRPr>
          </a:p>
          <a:p>
            <a:pPr eaLnBrk="1" hangingPunct="1">
              <a:lnSpc>
                <a:spcPct val="90000"/>
              </a:lnSpc>
              <a:buChar char="•"/>
            </a:pPr>
            <a:endParaRPr lang="zh-CN" altLang="en-US" b="1" dirty="0">
              <a:latin typeface="黑体" pitchFamily="49" charset="-122"/>
              <a:ea typeface="黑体"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482" name="Rectangle 5"/>
          <p:cNvSpPr>
            <a:spLocks noChangeArrowheads="1"/>
          </p:cNvSpPr>
          <p:nvPr/>
        </p:nvSpPr>
        <p:spPr bwMode="auto">
          <a:xfrm>
            <a:off x="539750" y="1341438"/>
            <a:ext cx="8459788" cy="470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73050" marR="0" lvl="0" indent="-273050" algn="l" defTabSz="914400" rtl="0" eaLnBrk="1" fontAlgn="base" latinLnBrk="0" hangingPunct="1">
              <a:lnSpc>
                <a:spcPct val="120000"/>
              </a:lnSpc>
              <a:spcBef>
                <a:spcPct val="20000"/>
              </a:spcBef>
              <a:spcAft>
                <a:spcPct val="0"/>
              </a:spcAft>
              <a:buClr>
                <a:srgbClr val="E40000"/>
              </a:buClr>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定义</a:t>
            </a:r>
            <a:r>
              <a:rPr kumimoji="0" lang="en-US" altLang="zh-CN"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4.6</a:t>
            </a: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：由函数依赖集合</a:t>
            </a:r>
            <a:r>
              <a:rPr kumimoji="0" lang="en-US" altLang="zh-CN"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F</a:t>
            </a: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所逻辑蕴涵的全部函数依赖所构成的集合称之为</a:t>
            </a:r>
            <a:r>
              <a:rPr kumimoji="0" lang="en-US" altLang="zh-CN"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F</a:t>
            </a: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的闭包</a:t>
            </a:r>
            <a:r>
              <a:rPr kumimoji="0" lang="en-US" altLang="zh-CN"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(closure)</a:t>
            </a: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，记作</a:t>
            </a:r>
            <a:r>
              <a:rPr kumimoji="0" lang="en-US" altLang="zh-CN" sz="2800" b="1"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F</a:t>
            </a:r>
            <a:r>
              <a:rPr kumimoji="0" lang="en-US" altLang="zh-CN" sz="2800" b="1"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，即</a:t>
            </a:r>
            <a:endPar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a:p>
            <a:pPr marL="273050" marR="0" lvl="0" indent="-273050" algn="l" defTabSz="914400" rtl="0" eaLnBrk="1" fontAlgn="base" latinLnBrk="0" hangingPunct="1">
              <a:lnSpc>
                <a:spcPct val="120000"/>
              </a:lnSpc>
              <a:spcBef>
                <a:spcPct val="20000"/>
              </a:spcBef>
              <a:spcAft>
                <a:spcPct val="0"/>
              </a:spcAft>
              <a:buClr>
                <a:srgbClr val="E40000"/>
              </a:buClr>
              <a:buSzTx/>
              <a:buFont typeface="Wingdings" panose="05000000000000000000" pitchFamily="2" charset="2"/>
              <a:buNone/>
              <a:defRPr/>
            </a:pPr>
            <a:r>
              <a:rPr kumimoji="0" lang="en-US" altLang="zh-CN"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  </a:t>
            </a:r>
            <a:r>
              <a:rPr kumimoji="0" lang="en-US" altLang="zh-CN" sz="2800" b="1"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F</a:t>
            </a:r>
            <a:r>
              <a:rPr kumimoji="0" lang="en-US" altLang="zh-CN" sz="2800" b="1"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a:t>
            </a:r>
            <a:r>
              <a:rPr kumimoji="0" lang="en-US" altLang="zh-CN"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 X→Y|F ⊨ X→Y}</a:t>
            </a:r>
            <a:endParaRPr kumimoji="0" lang="en-US" altLang="zh-CN"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a:p>
            <a:pPr marL="273050" marR="0" lvl="0" indent="-273050" algn="l" defTabSz="914400" rtl="0" eaLnBrk="1" fontAlgn="base" latinLnBrk="0" hangingPunct="1">
              <a:lnSpc>
                <a:spcPct val="120000"/>
              </a:lnSpc>
              <a:spcBef>
                <a:spcPct val="20000"/>
              </a:spcBef>
              <a:spcAft>
                <a:spcPct val="0"/>
              </a:spcAft>
              <a:buClr>
                <a:srgbClr val="E40000"/>
              </a:buClr>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据定义</a:t>
            </a:r>
            <a:r>
              <a:rPr kumimoji="0" lang="en-US" altLang="zh-CN"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4.6</a:t>
            </a: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易知，函数依赖集的闭包</a:t>
            </a:r>
            <a:r>
              <a:rPr kumimoji="0" lang="en-US" altLang="zh-CN" sz="28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F</a:t>
            </a:r>
            <a:r>
              <a:rPr kumimoji="0" lang="en-US" altLang="zh-CN" sz="2800" b="0"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具有以下特点：</a:t>
            </a:r>
            <a:endParaRPr kumimoji="0"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a:p>
            <a:pPr marL="627380" marR="0" lvl="1" indent="-174625" algn="l" defTabSz="914400" rtl="0" eaLnBrk="1" fontAlgn="base" latinLnBrk="0" hangingPunct="1">
              <a:lnSpc>
                <a:spcPct val="120000"/>
              </a:lnSpc>
              <a:spcBef>
                <a:spcPct val="20000"/>
              </a:spcBef>
              <a:spcAft>
                <a:spcPct val="0"/>
              </a:spcAft>
              <a:buClr>
                <a:srgbClr val="E40000"/>
              </a:buClr>
              <a:buSzTx/>
              <a:buFont typeface="Wingdings" panose="05000000000000000000" pitchFamily="2" charset="2"/>
              <a:buNone/>
              <a:defRPr/>
            </a:pPr>
            <a:r>
              <a:rPr kumimoji="0" lang="en-US"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(1)F⊆</a:t>
            </a:r>
            <a:r>
              <a:rPr kumimoji="0" lang="en-US" altLang="zh-CN" sz="24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F</a:t>
            </a:r>
            <a:r>
              <a:rPr kumimoji="0" lang="en-US" altLang="zh-CN" sz="2400" b="0"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，这是因为根据闭包的定义</a:t>
            </a:r>
            <a:r>
              <a:rPr kumimoji="0" lang="en-US"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F</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中的每个函数依赖必定也在中</a:t>
            </a:r>
            <a:r>
              <a:rPr kumimoji="0" lang="en-US" altLang="zh-CN" sz="24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F</a:t>
            </a:r>
            <a:r>
              <a:rPr kumimoji="0" lang="en-US" altLang="zh-CN" sz="2400" b="0"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a:t>
            </a:r>
            <a:endPar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a:p>
            <a:pPr marL="627380" marR="0" lvl="1" indent="-174625" algn="l" defTabSz="914400" rtl="0" eaLnBrk="1" fontAlgn="base" latinLnBrk="0" hangingPunct="1">
              <a:lnSpc>
                <a:spcPct val="120000"/>
              </a:lnSpc>
              <a:spcBef>
                <a:spcPct val="20000"/>
              </a:spcBef>
              <a:spcAft>
                <a:spcPct val="0"/>
              </a:spcAft>
              <a:buClr>
                <a:srgbClr val="E40000"/>
              </a:buClr>
              <a:buSzTx/>
              <a:buFont typeface="Wingdings" panose="05000000000000000000" pitchFamily="2" charset="2"/>
              <a:buNone/>
              <a:defRPr/>
            </a:pPr>
            <a:r>
              <a:rPr kumimoji="0" lang="en-US"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(2) (</a:t>
            </a:r>
            <a:r>
              <a:rPr kumimoji="0" lang="en-US" altLang="zh-CN" sz="24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F</a:t>
            </a:r>
            <a:r>
              <a:rPr kumimoji="0" lang="en-US" altLang="zh-CN" sz="2400" b="0"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a:t>
            </a:r>
            <a:r>
              <a:rPr kumimoji="0" lang="en-US" altLang="zh-CN" sz="2400" b="0"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a:t>
            </a:r>
            <a:r>
              <a:rPr kumimoji="0" lang="en-US" altLang="zh-CN" sz="24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F</a:t>
            </a:r>
            <a:r>
              <a:rPr kumimoji="0" lang="en-US" altLang="zh-CN" sz="2400" b="0"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，该性质说明闭包运算是幂等</a:t>
            </a:r>
            <a:r>
              <a:rPr kumimoji="0" lang="en-US"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a:t>
            </a:r>
            <a:r>
              <a:rPr kumimoji="0" lang="en-US" altLang="zh-CN" sz="2400" b="1" i="0" u="none" strike="noStrike" kern="1200" cap="none" spc="0" normalizeH="0" baseline="0" noProof="0" dirty="0" err="1">
                <a:ln>
                  <a:noFill/>
                </a:ln>
                <a:solidFill>
                  <a:schemeClr val="tx1"/>
                </a:solidFill>
                <a:effectLst/>
                <a:uLnTx/>
                <a:uFillTx/>
                <a:latin typeface="黑体" pitchFamily="49" charset="-122"/>
                <a:ea typeface="黑体" pitchFamily="49" charset="-122"/>
                <a:cs typeface="+mn-cs"/>
              </a:rPr>
              <a:t>idempotence</a:t>
            </a:r>
            <a:r>
              <a:rPr kumimoji="0" lang="en-US"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的，即</a:t>
            </a:r>
            <a:r>
              <a:rPr kumimoji="0" lang="en-US"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F</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经过任意多次的闭包运算后其结果仍然等于</a:t>
            </a:r>
            <a:r>
              <a:rPr kumimoji="0" lang="en-US" altLang="zh-CN" sz="24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F</a:t>
            </a:r>
            <a:r>
              <a:rPr kumimoji="0" lang="en-US" altLang="zh-CN" sz="2400" b="0"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endPar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a:p>
            <a:pPr marL="627380" marR="0" lvl="1" indent="-174625" algn="l" defTabSz="914400" rtl="0" eaLnBrk="1" fontAlgn="base" latinLnBrk="0" hangingPunct="1">
              <a:lnSpc>
                <a:spcPct val="120000"/>
              </a:lnSpc>
              <a:spcBef>
                <a:spcPct val="20000"/>
              </a:spcBef>
              <a:spcAft>
                <a:spcPct val="0"/>
              </a:spcAft>
              <a:buClr>
                <a:srgbClr val="E40000"/>
              </a:buClr>
              <a:buSzTx/>
              <a:buFont typeface="Wingdings" panose="05000000000000000000" pitchFamily="2" charset="2"/>
              <a:buNone/>
              <a:defRPr/>
            </a:pPr>
            <a:r>
              <a:rPr kumimoji="0" lang="en-US"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(3)</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如果</a:t>
            </a:r>
            <a:r>
              <a:rPr kumimoji="0" lang="en-US" altLang="zh-CN" sz="2400" b="0" i="0" u="none" strike="noStrike" kern="1200" cap="none" spc="0" normalizeH="0" baseline="0" noProof="0" dirty="0">
                <a:ln>
                  <a:noFill/>
                </a:ln>
                <a:solidFill>
                  <a:schemeClr val="tx1"/>
                </a:solidFill>
                <a:effectLst/>
                <a:uLnTx/>
                <a:uFillTx/>
                <a:latin typeface="+mn-lt"/>
                <a:ea typeface="+mj-ea"/>
                <a:cs typeface="+mn-cs"/>
              </a:rPr>
              <a:t>F</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a:t>
            </a:r>
            <a:r>
              <a:rPr kumimoji="0" lang="en-US" altLang="zh-CN" sz="24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rPr>
              <a:t>F</a:t>
            </a:r>
            <a:r>
              <a:rPr kumimoji="0" lang="en-US" altLang="zh-CN" sz="2400" b="0" i="0" u="none" strike="noStrike" kern="1200" cap="none" spc="0" normalizeH="0" baseline="30000" noProof="0" dirty="0">
                <a:ln>
                  <a:noFill/>
                </a:ln>
                <a:solidFill>
                  <a:schemeClr val="tx1"/>
                </a:solidFill>
                <a:effectLst/>
                <a:uLnTx/>
                <a:uFillTx/>
                <a:latin typeface="宋体" pitchFamily="2" charset="-122"/>
                <a:ea typeface="宋体"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，则称</a:t>
            </a:r>
            <a:r>
              <a:rPr kumimoji="0" lang="en-US"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F</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是完备的</a:t>
            </a:r>
            <a:endPar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p:txBody>
      </p:sp>
      <p:sp>
        <p:nvSpPr>
          <p:cNvPr id="39939" name="Rectangle 13"/>
          <p:cNvSpPr>
            <a:spLocks noGrp="1"/>
          </p:cNvSpPr>
          <p:nvPr>
            <p:ph type="title"/>
          </p:nvPr>
        </p:nvSpPr>
        <p:spPr>
          <a:xfrm>
            <a:off x="1042988" y="333375"/>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函数依赖</a:t>
            </a:r>
            <a:r>
              <a:rPr lang="en-US" altLang="zh-CN" sz="4000" b="1" dirty="0">
                <a:solidFill>
                  <a:srgbClr val="E40000"/>
                </a:solidFill>
                <a:latin typeface="Arial" panose="020B0604020202020204" pitchFamily="34" charset="0"/>
              </a:rPr>
              <a:t>集合</a:t>
            </a:r>
            <a:r>
              <a:rPr lang="zh-CN" altLang="en-US" sz="4000" b="1" dirty="0">
                <a:solidFill>
                  <a:srgbClr val="E40000"/>
                </a:solidFill>
                <a:latin typeface="Arial" panose="020B0604020202020204" pitchFamily="34" charset="0"/>
              </a:rPr>
              <a:t>的闭包</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1986" name="Rectangle 5"/>
          <p:cNvSpPr/>
          <p:nvPr/>
        </p:nvSpPr>
        <p:spPr>
          <a:xfrm>
            <a:off x="755650" y="1327150"/>
            <a:ext cx="8064500"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30000"/>
              </a:lnSpc>
              <a:buClr>
                <a:srgbClr val="E40000"/>
              </a:buClr>
              <a:buFont typeface="Wingdings" panose="05000000000000000000" pitchFamily="2" charset="2"/>
              <a:buChar char="Ø"/>
            </a:pPr>
            <a:r>
              <a:rPr lang="zh-CN" altLang="en-US" b="1" dirty="0">
                <a:latin typeface="黑体" pitchFamily="49" charset="-122"/>
                <a:ea typeface="黑体" pitchFamily="49" charset="-122"/>
              </a:rPr>
              <a:t>例</a:t>
            </a:r>
            <a:r>
              <a:rPr lang="en-US" altLang="zh-CN" b="1" dirty="0">
                <a:latin typeface="黑体" pitchFamily="49" charset="-122"/>
                <a:ea typeface="黑体" pitchFamily="49" charset="-122"/>
              </a:rPr>
              <a:t>4.1.</a:t>
            </a:r>
            <a:r>
              <a:rPr lang="zh-CN" altLang="en-US" b="1" dirty="0">
                <a:latin typeface="黑体" pitchFamily="49" charset="-122"/>
                <a:ea typeface="黑体" pitchFamily="49" charset="-122"/>
              </a:rPr>
              <a:t>计算</a:t>
            </a:r>
            <a:r>
              <a:rPr lang="en-US" altLang="zh-CN" b="1" dirty="0">
                <a:latin typeface="黑体" pitchFamily="49" charset="-122"/>
                <a:ea typeface="黑体" pitchFamily="49" charset="-122"/>
              </a:rPr>
              <a:t>R(A</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B</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C)</a:t>
            </a:r>
            <a:r>
              <a:rPr lang="zh-CN" altLang="en-US" b="1" dirty="0">
                <a:latin typeface="黑体" pitchFamily="49" charset="-122"/>
                <a:ea typeface="黑体" pitchFamily="49" charset="-122"/>
              </a:rPr>
              <a:t>上的函数依赖集合</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 A→B</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B→C}</a:t>
            </a:r>
            <a:r>
              <a:rPr lang="zh-CN" altLang="en-US" b="1" dirty="0">
                <a:latin typeface="黑体" pitchFamily="49" charset="-122"/>
                <a:ea typeface="黑体" pitchFamily="49" charset="-122"/>
              </a:rPr>
              <a:t>的闭包：</a:t>
            </a:r>
            <a:endParaRPr lang="zh-CN" altLang="en-US" b="1" dirty="0">
              <a:latin typeface="黑体" pitchFamily="49" charset="-122"/>
              <a:ea typeface="黑体" pitchFamily="49" charset="-122"/>
            </a:endParaRPr>
          </a:p>
          <a:p>
            <a:pPr marL="355600" lvl="0" indent="-355600" eaLnBrk="1" hangingPunct="1">
              <a:lnSpc>
                <a:spcPct val="130000"/>
              </a:lnSpc>
              <a:buClr>
                <a:srgbClr val="E40000"/>
              </a:buClr>
              <a:buFont typeface="Wingdings" panose="05000000000000000000" pitchFamily="2" charset="2"/>
              <a:buChar char="Ø"/>
            </a:pPr>
            <a:endParaRPr lang="zh-CN" altLang="en-US" b="1" dirty="0">
              <a:latin typeface="黑体" pitchFamily="49" charset="-122"/>
              <a:ea typeface="黑体" pitchFamily="49" charset="-122"/>
            </a:endParaRPr>
          </a:p>
          <a:p>
            <a:pPr marL="355600" lvl="0" indent="-355600" eaLnBrk="1" hangingPunct="1">
              <a:lnSpc>
                <a:spcPct val="130000"/>
              </a:lnSpc>
              <a:buNone/>
            </a:pPr>
            <a:r>
              <a:rPr lang="en-US" altLang="zh-CN" sz="2000" dirty="0">
                <a:latin typeface="黑体" pitchFamily="49" charset="-122"/>
                <a:ea typeface="黑体" pitchFamily="49" charset="-122"/>
              </a:rPr>
              <a:t>   </a:t>
            </a:r>
            <a:r>
              <a:rPr lang="en-US" altLang="zh-CN" b="1" dirty="0"/>
              <a:t>F</a:t>
            </a:r>
            <a:r>
              <a:rPr lang="en-US" altLang="zh-CN" b="1" baseline="30000" dirty="0"/>
              <a:t>+</a:t>
            </a:r>
            <a:r>
              <a:rPr lang="en-US" altLang="zh-CN" sz="2000" dirty="0">
                <a:latin typeface="黑体" pitchFamily="49" charset="-122"/>
                <a:ea typeface="黑体" pitchFamily="49" charset="-122"/>
              </a:rPr>
              <a:t> </a:t>
            </a:r>
            <a:r>
              <a:rPr lang="zh-CN" altLang="en-US" sz="2000" b="1" dirty="0">
                <a:latin typeface="黑体" pitchFamily="49" charset="-122"/>
                <a:ea typeface="黑体" pitchFamily="49" charset="-122"/>
              </a:rPr>
              <a:t>＝</a:t>
            </a:r>
            <a:r>
              <a:rPr lang="zh-CN" altLang="en-US" sz="2000" dirty="0">
                <a:latin typeface="黑体" pitchFamily="49" charset="-122"/>
                <a:ea typeface="黑体" pitchFamily="49" charset="-122"/>
              </a:rPr>
              <a:t> </a:t>
            </a:r>
            <a:endParaRPr lang="zh-CN" altLang="en-US" sz="2000" dirty="0">
              <a:latin typeface="黑体" pitchFamily="49" charset="-122"/>
              <a:ea typeface="黑体" pitchFamily="49" charset="-122"/>
            </a:endParaRPr>
          </a:p>
          <a:p>
            <a:pPr marL="355600" lvl="0" indent="-355600" eaLnBrk="1" hangingPunct="1">
              <a:lnSpc>
                <a:spcPct val="130000"/>
              </a:lnSpc>
              <a:buNone/>
            </a:pPr>
            <a:endParaRPr lang="zh-CN" altLang="en-US" sz="2000" dirty="0">
              <a:latin typeface="黑体" pitchFamily="49" charset="-122"/>
              <a:ea typeface="黑体" pitchFamily="49" charset="-122"/>
            </a:endParaRPr>
          </a:p>
          <a:p>
            <a:pPr marL="355600" lvl="0" indent="-355600" eaLnBrk="1" hangingPunct="1">
              <a:lnSpc>
                <a:spcPct val="130000"/>
              </a:lnSpc>
              <a:buFont typeface="Wingdings" panose="05000000000000000000" pitchFamily="2" charset="2"/>
              <a:buChar char="Ø"/>
            </a:pPr>
            <a:r>
              <a:rPr lang="en-US" altLang="zh-CN" b="1" dirty="0"/>
              <a:t>F</a:t>
            </a:r>
            <a:r>
              <a:rPr lang="en-US" altLang="zh-CN" b="1" baseline="30000" dirty="0"/>
              <a:t>+</a:t>
            </a:r>
            <a:r>
              <a:rPr lang="zh-CN" altLang="en-US" b="1" dirty="0">
                <a:latin typeface="黑体" pitchFamily="49" charset="-122"/>
                <a:ea typeface="黑体" pitchFamily="49" charset="-122"/>
              </a:rPr>
              <a:t>的计算是一个</a:t>
            </a:r>
            <a:r>
              <a:rPr lang="en-US" altLang="zh-CN" b="1" dirty="0">
                <a:latin typeface="黑体" pitchFamily="49" charset="-122"/>
                <a:ea typeface="黑体" pitchFamily="49" charset="-122"/>
              </a:rPr>
              <a:t>NP</a:t>
            </a:r>
            <a:r>
              <a:rPr lang="zh-CN" altLang="en-US" b="1" dirty="0">
                <a:latin typeface="黑体" pitchFamily="49" charset="-122"/>
                <a:ea typeface="黑体" pitchFamily="49" charset="-122"/>
              </a:rPr>
              <a:t>完全问题</a:t>
            </a:r>
            <a:endParaRPr lang="zh-CN" altLang="en-US" b="1" dirty="0">
              <a:latin typeface="黑体" pitchFamily="49" charset="-122"/>
              <a:ea typeface="黑体" pitchFamily="49" charset="-122"/>
            </a:endParaRPr>
          </a:p>
        </p:txBody>
      </p:sp>
      <p:sp>
        <p:nvSpPr>
          <p:cNvPr id="41987" name="Rectangle 7"/>
          <p:cNvSpPr/>
          <p:nvPr/>
        </p:nvSpPr>
        <p:spPr>
          <a:xfrm>
            <a:off x="0" y="30718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graphicFrame>
        <p:nvGraphicFramePr>
          <p:cNvPr id="41988" name="Object 6"/>
          <p:cNvGraphicFramePr>
            <a:graphicFrameLocks noChangeAspect="1"/>
          </p:cNvGraphicFramePr>
          <p:nvPr/>
        </p:nvGraphicFramePr>
        <p:xfrm>
          <a:off x="2051050" y="2978150"/>
          <a:ext cx="3995738" cy="1243013"/>
        </p:xfrm>
        <a:graphic>
          <a:graphicData uri="http://schemas.openxmlformats.org/presentationml/2006/ole">
            <mc:AlternateContent xmlns:mc="http://schemas.openxmlformats.org/markup-compatibility/2006">
              <mc:Choice xmlns:v="urn:schemas-microsoft-com:vml" Requires="v">
                <p:oleObj spid="_x0000_s3079" name="" r:id="rId1" imgW="2298700" imgH="711200" progId="Equation.3">
                  <p:embed/>
                </p:oleObj>
              </mc:Choice>
              <mc:Fallback>
                <p:oleObj name="" r:id="rId1" imgW="2298700" imgH="711200" progId="Equation.3">
                  <p:embed/>
                  <p:pic>
                    <p:nvPicPr>
                      <p:cNvPr id="0" name="Picture 3078"/>
                      <p:cNvPicPr/>
                      <p:nvPr/>
                    </p:nvPicPr>
                    <p:blipFill>
                      <a:blip r:embed="rId2"/>
                      <a:stretch>
                        <a:fillRect/>
                      </a:stretch>
                    </p:blipFill>
                    <p:spPr>
                      <a:xfrm>
                        <a:off x="2051050" y="2978150"/>
                        <a:ext cx="3995738" cy="1243013"/>
                      </a:xfrm>
                      <a:prstGeom prst="rect">
                        <a:avLst/>
                      </a:prstGeom>
                      <a:noFill/>
                      <a:ln w="38100">
                        <a:noFill/>
                        <a:miter/>
                      </a:ln>
                    </p:spPr>
                  </p:pic>
                </p:oleObj>
              </mc:Fallback>
            </mc:AlternateContent>
          </a:graphicData>
        </a:graphic>
      </p:graphicFrame>
      <p:sp>
        <p:nvSpPr>
          <p:cNvPr id="41989" name="Rectangle 12"/>
          <p:cNvSpPr>
            <a:spLocks noGrp="1"/>
          </p:cNvSpPr>
          <p:nvPr>
            <p:ph type="title"/>
          </p:nvPr>
        </p:nvSpPr>
        <p:spPr>
          <a:xfrm>
            <a:off x="971550" y="404813"/>
            <a:ext cx="7086600" cy="731837"/>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函数依赖</a:t>
            </a:r>
            <a:r>
              <a:rPr lang="en-US" altLang="zh-CN" sz="4000" b="1" dirty="0">
                <a:solidFill>
                  <a:srgbClr val="E40000"/>
                </a:solidFill>
                <a:latin typeface="Arial" panose="020B0604020202020204" pitchFamily="34" charset="0"/>
              </a:rPr>
              <a:t>集合</a:t>
            </a:r>
            <a:r>
              <a:rPr lang="zh-CN" altLang="en-US" sz="4000" b="1" dirty="0">
                <a:solidFill>
                  <a:srgbClr val="E40000"/>
                </a:solidFill>
                <a:latin typeface="Arial" panose="020B0604020202020204" pitchFamily="34" charset="0"/>
              </a:rPr>
              <a:t>的闭包</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4034" name="Rectangle 2"/>
          <p:cNvSpPr/>
          <p:nvPr/>
        </p:nvSpPr>
        <p:spPr>
          <a:xfrm>
            <a:off x="684213" y="1628775"/>
            <a:ext cx="8280400"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lnSpc>
                <a:spcPct val="130000"/>
              </a:lnSpc>
              <a:buClr>
                <a:srgbClr val="3366FF"/>
              </a:buClr>
              <a:buFont typeface="Wingdings" panose="05000000000000000000" pitchFamily="2" charset="2"/>
              <a:buChar char="n"/>
            </a:pPr>
            <a:r>
              <a:rPr lang="zh-CN" altLang="en-US" b="1" dirty="0">
                <a:latin typeface="黑体" pitchFamily="49" charset="-122"/>
                <a:ea typeface="黑体" pitchFamily="49" charset="-122"/>
              </a:rPr>
              <a:t>设</a:t>
            </a:r>
            <a:r>
              <a:rPr lang="en-US" altLang="zh-CN" b="1" dirty="0">
                <a:latin typeface="黑体" pitchFamily="49" charset="-122"/>
                <a:ea typeface="黑体" pitchFamily="49" charset="-122"/>
              </a:rPr>
              <a:t>U</a:t>
            </a:r>
            <a:r>
              <a:rPr lang="zh-CN" altLang="en-US" b="1" dirty="0">
                <a:latin typeface="黑体" pitchFamily="49" charset="-122"/>
                <a:ea typeface="黑体" pitchFamily="49" charset="-122"/>
              </a:rPr>
              <a:t>是关系模式</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的属性集，</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是</a:t>
            </a:r>
            <a:r>
              <a:rPr lang="en-US" altLang="zh-CN" b="1" dirty="0">
                <a:latin typeface="黑体" pitchFamily="49" charset="-122"/>
                <a:ea typeface="黑体" pitchFamily="49" charset="-122"/>
              </a:rPr>
              <a:t>R</a:t>
            </a:r>
            <a:r>
              <a:rPr lang="zh-CN" altLang="en-US" b="1" dirty="0">
                <a:latin typeface="黑体" pitchFamily="49" charset="-122"/>
                <a:ea typeface="黑体" pitchFamily="49" charset="-122"/>
              </a:rPr>
              <a:t>上的函数依赖集，则有：</a:t>
            </a:r>
            <a:endParaRPr lang="zh-CN" altLang="en-US" b="1" dirty="0">
              <a:latin typeface="黑体" pitchFamily="49" charset="-122"/>
              <a:ea typeface="黑体" pitchFamily="49" charset="-122"/>
            </a:endParaRPr>
          </a:p>
          <a:p>
            <a:pPr marL="1160780" lvl="1" indent="-352425" eaLnBrk="1" hangingPunct="1">
              <a:lnSpc>
                <a:spcPct val="130000"/>
              </a:lnSpc>
              <a:buClr>
                <a:srgbClr val="E40000"/>
              </a:buClr>
              <a:buFont typeface="Wingdings" panose="05000000000000000000" pitchFamily="2" charset="2"/>
              <a:buChar char="Ø"/>
            </a:pPr>
            <a:r>
              <a:rPr lang="en-US" altLang="zh-CN" b="1" dirty="0">
                <a:latin typeface="黑体" pitchFamily="49" charset="-122"/>
                <a:ea typeface="黑体" pitchFamily="49" charset="-122"/>
              </a:rPr>
              <a:t>A1</a:t>
            </a:r>
            <a:r>
              <a:rPr lang="zh-CN" altLang="en-US" b="1" dirty="0">
                <a:latin typeface="黑体" pitchFamily="49" charset="-122"/>
                <a:ea typeface="黑体" pitchFamily="49" charset="-122"/>
              </a:rPr>
              <a:t>（自反率）：如果</a:t>
            </a:r>
            <a:r>
              <a:rPr lang="en-US" altLang="zh-CN" b="1" dirty="0">
                <a:latin typeface="黑体" pitchFamily="49" charset="-122"/>
                <a:ea typeface="黑体" pitchFamily="49" charset="-122"/>
              </a:rPr>
              <a:t>Y ⊆ X ⊆ U</a:t>
            </a:r>
            <a:r>
              <a:rPr lang="zh-CN" altLang="en-US" b="1" dirty="0">
                <a:latin typeface="黑体" pitchFamily="49" charset="-122"/>
                <a:ea typeface="黑体" pitchFamily="49" charset="-122"/>
              </a:rPr>
              <a:t>，则</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成立；</a:t>
            </a:r>
            <a:endParaRPr lang="zh-CN" altLang="en-US" b="1" dirty="0">
              <a:latin typeface="黑体" pitchFamily="49" charset="-122"/>
              <a:ea typeface="黑体" pitchFamily="49" charset="-122"/>
            </a:endParaRPr>
          </a:p>
          <a:p>
            <a:pPr marL="1160780" lvl="1" indent="-352425" eaLnBrk="1" hangingPunct="1">
              <a:lnSpc>
                <a:spcPct val="130000"/>
              </a:lnSpc>
              <a:buClr>
                <a:srgbClr val="E40000"/>
              </a:buClr>
              <a:buFont typeface="Wingdings" panose="05000000000000000000" pitchFamily="2" charset="2"/>
              <a:buChar char="Ø"/>
            </a:pPr>
            <a:r>
              <a:rPr lang="en-US" altLang="zh-CN" b="1" dirty="0">
                <a:latin typeface="黑体" pitchFamily="49" charset="-122"/>
                <a:ea typeface="黑体" pitchFamily="49" charset="-122"/>
              </a:rPr>
              <a:t>A2</a:t>
            </a:r>
            <a:r>
              <a:rPr lang="zh-CN" altLang="en-US" b="1" dirty="0">
                <a:latin typeface="黑体" pitchFamily="49" charset="-122"/>
                <a:ea typeface="黑体" pitchFamily="49" charset="-122"/>
              </a:rPr>
              <a:t>（增广率）：如果</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成立，且</a:t>
            </a:r>
            <a:r>
              <a:rPr lang="en-US" altLang="zh-CN" b="1" dirty="0">
                <a:latin typeface="黑体" pitchFamily="49" charset="-122"/>
                <a:ea typeface="黑体" pitchFamily="49" charset="-122"/>
              </a:rPr>
              <a:t>Z ⊆ U</a:t>
            </a:r>
            <a:r>
              <a:rPr lang="zh-CN" altLang="en-US" b="1" dirty="0">
                <a:latin typeface="黑体" pitchFamily="49" charset="-122"/>
                <a:ea typeface="黑体" pitchFamily="49" charset="-122"/>
              </a:rPr>
              <a:t>，则</a:t>
            </a:r>
            <a:r>
              <a:rPr lang="en-US" altLang="zh-CN" b="1" dirty="0">
                <a:latin typeface="黑体" pitchFamily="49" charset="-122"/>
                <a:ea typeface="黑体" pitchFamily="49" charset="-122"/>
              </a:rPr>
              <a:t>XZ→YZ</a:t>
            </a:r>
            <a:r>
              <a:rPr lang="zh-CN" altLang="en-US" b="1" dirty="0">
                <a:latin typeface="黑体" pitchFamily="49" charset="-122"/>
                <a:ea typeface="黑体" pitchFamily="49" charset="-122"/>
              </a:rPr>
              <a:t>成立</a:t>
            </a:r>
            <a:endParaRPr lang="zh-CN" altLang="en-US" b="1" dirty="0">
              <a:latin typeface="黑体" pitchFamily="49" charset="-122"/>
              <a:ea typeface="黑体" pitchFamily="49" charset="-122"/>
            </a:endParaRPr>
          </a:p>
          <a:p>
            <a:pPr marL="1160780" lvl="1" indent="-352425" eaLnBrk="1" hangingPunct="1">
              <a:lnSpc>
                <a:spcPct val="130000"/>
              </a:lnSpc>
              <a:buClr>
                <a:srgbClr val="E40000"/>
              </a:buClr>
              <a:buFont typeface="Wingdings" panose="05000000000000000000" pitchFamily="2" charset="2"/>
              <a:buChar char="Ø"/>
            </a:pPr>
            <a:r>
              <a:rPr lang="en-US" altLang="zh-CN" b="1" dirty="0">
                <a:latin typeface="黑体" pitchFamily="49" charset="-122"/>
                <a:ea typeface="黑体" pitchFamily="49" charset="-122"/>
              </a:rPr>
              <a:t>A3</a:t>
            </a:r>
            <a:r>
              <a:rPr lang="zh-CN" altLang="en-US" b="1" dirty="0">
                <a:latin typeface="黑体" pitchFamily="49" charset="-122"/>
                <a:ea typeface="黑体" pitchFamily="49" charset="-122"/>
              </a:rPr>
              <a:t>（传递率）：如果</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Y→Z</a:t>
            </a:r>
            <a:r>
              <a:rPr lang="zh-CN" altLang="en-US" b="1" dirty="0">
                <a:latin typeface="黑体" pitchFamily="49" charset="-122"/>
                <a:ea typeface="黑体" pitchFamily="49" charset="-122"/>
              </a:rPr>
              <a:t>成立，则</a:t>
            </a:r>
            <a:r>
              <a:rPr lang="en-US" altLang="zh-CN" b="1" dirty="0">
                <a:latin typeface="黑体" pitchFamily="49" charset="-122"/>
                <a:ea typeface="黑体" pitchFamily="49" charset="-122"/>
              </a:rPr>
              <a:t>X→Z</a:t>
            </a:r>
            <a:r>
              <a:rPr lang="zh-CN" altLang="en-US" b="1" dirty="0">
                <a:latin typeface="黑体" pitchFamily="49" charset="-122"/>
                <a:ea typeface="黑体" pitchFamily="49" charset="-122"/>
              </a:rPr>
              <a:t>成立</a:t>
            </a:r>
            <a:endParaRPr lang="zh-CN" altLang="en-US" b="1" dirty="0">
              <a:latin typeface="黑体" pitchFamily="49" charset="-122"/>
              <a:ea typeface="黑体" pitchFamily="49" charset="-122"/>
            </a:endParaRPr>
          </a:p>
          <a:p>
            <a:pPr marL="273050" lvl="0" indent="-273050" eaLnBrk="1" hangingPunct="1">
              <a:buChar char="•"/>
            </a:pPr>
            <a:r>
              <a:rPr lang="zh-CN" altLang="en-US" b="1" dirty="0">
                <a:latin typeface="黑体" pitchFamily="49" charset="-122"/>
                <a:ea typeface="黑体" pitchFamily="49" charset="-122"/>
              </a:rPr>
              <a:t>人们又把自反律</a:t>
            </a:r>
            <a:r>
              <a:rPr lang="en-US" altLang="zh-CN" b="1" dirty="0">
                <a:latin typeface="黑体" pitchFamily="49" charset="-122"/>
                <a:ea typeface="黑体" pitchFamily="49" charset="-122"/>
              </a:rPr>
              <a:t>(A1),</a:t>
            </a:r>
            <a:r>
              <a:rPr lang="zh-CN" altLang="en-US" b="1" dirty="0">
                <a:latin typeface="黑体" pitchFamily="49" charset="-122"/>
                <a:ea typeface="黑体" pitchFamily="49" charset="-122"/>
              </a:rPr>
              <a:t>增广律</a:t>
            </a:r>
            <a:r>
              <a:rPr lang="en-US" altLang="zh-CN" b="1" dirty="0">
                <a:latin typeface="黑体" pitchFamily="49" charset="-122"/>
                <a:ea typeface="黑体" pitchFamily="49" charset="-122"/>
              </a:rPr>
              <a:t>(A2)</a:t>
            </a:r>
            <a:r>
              <a:rPr lang="zh-CN" altLang="en-US" b="1" dirty="0">
                <a:latin typeface="黑体" pitchFamily="49" charset="-122"/>
                <a:ea typeface="黑体" pitchFamily="49" charset="-122"/>
              </a:rPr>
              <a:t>和传递律</a:t>
            </a:r>
            <a:r>
              <a:rPr lang="en-US" altLang="zh-CN" b="1" dirty="0">
                <a:latin typeface="黑体" pitchFamily="49" charset="-122"/>
                <a:ea typeface="黑体" pitchFamily="49" charset="-122"/>
              </a:rPr>
              <a:t>(A3)</a:t>
            </a:r>
            <a:r>
              <a:rPr lang="zh-CN" altLang="en-US" b="1" dirty="0">
                <a:latin typeface="黑体" pitchFamily="49" charset="-122"/>
                <a:ea typeface="黑体" pitchFamily="49" charset="-122"/>
              </a:rPr>
              <a:t>称为</a:t>
            </a:r>
            <a:r>
              <a:rPr lang="en-US" altLang="zh-CN" b="1" dirty="0">
                <a:latin typeface="黑体" pitchFamily="49" charset="-122"/>
                <a:ea typeface="黑体" pitchFamily="49" charset="-122"/>
              </a:rPr>
              <a:t>Armstrong</a:t>
            </a:r>
            <a:r>
              <a:rPr lang="zh-CN" altLang="en-US" b="1" dirty="0">
                <a:latin typeface="黑体" pitchFamily="49" charset="-122"/>
                <a:ea typeface="黑体" pitchFamily="49" charset="-122"/>
              </a:rPr>
              <a:t>公理</a:t>
            </a:r>
            <a:endParaRPr lang="zh-CN" altLang="en-US" b="1" dirty="0">
              <a:latin typeface="黑体" pitchFamily="49" charset="-122"/>
              <a:ea typeface="黑体" pitchFamily="49" charset="-122"/>
            </a:endParaRPr>
          </a:p>
        </p:txBody>
      </p:sp>
      <p:sp>
        <p:nvSpPr>
          <p:cNvPr id="44035" name="Rectangle 6"/>
          <p:cNvSpPr>
            <a:spLocks noGrp="1"/>
          </p:cNvSpPr>
          <p:nvPr>
            <p:ph type="title"/>
          </p:nvPr>
        </p:nvSpPr>
        <p:spPr>
          <a:xfrm>
            <a:off x="1187450" y="69215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函数依赖</a:t>
            </a:r>
            <a:r>
              <a:rPr lang="zh-CN" altLang="en-US" sz="4000" b="1" dirty="0">
                <a:solidFill>
                  <a:srgbClr val="E40000"/>
                </a:solidFill>
                <a:latin typeface="Arial" panose="020B0604020202020204" pitchFamily="34" charset="0"/>
              </a:rPr>
              <a:t>的推理规则</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6082" name="Rectangle 2"/>
          <p:cNvSpPr/>
          <p:nvPr/>
        </p:nvSpPr>
        <p:spPr>
          <a:xfrm>
            <a:off x="611188" y="1673225"/>
            <a:ext cx="8281987"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lnSpc>
                <a:spcPct val="110000"/>
              </a:lnSpc>
              <a:buClr>
                <a:srgbClr val="E40000"/>
              </a:buClr>
              <a:buFont typeface="Wingdings" panose="05000000000000000000" pitchFamily="2" charset="2"/>
              <a:buChar char="Ø"/>
            </a:pPr>
            <a:r>
              <a:rPr lang="en-US" altLang="en-US" b="1" dirty="0">
                <a:latin typeface="黑体" pitchFamily="49" charset="-122"/>
                <a:ea typeface="黑体" pitchFamily="49" charset="-122"/>
              </a:rPr>
              <a:t>引理4</a:t>
            </a:r>
            <a:r>
              <a:rPr lang="en-US" altLang="zh-CN" b="1" dirty="0">
                <a:latin typeface="黑体" pitchFamily="49" charset="-122"/>
                <a:ea typeface="黑体" pitchFamily="49" charset="-122"/>
              </a:rPr>
              <a:t>.</a:t>
            </a:r>
            <a:r>
              <a:rPr lang="en-US" altLang="en-US" b="1" dirty="0">
                <a:latin typeface="黑体" pitchFamily="49" charset="-122"/>
                <a:ea typeface="黑体" pitchFamily="49" charset="-122"/>
              </a:rPr>
              <a:t>1：</a:t>
            </a:r>
            <a:r>
              <a:rPr lang="en-US" altLang="zh-CN" b="1" dirty="0"/>
              <a:t>FD</a:t>
            </a:r>
            <a:r>
              <a:rPr lang="zh-CN" altLang="en-US" b="1" dirty="0"/>
              <a:t>推理规则</a:t>
            </a:r>
            <a:r>
              <a:rPr lang="en-US" altLang="zh-CN" b="1" dirty="0"/>
              <a:t>A1</a:t>
            </a:r>
            <a:r>
              <a:rPr lang="zh-CN" altLang="en-US" b="1" dirty="0"/>
              <a:t>、</a:t>
            </a:r>
            <a:r>
              <a:rPr lang="en-US" altLang="zh-CN" b="1" dirty="0"/>
              <a:t>A2</a:t>
            </a:r>
            <a:r>
              <a:rPr lang="zh-CN" altLang="en-US" b="1" dirty="0"/>
              <a:t>和</a:t>
            </a:r>
            <a:r>
              <a:rPr lang="en-US" altLang="zh-CN" b="1" dirty="0"/>
              <a:t>A3</a:t>
            </a:r>
            <a:r>
              <a:rPr lang="zh-CN" altLang="en-US" b="1" dirty="0"/>
              <a:t>是正确的</a:t>
            </a:r>
            <a:endParaRPr lang="zh-CN" altLang="en-US" b="1" dirty="0"/>
          </a:p>
          <a:p>
            <a:pPr marL="273050" lvl="0" indent="-273050" eaLnBrk="1" hangingPunct="1">
              <a:lnSpc>
                <a:spcPct val="110000"/>
              </a:lnSpc>
              <a:buClr>
                <a:srgbClr val="E40000"/>
              </a:buClr>
              <a:buFont typeface="Wingdings" panose="05000000000000000000" pitchFamily="2" charset="2"/>
              <a:buChar char="Ø"/>
            </a:pPr>
            <a:r>
              <a:rPr lang="zh-CN" altLang="en-US" b="1" dirty="0">
                <a:solidFill>
                  <a:schemeClr val="bg2"/>
                </a:solidFill>
              </a:rPr>
              <a:t>也就是，如果</a:t>
            </a:r>
            <a:r>
              <a:rPr lang="en-US" altLang="zh-CN" b="1" dirty="0">
                <a:solidFill>
                  <a:schemeClr val="bg2"/>
                </a:solidFill>
              </a:rPr>
              <a:t>X→Y</a:t>
            </a:r>
            <a:r>
              <a:rPr lang="zh-CN" altLang="en-US" b="1" dirty="0">
                <a:solidFill>
                  <a:schemeClr val="bg2"/>
                </a:solidFill>
              </a:rPr>
              <a:t>是从</a:t>
            </a:r>
            <a:r>
              <a:rPr lang="en-US" altLang="zh-CN" b="1" dirty="0">
                <a:solidFill>
                  <a:schemeClr val="bg2"/>
                </a:solidFill>
              </a:rPr>
              <a:t>F</a:t>
            </a:r>
            <a:r>
              <a:rPr lang="zh-CN" altLang="en-US" b="1" dirty="0">
                <a:solidFill>
                  <a:schemeClr val="bg2"/>
                </a:solidFill>
              </a:rPr>
              <a:t>用推理规则导出，那么</a:t>
            </a:r>
            <a:r>
              <a:rPr lang="en-US" altLang="zh-CN" b="1" dirty="0">
                <a:solidFill>
                  <a:schemeClr val="bg2"/>
                </a:solidFill>
              </a:rPr>
              <a:t>X→Y</a:t>
            </a:r>
            <a:r>
              <a:rPr lang="zh-CN" altLang="en-US" b="1" dirty="0">
                <a:solidFill>
                  <a:schemeClr val="bg2"/>
                </a:solidFill>
              </a:rPr>
              <a:t>在</a:t>
            </a:r>
            <a:r>
              <a:rPr lang="en-US" altLang="zh-CN" b="1" dirty="0">
                <a:solidFill>
                  <a:schemeClr val="bg2"/>
                </a:solidFill>
              </a:rPr>
              <a:t>F</a:t>
            </a:r>
            <a:r>
              <a:rPr lang="en-US" altLang="zh-CN" b="1" baseline="30000" dirty="0">
                <a:solidFill>
                  <a:schemeClr val="bg2"/>
                </a:solidFill>
              </a:rPr>
              <a:t>+</a:t>
            </a:r>
            <a:r>
              <a:rPr lang="zh-CN" altLang="en-US" b="1" dirty="0">
                <a:solidFill>
                  <a:schemeClr val="bg2"/>
                </a:solidFill>
              </a:rPr>
              <a:t>中</a:t>
            </a:r>
            <a:r>
              <a:rPr lang="en-US" altLang="zh-CN" b="1" dirty="0">
                <a:solidFill>
                  <a:schemeClr val="bg2"/>
                </a:solidFill>
              </a:rPr>
              <a:t>(*)</a:t>
            </a:r>
            <a:endParaRPr lang="en-US" altLang="zh-CN" b="1" dirty="0">
              <a:solidFill>
                <a:schemeClr val="bg2"/>
              </a:solidFill>
              <a:latin typeface="黑体" pitchFamily="49" charset="-122"/>
              <a:ea typeface="黑体" pitchFamily="49" charset="-122"/>
            </a:endParaRPr>
          </a:p>
          <a:p>
            <a:pPr marL="273050" lvl="0" indent="-273050" eaLnBrk="1" hangingPunct="1">
              <a:lnSpc>
                <a:spcPct val="110000"/>
              </a:lnSpc>
              <a:buClr>
                <a:srgbClr val="E40000"/>
              </a:buClr>
              <a:buFont typeface="Wingdings" panose="05000000000000000000" pitchFamily="2" charset="2"/>
              <a:buChar char="Ø"/>
            </a:pPr>
            <a:r>
              <a:rPr lang="zh-CN" altLang="en-US" b="1" dirty="0">
                <a:latin typeface="黑体" pitchFamily="49" charset="-122"/>
                <a:ea typeface="黑体" pitchFamily="49" charset="-122"/>
              </a:rPr>
              <a:t>由</a:t>
            </a:r>
            <a:r>
              <a:rPr lang="en-US" altLang="zh-CN" b="1" dirty="0">
                <a:latin typeface="黑体" pitchFamily="49" charset="-122"/>
                <a:ea typeface="黑体" pitchFamily="49" charset="-122"/>
              </a:rPr>
              <a:t>A1</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A3</a:t>
            </a:r>
            <a:r>
              <a:rPr lang="zh-CN" altLang="en-US" b="1" dirty="0">
                <a:latin typeface="黑体" pitchFamily="49" charset="-122"/>
                <a:ea typeface="黑体" pitchFamily="49" charset="-122"/>
              </a:rPr>
              <a:t>易推出下面的三条推理规则也是正确的：</a:t>
            </a:r>
            <a:endParaRPr lang="zh-CN" altLang="en-US" b="1" dirty="0">
              <a:latin typeface="黑体" pitchFamily="49" charset="-122"/>
              <a:ea typeface="黑体" pitchFamily="49" charset="-122"/>
            </a:endParaRPr>
          </a:p>
          <a:p>
            <a:pPr marL="273050" lvl="0" indent="-273050" eaLnBrk="1" hangingPunct="1">
              <a:lnSpc>
                <a:spcPct val="110000"/>
              </a:lnSpc>
              <a:buClr>
                <a:srgbClr val="E40000"/>
              </a:buClr>
              <a:buFont typeface="Wingdings" panose="05000000000000000000" pitchFamily="2" charset="2"/>
              <a:buNone/>
            </a:pPr>
            <a:r>
              <a:rPr lang="en-US" altLang="zh-CN" b="1" dirty="0">
                <a:latin typeface="黑体" pitchFamily="49" charset="-122"/>
                <a:ea typeface="黑体" pitchFamily="49" charset="-122"/>
              </a:rPr>
              <a:t>  </a:t>
            </a:r>
            <a:r>
              <a:rPr lang="en-US" altLang="zh-CN" sz="2400" b="1" dirty="0">
                <a:latin typeface="黑体" pitchFamily="49" charset="-122"/>
                <a:ea typeface="黑体" pitchFamily="49" charset="-122"/>
              </a:rPr>
              <a:t>(1)</a:t>
            </a:r>
            <a:r>
              <a:rPr lang="zh-CN" altLang="en-US" sz="2400" b="1" dirty="0">
                <a:latin typeface="黑体" pitchFamily="49" charset="-122"/>
                <a:ea typeface="黑体" pitchFamily="49" charset="-122"/>
              </a:rPr>
              <a:t>合并规则：若</a:t>
            </a:r>
            <a:r>
              <a:rPr lang="en-US" altLang="zh-CN" sz="2400" b="1" dirty="0">
                <a:latin typeface="黑体" pitchFamily="49" charset="-122"/>
                <a:ea typeface="黑体" pitchFamily="49" charset="-122"/>
              </a:rPr>
              <a:t>X→Y</a:t>
            </a:r>
            <a:r>
              <a:rPr lang="zh-CN" altLang="en-US" sz="2400" b="1" dirty="0">
                <a:latin typeface="黑体" pitchFamily="49" charset="-122"/>
                <a:ea typeface="黑体" pitchFamily="49" charset="-122"/>
              </a:rPr>
              <a:t>，</a:t>
            </a:r>
            <a:r>
              <a:rPr lang="en-US" altLang="zh-CN" sz="2400" b="1" dirty="0">
                <a:latin typeface="黑体" pitchFamily="49" charset="-122"/>
                <a:ea typeface="黑体" pitchFamily="49" charset="-122"/>
              </a:rPr>
              <a:t>X→Z</a:t>
            </a:r>
            <a:r>
              <a:rPr lang="zh-CN" altLang="en-US" sz="2400" b="1" dirty="0">
                <a:latin typeface="黑体" pitchFamily="49" charset="-122"/>
                <a:ea typeface="黑体" pitchFamily="49" charset="-122"/>
              </a:rPr>
              <a:t>成立，则</a:t>
            </a:r>
            <a:r>
              <a:rPr lang="en-US" altLang="zh-CN" sz="2400" b="1" dirty="0">
                <a:latin typeface="黑体" pitchFamily="49" charset="-122"/>
                <a:ea typeface="黑体" pitchFamily="49" charset="-122"/>
              </a:rPr>
              <a:t>X→YZ</a:t>
            </a:r>
            <a:r>
              <a:rPr lang="zh-CN" altLang="en-US" sz="2400" b="1" dirty="0">
                <a:latin typeface="黑体" pitchFamily="49" charset="-122"/>
                <a:ea typeface="黑体" pitchFamily="49" charset="-122"/>
              </a:rPr>
              <a:t>成立；</a:t>
            </a:r>
            <a:endParaRPr lang="zh-CN" altLang="en-US" sz="2400" b="1" dirty="0">
              <a:latin typeface="黑体" pitchFamily="49" charset="-122"/>
              <a:ea typeface="黑体" pitchFamily="49" charset="-122"/>
            </a:endParaRPr>
          </a:p>
          <a:p>
            <a:pPr marL="273050" lvl="0" indent="-273050" eaLnBrk="1" hangingPunct="1">
              <a:lnSpc>
                <a:spcPct val="110000"/>
              </a:lnSpc>
              <a:buClr>
                <a:srgbClr val="E40000"/>
              </a:buClr>
              <a:buFont typeface="Wingdings" panose="05000000000000000000" pitchFamily="2" charset="2"/>
              <a:buNone/>
            </a:pPr>
            <a:r>
              <a:rPr lang="en-US" altLang="zh-CN" sz="2400" b="1" dirty="0">
                <a:latin typeface="黑体" pitchFamily="49" charset="-122"/>
                <a:ea typeface="黑体" pitchFamily="49" charset="-122"/>
              </a:rPr>
              <a:t>  (2)</a:t>
            </a:r>
            <a:r>
              <a:rPr lang="zh-CN" altLang="en-US" sz="2400" b="1" dirty="0">
                <a:latin typeface="黑体" pitchFamily="49" charset="-122"/>
                <a:ea typeface="黑体" pitchFamily="49" charset="-122"/>
              </a:rPr>
              <a:t>伪传递规则：若</a:t>
            </a:r>
            <a:r>
              <a:rPr lang="en-US" altLang="zh-CN" sz="2400" b="1" dirty="0">
                <a:latin typeface="黑体" pitchFamily="49" charset="-122"/>
                <a:ea typeface="黑体" pitchFamily="49" charset="-122"/>
              </a:rPr>
              <a:t>X→Y</a:t>
            </a:r>
            <a:r>
              <a:rPr lang="zh-CN" altLang="en-US" sz="2400" b="1" dirty="0">
                <a:latin typeface="黑体" pitchFamily="49" charset="-122"/>
                <a:ea typeface="黑体" pitchFamily="49" charset="-122"/>
              </a:rPr>
              <a:t>，</a:t>
            </a:r>
            <a:r>
              <a:rPr lang="en-US" altLang="zh-CN" sz="2400" b="1" dirty="0">
                <a:latin typeface="黑体" pitchFamily="49" charset="-122"/>
                <a:ea typeface="黑体" pitchFamily="49" charset="-122"/>
              </a:rPr>
              <a:t>WY→Z</a:t>
            </a:r>
            <a:r>
              <a:rPr lang="zh-CN" altLang="en-US" sz="2400" b="1" dirty="0">
                <a:latin typeface="黑体" pitchFamily="49" charset="-122"/>
                <a:ea typeface="黑体" pitchFamily="49" charset="-122"/>
              </a:rPr>
              <a:t>成立，则</a:t>
            </a:r>
            <a:r>
              <a:rPr lang="en-US" altLang="zh-CN" sz="2400" b="1" dirty="0">
                <a:latin typeface="黑体" pitchFamily="49" charset="-122"/>
                <a:ea typeface="黑体" pitchFamily="49" charset="-122"/>
              </a:rPr>
              <a:t>WX→Z</a:t>
            </a:r>
            <a:r>
              <a:rPr lang="zh-CN" altLang="en-US" sz="2400" b="1" dirty="0">
                <a:latin typeface="黑体" pitchFamily="49" charset="-122"/>
                <a:ea typeface="黑体" pitchFamily="49" charset="-122"/>
              </a:rPr>
              <a:t>成立；</a:t>
            </a:r>
            <a:endParaRPr lang="zh-CN" altLang="en-US" sz="2400" b="1" dirty="0">
              <a:latin typeface="黑体" pitchFamily="49" charset="-122"/>
              <a:ea typeface="黑体" pitchFamily="49" charset="-122"/>
            </a:endParaRPr>
          </a:p>
          <a:p>
            <a:pPr marL="273050" lvl="0" indent="-273050" eaLnBrk="1" hangingPunct="1">
              <a:lnSpc>
                <a:spcPct val="110000"/>
              </a:lnSpc>
              <a:buClr>
                <a:srgbClr val="E40000"/>
              </a:buClr>
              <a:buFont typeface="Wingdings" panose="05000000000000000000" pitchFamily="2" charset="2"/>
              <a:buNone/>
            </a:pPr>
            <a:r>
              <a:rPr lang="en-US" altLang="zh-CN" sz="2400" b="1" dirty="0">
                <a:latin typeface="黑体" pitchFamily="49" charset="-122"/>
                <a:ea typeface="黑体" pitchFamily="49" charset="-122"/>
              </a:rPr>
              <a:t>  (3)</a:t>
            </a:r>
            <a:r>
              <a:rPr lang="zh-CN" altLang="en-US" sz="2400" b="1" dirty="0">
                <a:latin typeface="黑体" pitchFamily="49" charset="-122"/>
                <a:ea typeface="黑体" pitchFamily="49" charset="-122"/>
              </a:rPr>
              <a:t>分解规则：若</a:t>
            </a:r>
            <a:r>
              <a:rPr lang="en-US" altLang="zh-CN" sz="2400" b="1" dirty="0">
                <a:latin typeface="黑体" pitchFamily="49" charset="-122"/>
                <a:ea typeface="黑体" pitchFamily="49" charset="-122"/>
              </a:rPr>
              <a:t>X→Y</a:t>
            </a:r>
            <a:r>
              <a:rPr lang="zh-CN" altLang="en-US" sz="2400" b="1" dirty="0">
                <a:latin typeface="黑体" pitchFamily="49" charset="-122"/>
                <a:ea typeface="黑体" pitchFamily="49" charset="-122"/>
              </a:rPr>
              <a:t>，且</a:t>
            </a:r>
            <a:r>
              <a:rPr lang="en-US" altLang="zh-CN" sz="2400" b="1" dirty="0">
                <a:latin typeface="黑体" pitchFamily="49" charset="-122"/>
                <a:ea typeface="黑体" pitchFamily="49" charset="-122"/>
              </a:rPr>
              <a:t>Z⊆Y</a:t>
            </a:r>
            <a:r>
              <a:rPr lang="zh-CN" altLang="en-US" sz="2400" b="1" dirty="0">
                <a:latin typeface="黑体" pitchFamily="49" charset="-122"/>
                <a:ea typeface="黑体" pitchFamily="49" charset="-122"/>
              </a:rPr>
              <a:t>，则有</a:t>
            </a:r>
            <a:r>
              <a:rPr lang="en-US" altLang="zh-CN" sz="2400" b="1" dirty="0">
                <a:latin typeface="黑体" pitchFamily="49" charset="-122"/>
                <a:ea typeface="黑体" pitchFamily="49" charset="-122"/>
              </a:rPr>
              <a:t>X→Z</a:t>
            </a:r>
            <a:r>
              <a:rPr lang="zh-CN" altLang="en-US" sz="2400" b="1" dirty="0">
                <a:latin typeface="黑体" pitchFamily="49" charset="-122"/>
                <a:ea typeface="黑体" pitchFamily="49" charset="-122"/>
              </a:rPr>
              <a:t>；</a:t>
            </a:r>
            <a:endParaRPr lang="en-US" altLang="zh-CN" sz="2400" b="1" dirty="0">
              <a:latin typeface="黑体" pitchFamily="49" charset="-122"/>
              <a:ea typeface="黑体" pitchFamily="49" charset="-122"/>
            </a:endParaRPr>
          </a:p>
          <a:p>
            <a:pPr marL="273050" lvl="0" indent="-273050" eaLnBrk="1" hangingPunct="1">
              <a:lnSpc>
                <a:spcPct val="110000"/>
              </a:lnSpc>
              <a:buClr>
                <a:srgbClr val="E40000"/>
              </a:buClr>
              <a:buFont typeface="Wingdings" panose="05000000000000000000" pitchFamily="2" charset="2"/>
              <a:buNone/>
            </a:pPr>
            <a:endParaRPr lang="en-US" altLang="zh-CN" sz="2400" b="1" dirty="0">
              <a:latin typeface="黑体" pitchFamily="49" charset="-122"/>
              <a:ea typeface="黑体" pitchFamily="49" charset="-122"/>
            </a:endParaRPr>
          </a:p>
          <a:p>
            <a:pPr marL="273050" lvl="0" indent="-273050" eaLnBrk="1" hangingPunct="1">
              <a:lnSpc>
                <a:spcPct val="110000"/>
              </a:lnSpc>
              <a:buClr>
                <a:srgbClr val="E40000"/>
              </a:buClr>
              <a:buFont typeface="Wingdings" panose="05000000000000000000" pitchFamily="2" charset="2"/>
              <a:buNone/>
            </a:pPr>
            <a:r>
              <a:rPr lang="en-US" altLang="zh-CN" sz="2400" b="1" dirty="0">
                <a:latin typeface="黑体" pitchFamily="49" charset="-122"/>
                <a:ea typeface="黑体" pitchFamily="49" charset="-122"/>
              </a:rPr>
              <a:t>  A2</a:t>
            </a:r>
            <a:r>
              <a:rPr lang="zh-CN" altLang="en-US" sz="2400" b="1" dirty="0">
                <a:latin typeface="黑体" pitchFamily="49" charset="-122"/>
                <a:ea typeface="黑体" pitchFamily="49" charset="-122"/>
              </a:rPr>
              <a:t>可以由合并规则代替</a:t>
            </a:r>
            <a:endParaRPr lang="zh-CN" altLang="en-US" sz="2400" b="1" dirty="0">
              <a:latin typeface="黑体" pitchFamily="49" charset="-122"/>
              <a:ea typeface="黑体" pitchFamily="49" charset="-122"/>
            </a:endParaRPr>
          </a:p>
        </p:txBody>
      </p:sp>
      <p:sp>
        <p:nvSpPr>
          <p:cNvPr id="46083" name="Rectangle 4"/>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函数依赖</a:t>
            </a:r>
            <a:r>
              <a:rPr lang="zh-CN" altLang="en-US" sz="4000" b="1" dirty="0">
                <a:solidFill>
                  <a:srgbClr val="E40000"/>
                </a:solidFill>
                <a:latin typeface="Arial" panose="020B0604020202020204" pitchFamily="34" charset="0"/>
              </a:rPr>
              <a:t>的推理规则</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8130" name="Rectangle 2"/>
          <p:cNvSpPr>
            <a:spLocks noGrp="1"/>
          </p:cNvSpPr>
          <p:nvPr>
            <p:ph type="title"/>
          </p:nvPr>
        </p:nvSpPr>
        <p:spPr>
          <a:ln/>
        </p:spPr>
        <p:txBody>
          <a:bodyPr vert="horz" wrap="square" lIns="91440" tIns="45720" rIns="91440" bIns="45720" anchor="ctr" anchorCtr="0"/>
          <a:p>
            <a:pPr algn="ctr" eaLnBrk="1" hangingPunct="1"/>
            <a:r>
              <a:rPr lang="en-US" altLang="zh-CN" sz="4000" b="1" dirty="0">
                <a:solidFill>
                  <a:srgbClr val="E40000"/>
                </a:solidFill>
                <a:latin typeface="Arial" panose="020B0604020202020204" pitchFamily="34" charset="0"/>
              </a:rPr>
              <a:t>FD</a:t>
            </a:r>
            <a:r>
              <a:rPr lang="zh-CN" altLang="en-US" sz="4000" b="1" dirty="0">
                <a:solidFill>
                  <a:srgbClr val="E40000"/>
                </a:solidFill>
                <a:latin typeface="Arial" panose="020B0604020202020204" pitchFamily="34" charset="0"/>
              </a:rPr>
              <a:t>的逻辑导出</a:t>
            </a:r>
            <a:endParaRPr lang="zh-CN" altLang="en-US" sz="4000" b="1" dirty="0">
              <a:solidFill>
                <a:srgbClr val="E40000"/>
              </a:solidFill>
              <a:latin typeface="Arial" panose="020B0604020202020204" pitchFamily="34" charset="0"/>
            </a:endParaRPr>
          </a:p>
        </p:txBody>
      </p:sp>
      <p:sp>
        <p:nvSpPr>
          <p:cNvPr id="48131" name="Rectangle 3"/>
          <p:cNvSpPr>
            <a:spLocks noGrp="1"/>
          </p:cNvSpPr>
          <p:nvPr>
            <p:ph idx="1"/>
          </p:nvPr>
        </p:nvSpPr>
        <p:spPr>
          <a:xfrm>
            <a:off x="827088" y="1844675"/>
            <a:ext cx="7777162" cy="4525963"/>
          </a:xfrm>
          <a:ln/>
        </p:spPr>
        <p:txBody>
          <a:bodyPr vert="horz" wrap="square" lIns="91440" tIns="45720" rIns="91440" bIns="45720" anchor="t" anchorCtr="0"/>
          <a:p>
            <a:pPr eaLnBrk="1" hangingPunct="1"/>
            <a:r>
              <a:rPr lang="zh-CN" altLang="en-US" b="1" dirty="0">
                <a:latin typeface="黑体" pitchFamily="49" charset="-122"/>
                <a:ea typeface="黑体" pitchFamily="49" charset="-122"/>
              </a:rPr>
              <a:t>定义</a:t>
            </a:r>
            <a:r>
              <a:rPr lang="en-US" altLang="zh-CN" b="1" dirty="0">
                <a:latin typeface="黑体" pitchFamily="49" charset="-122"/>
                <a:ea typeface="黑体" pitchFamily="49" charset="-122"/>
              </a:rPr>
              <a:t>4.7</a:t>
            </a:r>
            <a:r>
              <a:rPr lang="zh-CN" altLang="en-US" b="1" dirty="0">
                <a:latin typeface="黑体" pitchFamily="49" charset="-122"/>
                <a:ea typeface="黑体" pitchFamily="49" charset="-122"/>
              </a:rPr>
              <a:t>：给定关系模式</a:t>
            </a:r>
            <a:r>
              <a:rPr lang="en-US" altLang="zh-CN" b="1" dirty="0">
                <a:latin typeface="黑体" pitchFamily="49" charset="-122"/>
                <a:ea typeface="黑体" pitchFamily="49" charset="-122"/>
              </a:rPr>
              <a:t>R&lt;U,F&gt;</a:t>
            </a:r>
            <a:r>
              <a:rPr lang="zh-CN" altLang="en-US" b="1" dirty="0">
                <a:latin typeface="黑体" pitchFamily="49" charset="-122"/>
                <a:ea typeface="黑体" pitchFamily="49" charset="-122"/>
              </a:rPr>
              <a:t>，如果能由</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根据</a:t>
            </a:r>
            <a:r>
              <a:rPr lang="en-US" altLang="zh-CN" b="1" dirty="0">
                <a:latin typeface="黑体" pitchFamily="49" charset="-122"/>
                <a:ea typeface="黑体" pitchFamily="49" charset="-122"/>
              </a:rPr>
              <a:t>Armstrong</a:t>
            </a:r>
            <a:r>
              <a:rPr lang="zh-CN" altLang="en-US" b="1" dirty="0">
                <a:latin typeface="黑体" pitchFamily="49" charset="-122"/>
                <a:ea typeface="黑体" pitchFamily="49" charset="-122"/>
              </a:rPr>
              <a:t>公理导出</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，则称</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是</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的逻辑导出，记为</a:t>
            </a:r>
            <a:r>
              <a:rPr lang="en-US" altLang="zh-CN" b="1" dirty="0">
                <a:latin typeface="黑体" pitchFamily="49" charset="-122"/>
                <a:ea typeface="黑体" pitchFamily="49" charset="-122"/>
              </a:rPr>
              <a:t>F=&gt; X→Y</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0178" name="Rectangle 5"/>
          <p:cNvSpPr/>
          <p:nvPr/>
        </p:nvSpPr>
        <p:spPr>
          <a:xfrm>
            <a:off x="684213" y="1773238"/>
            <a:ext cx="7934325" cy="3887787"/>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lnSpc>
                <a:spcPct val="120000"/>
              </a:lnSpc>
              <a:buClr>
                <a:srgbClr val="E40000"/>
              </a:buClr>
              <a:buFont typeface="Wingdings" panose="05000000000000000000" pitchFamily="2" charset="2"/>
              <a:buChar char="Ø"/>
            </a:pPr>
            <a:r>
              <a:rPr lang="zh-CN" altLang="en-US" b="1" dirty="0">
                <a:latin typeface="黑体" pitchFamily="49" charset="-122"/>
                <a:ea typeface="黑体" pitchFamily="49" charset="-122"/>
              </a:rPr>
              <a:t>定义</a:t>
            </a:r>
            <a:r>
              <a:rPr lang="en-US" altLang="zh-CN" b="1" dirty="0">
                <a:latin typeface="黑体" pitchFamily="49" charset="-122"/>
                <a:ea typeface="黑体" pitchFamily="49" charset="-122"/>
              </a:rPr>
              <a:t>4.8</a:t>
            </a:r>
            <a:r>
              <a:rPr lang="zh-CN" altLang="en-US" b="1" dirty="0">
                <a:latin typeface="黑体" pitchFamily="49" charset="-122"/>
                <a:ea typeface="黑体" pitchFamily="49" charset="-122"/>
              </a:rPr>
              <a:t>：属性集</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关于</a:t>
            </a:r>
            <a:r>
              <a:rPr lang="en-US" altLang="zh-CN" b="1" dirty="0">
                <a:latin typeface="黑体" pitchFamily="49" charset="-122"/>
                <a:ea typeface="黑体" pitchFamily="49" charset="-122"/>
              </a:rPr>
              <a:t>R(U</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上的函数依赖集合</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的闭包</a:t>
            </a:r>
            <a:r>
              <a:rPr lang="en-US" altLang="zh-CN" b="1" dirty="0">
                <a:latin typeface="黑体" pitchFamily="49" charset="-122"/>
                <a:ea typeface="黑体" pitchFamily="49" charset="-122"/>
              </a:rPr>
              <a:t>X</a:t>
            </a:r>
            <a:r>
              <a:rPr lang="en-US" altLang="zh-CN" b="1" baseline="-25000" dirty="0">
                <a:latin typeface="黑体" pitchFamily="49" charset="-122"/>
                <a:ea typeface="黑体" pitchFamily="49" charset="-122"/>
              </a:rPr>
              <a:t>F</a:t>
            </a:r>
            <a:r>
              <a:rPr lang="en-US" altLang="zh-CN" b="1" baseline="30000" dirty="0">
                <a:latin typeface="黑体" pitchFamily="49" charset="-122"/>
                <a:ea typeface="黑体" pitchFamily="49" charset="-122"/>
              </a:rPr>
              <a:t>+</a:t>
            </a:r>
            <a:r>
              <a:rPr lang="en-US" altLang="zh-CN" b="1" baseline="30000" dirty="0">
                <a:latin typeface="Arial" panose="020B0604020202020204" pitchFamily="34" charset="0"/>
              </a:rPr>
              <a:t> </a:t>
            </a:r>
            <a:r>
              <a:rPr lang="zh-CN" altLang="en-US" b="1" dirty="0">
                <a:latin typeface="黑体" pitchFamily="49" charset="-122"/>
                <a:ea typeface="黑体" pitchFamily="49" charset="-122"/>
              </a:rPr>
              <a:t>定义为</a:t>
            </a:r>
            <a:r>
              <a:rPr lang="en-US" altLang="zh-CN" b="1" dirty="0">
                <a:latin typeface="黑体" pitchFamily="49" charset="-122"/>
                <a:ea typeface="黑体" pitchFamily="49" charset="-122"/>
              </a:rPr>
              <a:t>X</a:t>
            </a:r>
            <a:r>
              <a:rPr lang="en-US" altLang="zh-CN" b="1" baseline="-25000" dirty="0">
                <a:latin typeface="黑体" pitchFamily="49" charset="-122"/>
                <a:ea typeface="黑体" pitchFamily="49" charset="-122"/>
              </a:rPr>
              <a:t>F</a:t>
            </a:r>
            <a:r>
              <a:rPr lang="en-US" altLang="zh-CN" b="1" baseline="30000" dirty="0">
                <a:latin typeface="黑体" pitchFamily="49" charset="-122"/>
                <a:ea typeface="黑体" pitchFamily="49" charset="-122"/>
              </a:rPr>
              <a:t>+</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{A|A∈U</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F=&gt; X→A}</a:t>
            </a:r>
            <a:endParaRPr lang="zh-CN" altLang="en-US" b="1" dirty="0">
              <a:latin typeface="黑体" pitchFamily="49" charset="-122"/>
              <a:ea typeface="黑体" pitchFamily="49" charset="-122"/>
            </a:endParaRPr>
          </a:p>
          <a:p>
            <a:pPr marL="273050" lvl="0" indent="-273050" eaLnBrk="1" hangingPunct="1">
              <a:lnSpc>
                <a:spcPct val="150000"/>
              </a:lnSpc>
              <a:buChar char="•"/>
            </a:pPr>
            <a:r>
              <a:rPr lang="zh-CN" altLang="en-US" b="1" dirty="0">
                <a:latin typeface="黑体" pitchFamily="49" charset="-122"/>
                <a:ea typeface="黑体" pitchFamily="49" charset="-122"/>
              </a:rPr>
              <a:t>根据</a:t>
            </a:r>
            <a:r>
              <a:rPr lang="en-US" altLang="zh-CN" b="1" dirty="0">
                <a:latin typeface="黑体" pitchFamily="49" charset="-122"/>
                <a:ea typeface="黑体" pitchFamily="49" charset="-122"/>
              </a:rPr>
              <a:t>A1</a:t>
            </a:r>
            <a:r>
              <a:rPr lang="zh-CN" altLang="en-US" b="1" dirty="0">
                <a:latin typeface="黑体" pitchFamily="49" charset="-122"/>
                <a:ea typeface="黑体" pitchFamily="49" charset="-122"/>
              </a:rPr>
              <a:t>（自反率）可知对于任一属性集</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一定有</a:t>
            </a:r>
            <a:r>
              <a:rPr lang="en-US" altLang="zh-CN" b="1" dirty="0">
                <a:latin typeface="黑体" pitchFamily="49" charset="-122"/>
                <a:ea typeface="黑体" pitchFamily="49" charset="-122"/>
              </a:rPr>
              <a:t>X⊆X</a:t>
            </a:r>
            <a:r>
              <a:rPr lang="en-US" altLang="zh-CN" b="1" baseline="-25000" dirty="0">
                <a:latin typeface="黑体" pitchFamily="49" charset="-122"/>
                <a:ea typeface="黑体" pitchFamily="49" charset="-122"/>
              </a:rPr>
              <a:t>F</a:t>
            </a:r>
            <a:r>
              <a:rPr lang="en-US" altLang="zh-CN" b="1" baseline="30000" dirty="0">
                <a:latin typeface="黑体" pitchFamily="49" charset="-122"/>
                <a:ea typeface="黑体" pitchFamily="49" charset="-122"/>
              </a:rPr>
              <a:t>+</a:t>
            </a:r>
            <a:r>
              <a:rPr lang="zh-CN" altLang="en-US" b="1" dirty="0">
                <a:latin typeface="黑体" pitchFamily="49" charset="-122"/>
                <a:ea typeface="黑体" pitchFamily="49" charset="-122"/>
              </a:rPr>
              <a:t>，此外，计算</a:t>
            </a:r>
            <a:r>
              <a:rPr lang="en-US" altLang="zh-CN" b="1" dirty="0">
                <a:latin typeface="黑体" pitchFamily="49" charset="-122"/>
                <a:ea typeface="黑体" pitchFamily="49" charset="-122"/>
              </a:rPr>
              <a:t>X</a:t>
            </a:r>
            <a:r>
              <a:rPr lang="en-US" altLang="zh-CN" b="1" baseline="-25000" dirty="0">
                <a:latin typeface="黑体" pitchFamily="49" charset="-122"/>
                <a:ea typeface="黑体" pitchFamily="49" charset="-122"/>
              </a:rPr>
              <a:t>F</a:t>
            </a:r>
            <a:r>
              <a:rPr lang="en-US" altLang="zh-CN" b="1" baseline="30000" dirty="0">
                <a:latin typeface="黑体" pitchFamily="49" charset="-122"/>
                <a:ea typeface="黑体" pitchFamily="49" charset="-122"/>
              </a:rPr>
              <a:t>+</a:t>
            </a:r>
            <a:r>
              <a:rPr lang="zh-CN" altLang="en-US" b="1" dirty="0">
                <a:latin typeface="黑体" pitchFamily="49" charset="-122"/>
                <a:ea typeface="黑体" pitchFamily="49" charset="-122"/>
              </a:rPr>
              <a:t>的工作量应该远远小于计算</a:t>
            </a:r>
            <a:r>
              <a:rPr lang="en-US" altLang="zh-CN" b="1" dirty="0">
                <a:latin typeface="黑体" pitchFamily="49" charset="-122"/>
                <a:ea typeface="黑体" pitchFamily="49" charset="-122"/>
              </a:rPr>
              <a:t>F</a:t>
            </a:r>
            <a:r>
              <a:rPr lang="en-US" altLang="zh-CN" b="1" baseline="30000" dirty="0">
                <a:latin typeface="黑体" pitchFamily="49" charset="-122"/>
                <a:ea typeface="黑体" pitchFamily="49" charset="-122"/>
              </a:rPr>
              <a:t>+</a:t>
            </a:r>
            <a:r>
              <a:rPr lang="zh-CN" altLang="en-US" b="1" dirty="0">
                <a:latin typeface="黑体" pitchFamily="49" charset="-122"/>
                <a:ea typeface="黑体" pitchFamily="49" charset="-122"/>
              </a:rPr>
              <a:t>的工作量，因为</a:t>
            </a:r>
            <a:r>
              <a:rPr lang="en-US" altLang="zh-CN" b="1" dirty="0">
                <a:latin typeface="黑体" pitchFamily="49" charset="-122"/>
                <a:ea typeface="黑体" pitchFamily="49" charset="-122"/>
              </a:rPr>
              <a:t>X</a:t>
            </a:r>
            <a:r>
              <a:rPr lang="en-US" altLang="zh-CN" b="1" baseline="-25000" dirty="0">
                <a:latin typeface="黑体" pitchFamily="49" charset="-122"/>
                <a:ea typeface="黑体" pitchFamily="49" charset="-122"/>
              </a:rPr>
              <a:t>F</a:t>
            </a:r>
            <a:r>
              <a:rPr lang="en-US" altLang="zh-CN" b="1" baseline="30000" dirty="0">
                <a:latin typeface="黑体" pitchFamily="49" charset="-122"/>
                <a:ea typeface="黑体" pitchFamily="49" charset="-122"/>
              </a:rPr>
              <a:t>+</a:t>
            </a:r>
            <a:r>
              <a:rPr lang="zh-CN" altLang="en-US" b="1" dirty="0">
                <a:latin typeface="黑体" pitchFamily="49" charset="-122"/>
                <a:ea typeface="黑体" pitchFamily="49" charset="-122"/>
              </a:rPr>
              <a:t>中的属性一定是可数的，最多就是属性全集</a:t>
            </a:r>
            <a:r>
              <a:rPr lang="en-US" altLang="zh-CN" b="1" dirty="0">
                <a:latin typeface="黑体" pitchFamily="49" charset="-122"/>
                <a:ea typeface="黑体" pitchFamily="49" charset="-122"/>
              </a:rPr>
              <a:t>U</a:t>
            </a:r>
            <a:r>
              <a:rPr lang="zh-CN" altLang="en-US" b="1" dirty="0">
                <a:latin typeface="黑体" pitchFamily="49" charset="-122"/>
                <a:ea typeface="黑体" pitchFamily="49" charset="-122"/>
              </a:rPr>
              <a:t>而已</a:t>
            </a:r>
            <a:endParaRPr lang="zh-CN" altLang="en-US" b="1" dirty="0">
              <a:latin typeface="黑体" pitchFamily="49" charset="-122"/>
              <a:ea typeface="黑体" pitchFamily="49" charset="-122"/>
            </a:endParaRPr>
          </a:p>
        </p:txBody>
      </p:sp>
      <p:sp>
        <p:nvSpPr>
          <p:cNvPr id="50179" name="Rectangle 10"/>
          <p:cNvSpPr/>
          <p:nvPr/>
        </p:nvSpPr>
        <p:spPr>
          <a:xfrm>
            <a:off x="0" y="335280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50180" name="Rectangle 15"/>
          <p:cNvSpPr>
            <a:spLocks noGrp="1"/>
          </p:cNvSpPr>
          <p:nvPr>
            <p:ph type="title"/>
          </p:nvPr>
        </p:nvSpPr>
        <p:spPr>
          <a:xfrm>
            <a:off x="1042988" y="404813"/>
            <a:ext cx="7086600" cy="731837"/>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a:t>
            </a:r>
            <a:r>
              <a:rPr lang="en-US" altLang="zh-CN" sz="4000" b="1" dirty="0">
                <a:solidFill>
                  <a:srgbClr val="E40000"/>
                </a:solidFill>
                <a:latin typeface="Arial" panose="020B0604020202020204" pitchFamily="34" charset="0"/>
              </a:rPr>
              <a:t>属性集合</a:t>
            </a:r>
            <a:r>
              <a:rPr lang="zh-CN" altLang="en-US" sz="4000" b="1" dirty="0">
                <a:solidFill>
                  <a:srgbClr val="E40000"/>
                </a:solidFill>
                <a:latin typeface="Arial" panose="020B0604020202020204" pitchFamily="34" charset="0"/>
              </a:rPr>
              <a:t>的闭包</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2226" name="Rectangle 11"/>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a:t>
            </a:r>
            <a:r>
              <a:rPr lang="en-US" altLang="zh-CN" sz="4000" b="1" dirty="0">
                <a:solidFill>
                  <a:srgbClr val="E40000"/>
                </a:solidFill>
                <a:latin typeface="Arial" panose="020B0604020202020204" pitchFamily="34" charset="0"/>
              </a:rPr>
              <a:t>属性集合</a:t>
            </a:r>
            <a:r>
              <a:rPr lang="zh-CN" altLang="en-US" sz="4000" b="1" dirty="0">
                <a:solidFill>
                  <a:srgbClr val="E40000"/>
                </a:solidFill>
                <a:latin typeface="Arial" panose="020B0604020202020204" pitchFamily="34" charset="0"/>
              </a:rPr>
              <a:t>的闭包</a:t>
            </a:r>
            <a:endParaRPr lang="zh-CN" altLang="en-US" sz="4000" b="1" dirty="0">
              <a:solidFill>
                <a:srgbClr val="E40000"/>
              </a:solidFill>
              <a:latin typeface="Arial" panose="020B0604020202020204" pitchFamily="34" charset="0"/>
            </a:endParaRPr>
          </a:p>
        </p:txBody>
      </p:sp>
      <p:pic>
        <p:nvPicPr>
          <p:cNvPr id="52227" name="Picture 13"/>
          <p:cNvPicPr>
            <a:picLocks noChangeAspect="1"/>
          </p:cNvPicPr>
          <p:nvPr/>
        </p:nvPicPr>
        <p:blipFill>
          <a:blip r:embed="rId1"/>
          <a:stretch>
            <a:fillRect/>
          </a:stretch>
        </p:blipFill>
        <p:spPr>
          <a:xfrm>
            <a:off x="827088" y="2060575"/>
            <a:ext cx="7632700" cy="3800475"/>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4274"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属性集的闭包</a:t>
            </a:r>
            <a:r>
              <a:rPr lang="zh-CN" altLang="en-US" dirty="0"/>
              <a:t> </a:t>
            </a:r>
            <a:endParaRPr lang="zh-CN" altLang="en-US" dirty="0"/>
          </a:p>
        </p:txBody>
      </p:sp>
      <p:sp>
        <p:nvSpPr>
          <p:cNvPr id="54275" name="Rectangle 3"/>
          <p:cNvSpPr>
            <a:spLocks noGrp="1"/>
          </p:cNvSpPr>
          <p:nvPr>
            <p:ph idx="1"/>
          </p:nvPr>
        </p:nvSpPr>
        <p:spPr>
          <a:xfrm>
            <a:off x="539750" y="1700213"/>
            <a:ext cx="8229600" cy="4530725"/>
          </a:xfrm>
          <a:ln/>
        </p:spPr>
        <p:txBody>
          <a:bodyPr vert="horz" wrap="square" lIns="91440" tIns="45720" rIns="91440" bIns="45720" anchor="t" anchorCtr="0"/>
          <a:p>
            <a:pPr marL="533400" indent="-533400" eaLnBrk="1" hangingPunct="1">
              <a:lnSpc>
                <a:spcPct val="90000"/>
              </a:lnSpc>
            </a:pPr>
            <a:r>
              <a:rPr lang="zh-CN" altLang="en-US" sz="2400" b="1" dirty="0"/>
              <a:t>算法</a:t>
            </a:r>
            <a:r>
              <a:rPr lang="en-US" altLang="zh-CN" sz="2400" b="1" dirty="0"/>
              <a:t>4.1</a:t>
            </a:r>
            <a:r>
              <a:rPr lang="zh-CN" altLang="en-US" sz="2400" b="1" dirty="0"/>
              <a:t>：求属性集</a:t>
            </a:r>
            <a:r>
              <a:rPr lang="en-US" altLang="zh-CN" sz="2400" b="1" dirty="0"/>
              <a:t>X(X⊂U)</a:t>
            </a:r>
            <a:r>
              <a:rPr lang="zh-CN" altLang="en-US" sz="2400" b="1" dirty="0"/>
              <a:t>关于</a:t>
            </a:r>
            <a:r>
              <a:rPr lang="en-US" altLang="zh-CN" sz="2400" b="1" dirty="0"/>
              <a:t>U</a:t>
            </a:r>
            <a:r>
              <a:rPr lang="zh-CN" altLang="en-US" sz="2400" b="1" dirty="0"/>
              <a:t>上的函数依赖集</a:t>
            </a:r>
            <a:r>
              <a:rPr lang="en-US" altLang="zh-CN" sz="2400" b="1" dirty="0"/>
              <a:t>F</a:t>
            </a:r>
            <a:r>
              <a:rPr lang="zh-CN" altLang="en-US" sz="2400" b="1" dirty="0"/>
              <a:t>的闭包</a:t>
            </a:r>
            <a:r>
              <a:rPr lang="en-US" altLang="zh-CN" sz="2400" b="1" dirty="0"/>
              <a:t>X</a:t>
            </a:r>
            <a:r>
              <a:rPr lang="en-US" altLang="zh-CN" sz="2000" b="1" baseline="30000" dirty="0"/>
              <a:t>+</a:t>
            </a:r>
            <a:r>
              <a:rPr lang="en-US" altLang="zh-CN" sz="1600" b="1" dirty="0"/>
              <a:t>F</a:t>
            </a:r>
            <a:endParaRPr lang="en-US" altLang="zh-CN" sz="1600" b="1" dirty="0"/>
          </a:p>
          <a:p>
            <a:pPr marL="533400" indent="-533400" eaLnBrk="1" hangingPunct="1">
              <a:lnSpc>
                <a:spcPct val="90000"/>
              </a:lnSpc>
            </a:pPr>
            <a:r>
              <a:rPr lang="zh-CN" altLang="en-US" sz="2400" b="1" dirty="0"/>
              <a:t>输入：</a:t>
            </a:r>
            <a:r>
              <a:rPr lang="en-US" altLang="zh-CN" sz="2400" b="1" dirty="0"/>
              <a:t>X</a:t>
            </a:r>
            <a:r>
              <a:rPr lang="zh-CN" altLang="en-US" sz="2400" b="1" dirty="0"/>
              <a:t>，</a:t>
            </a:r>
            <a:r>
              <a:rPr lang="en-US" altLang="zh-CN" sz="2400" b="1" dirty="0"/>
              <a:t>F </a:t>
            </a:r>
            <a:endParaRPr lang="en-US" altLang="zh-CN" sz="2400" b="1" dirty="0"/>
          </a:p>
          <a:p>
            <a:pPr marL="533400" indent="-533400" eaLnBrk="1" hangingPunct="1">
              <a:lnSpc>
                <a:spcPct val="90000"/>
              </a:lnSpc>
            </a:pPr>
            <a:r>
              <a:rPr lang="zh-CN" altLang="en-US" sz="2400" b="1" dirty="0"/>
              <a:t>输出： </a:t>
            </a:r>
            <a:r>
              <a:rPr lang="en-US" altLang="zh-CN" sz="2400" b="1" dirty="0"/>
              <a:t>X</a:t>
            </a:r>
            <a:r>
              <a:rPr lang="en-US" altLang="zh-CN" sz="2000" b="1" baseline="-25000" dirty="0"/>
              <a:t>F</a:t>
            </a:r>
            <a:r>
              <a:rPr lang="en-US" altLang="zh-CN" sz="2400" b="1" baseline="30000" dirty="0"/>
              <a:t>+</a:t>
            </a:r>
            <a:endParaRPr lang="en-US" altLang="zh-CN" sz="2400" b="1" dirty="0"/>
          </a:p>
          <a:p>
            <a:pPr marL="533400" indent="-533400" eaLnBrk="1" hangingPunct="1">
              <a:lnSpc>
                <a:spcPct val="90000"/>
              </a:lnSpc>
            </a:pPr>
            <a:r>
              <a:rPr lang="zh-CN" altLang="en-US" sz="2400" b="1" dirty="0"/>
              <a:t>步骤：</a:t>
            </a:r>
            <a:endParaRPr lang="zh-CN" altLang="en-US" sz="2400" b="1" dirty="0"/>
          </a:p>
          <a:p>
            <a:pPr marL="914400" lvl="1" indent="-457200" eaLnBrk="1" hangingPunct="1">
              <a:lnSpc>
                <a:spcPct val="90000"/>
              </a:lnSpc>
              <a:buFontTx/>
              <a:buAutoNum type="arabicParenR"/>
            </a:pPr>
            <a:r>
              <a:rPr lang="zh-CN" altLang="en-US" sz="2000" b="1" dirty="0"/>
              <a:t>令</a:t>
            </a:r>
            <a:r>
              <a:rPr lang="en-US" altLang="zh-CN" sz="2000" b="1" dirty="0"/>
              <a:t>X(0)=X</a:t>
            </a:r>
            <a:r>
              <a:rPr lang="zh-CN" altLang="en-US" sz="2000" b="1" dirty="0"/>
              <a:t>，</a:t>
            </a:r>
            <a:r>
              <a:rPr lang="en-US" altLang="zh-CN" sz="2000" b="1" dirty="0"/>
              <a:t>i=0 </a:t>
            </a:r>
            <a:endParaRPr lang="en-US" altLang="zh-CN" sz="2000" b="1" dirty="0"/>
          </a:p>
          <a:p>
            <a:pPr marL="914400" lvl="1" indent="-457200" eaLnBrk="1" hangingPunct="1">
              <a:lnSpc>
                <a:spcPct val="90000"/>
              </a:lnSpc>
              <a:buFontTx/>
              <a:buAutoNum type="arabicParenR"/>
            </a:pPr>
            <a:r>
              <a:rPr lang="zh-CN" altLang="en-US" sz="2000" b="1" dirty="0"/>
              <a:t>求</a:t>
            </a:r>
            <a:r>
              <a:rPr lang="en-US" altLang="zh-CN" sz="2000" b="1" dirty="0"/>
              <a:t>B</a:t>
            </a:r>
            <a:r>
              <a:rPr lang="zh-CN" altLang="en-US" sz="2000" b="1" dirty="0"/>
              <a:t>，这里</a:t>
            </a:r>
            <a:r>
              <a:rPr lang="en-US" altLang="zh-CN" sz="2000" b="1" dirty="0"/>
              <a:t>B={A|(</a:t>
            </a:r>
            <a:r>
              <a:rPr lang="zh-CN" altLang="en-US" sz="2000" b="1" dirty="0"/>
              <a:t>存在</a:t>
            </a:r>
            <a:r>
              <a:rPr lang="en-US" altLang="zh-CN" sz="2000" b="1" dirty="0"/>
              <a:t>V→W)(V→W∈F∧V</a:t>
            </a:r>
            <a:r>
              <a:rPr lang="en-US" altLang="en-US" sz="2000" b="1" dirty="0"/>
              <a:t>⊆</a:t>
            </a:r>
            <a:r>
              <a:rPr lang="en-US" altLang="zh-CN" sz="2000" b="1" dirty="0"/>
              <a:t>X(i) ∧ A∈W)}</a:t>
            </a:r>
            <a:r>
              <a:rPr lang="zh-CN" altLang="en-US" sz="2000" b="1" dirty="0"/>
              <a:t>； </a:t>
            </a:r>
            <a:endParaRPr lang="zh-CN" altLang="en-US" sz="2000" b="1" dirty="0"/>
          </a:p>
          <a:p>
            <a:pPr marL="914400" lvl="1" indent="-457200" eaLnBrk="1" hangingPunct="1">
              <a:lnSpc>
                <a:spcPct val="90000"/>
              </a:lnSpc>
              <a:buFontTx/>
              <a:buAutoNum type="arabicParenR"/>
            </a:pPr>
            <a:r>
              <a:rPr lang="en-US" altLang="zh-CN" sz="2000" b="1" dirty="0"/>
              <a:t>X(i+1)=X(i)∪B</a:t>
            </a:r>
            <a:endParaRPr lang="en-US" altLang="zh-CN" sz="1800" b="1" dirty="0"/>
          </a:p>
          <a:p>
            <a:pPr marL="914400" lvl="1" indent="-457200" eaLnBrk="1" hangingPunct="1">
              <a:lnSpc>
                <a:spcPct val="90000"/>
              </a:lnSpc>
              <a:buFontTx/>
              <a:buAutoNum type="arabicParenR" startAt="4"/>
            </a:pPr>
            <a:r>
              <a:rPr lang="zh-CN" altLang="en-US" sz="2000" b="1" dirty="0"/>
              <a:t>判断</a:t>
            </a:r>
            <a:r>
              <a:rPr lang="en-US" altLang="zh-CN" sz="2000" b="1" dirty="0"/>
              <a:t>X(i+1)=x(i)</a:t>
            </a:r>
            <a:r>
              <a:rPr lang="zh-CN" altLang="en-US" sz="2000" b="1" dirty="0"/>
              <a:t>吗</a:t>
            </a:r>
            <a:r>
              <a:rPr lang="en-US" altLang="zh-CN" sz="2000" b="1" dirty="0"/>
              <a:t>? </a:t>
            </a:r>
            <a:endParaRPr lang="en-US" altLang="zh-CN" sz="2000" b="1" dirty="0"/>
          </a:p>
          <a:p>
            <a:pPr marL="914400" lvl="1" indent="-457200" eaLnBrk="1" hangingPunct="1">
              <a:lnSpc>
                <a:spcPct val="90000"/>
              </a:lnSpc>
              <a:buFontTx/>
              <a:buAutoNum type="arabicParenR" startAt="5"/>
            </a:pPr>
            <a:r>
              <a:rPr lang="zh-CN" altLang="en-US" sz="2000" b="1" dirty="0"/>
              <a:t>若相等或</a:t>
            </a:r>
            <a:r>
              <a:rPr lang="en-US" altLang="zh-CN" sz="2000" b="1" dirty="0"/>
              <a:t>X(i)=U </a:t>
            </a:r>
            <a:r>
              <a:rPr lang="zh-CN" altLang="en-US" sz="2000" b="1" dirty="0"/>
              <a:t>则</a:t>
            </a:r>
            <a:r>
              <a:rPr lang="en-US" altLang="zh-CN" sz="2000" b="1" dirty="0"/>
              <a:t>X(i)</a:t>
            </a:r>
            <a:r>
              <a:rPr lang="zh-CN" altLang="en-US" sz="2000" b="1" dirty="0"/>
              <a:t>就是</a:t>
            </a:r>
            <a:r>
              <a:rPr lang="en-US" altLang="zh-CN" sz="2000" b="1" dirty="0"/>
              <a:t>X</a:t>
            </a:r>
            <a:r>
              <a:rPr lang="en-US" altLang="zh-CN" sz="2000" b="1" baseline="-25000" dirty="0"/>
              <a:t>F</a:t>
            </a:r>
            <a:r>
              <a:rPr lang="en-US" altLang="zh-CN" sz="2000" b="1" baseline="30000" dirty="0"/>
              <a:t>+</a:t>
            </a:r>
            <a:r>
              <a:rPr lang="en-US" altLang="zh-CN" sz="2000" b="1" dirty="0"/>
              <a:t>,</a:t>
            </a:r>
            <a:r>
              <a:rPr lang="zh-CN" altLang="en-US" sz="2000" b="1" dirty="0"/>
              <a:t>算法终止。 </a:t>
            </a:r>
            <a:endParaRPr lang="zh-CN" altLang="en-US" sz="2000" b="1" dirty="0"/>
          </a:p>
          <a:p>
            <a:pPr marL="914400" lvl="1" indent="-457200" eaLnBrk="1" hangingPunct="1">
              <a:lnSpc>
                <a:spcPct val="90000"/>
              </a:lnSpc>
              <a:buFontTx/>
              <a:buAutoNum type="arabicParenR" startAt="5"/>
            </a:pPr>
            <a:r>
              <a:rPr lang="zh-CN" altLang="en-US" sz="2000" b="1" dirty="0"/>
              <a:t>若否，则</a:t>
            </a:r>
            <a:r>
              <a:rPr lang="en-US" altLang="zh-CN" sz="2000" b="1" dirty="0"/>
              <a:t>i=i+l</a:t>
            </a:r>
            <a:r>
              <a:rPr lang="zh-CN" altLang="en-US" sz="2000" b="1" dirty="0"/>
              <a:t>，返回第 </a:t>
            </a:r>
            <a:r>
              <a:rPr lang="en-US" altLang="zh-CN" sz="2000" b="1" dirty="0"/>
              <a:t>2) </a:t>
            </a:r>
            <a:r>
              <a:rPr lang="zh-CN" altLang="en-US" sz="2000" b="1" dirty="0"/>
              <a:t>步。</a:t>
            </a:r>
            <a:endParaRPr lang="zh-CN" altLang="en-US" sz="2000" b="1" dirty="0"/>
          </a:p>
        </p:txBody>
      </p:sp>
      <p:sp>
        <p:nvSpPr>
          <p:cNvPr id="54276"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54277" name="Rectangle 7"/>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54278" name="Rectangle 9"/>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54279" name="Rectangle 11"/>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6322"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属性集的闭包</a:t>
            </a:r>
            <a:r>
              <a:rPr lang="zh-CN" altLang="en-US" dirty="0"/>
              <a:t> </a:t>
            </a:r>
            <a:endParaRPr lang="zh-CN" altLang="en-US" dirty="0"/>
          </a:p>
        </p:txBody>
      </p:sp>
      <p:sp>
        <p:nvSpPr>
          <p:cNvPr id="56323" name="Rectangle 3"/>
          <p:cNvSpPr>
            <a:spLocks noGrp="1"/>
          </p:cNvSpPr>
          <p:nvPr>
            <p:ph idx="1"/>
          </p:nvPr>
        </p:nvSpPr>
        <p:spPr>
          <a:xfrm>
            <a:off x="827088" y="1412875"/>
            <a:ext cx="7488237" cy="5040313"/>
          </a:xfrm>
          <a:ln/>
        </p:spPr>
        <p:txBody>
          <a:bodyPr vert="horz" wrap="square" lIns="91440" tIns="45720" rIns="91440" bIns="45720" anchor="t" anchorCtr="0"/>
          <a:p>
            <a:pPr marL="177800" indent="-177800" eaLnBrk="1" hangingPunct="1">
              <a:lnSpc>
                <a:spcPct val="80000"/>
              </a:lnSpc>
            </a:pPr>
            <a:r>
              <a:rPr lang="zh-CN" altLang="en-US" sz="2400" b="1" dirty="0"/>
              <a:t>例</a:t>
            </a:r>
            <a:r>
              <a:rPr lang="en-US" altLang="zh-CN" sz="2400" b="1" dirty="0"/>
              <a:t>4.2:</a:t>
            </a:r>
            <a:r>
              <a:rPr lang="zh-CN" altLang="en-US" sz="2400" b="1" dirty="0"/>
              <a:t>已知关系模式</a:t>
            </a:r>
            <a:r>
              <a:rPr lang="en-US" altLang="zh-CN" sz="2400" b="1" dirty="0"/>
              <a:t>R&lt;U,F&gt;, </a:t>
            </a:r>
            <a:r>
              <a:rPr lang="zh-CN" altLang="en-US" sz="2400" b="1" dirty="0"/>
              <a:t>其中</a:t>
            </a:r>
            <a:r>
              <a:rPr lang="en-US" altLang="zh-CN" sz="2400" b="1" dirty="0"/>
              <a:t>:U={A,B,C,D,E}</a:t>
            </a:r>
            <a:r>
              <a:rPr lang="zh-CN" altLang="en-US" sz="2400" b="1" dirty="0"/>
              <a:t>；</a:t>
            </a:r>
            <a:r>
              <a:rPr lang="en-US" altLang="zh-CN" sz="2400" b="1" dirty="0"/>
              <a:t>F={AB→C</a:t>
            </a:r>
            <a:r>
              <a:rPr lang="zh-CN" altLang="en-US" sz="2400" b="1" dirty="0"/>
              <a:t>，</a:t>
            </a:r>
            <a:r>
              <a:rPr lang="en-US" altLang="zh-CN" sz="2400" b="1" dirty="0"/>
              <a:t>B→D</a:t>
            </a:r>
            <a:r>
              <a:rPr lang="zh-CN" altLang="en-US" sz="2400" b="1" dirty="0"/>
              <a:t>，</a:t>
            </a:r>
            <a:r>
              <a:rPr lang="en-US" altLang="zh-CN" sz="2400" b="1" dirty="0"/>
              <a:t>C→E</a:t>
            </a:r>
            <a:r>
              <a:rPr lang="zh-CN" altLang="en-US" sz="2400" b="1" dirty="0"/>
              <a:t>，</a:t>
            </a:r>
            <a:r>
              <a:rPr lang="en-US" altLang="zh-CN" sz="2400" b="1" dirty="0"/>
              <a:t>EC→B</a:t>
            </a:r>
            <a:r>
              <a:rPr lang="zh-CN" altLang="en-US" sz="2400" b="1" dirty="0"/>
              <a:t>，</a:t>
            </a:r>
            <a:r>
              <a:rPr lang="en-US" altLang="zh-CN" sz="2400" b="1" dirty="0"/>
              <a:t>AC→B}</a:t>
            </a:r>
            <a:endParaRPr lang="en-US" altLang="zh-CN" sz="2400" b="1" dirty="0"/>
          </a:p>
          <a:p>
            <a:pPr marL="177800" indent="-177800" eaLnBrk="1" hangingPunct="1">
              <a:lnSpc>
                <a:spcPct val="80000"/>
              </a:lnSpc>
              <a:buNone/>
            </a:pPr>
            <a:r>
              <a:rPr lang="zh-CN" altLang="en-US" sz="2400" b="1" dirty="0"/>
              <a:t> 求 </a:t>
            </a:r>
            <a:r>
              <a:rPr lang="en-US" altLang="zh-CN" sz="2400" b="1" dirty="0"/>
              <a:t>(AB)</a:t>
            </a:r>
            <a:r>
              <a:rPr lang="en-US" altLang="zh-CN" sz="2400" b="1" baseline="30000" dirty="0"/>
              <a:t>+</a:t>
            </a:r>
            <a:r>
              <a:rPr lang="en-US" altLang="zh-CN" sz="1400" b="1" dirty="0"/>
              <a:t>F</a:t>
            </a:r>
            <a:r>
              <a:rPr lang="en-US" altLang="zh-CN" sz="2400" b="1" dirty="0"/>
              <a:t> </a:t>
            </a:r>
            <a:r>
              <a:rPr lang="zh-CN" altLang="en-US" sz="2400" b="1" dirty="0"/>
              <a:t>。 </a:t>
            </a:r>
            <a:endParaRPr lang="zh-CN" altLang="en-US" sz="2400" b="1" dirty="0"/>
          </a:p>
          <a:p>
            <a:pPr marL="177800" indent="-177800" eaLnBrk="1" hangingPunct="1">
              <a:lnSpc>
                <a:spcPct val="80000"/>
              </a:lnSpc>
            </a:pPr>
            <a:r>
              <a:rPr lang="zh-CN" altLang="en-US" sz="2400" b="1" dirty="0"/>
              <a:t>解：由算法，</a:t>
            </a:r>
            <a:r>
              <a:rPr lang="en-US" altLang="zh-CN" sz="2400" b="1" dirty="0"/>
              <a:t>X(0)=AB</a:t>
            </a:r>
            <a:r>
              <a:rPr lang="zh-CN" altLang="en-US" sz="2400" b="1" dirty="0"/>
              <a:t>；计算</a:t>
            </a:r>
            <a:r>
              <a:rPr lang="en-US" altLang="zh-CN" sz="2400" b="1" dirty="0"/>
              <a:t>X(1)</a:t>
            </a:r>
            <a:r>
              <a:rPr lang="zh-CN" altLang="en-US" sz="2400" b="1" dirty="0"/>
              <a:t>； 逐一的扫描</a:t>
            </a:r>
            <a:r>
              <a:rPr lang="en-US" altLang="zh-CN" sz="2400" b="1" dirty="0"/>
              <a:t>F</a:t>
            </a:r>
            <a:r>
              <a:rPr lang="zh-CN" altLang="en-US" sz="2400" b="1" dirty="0"/>
              <a:t>集合中各个函数依赖</a:t>
            </a:r>
            <a:r>
              <a:rPr lang="en-US" altLang="zh-CN" sz="2400" b="1" dirty="0"/>
              <a:t>,</a:t>
            </a:r>
            <a:r>
              <a:rPr lang="zh-CN" altLang="en-US" sz="2400" b="1" dirty="0"/>
              <a:t>找左部为</a:t>
            </a:r>
            <a:r>
              <a:rPr lang="en-US" altLang="zh-CN" sz="2400" b="1" dirty="0"/>
              <a:t>A,B,</a:t>
            </a:r>
            <a:r>
              <a:rPr lang="zh-CN" altLang="en-US" sz="2400" b="1" dirty="0"/>
              <a:t>或</a:t>
            </a:r>
            <a:r>
              <a:rPr lang="en-US" altLang="zh-CN" sz="2400" b="1" dirty="0"/>
              <a:t>AB</a:t>
            </a:r>
            <a:r>
              <a:rPr lang="zh-CN" altLang="en-US" sz="2400" b="1" dirty="0"/>
              <a:t>的函数依赖。得到两个：</a:t>
            </a:r>
            <a:r>
              <a:rPr lang="en-US" altLang="zh-CN" sz="2400" b="1" dirty="0"/>
              <a:t>AB→C</a:t>
            </a:r>
            <a:r>
              <a:rPr lang="zh-CN" altLang="en-US" sz="2400" b="1" dirty="0"/>
              <a:t>，</a:t>
            </a:r>
            <a:r>
              <a:rPr lang="en-US" altLang="zh-CN" sz="2400" b="1" dirty="0"/>
              <a:t>B→D</a:t>
            </a:r>
            <a:r>
              <a:rPr lang="zh-CN" altLang="en-US" sz="2400" b="1" dirty="0"/>
              <a:t>。于是</a:t>
            </a:r>
            <a:r>
              <a:rPr lang="en-US" altLang="zh-CN" sz="2400" b="1" dirty="0"/>
              <a:t>X(1)=AB∪CD=ABCD</a:t>
            </a:r>
            <a:r>
              <a:rPr lang="zh-CN" altLang="en-US" sz="2400" b="1" dirty="0"/>
              <a:t>。</a:t>
            </a:r>
            <a:endParaRPr lang="zh-CN" altLang="en-US" sz="2400" b="1" dirty="0"/>
          </a:p>
          <a:p>
            <a:pPr marL="177800" indent="-177800" eaLnBrk="1" hangingPunct="1">
              <a:lnSpc>
                <a:spcPct val="80000"/>
              </a:lnSpc>
              <a:buNone/>
            </a:pPr>
            <a:r>
              <a:rPr lang="zh-CN" altLang="en-US" sz="2400" b="1" dirty="0"/>
              <a:t> 因为 </a:t>
            </a:r>
            <a:r>
              <a:rPr lang="en-US" altLang="zh-CN" sz="2400" b="1" dirty="0"/>
              <a:t>X(0)≠X(1)</a:t>
            </a:r>
            <a:r>
              <a:rPr lang="zh-CN" altLang="en-US" sz="2400" b="1" dirty="0"/>
              <a:t>，所以再找出左部为</a:t>
            </a:r>
            <a:r>
              <a:rPr lang="en-US" altLang="zh-CN" sz="2400" b="1" dirty="0"/>
              <a:t>ABCD</a:t>
            </a:r>
            <a:r>
              <a:rPr lang="zh-CN" altLang="en-US" sz="2400" b="1" dirty="0"/>
              <a:t>子集的那些函数依赖，又得到</a:t>
            </a:r>
            <a:r>
              <a:rPr lang="en-US" altLang="zh-CN" sz="2400" b="1" dirty="0"/>
              <a:t>C→E</a:t>
            </a:r>
            <a:r>
              <a:rPr lang="zh-CN" altLang="en-US" sz="2400" b="1" dirty="0"/>
              <a:t>，</a:t>
            </a:r>
            <a:r>
              <a:rPr lang="en-US" altLang="zh-CN" sz="2400" b="1" dirty="0"/>
              <a:t>AC→B</a:t>
            </a:r>
            <a:r>
              <a:rPr lang="zh-CN" altLang="en-US" sz="2400" b="1" dirty="0"/>
              <a:t>，于是</a:t>
            </a:r>
            <a:r>
              <a:rPr lang="en-US" altLang="zh-CN" sz="2400" b="1" dirty="0"/>
              <a:t>X(2)=X(1)∪BE=ABCDE</a:t>
            </a:r>
            <a:r>
              <a:rPr lang="zh-CN" altLang="en-US" sz="2400" b="1" dirty="0"/>
              <a:t>。 </a:t>
            </a:r>
            <a:br>
              <a:rPr lang="zh-CN" altLang="en-US" sz="2400" b="1" dirty="0"/>
            </a:br>
            <a:r>
              <a:rPr lang="zh-CN" altLang="en-US" sz="2400" b="1" dirty="0"/>
              <a:t>因为</a:t>
            </a:r>
            <a:r>
              <a:rPr lang="en-US" altLang="zh-CN" sz="2400" b="1" dirty="0"/>
              <a:t>X(2) </a:t>
            </a:r>
            <a:r>
              <a:rPr lang="zh-CN" altLang="en-US" sz="2400" b="1" dirty="0"/>
              <a:t>已等于全部属性集合</a:t>
            </a:r>
            <a:r>
              <a:rPr lang="en-US" altLang="zh-CN" sz="2400" b="1" dirty="0"/>
              <a:t>,</a:t>
            </a:r>
            <a:r>
              <a:rPr lang="zh-CN" altLang="en-US" sz="2400" b="1" dirty="0"/>
              <a:t>所以</a:t>
            </a:r>
            <a:r>
              <a:rPr lang="en-US" altLang="zh-CN" sz="2400" b="1" dirty="0"/>
              <a:t>(AB)</a:t>
            </a:r>
            <a:r>
              <a:rPr lang="en-US" altLang="zh-CN" sz="2400" b="1" baseline="30000" dirty="0"/>
              <a:t>+</a:t>
            </a:r>
            <a:r>
              <a:rPr lang="en-US" altLang="zh-CN" sz="1400" b="1" dirty="0"/>
              <a:t>F</a:t>
            </a:r>
            <a:r>
              <a:rPr lang="en-US" altLang="zh-CN" sz="2400" b="1" dirty="0"/>
              <a:t> =ABCDE</a:t>
            </a:r>
            <a:endParaRPr lang="zh-CN" altLang="en-US" sz="2400" b="1" dirty="0"/>
          </a:p>
          <a:p>
            <a:pPr marL="177800" indent="-177800" eaLnBrk="1" hangingPunct="1">
              <a:lnSpc>
                <a:spcPct val="80000"/>
              </a:lnSpc>
              <a:buNone/>
            </a:pPr>
            <a:r>
              <a:rPr lang="en-US" altLang="zh-CN" sz="2400" b="1" dirty="0"/>
              <a:t> (BC)</a:t>
            </a:r>
            <a:r>
              <a:rPr lang="en-US" altLang="zh-CN" sz="2400" b="1" baseline="30000" dirty="0"/>
              <a:t>+</a:t>
            </a:r>
            <a:r>
              <a:rPr lang="en-US" altLang="zh-CN" sz="1400" b="1" dirty="0"/>
              <a:t>F</a:t>
            </a:r>
            <a:r>
              <a:rPr lang="en-US" altLang="zh-CN" sz="2400" b="1" dirty="0"/>
              <a:t> =?  (AC)</a:t>
            </a:r>
            <a:r>
              <a:rPr lang="en-US" altLang="zh-CN" sz="2400" b="1" baseline="30000" dirty="0"/>
              <a:t>+</a:t>
            </a:r>
            <a:r>
              <a:rPr lang="en-US" altLang="zh-CN" sz="1400" b="1" dirty="0"/>
              <a:t>F</a:t>
            </a:r>
            <a:r>
              <a:rPr lang="en-US" altLang="zh-CN" sz="2400" b="1" dirty="0"/>
              <a:t> =?</a:t>
            </a:r>
            <a:endParaRPr lang="zh-CN" altLang="en-US" sz="2400" b="1" dirty="0"/>
          </a:p>
          <a:p>
            <a:pPr marL="177800" indent="-177800" eaLnBrk="1" hangingPunct="1">
              <a:lnSpc>
                <a:spcPct val="80000"/>
              </a:lnSpc>
            </a:pPr>
            <a:r>
              <a:rPr lang="zh-CN" altLang="en-US" sz="2400" b="1" dirty="0"/>
              <a:t>对于算法</a:t>
            </a:r>
            <a:r>
              <a:rPr lang="en-US" altLang="zh-CN" sz="2400" b="1" dirty="0"/>
              <a:t>1.l</a:t>
            </a:r>
            <a:r>
              <a:rPr lang="zh-CN" altLang="en-US" sz="2400" b="1" dirty="0"/>
              <a:t>， 令</a:t>
            </a:r>
            <a:r>
              <a:rPr lang="en-US" altLang="zh-CN" sz="2400" b="1" dirty="0"/>
              <a:t>ai=|X(i)|,{ai }</a:t>
            </a:r>
            <a:r>
              <a:rPr lang="zh-CN" altLang="en-US" sz="2400" b="1" dirty="0"/>
              <a:t>形成一个步长大于</a:t>
            </a:r>
            <a:r>
              <a:rPr lang="en-US" altLang="zh-CN" sz="2400" b="1" dirty="0"/>
              <a:t>1</a:t>
            </a:r>
            <a:r>
              <a:rPr lang="zh-CN" altLang="en-US" sz="2400" b="1" dirty="0"/>
              <a:t>的严格递增的序列</a:t>
            </a:r>
            <a:r>
              <a:rPr lang="en-US" altLang="zh-CN" sz="2400" b="1" dirty="0"/>
              <a:t>,</a:t>
            </a:r>
            <a:r>
              <a:rPr lang="zh-CN" altLang="en-US" sz="2400" b="1" dirty="0"/>
              <a:t>序列的上界是</a:t>
            </a:r>
            <a:r>
              <a:rPr lang="en-US" altLang="zh-CN" sz="2400" b="1" dirty="0"/>
              <a:t>|U|,</a:t>
            </a:r>
            <a:r>
              <a:rPr lang="zh-CN" altLang="en-US" sz="2400" b="1" dirty="0"/>
              <a:t>因此该算法最多</a:t>
            </a:r>
            <a:r>
              <a:rPr lang="en-US" altLang="zh-CN" sz="2400" b="1" dirty="0"/>
              <a:t>|U|-|X|</a:t>
            </a:r>
            <a:r>
              <a:rPr lang="zh-CN" altLang="en-US" sz="2400" b="1" dirty="0"/>
              <a:t>次循环就会终止</a:t>
            </a:r>
            <a:endParaRPr lang="zh-CN" altLang="en-US" sz="24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8370"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属性集的闭包</a:t>
            </a:r>
            <a:r>
              <a:rPr lang="zh-CN" altLang="en-US" dirty="0"/>
              <a:t> </a:t>
            </a:r>
            <a:endParaRPr lang="zh-CN" altLang="en-US" dirty="0"/>
          </a:p>
        </p:txBody>
      </p:sp>
      <p:sp>
        <p:nvSpPr>
          <p:cNvPr id="58371" name="Rectangle 3"/>
          <p:cNvSpPr>
            <a:spLocks noGrp="1"/>
          </p:cNvSpPr>
          <p:nvPr>
            <p:ph idx="1"/>
          </p:nvPr>
        </p:nvSpPr>
        <p:spPr>
          <a:xfrm>
            <a:off x="900113" y="1844675"/>
            <a:ext cx="7704137" cy="4525963"/>
          </a:xfrm>
          <a:ln/>
        </p:spPr>
        <p:txBody>
          <a:bodyPr vert="horz" wrap="square" lIns="91440" tIns="45720" rIns="91440" bIns="45720" anchor="t" anchorCtr="0"/>
          <a:p>
            <a:pPr eaLnBrk="1" hangingPunct="1"/>
            <a:r>
              <a:rPr lang="zh-CN" altLang="en-US" b="1" dirty="0"/>
              <a:t>例</a:t>
            </a:r>
            <a:r>
              <a:rPr lang="en-US" altLang="zh-CN" b="1" dirty="0"/>
              <a:t>4.3: </a:t>
            </a:r>
            <a:r>
              <a:rPr lang="zh-CN" altLang="en-US" b="1" dirty="0"/>
              <a:t>属性集</a:t>
            </a:r>
            <a:r>
              <a:rPr lang="en-US" altLang="zh-CN" b="1" dirty="0"/>
              <a:t>U</a:t>
            </a:r>
            <a:r>
              <a:rPr lang="zh-CN" altLang="en-US" b="1" dirty="0"/>
              <a:t>为</a:t>
            </a:r>
            <a:r>
              <a:rPr lang="en-US" altLang="zh-CN" b="1" dirty="0"/>
              <a:t>ABCD</a:t>
            </a:r>
            <a:r>
              <a:rPr lang="zh-CN" altLang="en-US" b="1" dirty="0"/>
              <a:t>，</a:t>
            </a:r>
            <a:endParaRPr lang="zh-CN" altLang="en-US" b="1" dirty="0"/>
          </a:p>
          <a:p>
            <a:pPr eaLnBrk="1" hangingPunct="1">
              <a:buNone/>
            </a:pPr>
            <a:r>
              <a:rPr lang="en-US" altLang="zh-CN" b="1" dirty="0"/>
              <a:t>  FD</a:t>
            </a:r>
            <a:r>
              <a:rPr lang="zh-CN" altLang="en-US" b="1" dirty="0"/>
              <a:t>集为｛ </a:t>
            </a:r>
            <a:r>
              <a:rPr lang="en-US" altLang="zh-CN" b="1" dirty="0"/>
              <a:t>A→B</a:t>
            </a:r>
            <a:r>
              <a:rPr lang="zh-CN" altLang="en-US" b="1" dirty="0"/>
              <a:t>，</a:t>
            </a:r>
            <a:r>
              <a:rPr lang="en-US" altLang="zh-CN" b="1" dirty="0"/>
              <a:t>B→C</a:t>
            </a:r>
            <a:r>
              <a:rPr lang="zh-CN" altLang="en-US" b="1" dirty="0"/>
              <a:t>，</a:t>
            </a:r>
            <a:r>
              <a:rPr lang="en-US" altLang="zh-CN" b="1" dirty="0"/>
              <a:t>D→B </a:t>
            </a:r>
            <a:r>
              <a:rPr lang="zh-CN" altLang="en-US" b="1" dirty="0"/>
              <a:t>｝</a:t>
            </a:r>
            <a:endParaRPr lang="zh-CN" altLang="en-US" b="1" dirty="0"/>
          </a:p>
          <a:p>
            <a:pPr eaLnBrk="1" hangingPunct="1"/>
            <a:r>
              <a:rPr lang="zh-CN" altLang="en-US" b="1" dirty="0"/>
              <a:t>则用上述算法，可求出</a:t>
            </a:r>
            <a:r>
              <a:rPr lang="en-US" altLang="zh-CN" b="1" dirty="0"/>
              <a:t>:</a:t>
            </a:r>
            <a:endParaRPr lang="en-US" altLang="zh-CN" b="1" dirty="0"/>
          </a:p>
          <a:p>
            <a:pPr eaLnBrk="1" hangingPunct="1"/>
            <a:r>
              <a:rPr lang="en-US" altLang="zh-CN" b="1" dirty="0"/>
              <a:t>A</a:t>
            </a:r>
            <a:r>
              <a:rPr lang="en-US" altLang="zh-CN" b="1" baseline="30000" dirty="0"/>
              <a:t>+</a:t>
            </a:r>
            <a:r>
              <a:rPr lang="en-US" altLang="zh-CN" b="1" dirty="0"/>
              <a:t>=ABC</a:t>
            </a:r>
            <a:r>
              <a:rPr lang="zh-CN" altLang="en-US" b="1" dirty="0"/>
              <a:t>，</a:t>
            </a:r>
            <a:endParaRPr lang="zh-CN" altLang="en-US" b="1" dirty="0"/>
          </a:p>
          <a:p>
            <a:pPr eaLnBrk="1" hangingPunct="1">
              <a:buNone/>
            </a:pPr>
            <a:r>
              <a:rPr lang="zh-CN" altLang="en-US" b="1" dirty="0"/>
              <a:t>  </a:t>
            </a:r>
            <a:r>
              <a:rPr lang="en-US" altLang="zh-CN" b="1" dirty="0"/>
              <a:t>AD</a:t>
            </a:r>
            <a:r>
              <a:rPr lang="en-US" altLang="zh-CN" sz="3200" b="1" baseline="24000" dirty="0"/>
              <a:t>+</a:t>
            </a:r>
            <a:r>
              <a:rPr lang="en-US" altLang="zh-CN" b="1" dirty="0"/>
              <a:t>=ABCD</a:t>
            </a:r>
            <a:endParaRPr lang="en-US" altLang="zh-CN" b="1" dirty="0"/>
          </a:p>
          <a:p>
            <a:pPr eaLnBrk="1" hangingPunct="1">
              <a:buNone/>
            </a:pPr>
            <a:r>
              <a:rPr lang="zh-CN" altLang="en-US" b="1" dirty="0"/>
              <a:t>  </a:t>
            </a:r>
            <a:r>
              <a:rPr lang="en-US" altLang="zh-CN" b="1" dirty="0"/>
              <a:t>BD</a:t>
            </a:r>
            <a:r>
              <a:rPr lang="en-US" altLang="zh-CN" b="1" baseline="30000" dirty="0"/>
              <a:t>+</a:t>
            </a:r>
            <a:r>
              <a:rPr lang="en-US" altLang="zh-CN" b="1" dirty="0"/>
              <a:t>=BCD</a:t>
            </a:r>
            <a:endParaRPr lang="en-US" altLang="zh-CN" b="1" dirty="0"/>
          </a:p>
          <a:p>
            <a:pPr eaLnBrk="1" hangingPunct="1">
              <a:buNone/>
            </a:pPr>
            <a:r>
              <a:rPr lang="zh-CN" altLang="en-US" b="1" dirty="0"/>
              <a:t>  等等</a:t>
            </a:r>
            <a:endParaRPr lang="zh-CN" alt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0418" name="Rectangle 2"/>
          <p:cNvSpPr>
            <a:spLocks noGrp="1"/>
          </p:cNvSpPr>
          <p:nvPr>
            <p:ph type="title"/>
          </p:nvPr>
        </p:nvSpPr>
        <p:spPr>
          <a:xfrm>
            <a:off x="684213" y="685800"/>
            <a:ext cx="7991475" cy="731838"/>
          </a:xfrm>
          <a:ln/>
        </p:spPr>
        <p:txBody>
          <a:bodyPr vert="horz" wrap="square" lIns="91440" tIns="45720" rIns="91440" bIns="45720" anchor="ctr" anchorCtr="0"/>
          <a:p>
            <a:pPr eaLnBrk="1" hangingPunct="1"/>
            <a:r>
              <a:rPr lang="en-US" altLang="zh-CN" sz="4000" b="1" dirty="0">
                <a:solidFill>
                  <a:srgbClr val="E40000"/>
                </a:solidFill>
                <a:latin typeface="Arial" panose="020B0604020202020204" pitchFamily="34" charset="0"/>
              </a:rPr>
              <a:t>Armstrong</a:t>
            </a:r>
            <a:r>
              <a:rPr lang="zh-CN" altLang="en-US" sz="4000" b="1" dirty="0">
                <a:solidFill>
                  <a:srgbClr val="E40000"/>
                </a:solidFill>
                <a:latin typeface="Arial" panose="020B0604020202020204" pitchFamily="34" charset="0"/>
              </a:rPr>
              <a:t>公理的正确性和完备性</a:t>
            </a:r>
            <a:endParaRPr lang="zh-CN" altLang="en-US" sz="4000" b="1" dirty="0">
              <a:solidFill>
                <a:srgbClr val="E40000"/>
              </a:solidFill>
              <a:latin typeface="Arial" panose="020B0604020202020204" pitchFamily="34" charset="0"/>
            </a:endParaRPr>
          </a:p>
        </p:txBody>
      </p:sp>
      <p:sp>
        <p:nvSpPr>
          <p:cNvPr id="30723" name="Rectangle 3"/>
          <p:cNvSpPr>
            <a:spLocks noGrp="1" noChangeArrowheads="1"/>
          </p:cNvSpPr>
          <p:nvPr>
            <p:ph idx="1"/>
          </p:nvPr>
        </p:nvSpPr>
        <p:spPr>
          <a:xfrm>
            <a:off x="971550" y="1916113"/>
            <a:ext cx="7416800"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Armstrong</a:t>
            </a:r>
            <a:r>
              <a:rPr kumimoji="0" lang="zh-CN" altLang="en-US" sz="28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公理的正确性</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是指“使用推理规则从</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FD</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集</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推出的</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FD</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必定在</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a:t>
            </a:r>
            <a:r>
              <a:rPr kumimoji="0" lang="en-US" altLang="zh-CN" sz="2800" b="0" i="0" u="none" strike="noStrike" kern="0" cap="none" spc="0" normalizeH="0" baseline="30000" noProof="0" dirty="0">
                <a:ln>
                  <a:noFill/>
                </a:ln>
                <a:solidFill>
                  <a:schemeClr val="tx1"/>
                </a:solidFill>
                <a:effectLst/>
                <a:uLnTx/>
                <a:uFillTx/>
                <a:latin typeface="+mn-lt"/>
                <a:ea typeface="+mn-ea"/>
                <a:cs typeface="+mn-cs"/>
              </a:rPr>
              <a:t>+</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中”</a:t>
            </a:r>
            <a:endParaRPr kumimoji="0" lang="zh-CN" altLang="en-US"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Tx/>
              <a:buFontTx/>
              <a:buNone/>
              <a:defRPr/>
            </a:pPr>
            <a:r>
              <a:rPr kumimoji="0" lang="zh-CN" altLang="en-US" sz="2800" b="0" i="0" u="none" strike="noStrike" kern="0" cap="none" spc="0" normalizeH="0" baseline="0" noProof="0" dirty="0">
                <a:ln>
                  <a:noFill/>
                </a:ln>
                <a:solidFill>
                  <a:schemeClr val="tx1"/>
                </a:solidFill>
                <a:effectLst/>
                <a:uLnTx/>
                <a:uFillTx/>
                <a:latin typeface="+mn-lt"/>
                <a:ea typeface="+mn-ea"/>
                <a:cs typeface="+mn-cs"/>
              </a:rPr>
              <a:t>  即，如果</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F=&gt;X</a:t>
            </a:r>
            <a:r>
              <a:rPr kumimoji="0" lang="en-US" altLang="zh-CN" sz="2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Y </a:t>
            </a:r>
            <a:r>
              <a:rPr kumimoji="0" lang="zh-CN" altLang="en-US" sz="2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则 </a:t>
            </a:r>
            <a:r>
              <a:rPr kumimoji="0" lang="en-US" altLang="zh-CN" sz="2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F</a:t>
            </a:r>
            <a:r>
              <a:rPr kumimoji="0" lang="en-US" altLang="zh-CN" sz="2800" b="0" i="0" u="none" strike="noStrike" kern="0" cap="none" spc="-500" normalizeH="0" baseline="0" noProof="0" dirty="0">
                <a:ln>
                  <a:noFill/>
                </a:ln>
                <a:solidFill>
                  <a:schemeClr val="tx1"/>
                </a:solidFill>
                <a:effectLst/>
                <a:uLnTx/>
                <a:uFillTx/>
                <a:latin typeface="+mn-lt"/>
                <a:ea typeface="+mn-ea"/>
                <a:cs typeface="+mn-cs"/>
                <a:sym typeface="Wingdings" panose="05000000000000000000" pitchFamily="2" charset="2"/>
              </a:rPr>
              <a:t>|= </a:t>
            </a:r>
            <a:r>
              <a:rPr kumimoji="0" lang="en-US" altLang="zh-CN" sz="2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XY</a:t>
            </a: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Armstrong</a:t>
            </a:r>
            <a:r>
              <a:rPr kumimoji="0" lang="zh-CN" altLang="en-US" sz="28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公理的完备性</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是指“</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a:t>
            </a:r>
            <a:r>
              <a:rPr kumimoji="0" lang="en-US" altLang="zh-CN" sz="2800" b="0" i="0" u="none" strike="noStrike" kern="0" cap="none" spc="0" normalizeH="0" baseline="30000" noProof="0" dirty="0">
                <a:ln>
                  <a:noFill/>
                </a:ln>
                <a:solidFill>
                  <a:schemeClr val="tx1"/>
                </a:solidFill>
                <a:effectLst/>
                <a:uLnTx/>
                <a:uFillTx/>
                <a:latin typeface="+mn-lt"/>
                <a:ea typeface="+mn-ea"/>
                <a:cs typeface="+mn-cs"/>
              </a:rPr>
              <a:t>+</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中的</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FD</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都能从</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集使用推理规则集导出”</a:t>
            </a:r>
            <a:endParaRPr kumimoji="0" lang="zh-CN" altLang="en-US"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Tx/>
              <a:buFontTx/>
              <a:buNone/>
              <a:defRPr/>
            </a:pPr>
            <a:r>
              <a:rPr kumimoji="0" lang="zh-CN" altLang="en-US" sz="2800" b="0" i="0" u="none" strike="noStrike" kern="0" cap="none" spc="0" normalizeH="0" baseline="0" noProof="0" dirty="0">
                <a:ln>
                  <a:noFill/>
                </a:ln>
                <a:solidFill>
                  <a:schemeClr val="tx1"/>
                </a:solidFill>
                <a:effectLst/>
                <a:uLnTx/>
                <a:uFillTx/>
                <a:latin typeface="+mn-lt"/>
                <a:ea typeface="+mn-ea"/>
                <a:cs typeface="+mn-cs"/>
              </a:rPr>
              <a:t>  即，如果</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a:t>
            </a:r>
            <a:r>
              <a:rPr kumimoji="0" lang="en-US" altLang="zh-CN" sz="2800" b="0" i="0" u="none" strike="noStrike" kern="0" cap="none" spc="-500" normalizeH="0" baseline="0" noProof="0" dirty="0">
                <a:ln>
                  <a:noFill/>
                </a:ln>
                <a:solidFill>
                  <a:schemeClr val="tx1"/>
                </a:solidFill>
                <a:effectLst/>
                <a:uLnTx/>
                <a:uFillTx/>
                <a:latin typeface="+mn-lt"/>
                <a:ea typeface="+mn-ea"/>
                <a:cs typeface="+mn-cs"/>
                <a:sym typeface="Wingdings" panose="05000000000000000000" pitchFamily="2" charset="2"/>
              </a:rPr>
              <a:t>|=</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X</a:t>
            </a:r>
            <a:r>
              <a:rPr kumimoji="0" lang="en-US" altLang="zh-CN" sz="2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Y </a:t>
            </a:r>
            <a:r>
              <a:rPr kumimoji="0" lang="zh-CN" altLang="en-US" sz="2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则 </a:t>
            </a:r>
            <a:r>
              <a:rPr kumimoji="0" lang="en-US" altLang="zh-CN" sz="2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F </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=&gt;</a:t>
            </a:r>
            <a:r>
              <a:rPr kumimoji="0" lang="en-US" altLang="zh-CN" sz="2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 XY</a:t>
            </a:r>
            <a:endParaRPr kumimoji="0" lang="zh-CN" altLang="en-US"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Armstrong</a:t>
            </a:r>
            <a:r>
              <a:rPr kumimoji="0" lang="zh-CN" altLang="en-US" sz="28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公理的正确性和完备性</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保证了</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FD</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推导过程的有效性和可靠性</a:t>
            </a:r>
            <a:endParaRPr kumimoji="0" lang="zh-CN" altLang="en-US" sz="2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2466" name="Rectangle 3"/>
          <p:cNvSpPr>
            <a:spLocks noGrp="1"/>
          </p:cNvSpPr>
          <p:nvPr>
            <p:ph idx="1"/>
          </p:nvPr>
        </p:nvSpPr>
        <p:spPr>
          <a:xfrm>
            <a:off x="755650" y="1773238"/>
            <a:ext cx="7632700" cy="4525962"/>
          </a:xfrm>
          <a:ln/>
        </p:spPr>
        <p:txBody>
          <a:bodyPr vert="horz" wrap="square" lIns="91440" tIns="45720" rIns="91440" bIns="45720" anchor="t" anchorCtr="0"/>
          <a:p>
            <a:pPr eaLnBrk="1" hangingPunct="1">
              <a:lnSpc>
                <a:spcPct val="90000"/>
              </a:lnSpc>
              <a:buClr>
                <a:schemeClr val="tx1"/>
              </a:buClr>
            </a:pPr>
            <a:r>
              <a:rPr lang="zh-CN" altLang="en-US" b="1" dirty="0">
                <a:latin typeface="黑体" pitchFamily="49" charset="-122"/>
                <a:ea typeface="黑体" pitchFamily="49" charset="-122"/>
              </a:rPr>
              <a:t>定理</a:t>
            </a:r>
            <a:r>
              <a:rPr lang="en-US" altLang="zh-CN" b="1" dirty="0">
                <a:latin typeface="黑体" pitchFamily="49" charset="-122"/>
                <a:ea typeface="黑体" pitchFamily="49" charset="-122"/>
              </a:rPr>
              <a:t>4.1:</a:t>
            </a:r>
            <a:r>
              <a:rPr lang="en-US" altLang="zh-CN" dirty="0"/>
              <a:t> </a:t>
            </a:r>
            <a:r>
              <a:rPr lang="en-US" altLang="zh-CN" b="1" dirty="0">
                <a:latin typeface="黑体" pitchFamily="49" charset="-122"/>
                <a:ea typeface="黑体" pitchFamily="49" charset="-122"/>
              </a:rPr>
              <a:t>Armstrong</a:t>
            </a:r>
            <a:r>
              <a:rPr lang="zh-CN" altLang="en-US" b="1" dirty="0">
                <a:latin typeface="黑体" pitchFamily="49" charset="-122"/>
                <a:ea typeface="黑体" pitchFamily="49" charset="-122"/>
              </a:rPr>
              <a:t>公理是完备的</a:t>
            </a:r>
            <a:r>
              <a:rPr lang="zh-CN" altLang="en-US" dirty="0"/>
              <a:t> </a:t>
            </a:r>
            <a:endParaRPr lang="zh-CN" altLang="en-US" dirty="0"/>
          </a:p>
          <a:p>
            <a:pPr eaLnBrk="1" hangingPunct="1">
              <a:lnSpc>
                <a:spcPct val="90000"/>
              </a:lnSpc>
              <a:buClr>
                <a:schemeClr val="tx1"/>
              </a:buClr>
            </a:pPr>
            <a:r>
              <a:rPr lang="zh-CN" altLang="en-US" b="1" dirty="0"/>
              <a:t>证明：我们证明完备性的逆否命题，即若函数依赖</a:t>
            </a:r>
            <a:r>
              <a:rPr lang="en-US" altLang="zh-CN" b="1" dirty="0"/>
              <a:t>X→Y</a:t>
            </a:r>
            <a:r>
              <a:rPr lang="zh-CN" altLang="en-US" b="1" dirty="0"/>
              <a:t>不能由</a:t>
            </a:r>
            <a:r>
              <a:rPr lang="en-US" altLang="zh-CN" b="1" dirty="0"/>
              <a:t>F</a:t>
            </a:r>
            <a:r>
              <a:rPr lang="zh-CN" altLang="en-US" b="1" dirty="0"/>
              <a:t>从</a:t>
            </a:r>
            <a:r>
              <a:rPr lang="en-US" altLang="zh-CN" b="1" dirty="0"/>
              <a:t>Armstrong</a:t>
            </a:r>
            <a:r>
              <a:rPr lang="zh-CN" altLang="en-US" b="1" dirty="0"/>
              <a:t>公理导出，那么它必然不为</a:t>
            </a:r>
            <a:r>
              <a:rPr lang="en-US" altLang="zh-CN" b="1" dirty="0"/>
              <a:t>F</a:t>
            </a:r>
            <a:r>
              <a:rPr lang="zh-CN" altLang="en-US" b="1" dirty="0"/>
              <a:t>所蕴含，其证明分三步： </a:t>
            </a:r>
            <a:endParaRPr lang="zh-CN" altLang="en-US" b="1" dirty="0"/>
          </a:p>
          <a:p>
            <a:pPr eaLnBrk="1" hangingPunct="1">
              <a:lnSpc>
                <a:spcPct val="90000"/>
              </a:lnSpc>
              <a:buFontTx/>
              <a:buAutoNum type="arabicParenR"/>
            </a:pPr>
            <a:r>
              <a:rPr lang="zh-CN" altLang="en-US" b="1" dirty="0"/>
              <a:t>如果</a:t>
            </a:r>
            <a:r>
              <a:rPr lang="en-US" altLang="zh-CN" b="1" dirty="0"/>
              <a:t>V→W∈F</a:t>
            </a:r>
            <a:r>
              <a:rPr lang="zh-CN" altLang="en-US" b="1" dirty="0"/>
              <a:t>，且</a:t>
            </a:r>
            <a:r>
              <a:rPr lang="en-US" altLang="zh-CN" b="1" dirty="0"/>
              <a:t>V</a:t>
            </a:r>
            <a:r>
              <a:rPr lang="en-US" altLang="zh-CN" b="1" dirty="0">
                <a:sym typeface="Symbol" panose="05050102010706020507" pitchFamily="18" charset="2"/>
              </a:rPr>
              <a:t> </a:t>
            </a:r>
            <a:r>
              <a:rPr lang="en-US" altLang="zh-CN" sz="3200" b="1" dirty="0"/>
              <a:t>X</a:t>
            </a:r>
            <a:r>
              <a:rPr lang="en-US" altLang="zh-CN" sz="3200" b="1" baseline="30000" dirty="0"/>
              <a:t>+</a:t>
            </a:r>
            <a:r>
              <a:rPr lang="en-US" altLang="zh-CN" sz="3200" b="1" baseline="-25000" dirty="0"/>
              <a:t>F</a:t>
            </a:r>
            <a:r>
              <a:rPr lang="en-US" altLang="zh-CN" b="1" dirty="0">
                <a:sym typeface="Symbol" panose="05050102010706020507" pitchFamily="18" charset="2"/>
              </a:rPr>
              <a:t> </a:t>
            </a:r>
            <a:r>
              <a:rPr lang="zh-CN" altLang="en-US" b="1" dirty="0"/>
              <a:t>，则</a:t>
            </a:r>
            <a:r>
              <a:rPr lang="en-US" altLang="zh-CN" b="1" dirty="0"/>
              <a:t>W</a:t>
            </a:r>
            <a:r>
              <a:rPr lang="en-US" altLang="zh-CN" b="1" dirty="0">
                <a:latin typeface="黑体" pitchFamily="49" charset="-122"/>
                <a:ea typeface="黑体" pitchFamily="49" charset="-122"/>
                <a:sym typeface="Symbol" panose="05050102010706020507" pitchFamily="18" charset="2"/>
              </a:rPr>
              <a:t></a:t>
            </a:r>
            <a:r>
              <a:rPr lang="en-US" altLang="zh-CN" b="1" dirty="0">
                <a:sym typeface="Symbol" panose="05050102010706020507" pitchFamily="18" charset="2"/>
              </a:rPr>
              <a:t> </a:t>
            </a:r>
            <a:r>
              <a:rPr lang="en-US" altLang="zh-CN" sz="3200" b="1" dirty="0"/>
              <a:t>X</a:t>
            </a:r>
            <a:r>
              <a:rPr lang="en-US" altLang="zh-CN" sz="3200" b="1" baseline="30000" dirty="0"/>
              <a:t>+</a:t>
            </a:r>
            <a:r>
              <a:rPr lang="en-US" altLang="zh-CN" sz="3200" b="1" baseline="-25000" dirty="0"/>
              <a:t>F</a:t>
            </a:r>
            <a:r>
              <a:rPr lang="zh-CN" altLang="en-US" b="1" dirty="0"/>
              <a:t> </a:t>
            </a:r>
            <a:br>
              <a:rPr lang="zh-CN" altLang="en-US" b="1" dirty="0"/>
            </a:br>
            <a:r>
              <a:rPr lang="zh-CN" altLang="en-US" b="1" dirty="0"/>
              <a:t>因为</a:t>
            </a:r>
            <a:r>
              <a:rPr lang="en-US" altLang="zh-CN" b="1" dirty="0"/>
              <a:t>V</a:t>
            </a:r>
            <a:r>
              <a:rPr lang="en-US" altLang="zh-CN" b="1" dirty="0">
                <a:sym typeface="Symbol" panose="05050102010706020507" pitchFamily="18" charset="2"/>
              </a:rPr>
              <a:t> </a:t>
            </a:r>
            <a:r>
              <a:rPr lang="en-US" altLang="zh-CN" sz="3200" b="1" dirty="0"/>
              <a:t>X</a:t>
            </a:r>
            <a:r>
              <a:rPr lang="en-US" altLang="zh-CN" b="1" baseline="30000" dirty="0"/>
              <a:t>+</a:t>
            </a:r>
            <a:r>
              <a:rPr lang="en-US" altLang="zh-CN" sz="2000" b="1" dirty="0"/>
              <a:t>F</a:t>
            </a:r>
            <a:r>
              <a:rPr lang="en-US" altLang="zh-CN" b="1" dirty="0"/>
              <a:t> ,</a:t>
            </a:r>
            <a:r>
              <a:rPr lang="zh-CN" altLang="en-US" b="1" dirty="0"/>
              <a:t>所以</a:t>
            </a:r>
            <a:r>
              <a:rPr lang="en-US" altLang="zh-CN" b="1" dirty="0"/>
              <a:t>X→V</a:t>
            </a:r>
            <a:r>
              <a:rPr lang="zh-CN" altLang="en-US" b="1" dirty="0"/>
              <a:t>成立；由</a:t>
            </a:r>
            <a:r>
              <a:rPr lang="en-US" altLang="zh-CN" b="1" dirty="0"/>
              <a:t>A3</a:t>
            </a:r>
            <a:r>
              <a:rPr lang="zh-CN" altLang="en-US" b="1" dirty="0"/>
              <a:t>规则有</a:t>
            </a:r>
            <a:r>
              <a:rPr lang="en-US" altLang="zh-CN" b="1" dirty="0"/>
              <a:t>X→W</a:t>
            </a:r>
            <a:r>
              <a:rPr lang="zh-CN" altLang="en-US" b="1" dirty="0"/>
              <a:t>成立，所以</a:t>
            </a:r>
            <a:r>
              <a:rPr lang="en-US" altLang="zh-CN" b="1" dirty="0"/>
              <a:t>W</a:t>
            </a:r>
            <a:r>
              <a:rPr lang="en-US" altLang="zh-CN" b="1" dirty="0">
                <a:sym typeface="Symbol" panose="05050102010706020507" pitchFamily="18" charset="2"/>
              </a:rPr>
              <a:t> </a:t>
            </a:r>
            <a:r>
              <a:rPr lang="en-US" altLang="zh-CN" sz="3200" b="1" dirty="0"/>
              <a:t>X</a:t>
            </a:r>
            <a:r>
              <a:rPr lang="en-US" altLang="zh-CN" b="1" baseline="30000" dirty="0"/>
              <a:t>+</a:t>
            </a:r>
            <a:r>
              <a:rPr lang="en-US" altLang="zh-CN" sz="2000" b="1" dirty="0"/>
              <a:t>F</a:t>
            </a:r>
            <a:r>
              <a:rPr lang="zh-CN" altLang="en-US" b="1" dirty="0"/>
              <a:t> </a:t>
            </a:r>
            <a:endParaRPr lang="zh-CN" altLang="en-US" b="1" dirty="0"/>
          </a:p>
          <a:p>
            <a:pPr eaLnBrk="1" hangingPunct="1">
              <a:lnSpc>
                <a:spcPct val="90000"/>
              </a:lnSpc>
              <a:buFontTx/>
              <a:buAutoNum type="arabicParenR"/>
            </a:pPr>
            <a:endParaRPr lang="zh-CN" altLang="en-US" b="1" dirty="0"/>
          </a:p>
        </p:txBody>
      </p:sp>
      <p:sp>
        <p:nvSpPr>
          <p:cNvPr id="62467" name="Rectangle 5"/>
          <p:cNvSpPr>
            <a:spLocks noGrp="1"/>
          </p:cNvSpPr>
          <p:nvPr>
            <p:ph type="title"/>
          </p:nvPr>
        </p:nvSpPr>
        <p:spPr>
          <a:xfrm>
            <a:off x="684213" y="685800"/>
            <a:ext cx="7991475" cy="731838"/>
          </a:xfrm>
          <a:ln/>
        </p:spPr>
        <p:txBody>
          <a:bodyPr vert="horz" wrap="square" lIns="91440" tIns="45720" rIns="91440" bIns="45720" anchor="ctr" anchorCtr="0"/>
          <a:p>
            <a:pPr eaLnBrk="1" hangingPunct="1"/>
            <a:r>
              <a:rPr lang="en-US" altLang="zh-CN" sz="4000" b="1" dirty="0">
                <a:solidFill>
                  <a:srgbClr val="E40000"/>
                </a:solidFill>
                <a:latin typeface="Arial" panose="020B0604020202020204" pitchFamily="34" charset="0"/>
              </a:rPr>
              <a:t>Armstrong</a:t>
            </a:r>
            <a:r>
              <a:rPr lang="zh-CN" altLang="en-US" sz="4000" b="1" dirty="0">
                <a:solidFill>
                  <a:srgbClr val="E40000"/>
                </a:solidFill>
                <a:latin typeface="Arial" panose="020B0604020202020204" pitchFamily="34" charset="0"/>
              </a:rPr>
              <a:t>公理的正确性和完备性</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4514" name="Rectangle 2"/>
          <p:cNvSpPr>
            <a:spLocks noGrp="1"/>
          </p:cNvSpPr>
          <p:nvPr>
            <p:ph type="title"/>
          </p:nvPr>
        </p:nvSpPr>
        <p:spPr>
          <a:xfrm>
            <a:off x="900113" y="685800"/>
            <a:ext cx="8064500" cy="731838"/>
          </a:xfrm>
          <a:ln/>
        </p:spPr>
        <p:txBody>
          <a:bodyPr vert="horz" wrap="square" lIns="91440" tIns="45720" rIns="91440" bIns="45720" anchor="ctr" anchorCtr="0"/>
          <a:p>
            <a:pPr algn="ctr" eaLnBrk="1" hangingPunct="1"/>
            <a:r>
              <a:rPr lang="en-US" altLang="zh-CN" sz="4000" b="1" dirty="0">
                <a:solidFill>
                  <a:srgbClr val="E40000"/>
                </a:solidFill>
                <a:latin typeface="Arial" panose="020B0604020202020204" pitchFamily="34" charset="0"/>
              </a:rPr>
              <a:t>Armstrong</a:t>
            </a:r>
            <a:r>
              <a:rPr lang="zh-CN" altLang="en-US" sz="4000" b="1" dirty="0">
                <a:solidFill>
                  <a:srgbClr val="E40000"/>
                </a:solidFill>
                <a:latin typeface="Arial" panose="020B0604020202020204" pitchFamily="34" charset="0"/>
              </a:rPr>
              <a:t>公理的正确性和完备性</a:t>
            </a:r>
            <a:endParaRPr lang="zh-CN" altLang="en-US" sz="4000" b="1" dirty="0">
              <a:solidFill>
                <a:srgbClr val="E40000"/>
              </a:solidFill>
              <a:latin typeface="Arial" panose="020B0604020202020204" pitchFamily="34" charset="0"/>
            </a:endParaRPr>
          </a:p>
        </p:txBody>
      </p:sp>
      <p:sp>
        <p:nvSpPr>
          <p:cNvPr id="64515" name="Rectangle 3"/>
          <p:cNvSpPr>
            <a:spLocks noGrp="1"/>
          </p:cNvSpPr>
          <p:nvPr>
            <p:ph idx="1"/>
          </p:nvPr>
        </p:nvSpPr>
        <p:spPr>
          <a:xfrm>
            <a:off x="1279525" y="1600200"/>
            <a:ext cx="6892925" cy="4525963"/>
          </a:xfrm>
          <a:ln/>
        </p:spPr>
        <p:txBody>
          <a:bodyPr vert="horz" wrap="square" lIns="91440" tIns="45720" rIns="91440" bIns="45720" anchor="t" anchorCtr="0"/>
          <a:p>
            <a:pPr marL="609600" indent="-609600" eaLnBrk="1" hangingPunct="1">
              <a:buFontTx/>
              <a:buAutoNum type="arabicParenR" startAt="2"/>
            </a:pPr>
            <a:r>
              <a:rPr lang="zh-CN" altLang="en-US" sz="2400" b="1" dirty="0"/>
              <a:t>由下列两个元组构成的二维表，必是</a:t>
            </a:r>
            <a:r>
              <a:rPr lang="en-US" altLang="zh-CN" sz="2400" b="1" dirty="0"/>
              <a:t>R&lt;U,F&gt;</a:t>
            </a:r>
            <a:r>
              <a:rPr lang="zh-CN" altLang="en-US" sz="2400" b="1" dirty="0"/>
              <a:t>的一个关系</a:t>
            </a:r>
            <a:r>
              <a:rPr lang="en-US" altLang="zh-CN" sz="2400" b="1" dirty="0"/>
              <a:t>r</a:t>
            </a:r>
            <a:r>
              <a:rPr lang="zh-CN" altLang="en-US" sz="2400" b="1" dirty="0"/>
              <a:t>，即满足</a:t>
            </a:r>
            <a:r>
              <a:rPr lang="en-US" altLang="zh-CN" sz="2400" b="1" dirty="0"/>
              <a:t>F</a:t>
            </a:r>
            <a:r>
              <a:rPr lang="zh-CN" altLang="en-US" sz="2400" b="1" dirty="0"/>
              <a:t>中的全部函数依赖。</a:t>
            </a:r>
            <a:endParaRPr lang="zh-CN" altLang="en-US" sz="2400" b="1" dirty="0"/>
          </a:p>
          <a:p>
            <a:pPr marL="609600" indent="-609600" eaLnBrk="1" hangingPunct="1">
              <a:buFontTx/>
              <a:buAutoNum type="arabicParenR" startAt="2"/>
            </a:pPr>
            <a:endParaRPr lang="zh-CN" altLang="en-US" sz="2400" b="1" dirty="0"/>
          </a:p>
          <a:p>
            <a:pPr marL="609600" indent="-609600" eaLnBrk="1" hangingPunct="1">
              <a:buFontTx/>
              <a:buAutoNum type="arabicParenR" startAt="2"/>
            </a:pPr>
            <a:endParaRPr lang="zh-CN" altLang="en-US" sz="2400" b="1" dirty="0"/>
          </a:p>
          <a:p>
            <a:pPr marL="609600" indent="-609600" eaLnBrk="1" hangingPunct="1">
              <a:buFontTx/>
              <a:buAutoNum type="arabicParenR" startAt="2"/>
            </a:pPr>
            <a:endParaRPr lang="zh-CN" altLang="en-US" sz="2400" b="1" dirty="0"/>
          </a:p>
          <a:p>
            <a:pPr marL="609600" indent="-609600" eaLnBrk="1" hangingPunct="1">
              <a:buNone/>
            </a:pPr>
            <a:r>
              <a:rPr lang="zh-CN" altLang="en-US" sz="2400" b="1" dirty="0"/>
              <a:t>    若</a:t>
            </a:r>
            <a:r>
              <a:rPr lang="en-US" altLang="zh-CN" sz="2400" b="1" dirty="0"/>
              <a:t>r</a:t>
            </a:r>
            <a:r>
              <a:rPr lang="zh-CN" altLang="en-US" sz="2400" b="1" dirty="0"/>
              <a:t>不是</a:t>
            </a:r>
            <a:r>
              <a:rPr lang="en-US" altLang="zh-CN" sz="2400" b="1" dirty="0"/>
              <a:t>R&lt;U,F&gt;</a:t>
            </a:r>
            <a:r>
              <a:rPr lang="zh-CN" altLang="en-US" sz="2400" b="1" dirty="0"/>
              <a:t>的关系，则必由于</a:t>
            </a:r>
            <a:r>
              <a:rPr lang="en-US" altLang="zh-CN" sz="2400" b="1" dirty="0"/>
              <a:t>F</a:t>
            </a:r>
            <a:r>
              <a:rPr lang="zh-CN" altLang="en-US" sz="2400" b="1" dirty="0"/>
              <a:t>中有函数依赖</a:t>
            </a:r>
            <a:r>
              <a:rPr lang="en-US" altLang="zh-CN" sz="2400" b="1" dirty="0"/>
              <a:t>V→W</a:t>
            </a:r>
            <a:r>
              <a:rPr lang="zh-CN" altLang="en-US" sz="2400" b="1" dirty="0"/>
              <a:t>在</a:t>
            </a:r>
            <a:r>
              <a:rPr lang="en-US" altLang="zh-CN" sz="2400" b="1" dirty="0"/>
              <a:t>r</a:t>
            </a:r>
            <a:r>
              <a:rPr lang="zh-CN" altLang="en-US" sz="2400" b="1" dirty="0"/>
              <a:t>上不成立所致</a:t>
            </a:r>
            <a:r>
              <a:rPr lang="en-US" altLang="zh-CN" sz="2400" b="1" dirty="0"/>
              <a:t>,</a:t>
            </a:r>
            <a:r>
              <a:rPr lang="zh-CN" altLang="en-US" sz="2400" b="1" dirty="0"/>
              <a:t>由</a:t>
            </a:r>
            <a:r>
              <a:rPr lang="en-US" altLang="zh-CN" sz="2400" b="1" dirty="0"/>
              <a:t>r</a:t>
            </a:r>
            <a:r>
              <a:rPr lang="zh-CN" altLang="en-US" sz="2400" b="1" dirty="0"/>
              <a:t>的构成可知，</a:t>
            </a:r>
            <a:r>
              <a:rPr lang="en-US" altLang="zh-CN" sz="2400" b="1" dirty="0"/>
              <a:t>V</a:t>
            </a:r>
            <a:r>
              <a:rPr lang="zh-CN" altLang="en-US" sz="2400" b="1" dirty="0"/>
              <a:t>必定是</a:t>
            </a:r>
            <a:r>
              <a:rPr lang="en-US" altLang="zh-CN" b="1" dirty="0"/>
              <a:t>X</a:t>
            </a:r>
            <a:r>
              <a:rPr lang="en-US" altLang="zh-CN" sz="2400" b="1" baseline="30000" dirty="0"/>
              <a:t>+</a:t>
            </a:r>
            <a:r>
              <a:rPr lang="en-US" altLang="zh-CN" sz="1800" b="1" dirty="0"/>
              <a:t>F</a:t>
            </a:r>
            <a:r>
              <a:rPr lang="zh-CN" altLang="en-US" sz="2400" b="1" dirty="0"/>
              <a:t>的子集，而</a:t>
            </a:r>
            <a:r>
              <a:rPr lang="en-US" altLang="zh-CN" sz="2400" b="1" dirty="0"/>
              <a:t>W</a:t>
            </a:r>
            <a:r>
              <a:rPr lang="zh-CN" altLang="en-US" sz="2400" b="1" dirty="0"/>
              <a:t>不是</a:t>
            </a:r>
            <a:r>
              <a:rPr lang="en-US" altLang="zh-CN" b="1" dirty="0"/>
              <a:t>X</a:t>
            </a:r>
            <a:r>
              <a:rPr lang="en-US" altLang="zh-CN" sz="2400" b="1" baseline="30000" dirty="0"/>
              <a:t>+</a:t>
            </a:r>
            <a:r>
              <a:rPr lang="en-US" altLang="zh-CN" sz="1800" b="1" dirty="0"/>
              <a:t>F</a:t>
            </a:r>
            <a:r>
              <a:rPr lang="zh-CN" altLang="en-US" sz="2400" b="1" dirty="0"/>
              <a:t>的子集，但是由 </a:t>
            </a:r>
            <a:r>
              <a:rPr lang="en-US" altLang="zh-CN" sz="2400" b="1" dirty="0"/>
              <a:t>l)W</a:t>
            </a:r>
            <a:r>
              <a:rPr lang="en-US" altLang="zh-CN" sz="2400" b="1" dirty="0">
                <a:sym typeface="Symbol" panose="05050102010706020507" pitchFamily="18" charset="2"/>
              </a:rPr>
              <a:t> </a:t>
            </a:r>
            <a:r>
              <a:rPr lang="en-US" altLang="zh-CN" b="1" dirty="0"/>
              <a:t>X</a:t>
            </a:r>
            <a:r>
              <a:rPr lang="en-US" altLang="zh-CN" sz="2400" b="1" baseline="30000" dirty="0"/>
              <a:t>+</a:t>
            </a:r>
            <a:r>
              <a:rPr lang="en-US" altLang="zh-CN" sz="1800" b="1" dirty="0"/>
              <a:t>F</a:t>
            </a:r>
            <a:r>
              <a:rPr lang="en-US" altLang="zh-CN" sz="2400" b="1" dirty="0">
                <a:sym typeface="Symbol" panose="05050102010706020507" pitchFamily="18" charset="2"/>
              </a:rPr>
              <a:t> </a:t>
            </a:r>
            <a:r>
              <a:rPr lang="zh-CN" altLang="en-US" sz="2400" b="1" dirty="0"/>
              <a:t>，矛盾</a:t>
            </a:r>
            <a:r>
              <a:rPr lang="en-US" altLang="zh-CN" sz="2400" b="1" dirty="0"/>
              <a:t>!</a:t>
            </a:r>
            <a:r>
              <a:rPr lang="zh-CN" altLang="en-US" sz="2400" b="1" dirty="0"/>
              <a:t>所以</a:t>
            </a:r>
            <a:r>
              <a:rPr lang="en-US" altLang="zh-CN" sz="2400" b="1" dirty="0"/>
              <a:t>r</a:t>
            </a:r>
            <a:r>
              <a:rPr lang="zh-CN" altLang="en-US" sz="2400" b="1" dirty="0"/>
              <a:t>必是</a:t>
            </a:r>
            <a:r>
              <a:rPr lang="en-US" altLang="zh-CN" sz="2400" b="1" dirty="0"/>
              <a:t>R&lt;U,F&gt;</a:t>
            </a:r>
            <a:r>
              <a:rPr lang="zh-CN" altLang="en-US" sz="2400" b="1" dirty="0"/>
              <a:t>的一个关系 </a:t>
            </a:r>
            <a:endParaRPr lang="zh-CN" altLang="en-US" sz="2400" b="1" dirty="0"/>
          </a:p>
        </p:txBody>
      </p:sp>
      <p:pic>
        <p:nvPicPr>
          <p:cNvPr id="64516" name="Picture 4" descr="529插图2.GIF (559 bytes)"/>
          <p:cNvPicPr>
            <a:picLocks noChangeAspect="1"/>
          </p:cNvPicPr>
          <p:nvPr/>
        </p:nvPicPr>
        <p:blipFill>
          <a:blip r:embed="rId1"/>
          <a:stretch>
            <a:fillRect/>
          </a:stretch>
        </p:blipFill>
        <p:spPr>
          <a:xfrm>
            <a:off x="2219325" y="2605088"/>
            <a:ext cx="4800600" cy="1039812"/>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6562" name="Rectangle 3"/>
          <p:cNvSpPr>
            <a:spLocks noGrp="1"/>
          </p:cNvSpPr>
          <p:nvPr>
            <p:ph idx="1"/>
          </p:nvPr>
        </p:nvSpPr>
        <p:spPr>
          <a:xfrm>
            <a:off x="1187450" y="1844675"/>
            <a:ext cx="7037388" cy="4525963"/>
          </a:xfrm>
          <a:ln/>
        </p:spPr>
        <p:txBody>
          <a:bodyPr vert="horz" wrap="square" lIns="91440" tIns="45720" rIns="91440" bIns="45720" anchor="t" anchorCtr="0"/>
          <a:p>
            <a:pPr marL="609600" indent="-609600" eaLnBrk="1" hangingPunct="1">
              <a:lnSpc>
                <a:spcPct val="80000"/>
              </a:lnSpc>
              <a:buFontTx/>
              <a:buAutoNum type="arabicParenR" startAt="3"/>
            </a:pPr>
            <a:r>
              <a:rPr lang="zh-CN" altLang="en-US" sz="2400" b="1" dirty="0"/>
              <a:t>若</a:t>
            </a:r>
            <a:r>
              <a:rPr lang="en-US" altLang="zh-CN" sz="2400" b="1" dirty="0"/>
              <a:t>X→Y</a:t>
            </a:r>
            <a:r>
              <a:rPr lang="zh-CN" altLang="en-US" sz="2400" b="1" dirty="0"/>
              <a:t>不能由</a:t>
            </a:r>
            <a:r>
              <a:rPr lang="en-US" altLang="zh-CN" sz="2400" b="1" dirty="0"/>
              <a:t>F</a:t>
            </a:r>
            <a:r>
              <a:rPr lang="zh-CN" altLang="en-US" sz="2400" b="1" dirty="0"/>
              <a:t>从</a:t>
            </a:r>
            <a:r>
              <a:rPr lang="en-US" altLang="zh-CN" sz="2400" b="1" dirty="0"/>
              <a:t>Armstrong</a:t>
            </a:r>
            <a:r>
              <a:rPr lang="zh-CN" altLang="en-US" sz="2400" b="1" dirty="0"/>
              <a:t>公理导出，则</a:t>
            </a:r>
            <a:r>
              <a:rPr lang="en-US" altLang="zh-CN" sz="2400" b="1" dirty="0"/>
              <a:t>Y</a:t>
            </a:r>
            <a:r>
              <a:rPr lang="zh-CN" altLang="en-US" sz="2400" b="1" dirty="0"/>
              <a:t>不是</a:t>
            </a:r>
            <a:r>
              <a:rPr lang="en-US" altLang="zh-CN" b="1" dirty="0"/>
              <a:t>X</a:t>
            </a:r>
            <a:r>
              <a:rPr lang="en-US" altLang="zh-CN" sz="2400" b="1" baseline="30000" dirty="0"/>
              <a:t>+</a:t>
            </a:r>
            <a:r>
              <a:rPr lang="en-US" altLang="zh-CN" sz="1800" b="1" dirty="0"/>
              <a:t>F</a:t>
            </a:r>
            <a:r>
              <a:rPr lang="zh-CN" altLang="en-US" sz="2400" b="1" dirty="0"/>
              <a:t>的子集，因此必有</a:t>
            </a:r>
            <a:r>
              <a:rPr lang="en-US" altLang="zh-CN" sz="2400" b="1" dirty="0"/>
              <a:t>Y</a:t>
            </a:r>
            <a:r>
              <a:rPr lang="zh-CN" altLang="en-US" sz="2400" b="1" dirty="0"/>
              <a:t>的子集</a:t>
            </a:r>
            <a:r>
              <a:rPr lang="en-US" altLang="zh-CN" sz="2400" b="1" dirty="0"/>
              <a:t>Y</a:t>
            </a:r>
            <a:r>
              <a:rPr lang="en-US" altLang="zh-CN" sz="2400" b="1" dirty="0">
                <a:latin typeface="Book Antiqua" pitchFamily="18" charset="0"/>
                <a:ea typeface="MS PMincho"/>
              </a:rPr>
              <a:t>‘</a:t>
            </a:r>
            <a:r>
              <a:rPr lang="zh-CN" altLang="en-US" sz="2400" b="1" dirty="0"/>
              <a:t>满足</a:t>
            </a:r>
            <a:r>
              <a:rPr lang="en-US" altLang="zh-CN" sz="2400" b="1" dirty="0"/>
              <a:t>Y</a:t>
            </a:r>
            <a:r>
              <a:rPr lang="en-US" altLang="zh-CN" sz="2400" b="1" dirty="0">
                <a:latin typeface="Book Antiqua" pitchFamily="18" charset="0"/>
                <a:ea typeface="MS PMincho"/>
              </a:rPr>
              <a:t>‘</a:t>
            </a:r>
            <a:r>
              <a:rPr lang="en-US" altLang="zh-CN" sz="2400" b="1" dirty="0">
                <a:sym typeface="Symbol" panose="05050102010706020507" pitchFamily="18" charset="2"/>
              </a:rPr>
              <a:t></a:t>
            </a:r>
            <a:r>
              <a:rPr lang="en-US" altLang="zh-CN" sz="2400" b="1" dirty="0"/>
              <a:t> U- </a:t>
            </a:r>
            <a:r>
              <a:rPr lang="en-US" altLang="zh-CN" b="1" dirty="0"/>
              <a:t>X</a:t>
            </a:r>
            <a:r>
              <a:rPr lang="en-US" altLang="zh-CN" sz="2400" b="1" baseline="30000" dirty="0"/>
              <a:t>+</a:t>
            </a:r>
            <a:r>
              <a:rPr lang="en-US" altLang="zh-CN" sz="1800" b="1" dirty="0"/>
              <a:t>F</a:t>
            </a:r>
            <a:r>
              <a:rPr lang="en-US" altLang="zh-CN" sz="2400" b="1" dirty="0"/>
              <a:t> </a:t>
            </a:r>
            <a:r>
              <a:rPr lang="zh-CN" altLang="en-US" sz="2400" b="1" dirty="0"/>
              <a:t>，即</a:t>
            </a:r>
            <a:r>
              <a:rPr lang="en-US" altLang="zh-CN" sz="2400" b="1" dirty="0"/>
              <a:t>X→Y</a:t>
            </a:r>
            <a:r>
              <a:rPr lang="zh-CN" altLang="en-US" sz="2400" b="1" dirty="0"/>
              <a:t>在</a:t>
            </a:r>
            <a:r>
              <a:rPr lang="en-US" altLang="zh-CN" sz="2400" b="1" dirty="0"/>
              <a:t>r</a:t>
            </a:r>
            <a:r>
              <a:rPr lang="zh-CN" altLang="en-US" sz="2400" b="1" dirty="0"/>
              <a:t>上不成立，故</a:t>
            </a:r>
            <a:r>
              <a:rPr lang="en-US" altLang="zh-CN" sz="2400" b="1" dirty="0"/>
              <a:t>X→Y</a:t>
            </a:r>
            <a:r>
              <a:rPr lang="zh-CN" altLang="en-US" sz="2400" b="1" dirty="0"/>
              <a:t>必不为</a:t>
            </a:r>
            <a:r>
              <a:rPr lang="en-US" altLang="zh-CN" sz="2400" b="1" dirty="0"/>
              <a:t>F</a:t>
            </a:r>
            <a:r>
              <a:rPr lang="zh-CN" altLang="en-US" sz="2400" b="1" dirty="0"/>
              <a:t>蕴含。</a:t>
            </a:r>
            <a:endParaRPr lang="zh-CN" altLang="en-US" sz="2400" b="1" dirty="0"/>
          </a:p>
          <a:p>
            <a:pPr marL="609600" indent="-609600" eaLnBrk="1" hangingPunct="1">
              <a:lnSpc>
                <a:spcPct val="80000"/>
              </a:lnSpc>
              <a:buNone/>
            </a:pPr>
            <a:r>
              <a:rPr lang="zh-CN" altLang="en-US" sz="2400" b="1" dirty="0"/>
              <a:t>证毕</a:t>
            </a:r>
            <a:endParaRPr lang="zh-CN" altLang="en-US" sz="2400" b="1" dirty="0"/>
          </a:p>
          <a:p>
            <a:pPr marL="609600" indent="-609600" eaLnBrk="1" hangingPunct="1">
              <a:lnSpc>
                <a:spcPct val="80000"/>
              </a:lnSpc>
              <a:buNone/>
            </a:pPr>
            <a:endParaRPr lang="zh-CN" altLang="en-US" sz="2400" b="1" dirty="0"/>
          </a:p>
          <a:p>
            <a:pPr marL="609600" indent="-609600" eaLnBrk="1" hangingPunct="1">
              <a:lnSpc>
                <a:spcPct val="80000"/>
              </a:lnSpc>
            </a:pPr>
            <a:r>
              <a:rPr lang="en-US" altLang="zh-CN" sz="2400" b="1" dirty="0">
                <a:latin typeface="黑体" pitchFamily="49" charset="-122"/>
                <a:ea typeface="黑体" pitchFamily="49" charset="-122"/>
              </a:rPr>
              <a:t>Armstrong</a:t>
            </a:r>
            <a:r>
              <a:rPr lang="zh-CN" altLang="en-US" sz="2400" b="1" dirty="0">
                <a:latin typeface="黑体" pitchFamily="49" charset="-122"/>
                <a:ea typeface="黑体" pitchFamily="49" charset="-122"/>
              </a:rPr>
              <a:t>公理的正确性和完备性</a:t>
            </a:r>
            <a:r>
              <a:rPr lang="zh-CN" altLang="en-US" sz="2400" b="1" dirty="0"/>
              <a:t>说明“逻辑导出”与“逻辑蕴含”是两个等价的概念</a:t>
            </a:r>
            <a:endParaRPr lang="zh-CN" altLang="en-US" sz="2400" b="1" dirty="0"/>
          </a:p>
          <a:p>
            <a:pPr marL="609600" indent="-609600" eaLnBrk="1" hangingPunct="1">
              <a:lnSpc>
                <a:spcPct val="80000"/>
              </a:lnSpc>
            </a:pPr>
            <a:r>
              <a:rPr lang="zh-CN" altLang="en-US" sz="2400" b="1" dirty="0"/>
              <a:t>因此</a:t>
            </a:r>
            <a:r>
              <a:rPr lang="en-US" altLang="zh-CN" sz="2400" b="1" dirty="0"/>
              <a:t>,F</a:t>
            </a:r>
            <a:r>
              <a:rPr lang="en-US" altLang="zh-CN" sz="2400" b="1" baseline="30000" dirty="0"/>
              <a:t>+</a:t>
            </a:r>
            <a:r>
              <a:rPr lang="zh-CN" altLang="en-US" sz="2400" b="1" dirty="0"/>
              <a:t>也可以说成是由</a:t>
            </a:r>
            <a:r>
              <a:rPr lang="en-US" altLang="zh-CN" sz="2400" b="1" dirty="0"/>
              <a:t>F</a:t>
            </a:r>
            <a:r>
              <a:rPr lang="zh-CN" altLang="en-US" sz="2400" b="1" dirty="0"/>
              <a:t>出发借助</a:t>
            </a:r>
            <a:r>
              <a:rPr lang="en-US" altLang="zh-CN" sz="2400" b="1" dirty="0"/>
              <a:t>Armstrong</a:t>
            </a:r>
            <a:r>
              <a:rPr lang="zh-CN" altLang="en-US" sz="2400" b="1" dirty="0"/>
              <a:t>公理导出的函数依赖的集合 </a:t>
            </a:r>
            <a:endParaRPr lang="zh-CN" altLang="en-US" sz="2400" b="1" dirty="0"/>
          </a:p>
          <a:p>
            <a:pPr marL="609600" indent="-609600" eaLnBrk="1" hangingPunct="1">
              <a:lnSpc>
                <a:spcPct val="80000"/>
              </a:lnSpc>
            </a:pPr>
            <a:r>
              <a:rPr lang="zh-CN" altLang="en-US" sz="2400" b="1" dirty="0"/>
              <a:t>从蕴含</a:t>
            </a:r>
            <a:r>
              <a:rPr lang="en-US" altLang="zh-CN" sz="2400" b="1" dirty="0"/>
              <a:t>(</a:t>
            </a:r>
            <a:r>
              <a:rPr lang="zh-CN" altLang="en-US" sz="2400" b="1" dirty="0"/>
              <a:t>或导出</a:t>
            </a:r>
            <a:r>
              <a:rPr lang="en-US" altLang="zh-CN" sz="2400" b="1" dirty="0"/>
              <a:t>)</a:t>
            </a:r>
            <a:r>
              <a:rPr lang="zh-CN" altLang="en-US" sz="2400" b="1" dirty="0"/>
              <a:t>的概念出发，又引出了两个函数依赖集等价和最小依赖集的概念 </a:t>
            </a:r>
            <a:endParaRPr lang="en-US" altLang="zh-CN" sz="2400" b="1" dirty="0"/>
          </a:p>
        </p:txBody>
      </p:sp>
      <p:sp>
        <p:nvSpPr>
          <p:cNvPr id="66563" name="Rectangle 5"/>
          <p:cNvSpPr>
            <a:spLocks noGrp="1"/>
          </p:cNvSpPr>
          <p:nvPr>
            <p:ph type="title"/>
          </p:nvPr>
        </p:nvSpPr>
        <p:spPr>
          <a:xfrm>
            <a:off x="611188" y="549275"/>
            <a:ext cx="8064500" cy="731838"/>
          </a:xfrm>
          <a:ln/>
        </p:spPr>
        <p:txBody>
          <a:bodyPr vert="horz" wrap="square" lIns="91440" tIns="45720" rIns="91440" bIns="45720" anchor="ctr" anchorCtr="0"/>
          <a:p>
            <a:pPr algn="ctr" eaLnBrk="1" hangingPunct="1"/>
            <a:r>
              <a:rPr lang="en-US" altLang="zh-CN" sz="4000" b="1" dirty="0">
                <a:solidFill>
                  <a:srgbClr val="E40000"/>
                </a:solidFill>
                <a:latin typeface="Arial" panose="020B0604020202020204" pitchFamily="34" charset="0"/>
              </a:rPr>
              <a:t>Armstrong</a:t>
            </a:r>
            <a:r>
              <a:rPr lang="zh-CN" altLang="en-US" sz="4000" b="1" dirty="0">
                <a:solidFill>
                  <a:srgbClr val="E40000"/>
                </a:solidFill>
                <a:latin typeface="Arial" panose="020B0604020202020204" pitchFamily="34" charset="0"/>
              </a:rPr>
              <a:t>公理的正确性和完备性</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8610" name="Rectangle 5"/>
          <p:cNvSpPr/>
          <p:nvPr/>
        </p:nvSpPr>
        <p:spPr>
          <a:xfrm>
            <a:off x="669925" y="1628775"/>
            <a:ext cx="8078788"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450850" lvl="0" indent="-450850" eaLnBrk="1" hangingPunct="1">
              <a:lnSpc>
                <a:spcPct val="110000"/>
              </a:lnSpc>
              <a:buClr>
                <a:srgbClr val="E40000"/>
              </a:buClr>
              <a:buFont typeface="Wingdings" panose="05000000000000000000" pitchFamily="2" charset="2"/>
              <a:buChar char="Ø"/>
            </a:pPr>
            <a:r>
              <a:rPr lang="zh-CN" altLang="en-US" b="1" dirty="0">
                <a:latin typeface="黑体" pitchFamily="49" charset="-122"/>
                <a:ea typeface="黑体" pitchFamily="49" charset="-122"/>
              </a:rPr>
              <a:t>定义</a:t>
            </a:r>
            <a:r>
              <a:rPr lang="en-US" altLang="zh-CN" b="1" dirty="0">
                <a:latin typeface="黑体" pitchFamily="49" charset="-122"/>
                <a:ea typeface="黑体" pitchFamily="49" charset="-122"/>
              </a:rPr>
              <a:t>4.8</a:t>
            </a:r>
            <a:r>
              <a:rPr lang="zh-CN" altLang="en-US" b="1" dirty="0">
                <a:latin typeface="黑体" pitchFamily="49" charset="-122"/>
                <a:ea typeface="黑体" pitchFamily="49" charset="-122"/>
              </a:rPr>
              <a:t>：设</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G</a:t>
            </a:r>
            <a:r>
              <a:rPr lang="zh-CN" altLang="en-US" b="1" dirty="0">
                <a:latin typeface="黑体" pitchFamily="49" charset="-122"/>
                <a:ea typeface="黑体" pitchFamily="49" charset="-122"/>
              </a:rPr>
              <a:t>是两个函数依赖集合，如果</a:t>
            </a:r>
            <a:endParaRPr lang="zh-CN" altLang="en-US" b="1" dirty="0">
              <a:latin typeface="黑体" pitchFamily="49" charset="-122"/>
              <a:ea typeface="黑体" pitchFamily="49" charset="-122"/>
            </a:endParaRPr>
          </a:p>
          <a:p>
            <a:pPr marL="450850" lvl="0" indent="-450850" eaLnBrk="1" hangingPunct="1">
              <a:lnSpc>
                <a:spcPct val="110000"/>
              </a:lnSpc>
              <a:buClr>
                <a:srgbClr val="E40000"/>
              </a:buClr>
              <a:buFont typeface="Wingdings" panose="05000000000000000000" pitchFamily="2" charset="2"/>
              <a:buNone/>
            </a:pPr>
            <a:r>
              <a:rPr lang="en-US" altLang="zh-CN" b="1" dirty="0"/>
              <a:t>   F</a:t>
            </a:r>
            <a:r>
              <a:rPr lang="en-US" altLang="zh-CN" b="1" baseline="30000" dirty="0"/>
              <a:t>+</a:t>
            </a:r>
            <a:r>
              <a:rPr lang="zh-CN" altLang="en-US" b="1" dirty="0"/>
              <a:t>＝</a:t>
            </a:r>
            <a:r>
              <a:rPr lang="en-US" altLang="zh-CN" b="1" dirty="0"/>
              <a:t>G</a:t>
            </a:r>
            <a:r>
              <a:rPr lang="en-US" altLang="zh-CN" b="1" baseline="30000" dirty="0"/>
              <a:t>+</a:t>
            </a:r>
            <a:r>
              <a:rPr lang="zh-CN" altLang="en-US" b="1" dirty="0"/>
              <a:t> ，</a:t>
            </a:r>
            <a:r>
              <a:rPr lang="zh-CN" altLang="en-US" b="1" dirty="0">
                <a:latin typeface="黑体" pitchFamily="49" charset="-122"/>
                <a:ea typeface="黑体" pitchFamily="49" charset="-122"/>
              </a:rPr>
              <a:t>则称</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等价于</a:t>
            </a:r>
            <a:r>
              <a:rPr lang="en-US" altLang="zh-CN" b="1" dirty="0">
                <a:latin typeface="黑体" pitchFamily="49" charset="-122"/>
                <a:ea typeface="黑体" pitchFamily="49" charset="-122"/>
              </a:rPr>
              <a:t>G</a:t>
            </a:r>
            <a:r>
              <a:rPr lang="zh-CN" altLang="en-US" b="1" dirty="0">
                <a:latin typeface="黑体" pitchFamily="49" charset="-122"/>
                <a:ea typeface="黑体" pitchFamily="49" charset="-122"/>
              </a:rPr>
              <a:t>，或者</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与</a:t>
            </a:r>
            <a:r>
              <a:rPr lang="en-US" altLang="zh-CN" b="1" dirty="0">
                <a:latin typeface="黑体" pitchFamily="49" charset="-122"/>
                <a:ea typeface="黑体" pitchFamily="49" charset="-122"/>
              </a:rPr>
              <a:t>G</a:t>
            </a:r>
            <a:r>
              <a:rPr lang="zh-CN" altLang="en-US" b="1" dirty="0">
                <a:latin typeface="黑体" pitchFamily="49" charset="-122"/>
                <a:ea typeface="黑体" pitchFamily="49" charset="-122"/>
              </a:rPr>
              <a:t>互相覆盖</a:t>
            </a:r>
            <a:endParaRPr lang="zh-CN" altLang="en-US" b="1" dirty="0">
              <a:latin typeface="黑体" pitchFamily="49" charset="-122"/>
              <a:ea typeface="黑体" pitchFamily="49" charset="-122"/>
            </a:endParaRPr>
          </a:p>
          <a:p>
            <a:pPr marL="450850" lvl="0" indent="-450850" eaLnBrk="1" hangingPunct="1"/>
            <a:r>
              <a:rPr lang="en-US" altLang="en-US" b="1" dirty="0">
                <a:latin typeface="黑体" pitchFamily="49" charset="-122"/>
                <a:ea typeface="黑体" pitchFamily="49" charset="-122"/>
              </a:rPr>
              <a:t>引理</a:t>
            </a:r>
            <a:r>
              <a:rPr lang="en-US" altLang="zh-CN" b="1" dirty="0">
                <a:latin typeface="黑体" pitchFamily="49" charset="-122"/>
                <a:ea typeface="黑体" pitchFamily="49" charset="-122"/>
              </a:rPr>
              <a:t>4.3</a:t>
            </a:r>
            <a:r>
              <a:rPr lang="zh-CN" altLang="en-US" b="1" dirty="0">
                <a:latin typeface="黑体" pitchFamily="49" charset="-122"/>
                <a:ea typeface="黑体" pitchFamily="49" charset="-122"/>
              </a:rPr>
              <a:t>： </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与</a:t>
            </a:r>
            <a:r>
              <a:rPr lang="en-US" altLang="zh-CN" b="1" dirty="0">
                <a:latin typeface="黑体" pitchFamily="49" charset="-122"/>
                <a:ea typeface="黑体" pitchFamily="49" charset="-122"/>
              </a:rPr>
              <a:t>G</a:t>
            </a:r>
            <a:r>
              <a:rPr lang="zh-CN" altLang="en-US" b="1" dirty="0">
                <a:latin typeface="黑体" pitchFamily="49" charset="-122"/>
                <a:ea typeface="黑体" pitchFamily="49" charset="-122"/>
              </a:rPr>
              <a:t>等价的充分必要条件是</a:t>
            </a:r>
            <a:r>
              <a:rPr lang="en-US" altLang="zh-CN" dirty="0"/>
              <a:t>F</a:t>
            </a:r>
            <a:r>
              <a:rPr lang="en-US" altLang="zh-CN" dirty="0">
                <a:sym typeface="Symbol" panose="05050102010706020507" pitchFamily="18" charset="2"/>
              </a:rPr>
              <a:t></a:t>
            </a:r>
            <a:r>
              <a:rPr lang="en-US" altLang="zh-CN" dirty="0"/>
              <a:t>G</a:t>
            </a:r>
            <a:r>
              <a:rPr lang="en-US" altLang="zh-CN" b="1" baseline="30000" dirty="0"/>
              <a:t>+</a:t>
            </a:r>
            <a:r>
              <a:rPr lang="en-US" altLang="zh-CN" dirty="0"/>
              <a:t> </a:t>
            </a:r>
            <a:r>
              <a:rPr lang="zh-CN" altLang="en-US" b="1" dirty="0">
                <a:latin typeface="黑体" pitchFamily="49" charset="-122"/>
                <a:ea typeface="黑体" pitchFamily="49" charset="-122"/>
              </a:rPr>
              <a:t>并且</a:t>
            </a:r>
            <a:r>
              <a:rPr lang="en-US" altLang="zh-CN" dirty="0"/>
              <a:t>G</a:t>
            </a:r>
            <a:r>
              <a:rPr lang="en-US" altLang="zh-CN" dirty="0">
                <a:sym typeface="Symbol" panose="05050102010706020507" pitchFamily="18" charset="2"/>
              </a:rPr>
              <a:t></a:t>
            </a:r>
            <a:r>
              <a:rPr lang="en-US" altLang="zh-CN" dirty="0"/>
              <a:t>F</a:t>
            </a:r>
            <a:r>
              <a:rPr lang="en-US" altLang="zh-CN" b="1" baseline="30000" dirty="0"/>
              <a:t>+</a:t>
            </a:r>
            <a:endParaRPr lang="zh-CN" altLang="en-US" dirty="0"/>
          </a:p>
          <a:p>
            <a:pPr marL="450850" lvl="0" indent="-450850" eaLnBrk="1" hangingPunct="1"/>
            <a:r>
              <a:rPr lang="zh-CN" altLang="en-US" b="1" dirty="0">
                <a:latin typeface="黑体" pitchFamily="49" charset="-122"/>
                <a:ea typeface="黑体" pitchFamily="49" charset="-122"/>
              </a:rPr>
              <a:t>证：必要性显然</a:t>
            </a:r>
            <a:r>
              <a:rPr lang="en-US" altLang="zh-CN" b="1" dirty="0">
                <a:latin typeface="黑体" pitchFamily="49" charset="-122"/>
                <a:ea typeface="黑体" pitchFamily="49" charset="-122"/>
              </a:rPr>
              <a:t>,</a:t>
            </a:r>
            <a:r>
              <a:rPr lang="zh-CN" altLang="en-US" b="1" dirty="0">
                <a:latin typeface="黑体" pitchFamily="49" charset="-122"/>
                <a:ea typeface="黑体" pitchFamily="49" charset="-122"/>
              </a:rPr>
              <a:t>只需证充分性：</a:t>
            </a:r>
            <a:endParaRPr lang="zh-CN" altLang="en-US" dirty="0"/>
          </a:p>
          <a:p>
            <a:pPr marL="1341755" lvl="1" indent="-533400" eaLnBrk="1" hangingPunct="1">
              <a:buAutoNum type="arabicParenR"/>
            </a:pPr>
            <a:r>
              <a:rPr lang="zh-CN" altLang="en-US" b="1" dirty="0"/>
              <a:t>若</a:t>
            </a:r>
            <a:r>
              <a:rPr lang="en-US" altLang="zh-CN" b="1" dirty="0"/>
              <a:t>F </a:t>
            </a:r>
            <a:r>
              <a:rPr lang="en-US" altLang="zh-CN" b="1" dirty="0">
                <a:sym typeface="Symbol" panose="05050102010706020507" pitchFamily="18" charset="2"/>
              </a:rPr>
              <a:t></a:t>
            </a:r>
            <a:r>
              <a:rPr lang="en-US" altLang="zh-CN" b="1" dirty="0"/>
              <a:t> G</a:t>
            </a:r>
            <a:r>
              <a:rPr lang="en-US" altLang="zh-CN" b="1" baseline="30000" dirty="0"/>
              <a:t>+</a:t>
            </a:r>
            <a:r>
              <a:rPr lang="en-US" altLang="zh-CN" b="1" dirty="0"/>
              <a:t> ,</a:t>
            </a:r>
            <a:r>
              <a:rPr lang="zh-CN" altLang="en-US" b="1" dirty="0"/>
              <a:t>则</a:t>
            </a:r>
            <a:r>
              <a:rPr lang="en-US" altLang="zh-CN" b="1" dirty="0"/>
              <a:t>X</a:t>
            </a:r>
            <a:r>
              <a:rPr lang="en-US" altLang="zh-CN" b="1" baseline="30000" dirty="0"/>
              <a:t>+</a:t>
            </a:r>
            <a:r>
              <a:rPr lang="en-US" altLang="zh-CN" sz="1600" b="1" dirty="0"/>
              <a:t>F</a:t>
            </a:r>
            <a:r>
              <a:rPr lang="en-US" altLang="zh-CN" b="1" dirty="0"/>
              <a:t> </a:t>
            </a:r>
            <a:r>
              <a:rPr lang="en-US" altLang="zh-CN" b="1" dirty="0">
                <a:sym typeface="Symbol" panose="05050102010706020507" pitchFamily="18" charset="2"/>
              </a:rPr>
              <a:t></a:t>
            </a:r>
            <a:r>
              <a:rPr lang="en-US" altLang="zh-CN" b="1" dirty="0"/>
              <a:t> X</a:t>
            </a:r>
            <a:r>
              <a:rPr lang="en-US" altLang="zh-CN" b="1" baseline="30000" dirty="0"/>
              <a:t>+</a:t>
            </a:r>
            <a:r>
              <a:rPr lang="en-US" altLang="zh-CN" sz="1600" b="1" baseline="-25000" dirty="0"/>
              <a:t>G</a:t>
            </a:r>
            <a:r>
              <a:rPr lang="en-US" altLang="zh-CN" b="1" baseline="-14000" dirty="0"/>
              <a:t>+</a:t>
            </a:r>
            <a:endParaRPr lang="zh-CN" altLang="en-US" b="1" dirty="0"/>
          </a:p>
          <a:p>
            <a:pPr marL="1341755" lvl="1" indent="-533400" eaLnBrk="1" hangingPunct="1">
              <a:buAutoNum type="arabicParenR"/>
            </a:pPr>
            <a:r>
              <a:rPr lang="zh-CN" altLang="en-US" b="1" dirty="0"/>
              <a:t>任取</a:t>
            </a:r>
            <a:r>
              <a:rPr lang="en-US" altLang="zh-CN" b="1" dirty="0"/>
              <a:t>X→Y∈F</a:t>
            </a:r>
            <a:r>
              <a:rPr lang="en-US" altLang="zh-CN" b="1" baseline="30000" dirty="0"/>
              <a:t>+</a:t>
            </a:r>
            <a:r>
              <a:rPr lang="en-US" altLang="zh-CN" b="1" dirty="0"/>
              <a:t> </a:t>
            </a:r>
            <a:r>
              <a:rPr lang="zh-CN" altLang="en-US" b="1" dirty="0"/>
              <a:t>则有 </a:t>
            </a:r>
            <a:r>
              <a:rPr lang="en-US" altLang="zh-CN" b="1" dirty="0"/>
              <a:t>Y </a:t>
            </a:r>
            <a:r>
              <a:rPr lang="en-US" altLang="zh-CN" b="1" dirty="0">
                <a:sym typeface="Symbol" panose="05050102010706020507" pitchFamily="18" charset="2"/>
              </a:rPr>
              <a:t></a:t>
            </a:r>
            <a:r>
              <a:rPr lang="en-US" altLang="zh-CN" b="1" dirty="0"/>
              <a:t> X</a:t>
            </a:r>
            <a:r>
              <a:rPr lang="en-US" altLang="zh-CN" b="1" baseline="30000" dirty="0"/>
              <a:t>+</a:t>
            </a:r>
            <a:r>
              <a:rPr lang="en-US" altLang="zh-CN" sz="1400" b="1" dirty="0"/>
              <a:t>F</a:t>
            </a:r>
            <a:r>
              <a:rPr lang="en-US" altLang="zh-CN" b="1" dirty="0"/>
              <a:t> </a:t>
            </a:r>
            <a:r>
              <a:rPr lang="en-US" altLang="zh-CN" b="1" dirty="0">
                <a:sym typeface="Symbol" panose="05050102010706020507" pitchFamily="18" charset="2"/>
              </a:rPr>
              <a:t></a:t>
            </a:r>
            <a:r>
              <a:rPr lang="en-US" altLang="zh-CN" b="1" dirty="0"/>
              <a:t> X</a:t>
            </a:r>
            <a:r>
              <a:rPr lang="en-US" altLang="zh-CN" b="1" baseline="30000" dirty="0"/>
              <a:t>+</a:t>
            </a:r>
            <a:r>
              <a:rPr lang="en-US" altLang="zh-CN" sz="1600" b="1" baseline="-25000" dirty="0"/>
              <a:t>G</a:t>
            </a:r>
            <a:r>
              <a:rPr lang="en-US" altLang="zh-CN" b="1" baseline="-14000" dirty="0"/>
              <a:t>+</a:t>
            </a:r>
            <a:r>
              <a:rPr lang="en-US" altLang="zh-CN" b="1" dirty="0"/>
              <a:t> </a:t>
            </a:r>
            <a:r>
              <a:rPr lang="zh-CN" altLang="en-US" b="1" dirty="0"/>
              <a:t>。 所以</a:t>
            </a:r>
            <a:r>
              <a:rPr lang="en-US" altLang="zh-CN" b="1" dirty="0"/>
              <a:t>X→Y∈(G</a:t>
            </a:r>
            <a:r>
              <a:rPr lang="en-US" altLang="zh-CN" b="1" baseline="30000" dirty="0"/>
              <a:t>+</a:t>
            </a:r>
            <a:r>
              <a:rPr lang="en-US" altLang="zh-CN" b="1" dirty="0"/>
              <a:t>)</a:t>
            </a:r>
            <a:r>
              <a:rPr lang="en-US" altLang="zh-CN" b="1" baseline="30000" dirty="0"/>
              <a:t>+ </a:t>
            </a:r>
            <a:r>
              <a:rPr lang="en-US" altLang="zh-CN" b="1" dirty="0"/>
              <a:t>= G</a:t>
            </a:r>
            <a:r>
              <a:rPr lang="en-US" altLang="zh-CN" b="1" baseline="30000" dirty="0"/>
              <a:t>+</a:t>
            </a:r>
            <a:r>
              <a:rPr lang="en-US" altLang="zh-CN" b="1" dirty="0"/>
              <a:t> </a:t>
            </a:r>
            <a:r>
              <a:rPr lang="zh-CN" altLang="en-US" b="1" dirty="0"/>
              <a:t>，即</a:t>
            </a:r>
            <a:r>
              <a:rPr lang="en-US" altLang="zh-CN" b="1" dirty="0"/>
              <a:t>F</a:t>
            </a:r>
            <a:r>
              <a:rPr lang="en-US" altLang="zh-CN" b="1" baseline="30000" dirty="0"/>
              <a:t>+</a:t>
            </a:r>
            <a:r>
              <a:rPr lang="en-US" altLang="zh-CN" b="1" dirty="0">
                <a:sym typeface="Symbol" panose="05050102010706020507" pitchFamily="18" charset="2"/>
              </a:rPr>
              <a:t></a:t>
            </a:r>
            <a:r>
              <a:rPr lang="en-US" altLang="zh-CN" b="1" dirty="0"/>
              <a:t>G</a:t>
            </a:r>
            <a:r>
              <a:rPr lang="en-US" altLang="zh-CN" b="1" baseline="30000" dirty="0"/>
              <a:t>+</a:t>
            </a:r>
            <a:r>
              <a:rPr lang="en-US" altLang="zh-CN" b="1" dirty="0"/>
              <a:t> </a:t>
            </a:r>
            <a:endParaRPr lang="zh-CN" altLang="en-US" b="1" dirty="0"/>
          </a:p>
          <a:p>
            <a:pPr marL="1341755" lvl="1" indent="-533400" eaLnBrk="1" hangingPunct="1">
              <a:buAutoNum type="arabicParenR"/>
            </a:pPr>
            <a:r>
              <a:rPr lang="zh-CN" altLang="en-US" b="1" dirty="0"/>
              <a:t>同理可证</a:t>
            </a:r>
            <a:r>
              <a:rPr lang="en-US" altLang="zh-CN" b="1" dirty="0"/>
              <a:t>G </a:t>
            </a:r>
            <a:r>
              <a:rPr lang="en-US" altLang="zh-CN" b="1" baseline="30000" dirty="0"/>
              <a:t>+</a:t>
            </a:r>
            <a:r>
              <a:rPr lang="en-US" altLang="zh-CN" b="1" dirty="0"/>
              <a:t> </a:t>
            </a:r>
            <a:r>
              <a:rPr lang="en-US" altLang="zh-CN" b="1" dirty="0">
                <a:sym typeface="Symbol" panose="05050102010706020507" pitchFamily="18" charset="2"/>
              </a:rPr>
              <a:t></a:t>
            </a:r>
            <a:r>
              <a:rPr lang="en-US" altLang="zh-CN" b="1" dirty="0"/>
              <a:t> F </a:t>
            </a:r>
            <a:r>
              <a:rPr lang="en-US" altLang="zh-CN" b="1" baseline="30000" dirty="0"/>
              <a:t>+</a:t>
            </a:r>
            <a:r>
              <a:rPr lang="en-US" altLang="zh-CN" b="1" dirty="0"/>
              <a:t> </a:t>
            </a:r>
            <a:r>
              <a:rPr lang="zh-CN" altLang="en-US" b="1" dirty="0"/>
              <a:t>，所以</a:t>
            </a:r>
            <a:r>
              <a:rPr lang="en-US" altLang="zh-CN" b="1" dirty="0"/>
              <a:t>F</a:t>
            </a:r>
            <a:r>
              <a:rPr lang="en-US" altLang="zh-CN" b="1" baseline="30000" dirty="0"/>
              <a:t>+</a:t>
            </a:r>
            <a:r>
              <a:rPr lang="en-US" altLang="zh-CN" b="1" dirty="0"/>
              <a:t>=G</a:t>
            </a:r>
            <a:r>
              <a:rPr lang="en-US" altLang="zh-CN" b="1" baseline="30000" dirty="0"/>
              <a:t>+</a:t>
            </a:r>
            <a:endParaRPr lang="zh-CN" altLang="en-US" b="1" baseline="30000" dirty="0"/>
          </a:p>
        </p:txBody>
      </p:sp>
      <p:sp>
        <p:nvSpPr>
          <p:cNvPr id="68611" name="Rectangle 8"/>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函数依赖</a:t>
            </a:r>
            <a:r>
              <a:rPr lang="en-US" altLang="zh-CN" sz="4000" b="1" dirty="0">
                <a:solidFill>
                  <a:srgbClr val="E40000"/>
                </a:solidFill>
                <a:latin typeface="Arial" panose="020B0604020202020204" pitchFamily="34" charset="0"/>
              </a:rPr>
              <a:t>集</a:t>
            </a:r>
            <a:r>
              <a:rPr lang="zh-CN" altLang="en-US" sz="4000" b="1" dirty="0">
                <a:solidFill>
                  <a:srgbClr val="E40000"/>
                </a:solidFill>
                <a:latin typeface="Arial" panose="020B0604020202020204" pitchFamily="34" charset="0"/>
              </a:rPr>
              <a:t>的等价覆盖</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0658" name="Rectangle 2"/>
          <p:cNvSpPr/>
          <p:nvPr/>
        </p:nvSpPr>
        <p:spPr>
          <a:xfrm>
            <a:off x="669925" y="1628775"/>
            <a:ext cx="8078788"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450850" lvl="0" indent="-450850" eaLnBrk="1" hangingPunct="1"/>
            <a:r>
              <a:rPr lang="zh-CN" altLang="en-US" b="1" dirty="0">
                <a:latin typeface="黑体" pitchFamily="49" charset="-122"/>
                <a:ea typeface="黑体" pitchFamily="49" charset="-122"/>
              </a:rPr>
              <a:t>要判定</a:t>
            </a:r>
            <a:r>
              <a:rPr lang="en-US" altLang="zh-CN" dirty="0"/>
              <a:t>F</a:t>
            </a:r>
            <a:r>
              <a:rPr lang="en-US" altLang="zh-CN" dirty="0">
                <a:sym typeface="Symbol" panose="05050102010706020507" pitchFamily="18" charset="2"/>
              </a:rPr>
              <a:t></a:t>
            </a:r>
            <a:r>
              <a:rPr lang="en-US" altLang="zh-CN" dirty="0"/>
              <a:t>G</a:t>
            </a:r>
            <a:r>
              <a:rPr lang="en-US" altLang="zh-CN" b="1" baseline="30000" dirty="0"/>
              <a:t>+</a:t>
            </a:r>
            <a:r>
              <a:rPr lang="en-US" altLang="zh-CN" dirty="0"/>
              <a:t>,</a:t>
            </a:r>
            <a:r>
              <a:rPr lang="zh-CN" altLang="en-US" b="1" dirty="0">
                <a:latin typeface="黑体" pitchFamily="49" charset="-122"/>
                <a:ea typeface="黑体" pitchFamily="49" charset="-122"/>
              </a:rPr>
              <a:t>只须逐一对</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中的函数依赖</a:t>
            </a:r>
            <a:r>
              <a:rPr lang="en-US" altLang="zh-CN" b="1" dirty="0">
                <a:latin typeface="黑体" pitchFamily="49" charset="-122"/>
                <a:ea typeface="黑体" pitchFamily="49" charset="-122"/>
              </a:rPr>
              <a:t>X→Y</a:t>
            </a:r>
            <a:r>
              <a:rPr lang="zh-CN" altLang="en-US" b="1" dirty="0">
                <a:latin typeface="黑体" pitchFamily="49" charset="-122"/>
                <a:ea typeface="黑体" pitchFamily="49" charset="-122"/>
              </a:rPr>
              <a:t>，考查</a:t>
            </a:r>
            <a:r>
              <a:rPr lang="en-US" altLang="zh-CN" b="1" dirty="0">
                <a:latin typeface="黑体" pitchFamily="49" charset="-122"/>
                <a:ea typeface="黑体" pitchFamily="49" charset="-122"/>
              </a:rPr>
              <a:t>Y</a:t>
            </a:r>
            <a:r>
              <a:rPr lang="zh-CN" altLang="en-US" b="1" dirty="0">
                <a:latin typeface="黑体" pitchFamily="49" charset="-122"/>
                <a:ea typeface="黑体" pitchFamily="49" charset="-122"/>
              </a:rPr>
              <a:t>是否属于</a:t>
            </a:r>
            <a:r>
              <a:rPr lang="en-US" altLang="zh-CN" dirty="0"/>
              <a:t>X</a:t>
            </a:r>
            <a:r>
              <a:rPr lang="en-US" altLang="zh-CN" b="1" baseline="30000" dirty="0"/>
              <a:t>+</a:t>
            </a:r>
            <a:r>
              <a:rPr lang="en-US" altLang="zh-CN" sz="1800" b="1" baseline="-25000" dirty="0"/>
              <a:t>G</a:t>
            </a:r>
            <a:r>
              <a:rPr lang="en-US" altLang="zh-CN" b="1" baseline="-14000" dirty="0"/>
              <a:t>+</a:t>
            </a:r>
            <a:endParaRPr lang="en-US" altLang="zh-CN" dirty="0"/>
          </a:p>
          <a:p>
            <a:pPr marL="450850" lvl="0" indent="-450850" eaLnBrk="1" hangingPunct="1">
              <a:lnSpc>
                <a:spcPct val="150000"/>
              </a:lnSpc>
            </a:pPr>
            <a:r>
              <a:rPr lang="zh-CN" altLang="en-US" b="1" dirty="0">
                <a:latin typeface="黑体" pitchFamily="49" charset="-122"/>
                <a:ea typeface="黑体" pitchFamily="49" charset="-122"/>
              </a:rPr>
              <a:t>引理</a:t>
            </a:r>
            <a:r>
              <a:rPr lang="en-US" altLang="zh-CN" b="1" dirty="0">
                <a:latin typeface="黑体" pitchFamily="49" charset="-122"/>
                <a:ea typeface="黑体" pitchFamily="49" charset="-122"/>
              </a:rPr>
              <a:t>4.3</a:t>
            </a:r>
            <a:r>
              <a:rPr lang="zh-CN" altLang="en-US" b="1" dirty="0">
                <a:latin typeface="黑体" pitchFamily="49" charset="-122"/>
                <a:ea typeface="黑体" pitchFamily="49" charset="-122"/>
              </a:rPr>
              <a:t>给出了判断两个函数依赖集等价的可行算法</a:t>
            </a:r>
            <a:endParaRPr lang="zh-CN" altLang="zh-CN" b="1" dirty="0">
              <a:latin typeface="黑体" pitchFamily="49" charset="-122"/>
              <a:ea typeface="黑体" pitchFamily="49" charset="-122"/>
            </a:endParaRPr>
          </a:p>
        </p:txBody>
      </p:sp>
      <p:sp>
        <p:nvSpPr>
          <p:cNvPr id="70659" name="Rectangle 3"/>
          <p:cNvSpPr>
            <a:spLocks noGrp="1"/>
          </p:cNvSpPr>
          <p:nvPr>
            <p:ph type="title"/>
          </p:nvPr>
        </p:nvSpPr>
        <p:spPr>
          <a:xfrm>
            <a:off x="1042988" y="68580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函数依赖</a:t>
            </a:r>
            <a:r>
              <a:rPr lang="en-US" altLang="zh-CN" sz="4000" b="1" dirty="0">
                <a:solidFill>
                  <a:srgbClr val="E40000"/>
                </a:solidFill>
                <a:latin typeface="Arial" panose="020B0604020202020204" pitchFamily="34" charset="0"/>
              </a:rPr>
              <a:t>集</a:t>
            </a:r>
            <a:r>
              <a:rPr lang="zh-CN" altLang="en-US" sz="4000" b="1" dirty="0">
                <a:solidFill>
                  <a:srgbClr val="E40000"/>
                </a:solidFill>
                <a:latin typeface="Arial" panose="020B0604020202020204" pitchFamily="34" charset="0"/>
              </a:rPr>
              <a:t>的等价覆盖</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2706" name="Rectangle 5"/>
          <p:cNvSpPr/>
          <p:nvPr/>
        </p:nvSpPr>
        <p:spPr>
          <a:xfrm>
            <a:off x="611188" y="1528763"/>
            <a:ext cx="8353425" cy="47085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10000"/>
              </a:lnSpc>
              <a:buClr>
                <a:srgbClr val="E40000"/>
              </a:buClr>
              <a:buFont typeface="Wingdings" panose="05000000000000000000" pitchFamily="2" charset="2"/>
              <a:buChar char="Ø"/>
            </a:pPr>
            <a:r>
              <a:rPr lang="zh-CN" altLang="en-US" sz="2400" b="1" dirty="0"/>
              <a:t> </a:t>
            </a:r>
            <a:r>
              <a:rPr lang="zh-CN" altLang="zh-CN" b="1" dirty="0">
                <a:latin typeface="黑体" pitchFamily="49" charset="-122"/>
                <a:ea typeface="黑体" pitchFamily="49" charset="-122"/>
              </a:rPr>
              <a:t>定义4</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9</a:t>
            </a:r>
            <a:r>
              <a:rPr lang="zh-CN" altLang="zh-CN" b="1" dirty="0">
                <a:latin typeface="黑体" pitchFamily="49" charset="-122"/>
                <a:ea typeface="黑体" pitchFamily="49" charset="-122"/>
              </a:rPr>
              <a:t>：若F满足下列条件，</a:t>
            </a:r>
            <a:endParaRPr lang="zh-CN" altLang="zh-CN" b="1" dirty="0">
              <a:latin typeface="黑体" pitchFamily="49" charset="-122"/>
              <a:ea typeface="黑体" pitchFamily="49" charset="-122"/>
            </a:endParaRPr>
          </a:p>
          <a:p>
            <a:pPr marL="0" lvl="0" indent="0" eaLnBrk="1" hangingPunct="1">
              <a:lnSpc>
                <a:spcPct val="110000"/>
              </a:lnSpc>
              <a:buClr>
                <a:srgbClr val="E40000"/>
              </a:buClr>
              <a:buFont typeface="Wingdings" panose="05000000000000000000" pitchFamily="2" charset="2"/>
              <a:buNone/>
            </a:pPr>
            <a:r>
              <a:rPr lang="zh-CN" altLang="en-US" b="1" dirty="0">
                <a:latin typeface="黑体" pitchFamily="49" charset="-122"/>
                <a:ea typeface="黑体" pitchFamily="49" charset="-122"/>
              </a:rPr>
              <a:t> </a:t>
            </a:r>
            <a:r>
              <a:rPr lang="zh-CN" altLang="zh-CN" b="1" dirty="0">
                <a:latin typeface="黑体" pitchFamily="49" charset="-122"/>
                <a:ea typeface="黑体" pitchFamily="49" charset="-122"/>
              </a:rPr>
              <a:t>(1)F中所有函数依赖的右部均为单属性；</a:t>
            </a:r>
            <a:endParaRPr lang="zh-CN" altLang="zh-CN" b="1" dirty="0">
              <a:latin typeface="黑体" pitchFamily="49" charset="-122"/>
              <a:ea typeface="黑体" pitchFamily="49" charset="-122"/>
            </a:endParaRPr>
          </a:p>
          <a:p>
            <a:pPr marL="0" lvl="0" indent="0" eaLnBrk="1" hangingPunct="1">
              <a:lnSpc>
                <a:spcPct val="110000"/>
              </a:lnSpc>
              <a:buClr>
                <a:srgbClr val="E40000"/>
              </a:buClr>
              <a:buFont typeface="Wingdings" panose="05000000000000000000" pitchFamily="2" charset="2"/>
              <a:buNone/>
            </a:pPr>
            <a:r>
              <a:rPr lang="zh-CN" altLang="en-US" b="1" dirty="0">
                <a:latin typeface="黑体" pitchFamily="49" charset="-122"/>
                <a:ea typeface="黑体" pitchFamily="49" charset="-122"/>
              </a:rPr>
              <a:t> </a:t>
            </a:r>
            <a:r>
              <a:rPr lang="zh-CN" altLang="zh-CN" b="1" dirty="0">
                <a:latin typeface="黑体" pitchFamily="49" charset="-122"/>
                <a:ea typeface="黑体" pitchFamily="49" charset="-122"/>
              </a:rPr>
              <a:t>(2)F中不存在这样的函数依赖X→A及Z</a:t>
            </a:r>
            <a:r>
              <a:rPr lang="zh-CN" altLang="en-US" b="1" dirty="0">
                <a:latin typeface="黑体" pitchFamily="49" charset="-122"/>
                <a:ea typeface="黑体" pitchFamily="49" charset="-122"/>
              </a:rPr>
              <a:t>⊂</a:t>
            </a:r>
            <a:r>
              <a:rPr lang="zh-CN" altLang="zh-CN" b="1" dirty="0">
                <a:latin typeface="黑体" pitchFamily="49" charset="-122"/>
                <a:ea typeface="黑体" pitchFamily="49" charset="-122"/>
              </a:rPr>
              <a:t>X，使得</a:t>
            </a:r>
            <a:r>
              <a:rPr lang="zh-CN" altLang="en-US" b="1" dirty="0">
                <a:latin typeface="黑体" pitchFamily="49" charset="-122"/>
                <a:ea typeface="黑体" pitchFamily="49" charset="-122"/>
              </a:rPr>
              <a:t> </a:t>
            </a:r>
            <a:endParaRPr lang="zh-CN" altLang="en-US" b="1" dirty="0">
              <a:latin typeface="黑体" pitchFamily="49" charset="-122"/>
              <a:ea typeface="黑体" pitchFamily="49" charset="-122"/>
            </a:endParaRPr>
          </a:p>
          <a:p>
            <a:pPr marL="0" lvl="0" indent="0" eaLnBrk="1" hangingPunct="1">
              <a:lnSpc>
                <a:spcPct val="110000"/>
              </a:lnSpc>
              <a:buClr>
                <a:srgbClr val="E40000"/>
              </a:buClr>
              <a:buFont typeface="Wingdings" panose="05000000000000000000" pitchFamily="2" charset="2"/>
              <a:buNone/>
            </a:pPr>
            <a:r>
              <a:rPr lang="zh-CN" altLang="en-US" b="1" dirty="0">
                <a:latin typeface="黑体" pitchFamily="49" charset="-122"/>
                <a:ea typeface="黑体" pitchFamily="49" charset="-122"/>
              </a:rPr>
              <a:t>       </a:t>
            </a:r>
            <a:r>
              <a:rPr lang="en-US" altLang="zh-CN" b="1" dirty="0"/>
              <a:t>F</a:t>
            </a:r>
            <a:r>
              <a:rPr lang="en-US" altLang="zh-CN" b="1" baseline="30000" dirty="0"/>
              <a:t>+</a:t>
            </a:r>
            <a:r>
              <a:rPr lang="zh-CN" altLang="en-US" b="1" dirty="0">
                <a:latin typeface="黑体" pitchFamily="49" charset="-122"/>
                <a:ea typeface="黑体" pitchFamily="49" charset="-122"/>
              </a:rPr>
              <a:t> </a:t>
            </a:r>
            <a:r>
              <a:rPr lang="zh-CN" altLang="zh-CN" b="1" dirty="0">
                <a:latin typeface="黑体" pitchFamily="49" charset="-122"/>
                <a:ea typeface="黑体" pitchFamily="49" charset="-122"/>
              </a:rPr>
              <a:t>＝(F－{X→A}∪{Z→A})</a:t>
            </a:r>
            <a:r>
              <a:rPr lang="en-US" altLang="zh-CN" b="1" baseline="30000" dirty="0"/>
              <a:t>+</a:t>
            </a:r>
            <a:r>
              <a:rPr lang="zh-CN" altLang="zh-CN" b="1" dirty="0">
                <a:latin typeface="黑体" pitchFamily="49" charset="-122"/>
                <a:ea typeface="黑体" pitchFamily="49" charset="-122"/>
              </a:rPr>
              <a:t> ；</a:t>
            </a:r>
            <a:endParaRPr lang="zh-CN" altLang="zh-CN" b="1" dirty="0">
              <a:latin typeface="黑体" pitchFamily="49" charset="-122"/>
              <a:ea typeface="黑体" pitchFamily="49" charset="-122"/>
            </a:endParaRPr>
          </a:p>
          <a:p>
            <a:pPr marL="0" lvl="0" indent="0" eaLnBrk="1" hangingPunct="1">
              <a:lnSpc>
                <a:spcPct val="110000"/>
              </a:lnSpc>
              <a:buClr>
                <a:srgbClr val="E40000"/>
              </a:buClr>
              <a:buFont typeface="Wingdings" panose="05000000000000000000" pitchFamily="2" charset="2"/>
              <a:buNone/>
            </a:pPr>
            <a:r>
              <a:rPr lang="zh-CN" altLang="en-US" b="1" dirty="0">
                <a:latin typeface="黑体" pitchFamily="49" charset="-122"/>
                <a:ea typeface="黑体" pitchFamily="49" charset="-122"/>
              </a:rPr>
              <a:t> </a:t>
            </a:r>
            <a:r>
              <a:rPr lang="zh-CN" altLang="zh-CN" b="1" dirty="0">
                <a:latin typeface="黑体" pitchFamily="49" charset="-122"/>
                <a:ea typeface="黑体" pitchFamily="49" charset="-122"/>
              </a:rPr>
              <a:t>(3)F中不存在这样的函数依赖X→A：使得</a:t>
            </a:r>
            <a:endParaRPr lang="zh-CN" altLang="en-US" b="1" dirty="0">
              <a:latin typeface="黑体" pitchFamily="49" charset="-122"/>
              <a:ea typeface="黑体" pitchFamily="49" charset="-122"/>
            </a:endParaRPr>
          </a:p>
          <a:p>
            <a:pPr marL="0" lvl="0" indent="0" eaLnBrk="1" hangingPunct="1">
              <a:lnSpc>
                <a:spcPct val="110000"/>
              </a:lnSpc>
              <a:buClr>
                <a:srgbClr val="E40000"/>
              </a:buClr>
              <a:buFont typeface="Wingdings" panose="05000000000000000000" pitchFamily="2" charset="2"/>
              <a:buNone/>
            </a:pPr>
            <a:r>
              <a:rPr lang="en-US" altLang="zh-CN" b="1" dirty="0">
                <a:latin typeface="黑体" pitchFamily="49" charset="-122"/>
                <a:ea typeface="黑体" pitchFamily="49" charset="-122"/>
              </a:rPr>
              <a:t>       </a:t>
            </a:r>
            <a:r>
              <a:rPr lang="en-US" altLang="zh-CN" b="1" dirty="0"/>
              <a:t>F</a:t>
            </a:r>
            <a:r>
              <a:rPr lang="en-US" altLang="zh-CN" b="1" baseline="30000" dirty="0"/>
              <a:t>+</a:t>
            </a:r>
            <a:r>
              <a:rPr lang="zh-CN" altLang="zh-CN" b="1" dirty="0">
                <a:latin typeface="黑体" pitchFamily="49" charset="-122"/>
                <a:ea typeface="黑体" pitchFamily="49" charset="-122"/>
              </a:rPr>
              <a:t> ＝(F－{X→A})</a:t>
            </a:r>
            <a:r>
              <a:rPr lang="en-US" altLang="zh-CN" b="1" baseline="30000" dirty="0"/>
              <a:t>+</a:t>
            </a:r>
            <a:r>
              <a:rPr lang="zh-CN" altLang="zh-CN" b="1" dirty="0">
                <a:latin typeface="黑体" pitchFamily="49" charset="-122"/>
                <a:ea typeface="黑体" pitchFamily="49" charset="-122"/>
              </a:rPr>
              <a:t> </a:t>
            </a:r>
            <a:endParaRPr lang="zh-CN" altLang="en-US" b="1" dirty="0">
              <a:latin typeface="黑体" pitchFamily="49" charset="-122"/>
              <a:ea typeface="黑体" pitchFamily="49" charset="-122"/>
            </a:endParaRPr>
          </a:p>
          <a:p>
            <a:pPr marL="0" lvl="0" indent="0" eaLnBrk="1" hangingPunct="1">
              <a:lnSpc>
                <a:spcPct val="110000"/>
              </a:lnSpc>
              <a:buClr>
                <a:srgbClr val="E40000"/>
              </a:buClr>
              <a:buFont typeface="Wingdings" panose="05000000000000000000" pitchFamily="2" charset="2"/>
              <a:buNone/>
            </a:pPr>
            <a:r>
              <a:rPr lang="zh-CN" altLang="en-US" b="1" dirty="0">
                <a:latin typeface="黑体" pitchFamily="49" charset="-122"/>
                <a:ea typeface="黑体" pitchFamily="49" charset="-122"/>
              </a:rPr>
              <a:t>  </a:t>
            </a:r>
            <a:r>
              <a:rPr lang="zh-CN" altLang="zh-CN" b="1" dirty="0">
                <a:latin typeface="黑体" pitchFamily="49" charset="-122"/>
                <a:ea typeface="黑体" pitchFamily="49" charset="-122"/>
              </a:rPr>
              <a:t>则称F为最小函数依赖集或最小覆盖</a:t>
            </a:r>
            <a:endParaRPr lang="zh-CN" altLang="zh-CN" b="1" dirty="0">
              <a:latin typeface="黑体" pitchFamily="49" charset="-122"/>
              <a:ea typeface="黑体" pitchFamily="49" charset="-122"/>
            </a:endParaRPr>
          </a:p>
        </p:txBody>
      </p:sp>
      <p:sp>
        <p:nvSpPr>
          <p:cNvPr id="72707" name="Rectangle 7"/>
          <p:cNvSpPr/>
          <p:nvPr/>
        </p:nvSpPr>
        <p:spPr>
          <a:xfrm>
            <a:off x="0" y="336708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72708" name="Rectangle 10"/>
          <p:cNvSpPr>
            <a:spLocks noGrp="1"/>
          </p:cNvSpPr>
          <p:nvPr>
            <p:ph type="title"/>
          </p:nvPr>
        </p:nvSpPr>
        <p:spPr>
          <a:xfrm>
            <a:off x="1042988" y="476250"/>
            <a:ext cx="7086600" cy="731838"/>
          </a:xfrm>
          <a:ln/>
        </p:spPr>
        <p:txBody>
          <a:bodyPr vert="horz" wrap="square" lIns="91440" tIns="45720" rIns="91440" bIns="45720" anchor="ctr" anchorCtr="0"/>
          <a:p>
            <a:pPr algn="ctr" eaLnBrk="1" hangingPunct="1"/>
            <a:r>
              <a:rPr lang="en-US" altLang="zh-CN" sz="4000" b="1" dirty="0">
                <a:solidFill>
                  <a:srgbClr val="E40000"/>
                </a:solidFill>
                <a:latin typeface="Arial" panose="020B0604020202020204" pitchFamily="34" charset="0"/>
              </a:rPr>
              <a:t>最小</a:t>
            </a:r>
            <a:r>
              <a:rPr lang="en-US" altLang="en-US" sz="4000" b="1" dirty="0">
                <a:solidFill>
                  <a:srgbClr val="E40000"/>
                </a:solidFill>
                <a:latin typeface="Arial" panose="020B0604020202020204" pitchFamily="34" charset="0"/>
              </a:rPr>
              <a:t>函数依赖</a:t>
            </a:r>
            <a:r>
              <a:rPr lang="en-US" altLang="zh-CN" sz="4000" b="1" dirty="0">
                <a:solidFill>
                  <a:srgbClr val="E40000"/>
                </a:solidFill>
                <a:latin typeface="Arial" panose="020B0604020202020204" pitchFamily="34" charset="0"/>
              </a:rPr>
              <a:t>集</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4754" name="Rectangle 2"/>
          <p:cNvSpPr>
            <a:spLocks noGrp="1"/>
          </p:cNvSpPr>
          <p:nvPr>
            <p:ph type="title"/>
          </p:nvPr>
        </p:nvSpPr>
        <p:spPr>
          <a:xfrm>
            <a:off x="1042988" y="476250"/>
            <a:ext cx="7086600" cy="731838"/>
          </a:xfrm>
          <a:ln/>
        </p:spPr>
        <p:txBody>
          <a:bodyPr vert="horz" wrap="square" lIns="91440" tIns="45720" rIns="91440" bIns="45720" anchor="ctr" anchorCtr="0"/>
          <a:p>
            <a:pPr algn="ctr" eaLnBrk="1" hangingPunct="1"/>
            <a:r>
              <a:rPr lang="en-US" altLang="zh-CN" sz="4000" b="1" dirty="0">
                <a:solidFill>
                  <a:srgbClr val="E40000"/>
                </a:solidFill>
                <a:latin typeface="Arial" panose="020B0604020202020204" pitchFamily="34" charset="0"/>
              </a:rPr>
              <a:t>最小</a:t>
            </a:r>
            <a:r>
              <a:rPr lang="en-US" altLang="en-US" sz="4000" b="1" dirty="0">
                <a:solidFill>
                  <a:srgbClr val="E40000"/>
                </a:solidFill>
                <a:latin typeface="Arial" panose="020B0604020202020204" pitchFamily="34" charset="0"/>
              </a:rPr>
              <a:t>函数依赖</a:t>
            </a:r>
            <a:r>
              <a:rPr lang="en-US" altLang="zh-CN" sz="4000" b="1" dirty="0">
                <a:solidFill>
                  <a:srgbClr val="E40000"/>
                </a:solidFill>
                <a:latin typeface="Arial" panose="020B0604020202020204" pitchFamily="34" charset="0"/>
              </a:rPr>
              <a:t>集</a:t>
            </a:r>
            <a:endParaRPr lang="zh-CN" altLang="en-US" sz="4000" b="1" dirty="0">
              <a:solidFill>
                <a:srgbClr val="E40000"/>
              </a:solidFill>
              <a:latin typeface="Arial" panose="020B0604020202020204" pitchFamily="34" charset="0"/>
            </a:endParaRPr>
          </a:p>
        </p:txBody>
      </p:sp>
      <p:sp>
        <p:nvSpPr>
          <p:cNvPr id="74755" name="Rectangle 3"/>
          <p:cNvSpPr>
            <a:spLocks noGrp="1"/>
          </p:cNvSpPr>
          <p:nvPr>
            <p:ph idx="1"/>
          </p:nvPr>
        </p:nvSpPr>
        <p:spPr>
          <a:xfrm>
            <a:off x="539750" y="1484313"/>
            <a:ext cx="8064500" cy="4897437"/>
          </a:xfrm>
          <a:ln/>
        </p:spPr>
        <p:txBody>
          <a:bodyPr vert="horz" wrap="square" lIns="91440" tIns="45720" rIns="91440" bIns="45720" anchor="t" anchorCtr="0"/>
          <a:p>
            <a:pPr marL="457200" indent="-457200" eaLnBrk="1" hangingPunct="1">
              <a:lnSpc>
                <a:spcPct val="80000"/>
              </a:lnSpc>
            </a:pPr>
            <a:r>
              <a:rPr lang="zh-CN" altLang="en-US" sz="2400" b="1" dirty="0">
                <a:latin typeface="黑体" pitchFamily="49" charset="-122"/>
                <a:ea typeface="黑体" pitchFamily="49" charset="-122"/>
              </a:rPr>
              <a:t>定理</a:t>
            </a:r>
            <a:r>
              <a:rPr lang="en-US" altLang="zh-CN" sz="2400" b="1" dirty="0">
                <a:latin typeface="黑体" pitchFamily="49" charset="-122"/>
                <a:ea typeface="黑体" pitchFamily="49" charset="-122"/>
              </a:rPr>
              <a:t>4.2</a:t>
            </a:r>
            <a:r>
              <a:rPr lang="zh-CN" altLang="en-US" sz="2400" b="1" dirty="0">
                <a:latin typeface="黑体" pitchFamily="49" charset="-122"/>
                <a:ea typeface="黑体" pitchFamily="49" charset="-122"/>
              </a:rPr>
              <a:t>：每一个函数依赖集</a:t>
            </a:r>
            <a:r>
              <a:rPr lang="en-US" altLang="zh-CN" sz="2400" b="1" dirty="0">
                <a:latin typeface="黑体" pitchFamily="49" charset="-122"/>
                <a:ea typeface="黑体" pitchFamily="49" charset="-122"/>
              </a:rPr>
              <a:t>F</a:t>
            </a:r>
            <a:r>
              <a:rPr lang="zh-CN" altLang="en-US" sz="2400" b="1" dirty="0">
                <a:latin typeface="黑体" pitchFamily="49" charset="-122"/>
                <a:ea typeface="黑体" pitchFamily="49" charset="-122"/>
              </a:rPr>
              <a:t>均等价于一个最小函数依赖集</a:t>
            </a:r>
            <a:r>
              <a:rPr lang="en-US" altLang="zh-CN" sz="2400" b="1" dirty="0">
                <a:latin typeface="黑体" pitchFamily="49" charset="-122"/>
                <a:ea typeface="黑体" pitchFamily="49" charset="-122"/>
              </a:rPr>
              <a:t>Fmin</a:t>
            </a:r>
            <a:r>
              <a:rPr lang="zh-CN" altLang="en-US" sz="2400" b="1" dirty="0">
                <a:latin typeface="黑体" pitchFamily="49" charset="-122"/>
                <a:ea typeface="黑体" pitchFamily="49" charset="-122"/>
              </a:rPr>
              <a:t> </a:t>
            </a:r>
            <a:endParaRPr lang="zh-CN" altLang="en-US" sz="2400" b="1" dirty="0">
              <a:latin typeface="黑体" pitchFamily="49" charset="-122"/>
              <a:ea typeface="黑体" pitchFamily="49" charset="-122"/>
            </a:endParaRPr>
          </a:p>
          <a:p>
            <a:pPr marL="457200" indent="-457200" eaLnBrk="1" hangingPunct="1">
              <a:lnSpc>
                <a:spcPct val="80000"/>
              </a:lnSpc>
            </a:pPr>
            <a:r>
              <a:rPr lang="zh-CN" altLang="en-US" sz="2000" b="1" dirty="0">
                <a:latin typeface="黑体" pitchFamily="49" charset="-122"/>
                <a:ea typeface="黑体" pitchFamily="49" charset="-122"/>
              </a:rPr>
              <a:t>证：这是一个构造性的证明，我们分三步对</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进行</a:t>
            </a:r>
            <a:r>
              <a:rPr lang="zh-CN" altLang="en-US" sz="2000" b="1" dirty="0">
                <a:ea typeface="黑体" pitchFamily="49" charset="-122"/>
              </a:rPr>
              <a:t>“</a:t>
            </a:r>
            <a:r>
              <a:rPr lang="zh-CN" altLang="en-US" sz="2000" b="1" dirty="0">
                <a:latin typeface="黑体" pitchFamily="49" charset="-122"/>
                <a:ea typeface="黑体" pitchFamily="49" charset="-122"/>
              </a:rPr>
              <a:t>极小化处理</a:t>
            </a:r>
            <a:r>
              <a:rPr lang="zh-CN" altLang="en-US" sz="2000" b="1" dirty="0">
                <a:ea typeface="黑体" pitchFamily="49" charset="-122"/>
              </a:rPr>
              <a:t>”</a:t>
            </a:r>
            <a:r>
              <a:rPr lang="zh-CN" altLang="en-US" sz="2000" b="1" dirty="0">
                <a:latin typeface="黑体" pitchFamily="49" charset="-122"/>
                <a:ea typeface="黑体" pitchFamily="49" charset="-122"/>
              </a:rPr>
              <a:t>，找出</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的一个最小依赖集来。 </a:t>
            </a:r>
            <a:endParaRPr lang="zh-CN" altLang="en-US" sz="2000" b="1" dirty="0">
              <a:latin typeface="黑体" pitchFamily="49" charset="-122"/>
              <a:ea typeface="黑体" pitchFamily="49" charset="-122"/>
            </a:endParaRPr>
          </a:p>
          <a:p>
            <a:pPr marL="838200" lvl="1" indent="-381000" eaLnBrk="1" hangingPunct="1">
              <a:lnSpc>
                <a:spcPct val="80000"/>
              </a:lnSpc>
              <a:buFontTx/>
              <a:buAutoNum type="arabicPeriod"/>
            </a:pPr>
            <a:r>
              <a:rPr lang="zh-CN" altLang="en-US" sz="2000" b="1" dirty="0">
                <a:latin typeface="黑体" pitchFamily="49" charset="-122"/>
                <a:ea typeface="黑体" pitchFamily="49" charset="-122"/>
              </a:rPr>
              <a:t>逐一检查</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中各函数依赖</a:t>
            </a:r>
            <a:r>
              <a:rPr lang="en-US" altLang="zh-CN" sz="2000" b="1" dirty="0">
                <a:latin typeface="黑体" pitchFamily="49" charset="-122"/>
                <a:ea typeface="黑体" pitchFamily="49" charset="-122"/>
              </a:rPr>
              <a:t>FDi: X→Y</a:t>
            </a:r>
            <a:r>
              <a:rPr lang="zh-CN" altLang="en-US" sz="2000" b="1" dirty="0">
                <a:latin typeface="黑体" pitchFamily="49" charset="-122"/>
                <a:ea typeface="黑体" pitchFamily="49" charset="-122"/>
              </a:rPr>
              <a:t>，若</a:t>
            </a:r>
            <a:r>
              <a:rPr lang="en-US" altLang="zh-CN" sz="2000" b="1" dirty="0">
                <a:latin typeface="黑体" pitchFamily="49" charset="-122"/>
                <a:ea typeface="黑体" pitchFamily="49" charset="-122"/>
              </a:rPr>
              <a:t>Y=A1A2 ...Ak ,k&gt;2</a:t>
            </a:r>
            <a:r>
              <a:rPr lang="zh-CN" altLang="en-US" sz="2000" b="1" dirty="0">
                <a:latin typeface="黑体" pitchFamily="49" charset="-122"/>
                <a:ea typeface="黑体" pitchFamily="49" charset="-122"/>
              </a:rPr>
              <a:t>，则用</a:t>
            </a:r>
            <a:r>
              <a:rPr lang="en-US" altLang="zh-CN" sz="2000" b="1" dirty="0">
                <a:latin typeface="黑体" pitchFamily="49" charset="-122"/>
                <a:ea typeface="黑体" pitchFamily="49" charset="-122"/>
              </a:rPr>
              <a:t>{X→Aj |j=1,2,</a:t>
            </a:r>
            <a:r>
              <a:rPr lang="en-US" altLang="zh-CN" sz="2000" b="1" dirty="0">
                <a:ea typeface="黑体" pitchFamily="49" charset="-122"/>
              </a:rPr>
              <a:t>…</a:t>
            </a:r>
            <a:r>
              <a:rPr lang="en-US" altLang="zh-CN" sz="2000" b="1" dirty="0">
                <a:latin typeface="黑体" pitchFamily="49" charset="-122"/>
                <a:ea typeface="黑体" pitchFamily="49" charset="-122"/>
              </a:rPr>
              <a:t>k}</a:t>
            </a:r>
            <a:r>
              <a:rPr lang="zh-CN" altLang="en-US" sz="2000" b="1" dirty="0">
                <a:latin typeface="黑体" pitchFamily="49" charset="-122"/>
                <a:ea typeface="黑体" pitchFamily="49" charset="-122"/>
              </a:rPr>
              <a:t>来取代</a:t>
            </a:r>
            <a:r>
              <a:rPr lang="en-US" altLang="zh-CN" sz="2000" b="1" dirty="0">
                <a:latin typeface="黑体" pitchFamily="49" charset="-122"/>
                <a:ea typeface="黑体" pitchFamily="49" charset="-122"/>
              </a:rPr>
              <a:t>X→Y</a:t>
            </a:r>
            <a:r>
              <a:rPr lang="zh-CN" altLang="en-US" sz="2000" b="1" dirty="0">
                <a:latin typeface="黑体" pitchFamily="49" charset="-122"/>
                <a:ea typeface="黑体" pitchFamily="49" charset="-122"/>
              </a:rPr>
              <a:t> </a:t>
            </a:r>
            <a:endParaRPr lang="zh-CN" altLang="en-US" sz="2000" b="1" dirty="0">
              <a:latin typeface="黑体" pitchFamily="49" charset="-122"/>
              <a:ea typeface="黑体" pitchFamily="49" charset="-122"/>
            </a:endParaRPr>
          </a:p>
          <a:p>
            <a:pPr marL="838200" lvl="1" indent="-381000" eaLnBrk="1" hangingPunct="1">
              <a:lnSpc>
                <a:spcPct val="80000"/>
              </a:lnSpc>
              <a:buFontTx/>
              <a:buAutoNum type="arabicPeriod"/>
            </a:pPr>
            <a:r>
              <a:rPr lang="zh-CN" altLang="en-US" sz="2000" b="1" dirty="0">
                <a:latin typeface="黑体" pitchFamily="49" charset="-122"/>
                <a:ea typeface="黑体" pitchFamily="49" charset="-122"/>
              </a:rPr>
              <a:t>逐一取出</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中各函数依赖</a:t>
            </a:r>
            <a:r>
              <a:rPr lang="en-US" altLang="zh-CN" sz="2000" b="1" dirty="0">
                <a:latin typeface="黑体" pitchFamily="49" charset="-122"/>
                <a:ea typeface="黑体" pitchFamily="49" charset="-122"/>
              </a:rPr>
              <a:t>FDi:X→A</a:t>
            </a:r>
            <a:r>
              <a:rPr lang="zh-CN" altLang="en-US" sz="2000" b="1" dirty="0">
                <a:latin typeface="黑体" pitchFamily="49" charset="-122"/>
                <a:ea typeface="黑体" pitchFamily="49" charset="-122"/>
              </a:rPr>
              <a:t>，设</a:t>
            </a:r>
            <a:r>
              <a:rPr lang="en-US" altLang="zh-CN" sz="2000" b="1" dirty="0">
                <a:latin typeface="黑体" pitchFamily="49" charset="-122"/>
                <a:ea typeface="黑体" pitchFamily="49" charset="-122"/>
              </a:rPr>
              <a:t>X=B1B2 ...Bm ,</a:t>
            </a:r>
            <a:r>
              <a:rPr lang="zh-CN" altLang="en-US" sz="2000" b="1" dirty="0">
                <a:latin typeface="黑体" pitchFamily="49" charset="-122"/>
                <a:ea typeface="黑体" pitchFamily="49" charset="-122"/>
              </a:rPr>
              <a:t>逐一考查</a:t>
            </a:r>
            <a:r>
              <a:rPr lang="en-US" altLang="zh-CN" sz="2000" b="1" dirty="0">
                <a:latin typeface="黑体" pitchFamily="49" charset="-122"/>
                <a:ea typeface="黑体" pitchFamily="49" charset="-122"/>
              </a:rPr>
              <a:t>Bi (i=l,2,...,m),</a:t>
            </a:r>
            <a:r>
              <a:rPr lang="zh-CN" altLang="en-US" sz="2000" b="1" dirty="0">
                <a:latin typeface="黑体" pitchFamily="49" charset="-122"/>
                <a:ea typeface="黑体" pitchFamily="49" charset="-122"/>
              </a:rPr>
              <a:t>若</a:t>
            </a:r>
            <a:r>
              <a:rPr lang="en-US" altLang="zh-CN" sz="2000" b="1" dirty="0">
                <a:latin typeface="黑体" pitchFamily="49" charset="-122"/>
                <a:ea typeface="黑体" pitchFamily="49" charset="-122"/>
              </a:rPr>
              <a:t>A∈(X-Bi)</a:t>
            </a:r>
            <a:r>
              <a:rPr lang="en-US" altLang="zh-CN" sz="2000" b="1" baseline="30000" dirty="0">
                <a:latin typeface="黑体" pitchFamily="49" charset="-122"/>
                <a:ea typeface="黑体" pitchFamily="49" charset="-122"/>
              </a:rPr>
              <a:t>+</a:t>
            </a:r>
            <a:r>
              <a:rPr lang="en-US" altLang="zh-CN" sz="2000" b="1" baseline="-25000" dirty="0">
                <a:solidFill>
                  <a:srgbClr val="FF0000"/>
                </a:solidFill>
                <a:latin typeface="黑体" pitchFamily="49" charset="-122"/>
                <a:ea typeface="黑体" pitchFamily="49" charset="-122"/>
              </a:rPr>
              <a:t>F</a:t>
            </a:r>
            <a:r>
              <a:rPr lang="en-US" altLang="zh-CN" sz="2000" b="1" dirty="0">
                <a:latin typeface="黑体" pitchFamily="49" charset="-122"/>
                <a:ea typeface="黑体" pitchFamily="49" charset="-122"/>
              </a:rPr>
              <a:t> ,</a:t>
            </a:r>
            <a:r>
              <a:rPr lang="zh-CN" altLang="en-US" sz="2000" b="1" dirty="0">
                <a:latin typeface="黑体" pitchFamily="49" charset="-122"/>
                <a:ea typeface="黑体" pitchFamily="49" charset="-122"/>
              </a:rPr>
              <a:t>则以</a:t>
            </a:r>
            <a:r>
              <a:rPr lang="en-US" altLang="zh-CN" sz="2000" b="1" dirty="0">
                <a:latin typeface="黑体" pitchFamily="49" charset="-122"/>
                <a:ea typeface="黑体" pitchFamily="49" charset="-122"/>
              </a:rPr>
              <a:t>X-Bi </a:t>
            </a:r>
            <a:r>
              <a:rPr lang="zh-CN" altLang="en-US" sz="2000" b="1" dirty="0">
                <a:latin typeface="黑体" pitchFamily="49" charset="-122"/>
                <a:ea typeface="黑体" pitchFamily="49" charset="-122"/>
              </a:rPr>
              <a:t>取代</a:t>
            </a:r>
            <a:r>
              <a:rPr lang="en-US" altLang="zh-CN" sz="2000" b="1" dirty="0">
                <a:latin typeface="黑体" pitchFamily="49" charset="-122"/>
                <a:ea typeface="黑体" pitchFamily="49" charset="-122"/>
              </a:rPr>
              <a:t>X</a:t>
            </a:r>
            <a:endParaRPr lang="en-US" altLang="zh-CN" sz="2000" b="1" dirty="0">
              <a:latin typeface="黑体" pitchFamily="49" charset="-122"/>
              <a:ea typeface="黑体" pitchFamily="49" charset="-122"/>
            </a:endParaRPr>
          </a:p>
          <a:p>
            <a:pPr marL="838200" lvl="1" indent="-381000" eaLnBrk="1" hangingPunct="1">
              <a:lnSpc>
                <a:spcPct val="80000"/>
              </a:lnSpc>
              <a:buFontTx/>
              <a:buAutoNum type="arabicPeriod"/>
            </a:pPr>
            <a:r>
              <a:rPr lang="zh-CN" altLang="en-US" sz="2000" b="1" dirty="0">
                <a:latin typeface="黑体" pitchFamily="49" charset="-122"/>
                <a:ea typeface="黑体" pitchFamily="49" charset="-122"/>
              </a:rPr>
              <a:t>逐一检查</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中各函数依赖</a:t>
            </a:r>
            <a:r>
              <a:rPr lang="en-US" altLang="zh-CN" sz="2000" b="1" dirty="0">
                <a:latin typeface="黑体" pitchFamily="49" charset="-122"/>
                <a:ea typeface="黑体" pitchFamily="49" charset="-122"/>
              </a:rPr>
              <a:t>FDi:X→A</a:t>
            </a:r>
            <a:r>
              <a:rPr lang="zh-CN" altLang="en-US" sz="2000" b="1" dirty="0">
                <a:latin typeface="黑体" pitchFamily="49" charset="-122"/>
                <a:ea typeface="黑体" pitchFamily="49" charset="-122"/>
              </a:rPr>
              <a:t>，令</a:t>
            </a:r>
            <a:r>
              <a:rPr lang="en-US" altLang="zh-CN" sz="2000" b="1" dirty="0">
                <a:latin typeface="黑体" pitchFamily="49" charset="-122"/>
                <a:ea typeface="黑体" pitchFamily="49" charset="-122"/>
              </a:rPr>
              <a:t>G=F-{X→A},</a:t>
            </a:r>
            <a:r>
              <a:rPr lang="zh-CN" altLang="en-US" sz="2000" b="1" dirty="0">
                <a:latin typeface="黑体" pitchFamily="49" charset="-122"/>
                <a:ea typeface="黑体" pitchFamily="49" charset="-122"/>
              </a:rPr>
              <a:t>若</a:t>
            </a:r>
            <a:r>
              <a:rPr lang="en-US" altLang="zh-CN" sz="2000" b="1" dirty="0">
                <a:latin typeface="黑体" pitchFamily="49" charset="-122"/>
                <a:ea typeface="黑体" pitchFamily="49" charset="-122"/>
              </a:rPr>
              <a:t>A∈X</a:t>
            </a:r>
            <a:r>
              <a:rPr lang="en-US" altLang="zh-CN" sz="2000" b="1" baseline="30000" dirty="0">
                <a:latin typeface="黑体" pitchFamily="49" charset="-122"/>
                <a:ea typeface="黑体" pitchFamily="49" charset="-122"/>
              </a:rPr>
              <a:t>+</a:t>
            </a:r>
            <a:r>
              <a:rPr lang="en-US" altLang="zh-CN" sz="2000" b="1" baseline="-25000" dirty="0">
                <a:solidFill>
                  <a:srgbClr val="FF0000"/>
                </a:solidFill>
                <a:latin typeface="黑体" pitchFamily="49" charset="-122"/>
                <a:ea typeface="黑体" pitchFamily="49" charset="-122"/>
              </a:rPr>
              <a:t>G</a:t>
            </a:r>
            <a:r>
              <a:rPr lang="en-US" altLang="zh-CN" sz="2000" b="1" dirty="0">
                <a:latin typeface="黑体" pitchFamily="49" charset="-122"/>
                <a:ea typeface="黑体" pitchFamily="49" charset="-122"/>
              </a:rPr>
              <a:t>, </a:t>
            </a:r>
            <a:r>
              <a:rPr lang="zh-CN" altLang="en-US" sz="2000" b="1" dirty="0">
                <a:latin typeface="黑体" pitchFamily="49" charset="-122"/>
                <a:ea typeface="黑体" pitchFamily="49" charset="-122"/>
              </a:rPr>
              <a:t>则从</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中去掉此函数依赖</a:t>
            </a:r>
            <a:endParaRPr lang="zh-CN" altLang="en-US" sz="2000" b="1" dirty="0">
              <a:latin typeface="黑体" pitchFamily="49" charset="-122"/>
              <a:ea typeface="黑体" pitchFamily="49" charset="-122"/>
            </a:endParaRPr>
          </a:p>
          <a:p>
            <a:pPr marL="838200" lvl="1" indent="-381000" eaLnBrk="1" hangingPunct="1">
              <a:lnSpc>
                <a:spcPct val="80000"/>
              </a:lnSpc>
              <a:buNone/>
            </a:pPr>
            <a:r>
              <a:rPr lang="zh-CN" altLang="en-US" sz="2000" b="1" dirty="0">
                <a:latin typeface="黑体" pitchFamily="49" charset="-122"/>
                <a:ea typeface="黑体" pitchFamily="49" charset="-122"/>
              </a:rPr>
              <a:t>  注：因为</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与</a:t>
            </a:r>
            <a:r>
              <a:rPr lang="en-US" altLang="zh-CN" sz="2000" b="1" dirty="0">
                <a:latin typeface="黑体" pitchFamily="49" charset="-122"/>
                <a:ea typeface="黑体" pitchFamily="49" charset="-122"/>
              </a:rPr>
              <a:t>G</a:t>
            </a:r>
            <a:r>
              <a:rPr lang="zh-CN" altLang="en-US" sz="2000" b="1" dirty="0">
                <a:latin typeface="黑体" pitchFamily="49" charset="-122"/>
                <a:ea typeface="黑体" pitchFamily="49" charset="-122"/>
              </a:rPr>
              <a:t>等价的充要条件是</a:t>
            </a:r>
            <a:r>
              <a:rPr lang="en-US" altLang="zh-CN" sz="2000" b="1" dirty="0">
                <a:latin typeface="黑体" pitchFamily="49" charset="-122"/>
                <a:ea typeface="黑体" pitchFamily="49" charset="-122"/>
              </a:rPr>
              <a:t>A∈X</a:t>
            </a:r>
            <a:r>
              <a:rPr lang="en-US" altLang="zh-CN" sz="2000" b="1" baseline="30000" dirty="0">
                <a:latin typeface="黑体" pitchFamily="49" charset="-122"/>
                <a:ea typeface="黑体" pitchFamily="49" charset="-122"/>
              </a:rPr>
              <a:t>+</a:t>
            </a:r>
            <a:r>
              <a:rPr lang="en-US" altLang="zh-CN" sz="2000" b="1" baseline="-25000" dirty="0">
                <a:latin typeface="黑体" pitchFamily="49" charset="-122"/>
                <a:ea typeface="黑体" pitchFamily="49" charset="-122"/>
              </a:rPr>
              <a:t>G</a:t>
            </a:r>
            <a:endParaRPr lang="zh-CN" altLang="en-US" sz="2000" b="1" dirty="0">
              <a:latin typeface="黑体" pitchFamily="49" charset="-122"/>
              <a:ea typeface="黑体" pitchFamily="49" charset="-122"/>
            </a:endParaRPr>
          </a:p>
          <a:p>
            <a:pPr marL="838200" lvl="1" indent="-381000" eaLnBrk="1" hangingPunct="1">
              <a:lnSpc>
                <a:spcPct val="80000"/>
              </a:lnSpc>
              <a:buNone/>
            </a:pPr>
            <a:r>
              <a:rPr lang="zh-CN" altLang="en-US" sz="2000" b="1" dirty="0">
                <a:latin typeface="黑体" pitchFamily="49" charset="-122"/>
                <a:ea typeface="黑体" pitchFamily="49" charset="-122"/>
              </a:rPr>
              <a:t>  因为</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与</a:t>
            </a:r>
            <a:r>
              <a:rPr lang="en-US" altLang="zh-CN" sz="2000" b="1" dirty="0">
                <a:latin typeface="黑体" pitchFamily="49" charset="-122"/>
                <a:ea typeface="黑体" pitchFamily="49" charset="-122"/>
              </a:rPr>
              <a:t>F-{X→A}∪{Z→A}</a:t>
            </a:r>
            <a:r>
              <a:rPr lang="zh-CN" altLang="en-US" sz="2000" b="1" dirty="0">
                <a:latin typeface="黑体" pitchFamily="49" charset="-122"/>
                <a:ea typeface="黑体" pitchFamily="49" charset="-122"/>
              </a:rPr>
              <a:t>等价的充要条件是</a:t>
            </a:r>
            <a:r>
              <a:rPr lang="en-US" altLang="zh-CN" sz="2000" b="1" dirty="0">
                <a:latin typeface="黑体" pitchFamily="49" charset="-122"/>
                <a:ea typeface="黑体" pitchFamily="49" charset="-122"/>
              </a:rPr>
              <a:t>A∈Z</a:t>
            </a:r>
            <a:r>
              <a:rPr lang="en-US" altLang="zh-CN" sz="1800" b="1" baseline="30000" dirty="0"/>
              <a:t>+</a:t>
            </a:r>
            <a:r>
              <a:rPr lang="en-US" altLang="zh-CN" sz="2000" b="1" dirty="0">
                <a:latin typeface="黑体" pitchFamily="49" charset="-122"/>
                <a:ea typeface="黑体" pitchFamily="49" charset="-122"/>
              </a:rPr>
              <a:t> </a:t>
            </a:r>
            <a:r>
              <a:rPr lang="zh-CN" altLang="en-US" sz="2000" b="1" dirty="0">
                <a:latin typeface="黑体" pitchFamily="49" charset="-122"/>
                <a:ea typeface="黑体" pitchFamily="49" charset="-122"/>
              </a:rPr>
              <a:t>其中</a:t>
            </a:r>
            <a:r>
              <a:rPr lang="en-US" altLang="zh-CN" sz="2000" b="1" dirty="0">
                <a:latin typeface="黑体" pitchFamily="49" charset="-122"/>
                <a:ea typeface="黑体" pitchFamily="49" charset="-122"/>
              </a:rPr>
              <a:t>Z=X-Bi</a:t>
            </a:r>
            <a:endParaRPr lang="en-US" altLang="zh-CN" sz="2000" b="1" dirty="0">
              <a:latin typeface="黑体" pitchFamily="49" charset="-122"/>
              <a:ea typeface="黑体" pitchFamily="49" charset="-122"/>
            </a:endParaRPr>
          </a:p>
          <a:p>
            <a:pPr marL="457200" indent="-457200" eaLnBrk="1" hangingPunct="1">
              <a:lnSpc>
                <a:spcPct val="80000"/>
              </a:lnSpc>
            </a:pPr>
            <a:r>
              <a:rPr lang="zh-CN" altLang="en-US" sz="2000" b="1" dirty="0">
                <a:latin typeface="黑体" pitchFamily="49" charset="-122"/>
                <a:ea typeface="黑体" pitchFamily="49" charset="-122"/>
              </a:rPr>
              <a:t>最后剩下的</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就一定是极小依赖集</a:t>
            </a:r>
            <a:r>
              <a:rPr lang="en-US" altLang="zh-CN" sz="2000" b="1" dirty="0">
                <a:latin typeface="黑体" pitchFamily="49" charset="-122"/>
                <a:ea typeface="黑体" pitchFamily="49" charset="-122"/>
              </a:rPr>
              <a:t>,</a:t>
            </a:r>
            <a:r>
              <a:rPr lang="zh-CN" altLang="en-US" sz="2000" b="1" dirty="0">
                <a:latin typeface="黑体" pitchFamily="49" charset="-122"/>
                <a:ea typeface="黑体" pitchFamily="49" charset="-122"/>
              </a:rPr>
              <a:t>并且与原来的</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等价，因为，我们对</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的每一次</a:t>
            </a:r>
            <a:r>
              <a:rPr lang="zh-CN" altLang="en-US" sz="2000" b="1" dirty="0">
                <a:ea typeface="黑体" pitchFamily="49" charset="-122"/>
              </a:rPr>
              <a:t>‘</a:t>
            </a:r>
            <a:r>
              <a:rPr lang="zh-CN" altLang="en-US" sz="2000" b="1" dirty="0">
                <a:latin typeface="黑体" pitchFamily="49" charset="-122"/>
                <a:ea typeface="黑体" pitchFamily="49" charset="-122"/>
              </a:rPr>
              <a:t>改造</a:t>
            </a:r>
            <a:r>
              <a:rPr lang="zh-CN" altLang="en-US" sz="2000" b="1" dirty="0">
                <a:ea typeface="黑体" pitchFamily="49" charset="-122"/>
              </a:rPr>
              <a:t>’</a:t>
            </a:r>
            <a:r>
              <a:rPr lang="zh-CN" altLang="en-US" sz="2000" b="1" dirty="0">
                <a:latin typeface="黑体" pitchFamily="49" charset="-122"/>
                <a:ea typeface="黑体" pitchFamily="49" charset="-122"/>
              </a:rPr>
              <a:t>都保证了改造前后的两个函数依赖集等价</a:t>
            </a:r>
            <a:endParaRPr lang="zh-CN" altLang="en-US" sz="2000" b="1" dirty="0">
              <a:latin typeface="黑体" pitchFamily="49" charset="-122"/>
              <a:ea typeface="黑体" pitchFamily="49" charset="-122"/>
            </a:endParaRPr>
          </a:p>
          <a:p>
            <a:pPr marL="457200" indent="-457200" eaLnBrk="1" hangingPunct="1">
              <a:lnSpc>
                <a:spcPct val="80000"/>
              </a:lnSpc>
            </a:pPr>
            <a:r>
              <a:rPr lang="zh-CN" altLang="en-US" sz="2000" b="1" dirty="0">
                <a:latin typeface="黑体" pitchFamily="49" charset="-122"/>
                <a:ea typeface="黑体" pitchFamily="49" charset="-122"/>
              </a:rPr>
              <a:t>应当指出，</a:t>
            </a:r>
            <a:r>
              <a:rPr lang="en-US" altLang="zh-CN" sz="2000" b="1" dirty="0">
                <a:latin typeface="黑体" pitchFamily="49" charset="-122"/>
                <a:ea typeface="黑体" pitchFamily="49" charset="-122"/>
              </a:rPr>
              <a:t>F</a:t>
            </a:r>
            <a:r>
              <a:rPr lang="zh-CN" altLang="en-US" sz="2000" b="1" dirty="0">
                <a:latin typeface="黑体" pitchFamily="49" charset="-122"/>
                <a:ea typeface="黑体" pitchFamily="49" charset="-122"/>
              </a:rPr>
              <a:t>的最小依赖集</a:t>
            </a:r>
            <a:r>
              <a:rPr lang="en-US" altLang="zh-CN" sz="2000" b="1" dirty="0">
                <a:latin typeface="黑体" pitchFamily="49" charset="-122"/>
                <a:ea typeface="黑体" pitchFamily="49" charset="-122"/>
              </a:rPr>
              <a:t>Fmin</a:t>
            </a:r>
            <a:r>
              <a:rPr lang="zh-CN" altLang="en-US" sz="2000" b="1" dirty="0">
                <a:latin typeface="黑体" pitchFamily="49" charset="-122"/>
                <a:ea typeface="黑体" pitchFamily="49" charset="-122"/>
              </a:rPr>
              <a:t>不一定是唯一的，它和我们对各函数依赖</a:t>
            </a:r>
            <a:r>
              <a:rPr lang="en-US" altLang="zh-CN" sz="2000" b="1" dirty="0">
                <a:latin typeface="黑体" pitchFamily="49" charset="-122"/>
                <a:ea typeface="黑体" pitchFamily="49" charset="-122"/>
              </a:rPr>
              <a:t>FDi </a:t>
            </a:r>
            <a:r>
              <a:rPr lang="zh-CN" altLang="en-US" sz="2000" b="1" dirty="0">
                <a:latin typeface="黑体" pitchFamily="49" charset="-122"/>
                <a:ea typeface="黑体" pitchFamily="49" charset="-122"/>
              </a:rPr>
              <a:t>及</a:t>
            </a:r>
            <a:r>
              <a:rPr lang="en-US" altLang="zh-CN" sz="2000" b="1" dirty="0">
                <a:latin typeface="黑体" pitchFamily="49" charset="-122"/>
                <a:ea typeface="黑体" pitchFamily="49" charset="-122"/>
              </a:rPr>
              <a:t>X→A</a:t>
            </a:r>
            <a:r>
              <a:rPr lang="zh-CN" altLang="en-US" sz="2000" b="1" dirty="0">
                <a:latin typeface="黑体" pitchFamily="49" charset="-122"/>
                <a:ea typeface="黑体" pitchFamily="49" charset="-122"/>
              </a:rPr>
              <a:t>中</a:t>
            </a:r>
            <a:r>
              <a:rPr lang="en-US" altLang="zh-CN" sz="2000" b="1" dirty="0">
                <a:latin typeface="黑体" pitchFamily="49" charset="-122"/>
                <a:ea typeface="黑体" pitchFamily="49" charset="-122"/>
              </a:rPr>
              <a:t>X</a:t>
            </a:r>
            <a:r>
              <a:rPr lang="zh-CN" altLang="en-US" sz="2000" b="1" dirty="0">
                <a:latin typeface="黑体" pitchFamily="49" charset="-122"/>
                <a:ea typeface="黑体" pitchFamily="49" charset="-122"/>
              </a:rPr>
              <a:t>各属性的处置顺序有关</a:t>
            </a:r>
            <a:endParaRPr lang="zh-CN" altLang="en-US" sz="2000" b="1" dirty="0">
              <a:latin typeface="黑体" pitchFamily="49" charset="-122"/>
              <a:ea typeface="黑体"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6802" name="Rectangle 3"/>
          <p:cNvSpPr>
            <a:spLocks noGrp="1"/>
          </p:cNvSpPr>
          <p:nvPr>
            <p:ph idx="1"/>
          </p:nvPr>
        </p:nvSpPr>
        <p:spPr>
          <a:xfrm>
            <a:off x="755650" y="1412875"/>
            <a:ext cx="7920038" cy="4997450"/>
          </a:xfrm>
          <a:ln/>
        </p:spPr>
        <p:txBody>
          <a:bodyPr vert="horz" wrap="square" lIns="91440" tIns="45720" rIns="91440" bIns="45720" anchor="t" anchorCtr="0"/>
          <a:p>
            <a:pPr eaLnBrk="1" hangingPunct="1">
              <a:lnSpc>
                <a:spcPct val="80000"/>
              </a:lnSpc>
              <a:buNone/>
            </a:pPr>
            <a:r>
              <a:rPr lang="zh-CN" altLang="en-US" sz="2400" b="1" dirty="0">
                <a:latin typeface="黑体" pitchFamily="49" charset="-122"/>
                <a:ea typeface="黑体" pitchFamily="49" charset="-122"/>
              </a:rPr>
              <a:t>例</a:t>
            </a:r>
            <a:r>
              <a:rPr lang="en-US" altLang="zh-CN" sz="2400" b="1" dirty="0">
                <a:latin typeface="黑体" pitchFamily="49" charset="-122"/>
                <a:ea typeface="黑体" pitchFamily="49" charset="-122"/>
              </a:rPr>
              <a:t>4.4: R(A,B,C,D,E,H,I)</a:t>
            </a:r>
            <a:r>
              <a:rPr lang="zh-CN" altLang="en-US" sz="2400" b="1" dirty="0">
                <a:latin typeface="黑体" pitchFamily="49" charset="-122"/>
                <a:ea typeface="黑体" pitchFamily="49" charset="-122"/>
              </a:rPr>
              <a:t>，</a:t>
            </a:r>
            <a:endParaRPr lang="zh-CN" altLang="en-US" sz="2400" b="1" dirty="0">
              <a:latin typeface="黑体" pitchFamily="49" charset="-122"/>
              <a:ea typeface="黑体" pitchFamily="49" charset="-122"/>
            </a:endParaRPr>
          </a:p>
          <a:p>
            <a:pPr eaLnBrk="1" hangingPunct="1">
              <a:lnSpc>
                <a:spcPct val="80000"/>
              </a:lnSpc>
              <a:buNone/>
            </a:pPr>
            <a:r>
              <a:rPr lang="en-US" altLang="zh-CN" sz="2400" b="1" dirty="0">
                <a:latin typeface="黑体" pitchFamily="49" charset="-122"/>
                <a:ea typeface="黑体" pitchFamily="49" charset="-122"/>
              </a:rPr>
              <a:t>F = {A→BE, AH→D, B→C, BD→E, C→D, H→I,I→H, </a:t>
            </a:r>
            <a:endParaRPr lang="en-US" altLang="zh-CN" sz="2400" b="1" dirty="0">
              <a:latin typeface="黑体" pitchFamily="49" charset="-122"/>
              <a:ea typeface="黑体" pitchFamily="49" charset="-122"/>
            </a:endParaRPr>
          </a:p>
          <a:p>
            <a:pPr eaLnBrk="1" hangingPunct="1">
              <a:lnSpc>
                <a:spcPct val="80000"/>
              </a:lnSpc>
              <a:buNone/>
            </a:pPr>
            <a:r>
              <a:rPr lang="en-US" altLang="zh-CN" sz="2400" b="1" dirty="0">
                <a:latin typeface="黑体" pitchFamily="49" charset="-122"/>
                <a:ea typeface="黑体" pitchFamily="49" charset="-122"/>
              </a:rPr>
              <a:t>     H→BE}</a:t>
            </a:r>
            <a:endParaRPr lang="zh-CN" altLang="en-US" sz="2400" b="1" dirty="0">
              <a:latin typeface="黑体" pitchFamily="49" charset="-122"/>
              <a:ea typeface="黑体" pitchFamily="49" charset="-122"/>
            </a:endParaRPr>
          </a:p>
          <a:p>
            <a:pPr eaLnBrk="1" hangingPunct="1">
              <a:lnSpc>
                <a:spcPct val="80000"/>
              </a:lnSpc>
              <a:buNone/>
            </a:pPr>
            <a:r>
              <a:rPr lang="zh-CN" altLang="en-US" sz="2400" b="1" dirty="0">
                <a:latin typeface="黑体" pitchFamily="49" charset="-122"/>
                <a:ea typeface="黑体" pitchFamily="49" charset="-122"/>
              </a:rPr>
              <a:t>试求</a:t>
            </a:r>
            <a:r>
              <a:rPr lang="en-US" altLang="zh-CN" sz="2400" b="1" dirty="0">
                <a:latin typeface="黑体" pitchFamily="49" charset="-122"/>
                <a:ea typeface="黑体" pitchFamily="49" charset="-122"/>
              </a:rPr>
              <a:t>F</a:t>
            </a:r>
            <a:r>
              <a:rPr lang="zh-CN" altLang="en-US" sz="2400" b="1" dirty="0">
                <a:latin typeface="黑体" pitchFamily="49" charset="-122"/>
                <a:ea typeface="黑体" pitchFamily="49" charset="-122"/>
              </a:rPr>
              <a:t>的最小依赖集</a:t>
            </a:r>
            <a:r>
              <a:rPr lang="en-US" altLang="zh-CN" sz="2400" b="1" dirty="0">
                <a:latin typeface="黑体" pitchFamily="49" charset="-122"/>
                <a:ea typeface="黑体" pitchFamily="49" charset="-122"/>
              </a:rPr>
              <a:t>Fmin</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eaLnBrk="1" hangingPunct="1">
              <a:lnSpc>
                <a:spcPct val="80000"/>
              </a:lnSpc>
              <a:buNone/>
            </a:pPr>
            <a:r>
              <a:rPr lang="zh-CN" altLang="en-US" sz="2400" b="1" dirty="0">
                <a:latin typeface="黑体" pitchFamily="49" charset="-122"/>
                <a:ea typeface="黑体" pitchFamily="49" charset="-122"/>
              </a:rPr>
              <a:t>解：</a:t>
            </a:r>
            <a:r>
              <a:rPr lang="en-US" altLang="zh-CN" sz="2400" b="1" dirty="0">
                <a:latin typeface="黑体" pitchFamily="49" charset="-122"/>
                <a:ea typeface="黑体" pitchFamily="49" charset="-122"/>
              </a:rPr>
              <a:t>⑴</a:t>
            </a:r>
            <a:r>
              <a:rPr lang="zh-CN" altLang="en-US" sz="2400" b="1" dirty="0">
                <a:latin typeface="黑体" pitchFamily="49" charset="-122"/>
                <a:ea typeface="黑体" pitchFamily="49" charset="-122"/>
              </a:rPr>
              <a:t>右部拆成单属性</a:t>
            </a:r>
            <a:endParaRPr lang="zh-CN" altLang="en-US" sz="2400" b="1" dirty="0">
              <a:latin typeface="黑体" pitchFamily="49" charset="-122"/>
              <a:ea typeface="黑体" pitchFamily="49" charset="-122"/>
            </a:endParaRPr>
          </a:p>
          <a:p>
            <a:pPr eaLnBrk="1" hangingPunct="1">
              <a:lnSpc>
                <a:spcPct val="80000"/>
              </a:lnSpc>
              <a:buNone/>
            </a:pPr>
            <a:r>
              <a:rPr lang="en-US" altLang="zh-CN" sz="2400" b="1" dirty="0">
                <a:latin typeface="黑体" pitchFamily="49" charset="-122"/>
                <a:ea typeface="黑体" pitchFamily="49" charset="-122"/>
              </a:rPr>
              <a:t>F={A→B, A→E ,AH→D, B→C, BD→E, C→D, H→I,I→H, H→B, H→E}</a:t>
            </a:r>
            <a:endParaRPr lang="en-US" altLang="zh-CN" sz="2400" b="1" dirty="0">
              <a:latin typeface="黑体" pitchFamily="49" charset="-122"/>
              <a:ea typeface="黑体" pitchFamily="49" charset="-122"/>
            </a:endParaRPr>
          </a:p>
          <a:p>
            <a:pPr eaLnBrk="1" hangingPunct="1">
              <a:lnSpc>
                <a:spcPct val="80000"/>
              </a:lnSpc>
              <a:buNone/>
            </a:pPr>
            <a:r>
              <a:rPr lang="en-US" altLang="zh-CN" sz="2400" b="1" dirty="0">
                <a:latin typeface="黑体" pitchFamily="49" charset="-122"/>
                <a:ea typeface="黑体" pitchFamily="49" charset="-122"/>
              </a:rPr>
              <a:t>⑵</a:t>
            </a:r>
            <a:r>
              <a:rPr lang="zh-CN" altLang="en-US" sz="2400" b="1" dirty="0">
                <a:latin typeface="黑体" pitchFamily="49" charset="-122"/>
                <a:ea typeface="黑体" pitchFamily="49" charset="-122"/>
              </a:rPr>
              <a:t>考察左部不是单属性的函数依赖，消除多余属性</a:t>
            </a:r>
            <a:endParaRPr lang="zh-CN" altLang="en-US" sz="2400" b="1" dirty="0">
              <a:latin typeface="黑体" pitchFamily="49" charset="-122"/>
              <a:ea typeface="黑体" pitchFamily="49" charset="-122"/>
            </a:endParaRPr>
          </a:p>
          <a:p>
            <a:pPr eaLnBrk="1" hangingPunct="1">
              <a:lnSpc>
                <a:spcPct val="80000"/>
              </a:lnSpc>
              <a:buNone/>
            </a:pPr>
            <a:r>
              <a:rPr lang="en-US" altLang="zh-CN" sz="2400" b="1" dirty="0">
                <a:latin typeface="黑体" pitchFamily="49" charset="-122"/>
                <a:ea typeface="黑体" pitchFamily="49" charset="-122"/>
              </a:rPr>
              <a:t>AH→D ∵((AH)-H)</a:t>
            </a:r>
            <a:r>
              <a:rPr lang="en-US" altLang="zh-CN" sz="2400" b="1" baseline="-25000" dirty="0">
                <a:latin typeface="黑体" pitchFamily="49" charset="-122"/>
                <a:ea typeface="黑体" pitchFamily="49" charset="-122"/>
              </a:rPr>
              <a:t>F</a:t>
            </a:r>
            <a:r>
              <a:rPr lang="en-US" altLang="zh-CN" sz="2400" b="1" baseline="30000" dirty="0">
                <a:latin typeface="黑体" pitchFamily="49" charset="-122"/>
                <a:ea typeface="黑体" pitchFamily="49" charset="-122"/>
              </a:rPr>
              <a:t>+</a:t>
            </a:r>
            <a:r>
              <a:rPr lang="zh-CN" altLang="en-US" sz="2400" b="1" dirty="0">
                <a:latin typeface="黑体" pitchFamily="49" charset="-122"/>
                <a:ea typeface="黑体" pitchFamily="49" charset="-122"/>
              </a:rPr>
              <a:t>＝</a:t>
            </a:r>
            <a:r>
              <a:rPr lang="en-US" altLang="zh-CN" sz="2400" b="1" dirty="0">
                <a:latin typeface="黑体" pitchFamily="49" charset="-122"/>
                <a:ea typeface="黑体" pitchFamily="49" charset="-122"/>
              </a:rPr>
              <a:t>ABECD,D∈((AH)-H)</a:t>
            </a:r>
            <a:r>
              <a:rPr lang="en-US" altLang="zh-CN" sz="2400" b="1" baseline="-25000" dirty="0">
                <a:latin typeface="黑体" pitchFamily="49" charset="-122"/>
                <a:ea typeface="黑体" pitchFamily="49" charset="-122"/>
              </a:rPr>
              <a:t>F</a:t>
            </a:r>
            <a:r>
              <a:rPr lang="en-US" altLang="zh-CN" sz="2400" b="1" baseline="30000" dirty="0">
                <a:latin typeface="黑体" pitchFamily="49" charset="-122"/>
                <a:ea typeface="黑体" pitchFamily="49" charset="-122"/>
              </a:rPr>
              <a:t>+ </a:t>
            </a:r>
            <a:endParaRPr lang="en-US" altLang="zh-CN" sz="2400" b="1" baseline="30000" dirty="0">
              <a:latin typeface="黑体" pitchFamily="49" charset="-122"/>
              <a:ea typeface="黑体" pitchFamily="49" charset="-122"/>
            </a:endParaRPr>
          </a:p>
          <a:p>
            <a:pPr eaLnBrk="1" hangingPunct="1">
              <a:lnSpc>
                <a:spcPct val="80000"/>
              </a:lnSpc>
              <a:buNone/>
            </a:pPr>
            <a:r>
              <a:rPr lang="en-US" altLang="zh-CN" sz="2400" b="1" dirty="0">
                <a:latin typeface="黑体" pitchFamily="49" charset="-122"/>
                <a:ea typeface="黑体" pitchFamily="49" charset="-122"/>
              </a:rPr>
              <a:t>	    ∴</a:t>
            </a:r>
            <a:r>
              <a:rPr lang="zh-CN" altLang="en-US" sz="2400" b="1" dirty="0">
                <a:latin typeface="黑体" pitchFamily="49" charset="-122"/>
                <a:ea typeface="黑体" pitchFamily="49" charset="-122"/>
              </a:rPr>
              <a:t>以</a:t>
            </a:r>
            <a:r>
              <a:rPr lang="en-US" altLang="zh-CN" sz="2400" b="1" dirty="0">
                <a:latin typeface="黑体" pitchFamily="49" charset="-122"/>
                <a:ea typeface="黑体" pitchFamily="49" charset="-122"/>
              </a:rPr>
              <a:t>A→D</a:t>
            </a:r>
            <a:r>
              <a:rPr lang="zh-CN" altLang="en-US" sz="2400" b="1" dirty="0">
                <a:latin typeface="黑体" pitchFamily="49" charset="-122"/>
                <a:ea typeface="黑体" pitchFamily="49" charset="-122"/>
              </a:rPr>
              <a:t>取代</a:t>
            </a:r>
            <a:r>
              <a:rPr lang="en-US" altLang="zh-CN" sz="2400" b="1" dirty="0">
                <a:latin typeface="黑体" pitchFamily="49" charset="-122"/>
                <a:ea typeface="黑体" pitchFamily="49" charset="-122"/>
              </a:rPr>
              <a:t>AH→D</a:t>
            </a:r>
            <a:endParaRPr lang="zh-CN" altLang="en-US" sz="2400" b="1" dirty="0">
              <a:latin typeface="黑体" pitchFamily="49" charset="-122"/>
              <a:ea typeface="黑体" pitchFamily="49" charset="-122"/>
            </a:endParaRPr>
          </a:p>
          <a:p>
            <a:pPr eaLnBrk="1" hangingPunct="1">
              <a:lnSpc>
                <a:spcPct val="80000"/>
              </a:lnSpc>
              <a:buNone/>
            </a:pPr>
            <a:r>
              <a:rPr lang="en-US" altLang="zh-CN" sz="2400" b="1" dirty="0">
                <a:latin typeface="黑体" pitchFamily="49" charset="-122"/>
                <a:ea typeface="黑体" pitchFamily="49" charset="-122"/>
              </a:rPr>
              <a:t>BD→E ∵((BD)-D)</a:t>
            </a:r>
            <a:r>
              <a:rPr lang="en-US" altLang="zh-CN" sz="2400" b="1" baseline="-25000" dirty="0">
                <a:latin typeface="黑体" pitchFamily="49" charset="-122"/>
                <a:ea typeface="黑体" pitchFamily="49" charset="-122"/>
              </a:rPr>
              <a:t>F</a:t>
            </a:r>
            <a:r>
              <a:rPr lang="en-US" altLang="zh-CN" sz="2400" b="1" baseline="30000" dirty="0">
                <a:latin typeface="黑体" pitchFamily="49" charset="-122"/>
                <a:ea typeface="黑体" pitchFamily="49" charset="-122"/>
              </a:rPr>
              <a:t>+</a:t>
            </a:r>
            <a:r>
              <a:rPr lang="zh-CN" altLang="en-US" sz="2400" b="1" dirty="0">
                <a:latin typeface="黑体" pitchFamily="49" charset="-122"/>
                <a:ea typeface="黑体" pitchFamily="49" charset="-122"/>
              </a:rPr>
              <a:t>＝</a:t>
            </a:r>
            <a:r>
              <a:rPr lang="en-US" altLang="zh-CN" sz="2400" b="1" dirty="0">
                <a:latin typeface="黑体" pitchFamily="49" charset="-122"/>
                <a:ea typeface="黑体" pitchFamily="49" charset="-122"/>
              </a:rPr>
              <a:t>BCDE,E∈((BD)-D)</a:t>
            </a:r>
            <a:r>
              <a:rPr lang="en-US" altLang="zh-CN" sz="2400" b="1" baseline="-25000" dirty="0">
                <a:latin typeface="黑体" pitchFamily="49" charset="-122"/>
                <a:ea typeface="黑体" pitchFamily="49" charset="-122"/>
              </a:rPr>
              <a:t>F</a:t>
            </a:r>
            <a:r>
              <a:rPr lang="en-US" altLang="zh-CN" sz="2400" b="1" baseline="30000" dirty="0">
                <a:latin typeface="黑体" pitchFamily="49" charset="-122"/>
                <a:ea typeface="黑体" pitchFamily="49" charset="-122"/>
              </a:rPr>
              <a:t>+ </a:t>
            </a:r>
            <a:endParaRPr lang="en-US" altLang="zh-CN" sz="2400" b="1" baseline="30000" dirty="0">
              <a:latin typeface="黑体" pitchFamily="49" charset="-122"/>
              <a:ea typeface="黑体" pitchFamily="49" charset="-122"/>
            </a:endParaRPr>
          </a:p>
          <a:p>
            <a:pPr eaLnBrk="1" hangingPunct="1">
              <a:lnSpc>
                <a:spcPct val="80000"/>
              </a:lnSpc>
              <a:buNone/>
            </a:pPr>
            <a:r>
              <a:rPr lang="en-US" altLang="zh-CN" sz="2400" b="1" dirty="0">
                <a:latin typeface="黑体" pitchFamily="49" charset="-122"/>
                <a:ea typeface="黑体" pitchFamily="49" charset="-122"/>
              </a:rPr>
              <a:t>	    ∴</a:t>
            </a:r>
            <a:r>
              <a:rPr lang="zh-CN" altLang="en-US" sz="2400" b="1" dirty="0">
                <a:latin typeface="黑体" pitchFamily="49" charset="-122"/>
                <a:ea typeface="黑体" pitchFamily="49" charset="-122"/>
              </a:rPr>
              <a:t>以</a:t>
            </a:r>
            <a:r>
              <a:rPr lang="en-US" altLang="zh-CN" sz="2400" b="1" dirty="0">
                <a:latin typeface="黑体" pitchFamily="49" charset="-122"/>
                <a:ea typeface="黑体" pitchFamily="49" charset="-122"/>
              </a:rPr>
              <a:t>B→E</a:t>
            </a:r>
            <a:r>
              <a:rPr lang="zh-CN" altLang="en-US" sz="2400" b="1" dirty="0">
                <a:latin typeface="黑体" pitchFamily="49" charset="-122"/>
                <a:ea typeface="黑体" pitchFamily="49" charset="-122"/>
              </a:rPr>
              <a:t>取代</a:t>
            </a:r>
            <a:r>
              <a:rPr lang="en-US" altLang="zh-CN" sz="2400" b="1" dirty="0">
                <a:latin typeface="黑体" pitchFamily="49" charset="-122"/>
                <a:ea typeface="黑体" pitchFamily="49" charset="-122"/>
              </a:rPr>
              <a:t>BD→E</a:t>
            </a:r>
            <a:endParaRPr lang="zh-CN" altLang="en-US" sz="2400" b="1" dirty="0">
              <a:latin typeface="黑体" pitchFamily="49" charset="-122"/>
              <a:ea typeface="黑体" pitchFamily="49" charset="-122"/>
            </a:endParaRPr>
          </a:p>
          <a:p>
            <a:pPr eaLnBrk="1" hangingPunct="1">
              <a:lnSpc>
                <a:spcPct val="80000"/>
              </a:lnSpc>
              <a:buNone/>
            </a:pPr>
            <a:r>
              <a:rPr lang="en-US" altLang="zh-CN" sz="2400" b="1" dirty="0">
                <a:solidFill>
                  <a:srgbClr val="FF9933"/>
                </a:solidFill>
                <a:latin typeface="黑体" pitchFamily="49" charset="-122"/>
                <a:ea typeface="黑体" pitchFamily="49" charset="-122"/>
              </a:rPr>
              <a:t>F={A→B, A→E ,A→D, B→C, B→E, C→D, H→I,I→H, H→B, H→E}</a:t>
            </a:r>
            <a:endParaRPr lang="en-US" altLang="zh-CN" sz="2400" b="1" dirty="0">
              <a:solidFill>
                <a:srgbClr val="FF9933"/>
              </a:solidFill>
              <a:latin typeface="黑体" pitchFamily="49" charset="-122"/>
              <a:ea typeface="黑体" pitchFamily="49" charset="-122"/>
            </a:endParaRPr>
          </a:p>
        </p:txBody>
      </p:sp>
      <p:sp>
        <p:nvSpPr>
          <p:cNvPr id="76803" name="Rectangle 6"/>
          <p:cNvSpPr>
            <a:spLocks noGrp="1"/>
          </p:cNvSpPr>
          <p:nvPr>
            <p:ph type="title"/>
          </p:nvPr>
        </p:nvSpPr>
        <p:spPr>
          <a:xfrm>
            <a:off x="1042988" y="333375"/>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a:t>
            </a:r>
            <a:r>
              <a:rPr lang="en-US" altLang="zh-CN" sz="4000" b="1" dirty="0">
                <a:solidFill>
                  <a:srgbClr val="E40000"/>
                </a:solidFill>
                <a:latin typeface="Arial" panose="020B0604020202020204" pitchFamily="34" charset="0"/>
              </a:rPr>
              <a:t>最小</a:t>
            </a:r>
            <a:r>
              <a:rPr lang="en-US" altLang="en-US" sz="4000" b="1" dirty="0">
                <a:solidFill>
                  <a:srgbClr val="E40000"/>
                </a:solidFill>
                <a:latin typeface="Arial" panose="020B0604020202020204" pitchFamily="34" charset="0"/>
              </a:rPr>
              <a:t>函数依赖</a:t>
            </a:r>
            <a:r>
              <a:rPr lang="en-US" altLang="zh-CN" sz="4000" b="1" dirty="0">
                <a:solidFill>
                  <a:srgbClr val="E40000"/>
                </a:solidFill>
                <a:latin typeface="Arial" panose="020B0604020202020204" pitchFamily="34" charset="0"/>
              </a:rPr>
              <a:t>集</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8850" name="Rectangle 3"/>
          <p:cNvSpPr>
            <a:spLocks noGrp="1"/>
          </p:cNvSpPr>
          <p:nvPr>
            <p:ph idx="1"/>
          </p:nvPr>
        </p:nvSpPr>
        <p:spPr>
          <a:xfrm>
            <a:off x="611188" y="1600200"/>
            <a:ext cx="8064500" cy="4525963"/>
          </a:xfrm>
          <a:ln/>
        </p:spPr>
        <p:txBody>
          <a:bodyPr vert="horz" wrap="square" lIns="91440" tIns="45720" rIns="91440" bIns="45720" anchor="t" anchorCtr="0"/>
          <a:p>
            <a:pPr eaLnBrk="1" hangingPunct="1">
              <a:lnSpc>
                <a:spcPct val="80000"/>
              </a:lnSpc>
              <a:buNone/>
            </a:pPr>
            <a:r>
              <a:rPr lang="en-US" altLang="zh-CN" sz="1800" b="1" dirty="0">
                <a:solidFill>
                  <a:srgbClr val="FF9933"/>
                </a:solidFill>
                <a:latin typeface="黑体" pitchFamily="49" charset="-122"/>
                <a:ea typeface="黑体" pitchFamily="49" charset="-122"/>
              </a:rPr>
              <a:t>F={A→B, A→E ,A→D, B→C, B→E, C→D, H→I,I→H, H→B, H→E}</a:t>
            </a:r>
            <a:endParaRPr lang="en-US" altLang="zh-CN" sz="1800" b="1" dirty="0">
              <a:solidFill>
                <a:srgbClr val="FF9933"/>
              </a:solidFill>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⑶</a:t>
            </a:r>
            <a:r>
              <a:rPr lang="zh-CN" altLang="en-US" sz="1800" b="1" dirty="0">
                <a:latin typeface="黑体" pitchFamily="49" charset="-122"/>
                <a:ea typeface="黑体" pitchFamily="49" charset="-122"/>
              </a:rPr>
              <a:t>消除多余的函数依赖</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A→B  ∵A</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AED,B∉ A</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(G=F-{A→B}) ∴</a:t>
            </a:r>
            <a:r>
              <a:rPr lang="zh-CN" altLang="en-US" sz="1800" b="1" dirty="0">
                <a:latin typeface="黑体" pitchFamily="49" charset="-122"/>
                <a:ea typeface="黑体" pitchFamily="49" charset="-122"/>
              </a:rPr>
              <a:t>保留该函数依赖</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A→E  ∵A</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ABCDE,E</a:t>
            </a:r>
            <a:r>
              <a:rPr lang="en-US" altLang="en-US" sz="1800" b="1" dirty="0">
                <a:latin typeface="黑体" pitchFamily="49" charset="-122"/>
                <a:ea typeface="黑体" pitchFamily="49" charset="-122"/>
              </a:rPr>
              <a:t>∈</a:t>
            </a:r>
            <a:r>
              <a:rPr lang="en-US" altLang="zh-CN" sz="1800" b="1" dirty="0">
                <a:latin typeface="黑体" pitchFamily="49" charset="-122"/>
                <a:ea typeface="黑体" pitchFamily="49" charset="-122"/>
              </a:rPr>
              <a:t> A</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(G=F-{A→E}) ∴</a:t>
            </a:r>
            <a:r>
              <a:rPr lang="zh-CN" altLang="en-US" sz="1800" b="1" dirty="0">
                <a:latin typeface="黑体" pitchFamily="49" charset="-122"/>
                <a:ea typeface="黑体" pitchFamily="49" charset="-122"/>
              </a:rPr>
              <a:t>不保留该函数依赖</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A→D ∵(A)</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ABCDE,D</a:t>
            </a:r>
            <a:r>
              <a:rPr lang="en-US" altLang="en-US" sz="1800" b="1" dirty="0">
                <a:latin typeface="黑体" pitchFamily="49" charset="-122"/>
                <a:ea typeface="黑体" pitchFamily="49" charset="-122"/>
              </a:rPr>
              <a:t>∈</a:t>
            </a:r>
            <a:r>
              <a:rPr lang="en-US" altLang="zh-CN" sz="1800" b="1" dirty="0">
                <a:latin typeface="黑体" pitchFamily="49" charset="-122"/>
                <a:ea typeface="黑体" pitchFamily="49" charset="-122"/>
              </a:rPr>
              <a:t> (A)</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(G=F-{A→D})   ∴</a:t>
            </a:r>
            <a:r>
              <a:rPr lang="zh-CN" altLang="en-US" sz="1800" b="1" dirty="0">
                <a:latin typeface="黑体" pitchFamily="49" charset="-122"/>
                <a:ea typeface="黑体" pitchFamily="49" charset="-122"/>
              </a:rPr>
              <a:t>不保留该函数依赖</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B→C    ∵B</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B,C ∉ B</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(G=F-{B→C})   ∴</a:t>
            </a:r>
            <a:r>
              <a:rPr lang="zh-CN" altLang="en-US" sz="1800" b="1" dirty="0">
                <a:latin typeface="黑体" pitchFamily="49" charset="-122"/>
                <a:ea typeface="黑体" pitchFamily="49" charset="-122"/>
              </a:rPr>
              <a:t>保留该函数依赖</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B→E ∵(B)</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BCD,E ∉ (B)</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(G=F-{B→E})   ∴</a:t>
            </a:r>
            <a:r>
              <a:rPr lang="zh-CN" altLang="en-US" sz="1800" b="1" dirty="0">
                <a:latin typeface="黑体" pitchFamily="49" charset="-122"/>
                <a:ea typeface="黑体" pitchFamily="49" charset="-122"/>
              </a:rPr>
              <a:t>保留该函数依赖</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C→D∵C</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AE,D∉C</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(G=F-{C→D})∴</a:t>
            </a:r>
            <a:r>
              <a:rPr lang="zh-CN" altLang="en-US" sz="1800" b="1" dirty="0">
                <a:latin typeface="黑体" pitchFamily="49" charset="-122"/>
                <a:ea typeface="黑体" pitchFamily="49" charset="-122"/>
              </a:rPr>
              <a:t>保留该函数依赖 </a:t>
            </a:r>
            <a:r>
              <a:rPr lang="en-US" altLang="zh-CN" sz="1800" b="1" dirty="0">
                <a:solidFill>
                  <a:srgbClr val="FF0000"/>
                </a:solidFill>
                <a:latin typeface="黑体" pitchFamily="49" charset="-122"/>
                <a:ea typeface="黑体" pitchFamily="49" charset="-122"/>
              </a:rPr>
              <a:t>(</a:t>
            </a:r>
            <a:r>
              <a:rPr lang="zh-CN" altLang="en-US" sz="1800" b="1" dirty="0">
                <a:solidFill>
                  <a:srgbClr val="FF0000"/>
                </a:solidFill>
                <a:latin typeface="黑体" pitchFamily="49" charset="-122"/>
                <a:ea typeface="黑体" pitchFamily="49" charset="-122"/>
              </a:rPr>
              <a:t>此处错误，闭包应为</a:t>
            </a:r>
            <a:r>
              <a:rPr lang="en-US" altLang="zh-CN" sz="1800" b="1" dirty="0">
                <a:solidFill>
                  <a:srgbClr val="FF0000"/>
                </a:solidFill>
                <a:latin typeface="黑体" pitchFamily="49" charset="-122"/>
                <a:ea typeface="黑体" pitchFamily="49" charset="-122"/>
              </a:rPr>
              <a:t>C)</a:t>
            </a:r>
            <a:endParaRPr lang="en-US" altLang="zh-CN" sz="1800" b="1" dirty="0">
              <a:solidFill>
                <a:srgbClr val="FF0000"/>
              </a:solidFill>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H→I ∵H</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HBECD,I ∉H</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(G=F-{H→I}) ∴</a:t>
            </a:r>
            <a:r>
              <a:rPr lang="zh-CN" altLang="en-US" sz="1800" b="1" dirty="0">
                <a:latin typeface="黑体" pitchFamily="49" charset="-122"/>
                <a:ea typeface="黑体" pitchFamily="49" charset="-122"/>
              </a:rPr>
              <a:t>保留该函数依赖</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I→H ∵I</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I,H ∉ I</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(G=F-{I→H})     ∴</a:t>
            </a:r>
            <a:r>
              <a:rPr lang="zh-CN" altLang="en-US" sz="1800" b="1" dirty="0">
                <a:latin typeface="黑体" pitchFamily="49" charset="-122"/>
                <a:ea typeface="黑体" pitchFamily="49" charset="-122"/>
              </a:rPr>
              <a:t>保留该函数依赖</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H→B ∵H</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HIE,B∉ H</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(G=F-{H→B})∴</a:t>
            </a:r>
            <a:r>
              <a:rPr lang="zh-CN" altLang="en-US" sz="1800" b="1" dirty="0">
                <a:latin typeface="黑体" pitchFamily="49" charset="-122"/>
                <a:ea typeface="黑体" pitchFamily="49" charset="-122"/>
              </a:rPr>
              <a:t>保留该函数依赖</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H→E ∵H</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zh-CN" altLang="en-US" sz="1800" b="1" dirty="0">
                <a:latin typeface="黑体" pitchFamily="49" charset="-122"/>
                <a:ea typeface="黑体" pitchFamily="49" charset="-122"/>
              </a:rPr>
              <a:t>＝</a:t>
            </a:r>
            <a:r>
              <a:rPr lang="en-US" altLang="zh-CN" sz="1800" b="1" dirty="0">
                <a:latin typeface="黑体" pitchFamily="49" charset="-122"/>
                <a:ea typeface="黑体" pitchFamily="49" charset="-122"/>
              </a:rPr>
              <a:t>HBCDE,E∈H</a:t>
            </a:r>
            <a:r>
              <a:rPr lang="en-US" altLang="zh-CN" sz="1800" b="1" baseline="-25000" dirty="0">
                <a:latin typeface="黑体" pitchFamily="49" charset="-122"/>
                <a:ea typeface="黑体" pitchFamily="49" charset="-122"/>
              </a:rPr>
              <a:t>G</a:t>
            </a:r>
            <a:r>
              <a:rPr lang="en-US" altLang="zh-CN" sz="1800" b="1" baseline="30000" dirty="0">
                <a:latin typeface="黑体" pitchFamily="49" charset="-122"/>
                <a:ea typeface="黑体" pitchFamily="49" charset="-122"/>
              </a:rPr>
              <a:t>+</a:t>
            </a:r>
            <a:r>
              <a:rPr lang="en-US" altLang="zh-CN" sz="1800" b="1" dirty="0">
                <a:latin typeface="黑体" pitchFamily="49" charset="-122"/>
                <a:ea typeface="黑体" pitchFamily="49" charset="-122"/>
              </a:rPr>
              <a:t>(G=F-{H→E}) ∴</a:t>
            </a:r>
            <a:r>
              <a:rPr lang="zh-CN" altLang="en-US" sz="1800" b="1" dirty="0">
                <a:latin typeface="黑体" pitchFamily="49" charset="-122"/>
                <a:ea typeface="黑体" pitchFamily="49" charset="-122"/>
              </a:rPr>
              <a:t>不保留该函数依赖</a:t>
            </a:r>
            <a:endParaRPr lang="zh-CN" altLang="en-US" sz="1800" b="1" dirty="0">
              <a:latin typeface="黑体" pitchFamily="49" charset="-122"/>
              <a:ea typeface="黑体" pitchFamily="49" charset="-122"/>
            </a:endParaRPr>
          </a:p>
          <a:p>
            <a:pPr eaLnBrk="1" hangingPunct="1">
              <a:lnSpc>
                <a:spcPct val="80000"/>
              </a:lnSpc>
              <a:buNone/>
            </a:pPr>
            <a:endParaRPr lang="zh-CN" altLang="en-US" sz="1800" b="1" dirty="0">
              <a:latin typeface="黑体" pitchFamily="49" charset="-122"/>
              <a:ea typeface="黑体" pitchFamily="49" charset="-122"/>
            </a:endParaRPr>
          </a:p>
          <a:p>
            <a:pPr eaLnBrk="1" hangingPunct="1">
              <a:lnSpc>
                <a:spcPct val="80000"/>
              </a:lnSpc>
              <a:buNone/>
            </a:pPr>
            <a:r>
              <a:rPr lang="zh-CN" altLang="en-US" sz="1800" b="1" dirty="0">
                <a:latin typeface="黑体" pitchFamily="49" charset="-122"/>
                <a:ea typeface="黑体" pitchFamily="49" charset="-122"/>
              </a:rPr>
              <a:t>最后剩下的</a:t>
            </a:r>
            <a:r>
              <a:rPr lang="en-US" altLang="zh-CN" sz="1800" b="1" dirty="0">
                <a:latin typeface="黑体" pitchFamily="49" charset="-122"/>
                <a:ea typeface="黑体" pitchFamily="49" charset="-122"/>
              </a:rPr>
              <a:t>F</a:t>
            </a:r>
            <a:r>
              <a:rPr lang="zh-CN" altLang="en-US" sz="1800" b="1" dirty="0">
                <a:latin typeface="黑体" pitchFamily="49" charset="-122"/>
                <a:ea typeface="黑体" pitchFamily="49" charset="-122"/>
              </a:rPr>
              <a:t>是最小函数依赖集，</a:t>
            </a:r>
            <a:endParaRPr lang="zh-CN" altLang="en-US" sz="1800" b="1" dirty="0">
              <a:latin typeface="黑体" pitchFamily="49" charset="-122"/>
              <a:ea typeface="黑体" pitchFamily="49" charset="-122"/>
            </a:endParaRPr>
          </a:p>
          <a:p>
            <a:pPr eaLnBrk="1" hangingPunct="1">
              <a:lnSpc>
                <a:spcPct val="80000"/>
              </a:lnSpc>
              <a:buNone/>
            </a:pPr>
            <a:r>
              <a:rPr lang="en-US" altLang="zh-CN" sz="1800" b="1" dirty="0">
                <a:latin typeface="黑体" pitchFamily="49" charset="-122"/>
                <a:ea typeface="黑体" pitchFamily="49" charset="-122"/>
              </a:rPr>
              <a:t>F</a:t>
            </a:r>
            <a:r>
              <a:rPr lang="en-US" altLang="zh-CN" sz="1800" b="1" baseline="-25000" dirty="0">
                <a:latin typeface="黑体" pitchFamily="49" charset="-122"/>
                <a:ea typeface="黑体" pitchFamily="49" charset="-122"/>
              </a:rPr>
              <a:t>min</a:t>
            </a:r>
            <a:r>
              <a:rPr lang="en-US" altLang="zh-CN" sz="1800" b="1" dirty="0">
                <a:latin typeface="黑体" pitchFamily="49" charset="-122"/>
                <a:ea typeface="黑体" pitchFamily="49" charset="-122"/>
              </a:rPr>
              <a:t>= {A→B, B→C, B→E,C→D, H→I, I→H, H→B}</a:t>
            </a:r>
            <a:endParaRPr lang="en-US" altLang="zh-CN" sz="1800" b="1" dirty="0">
              <a:latin typeface="黑体" pitchFamily="49" charset="-122"/>
              <a:ea typeface="黑体" pitchFamily="49" charset="-122"/>
            </a:endParaRPr>
          </a:p>
        </p:txBody>
      </p:sp>
      <p:sp>
        <p:nvSpPr>
          <p:cNvPr id="78851" name="Rectangle 6"/>
          <p:cNvSpPr>
            <a:spLocks noGrp="1"/>
          </p:cNvSpPr>
          <p:nvPr>
            <p:ph type="title"/>
          </p:nvPr>
        </p:nvSpPr>
        <p:spPr>
          <a:xfrm>
            <a:off x="1042988" y="47625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a:t>
            </a:r>
            <a:r>
              <a:rPr lang="en-US" altLang="zh-CN" sz="4000" b="1" dirty="0">
                <a:solidFill>
                  <a:srgbClr val="E40000"/>
                </a:solidFill>
                <a:latin typeface="Arial" panose="020B0604020202020204" pitchFamily="34" charset="0"/>
              </a:rPr>
              <a:t>最小</a:t>
            </a:r>
            <a:r>
              <a:rPr lang="en-US" altLang="en-US" sz="4000" b="1" dirty="0">
                <a:solidFill>
                  <a:srgbClr val="E40000"/>
                </a:solidFill>
                <a:latin typeface="Arial" panose="020B0604020202020204" pitchFamily="34" charset="0"/>
              </a:rPr>
              <a:t>函数依赖</a:t>
            </a:r>
            <a:r>
              <a:rPr lang="en-US" altLang="zh-CN" sz="4000" b="1" dirty="0">
                <a:solidFill>
                  <a:srgbClr val="E40000"/>
                </a:solidFill>
                <a:latin typeface="Arial" panose="020B0604020202020204" pitchFamily="34" charset="0"/>
              </a:rPr>
              <a:t>集</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962" name="Rectangle 2"/>
          <p:cNvSpPr>
            <a:spLocks noGrp="1" noChangeArrowheads="1"/>
          </p:cNvSpPr>
          <p:nvPr>
            <p:ph idx="1"/>
          </p:nvPr>
        </p:nvSpPr>
        <p:spPr>
          <a:xfrm>
            <a:off x="611188" y="1600200"/>
            <a:ext cx="8064500"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应当指出，</a:t>
            </a:r>
            <a:r>
              <a:rPr kumimoji="0" lang="en-US" altLang="zh-CN"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F</a:t>
            </a:r>
            <a:r>
              <a:rPr kumimoji="0" lang="zh-CN" altLang="en-US"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的最小依赖集</a:t>
            </a:r>
            <a:r>
              <a:rPr kumimoji="0" lang="en-US" altLang="zh-CN" sz="3200" b="1" i="0" u="none" strike="noStrike" kern="0" cap="none" spc="0" normalizeH="0" baseline="0" noProof="0" dirty="0" err="1">
                <a:ln>
                  <a:noFill/>
                </a:ln>
                <a:solidFill>
                  <a:schemeClr val="tx1"/>
                </a:solidFill>
                <a:effectLst/>
                <a:uLnTx/>
                <a:uFillTx/>
                <a:latin typeface="黑体" pitchFamily="49" charset="-122"/>
                <a:ea typeface="黑体" pitchFamily="49" charset="-122"/>
                <a:cs typeface="+mn-cs"/>
              </a:rPr>
              <a:t>F</a:t>
            </a:r>
            <a:r>
              <a:rPr kumimoji="0" lang="en-US" altLang="zh-CN" sz="3200" b="1" i="0" u="none" strike="noStrike" kern="0" cap="none" spc="0" normalizeH="0" baseline="-25000" noProof="0" dirty="0" err="1">
                <a:ln>
                  <a:noFill/>
                </a:ln>
                <a:solidFill>
                  <a:schemeClr val="tx1"/>
                </a:solidFill>
                <a:effectLst/>
                <a:uLnTx/>
                <a:uFillTx/>
                <a:latin typeface="黑体" pitchFamily="49" charset="-122"/>
                <a:ea typeface="黑体" pitchFamily="49" charset="-122"/>
                <a:cs typeface="+mn-cs"/>
              </a:rPr>
              <a:t>min</a:t>
            </a:r>
            <a:r>
              <a:rPr kumimoji="0" lang="zh-CN" altLang="en-US"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不一定是唯一的，它和我们对各函数依赖</a:t>
            </a:r>
            <a:r>
              <a:rPr kumimoji="0" lang="en-US" altLang="zh-CN" sz="3200" b="1" i="0" u="none" strike="noStrike" kern="0" cap="none" spc="0" normalizeH="0" baseline="0" noProof="0" dirty="0" err="1">
                <a:ln>
                  <a:noFill/>
                </a:ln>
                <a:solidFill>
                  <a:schemeClr val="tx1"/>
                </a:solidFill>
                <a:effectLst/>
                <a:uLnTx/>
                <a:uFillTx/>
                <a:latin typeface="黑体" pitchFamily="49" charset="-122"/>
                <a:ea typeface="黑体" pitchFamily="49" charset="-122"/>
                <a:cs typeface="+mn-cs"/>
              </a:rPr>
              <a:t>FD</a:t>
            </a:r>
            <a:r>
              <a:rPr kumimoji="0" lang="en-US" altLang="zh-CN" sz="3200" b="1" i="0" u="none" strike="noStrike" kern="0" cap="none" spc="0" normalizeH="0" baseline="-25000" noProof="0" dirty="0" err="1">
                <a:ln>
                  <a:noFill/>
                </a:ln>
                <a:solidFill>
                  <a:schemeClr val="tx1"/>
                </a:solidFill>
                <a:effectLst/>
                <a:uLnTx/>
                <a:uFillTx/>
                <a:latin typeface="黑体" pitchFamily="49" charset="-122"/>
                <a:ea typeface="黑体" pitchFamily="49" charset="-122"/>
                <a:cs typeface="+mn-cs"/>
              </a:rPr>
              <a:t>i</a:t>
            </a:r>
            <a:r>
              <a:rPr kumimoji="0" lang="zh-CN" altLang="en-US"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及</a:t>
            </a:r>
            <a:r>
              <a:rPr kumimoji="0" lang="en-US" altLang="zh-CN"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X→A</a:t>
            </a:r>
            <a:r>
              <a:rPr kumimoji="0" lang="zh-CN" altLang="en-US"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中</a:t>
            </a:r>
            <a:r>
              <a:rPr kumimoji="0" lang="en-US" altLang="zh-CN"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X</a:t>
            </a:r>
            <a:r>
              <a:rPr kumimoji="0" lang="zh-CN" altLang="en-US"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各属性的处置顺序有关</a:t>
            </a:r>
            <a:endParaRPr kumimoji="0" lang="en-US" altLang="zh-CN" sz="3200" b="1" i="0" u="none" strike="noStrike" kern="0" cap="none" spc="0" normalizeH="0" baseline="0" noProof="0" dirty="0">
              <a:ln>
                <a:noFill/>
              </a:ln>
              <a:solidFill>
                <a:schemeClr val="tx1"/>
              </a:solidFill>
              <a:effectLst/>
              <a:uLnTx/>
              <a:uFillTx/>
              <a:latin typeface="黑体" pitchFamily="49" charset="-122"/>
              <a:ea typeface="黑体" pitchFamily="49" charset="-122"/>
              <a:cs typeface="+mn-cs"/>
            </a:endParaRPr>
          </a:p>
          <a:p>
            <a:pPr marL="0" marR="0" lvl="0" indent="0" algn="l" defTabSz="914400" rtl="0" eaLnBrk="1" fontAlgn="base" latinLnBrk="0" hangingPunct="1">
              <a:lnSpc>
                <a:spcPct val="200000"/>
              </a:lnSpc>
              <a:spcBef>
                <a:spcPct val="20000"/>
              </a:spcBef>
              <a:spcAft>
                <a:spcPct val="0"/>
              </a:spcAft>
              <a:buClrTx/>
              <a:buSzTx/>
              <a:buFontTx/>
              <a:buNone/>
              <a:defRPr/>
            </a:pP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   F={A</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B, B</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A, B</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C, A</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C, C</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rPr>
              <a:t>A}</a:t>
            </a:r>
            <a:endPar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黑体" pitchFamily="49" charset="-122"/>
              <a:cs typeface="Times New Roman" panose="02020603050405020304" pitchFamily="18" charset="0"/>
            </a:endParaRPr>
          </a:p>
        </p:txBody>
      </p:sp>
      <p:sp>
        <p:nvSpPr>
          <p:cNvPr id="80899" name="Rectangle 3"/>
          <p:cNvSpPr>
            <a:spLocks noGrp="1"/>
          </p:cNvSpPr>
          <p:nvPr>
            <p:ph type="title"/>
          </p:nvPr>
        </p:nvSpPr>
        <p:spPr>
          <a:xfrm>
            <a:off x="1042988" y="476250"/>
            <a:ext cx="7086600" cy="731838"/>
          </a:xfrm>
          <a:ln/>
        </p:spPr>
        <p:txBody>
          <a:bodyPr vert="horz" wrap="square" lIns="91440" tIns="45720" rIns="91440" bIns="45720" anchor="ctr" anchorCtr="0"/>
          <a:p>
            <a:pPr algn="ctr" eaLnBrk="1" hangingPunct="1"/>
            <a:r>
              <a:rPr lang="en-US" altLang="en-US" sz="4000" b="1" dirty="0">
                <a:solidFill>
                  <a:srgbClr val="E40000"/>
                </a:solidFill>
                <a:latin typeface="Arial" panose="020B0604020202020204" pitchFamily="34" charset="0"/>
              </a:rPr>
              <a:t> </a:t>
            </a:r>
            <a:r>
              <a:rPr lang="en-US" altLang="zh-CN" sz="4000" b="1" dirty="0">
                <a:solidFill>
                  <a:srgbClr val="E40000"/>
                </a:solidFill>
                <a:latin typeface="Arial" panose="020B0604020202020204" pitchFamily="34" charset="0"/>
              </a:rPr>
              <a:t>最小</a:t>
            </a:r>
            <a:r>
              <a:rPr lang="en-US" altLang="en-US" sz="4000" b="1" dirty="0">
                <a:solidFill>
                  <a:srgbClr val="E40000"/>
                </a:solidFill>
                <a:latin typeface="Arial" panose="020B0604020202020204" pitchFamily="34" charset="0"/>
              </a:rPr>
              <a:t>函数依赖</a:t>
            </a:r>
            <a:r>
              <a:rPr lang="en-US" altLang="zh-CN" sz="4000" b="1" dirty="0">
                <a:solidFill>
                  <a:srgbClr val="E40000"/>
                </a:solidFill>
                <a:latin typeface="Arial" panose="020B0604020202020204" pitchFamily="34" charset="0"/>
              </a:rPr>
              <a:t>集</a:t>
            </a:r>
            <a:endParaRPr lang="zh-CN" altLang="en-US" sz="4000" b="1" dirty="0">
              <a:solidFill>
                <a:srgbClr val="E4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62">
                                            <p:txEl>
                                              <p:charRg st="54" end="85"/>
                                            </p:txEl>
                                          </p:spTgt>
                                        </p:tgtEl>
                                        <p:attrNameLst>
                                          <p:attrName>style.visibility</p:attrName>
                                        </p:attrNameLst>
                                      </p:cBhvr>
                                      <p:to>
                                        <p:strVal val="visible"/>
                                      </p:to>
                                    </p:set>
                                    <p:animEffect transition="in" filter="fade">
                                      <p:cBhvr>
                                        <p:cTn id="7" dur="1000"/>
                                        <p:tgtEl>
                                          <p:spTgt spid="40962">
                                            <p:txEl>
                                              <p:charRg st="54" end="85"/>
                                            </p:txEl>
                                          </p:spTgt>
                                        </p:tgtEl>
                                      </p:cBhvr>
                                    </p:animEffect>
                                    <p:anim calcmode="lin" valueType="num">
                                      <p:cBhvr>
                                        <p:cTn id="8" dur="1000" fill="hold"/>
                                        <p:tgtEl>
                                          <p:spTgt spid="40962">
                                            <p:txEl>
                                              <p:charRg st="54" end="85"/>
                                            </p:txEl>
                                          </p:spTgt>
                                        </p:tgtEl>
                                        <p:attrNameLst>
                                          <p:attrName>ppt_x</p:attrName>
                                        </p:attrNameLst>
                                      </p:cBhvr>
                                      <p:tavLst>
                                        <p:tav tm="0">
                                          <p:val>
                                            <p:strVal val="#ppt_x"/>
                                          </p:val>
                                        </p:tav>
                                        <p:tav tm="100000">
                                          <p:val>
                                            <p:strVal val="#ppt_x"/>
                                          </p:val>
                                        </p:tav>
                                      </p:tavLst>
                                    </p:anim>
                                    <p:anim calcmode="lin" valueType="num">
                                      <p:cBhvr>
                                        <p:cTn id="9" dur="1000" fill="hold"/>
                                        <p:tgtEl>
                                          <p:spTgt spid="40962">
                                            <p:txEl>
                                              <p:charRg st="54" end="8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2946" name="Rectangle 2"/>
          <p:cNvSpPr>
            <a:spLocks noGrp="1"/>
          </p:cNvSpPr>
          <p:nvPr>
            <p:ph type="title"/>
          </p:nvPr>
        </p:nvSpPr>
        <p:spPr>
          <a:xfrm>
            <a:off x="1258888" y="549275"/>
            <a:ext cx="7086600" cy="487363"/>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多值依赖</a:t>
            </a:r>
            <a:endParaRPr lang="en-US" altLang="zh-CN" sz="4000" b="1" dirty="0">
              <a:solidFill>
                <a:srgbClr val="E40000"/>
              </a:solidFill>
              <a:latin typeface="Arial" panose="020B0604020202020204" pitchFamily="34" charset="0"/>
            </a:endParaRPr>
          </a:p>
        </p:txBody>
      </p:sp>
      <p:sp>
        <p:nvSpPr>
          <p:cNvPr id="41987" name="Rectangle 3"/>
          <p:cNvSpPr>
            <a:spLocks noGrp="1" noChangeArrowheads="1"/>
          </p:cNvSpPr>
          <p:nvPr>
            <p:ph idx="1"/>
          </p:nvPr>
        </p:nvSpPr>
        <p:spPr>
          <a:xfrm>
            <a:off x="685800" y="1524000"/>
            <a:ext cx="7772400" cy="4713288"/>
          </a:xfrm>
        </p:spPr>
        <p:txBody>
          <a:bodyPr vert="horz" wrap="square" lIns="91440" tIns="45720" rIns="91440" bIns="45720" numCol="1" anchor="t" anchorCtr="0" compatLnSpc="1"/>
          <a:lstStyle/>
          <a:p>
            <a:pPr marL="273050" marR="0" lvl="0" indent="-273050" algn="l" defTabSz="914400" rtl="0" eaLnBrk="1" fontAlgn="base" latinLnBrk="0" hangingPunct="1">
              <a:lnSpc>
                <a:spcPct val="80000"/>
              </a:lnSpc>
              <a:spcBef>
                <a:spcPct val="20000"/>
              </a:spcBef>
              <a:spcAft>
                <a:spcPct val="0"/>
              </a:spcAft>
              <a:buClrTx/>
              <a:buSzTx/>
              <a:buFont typeface="Wingdings" panose="05000000000000000000" pitchFamily="2" charset="2"/>
              <a:buChar char="n"/>
              <a:defRPr/>
            </a:pPr>
            <a:r>
              <a:rPr kumimoji="0" lang="zh-CN" altLang="en-US" sz="1800" b="1" i="0" u="none" strike="noStrike" kern="0" cap="none" spc="0" normalizeH="0" baseline="0" noProof="0" dirty="0">
                <a:ln>
                  <a:noFill/>
                </a:ln>
                <a:solidFill>
                  <a:schemeClr val="tx1"/>
                </a:solidFill>
                <a:effectLst/>
                <a:uLnTx/>
                <a:uFillTx/>
                <a:latin typeface="+mn-lt"/>
                <a:ea typeface="+mn-ea"/>
                <a:cs typeface="+mn-cs"/>
              </a:rPr>
              <a:t>除了函数依赖以外，关系的属性间还存在其他一些数据依赖关系，多值依赖</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(multivalued </a:t>
            </a:r>
            <a:r>
              <a:rPr kumimoji="0" lang="en-US" altLang="zh-CN" sz="1800" b="1" i="0" u="none" strike="noStrike" kern="0" cap="none" spc="0" normalizeH="0" baseline="0" noProof="0" dirty="0" err="1">
                <a:ln>
                  <a:noFill/>
                </a:ln>
                <a:solidFill>
                  <a:schemeClr val="tx1"/>
                </a:solidFill>
                <a:effectLst/>
                <a:uLnTx/>
                <a:uFillTx/>
                <a:latin typeface="+mn-lt"/>
                <a:ea typeface="+mn-ea"/>
                <a:cs typeface="+mn-cs"/>
              </a:rPr>
              <a:t>dependency,MVD</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就是其中之一</a:t>
            </a:r>
            <a:endParaRPr kumimoji="0" lang="zh-CN" altLang="en-US" sz="1800" b="1" i="0" u="none" strike="noStrike" kern="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80000"/>
              </a:lnSpc>
              <a:spcBef>
                <a:spcPct val="20000"/>
              </a:spcBef>
              <a:spcAft>
                <a:spcPct val="0"/>
              </a:spcAft>
              <a:buClrTx/>
              <a:buSzTx/>
              <a:buFontTx/>
              <a:buChar char="•"/>
              <a:defRPr/>
            </a:pPr>
            <a:endParaRPr kumimoji="0" lang="zh-CN" altLang="en-US" sz="1800" b="1" i="0" u="none" strike="noStrike" kern="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80000"/>
              </a:lnSpc>
              <a:spcBef>
                <a:spcPct val="20000"/>
              </a:spcBef>
              <a:spcAft>
                <a:spcPct val="0"/>
              </a:spcAft>
              <a:buClrTx/>
              <a:buSzTx/>
              <a:buFont typeface="Wingdings" panose="05000000000000000000" pitchFamily="2" charset="2"/>
              <a:buChar char="n"/>
              <a:defRPr/>
            </a:pPr>
            <a:r>
              <a:rPr kumimoji="0" lang="zh-CN" altLang="en-US" sz="1800" b="1" i="0" u="none" strike="noStrike" kern="0" cap="none" spc="0" normalizeH="0" baseline="0" noProof="0" dirty="0">
                <a:ln>
                  <a:noFill/>
                </a:ln>
                <a:solidFill>
                  <a:schemeClr val="tx1"/>
                </a:solidFill>
                <a:effectLst/>
                <a:uLnTx/>
                <a:uFillTx/>
                <a:latin typeface="+mn-lt"/>
                <a:ea typeface="+mn-ea"/>
                <a:cs typeface="+mn-cs"/>
              </a:rPr>
              <a:t>例</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l</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 学校中某一门课程由多个教员讲授，他们使用相同的一套参考书。每个教员可以讲授多门课程，每种参考书可以供多门课程使用。我们可以用一个非规范化的关系来表示教员</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T,</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课程</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C</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和参考书</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B</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之间的关系： </a:t>
            </a:r>
            <a:endParaRPr kumimoji="0" lang="zh-CN" altLang="en-US" sz="1800" b="1" i="0" u="none" strike="noStrike" kern="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80000"/>
              </a:lnSpc>
              <a:spcBef>
                <a:spcPct val="20000"/>
              </a:spcBef>
              <a:spcAft>
                <a:spcPct val="0"/>
              </a:spcAft>
              <a:buClrTx/>
              <a:buSzTx/>
              <a:buFontTx/>
              <a:buChar char="•"/>
              <a:defRPr/>
            </a:pPr>
            <a:endParaRPr kumimoji="0" lang="zh-CN" altLang="en-US" sz="1000" b="0" i="0" u="none" strike="noStrike" kern="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80000"/>
              </a:lnSpc>
              <a:spcBef>
                <a:spcPct val="20000"/>
              </a:spcBef>
              <a:spcAft>
                <a:spcPct val="0"/>
              </a:spcAft>
              <a:buClrTx/>
              <a:buSzTx/>
              <a:buFontTx/>
              <a:buChar char="•"/>
              <a:defRPr/>
            </a:pPr>
            <a:endParaRPr kumimoji="0" lang="zh-CN" altLang="en-US" sz="1000" b="0" i="0" u="none" strike="noStrike" kern="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80000"/>
              </a:lnSpc>
              <a:spcBef>
                <a:spcPct val="20000"/>
              </a:spcBef>
              <a:spcAft>
                <a:spcPct val="0"/>
              </a:spcAft>
              <a:buClrTx/>
              <a:buSzTx/>
              <a:buFontTx/>
              <a:buChar char="•"/>
              <a:defRPr/>
            </a:pPr>
            <a:r>
              <a:rPr kumimoji="0" lang="zh-CN" altLang="en-US" sz="1600" b="0" i="0" u="none" strike="noStrike" kern="0" cap="none" spc="0" normalizeH="0" baseline="0" noProof="0" dirty="0">
                <a:ln>
                  <a:noFill/>
                </a:ln>
                <a:solidFill>
                  <a:schemeClr val="tx1"/>
                </a:solidFill>
                <a:effectLst/>
                <a:uLnTx/>
                <a:uFillTx/>
                <a:latin typeface="+mn-lt"/>
                <a:ea typeface="+mn-ea"/>
                <a:cs typeface="+mn-cs"/>
              </a:rPr>
              <a:t>课程</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C    </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教员</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T        </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参考书</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B </a:t>
            </a:r>
            <a:br>
              <a:rPr kumimoji="0" lang="en-US" altLang="zh-CN" sz="1600" b="0" i="0" u="none" strike="noStrike" kern="0" cap="none" spc="0" normalizeH="0" baseline="0" noProof="0" dirty="0">
                <a:ln>
                  <a:noFill/>
                </a:ln>
                <a:solidFill>
                  <a:schemeClr val="tx1"/>
                </a:solidFill>
                <a:effectLst/>
                <a:uLnTx/>
                <a:uFillTx/>
                <a:latin typeface="+mn-lt"/>
                <a:ea typeface="+mn-ea"/>
                <a:cs typeface="+mn-cs"/>
              </a:rPr>
            </a:b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br>
              <a:rPr kumimoji="0" lang="en-US" altLang="zh-CN" sz="1600" b="0" i="0" u="none" strike="noStrike" kern="0" cap="none" spc="0" normalizeH="0" baseline="0" noProof="0" dirty="0">
                <a:ln>
                  <a:noFill/>
                </a:ln>
                <a:solidFill>
                  <a:schemeClr val="tx1"/>
                </a:solidFill>
                <a:effectLst/>
                <a:uLnTx/>
                <a:uFillTx/>
                <a:latin typeface="+mn-lt"/>
                <a:ea typeface="+mn-ea"/>
                <a:cs typeface="+mn-cs"/>
              </a:rPr>
            </a:br>
            <a:r>
              <a:rPr kumimoji="0" lang="zh-CN" altLang="en-US" sz="1600" b="0" i="0" u="none" strike="noStrike" kern="0" cap="none" spc="0" normalizeH="0" baseline="0" noProof="0" dirty="0">
                <a:ln>
                  <a:noFill/>
                </a:ln>
                <a:solidFill>
                  <a:schemeClr val="tx1"/>
                </a:solidFill>
                <a:effectLst/>
                <a:uLnTx/>
                <a:uFillTx/>
                <a:latin typeface="+mn-lt"/>
                <a:ea typeface="+mn-ea"/>
                <a:cs typeface="+mn-cs"/>
              </a:rPr>
              <a:t>物理     李 勇       普通物理学 </a:t>
            </a:r>
            <a:br>
              <a:rPr kumimoji="0" lang="zh-CN" altLang="en-US" sz="1600" b="0" i="0" u="none" strike="noStrike" kern="0" cap="none" spc="0" normalizeH="0" baseline="0" noProof="0" dirty="0">
                <a:ln>
                  <a:noFill/>
                </a:ln>
                <a:solidFill>
                  <a:schemeClr val="tx1"/>
                </a:solidFill>
                <a:effectLst/>
                <a:uLnTx/>
                <a:uFillTx/>
                <a:latin typeface="+mn-lt"/>
                <a:ea typeface="+mn-ea"/>
                <a:cs typeface="+mn-cs"/>
              </a:rPr>
            </a:br>
            <a:r>
              <a:rPr kumimoji="0" lang="zh-CN" altLang="en-US" sz="1600" b="0" i="0" u="none" strike="noStrike" kern="0" cap="none" spc="0" normalizeH="0" baseline="0" noProof="0" dirty="0">
                <a:ln>
                  <a:noFill/>
                </a:ln>
                <a:solidFill>
                  <a:schemeClr val="tx1"/>
                </a:solidFill>
                <a:effectLst/>
                <a:uLnTx/>
                <a:uFillTx/>
                <a:latin typeface="+mn-lt"/>
                <a:ea typeface="+mn-ea"/>
                <a:cs typeface="+mn-cs"/>
              </a:rPr>
              <a:t>         王 军       光学原理 </a:t>
            </a:r>
            <a:br>
              <a:rPr kumimoji="0" lang="zh-CN" altLang="en-US" sz="1600" b="0" i="0" u="none" strike="noStrike" kern="0" cap="none" spc="0" normalizeH="0" baseline="0" noProof="0" dirty="0">
                <a:ln>
                  <a:noFill/>
                </a:ln>
                <a:solidFill>
                  <a:schemeClr val="tx1"/>
                </a:solidFill>
                <a:effectLst/>
                <a:uLnTx/>
                <a:uFillTx/>
                <a:latin typeface="+mn-lt"/>
                <a:ea typeface="+mn-ea"/>
                <a:cs typeface="+mn-cs"/>
              </a:rPr>
            </a:br>
            <a:r>
              <a:rPr kumimoji="0" lang="zh-CN" altLang="en-US" sz="1600" b="0" i="0" u="none" strike="noStrike" kern="0" cap="none" spc="0" normalizeH="0" baseline="0" noProof="0" dirty="0">
                <a:ln>
                  <a:noFill/>
                </a:ln>
                <a:solidFill>
                  <a:schemeClr val="tx1"/>
                </a:solidFill>
                <a:effectLst/>
                <a:uLnTx/>
                <a:uFillTx/>
                <a:latin typeface="+mn-lt"/>
                <a:ea typeface="+mn-ea"/>
                <a:cs typeface="+mn-cs"/>
              </a:rPr>
              <a:t>                     物理习题集 </a:t>
            </a:r>
            <a:br>
              <a:rPr kumimoji="0" lang="zh-CN" altLang="en-US" sz="1600" b="0" i="0" u="none" strike="noStrike" kern="0" cap="none" spc="0" normalizeH="0" baseline="0" noProof="0" dirty="0">
                <a:ln>
                  <a:noFill/>
                </a:ln>
                <a:solidFill>
                  <a:schemeClr val="tx1"/>
                </a:solidFill>
                <a:effectLst/>
                <a:uLnTx/>
                <a:uFillTx/>
                <a:latin typeface="+mn-lt"/>
                <a:ea typeface="+mn-ea"/>
                <a:cs typeface="+mn-cs"/>
              </a:rPr>
            </a:b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br>
              <a:rPr kumimoji="0" lang="en-US" altLang="zh-CN" sz="1600" b="0" i="0" u="none" strike="noStrike" kern="0" cap="none" spc="0" normalizeH="0" baseline="0" noProof="0" dirty="0">
                <a:ln>
                  <a:noFill/>
                </a:ln>
                <a:solidFill>
                  <a:schemeClr val="tx1"/>
                </a:solidFill>
                <a:effectLst/>
                <a:uLnTx/>
                <a:uFillTx/>
                <a:latin typeface="+mn-lt"/>
                <a:ea typeface="+mn-ea"/>
                <a:cs typeface="+mn-cs"/>
              </a:rPr>
            </a:br>
            <a:r>
              <a:rPr kumimoji="0" lang="zh-CN" altLang="en-US" sz="1600" b="0" i="0" u="none" strike="noStrike" kern="0" cap="none" spc="0" normalizeH="0" baseline="0" noProof="0" dirty="0">
                <a:ln>
                  <a:noFill/>
                </a:ln>
                <a:solidFill>
                  <a:schemeClr val="tx1"/>
                </a:solidFill>
                <a:effectLst/>
                <a:uLnTx/>
                <a:uFillTx/>
                <a:latin typeface="+mn-lt"/>
                <a:ea typeface="+mn-ea"/>
                <a:cs typeface="+mn-cs"/>
              </a:rPr>
              <a:t>数学     刘</a:t>
            </a:r>
            <a:r>
              <a:rPr kumimoji="0" lang="zh-CN" altLang="en-US" sz="1600" b="0" i="0" u="none" strike="noStrike" kern="0" cap="none" spc="0" normalizeH="0" baseline="0" noProof="0" dirty="0">
                <a:ln>
                  <a:noFill/>
                </a:ln>
                <a:solidFill>
                  <a:srgbClr val="FF0000"/>
                </a:solidFill>
                <a:effectLst/>
                <a:uLnTx/>
                <a:uFillTx/>
                <a:latin typeface="+mn-lt"/>
                <a:ea typeface="+mn-ea"/>
                <a:cs typeface="+mn-cs"/>
              </a:rPr>
              <a:t> </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斌       数学分析 </a:t>
            </a:r>
            <a:br>
              <a:rPr kumimoji="0" lang="zh-CN" altLang="en-US" sz="1600" b="0" i="0" u="none" strike="noStrike" kern="0" cap="none" spc="0" normalizeH="0" baseline="0" noProof="0" dirty="0">
                <a:ln>
                  <a:noFill/>
                </a:ln>
                <a:solidFill>
                  <a:schemeClr val="tx1"/>
                </a:solidFill>
                <a:effectLst/>
                <a:uLnTx/>
                <a:uFillTx/>
                <a:latin typeface="+mn-lt"/>
                <a:ea typeface="+mn-ea"/>
                <a:cs typeface="+mn-cs"/>
              </a:rPr>
            </a:br>
            <a:r>
              <a:rPr kumimoji="0" lang="zh-CN" altLang="en-US" sz="1600" b="0" i="0" u="none" strike="noStrike" kern="0" cap="none" spc="0" normalizeH="0" baseline="0" noProof="0" dirty="0">
                <a:ln>
                  <a:noFill/>
                </a:ln>
                <a:solidFill>
                  <a:schemeClr val="tx1"/>
                </a:solidFill>
                <a:effectLst/>
                <a:uLnTx/>
                <a:uFillTx/>
                <a:latin typeface="+mn-lt"/>
                <a:ea typeface="+mn-ea"/>
                <a:cs typeface="+mn-cs"/>
              </a:rPr>
              <a:t>         张 平       微分方程 </a:t>
            </a:r>
            <a:br>
              <a:rPr kumimoji="0" lang="zh-CN" altLang="en-US" sz="1600" b="0" i="0" u="none" strike="noStrike" kern="0" cap="none" spc="0" normalizeH="0" baseline="0" noProof="0" dirty="0">
                <a:ln>
                  <a:noFill/>
                </a:ln>
                <a:solidFill>
                  <a:schemeClr val="tx1"/>
                </a:solidFill>
                <a:effectLst/>
                <a:uLnTx/>
                <a:uFillTx/>
                <a:latin typeface="+mn-lt"/>
                <a:ea typeface="+mn-ea"/>
                <a:cs typeface="+mn-cs"/>
              </a:rPr>
            </a:br>
            <a:r>
              <a:rPr kumimoji="0" lang="zh-CN" altLang="en-US" sz="1600" b="0" i="0" u="none" strike="noStrike" kern="0" cap="none" spc="0" normalizeH="0" baseline="0" noProof="0" dirty="0">
                <a:ln>
                  <a:noFill/>
                </a:ln>
                <a:solidFill>
                  <a:schemeClr val="tx1"/>
                </a:solidFill>
                <a:effectLst/>
                <a:uLnTx/>
                <a:uFillTx/>
                <a:latin typeface="+mn-lt"/>
                <a:ea typeface="+mn-ea"/>
                <a:cs typeface="+mn-cs"/>
              </a:rPr>
              <a:t>                     高等代数 </a:t>
            </a:r>
            <a:endParaRPr kumimoji="0" lang="zh-CN" altLang="en-US" sz="16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Tx/>
              <a:buSzTx/>
              <a:buFontTx/>
              <a:buNone/>
              <a:defRPr/>
            </a:pPr>
            <a:r>
              <a:rPr kumimoji="0" lang="en-US" altLang="zh-CN" sz="1600" b="0" i="0" u="none" strike="noStrike" kern="0" cap="none" spc="0" normalizeH="0" baseline="0" noProof="0" dirty="0">
                <a:ln>
                  <a:noFill/>
                </a:ln>
                <a:solidFill>
                  <a:schemeClr val="tx1"/>
                </a:solidFill>
                <a:effectLst/>
                <a:uLnTx/>
                <a:uFillTx/>
                <a:latin typeface="+mn-lt"/>
                <a:ea typeface="+mn-ea"/>
                <a:cs typeface="+mn-cs"/>
              </a:rPr>
              <a:t>   -----------------------------------------</a:t>
            </a:r>
            <a:br>
              <a:rPr kumimoji="0" lang="en-US" altLang="zh-CN" sz="1600" b="0" i="0" u="none" strike="noStrike" kern="0" cap="none" spc="0" normalizeH="0" baseline="0" noProof="0" dirty="0">
                <a:ln>
                  <a:noFill/>
                </a:ln>
                <a:solidFill>
                  <a:schemeClr val="tx1"/>
                </a:solidFill>
                <a:effectLst/>
                <a:uLnTx/>
                <a:uFillTx/>
                <a:latin typeface="+mn-lt"/>
                <a:ea typeface="+mn-ea"/>
                <a:cs typeface="+mn-cs"/>
              </a:rPr>
            </a:br>
            <a:r>
              <a:rPr kumimoji="0" lang="en-US" altLang="zh-CN" sz="1600" b="0" i="0" u="none" strike="noStrike" kern="0" cap="none" spc="0" normalizeH="0" baseline="0" noProof="0" dirty="0">
                <a:ln>
                  <a:noFill/>
                </a:ln>
                <a:solidFill>
                  <a:schemeClr val="tx1"/>
                </a:solidFill>
                <a:effectLst/>
                <a:uLnTx/>
                <a:uFillTx/>
                <a:latin typeface="+mn-lt"/>
                <a:ea typeface="+mn-ea"/>
                <a:cs typeface="+mn-cs"/>
              </a:rPr>
              <a:t>  </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计算数学  王 娟       数学分析 </a:t>
            </a:r>
            <a:br>
              <a:rPr kumimoji="0" lang="zh-CN" altLang="en-US" sz="1600" b="0" i="0" u="none" strike="noStrike" kern="0" cap="none" spc="0" normalizeH="0" baseline="0" noProof="0" dirty="0">
                <a:ln>
                  <a:noFill/>
                </a:ln>
                <a:solidFill>
                  <a:schemeClr val="tx1"/>
                </a:solidFill>
                <a:effectLst/>
                <a:uLnTx/>
                <a:uFillTx/>
                <a:latin typeface="+mn-lt"/>
                <a:ea typeface="+mn-ea"/>
                <a:cs typeface="+mn-cs"/>
              </a:rPr>
            </a:br>
            <a:r>
              <a:rPr kumimoji="0" lang="zh-CN" altLang="en-US" sz="1600" b="0" i="0" u="none" strike="noStrike" kern="0" cap="none" spc="0" normalizeH="0" baseline="0" noProof="0" dirty="0">
                <a:ln>
                  <a:noFill/>
                </a:ln>
                <a:solidFill>
                  <a:schemeClr val="tx1"/>
                </a:solidFill>
                <a:effectLst/>
                <a:uLnTx/>
                <a:uFillTx/>
                <a:latin typeface="+mn-lt"/>
                <a:ea typeface="+mn-ea"/>
                <a:cs typeface="+mn-cs"/>
              </a:rPr>
              <a:t>            周 峰       </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br>
              <a:rPr kumimoji="0" lang="en-US" altLang="zh-CN" sz="1600" b="0" i="0" u="none" strike="noStrike" kern="0" cap="none" spc="0" normalizeH="0" baseline="0" noProof="0" dirty="0">
                <a:ln>
                  <a:noFill/>
                </a:ln>
                <a:solidFill>
                  <a:schemeClr val="tx1"/>
                </a:solidFill>
                <a:effectLst/>
                <a:uLnTx/>
                <a:uFillTx/>
                <a:latin typeface="+mn-lt"/>
                <a:ea typeface="+mn-ea"/>
                <a:cs typeface="+mn-cs"/>
              </a:rPr>
            </a:br>
            <a:r>
              <a:rPr kumimoji="0" lang="en-US" altLang="zh-CN" sz="1600" b="0" i="0" u="none" strike="noStrike" kern="0" cap="none" spc="0" normalizeH="0" baseline="0" noProof="0" dirty="0">
                <a:ln>
                  <a:noFill/>
                </a:ln>
                <a:solidFill>
                  <a:schemeClr val="tx1"/>
                </a:solidFill>
                <a:effectLst/>
                <a:uLnTx/>
                <a:uFillTx/>
                <a:latin typeface="+mn-lt"/>
                <a:ea typeface="+mn-ea"/>
                <a:cs typeface="+mn-cs"/>
              </a:rPr>
              <a:t>                    </a:t>
            </a:r>
            <a:endParaRPr kumimoji="0" lang="zh-CN" altLang="en-US" sz="1600" b="0" i="0" u="none" strike="noStrike" kern="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80000"/>
              </a:lnSpc>
              <a:spcBef>
                <a:spcPct val="20000"/>
              </a:spcBef>
              <a:spcAft>
                <a:spcPct val="0"/>
              </a:spcAft>
              <a:buClrTx/>
              <a:buSzTx/>
              <a:buFontTx/>
              <a:buChar char="•"/>
              <a:defRPr/>
            </a:pPr>
            <a:endParaRPr kumimoji="0" lang="zh-CN" altLang="en-US" sz="16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4994" name="Rectangle 2"/>
          <p:cNvSpPr>
            <a:spLocks noGrp="1"/>
          </p:cNvSpPr>
          <p:nvPr>
            <p:ph type="title"/>
          </p:nvPr>
        </p:nvSpPr>
        <p:spPr>
          <a:xfrm>
            <a:off x="1279525" y="685800"/>
            <a:ext cx="7086600" cy="487363"/>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多值依赖</a:t>
            </a:r>
            <a:endParaRPr lang="zh-CN" altLang="en-US" sz="4000" b="1" dirty="0">
              <a:solidFill>
                <a:srgbClr val="E40000"/>
              </a:solidFill>
              <a:latin typeface="Arial" panose="020B0604020202020204" pitchFamily="34" charset="0"/>
            </a:endParaRPr>
          </a:p>
        </p:txBody>
      </p:sp>
      <p:sp>
        <p:nvSpPr>
          <p:cNvPr id="84995" name="Rectangle 3"/>
          <p:cNvSpPr>
            <a:spLocks noGrp="1"/>
          </p:cNvSpPr>
          <p:nvPr>
            <p:ph idx="1"/>
          </p:nvPr>
        </p:nvSpPr>
        <p:spPr>
          <a:xfrm>
            <a:off x="685800" y="1524000"/>
            <a:ext cx="7772400" cy="4572000"/>
          </a:xfrm>
          <a:ln/>
        </p:spPr>
        <p:txBody>
          <a:bodyPr vert="horz" wrap="square" lIns="91440" tIns="45720" rIns="91440" bIns="45720" anchor="t" anchorCtr="0"/>
          <a:p>
            <a:pPr marL="387350" indent="-387350" eaLnBrk="1" hangingPunct="1">
              <a:lnSpc>
                <a:spcPct val="90000"/>
              </a:lnSpc>
            </a:pPr>
            <a:r>
              <a:rPr lang="zh-CN" altLang="en-US" sz="2000" b="1" dirty="0"/>
              <a:t>把这张表变成一张规范化的二维表</a:t>
            </a:r>
            <a:r>
              <a:rPr lang="en-US" altLang="zh-CN" sz="2000" b="1" dirty="0"/>
              <a:t>,</a:t>
            </a:r>
            <a:r>
              <a:rPr lang="zh-CN" altLang="en-US" sz="2000" b="1" dirty="0"/>
              <a:t>就成为</a:t>
            </a:r>
            <a:r>
              <a:rPr lang="en-US" altLang="zh-CN" sz="2000" b="1" dirty="0"/>
              <a:t>:Teaching</a:t>
            </a:r>
            <a:endParaRPr lang="en-US" altLang="zh-CN" sz="2000" b="1" dirty="0"/>
          </a:p>
          <a:p>
            <a:pPr marL="387350" indent="-387350" eaLnBrk="1" hangingPunct="1">
              <a:lnSpc>
                <a:spcPct val="90000"/>
              </a:lnSpc>
            </a:pPr>
            <a:r>
              <a:rPr lang="zh-CN" altLang="en-US" sz="2000" dirty="0"/>
              <a:t>课程</a:t>
            </a:r>
            <a:r>
              <a:rPr lang="en-US" altLang="zh-CN" sz="2000" dirty="0"/>
              <a:t>C    </a:t>
            </a:r>
            <a:r>
              <a:rPr lang="zh-CN" altLang="en-US" sz="2000" dirty="0"/>
              <a:t>教员</a:t>
            </a:r>
            <a:r>
              <a:rPr lang="en-US" altLang="zh-CN" sz="2000" dirty="0"/>
              <a:t>T      </a:t>
            </a:r>
            <a:r>
              <a:rPr lang="zh-CN" altLang="en-US" sz="2000" dirty="0"/>
              <a:t>参考书</a:t>
            </a:r>
            <a:r>
              <a:rPr lang="en-US" altLang="zh-CN" sz="2000" dirty="0"/>
              <a:t>B </a:t>
            </a:r>
            <a:br>
              <a:rPr lang="en-US" altLang="zh-CN" sz="2000" dirty="0"/>
            </a:br>
            <a:r>
              <a:rPr lang="en-US" altLang="zh-CN" sz="2000" dirty="0"/>
              <a:t>------------------------------- </a:t>
            </a:r>
            <a:br>
              <a:rPr lang="en-US" altLang="zh-CN" sz="2000" dirty="0"/>
            </a:br>
            <a:r>
              <a:rPr lang="zh-CN" altLang="en-US" sz="2000" dirty="0"/>
              <a:t>物 理    </a:t>
            </a:r>
            <a:r>
              <a:rPr lang="zh-CN" altLang="en-US" sz="2000" dirty="0">
                <a:solidFill>
                  <a:srgbClr val="990099"/>
                </a:solidFill>
              </a:rPr>
              <a:t>李 勇</a:t>
            </a:r>
            <a:r>
              <a:rPr lang="zh-CN" altLang="en-US" sz="2000" dirty="0"/>
              <a:t>      普通物理学 </a:t>
            </a:r>
            <a:br>
              <a:rPr lang="zh-CN" altLang="en-US" sz="2000" dirty="0"/>
            </a:br>
            <a:r>
              <a:rPr lang="zh-CN" altLang="en-US" sz="2000" dirty="0"/>
              <a:t>物 理    </a:t>
            </a:r>
            <a:r>
              <a:rPr lang="zh-CN" altLang="en-US" sz="2000" dirty="0">
                <a:solidFill>
                  <a:srgbClr val="990099"/>
                </a:solidFill>
              </a:rPr>
              <a:t>李 勇</a:t>
            </a:r>
            <a:r>
              <a:rPr lang="zh-CN" altLang="en-US" sz="2000" dirty="0"/>
              <a:t>      光学原理 </a:t>
            </a:r>
            <a:br>
              <a:rPr lang="zh-CN" altLang="en-US" sz="2000" dirty="0"/>
            </a:br>
            <a:r>
              <a:rPr lang="zh-CN" altLang="en-US" sz="2000" dirty="0"/>
              <a:t>物 理    </a:t>
            </a:r>
            <a:r>
              <a:rPr lang="zh-CN" altLang="en-US" sz="2000" dirty="0">
                <a:solidFill>
                  <a:srgbClr val="990099"/>
                </a:solidFill>
              </a:rPr>
              <a:t>李 勇</a:t>
            </a:r>
            <a:r>
              <a:rPr lang="zh-CN" altLang="en-US" sz="2000" dirty="0"/>
              <a:t>      物理习题集 </a:t>
            </a:r>
            <a:br>
              <a:rPr lang="zh-CN" altLang="en-US" sz="2000" dirty="0"/>
            </a:br>
            <a:r>
              <a:rPr lang="zh-CN" altLang="en-US" sz="2000" dirty="0"/>
              <a:t>物 理    王 军      普通物理学 </a:t>
            </a:r>
            <a:br>
              <a:rPr lang="zh-CN" altLang="en-US" sz="2000" dirty="0"/>
            </a:br>
            <a:r>
              <a:rPr lang="zh-CN" altLang="en-US" sz="2000" dirty="0"/>
              <a:t>物 理    王 军      光学原理 </a:t>
            </a:r>
            <a:br>
              <a:rPr lang="zh-CN" altLang="en-US" sz="2000" dirty="0"/>
            </a:br>
            <a:r>
              <a:rPr lang="zh-CN" altLang="en-US" sz="2000" dirty="0"/>
              <a:t>物 理    王 军      物理习题集 </a:t>
            </a:r>
            <a:br>
              <a:rPr lang="zh-CN" altLang="en-US" sz="2000" dirty="0"/>
            </a:br>
            <a:r>
              <a:rPr lang="zh-CN" altLang="en-US" sz="2000" dirty="0"/>
              <a:t>数 学    </a:t>
            </a:r>
            <a:r>
              <a:rPr lang="zh-CN" altLang="en-US" sz="2000" dirty="0">
                <a:solidFill>
                  <a:srgbClr val="3366FF"/>
                </a:solidFill>
              </a:rPr>
              <a:t>刘 斌</a:t>
            </a:r>
            <a:r>
              <a:rPr lang="zh-CN" altLang="en-US" sz="2000" dirty="0"/>
              <a:t>      数学分析 </a:t>
            </a:r>
            <a:br>
              <a:rPr lang="zh-CN" altLang="en-US" sz="2000" dirty="0"/>
            </a:br>
            <a:r>
              <a:rPr lang="zh-CN" altLang="en-US" sz="2000" dirty="0"/>
              <a:t>数 学    </a:t>
            </a:r>
            <a:r>
              <a:rPr lang="zh-CN" altLang="en-US" sz="2000" dirty="0">
                <a:solidFill>
                  <a:srgbClr val="3366FF"/>
                </a:solidFill>
              </a:rPr>
              <a:t>刘 斌</a:t>
            </a:r>
            <a:r>
              <a:rPr lang="zh-CN" altLang="en-US" sz="2000" dirty="0"/>
              <a:t>      微分方程 </a:t>
            </a:r>
            <a:br>
              <a:rPr lang="zh-CN" altLang="en-US" sz="2000" dirty="0"/>
            </a:br>
            <a:r>
              <a:rPr lang="zh-CN" altLang="en-US" sz="2000" dirty="0"/>
              <a:t>数 学    </a:t>
            </a:r>
            <a:r>
              <a:rPr lang="zh-CN" altLang="en-US" sz="2000" dirty="0">
                <a:solidFill>
                  <a:srgbClr val="3366FF"/>
                </a:solidFill>
              </a:rPr>
              <a:t>刘 斌</a:t>
            </a:r>
            <a:r>
              <a:rPr lang="zh-CN" altLang="en-US" sz="2000" dirty="0"/>
              <a:t>      高等代数 </a:t>
            </a:r>
            <a:br>
              <a:rPr lang="zh-CN" altLang="en-US" sz="2000" dirty="0"/>
            </a:br>
            <a:r>
              <a:rPr lang="zh-CN" altLang="en-US" sz="2000" dirty="0"/>
              <a:t>数 学    </a:t>
            </a:r>
            <a:r>
              <a:rPr lang="zh-CN" altLang="en-US" sz="2000" dirty="0">
                <a:solidFill>
                  <a:srgbClr val="FF9933"/>
                </a:solidFill>
              </a:rPr>
              <a:t>张 平</a:t>
            </a:r>
            <a:r>
              <a:rPr lang="zh-CN" altLang="en-US" sz="2000" dirty="0"/>
              <a:t>      数学分析 </a:t>
            </a:r>
            <a:br>
              <a:rPr lang="zh-CN" altLang="en-US" sz="2000" dirty="0"/>
            </a:br>
            <a:r>
              <a:rPr lang="zh-CN" altLang="en-US" sz="2000" dirty="0"/>
              <a:t>数 学    </a:t>
            </a:r>
            <a:r>
              <a:rPr lang="zh-CN" altLang="en-US" sz="2000" dirty="0">
                <a:solidFill>
                  <a:srgbClr val="FF9933"/>
                </a:solidFill>
              </a:rPr>
              <a:t>张 平</a:t>
            </a:r>
            <a:r>
              <a:rPr lang="zh-CN" altLang="en-US" sz="2000" dirty="0"/>
              <a:t>      微分方程 </a:t>
            </a:r>
            <a:br>
              <a:rPr lang="zh-CN" altLang="en-US" sz="2000" dirty="0"/>
            </a:br>
            <a:r>
              <a:rPr lang="zh-CN" altLang="en-US" sz="2000" dirty="0"/>
              <a:t>数 学    </a:t>
            </a:r>
            <a:r>
              <a:rPr lang="zh-CN" altLang="en-US" sz="2000" dirty="0">
                <a:solidFill>
                  <a:srgbClr val="FF9933"/>
                </a:solidFill>
              </a:rPr>
              <a:t>张 平</a:t>
            </a:r>
            <a:r>
              <a:rPr lang="zh-CN" altLang="en-US" sz="2000" dirty="0"/>
              <a:t>      高等代数 </a:t>
            </a:r>
            <a:endParaRPr lang="zh-CN" alt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7042" name="Rectangle 2"/>
          <p:cNvSpPr>
            <a:spLocks noGrp="1"/>
          </p:cNvSpPr>
          <p:nvPr>
            <p:ph type="title"/>
          </p:nvPr>
        </p:nvSpPr>
        <p:spPr>
          <a:xfrm>
            <a:off x="1279525" y="685800"/>
            <a:ext cx="7086600" cy="487363"/>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多值依赖</a:t>
            </a:r>
            <a:endParaRPr lang="zh-CN" altLang="en-US" sz="4000" b="1" dirty="0">
              <a:solidFill>
                <a:srgbClr val="E40000"/>
              </a:solidFill>
              <a:latin typeface="Arial" panose="020B0604020202020204" pitchFamily="34" charset="0"/>
            </a:endParaRPr>
          </a:p>
        </p:txBody>
      </p:sp>
      <p:sp>
        <p:nvSpPr>
          <p:cNvPr id="87043" name="Rectangle 3"/>
          <p:cNvSpPr>
            <a:spLocks noGrp="1"/>
          </p:cNvSpPr>
          <p:nvPr>
            <p:ph idx="1"/>
          </p:nvPr>
        </p:nvSpPr>
        <p:spPr>
          <a:xfrm>
            <a:off x="685800" y="1524000"/>
            <a:ext cx="7772400" cy="4572000"/>
          </a:xfrm>
          <a:ln/>
        </p:spPr>
        <p:txBody>
          <a:bodyPr vert="horz" wrap="square" lIns="91440" tIns="45720" rIns="91440" bIns="45720" anchor="t" anchorCtr="0"/>
          <a:p>
            <a:pPr marL="387350" indent="-387350" eaLnBrk="1" hangingPunct="1">
              <a:lnSpc>
                <a:spcPct val="90000"/>
              </a:lnSpc>
            </a:pPr>
            <a:r>
              <a:rPr lang="zh-CN" altLang="en-US" sz="2400" b="1" dirty="0"/>
              <a:t>仔细考察这类关系模式，发现它具有一种称为多值依赖</a:t>
            </a:r>
            <a:r>
              <a:rPr lang="en-US" altLang="zh-CN" sz="2400" b="1" dirty="0"/>
              <a:t>(MVD)</a:t>
            </a:r>
            <a:r>
              <a:rPr lang="zh-CN" altLang="en-US" sz="2400" b="1" dirty="0"/>
              <a:t>的数据依赖 </a:t>
            </a:r>
            <a:endParaRPr lang="zh-CN" altLang="en-US" sz="2400" b="1" dirty="0"/>
          </a:p>
          <a:p>
            <a:pPr marL="387350" indent="-387350" eaLnBrk="1" hangingPunct="1">
              <a:lnSpc>
                <a:spcPct val="90000"/>
              </a:lnSpc>
            </a:pPr>
            <a:r>
              <a:rPr lang="zh-CN" altLang="en-US" sz="2400" b="1" dirty="0"/>
              <a:t>定义</a:t>
            </a:r>
            <a:r>
              <a:rPr lang="en-US" altLang="zh-CN" sz="2400" b="1" dirty="0"/>
              <a:t>4.10</a:t>
            </a:r>
            <a:r>
              <a:rPr lang="zh-CN" altLang="en-US" sz="2400" b="1" dirty="0"/>
              <a:t>：设</a:t>
            </a:r>
            <a:r>
              <a:rPr lang="en-US" altLang="zh-CN" sz="2400" b="1" dirty="0"/>
              <a:t>R(U)</a:t>
            </a:r>
            <a:r>
              <a:rPr lang="zh-CN" altLang="en-US" sz="2400" b="1" dirty="0"/>
              <a:t>是属性集</a:t>
            </a:r>
            <a:r>
              <a:rPr lang="en-US" altLang="zh-CN" sz="2400" b="1" dirty="0"/>
              <a:t>U</a:t>
            </a:r>
            <a:r>
              <a:rPr lang="zh-CN" altLang="en-US" sz="2400" b="1" dirty="0"/>
              <a:t>上的一个关系模式。</a:t>
            </a:r>
            <a:r>
              <a:rPr lang="en-US" altLang="zh-CN" sz="2400" b="1" dirty="0"/>
              <a:t>X</a:t>
            </a:r>
            <a:r>
              <a:rPr lang="zh-CN" altLang="en-US" sz="2400" b="1" dirty="0"/>
              <a:t>，</a:t>
            </a:r>
            <a:r>
              <a:rPr lang="en-US" altLang="zh-CN" sz="2400" b="1" dirty="0"/>
              <a:t>Y</a:t>
            </a:r>
            <a:r>
              <a:rPr lang="zh-CN" altLang="en-US" sz="2400" b="1" dirty="0"/>
              <a:t>，</a:t>
            </a:r>
            <a:r>
              <a:rPr lang="en-US" altLang="zh-CN" sz="2400" b="1" dirty="0"/>
              <a:t>Z</a:t>
            </a:r>
            <a:r>
              <a:rPr lang="zh-CN" altLang="en-US" sz="2400" b="1" dirty="0"/>
              <a:t>是的</a:t>
            </a:r>
            <a:r>
              <a:rPr lang="en-US" altLang="zh-CN" sz="2400" b="1" dirty="0"/>
              <a:t>U</a:t>
            </a:r>
            <a:r>
              <a:rPr lang="zh-CN" altLang="en-US" sz="2400" b="1" dirty="0"/>
              <a:t>的子集</a:t>
            </a:r>
            <a:r>
              <a:rPr lang="en-US" altLang="zh-CN" sz="2400" b="1" dirty="0"/>
              <a:t>,</a:t>
            </a:r>
            <a:r>
              <a:rPr lang="zh-CN" altLang="en-US" sz="2400" b="1" dirty="0"/>
              <a:t>并且</a:t>
            </a:r>
            <a:r>
              <a:rPr lang="en-US" altLang="zh-CN" sz="2400" b="1" dirty="0">
                <a:solidFill>
                  <a:srgbClr val="FF9933"/>
                </a:solidFill>
              </a:rPr>
              <a:t>Z=U-X-Y</a:t>
            </a:r>
            <a:r>
              <a:rPr lang="zh-CN" altLang="en-US" sz="2400" b="1" dirty="0"/>
              <a:t>。关系模式</a:t>
            </a:r>
            <a:r>
              <a:rPr lang="en-US" altLang="zh-CN" sz="2400" b="1" dirty="0"/>
              <a:t>R(U)</a:t>
            </a:r>
            <a:r>
              <a:rPr lang="zh-CN" altLang="en-US" sz="2400" b="1" dirty="0"/>
              <a:t>中多值依赖</a:t>
            </a:r>
            <a:r>
              <a:rPr lang="en-US" altLang="zh-CN" sz="2400" b="1" dirty="0"/>
              <a:t>X→→Y</a:t>
            </a:r>
            <a:r>
              <a:rPr lang="zh-CN" altLang="en-US" sz="2400" b="1" dirty="0"/>
              <a:t>成立，当且仅当对</a:t>
            </a:r>
            <a:r>
              <a:rPr lang="en-US" altLang="zh-CN" sz="2400" b="1" dirty="0"/>
              <a:t>R(U)</a:t>
            </a:r>
            <a:r>
              <a:rPr lang="zh-CN" altLang="en-US" sz="2400" b="1" dirty="0"/>
              <a:t>的任一关系</a:t>
            </a:r>
            <a:r>
              <a:rPr lang="en-US" altLang="zh-CN" sz="2400" b="1" dirty="0"/>
              <a:t>r,</a:t>
            </a:r>
            <a:r>
              <a:rPr lang="zh-CN" altLang="en-US" sz="2400" b="1" dirty="0"/>
              <a:t>给定的一对</a:t>
            </a:r>
            <a:r>
              <a:rPr lang="en-US" altLang="zh-CN" sz="2400" b="1" dirty="0">
                <a:solidFill>
                  <a:srgbClr val="00B0F0"/>
                </a:solidFill>
              </a:rPr>
              <a:t>(x</a:t>
            </a:r>
            <a:r>
              <a:rPr lang="zh-CN" altLang="en-US" sz="2400" b="1" dirty="0">
                <a:solidFill>
                  <a:srgbClr val="00B0F0"/>
                </a:solidFill>
              </a:rPr>
              <a:t>，</a:t>
            </a:r>
            <a:r>
              <a:rPr lang="en-US" altLang="zh-CN" sz="2400" b="1" dirty="0">
                <a:solidFill>
                  <a:srgbClr val="00B0F0"/>
                </a:solidFill>
              </a:rPr>
              <a:t>z)</a:t>
            </a:r>
            <a:r>
              <a:rPr lang="zh-CN" altLang="en-US" sz="2400" b="1" dirty="0"/>
              <a:t>值有一组</a:t>
            </a:r>
            <a:r>
              <a:rPr lang="en-US" altLang="zh-CN" sz="2400" b="1" dirty="0"/>
              <a:t>Y</a:t>
            </a:r>
            <a:r>
              <a:rPr lang="zh-CN" altLang="en-US" sz="2400" b="1" dirty="0"/>
              <a:t>的值，这组值仅仅决定于</a:t>
            </a:r>
            <a:r>
              <a:rPr lang="en-US" altLang="zh-CN" sz="2400" b="1" dirty="0"/>
              <a:t>x</a:t>
            </a:r>
            <a:r>
              <a:rPr lang="zh-CN" altLang="en-US" sz="2400" b="1" dirty="0"/>
              <a:t>值而与</a:t>
            </a:r>
            <a:r>
              <a:rPr lang="en-US" altLang="zh-CN" sz="2400" b="1" dirty="0"/>
              <a:t>z</a:t>
            </a:r>
            <a:r>
              <a:rPr lang="zh-CN" altLang="en-US" sz="2400" b="1" dirty="0"/>
              <a:t>值</a:t>
            </a:r>
            <a:r>
              <a:rPr lang="zh-CN" altLang="en-US" sz="2400" b="1" dirty="0">
                <a:solidFill>
                  <a:srgbClr val="FF9933"/>
                </a:solidFill>
              </a:rPr>
              <a:t>无关</a:t>
            </a:r>
            <a:endParaRPr lang="zh-CN" altLang="en-US" sz="2400" b="1" dirty="0">
              <a:solidFill>
                <a:srgbClr val="FF9933"/>
              </a:solidFill>
            </a:endParaRPr>
          </a:p>
          <a:p>
            <a:pPr marL="387350" indent="-387350" eaLnBrk="1" hangingPunct="1">
              <a:lnSpc>
                <a:spcPct val="90000"/>
              </a:lnSpc>
            </a:pPr>
            <a:r>
              <a:rPr lang="zh-CN" altLang="en-US" sz="2400" b="1" dirty="0"/>
              <a:t>例如，在关系模式</a:t>
            </a:r>
            <a:r>
              <a:rPr lang="en-US" altLang="zh-CN" sz="2400" b="1" dirty="0"/>
              <a:t>TEACHING</a:t>
            </a:r>
            <a:r>
              <a:rPr lang="zh-CN" altLang="en-US" sz="2400" b="1" dirty="0"/>
              <a:t>中，对于</a:t>
            </a:r>
            <a:r>
              <a:rPr lang="en-US" altLang="zh-CN" sz="2400" b="1" dirty="0"/>
              <a:t>(</a:t>
            </a:r>
            <a:r>
              <a:rPr lang="zh-CN" altLang="en-US" sz="2400" b="1" dirty="0"/>
              <a:t>物理，光学原理</a:t>
            </a:r>
            <a:r>
              <a:rPr lang="en-US" altLang="zh-CN" sz="2400" b="1" dirty="0"/>
              <a:t>)</a:t>
            </a:r>
            <a:r>
              <a:rPr lang="zh-CN" altLang="en-US" sz="2400" b="1" dirty="0"/>
              <a:t>有一组</a:t>
            </a:r>
            <a:r>
              <a:rPr lang="en-US" altLang="zh-CN" sz="2400" b="1" dirty="0"/>
              <a:t>T</a:t>
            </a:r>
            <a:r>
              <a:rPr lang="zh-CN" altLang="en-US" sz="2400" b="1" dirty="0"/>
              <a:t>值</a:t>
            </a:r>
            <a:r>
              <a:rPr lang="en-US" altLang="zh-CN" sz="2400" b="1" dirty="0"/>
              <a:t>{</a:t>
            </a:r>
            <a:r>
              <a:rPr lang="zh-CN" altLang="en-US" sz="2400" b="1" dirty="0"/>
              <a:t>李勇，王军</a:t>
            </a:r>
            <a:r>
              <a:rPr lang="en-US" altLang="zh-CN" sz="2400" b="1" dirty="0"/>
              <a:t>}</a:t>
            </a:r>
            <a:r>
              <a:rPr lang="zh-CN" altLang="en-US" sz="2400" b="1" dirty="0"/>
              <a:t>，这组值仅仅决定于课程</a:t>
            </a:r>
            <a:r>
              <a:rPr lang="en-US" altLang="zh-CN" sz="2400" b="1" dirty="0"/>
              <a:t>C</a:t>
            </a:r>
            <a:r>
              <a:rPr lang="zh-CN" altLang="en-US" sz="2400" b="1" dirty="0"/>
              <a:t>上的值</a:t>
            </a:r>
            <a:r>
              <a:rPr lang="en-US" altLang="zh-CN" sz="2400" b="1" dirty="0"/>
              <a:t>(</a:t>
            </a:r>
            <a:r>
              <a:rPr lang="zh-CN" altLang="en-US" sz="2400" b="1" dirty="0"/>
              <a:t>物理</a:t>
            </a:r>
            <a:r>
              <a:rPr lang="en-US" altLang="zh-CN" sz="2400" b="1" dirty="0"/>
              <a:t>)</a:t>
            </a:r>
            <a:r>
              <a:rPr lang="zh-CN" altLang="en-US" sz="2400" b="1" dirty="0"/>
              <a:t>，也就是说对于另一个</a:t>
            </a:r>
            <a:r>
              <a:rPr lang="en-US" altLang="zh-CN" sz="2400" b="1" dirty="0"/>
              <a:t>(</a:t>
            </a:r>
            <a:r>
              <a:rPr lang="zh-CN" altLang="en-US" sz="2400" b="1" dirty="0"/>
              <a:t>物理</a:t>
            </a:r>
            <a:r>
              <a:rPr lang="en-US" altLang="zh-CN" sz="2400" b="1" dirty="0"/>
              <a:t>,</a:t>
            </a:r>
            <a:r>
              <a:rPr lang="zh-CN" altLang="en-US" sz="2400" b="1" dirty="0"/>
              <a:t>普通物理学</a:t>
            </a:r>
            <a:r>
              <a:rPr lang="en-US" altLang="zh-CN" sz="2400" b="1" dirty="0"/>
              <a:t>)</a:t>
            </a:r>
            <a:r>
              <a:rPr lang="zh-CN" altLang="en-US" sz="2400" b="1" dirty="0"/>
              <a:t>它对应的一组</a:t>
            </a:r>
            <a:r>
              <a:rPr lang="en-US" altLang="zh-CN" sz="2400" b="1" dirty="0"/>
              <a:t>T</a:t>
            </a:r>
            <a:r>
              <a:rPr lang="zh-CN" altLang="en-US" sz="2400" b="1" dirty="0"/>
              <a:t>值仍是</a:t>
            </a:r>
            <a:r>
              <a:rPr lang="en-US" altLang="zh-CN" sz="2400" b="1" dirty="0"/>
              <a:t>{</a:t>
            </a:r>
            <a:r>
              <a:rPr lang="zh-CN" altLang="en-US" sz="2400" b="1" dirty="0"/>
              <a:t>李勇</a:t>
            </a:r>
            <a:r>
              <a:rPr lang="en-US" altLang="zh-CN" sz="2400" b="1" dirty="0"/>
              <a:t>,</a:t>
            </a:r>
            <a:r>
              <a:rPr lang="zh-CN" altLang="en-US" sz="2400" b="1" dirty="0"/>
              <a:t>王军</a:t>
            </a:r>
            <a:r>
              <a:rPr lang="en-US" altLang="zh-CN" sz="2400" b="1" dirty="0"/>
              <a:t>}</a:t>
            </a:r>
            <a:r>
              <a:rPr lang="zh-CN" altLang="en-US" sz="2400" b="1" dirty="0"/>
              <a:t>，尽管这时参考书</a:t>
            </a:r>
            <a:r>
              <a:rPr lang="en-US" altLang="zh-CN" sz="2400" b="1" dirty="0"/>
              <a:t>B</a:t>
            </a:r>
            <a:r>
              <a:rPr lang="zh-CN" altLang="en-US" sz="2400" b="1" dirty="0"/>
              <a:t>的值已经改变了。因此，</a:t>
            </a:r>
            <a:r>
              <a:rPr lang="en-US" altLang="zh-CN" sz="2400" b="1" dirty="0"/>
              <a:t>T</a:t>
            </a:r>
            <a:r>
              <a:rPr lang="zh-CN" altLang="en-US" sz="2400" b="1" dirty="0"/>
              <a:t>多值依赖于</a:t>
            </a:r>
            <a:r>
              <a:rPr lang="en-US" altLang="zh-CN" sz="2400" b="1" dirty="0"/>
              <a:t>C</a:t>
            </a:r>
            <a:r>
              <a:rPr lang="zh-CN" altLang="en-US" sz="2400" b="1" dirty="0"/>
              <a:t>，即</a:t>
            </a:r>
            <a:r>
              <a:rPr lang="en-US" altLang="zh-CN" sz="2400" b="1" dirty="0"/>
              <a:t>C→→T</a:t>
            </a:r>
            <a:endParaRPr lang="zh-CN" altLang="en-US" sz="24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9090" name="Rectangle 2"/>
          <p:cNvSpPr>
            <a:spLocks noGrp="1"/>
          </p:cNvSpPr>
          <p:nvPr>
            <p:ph type="title"/>
          </p:nvPr>
        </p:nvSpPr>
        <p:spPr>
          <a:xfrm>
            <a:off x="1279525" y="685800"/>
            <a:ext cx="7086600" cy="487363"/>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多值依赖</a:t>
            </a:r>
            <a:endParaRPr lang="zh-CN" altLang="en-US" sz="4000" b="1" dirty="0">
              <a:solidFill>
                <a:srgbClr val="E40000"/>
              </a:solidFill>
              <a:latin typeface="Arial" panose="020B0604020202020204" pitchFamily="34" charset="0"/>
            </a:endParaRPr>
          </a:p>
        </p:txBody>
      </p:sp>
      <p:sp>
        <p:nvSpPr>
          <p:cNvPr id="89091" name="Rectangle 3"/>
          <p:cNvSpPr>
            <a:spLocks noGrp="1"/>
          </p:cNvSpPr>
          <p:nvPr>
            <p:ph idx="1"/>
          </p:nvPr>
        </p:nvSpPr>
        <p:spPr>
          <a:xfrm>
            <a:off x="685800" y="1524000"/>
            <a:ext cx="7772400" cy="4572000"/>
          </a:xfrm>
          <a:ln/>
        </p:spPr>
        <p:txBody>
          <a:bodyPr vert="horz" wrap="square" lIns="91440" tIns="45720" rIns="91440" bIns="45720" anchor="t" anchorCtr="0"/>
          <a:p>
            <a:pPr marL="387350" indent="-387350" eaLnBrk="1" hangingPunct="1">
              <a:lnSpc>
                <a:spcPct val="80000"/>
              </a:lnSpc>
            </a:pPr>
            <a:r>
              <a:rPr lang="zh-CN" altLang="en-US" sz="2400" b="1" dirty="0"/>
              <a:t>以上对多值依赖进行了一些直观的讨论，下面对</a:t>
            </a:r>
            <a:r>
              <a:rPr lang="en-US" altLang="zh-CN" sz="2400" b="1" dirty="0"/>
              <a:t>MVD</a:t>
            </a:r>
            <a:r>
              <a:rPr lang="zh-CN" altLang="en-US" sz="2400" b="1" dirty="0"/>
              <a:t>进行形式化描述</a:t>
            </a:r>
            <a:endParaRPr lang="zh-CN" altLang="en-US" sz="2400" b="1" dirty="0"/>
          </a:p>
          <a:p>
            <a:pPr marL="387350" indent="-387350" eaLnBrk="1" hangingPunct="1">
              <a:lnSpc>
                <a:spcPct val="80000"/>
              </a:lnSpc>
            </a:pPr>
            <a:r>
              <a:rPr lang="zh-CN" altLang="en-US" sz="2400" b="1" dirty="0"/>
              <a:t>定义</a:t>
            </a:r>
            <a:r>
              <a:rPr lang="en-US" altLang="zh-CN" sz="2400" b="1" dirty="0"/>
              <a:t>4.11</a:t>
            </a:r>
            <a:r>
              <a:rPr lang="zh-CN" altLang="en-US" sz="2400" b="1" dirty="0"/>
              <a:t>：设</a:t>
            </a:r>
            <a:r>
              <a:rPr lang="en-US" altLang="zh-CN" sz="2400" b="1" dirty="0"/>
              <a:t>R(U)</a:t>
            </a:r>
            <a:r>
              <a:rPr lang="zh-CN" altLang="en-US" sz="2400" b="1" dirty="0"/>
              <a:t>是属性集</a:t>
            </a:r>
            <a:r>
              <a:rPr lang="en-US" altLang="zh-CN" sz="2400" b="1" dirty="0"/>
              <a:t>U</a:t>
            </a:r>
            <a:r>
              <a:rPr lang="zh-CN" altLang="en-US" sz="2400" b="1" dirty="0"/>
              <a:t>上的一个关系模式。</a:t>
            </a:r>
            <a:r>
              <a:rPr lang="en-US" altLang="zh-CN" sz="2400" b="1" dirty="0"/>
              <a:t>X</a:t>
            </a:r>
            <a:r>
              <a:rPr lang="zh-CN" altLang="en-US" sz="2400" b="1" dirty="0"/>
              <a:t>，</a:t>
            </a:r>
            <a:r>
              <a:rPr lang="en-US" altLang="zh-CN" sz="2400" b="1" dirty="0"/>
              <a:t>Y</a:t>
            </a:r>
            <a:r>
              <a:rPr lang="zh-CN" altLang="en-US" sz="2400" b="1" dirty="0"/>
              <a:t>，</a:t>
            </a:r>
            <a:r>
              <a:rPr lang="en-US" altLang="zh-CN" sz="2400" b="1" dirty="0"/>
              <a:t>Z</a:t>
            </a:r>
            <a:r>
              <a:rPr lang="zh-CN" altLang="en-US" sz="2400" b="1" dirty="0"/>
              <a:t>是的</a:t>
            </a:r>
            <a:r>
              <a:rPr lang="en-US" altLang="zh-CN" sz="2400" b="1" dirty="0"/>
              <a:t>U</a:t>
            </a:r>
            <a:r>
              <a:rPr lang="zh-CN" altLang="en-US" sz="2400" b="1" dirty="0"/>
              <a:t>的子集</a:t>
            </a:r>
            <a:r>
              <a:rPr lang="en-US" altLang="zh-CN" sz="2400" b="1" dirty="0"/>
              <a:t>,</a:t>
            </a:r>
            <a:r>
              <a:rPr lang="zh-CN" altLang="en-US" sz="2400" b="1" dirty="0"/>
              <a:t>并且</a:t>
            </a:r>
            <a:r>
              <a:rPr lang="en-US" altLang="zh-CN" sz="2400" b="1" dirty="0"/>
              <a:t>Z=U-X-Y</a:t>
            </a:r>
            <a:r>
              <a:rPr lang="zh-CN" altLang="en-US" sz="2400" b="1" dirty="0"/>
              <a:t>，如果对</a:t>
            </a:r>
            <a:r>
              <a:rPr lang="en-US" altLang="zh-CN" sz="2400" b="1" dirty="0"/>
              <a:t>R(U)</a:t>
            </a:r>
            <a:r>
              <a:rPr lang="zh-CN" altLang="en-US" sz="2400" b="1" dirty="0"/>
              <a:t>的任一关系</a:t>
            </a:r>
            <a:r>
              <a:rPr lang="en-US" altLang="zh-CN" sz="2400" b="1" dirty="0"/>
              <a:t>r</a:t>
            </a:r>
            <a:r>
              <a:rPr lang="zh-CN" altLang="en-US" sz="2400" b="1" dirty="0"/>
              <a:t>，都有如下性质：</a:t>
            </a:r>
            <a:endParaRPr lang="zh-CN" altLang="en-US" sz="2400" b="1" dirty="0"/>
          </a:p>
          <a:p>
            <a:pPr marL="387350" indent="-387350" eaLnBrk="1" hangingPunct="1">
              <a:lnSpc>
                <a:spcPct val="80000"/>
              </a:lnSpc>
              <a:buNone/>
            </a:pPr>
            <a:r>
              <a:rPr lang="zh-CN" altLang="en-US" sz="2400" b="1" dirty="0"/>
              <a:t>     如果</a:t>
            </a:r>
            <a:r>
              <a:rPr lang="en-US" altLang="zh-CN" sz="2400" b="1" dirty="0"/>
              <a:t>r</a:t>
            </a:r>
            <a:r>
              <a:rPr lang="zh-CN" altLang="en-US" sz="2400" b="1" dirty="0"/>
              <a:t>中存在</a:t>
            </a:r>
            <a:r>
              <a:rPr lang="en-US" altLang="zh-CN" sz="2400" b="1" dirty="0"/>
              <a:t>2</a:t>
            </a:r>
            <a:r>
              <a:rPr lang="zh-CN" altLang="en-US" sz="2400" b="1" dirty="0"/>
              <a:t>个元组</a:t>
            </a:r>
            <a:r>
              <a:rPr lang="en-US" altLang="zh-CN" sz="2400" b="1" dirty="0"/>
              <a:t>s</a:t>
            </a:r>
            <a:r>
              <a:rPr lang="zh-CN" altLang="en-US" sz="2400" b="1" dirty="0"/>
              <a:t>、</a:t>
            </a:r>
            <a:r>
              <a:rPr lang="en-US" altLang="zh-CN" sz="2400" b="1" dirty="0"/>
              <a:t>t</a:t>
            </a:r>
            <a:r>
              <a:rPr lang="zh-CN" altLang="en-US" sz="2400" b="1" dirty="0"/>
              <a:t>，使得：</a:t>
            </a:r>
            <a:endParaRPr lang="zh-CN" altLang="en-US" sz="2400" b="1" dirty="0"/>
          </a:p>
          <a:p>
            <a:pPr marL="387350" indent="-387350" eaLnBrk="1" hangingPunct="1">
              <a:lnSpc>
                <a:spcPct val="80000"/>
              </a:lnSpc>
              <a:buNone/>
            </a:pPr>
            <a:r>
              <a:rPr lang="zh-CN" altLang="en-US" sz="2400" b="1" dirty="0"/>
              <a:t>         </a:t>
            </a:r>
            <a:r>
              <a:rPr lang="en-US" altLang="zh-CN" sz="2400" b="1" dirty="0"/>
              <a:t>s[X]=t[X]</a:t>
            </a:r>
            <a:endParaRPr lang="en-US" altLang="zh-CN" sz="2400" b="1" dirty="0"/>
          </a:p>
          <a:p>
            <a:pPr marL="387350" indent="-387350" eaLnBrk="1" hangingPunct="1">
              <a:lnSpc>
                <a:spcPct val="80000"/>
              </a:lnSpc>
              <a:buNone/>
            </a:pPr>
            <a:r>
              <a:rPr lang="en-US" altLang="zh-CN" sz="2400" b="1" dirty="0"/>
              <a:t>     </a:t>
            </a:r>
            <a:r>
              <a:rPr lang="zh-CN" altLang="en-US" sz="2400" b="1" dirty="0"/>
              <a:t>则</a:t>
            </a:r>
            <a:r>
              <a:rPr lang="en-US" altLang="zh-CN" sz="2400" b="1" dirty="0"/>
              <a:t>r</a:t>
            </a:r>
            <a:r>
              <a:rPr lang="zh-CN" altLang="en-US" sz="2400" b="1" dirty="0"/>
              <a:t>中必存在元组</a:t>
            </a:r>
            <a:r>
              <a:rPr lang="en-US" altLang="zh-CN" sz="2400" b="1" dirty="0"/>
              <a:t>u</a:t>
            </a:r>
            <a:r>
              <a:rPr lang="zh-CN" altLang="en-US" sz="2400" b="1" dirty="0"/>
              <a:t>、</a:t>
            </a:r>
            <a:r>
              <a:rPr lang="en-US" altLang="zh-CN" sz="2400" b="1" dirty="0"/>
              <a:t>v,</a:t>
            </a:r>
            <a:r>
              <a:rPr lang="zh-CN" altLang="en-US" sz="2400" b="1" dirty="0"/>
              <a:t>使得：</a:t>
            </a:r>
            <a:endParaRPr lang="zh-CN" altLang="en-US" sz="2400" b="1" dirty="0"/>
          </a:p>
          <a:p>
            <a:pPr marL="387350" indent="-387350" eaLnBrk="1" hangingPunct="1">
              <a:lnSpc>
                <a:spcPct val="80000"/>
              </a:lnSpc>
              <a:buNone/>
            </a:pPr>
            <a:r>
              <a:rPr lang="zh-CN" altLang="en-US" sz="2400" b="1" dirty="0"/>
              <a:t>        </a:t>
            </a:r>
            <a:r>
              <a:rPr lang="en-US" altLang="zh-CN" sz="2400" b="1" dirty="0"/>
              <a:t>(1) u[X]=v[X]=s[X]=t[X],</a:t>
            </a:r>
            <a:endParaRPr lang="en-US" altLang="zh-CN" sz="2400" b="1" dirty="0"/>
          </a:p>
          <a:p>
            <a:pPr marL="387350" indent="-387350" eaLnBrk="1" hangingPunct="1">
              <a:lnSpc>
                <a:spcPct val="80000"/>
              </a:lnSpc>
              <a:buNone/>
            </a:pPr>
            <a:r>
              <a:rPr lang="en-US" altLang="zh-CN" sz="2400" b="1" dirty="0"/>
              <a:t>        (2) u[Y]=</a:t>
            </a:r>
            <a:r>
              <a:rPr lang="en-US" altLang="zh-CN" sz="2400" b="1" dirty="0">
                <a:solidFill>
                  <a:srgbClr val="990099"/>
                </a:solidFill>
              </a:rPr>
              <a:t>t</a:t>
            </a:r>
            <a:r>
              <a:rPr lang="en-US" altLang="zh-CN" sz="2400" b="1" dirty="0"/>
              <a:t>[Y] </a:t>
            </a:r>
            <a:r>
              <a:rPr lang="zh-CN" altLang="en-US" sz="2400" b="1" dirty="0"/>
              <a:t>且 </a:t>
            </a:r>
            <a:r>
              <a:rPr lang="en-US" altLang="zh-CN" sz="2400" b="1" dirty="0"/>
              <a:t>u[Z]=</a:t>
            </a:r>
            <a:r>
              <a:rPr lang="en-US" altLang="zh-CN" sz="2400" b="1" dirty="0">
                <a:solidFill>
                  <a:srgbClr val="339966"/>
                </a:solidFill>
              </a:rPr>
              <a:t>s</a:t>
            </a:r>
            <a:r>
              <a:rPr lang="en-US" altLang="zh-CN" sz="2400" b="1" dirty="0"/>
              <a:t>[Z]</a:t>
            </a:r>
            <a:endParaRPr lang="en-US" altLang="zh-CN" sz="2400" b="1" dirty="0"/>
          </a:p>
          <a:p>
            <a:pPr marL="387350" indent="-387350" eaLnBrk="1" hangingPunct="1">
              <a:lnSpc>
                <a:spcPct val="80000"/>
              </a:lnSpc>
              <a:buNone/>
            </a:pPr>
            <a:r>
              <a:rPr lang="en-US" altLang="zh-CN" sz="2400" b="1" dirty="0"/>
              <a:t>        (3) v[Y]=</a:t>
            </a:r>
            <a:r>
              <a:rPr lang="en-US" altLang="zh-CN" sz="2400" b="1" dirty="0">
                <a:solidFill>
                  <a:srgbClr val="339966"/>
                </a:solidFill>
              </a:rPr>
              <a:t>s</a:t>
            </a:r>
            <a:r>
              <a:rPr lang="en-US" altLang="zh-CN" sz="2400" b="1" dirty="0"/>
              <a:t>[Y] </a:t>
            </a:r>
            <a:r>
              <a:rPr lang="zh-CN" altLang="en-US" sz="2400" b="1" dirty="0"/>
              <a:t>且 </a:t>
            </a:r>
            <a:r>
              <a:rPr lang="en-US" altLang="zh-CN" sz="2400" b="1" dirty="0"/>
              <a:t>v[Z]=</a:t>
            </a:r>
            <a:r>
              <a:rPr lang="en-US" altLang="zh-CN" sz="2400" b="1" dirty="0">
                <a:solidFill>
                  <a:srgbClr val="990099"/>
                </a:solidFill>
              </a:rPr>
              <a:t>t</a:t>
            </a:r>
            <a:r>
              <a:rPr lang="en-US" altLang="zh-CN" sz="2400" b="1" dirty="0"/>
              <a:t>[Z]</a:t>
            </a:r>
            <a:endParaRPr lang="en-US" altLang="zh-CN" sz="2400" b="1" dirty="0"/>
          </a:p>
          <a:p>
            <a:pPr marL="387350" indent="-387350" eaLnBrk="1" hangingPunct="1">
              <a:lnSpc>
                <a:spcPct val="80000"/>
              </a:lnSpc>
              <a:buNone/>
            </a:pPr>
            <a:r>
              <a:rPr lang="en-US" altLang="zh-CN" sz="2400" b="1" dirty="0"/>
              <a:t>     (</a:t>
            </a:r>
            <a:r>
              <a:rPr lang="zh-CN" altLang="en-US" sz="2400" b="1" dirty="0"/>
              <a:t>即交换</a:t>
            </a:r>
            <a:r>
              <a:rPr lang="en-US" altLang="zh-CN" sz="2400" b="1" dirty="0"/>
              <a:t>s</a:t>
            </a:r>
            <a:r>
              <a:rPr lang="zh-CN" altLang="en-US" sz="2400" b="1" dirty="0"/>
              <a:t>、</a:t>
            </a:r>
            <a:r>
              <a:rPr lang="en-US" altLang="zh-CN" sz="2400" b="1" dirty="0"/>
              <a:t>t</a:t>
            </a:r>
            <a:r>
              <a:rPr lang="zh-CN" altLang="en-US" sz="2400" b="1" dirty="0"/>
              <a:t>在</a:t>
            </a:r>
            <a:r>
              <a:rPr lang="en-US" altLang="zh-CN" sz="2400" b="1" dirty="0"/>
              <a:t>Y</a:t>
            </a:r>
            <a:r>
              <a:rPr lang="zh-CN" altLang="en-US" sz="2400" b="1" dirty="0"/>
              <a:t>上的值得到的</a:t>
            </a:r>
            <a:r>
              <a:rPr lang="en-US" altLang="zh-CN" sz="2400" b="1" dirty="0"/>
              <a:t>2</a:t>
            </a:r>
            <a:r>
              <a:rPr lang="zh-CN" altLang="en-US" sz="2400" b="1" dirty="0"/>
              <a:t>个元组必在</a:t>
            </a:r>
            <a:r>
              <a:rPr lang="en-US" altLang="zh-CN" sz="2400" b="1" dirty="0"/>
              <a:t>r</a:t>
            </a:r>
            <a:r>
              <a:rPr lang="zh-CN" altLang="en-US" sz="2400" b="1" dirty="0"/>
              <a:t>中</a:t>
            </a:r>
            <a:r>
              <a:rPr lang="en-US" altLang="zh-CN" sz="2400" b="1" dirty="0"/>
              <a:t>)</a:t>
            </a:r>
            <a:endParaRPr lang="en-US" altLang="zh-CN" sz="2400" b="1" dirty="0"/>
          </a:p>
          <a:p>
            <a:pPr marL="387350" indent="-387350" eaLnBrk="1" hangingPunct="1">
              <a:lnSpc>
                <a:spcPct val="80000"/>
              </a:lnSpc>
              <a:buNone/>
            </a:pPr>
            <a:r>
              <a:rPr lang="en-US" altLang="zh-CN" sz="2400" b="1" dirty="0"/>
              <a:t>     </a:t>
            </a:r>
            <a:r>
              <a:rPr lang="zh-CN" altLang="en-US" sz="2400" b="1" dirty="0"/>
              <a:t>则称关系模式</a:t>
            </a:r>
            <a:r>
              <a:rPr lang="en-US" altLang="zh-CN" sz="2400" b="1" dirty="0"/>
              <a:t>R</a:t>
            </a:r>
            <a:r>
              <a:rPr lang="zh-CN" altLang="en-US" sz="2400" b="1" dirty="0"/>
              <a:t>满足多值依赖</a:t>
            </a:r>
            <a:r>
              <a:rPr lang="en-US" altLang="zh-CN" sz="2400" b="1" dirty="0"/>
              <a:t>X→→Y</a:t>
            </a:r>
            <a:endParaRPr lang="zh-CN" altLang="en-US" sz="2400"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1138"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多值依赖</a:t>
            </a:r>
            <a:endParaRPr lang="zh-CN" altLang="en-US" sz="4000" b="1" dirty="0">
              <a:solidFill>
                <a:srgbClr val="E40000"/>
              </a:solidFill>
              <a:latin typeface="Arial" panose="020B0604020202020204" pitchFamily="34" charset="0"/>
            </a:endParaRPr>
          </a:p>
        </p:txBody>
      </p:sp>
      <p:sp>
        <p:nvSpPr>
          <p:cNvPr id="91139" name="Rectangle 3"/>
          <p:cNvSpPr>
            <a:spLocks noGrp="1"/>
          </p:cNvSpPr>
          <p:nvPr>
            <p:ph idx="1"/>
          </p:nvPr>
        </p:nvSpPr>
        <p:spPr>
          <a:xfrm>
            <a:off x="900113" y="1773238"/>
            <a:ext cx="7488237" cy="4525962"/>
          </a:xfrm>
          <a:ln/>
        </p:spPr>
        <p:txBody>
          <a:bodyPr vert="horz" wrap="square" lIns="91440" tIns="45720" rIns="91440" bIns="45720" anchor="t" anchorCtr="0"/>
          <a:p>
            <a:pPr eaLnBrk="1" hangingPunct="1"/>
            <a:r>
              <a:rPr lang="zh-CN" altLang="en-US" b="1" dirty="0"/>
              <a:t>一般</a:t>
            </a:r>
            <a:r>
              <a:rPr lang="en-US" altLang="zh-CN" b="1" dirty="0"/>
              <a:t>,</a:t>
            </a:r>
            <a:r>
              <a:rPr lang="zh-CN" altLang="en-US" b="1" dirty="0"/>
              <a:t>当关系至少有三个属性</a:t>
            </a:r>
            <a:r>
              <a:rPr lang="en-US" altLang="zh-CN" b="1" dirty="0"/>
              <a:t>,</a:t>
            </a:r>
            <a:r>
              <a:rPr lang="zh-CN" altLang="en-US" b="1" dirty="0"/>
              <a:t>其中的两个是多值时</a:t>
            </a:r>
            <a:r>
              <a:rPr lang="en-US" altLang="zh-CN" b="1" dirty="0"/>
              <a:t>,</a:t>
            </a:r>
            <a:r>
              <a:rPr lang="zh-CN" altLang="en-US" b="1" dirty="0"/>
              <a:t>且它们的值只依赖于第三个属性时</a:t>
            </a:r>
            <a:r>
              <a:rPr lang="en-US" altLang="zh-CN" b="1" dirty="0"/>
              <a:t>,</a:t>
            </a:r>
            <a:r>
              <a:rPr lang="zh-CN" altLang="en-US" b="1" dirty="0"/>
              <a:t>才会有多值依赖</a:t>
            </a:r>
            <a:r>
              <a:rPr lang="en-US" altLang="zh-CN" b="1" dirty="0"/>
              <a:t>;</a:t>
            </a:r>
            <a:endParaRPr lang="en-US" altLang="zh-CN" b="1" dirty="0"/>
          </a:p>
          <a:p>
            <a:pPr eaLnBrk="1" hangingPunct="1"/>
            <a:r>
              <a:rPr lang="zh-CN" altLang="en-US" b="1" dirty="0"/>
              <a:t>如果关系中存在</a:t>
            </a:r>
            <a:r>
              <a:rPr lang="zh-CN" altLang="en-US" b="1" dirty="0">
                <a:solidFill>
                  <a:srgbClr val="FF0000"/>
                </a:solidFill>
              </a:rPr>
              <a:t>非平凡</a:t>
            </a:r>
            <a:r>
              <a:rPr lang="zh-CN" altLang="en-US" b="1" dirty="0">
                <a:solidFill>
                  <a:srgbClr val="0070C0"/>
                </a:solidFill>
              </a:rPr>
              <a:t>非</a:t>
            </a:r>
            <a:r>
              <a:rPr lang="en-US" altLang="zh-CN" b="1" dirty="0">
                <a:solidFill>
                  <a:srgbClr val="0070C0"/>
                </a:solidFill>
              </a:rPr>
              <a:t>FD</a:t>
            </a:r>
            <a:r>
              <a:rPr lang="zh-CN" altLang="en-US" b="1" dirty="0"/>
              <a:t>的多值依赖则会导致</a:t>
            </a:r>
            <a:r>
              <a:rPr lang="zh-CN" altLang="en-US" b="1" u="sng" dirty="0"/>
              <a:t>数据冗余</a:t>
            </a:r>
            <a:r>
              <a:rPr lang="zh-CN" altLang="en-US" b="1" dirty="0"/>
              <a:t>和</a:t>
            </a:r>
            <a:r>
              <a:rPr lang="zh-CN" altLang="en-US" b="1" u="sng" dirty="0"/>
              <a:t>更新异常</a:t>
            </a:r>
            <a:r>
              <a:rPr lang="zh-CN" altLang="en-US" b="1" dirty="0"/>
              <a:t>等问题</a:t>
            </a:r>
            <a:r>
              <a:rPr lang="en-US" altLang="zh-CN" b="1" dirty="0"/>
              <a:t>,</a:t>
            </a:r>
            <a:r>
              <a:rPr lang="zh-CN" altLang="en-US" b="1" dirty="0"/>
              <a:t>所以要消除异常</a:t>
            </a:r>
            <a:r>
              <a:rPr lang="en-US" altLang="zh-CN" b="1" dirty="0"/>
              <a:t>,</a:t>
            </a:r>
            <a:r>
              <a:rPr lang="zh-CN" altLang="en-US" b="1" dirty="0"/>
              <a:t>必须消除多值依赖</a:t>
            </a:r>
            <a:r>
              <a:rPr lang="en-US" altLang="zh-CN" b="1" dirty="0"/>
              <a:t>,</a:t>
            </a:r>
            <a:r>
              <a:rPr lang="zh-CN" altLang="en-US" b="1" dirty="0"/>
              <a:t>方法是，通过建立两个关系，让每个关系只存储一个多值属性的数据。</a:t>
            </a:r>
            <a:endParaRPr lang="en-US" altLang="zh-CN"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3186" name="Rectangle 2"/>
          <p:cNvSpPr>
            <a:spLocks noGrp="1"/>
          </p:cNvSpPr>
          <p:nvPr>
            <p:ph type="title"/>
          </p:nvPr>
        </p:nvSpPr>
        <p:spPr>
          <a:xfrm>
            <a:off x="388938" y="144463"/>
            <a:ext cx="3678237" cy="769937"/>
          </a:xfrm>
          <a:ln/>
        </p:spPr>
        <p:txBody>
          <a:bodyPr vert="horz" wrap="square" lIns="91440" tIns="45720" rIns="91440" bIns="45720" anchor="ctr" anchorCtr="0"/>
          <a:p>
            <a:pPr eaLnBrk="1" hangingPunct="1"/>
            <a:r>
              <a:rPr lang="en-US" altLang="zh-CN" sz="4000" b="1" dirty="0">
                <a:solidFill>
                  <a:srgbClr val="E40000"/>
                </a:solidFill>
                <a:latin typeface="Arial" panose="020B0604020202020204" pitchFamily="34" charset="0"/>
              </a:rPr>
              <a:t>MVD</a:t>
            </a:r>
            <a:r>
              <a:rPr lang="zh-CN" altLang="en-US" sz="4000" b="1" dirty="0">
                <a:solidFill>
                  <a:srgbClr val="E40000"/>
                </a:solidFill>
                <a:latin typeface="Arial" panose="020B0604020202020204" pitchFamily="34" charset="0"/>
              </a:rPr>
              <a:t>举例</a:t>
            </a:r>
            <a:endParaRPr lang="zh-CN" altLang="en-US" sz="4000" b="1" dirty="0">
              <a:solidFill>
                <a:srgbClr val="E40000"/>
              </a:solidFill>
              <a:latin typeface="Arial" panose="020B0604020202020204" pitchFamily="34" charset="0"/>
            </a:endParaRPr>
          </a:p>
        </p:txBody>
      </p:sp>
      <p:sp>
        <p:nvSpPr>
          <p:cNvPr id="93187" name="Rectangle 3"/>
          <p:cNvSpPr>
            <a:spLocks noGrp="1"/>
          </p:cNvSpPr>
          <p:nvPr>
            <p:ph idx="1"/>
          </p:nvPr>
        </p:nvSpPr>
        <p:spPr>
          <a:xfrm>
            <a:off x="188913" y="1093788"/>
            <a:ext cx="8955087" cy="1182687"/>
          </a:xfrm>
          <a:ln/>
        </p:spPr>
        <p:txBody>
          <a:bodyPr vert="horz" wrap="square" lIns="91440" tIns="45720" rIns="91440" bIns="45720" anchor="t" anchorCtr="0"/>
          <a:p>
            <a:pPr eaLnBrk="1" hangingPunct="1">
              <a:lnSpc>
                <a:spcPct val="90000"/>
              </a:lnSpc>
            </a:pPr>
            <a:r>
              <a:rPr lang="zh-CN" altLang="en-US" sz="2400" b="1" dirty="0"/>
              <a:t>关系模式</a:t>
            </a:r>
            <a:r>
              <a:rPr lang="en-US" altLang="zh-CN" sz="2400" b="1" dirty="0"/>
              <a:t>WSC(W,S,C)</a:t>
            </a:r>
            <a:r>
              <a:rPr lang="zh-CN" altLang="en-US" sz="2400" b="1" dirty="0"/>
              <a:t>中，</a:t>
            </a:r>
            <a:r>
              <a:rPr lang="en-US" altLang="zh-CN" sz="2400" b="1" dirty="0"/>
              <a:t>W</a:t>
            </a:r>
            <a:r>
              <a:rPr lang="zh-CN" altLang="en-US" sz="2400" b="1" dirty="0"/>
              <a:t>表示仓库，</a:t>
            </a:r>
            <a:r>
              <a:rPr lang="en-US" altLang="zh-CN" sz="2400" b="1" dirty="0"/>
              <a:t>S</a:t>
            </a:r>
            <a:r>
              <a:rPr lang="zh-CN" altLang="en-US" sz="2400" b="1" dirty="0"/>
              <a:t>表示保管员，</a:t>
            </a:r>
            <a:r>
              <a:rPr lang="en-US" altLang="zh-CN" sz="2400" b="1" dirty="0"/>
              <a:t>C</a:t>
            </a:r>
            <a:r>
              <a:rPr lang="zh-CN" altLang="en-US" sz="2400" b="1" dirty="0"/>
              <a:t>表示商品。假设每个仓库有若干个保管员，有若干种商品。每个保管员保管所在仓库的所有商品，每种商品被所有保管员保管</a:t>
            </a:r>
            <a:endParaRPr lang="zh-CN" altLang="en-US" sz="2400" b="1" dirty="0"/>
          </a:p>
        </p:txBody>
      </p:sp>
      <p:graphicFrame>
        <p:nvGraphicFramePr>
          <p:cNvPr id="370692" name="Group 4"/>
          <p:cNvGraphicFramePr>
            <a:graphicFrameLocks noGrp="1"/>
          </p:cNvGraphicFramePr>
          <p:nvPr/>
        </p:nvGraphicFramePr>
        <p:xfrm>
          <a:off x="1219200" y="2393950"/>
          <a:ext cx="7239000" cy="4024313"/>
        </p:xfrm>
        <a:graphic>
          <a:graphicData uri="http://schemas.openxmlformats.org/drawingml/2006/table">
            <a:tbl>
              <a:tblPr/>
              <a:tblGrid>
                <a:gridCol w="2489200"/>
                <a:gridCol w="2336800"/>
                <a:gridCol w="2413000"/>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hlink"/>
                          </a:solidFill>
                          <a:effectLst/>
                          <a:latin typeface="宋体" pitchFamily="2" charset="-122"/>
                          <a:ea typeface="楷体_GB2312" pitchFamily="49" charset="-122"/>
                        </a:rPr>
                        <a:t>W</a:t>
                      </a:r>
                      <a:endParaRPr kumimoji="0" lang="en-US" altLang="zh-CN" sz="1800" b="1" i="0" u="none" strike="noStrike" cap="none" normalizeH="0" baseline="0">
                        <a:ln>
                          <a:noFill/>
                        </a:ln>
                        <a:solidFill>
                          <a:schemeClr val="hlink"/>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hlink"/>
                          </a:solidFill>
                          <a:effectLst/>
                          <a:latin typeface="宋体" pitchFamily="2" charset="-122"/>
                          <a:ea typeface="楷体_GB2312" pitchFamily="49" charset="-122"/>
                        </a:rPr>
                        <a:t>S</a:t>
                      </a:r>
                      <a:endParaRPr kumimoji="0" lang="en-US" altLang="zh-CN" sz="1800" b="1" i="0" u="none" strike="noStrike" cap="none" normalizeH="0" baseline="0">
                        <a:ln>
                          <a:noFill/>
                        </a:ln>
                        <a:solidFill>
                          <a:schemeClr val="hlink"/>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hlink"/>
                          </a:solidFill>
                          <a:effectLst/>
                          <a:latin typeface="宋体" pitchFamily="2" charset="-122"/>
                          <a:ea typeface="楷体_GB2312" pitchFamily="49" charset="-122"/>
                        </a:rPr>
                        <a:t>C</a:t>
                      </a:r>
                      <a:endParaRPr kumimoji="0" lang="en-US" altLang="zh-CN" sz="1800" b="1" i="0" u="none" strike="noStrike" cap="none" normalizeH="0" baseline="0">
                        <a:ln>
                          <a:noFill/>
                        </a:ln>
                        <a:solidFill>
                          <a:schemeClr val="hlink"/>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tr>
              <a:tr h="3667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226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C2</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79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C3</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79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S2</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S2</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C2</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79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S2</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C3</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W2</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S3</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C4</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79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W2</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S3</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C5</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W2</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S4</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C4</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79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W2</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S4</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itchFamily="2" charset="-122"/>
                          <a:ea typeface="楷体_GB2312" pitchFamily="49" charset="-122"/>
                        </a:rPr>
                        <a:t>C5</a:t>
                      </a:r>
                      <a:endParaRPr kumimoji="0" lang="en-US" altLang="zh-CN" sz="1800" b="1" i="0" u="none" strike="noStrike" cap="none" normalizeH="0" baseline="0">
                        <a:ln>
                          <a:noFill/>
                        </a:ln>
                        <a:solidFill>
                          <a:schemeClr val="tx1"/>
                        </a:solidFill>
                        <a:effectLst/>
                        <a:latin typeface="宋体"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370742" name="Text Box 54"/>
          <p:cNvSpPr txBox="1"/>
          <p:nvPr/>
        </p:nvSpPr>
        <p:spPr>
          <a:xfrm>
            <a:off x="4556125" y="0"/>
            <a:ext cx="4587875" cy="1196975"/>
          </a:xfrm>
          <a:prstGeom prst="rect">
            <a:avLst/>
          </a:prstGeom>
          <a:solidFill>
            <a:srgbClr val="FFFF00"/>
          </a:solid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楷体_GB2312" pitchFamily="49" charset="-122"/>
                <a:ea typeface="楷体_GB2312" pitchFamily="49" charset="-122"/>
              </a:rPr>
              <a:t>对于</a:t>
            </a:r>
            <a:r>
              <a:rPr lang="en-US" altLang="zh-CN" sz="2400" dirty="0">
                <a:solidFill>
                  <a:srgbClr val="000000"/>
                </a:solidFill>
                <a:latin typeface="楷体_GB2312" pitchFamily="49" charset="-122"/>
                <a:ea typeface="楷体_GB2312" pitchFamily="49" charset="-122"/>
              </a:rPr>
              <a:t>W</a:t>
            </a:r>
            <a:r>
              <a:rPr lang="zh-CN" altLang="en-US" sz="2400" dirty="0">
                <a:solidFill>
                  <a:srgbClr val="000000"/>
                </a:solidFill>
                <a:latin typeface="楷体_GB2312" pitchFamily="49" charset="-122"/>
                <a:ea typeface="楷体_GB2312" pitchFamily="49" charset="-122"/>
              </a:rPr>
              <a:t>的每一个值，</a:t>
            </a:r>
            <a:r>
              <a:rPr lang="en-US" altLang="zh-CN" sz="2400" dirty="0">
                <a:solidFill>
                  <a:srgbClr val="000000"/>
                </a:solidFill>
                <a:latin typeface="楷体_GB2312" pitchFamily="49" charset="-122"/>
                <a:ea typeface="楷体_GB2312" pitchFamily="49" charset="-122"/>
              </a:rPr>
              <a:t>S</a:t>
            </a:r>
            <a:r>
              <a:rPr lang="zh-CN" altLang="en-US" sz="2400" dirty="0">
                <a:solidFill>
                  <a:srgbClr val="000000"/>
                </a:solidFill>
                <a:latin typeface="楷体_GB2312" pitchFamily="49" charset="-122"/>
                <a:ea typeface="楷体_GB2312" pitchFamily="49" charset="-122"/>
              </a:rPr>
              <a:t>有一个完整的集合与它对应，不论</a:t>
            </a:r>
            <a:r>
              <a:rPr lang="en-US" altLang="zh-CN" sz="2400" dirty="0">
                <a:solidFill>
                  <a:srgbClr val="000000"/>
                </a:solidFill>
                <a:latin typeface="楷体_GB2312" pitchFamily="49" charset="-122"/>
                <a:ea typeface="楷体_GB2312" pitchFamily="49" charset="-122"/>
              </a:rPr>
              <a:t>C</a:t>
            </a:r>
            <a:r>
              <a:rPr lang="zh-CN" altLang="en-US" sz="2400" dirty="0">
                <a:solidFill>
                  <a:srgbClr val="000000"/>
                </a:solidFill>
                <a:latin typeface="楷体_GB2312" pitchFamily="49" charset="-122"/>
                <a:ea typeface="楷体_GB2312" pitchFamily="49" charset="-122"/>
              </a:rPr>
              <a:t>取什么值，所以</a:t>
            </a:r>
            <a:r>
              <a:rPr lang="en-US" altLang="zh-CN" sz="2400" dirty="0">
                <a:solidFill>
                  <a:srgbClr val="000000"/>
                </a:solidFill>
                <a:latin typeface="楷体_GB2312" pitchFamily="49" charset="-122"/>
                <a:ea typeface="楷体_GB2312" pitchFamily="49" charset="-122"/>
              </a:rPr>
              <a:t>W </a:t>
            </a:r>
            <a:r>
              <a:rPr lang="en-US" altLang="zh-CN" sz="2400" dirty="0">
                <a:solidFill>
                  <a:srgbClr val="000000"/>
                </a:solidFill>
                <a:latin typeface="楷体_GB2312" pitchFamily="49" charset="-122"/>
                <a:ea typeface="楷体_GB2312" pitchFamily="49" charset="-122"/>
                <a:sym typeface="Symbol" panose="05050102010706020507" pitchFamily="18" charset="2"/>
              </a:rPr>
              <a:t> S</a:t>
            </a:r>
            <a:endParaRPr lang="en-US" altLang="zh-CN" sz="2400" dirty="0">
              <a:solidFill>
                <a:srgbClr val="000000"/>
              </a:solidFill>
              <a:latin typeface="楷体_GB2312" pitchFamily="49" charset="-122"/>
              <a:ea typeface="楷体_GB2312" pitchFamily="49"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0742"/>
                                        </p:tgtEl>
                                        <p:attrNameLst>
                                          <p:attrName>style.visibility</p:attrName>
                                        </p:attrNameLst>
                                      </p:cBhvr>
                                      <p:to>
                                        <p:strVal val="visible"/>
                                      </p:to>
                                    </p:set>
                                    <p:animEffect transition="in" filter="blinds(horizontal)">
                                      <p:cBhvr>
                                        <p:cTn id="7" dur="500"/>
                                        <p:tgtEl>
                                          <p:spTgt spid="370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742"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5234" name="Rectangle 2"/>
          <p:cNvSpPr>
            <a:spLocks noGrp="1"/>
          </p:cNvSpPr>
          <p:nvPr>
            <p:ph type="title"/>
          </p:nvPr>
        </p:nvSpPr>
        <p:spPr>
          <a:xfrm>
            <a:off x="611188" y="1700213"/>
            <a:ext cx="8208962" cy="1379537"/>
          </a:xfrm>
          <a:ln/>
        </p:spPr>
        <p:txBody>
          <a:bodyPr vert="horz" wrap="square" lIns="91440" tIns="45720" rIns="91440" bIns="45720" anchor="ctr" anchorCtr="0"/>
          <a:p>
            <a:pPr marL="177800" indent="-177800" eaLnBrk="1" hangingPunct="1">
              <a:buChar char="•"/>
            </a:pPr>
            <a:r>
              <a:rPr lang="zh-CN" altLang="en-US" sz="2800" b="1" dirty="0">
                <a:solidFill>
                  <a:schemeClr val="tx1"/>
                </a:solidFill>
                <a:latin typeface="楷体_GB2312" pitchFamily="49" charset="-122"/>
                <a:ea typeface="楷体_GB2312" pitchFamily="49" charset="-122"/>
              </a:rPr>
              <a:t>例</a:t>
            </a:r>
            <a:r>
              <a:rPr lang="en-US" altLang="zh-CN" sz="2800" b="1" dirty="0">
                <a:solidFill>
                  <a:schemeClr val="tx1"/>
                </a:solidFill>
                <a:latin typeface="楷体_GB2312" pitchFamily="49" charset="-122"/>
                <a:ea typeface="楷体_GB2312" pitchFamily="49" charset="-122"/>
              </a:rPr>
              <a:t>:</a:t>
            </a:r>
            <a:r>
              <a:rPr lang="zh-CN" altLang="en-US" sz="2800" b="1" dirty="0">
                <a:solidFill>
                  <a:schemeClr val="tx1"/>
                </a:solidFill>
                <a:latin typeface="楷体_GB2312" pitchFamily="49" charset="-122"/>
                <a:ea typeface="楷体_GB2312" pitchFamily="49" charset="-122"/>
              </a:rPr>
              <a:t>设关系模式</a:t>
            </a:r>
            <a:r>
              <a:rPr lang="en-US" altLang="zh-CN" sz="2800" b="1" dirty="0">
                <a:solidFill>
                  <a:schemeClr val="tx1"/>
                </a:solidFill>
                <a:latin typeface="楷体_GB2312" pitchFamily="49" charset="-122"/>
                <a:ea typeface="楷体_GB2312" pitchFamily="49" charset="-122"/>
              </a:rPr>
              <a:t>R(A,B,C)</a:t>
            </a:r>
            <a:r>
              <a:rPr lang="zh-CN" altLang="en-US" sz="2800" b="1" dirty="0">
                <a:solidFill>
                  <a:schemeClr val="tx1"/>
                </a:solidFill>
                <a:latin typeface="楷体_GB2312" pitchFamily="49" charset="-122"/>
                <a:ea typeface="楷体_GB2312" pitchFamily="49" charset="-122"/>
              </a:rPr>
              <a:t>上有一个</a:t>
            </a:r>
            <a:r>
              <a:rPr lang="en-US" altLang="zh-CN" sz="2800" b="1" dirty="0">
                <a:solidFill>
                  <a:schemeClr val="tx1"/>
                </a:solidFill>
                <a:latin typeface="楷体_GB2312" pitchFamily="49" charset="-122"/>
                <a:ea typeface="楷体_GB2312" pitchFamily="49" charset="-122"/>
              </a:rPr>
              <a:t>MVD A </a:t>
            </a:r>
            <a:r>
              <a:rPr lang="en-US" altLang="zh-CN" sz="2800" b="1" dirty="0">
                <a:solidFill>
                  <a:schemeClr val="tx1"/>
                </a:solidFill>
                <a:latin typeface="楷体_GB2312" pitchFamily="49" charset="-122"/>
                <a:ea typeface="楷体_GB2312" pitchFamily="49" charset="-122"/>
                <a:sym typeface="Symbol" panose="05050102010706020507" pitchFamily="18" charset="2"/>
              </a:rPr>
              <a:t> B,</a:t>
            </a:r>
            <a:r>
              <a:rPr lang="zh-CN" altLang="en-US" sz="2800" b="1" dirty="0">
                <a:solidFill>
                  <a:schemeClr val="tx1"/>
                </a:solidFill>
                <a:latin typeface="楷体_GB2312" pitchFamily="49" charset="-122"/>
                <a:ea typeface="楷体_GB2312" pitchFamily="49" charset="-122"/>
                <a:sym typeface="Symbol" panose="05050102010706020507" pitchFamily="18" charset="2"/>
              </a:rPr>
              <a:t>如果</a:t>
            </a:r>
            <a:r>
              <a:rPr lang="en-US" altLang="zh-CN" sz="2800" b="1" dirty="0">
                <a:solidFill>
                  <a:schemeClr val="tx1"/>
                </a:solidFill>
                <a:latin typeface="楷体_GB2312" pitchFamily="49" charset="-122"/>
                <a:ea typeface="楷体_GB2312" pitchFamily="49" charset="-122"/>
                <a:sym typeface="Symbol" panose="05050102010706020507" pitchFamily="18" charset="2"/>
              </a:rPr>
              <a:t>R</a:t>
            </a:r>
            <a:r>
              <a:rPr lang="zh-CN" altLang="en-US" sz="2800" b="1" dirty="0">
                <a:solidFill>
                  <a:schemeClr val="tx1"/>
                </a:solidFill>
                <a:latin typeface="楷体_GB2312" pitchFamily="49" charset="-122"/>
                <a:ea typeface="楷体_GB2312" pitchFamily="49" charset="-122"/>
                <a:sym typeface="Symbol" panose="05050102010706020507" pitchFamily="18" charset="2"/>
              </a:rPr>
              <a:t>中已有（</a:t>
            </a:r>
            <a:r>
              <a:rPr lang="en-US" altLang="zh-CN" sz="2800" b="1" dirty="0">
                <a:solidFill>
                  <a:schemeClr val="tx1"/>
                </a:solidFill>
                <a:latin typeface="楷体_GB2312" pitchFamily="49" charset="-122"/>
                <a:ea typeface="楷体_GB2312" pitchFamily="49" charset="-122"/>
                <a:sym typeface="Symbol" panose="05050102010706020507" pitchFamily="18" charset="2"/>
              </a:rPr>
              <a:t>a,b1,c1),(a,b2,c2)</a:t>
            </a:r>
            <a:r>
              <a:rPr lang="zh-CN" altLang="en-US" sz="2800" b="1" dirty="0">
                <a:solidFill>
                  <a:schemeClr val="tx1"/>
                </a:solidFill>
                <a:latin typeface="楷体_GB2312" pitchFamily="49" charset="-122"/>
                <a:ea typeface="楷体_GB2312" pitchFamily="49" charset="-122"/>
                <a:sym typeface="Symbol" panose="05050102010706020507" pitchFamily="18" charset="2"/>
              </a:rPr>
              <a:t>，</a:t>
            </a:r>
            <a:r>
              <a:rPr lang="en-US" altLang="zh-CN" sz="2800" b="1" dirty="0">
                <a:solidFill>
                  <a:schemeClr val="tx1"/>
                </a:solidFill>
                <a:latin typeface="楷体_GB2312" pitchFamily="49" charset="-122"/>
                <a:ea typeface="楷体_GB2312" pitchFamily="49" charset="-122"/>
                <a:sym typeface="Symbol" panose="05050102010706020507" pitchFamily="18" charset="2"/>
              </a:rPr>
              <a:t>(a,b3,c3),</a:t>
            </a:r>
            <a:r>
              <a:rPr lang="zh-CN" altLang="en-US" sz="2800" b="1" dirty="0">
                <a:solidFill>
                  <a:schemeClr val="tx1"/>
                </a:solidFill>
                <a:latin typeface="楷体_GB2312" pitchFamily="49" charset="-122"/>
                <a:ea typeface="楷体_GB2312" pitchFamily="49" charset="-122"/>
                <a:sym typeface="Symbol" panose="05050102010706020507" pitchFamily="18" charset="2"/>
              </a:rPr>
              <a:t>那么这些关系中至少还应该存在哪些元组</a:t>
            </a:r>
            <a:r>
              <a:rPr lang="en-US" altLang="zh-CN" sz="2800" b="1" dirty="0">
                <a:solidFill>
                  <a:schemeClr val="tx1"/>
                </a:solidFill>
                <a:latin typeface="楷体_GB2312" pitchFamily="49" charset="-122"/>
                <a:ea typeface="楷体_GB2312" pitchFamily="49" charset="-122"/>
                <a:sym typeface="Symbol" panose="05050102010706020507" pitchFamily="18" charset="2"/>
              </a:rPr>
              <a:t>?</a:t>
            </a:r>
            <a:endParaRPr lang="en-US" altLang="zh-CN" sz="2800" b="1" dirty="0">
              <a:solidFill>
                <a:schemeClr val="tx1"/>
              </a:solidFill>
              <a:latin typeface="楷体_GB2312" pitchFamily="49" charset="-122"/>
              <a:ea typeface="楷体_GB2312" pitchFamily="49" charset="-122"/>
              <a:sym typeface="Symbol" panose="05050102010706020507" pitchFamily="18" charset="2"/>
            </a:endParaRPr>
          </a:p>
        </p:txBody>
      </p:sp>
      <p:sp>
        <p:nvSpPr>
          <p:cNvPr id="372739" name="Rectangle 3"/>
          <p:cNvSpPr>
            <a:spLocks noGrp="1"/>
          </p:cNvSpPr>
          <p:nvPr>
            <p:ph idx="1"/>
          </p:nvPr>
        </p:nvSpPr>
        <p:spPr>
          <a:xfrm>
            <a:off x="1522413" y="3643313"/>
            <a:ext cx="4965700" cy="2017712"/>
          </a:xfrm>
          <a:solidFill>
            <a:srgbClr val="FFFF00">
              <a:alpha val="100000"/>
            </a:srgbClr>
          </a:solidFill>
          <a:ln>
            <a:solidFill>
              <a:schemeClr val="hlink">
                <a:alpha val="100000"/>
              </a:schemeClr>
            </a:solidFill>
            <a:miter lim="800000"/>
          </a:ln>
        </p:spPr>
        <p:txBody>
          <a:bodyPr vert="horz" wrap="square" lIns="91440" tIns="45720" rIns="91440" bIns="45720" anchor="t" anchorCtr="0"/>
          <a:p>
            <a:pPr eaLnBrk="1" hangingPunct="1">
              <a:buNone/>
            </a:pPr>
            <a:r>
              <a:rPr lang="zh-CN" altLang="en-US" dirty="0">
                <a:solidFill>
                  <a:srgbClr val="000000"/>
                </a:solidFill>
                <a:latin typeface="楷体_GB2312" pitchFamily="49" charset="-122"/>
                <a:ea typeface="楷体_GB2312" pitchFamily="49" charset="-122"/>
              </a:rPr>
              <a:t>至少还存在</a:t>
            </a:r>
            <a:r>
              <a:rPr lang="en-US" altLang="zh-CN" dirty="0">
                <a:solidFill>
                  <a:srgbClr val="000000"/>
                </a:solidFill>
                <a:latin typeface="楷体_GB2312" pitchFamily="49" charset="-122"/>
                <a:ea typeface="楷体_GB2312" pitchFamily="49" charset="-122"/>
              </a:rPr>
              <a:t>6</a:t>
            </a:r>
            <a:r>
              <a:rPr lang="zh-CN" altLang="en-US" dirty="0">
                <a:solidFill>
                  <a:srgbClr val="000000"/>
                </a:solidFill>
                <a:latin typeface="楷体_GB2312" pitchFamily="49" charset="-122"/>
                <a:ea typeface="楷体_GB2312" pitchFamily="49" charset="-122"/>
              </a:rPr>
              <a:t>个元组：</a:t>
            </a:r>
            <a:endParaRPr lang="zh-CN" altLang="en-US" dirty="0">
              <a:solidFill>
                <a:srgbClr val="000000"/>
              </a:solidFill>
              <a:latin typeface="楷体_GB2312" pitchFamily="49" charset="-122"/>
              <a:ea typeface="楷体_GB2312" pitchFamily="49" charset="-122"/>
            </a:endParaRPr>
          </a:p>
          <a:p>
            <a:pPr eaLnBrk="1" hangingPunct="1">
              <a:buNone/>
            </a:pPr>
            <a:r>
              <a:rPr lang="en-US" altLang="zh-CN" dirty="0">
                <a:solidFill>
                  <a:srgbClr val="000000"/>
                </a:solidFill>
                <a:latin typeface="楷体_GB2312" pitchFamily="49" charset="-122"/>
                <a:ea typeface="楷体_GB2312" pitchFamily="49" charset="-122"/>
                <a:sym typeface="Symbol" panose="05050102010706020507" pitchFamily="18" charset="2"/>
              </a:rPr>
              <a:t>(a,b1,c2)(a,b2,c1)(a,b1,c3)</a:t>
            </a:r>
            <a:endParaRPr lang="en-US" altLang="zh-CN" dirty="0">
              <a:solidFill>
                <a:srgbClr val="000000"/>
              </a:solidFill>
              <a:latin typeface="楷体_GB2312" pitchFamily="49" charset="-122"/>
              <a:ea typeface="楷体_GB2312" pitchFamily="49" charset="-122"/>
              <a:sym typeface="Symbol" panose="05050102010706020507" pitchFamily="18" charset="2"/>
            </a:endParaRPr>
          </a:p>
          <a:p>
            <a:pPr eaLnBrk="1" hangingPunct="1">
              <a:buNone/>
            </a:pPr>
            <a:r>
              <a:rPr lang="en-US" altLang="zh-CN" dirty="0">
                <a:solidFill>
                  <a:srgbClr val="000000"/>
                </a:solidFill>
                <a:latin typeface="楷体_GB2312" pitchFamily="49" charset="-122"/>
                <a:ea typeface="楷体_GB2312" pitchFamily="49" charset="-122"/>
                <a:sym typeface="Symbol" panose="05050102010706020507" pitchFamily="18" charset="2"/>
              </a:rPr>
              <a:t>(a,b3,c1)(a,b2,c3)(a,b3,c2)</a:t>
            </a:r>
            <a:endParaRPr lang="en-US" altLang="zh-CN" dirty="0">
              <a:solidFill>
                <a:srgbClr val="000000"/>
              </a:solidFill>
              <a:latin typeface="楷体_GB2312" pitchFamily="49" charset="-122"/>
              <a:ea typeface="楷体_GB2312" pitchFamily="49" charset="-122"/>
            </a:endParaRPr>
          </a:p>
          <a:p>
            <a:pPr eaLnBrk="1" hangingPunct="1">
              <a:buNone/>
            </a:pPr>
            <a:endParaRPr lang="zh-CN" altLang="en-US" dirty="0">
              <a:solidFill>
                <a:srgbClr val="000000"/>
              </a:solidFill>
              <a:latin typeface="楷体_GB2312" pitchFamily="49" charset="-122"/>
              <a:ea typeface="楷体_GB2312" pitchFamily="49" charset="-122"/>
            </a:endParaRPr>
          </a:p>
        </p:txBody>
      </p:sp>
      <p:sp>
        <p:nvSpPr>
          <p:cNvPr id="95236" name="Rectangle 4"/>
          <p:cNvSpPr/>
          <p:nvPr/>
        </p:nvSpPr>
        <p:spPr>
          <a:xfrm>
            <a:off x="685800" y="404813"/>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4000" b="1" dirty="0">
                <a:solidFill>
                  <a:srgbClr val="E40000"/>
                </a:solidFill>
                <a:latin typeface="Arial" panose="020B0604020202020204" pitchFamily="34" charset="0"/>
              </a:rPr>
              <a:t>MVD</a:t>
            </a:r>
            <a:r>
              <a:rPr lang="zh-CN" altLang="en-US" sz="4000" b="1" dirty="0">
                <a:solidFill>
                  <a:srgbClr val="E40000"/>
                </a:solidFill>
                <a:latin typeface="Arial" panose="020B0604020202020204" pitchFamily="34" charset="0"/>
              </a:rPr>
              <a:t>举例</a:t>
            </a:r>
            <a:endParaRPr lang="zh-CN" altLang="en-US" sz="4000" b="1" dirty="0">
              <a:solidFill>
                <a:srgbClr val="E4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2739"/>
                                        </p:tgtEl>
                                        <p:attrNameLst>
                                          <p:attrName>style.visibility</p:attrName>
                                        </p:attrNameLst>
                                      </p:cBhvr>
                                      <p:to>
                                        <p:strVal val="visible"/>
                                      </p:to>
                                    </p:set>
                                    <p:anim calcmode="lin" valueType="num">
                                      <p:cBhvr additive="base">
                                        <p:cTn id="7" dur="2000" fill="hold"/>
                                        <p:tgtEl>
                                          <p:spTgt spid="372739"/>
                                        </p:tgtEl>
                                        <p:attrNameLst>
                                          <p:attrName>ppt_x</p:attrName>
                                        </p:attrNameLst>
                                      </p:cBhvr>
                                      <p:tavLst>
                                        <p:tav tm="0">
                                          <p:val>
                                            <p:strVal val="#ppt_x"/>
                                          </p:val>
                                        </p:tav>
                                        <p:tav tm="100000">
                                          <p:val>
                                            <p:strVal val="#ppt_x"/>
                                          </p:val>
                                        </p:tav>
                                      </p:tavLst>
                                    </p:anim>
                                    <p:anim calcmode="lin" valueType="num">
                                      <p:cBhvr additive="base">
                                        <p:cTn id="8" dur="2000" fill="hold"/>
                                        <p:tgtEl>
                                          <p:spTgt spid="3727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2739">
                                            <p:txEl>
                                              <p:charRg st="0" end="11"/>
                                            </p:txEl>
                                          </p:spTgt>
                                        </p:tgtEl>
                                        <p:attrNameLst>
                                          <p:attrName>style.visibility</p:attrName>
                                        </p:attrNameLst>
                                      </p:cBhvr>
                                      <p:to>
                                        <p:strVal val="visible"/>
                                      </p:to>
                                    </p:set>
                                    <p:anim calcmode="lin" valueType="num">
                                      <p:cBhvr additive="base">
                                        <p:cTn id="13" dur="2000" fill="hold"/>
                                        <p:tgtEl>
                                          <p:spTgt spid="372739">
                                            <p:txEl>
                                              <p:charRg st="0" end="11"/>
                                            </p:txEl>
                                          </p:spTgt>
                                        </p:tgtEl>
                                        <p:attrNameLst>
                                          <p:attrName>ppt_x</p:attrName>
                                        </p:attrNameLst>
                                      </p:cBhvr>
                                      <p:tavLst>
                                        <p:tav tm="0">
                                          <p:val>
                                            <p:strVal val="#ppt_x"/>
                                          </p:val>
                                        </p:tav>
                                        <p:tav tm="100000">
                                          <p:val>
                                            <p:strVal val="#ppt_x"/>
                                          </p:val>
                                        </p:tav>
                                      </p:tavLst>
                                    </p:anim>
                                    <p:anim calcmode="lin" valueType="num">
                                      <p:cBhvr additive="base">
                                        <p:cTn id="14" dur="2000" fill="hold"/>
                                        <p:tgtEl>
                                          <p:spTgt spid="372739">
                                            <p:txEl>
                                              <p:charRg st="0" end="1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2739">
                                            <p:txEl>
                                              <p:charRg st="11" end="39"/>
                                            </p:txEl>
                                          </p:spTgt>
                                        </p:tgtEl>
                                        <p:attrNameLst>
                                          <p:attrName>style.visibility</p:attrName>
                                        </p:attrNameLst>
                                      </p:cBhvr>
                                      <p:to>
                                        <p:strVal val="visible"/>
                                      </p:to>
                                    </p:set>
                                    <p:anim calcmode="lin" valueType="num">
                                      <p:cBhvr additive="base">
                                        <p:cTn id="19" dur="2000" fill="hold"/>
                                        <p:tgtEl>
                                          <p:spTgt spid="372739">
                                            <p:txEl>
                                              <p:charRg st="11" end="39"/>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372739">
                                            <p:txEl>
                                              <p:charRg st="11" end="39"/>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2739">
                                            <p:txEl>
                                              <p:charRg st="39" end="67"/>
                                            </p:txEl>
                                          </p:spTgt>
                                        </p:tgtEl>
                                        <p:attrNameLst>
                                          <p:attrName>style.visibility</p:attrName>
                                        </p:attrNameLst>
                                      </p:cBhvr>
                                      <p:to>
                                        <p:strVal val="visible"/>
                                      </p:to>
                                    </p:set>
                                    <p:anim calcmode="lin" valueType="num">
                                      <p:cBhvr additive="base">
                                        <p:cTn id="25" dur="2000" fill="hold"/>
                                        <p:tgtEl>
                                          <p:spTgt spid="372739">
                                            <p:txEl>
                                              <p:charRg st="39" end="67"/>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372739">
                                            <p:txEl>
                                              <p:charRg st="39" end="6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39" grpId="0" animBg="1" build="p"/>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7282" name="Rectangle 2"/>
          <p:cNvSpPr>
            <a:spLocks noGrp="1"/>
          </p:cNvSpPr>
          <p:nvPr>
            <p:ph type="title"/>
          </p:nvPr>
        </p:nvSpPr>
        <p:spPr>
          <a:xfrm>
            <a:off x="1279525" y="685800"/>
            <a:ext cx="7086600" cy="541338"/>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有关多值依赖的推导规则</a:t>
            </a:r>
            <a:endParaRPr lang="zh-CN" altLang="en-US" sz="4000" b="1" dirty="0">
              <a:solidFill>
                <a:srgbClr val="E40000"/>
              </a:solidFill>
              <a:latin typeface="Arial" panose="020B0604020202020204" pitchFamily="34" charset="0"/>
            </a:endParaRPr>
          </a:p>
        </p:txBody>
      </p:sp>
      <p:sp>
        <p:nvSpPr>
          <p:cNvPr id="97283" name="Rectangle 3"/>
          <p:cNvSpPr>
            <a:spLocks noGrp="1"/>
          </p:cNvSpPr>
          <p:nvPr>
            <p:ph idx="1"/>
          </p:nvPr>
        </p:nvSpPr>
        <p:spPr>
          <a:xfrm>
            <a:off x="685800" y="1524000"/>
            <a:ext cx="7772400" cy="5073650"/>
          </a:xfrm>
          <a:ln/>
        </p:spPr>
        <p:txBody>
          <a:bodyPr vert="horz" wrap="square" lIns="91440" tIns="45720" rIns="91440" bIns="45720" anchor="t" anchorCtr="0"/>
          <a:p>
            <a:pPr marL="177800" indent="-177800" eaLnBrk="1" hangingPunct="1">
              <a:lnSpc>
                <a:spcPct val="80000"/>
              </a:lnSpc>
            </a:pPr>
            <a:r>
              <a:rPr lang="zh-CN" altLang="en-US" b="1" dirty="0"/>
              <a:t>与函数依赖一样，多值依赖也有一组推导规则：</a:t>
            </a:r>
            <a:endParaRPr lang="zh-CN" altLang="en-US" b="1" dirty="0"/>
          </a:p>
          <a:p>
            <a:pPr marL="723900" lvl="1" indent="-366395" eaLnBrk="1" hangingPunct="1">
              <a:lnSpc>
                <a:spcPct val="80000"/>
              </a:lnSpc>
            </a:pPr>
            <a:r>
              <a:rPr lang="en-US" altLang="zh-CN" b="1" dirty="0"/>
              <a:t>A4</a:t>
            </a:r>
            <a:r>
              <a:rPr lang="zh-CN" altLang="en-US" b="1" dirty="0"/>
              <a:t>：互补律</a:t>
            </a:r>
            <a:r>
              <a:rPr lang="en-US" altLang="zh-CN" b="1" dirty="0"/>
              <a:t>(complementation) </a:t>
            </a:r>
            <a:endParaRPr lang="en-US" altLang="zh-CN" b="1" dirty="0"/>
          </a:p>
          <a:p>
            <a:pPr marL="723900" lvl="1" indent="-366395" eaLnBrk="1" hangingPunct="1">
              <a:lnSpc>
                <a:spcPct val="80000"/>
              </a:lnSpc>
              <a:buNone/>
            </a:pPr>
            <a:r>
              <a:rPr lang="en-US" altLang="zh-CN" b="1" dirty="0"/>
              <a:t>      </a:t>
            </a:r>
            <a:r>
              <a:rPr lang="zh-CN" altLang="en-US" b="1" dirty="0"/>
              <a:t>如果</a:t>
            </a:r>
            <a:r>
              <a:rPr lang="en-US" altLang="zh-CN" b="1" dirty="0"/>
              <a:t>X→→Y</a:t>
            </a:r>
            <a:r>
              <a:rPr lang="zh-CN" altLang="en-US" b="1" dirty="0"/>
              <a:t>，则</a:t>
            </a:r>
            <a:r>
              <a:rPr lang="en-US" altLang="zh-CN" b="1" dirty="0"/>
              <a:t>X→→(U-X-Y)</a:t>
            </a:r>
            <a:endParaRPr lang="en-US" altLang="zh-CN" b="1" dirty="0"/>
          </a:p>
          <a:p>
            <a:pPr marL="723900" lvl="1" indent="-366395" eaLnBrk="1" hangingPunct="1">
              <a:lnSpc>
                <a:spcPct val="80000"/>
              </a:lnSpc>
            </a:pPr>
            <a:r>
              <a:rPr lang="zh-CN" altLang="en-US" b="1" dirty="0"/>
              <a:t>以后如果需要，可用</a:t>
            </a:r>
            <a:r>
              <a:rPr lang="en-US" altLang="zh-CN" b="1" dirty="0"/>
              <a:t>X→→Y| (U-XY)</a:t>
            </a:r>
            <a:r>
              <a:rPr lang="zh-CN" altLang="en-US" b="1" dirty="0"/>
              <a:t>表示多值依赖，以强调其互补关系</a:t>
            </a:r>
            <a:endParaRPr lang="zh-CN" altLang="en-US" b="1" dirty="0"/>
          </a:p>
          <a:p>
            <a:pPr marL="723900" lvl="1" indent="-366395" eaLnBrk="1" hangingPunct="1">
              <a:lnSpc>
                <a:spcPct val="80000"/>
              </a:lnSpc>
            </a:pPr>
            <a:r>
              <a:rPr lang="en-US" altLang="zh-CN" b="1" dirty="0"/>
              <a:t>A5</a:t>
            </a:r>
            <a:r>
              <a:rPr lang="zh-CN" altLang="en-US" b="1" dirty="0"/>
              <a:t>：扩展律</a:t>
            </a:r>
            <a:r>
              <a:rPr lang="en-US" altLang="zh-CN" b="1" dirty="0"/>
              <a:t>(MVD)</a:t>
            </a:r>
            <a:endParaRPr lang="en-US" altLang="zh-CN" b="1" dirty="0"/>
          </a:p>
          <a:p>
            <a:pPr marL="723900" lvl="1" indent="-366395" eaLnBrk="1" hangingPunct="1">
              <a:lnSpc>
                <a:spcPct val="80000"/>
              </a:lnSpc>
              <a:buNone/>
            </a:pPr>
            <a:r>
              <a:rPr lang="en-US" altLang="zh-CN" b="1" dirty="0"/>
              <a:t>      </a:t>
            </a:r>
            <a:r>
              <a:rPr lang="zh-CN" altLang="en-US" b="1" dirty="0"/>
              <a:t>如果</a:t>
            </a:r>
            <a:r>
              <a:rPr lang="en-US" altLang="zh-CN" b="1" dirty="0"/>
              <a:t>X→→Y</a:t>
            </a:r>
            <a:r>
              <a:rPr lang="zh-CN" altLang="en-US" b="1" dirty="0"/>
              <a:t>且</a:t>
            </a:r>
            <a:r>
              <a:rPr lang="en-US" altLang="zh-CN" b="1" dirty="0"/>
              <a:t>V</a:t>
            </a:r>
            <a:r>
              <a:rPr lang="en-US" altLang="zh-CN" b="1" dirty="0">
                <a:sym typeface="Symbol" panose="05050102010706020507" pitchFamily="18" charset="2"/>
              </a:rPr>
              <a:t>W</a:t>
            </a:r>
            <a:r>
              <a:rPr lang="en-US" altLang="zh-CN" b="1" dirty="0">
                <a:solidFill>
                  <a:srgbClr val="FF0000"/>
                </a:solidFill>
                <a:sym typeface="Symbol" panose="05050102010706020507" pitchFamily="18" charset="2"/>
              </a:rPr>
              <a:t>U</a:t>
            </a:r>
            <a:r>
              <a:rPr lang="zh-CN" altLang="en-US" b="1" dirty="0">
                <a:sym typeface="Symbol" panose="05050102010706020507" pitchFamily="18" charset="2"/>
              </a:rPr>
              <a:t>，则</a:t>
            </a:r>
            <a:r>
              <a:rPr lang="en-US" altLang="zh-CN" b="1" dirty="0">
                <a:sym typeface="Symbol" panose="05050102010706020507" pitchFamily="18" charset="2"/>
              </a:rPr>
              <a:t>W</a:t>
            </a:r>
            <a:r>
              <a:rPr lang="en-US" altLang="zh-CN" b="1" dirty="0"/>
              <a:t>X→→VY</a:t>
            </a:r>
            <a:endParaRPr lang="en-US" altLang="zh-CN" b="1" dirty="0"/>
          </a:p>
          <a:p>
            <a:pPr marL="723900" lvl="1" indent="-366395" eaLnBrk="1" hangingPunct="1">
              <a:lnSpc>
                <a:spcPct val="80000"/>
              </a:lnSpc>
            </a:pPr>
            <a:r>
              <a:rPr lang="en-US" altLang="zh-CN" b="1" dirty="0"/>
              <a:t>A6</a:t>
            </a:r>
            <a:r>
              <a:rPr lang="zh-CN" altLang="en-US" b="1" dirty="0"/>
              <a:t>：传递律</a:t>
            </a:r>
            <a:r>
              <a:rPr lang="en-US" altLang="zh-CN" b="1" dirty="0"/>
              <a:t>(MVD)</a:t>
            </a:r>
            <a:endParaRPr lang="en-US" altLang="zh-CN" b="1" dirty="0"/>
          </a:p>
          <a:p>
            <a:pPr marL="723900" lvl="1" indent="-366395" eaLnBrk="1" hangingPunct="1">
              <a:lnSpc>
                <a:spcPct val="80000"/>
              </a:lnSpc>
              <a:buNone/>
            </a:pPr>
            <a:r>
              <a:rPr lang="en-US" altLang="zh-CN" b="1" dirty="0"/>
              <a:t>      </a:t>
            </a:r>
            <a:r>
              <a:rPr lang="zh-CN" altLang="en-US" b="1" dirty="0"/>
              <a:t>如果</a:t>
            </a:r>
            <a:r>
              <a:rPr lang="en-US" altLang="zh-CN" b="1" dirty="0"/>
              <a:t>X→→Y</a:t>
            </a:r>
            <a:r>
              <a:rPr lang="zh-CN" altLang="en-US" b="1" dirty="0"/>
              <a:t>且</a:t>
            </a:r>
            <a:r>
              <a:rPr lang="en-US" altLang="zh-CN" b="1" dirty="0"/>
              <a:t>Y→→Z</a:t>
            </a:r>
            <a:r>
              <a:rPr lang="zh-CN" altLang="en-US" b="1" dirty="0"/>
              <a:t>，则</a:t>
            </a:r>
            <a:r>
              <a:rPr lang="en-US" altLang="zh-CN" b="1" dirty="0"/>
              <a:t>X→→(Z-Y)</a:t>
            </a:r>
            <a:endParaRPr lang="en-US" altLang="zh-CN" b="1" dirty="0"/>
          </a:p>
          <a:p>
            <a:pPr marL="723900" lvl="1" indent="-366395" eaLnBrk="1" hangingPunct="1">
              <a:lnSpc>
                <a:spcPct val="80000"/>
              </a:lnSpc>
            </a:pPr>
            <a:r>
              <a:rPr lang="zh-CN" altLang="en-US" b="1" dirty="0"/>
              <a:t>下面两条为</a:t>
            </a:r>
            <a:r>
              <a:rPr lang="en-US" altLang="zh-CN" b="1" dirty="0"/>
              <a:t>(FD+MVD)</a:t>
            </a:r>
            <a:r>
              <a:rPr lang="zh-CN" altLang="en-US" b="1" dirty="0"/>
              <a:t>公理：</a:t>
            </a:r>
            <a:endParaRPr lang="zh-CN" altLang="en-US" b="1" dirty="0"/>
          </a:p>
          <a:p>
            <a:pPr marL="723900" lvl="1" indent="-366395" eaLnBrk="1" hangingPunct="1">
              <a:lnSpc>
                <a:spcPct val="80000"/>
              </a:lnSpc>
            </a:pPr>
            <a:r>
              <a:rPr lang="en-US" altLang="zh-CN" b="1" dirty="0"/>
              <a:t>A7</a:t>
            </a:r>
            <a:r>
              <a:rPr lang="zh-CN" altLang="en-US" b="1" dirty="0"/>
              <a:t>：如果</a:t>
            </a:r>
            <a:r>
              <a:rPr lang="en-US" altLang="zh-CN" b="1" dirty="0"/>
              <a:t>X→Y</a:t>
            </a:r>
            <a:r>
              <a:rPr lang="zh-CN" altLang="en-US" b="1" dirty="0"/>
              <a:t>，则</a:t>
            </a:r>
            <a:r>
              <a:rPr lang="en-US" altLang="zh-CN" b="1" dirty="0"/>
              <a:t>X→→Y</a:t>
            </a:r>
            <a:r>
              <a:rPr lang="zh-CN" altLang="en-US" b="1" dirty="0"/>
              <a:t>，即</a:t>
            </a:r>
            <a:r>
              <a:rPr lang="en-US" altLang="zh-CN" b="1" dirty="0"/>
              <a:t>FD</a:t>
            </a:r>
            <a:r>
              <a:rPr lang="zh-CN" altLang="en-US" b="1" dirty="0"/>
              <a:t>是</a:t>
            </a:r>
            <a:r>
              <a:rPr lang="en-US" altLang="zh-CN" b="1" dirty="0"/>
              <a:t>MVD</a:t>
            </a:r>
            <a:r>
              <a:rPr lang="zh-CN" altLang="en-US" b="1" dirty="0"/>
              <a:t>的特例。</a:t>
            </a:r>
            <a:endParaRPr lang="zh-CN" altLang="en-US" b="1" dirty="0"/>
          </a:p>
          <a:p>
            <a:pPr marL="723900" lvl="1" indent="-366395" eaLnBrk="1" hangingPunct="1">
              <a:lnSpc>
                <a:spcPct val="80000"/>
              </a:lnSpc>
            </a:pPr>
            <a:r>
              <a:rPr lang="en-US" altLang="zh-CN" b="1" dirty="0"/>
              <a:t>A8</a:t>
            </a:r>
            <a:r>
              <a:rPr lang="zh-CN" altLang="en-US" b="1" dirty="0"/>
              <a:t>：如果</a:t>
            </a:r>
            <a:r>
              <a:rPr lang="en-US" altLang="zh-CN" b="1" dirty="0"/>
              <a:t>X→→Y</a:t>
            </a:r>
            <a:r>
              <a:rPr lang="zh-CN" altLang="en-US" b="1" dirty="0"/>
              <a:t>、</a:t>
            </a:r>
            <a:r>
              <a:rPr lang="en-US" altLang="zh-CN" b="1" dirty="0"/>
              <a:t>Z</a:t>
            </a:r>
            <a:r>
              <a:rPr lang="en-US" altLang="zh-CN" b="1" dirty="0">
                <a:sym typeface="Symbol" panose="05050102010706020507" pitchFamily="18" charset="2"/>
              </a:rPr>
              <a:t>Y</a:t>
            </a:r>
            <a:r>
              <a:rPr lang="zh-CN" altLang="en-US" b="1" dirty="0">
                <a:sym typeface="Symbol" panose="05050102010706020507" pitchFamily="18" charset="2"/>
              </a:rPr>
              <a:t>且对某一个与</a:t>
            </a:r>
            <a:r>
              <a:rPr lang="en-US" altLang="zh-CN" b="1" dirty="0">
                <a:sym typeface="Symbol" panose="05050102010706020507" pitchFamily="18" charset="2"/>
              </a:rPr>
              <a:t>Y</a:t>
            </a:r>
            <a:r>
              <a:rPr lang="zh-CN" altLang="en-US" b="1" dirty="0">
                <a:sym typeface="Symbol" panose="05050102010706020507" pitchFamily="18" charset="2"/>
              </a:rPr>
              <a:t>不相交的</a:t>
            </a:r>
            <a:r>
              <a:rPr lang="en-US" altLang="zh-CN" b="1" dirty="0">
                <a:sym typeface="Symbol" panose="05050102010706020507" pitchFamily="18" charset="2"/>
              </a:rPr>
              <a:t>W</a:t>
            </a:r>
            <a:r>
              <a:rPr lang="zh-CN" altLang="en-US" b="1" dirty="0">
                <a:sym typeface="Symbol" panose="05050102010706020507" pitchFamily="18" charset="2"/>
              </a:rPr>
              <a:t>有：如果 </a:t>
            </a:r>
            <a:r>
              <a:rPr lang="en-US" altLang="zh-CN" b="1" dirty="0">
                <a:sym typeface="Symbol" panose="05050102010706020507" pitchFamily="18" charset="2"/>
              </a:rPr>
              <a:t>W</a:t>
            </a:r>
            <a:r>
              <a:rPr lang="en-US" altLang="zh-CN" b="1" dirty="0"/>
              <a:t>→Z</a:t>
            </a:r>
            <a:r>
              <a:rPr lang="zh-CN" altLang="en-US" b="1" dirty="0"/>
              <a:t>，则</a:t>
            </a:r>
            <a:r>
              <a:rPr lang="en-US" altLang="zh-CN" b="1" dirty="0"/>
              <a:t>X→Z</a:t>
            </a:r>
            <a:r>
              <a:rPr lang="zh-CN" altLang="en-US" b="1" dirty="0"/>
              <a:t>。</a:t>
            </a:r>
            <a:endParaRPr lang="zh-CN" altLang="en-US"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6"/>
          <p:cNvSpPr>
            <a:spLocks noGrp="1"/>
          </p:cNvSpPr>
          <p:nvPr>
            <p:ph type="title"/>
          </p:nvPr>
        </p:nvSpPr>
        <p:spPr>
          <a:xfrm>
            <a:off x="1279525" y="685800"/>
            <a:ext cx="7086600" cy="487363"/>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有关多值依赖的推导规则</a:t>
            </a:r>
            <a:endParaRPr lang="zh-CN" altLang="en-US" sz="4000" b="1" dirty="0">
              <a:solidFill>
                <a:srgbClr val="E40000"/>
              </a:solidFill>
              <a:latin typeface="Arial" panose="020B0604020202020204" pitchFamily="34" charset="0"/>
            </a:endParaRPr>
          </a:p>
        </p:txBody>
      </p:sp>
      <p:sp>
        <p:nvSpPr>
          <p:cNvPr id="99331" name="Rectangle 7"/>
          <p:cNvSpPr>
            <a:spLocks noGrp="1"/>
          </p:cNvSpPr>
          <p:nvPr>
            <p:ph idx="1"/>
          </p:nvPr>
        </p:nvSpPr>
        <p:spPr>
          <a:xfrm>
            <a:off x="685800" y="1524000"/>
            <a:ext cx="7918450" cy="4572000"/>
          </a:xfrm>
          <a:ln/>
        </p:spPr>
        <p:txBody>
          <a:bodyPr vert="horz" wrap="square" lIns="91440" tIns="45720" rIns="91440" bIns="45720" anchor="t" anchorCtr="0"/>
          <a:p>
            <a:pPr marL="282575" indent="-282575" eaLnBrk="1" hangingPunct="1">
              <a:lnSpc>
                <a:spcPct val="90000"/>
              </a:lnSpc>
            </a:pPr>
            <a:r>
              <a:rPr lang="zh-CN" altLang="en-US" sz="2400" b="1" dirty="0"/>
              <a:t>由上述公理，还可以得出下列四个有关</a:t>
            </a:r>
            <a:r>
              <a:rPr lang="en-US" altLang="zh-CN" sz="2400" b="1" dirty="0"/>
              <a:t>MVD</a:t>
            </a:r>
            <a:r>
              <a:rPr lang="zh-CN" altLang="en-US" sz="2400" b="1" dirty="0"/>
              <a:t>的推导规则：</a:t>
            </a:r>
            <a:endParaRPr lang="zh-CN" altLang="en-US" sz="2400" b="1" dirty="0"/>
          </a:p>
          <a:p>
            <a:pPr marL="282575" indent="-282575" eaLnBrk="1" hangingPunct="1">
              <a:lnSpc>
                <a:spcPct val="90000"/>
              </a:lnSpc>
              <a:buFontTx/>
              <a:buAutoNum type="arabicParenR"/>
            </a:pPr>
            <a:r>
              <a:rPr lang="en-US" altLang="zh-CN" sz="2400" b="1" dirty="0"/>
              <a:t>MVD</a:t>
            </a:r>
            <a:r>
              <a:rPr lang="zh-CN" altLang="en-US" sz="2400" b="1" dirty="0"/>
              <a:t>合并规则</a:t>
            </a:r>
            <a:endParaRPr lang="zh-CN" altLang="en-US" sz="2400" b="1" dirty="0"/>
          </a:p>
          <a:p>
            <a:pPr marL="282575" indent="-282575" eaLnBrk="1" hangingPunct="1">
              <a:lnSpc>
                <a:spcPct val="90000"/>
              </a:lnSpc>
              <a:buNone/>
            </a:pPr>
            <a:r>
              <a:rPr lang="zh-CN" altLang="en-US" sz="2400" b="1" dirty="0"/>
              <a:t>   如果</a:t>
            </a:r>
            <a:r>
              <a:rPr lang="en-US" altLang="zh-CN" sz="2400" b="1" dirty="0"/>
              <a:t>X→→Y</a:t>
            </a:r>
            <a:r>
              <a:rPr lang="zh-CN" altLang="en-US" sz="2400" b="1" dirty="0"/>
              <a:t>、</a:t>
            </a:r>
            <a:r>
              <a:rPr lang="en-US" altLang="zh-CN" sz="2400" b="1" dirty="0">
                <a:solidFill>
                  <a:srgbClr val="FF0000"/>
                </a:solidFill>
              </a:rPr>
              <a:t>X</a:t>
            </a:r>
            <a:r>
              <a:rPr lang="en-US" altLang="zh-CN" sz="2400" b="1" dirty="0"/>
              <a:t>→→Z</a:t>
            </a:r>
            <a:r>
              <a:rPr lang="zh-CN" altLang="en-US" sz="2400" b="1" dirty="0"/>
              <a:t>，则</a:t>
            </a:r>
            <a:r>
              <a:rPr lang="en-US" altLang="zh-CN" sz="2400" b="1" dirty="0"/>
              <a:t>X→→YZ</a:t>
            </a:r>
            <a:endParaRPr lang="en-US" altLang="zh-CN" sz="2400" b="1" dirty="0"/>
          </a:p>
          <a:p>
            <a:pPr marL="282575" indent="-282575" eaLnBrk="1" hangingPunct="1">
              <a:lnSpc>
                <a:spcPct val="90000"/>
              </a:lnSpc>
              <a:buFontTx/>
              <a:buAutoNum type="arabicParenR" startAt="2"/>
            </a:pPr>
            <a:r>
              <a:rPr lang="en-US" altLang="zh-CN" sz="2400" b="1" dirty="0"/>
              <a:t>MVD</a:t>
            </a:r>
            <a:r>
              <a:rPr lang="zh-CN" altLang="en-US" sz="2400" b="1" dirty="0"/>
              <a:t>伪传递规则</a:t>
            </a:r>
            <a:endParaRPr lang="zh-CN" altLang="en-US" sz="2400" b="1" dirty="0"/>
          </a:p>
          <a:p>
            <a:pPr marL="282575" indent="-282575" eaLnBrk="1" hangingPunct="1">
              <a:lnSpc>
                <a:spcPct val="90000"/>
              </a:lnSpc>
              <a:buNone/>
            </a:pPr>
            <a:r>
              <a:rPr lang="zh-CN" altLang="en-US" sz="2400" b="1" dirty="0"/>
              <a:t>   如果</a:t>
            </a:r>
            <a:r>
              <a:rPr lang="en-US" altLang="zh-CN" sz="2400" b="1" dirty="0"/>
              <a:t>X→→Y</a:t>
            </a:r>
            <a:r>
              <a:rPr lang="zh-CN" altLang="en-US" sz="2400" b="1" dirty="0"/>
              <a:t>、</a:t>
            </a:r>
            <a:r>
              <a:rPr lang="en-US" altLang="zh-CN" sz="2400" b="1" dirty="0"/>
              <a:t>WY→→Z</a:t>
            </a:r>
            <a:r>
              <a:rPr lang="zh-CN" altLang="en-US" sz="2400" b="1" dirty="0"/>
              <a:t>，则</a:t>
            </a:r>
            <a:r>
              <a:rPr lang="en-US" altLang="zh-CN" sz="2400" b="1" dirty="0"/>
              <a:t>WX→→(Z-WY</a:t>
            </a:r>
            <a:r>
              <a:rPr lang="zh-CN" altLang="en-US" sz="2400" b="1" dirty="0"/>
              <a:t>）</a:t>
            </a:r>
            <a:endParaRPr lang="zh-CN" altLang="en-US" sz="2400" b="1" dirty="0"/>
          </a:p>
          <a:p>
            <a:pPr marL="282575" indent="-282575" eaLnBrk="1" hangingPunct="1">
              <a:lnSpc>
                <a:spcPct val="90000"/>
              </a:lnSpc>
              <a:buFontTx/>
              <a:buAutoNum type="arabicParenR" startAt="3"/>
            </a:pPr>
            <a:r>
              <a:rPr lang="zh-CN" altLang="en-US" sz="2400" b="1" dirty="0"/>
              <a:t>混合伪传递规则</a:t>
            </a:r>
            <a:endParaRPr lang="zh-CN" altLang="en-US" sz="2400" b="1" dirty="0"/>
          </a:p>
          <a:p>
            <a:pPr marL="282575" indent="-282575" eaLnBrk="1" hangingPunct="1">
              <a:lnSpc>
                <a:spcPct val="90000"/>
              </a:lnSpc>
              <a:buNone/>
            </a:pPr>
            <a:r>
              <a:rPr lang="zh-CN" altLang="en-US" sz="2400" b="1" dirty="0"/>
              <a:t>   如果</a:t>
            </a:r>
            <a:r>
              <a:rPr lang="en-US" altLang="zh-CN" sz="2400" b="1" dirty="0"/>
              <a:t>X→→Y</a:t>
            </a:r>
            <a:r>
              <a:rPr lang="zh-CN" altLang="en-US" sz="2400" b="1" dirty="0"/>
              <a:t>、</a:t>
            </a:r>
            <a:r>
              <a:rPr lang="en-US" altLang="zh-CN" sz="2400" b="1" dirty="0"/>
              <a:t>XY</a:t>
            </a:r>
            <a:r>
              <a:rPr lang="en-US" altLang="zh-CN" sz="2400" b="1" dirty="0">
                <a:solidFill>
                  <a:srgbClr val="FF0000"/>
                </a:solidFill>
              </a:rPr>
              <a:t>→</a:t>
            </a:r>
            <a:r>
              <a:rPr lang="en-US" altLang="zh-CN" sz="2400" b="1" dirty="0"/>
              <a:t>Z</a:t>
            </a:r>
            <a:r>
              <a:rPr lang="zh-CN" altLang="en-US" sz="2400" b="1" dirty="0"/>
              <a:t>，则</a:t>
            </a:r>
            <a:r>
              <a:rPr lang="en-US" altLang="zh-CN" sz="2400" b="1" dirty="0"/>
              <a:t>X→(Z-Y</a:t>
            </a:r>
            <a:r>
              <a:rPr lang="zh-CN" altLang="en-US" sz="2400" b="1" dirty="0"/>
              <a:t>）</a:t>
            </a:r>
            <a:endParaRPr lang="zh-CN" altLang="en-US" sz="2400" b="1" dirty="0"/>
          </a:p>
          <a:p>
            <a:pPr marL="282575" indent="-282575" eaLnBrk="1" hangingPunct="1">
              <a:lnSpc>
                <a:spcPct val="90000"/>
              </a:lnSpc>
              <a:buFontTx/>
              <a:buAutoNum type="arabicParenR" startAt="4"/>
            </a:pPr>
            <a:r>
              <a:rPr lang="en-US" altLang="zh-CN" sz="2400" b="1" dirty="0"/>
              <a:t>MVD</a:t>
            </a:r>
            <a:r>
              <a:rPr lang="zh-CN" altLang="en-US" sz="2400" b="1" dirty="0"/>
              <a:t>分解规则</a:t>
            </a:r>
            <a:endParaRPr lang="zh-CN" altLang="en-US" sz="2400" b="1" dirty="0"/>
          </a:p>
          <a:p>
            <a:pPr marL="282575" indent="-282575" eaLnBrk="1" hangingPunct="1">
              <a:lnSpc>
                <a:spcPct val="90000"/>
              </a:lnSpc>
              <a:buNone/>
            </a:pPr>
            <a:r>
              <a:rPr lang="zh-CN" altLang="en-US" sz="2400" b="1" dirty="0"/>
              <a:t>  如果</a:t>
            </a:r>
            <a:r>
              <a:rPr lang="en-US" altLang="zh-CN" sz="2400" b="1" dirty="0"/>
              <a:t>X→→Y</a:t>
            </a:r>
            <a:r>
              <a:rPr lang="zh-CN" altLang="en-US" sz="2400" b="1" dirty="0"/>
              <a:t>、</a:t>
            </a:r>
            <a:r>
              <a:rPr lang="en-US" altLang="zh-CN" sz="2400" b="1" dirty="0"/>
              <a:t>X→→Z</a:t>
            </a:r>
            <a:r>
              <a:rPr lang="zh-CN" altLang="en-US" sz="2400" b="1" dirty="0"/>
              <a:t>，则</a:t>
            </a:r>
            <a:r>
              <a:rPr lang="en-US" altLang="zh-CN" sz="2400" b="1" dirty="0"/>
              <a:t>X→→(Y∩Z</a:t>
            </a:r>
            <a:r>
              <a:rPr lang="zh-CN" altLang="en-US" sz="2400" b="1" dirty="0"/>
              <a:t>）、</a:t>
            </a:r>
            <a:r>
              <a:rPr lang="en-US" altLang="zh-CN" sz="2400" b="1" dirty="0"/>
              <a:t>X→→(Y-Z)</a:t>
            </a:r>
            <a:r>
              <a:rPr lang="zh-CN" altLang="en-US" sz="2400" b="1" dirty="0"/>
              <a:t> </a:t>
            </a:r>
            <a:r>
              <a:rPr lang="en-US" altLang="zh-CN" sz="2400" b="1" dirty="0"/>
              <a:t>X→→(Z-Y</a:t>
            </a:r>
            <a:r>
              <a:rPr lang="zh-CN" altLang="en-US" sz="2400" b="1" dirty="0"/>
              <a:t>）均成立。</a:t>
            </a:r>
            <a:endParaRPr lang="zh-CN" altLang="en-US" sz="2400" b="1" dirty="0"/>
          </a:p>
          <a:p>
            <a:pPr marL="282575" indent="-282575" eaLnBrk="1" hangingPunct="1">
              <a:lnSpc>
                <a:spcPct val="90000"/>
              </a:lnSpc>
            </a:pPr>
            <a:r>
              <a:rPr lang="zh-CN" altLang="en-US" sz="2400" b="1" dirty="0"/>
              <a:t>以上规则的证明从略</a:t>
            </a:r>
            <a:endParaRPr lang="zh-CN" altLang="en-US" sz="24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6"/>
          <p:cNvSpPr>
            <a:spLocks noGrp="1"/>
          </p:cNvSpPr>
          <p:nvPr>
            <p:ph type="title"/>
          </p:nvPr>
        </p:nvSpPr>
        <p:spPr>
          <a:xfrm>
            <a:off x="1279525" y="685800"/>
            <a:ext cx="7086600" cy="487363"/>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多值依赖的性质</a:t>
            </a:r>
            <a:endParaRPr lang="zh-CN" altLang="en-US" sz="4000" b="1" dirty="0">
              <a:solidFill>
                <a:srgbClr val="E40000"/>
              </a:solidFill>
              <a:latin typeface="Arial" panose="020B0604020202020204" pitchFamily="34" charset="0"/>
            </a:endParaRPr>
          </a:p>
        </p:txBody>
      </p:sp>
      <p:sp>
        <p:nvSpPr>
          <p:cNvPr id="100355" name="Rectangle 7"/>
          <p:cNvSpPr>
            <a:spLocks noGrp="1"/>
          </p:cNvSpPr>
          <p:nvPr>
            <p:ph idx="1"/>
          </p:nvPr>
        </p:nvSpPr>
        <p:spPr>
          <a:xfrm>
            <a:off x="685800" y="1524000"/>
            <a:ext cx="7918450" cy="5000625"/>
          </a:xfrm>
          <a:ln/>
        </p:spPr>
        <p:txBody>
          <a:bodyPr vert="horz" wrap="square" lIns="91440" tIns="45720" rIns="91440" bIns="45720" anchor="t" anchorCtr="0"/>
          <a:p>
            <a:pPr marL="387350" indent="-387350" eaLnBrk="1" hangingPunct="1">
              <a:lnSpc>
                <a:spcPct val="90000"/>
              </a:lnSpc>
            </a:pPr>
            <a:r>
              <a:rPr lang="zh-CN" altLang="en-US" sz="2400" b="1" dirty="0"/>
              <a:t>定义</a:t>
            </a:r>
            <a:r>
              <a:rPr lang="en-US" altLang="zh-CN" sz="2400" b="1" dirty="0"/>
              <a:t>4.12</a:t>
            </a:r>
            <a:r>
              <a:rPr lang="zh-CN" altLang="en-US" sz="2400" b="1" dirty="0"/>
              <a:t>：若</a:t>
            </a:r>
            <a:r>
              <a:rPr lang="en-US" altLang="zh-CN" sz="2400" b="1" dirty="0"/>
              <a:t>X→→Y</a:t>
            </a:r>
            <a:r>
              <a:rPr lang="zh-CN" altLang="en-US" sz="2400" b="1" dirty="0"/>
              <a:t>，而</a:t>
            </a:r>
            <a:r>
              <a:rPr lang="en-US" altLang="zh-CN" sz="2400" b="1" dirty="0"/>
              <a:t>Z=U-XY</a:t>
            </a:r>
            <a:r>
              <a:rPr lang="zh-CN" altLang="en-US" sz="2400" b="1" dirty="0"/>
              <a:t>为空，则称</a:t>
            </a:r>
            <a:r>
              <a:rPr lang="en-US" altLang="zh-CN" sz="2400" b="1" dirty="0"/>
              <a:t>X→→Y </a:t>
            </a:r>
            <a:r>
              <a:rPr lang="zh-CN" altLang="en-US" sz="2400" b="1" dirty="0"/>
              <a:t>为平凡的多值依赖</a:t>
            </a:r>
            <a:endParaRPr lang="zh-CN" altLang="en-US" sz="2400" b="1" dirty="0"/>
          </a:p>
          <a:p>
            <a:pPr marL="387350" indent="-387350" eaLnBrk="1" hangingPunct="1">
              <a:lnSpc>
                <a:spcPct val="90000"/>
              </a:lnSpc>
            </a:pPr>
            <a:r>
              <a:rPr lang="zh-CN" altLang="en-US" sz="2400" b="1" dirty="0"/>
              <a:t>多值依赖具有以下性质：</a:t>
            </a:r>
            <a:endParaRPr lang="zh-CN" altLang="en-US" sz="2400" b="1" dirty="0"/>
          </a:p>
          <a:p>
            <a:pPr marL="1041400" lvl="1" indent="-463550" eaLnBrk="1" hangingPunct="1">
              <a:lnSpc>
                <a:spcPct val="90000"/>
              </a:lnSpc>
              <a:buFontTx/>
              <a:buAutoNum type="arabicParenR"/>
            </a:pPr>
            <a:r>
              <a:rPr lang="zh-CN" altLang="en-US" b="1" dirty="0"/>
              <a:t>多值依赖具有对称性。即若</a:t>
            </a:r>
            <a:r>
              <a:rPr lang="en-US" altLang="zh-CN" b="1" dirty="0"/>
              <a:t>X→→Y</a:t>
            </a:r>
            <a:r>
              <a:rPr lang="zh-CN" altLang="en-US" b="1" dirty="0"/>
              <a:t>，则</a:t>
            </a:r>
            <a:r>
              <a:rPr lang="en-US" altLang="zh-CN" b="1" dirty="0"/>
              <a:t>X→→Z</a:t>
            </a:r>
            <a:r>
              <a:rPr lang="zh-CN" altLang="en-US" b="1" dirty="0"/>
              <a:t>，其中</a:t>
            </a:r>
            <a:r>
              <a:rPr lang="en-US" altLang="zh-CN" b="1" dirty="0"/>
              <a:t>Z</a:t>
            </a:r>
            <a:r>
              <a:rPr lang="zh-CN" altLang="en-US" b="1" dirty="0"/>
              <a:t>＝</a:t>
            </a:r>
            <a:r>
              <a:rPr lang="en-US" altLang="zh-CN" b="1" dirty="0"/>
              <a:t>U</a:t>
            </a:r>
            <a:r>
              <a:rPr lang="zh-CN" altLang="en-US" b="1" dirty="0"/>
              <a:t>－</a:t>
            </a:r>
            <a:r>
              <a:rPr lang="en-US" altLang="zh-CN" b="1" dirty="0"/>
              <a:t>XY</a:t>
            </a:r>
            <a:r>
              <a:rPr lang="zh-CN" altLang="en-US" b="1" dirty="0"/>
              <a:t>。 </a:t>
            </a:r>
            <a:endParaRPr lang="zh-CN" altLang="en-US" b="1" dirty="0"/>
          </a:p>
          <a:p>
            <a:pPr marL="1041400" lvl="1" indent="-463550" eaLnBrk="1" hangingPunct="1">
              <a:lnSpc>
                <a:spcPct val="90000"/>
              </a:lnSpc>
              <a:buFontTx/>
              <a:buAutoNum type="arabicParenR"/>
            </a:pPr>
            <a:r>
              <a:rPr lang="zh-CN" altLang="en-US" b="1" dirty="0"/>
              <a:t>多值依赖的传递性。即若</a:t>
            </a:r>
            <a:r>
              <a:rPr lang="en-US" altLang="zh-CN" b="1" dirty="0"/>
              <a:t>X→→Y</a:t>
            </a:r>
            <a:r>
              <a:rPr lang="zh-CN" altLang="en-US" b="1" dirty="0"/>
              <a:t>，</a:t>
            </a:r>
            <a:r>
              <a:rPr lang="en-US" altLang="zh-CN" b="1" dirty="0"/>
              <a:t>Y→→Z</a:t>
            </a:r>
            <a:r>
              <a:rPr lang="zh-CN" altLang="en-US" b="1" dirty="0"/>
              <a:t>， 则</a:t>
            </a:r>
            <a:r>
              <a:rPr lang="en-US" altLang="zh-CN" b="1" dirty="0"/>
              <a:t>X→→Z</a:t>
            </a:r>
            <a:r>
              <a:rPr lang="zh-CN" altLang="en-US" b="1" dirty="0"/>
              <a:t>－</a:t>
            </a:r>
            <a:r>
              <a:rPr lang="en-US" altLang="zh-CN" b="1" dirty="0"/>
              <a:t>Y</a:t>
            </a:r>
            <a:r>
              <a:rPr lang="zh-CN" altLang="en-US" b="1" dirty="0"/>
              <a:t>。 </a:t>
            </a:r>
            <a:endParaRPr lang="zh-CN" altLang="en-US" b="1" dirty="0"/>
          </a:p>
          <a:p>
            <a:pPr marL="1041400" lvl="1" indent="-463550" eaLnBrk="1" hangingPunct="1">
              <a:lnSpc>
                <a:spcPct val="90000"/>
              </a:lnSpc>
              <a:buFontTx/>
              <a:buAutoNum type="arabicParenR"/>
            </a:pPr>
            <a:r>
              <a:rPr lang="zh-CN" altLang="en-US" b="1" dirty="0"/>
              <a:t>函数依赖可以看作是多值依赖的特殊情况。即若</a:t>
            </a:r>
            <a:r>
              <a:rPr lang="en-US" altLang="zh-CN" b="1" dirty="0"/>
              <a:t>X→Y</a:t>
            </a:r>
            <a:r>
              <a:rPr lang="zh-CN" altLang="en-US" b="1" dirty="0"/>
              <a:t>，则</a:t>
            </a:r>
            <a:r>
              <a:rPr lang="en-US" altLang="zh-CN" b="1" dirty="0"/>
              <a:t>X→→Y</a:t>
            </a:r>
            <a:r>
              <a:rPr lang="zh-CN" altLang="en-US" b="1" dirty="0"/>
              <a:t>。这是因为当</a:t>
            </a:r>
            <a:r>
              <a:rPr lang="en-US" altLang="zh-CN" b="1" dirty="0"/>
              <a:t>X→Y</a:t>
            </a:r>
            <a:r>
              <a:rPr lang="zh-CN" altLang="en-US" b="1" dirty="0"/>
              <a:t>时，对</a:t>
            </a:r>
            <a:r>
              <a:rPr lang="en-US" altLang="zh-CN" b="1" dirty="0"/>
              <a:t>X</a:t>
            </a:r>
            <a:r>
              <a:rPr lang="zh-CN" altLang="en-US" b="1" dirty="0"/>
              <a:t>的每一个值</a:t>
            </a:r>
            <a:r>
              <a:rPr lang="en-US" altLang="zh-CN" b="1" dirty="0"/>
              <a:t>x</a:t>
            </a:r>
            <a:r>
              <a:rPr lang="zh-CN" altLang="en-US" b="1" dirty="0"/>
              <a:t>，</a:t>
            </a:r>
            <a:r>
              <a:rPr lang="en-US" altLang="zh-CN" b="1" dirty="0"/>
              <a:t>Y</a:t>
            </a:r>
            <a:r>
              <a:rPr lang="zh-CN" altLang="en-US" b="1" dirty="0"/>
              <a:t>有一个确定的值</a:t>
            </a:r>
            <a:r>
              <a:rPr lang="en-US" altLang="zh-CN" b="1" dirty="0"/>
              <a:t>y</a:t>
            </a:r>
            <a:r>
              <a:rPr lang="zh-CN" altLang="en-US" b="1" dirty="0"/>
              <a:t>与之对应，所以</a:t>
            </a:r>
            <a:r>
              <a:rPr lang="en-US" altLang="zh-CN" b="1" dirty="0"/>
              <a:t>X→→Y</a:t>
            </a:r>
            <a:r>
              <a:rPr lang="zh-CN" altLang="en-US" b="1" dirty="0"/>
              <a:t> </a:t>
            </a:r>
            <a:endParaRPr lang="zh-CN" altLang="en-US" b="1" dirty="0"/>
          </a:p>
          <a:p>
            <a:pPr marL="1041400" lvl="1" indent="-463550" eaLnBrk="1" hangingPunct="1">
              <a:lnSpc>
                <a:spcPct val="90000"/>
              </a:lnSpc>
              <a:buFontTx/>
              <a:buAutoNum type="arabicParenR"/>
            </a:pPr>
            <a:r>
              <a:rPr lang="zh-CN" altLang="en-US" b="1" dirty="0"/>
              <a:t>若</a:t>
            </a:r>
            <a:r>
              <a:rPr lang="en-US" altLang="zh-CN" b="1" dirty="0"/>
              <a:t>X→→Y</a:t>
            </a:r>
            <a:r>
              <a:rPr lang="zh-CN" altLang="en-US" b="1" dirty="0"/>
              <a:t>，</a:t>
            </a:r>
            <a:r>
              <a:rPr lang="en-US" altLang="zh-CN" b="1" dirty="0"/>
              <a:t>X→→Z</a:t>
            </a:r>
            <a:r>
              <a:rPr lang="zh-CN" altLang="en-US" b="1" dirty="0"/>
              <a:t>，则</a:t>
            </a:r>
            <a:r>
              <a:rPr lang="en-US" altLang="zh-CN" b="1" dirty="0"/>
              <a:t>X→→YZ</a:t>
            </a:r>
            <a:r>
              <a:rPr lang="zh-CN" altLang="en-US" b="1" dirty="0"/>
              <a:t> </a:t>
            </a:r>
            <a:endParaRPr lang="zh-CN" altLang="en-US" b="1" dirty="0"/>
          </a:p>
          <a:p>
            <a:pPr marL="1041400" lvl="1" indent="-463550" eaLnBrk="1" hangingPunct="1">
              <a:lnSpc>
                <a:spcPct val="90000"/>
              </a:lnSpc>
              <a:buFontTx/>
              <a:buAutoNum type="arabicParenR"/>
            </a:pPr>
            <a:r>
              <a:rPr lang="zh-CN" altLang="en-US" b="1" dirty="0"/>
              <a:t>若</a:t>
            </a:r>
            <a:r>
              <a:rPr lang="en-US" altLang="zh-CN" b="1" dirty="0"/>
              <a:t>X→→Y</a:t>
            </a:r>
            <a:r>
              <a:rPr lang="zh-CN" altLang="en-US" b="1" dirty="0"/>
              <a:t>，</a:t>
            </a:r>
            <a:r>
              <a:rPr lang="en-US" altLang="zh-CN" b="1" dirty="0"/>
              <a:t>X→→Z</a:t>
            </a:r>
            <a:r>
              <a:rPr lang="zh-CN" altLang="en-US" b="1" dirty="0"/>
              <a:t>，则</a:t>
            </a:r>
            <a:r>
              <a:rPr lang="en-US" altLang="zh-CN" b="1" dirty="0"/>
              <a:t>X→→Y∩Z</a:t>
            </a:r>
            <a:r>
              <a:rPr lang="zh-CN" altLang="en-US" b="1" dirty="0"/>
              <a:t> </a:t>
            </a:r>
            <a:endParaRPr lang="zh-CN" altLang="en-US" b="1" dirty="0"/>
          </a:p>
          <a:p>
            <a:pPr marL="1041400" lvl="1" indent="-463550" eaLnBrk="1" hangingPunct="1">
              <a:lnSpc>
                <a:spcPct val="90000"/>
              </a:lnSpc>
              <a:buFontTx/>
              <a:buAutoNum type="arabicParenR"/>
            </a:pPr>
            <a:r>
              <a:rPr lang="zh-CN" altLang="en-US" b="1" dirty="0"/>
              <a:t>若</a:t>
            </a:r>
            <a:r>
              <a:rPr lang="en-US" altLang="zh-CN" b="1" dirty="0"/>
              <a:t>X→→Y</a:t>
            </a:r>
            <a:r>
              <a:rPr lang="zh-CN" altLang="en-US" b="1" dirty="0"/>
              <a:t>，</a:t>
            </a:r>
            <a:r>
              <a:rPr lang="en-US" altLang="zh-CN" b="1" dirty="0"/>
              <a:t>X→→Z</a:t>
            </a:r>
            <a:r>
              <a:rPr lang="zh-CN" altLang="en-US" b="1" dirty="0"/>
              <a:t>，则</a:t>
            </a:r>
            <a:r>
              <a:rPr lang="en-US" altLang="zh-CN" b="1" dirty="0"/>
              <a:t>X→→Y</a:t>
            </a:r>
            <a:r>
              <a:rPr lang="zh-CN" altLang="en-US" b="1" dirty="0"/>
              <a:t>－</a:t>
            </a:r>
            <a:r>
              <a:rPr lang="en-US" altLang="zh-CN" b="1" dirty="0"/>
              <a:t>Z</a:t>
            </a:r>
            <a:r>
              <a:rPr lang="zh-CN" altLang="en-US" b="1" dirty="0"/>
              <a:t>，</a:t>
            </a:r>
            <a:r>
              <a:rPr lang="en-US" altLang="zh-CN" b="1" dirty="0"/>
              <a:t>X→→Z</a:t>
            </a:r>
            <a:r>
              <a:rPr lang="zh-CN" altLang="en-US" b="1" dirty="0"/>
              <a:t>－</a:t>
            </a:r>
            <a:r>
              <a:rPr lang="en-US" altLang="zh-CN" b="1" dirty="0"/>
              <a:t>Y</a:t>
            </a:r>
            <a:r>
              <a:rPr lang="zh-CN" altLang="en-US" b="1" dirty="0"/>
              <a:t>。 </a:t>
            </a:r>
            <a:endParaRPr lang="zh-CN" altLang="en-US"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1378" name="Rectangle 2"/>
          <p:cNvSpPr>
            <a:spLocks noGrp="1"/>
          </p:cNvSpPr>
          <p:nvPr>
            <p:ph type="title"/>
          </p:nvPr>
        </p:nvSpPr>
        <p:spPr>
          <a:xfrm>
            <a:off x="900113" y="692150"/>
            <a:ext cx="7086600" cy="731838"/>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多值依赖与函数依赖</a:t>
            </a:r>
            <a:endParaRPr lang="en-US" altLang="zh-CN" sz="4000" b="1" dirty="0">
              <a:solidFill>
                <a:srgbClr val="E40000"/>
              </a:solidFill>
              <a:latin typeface="Arial" panose="020B0604020202020204" pitchFamily="34" charset="0"/>
            </a:endParaRPr>
          </a:p>
        </p:txBody>
      </p:sp>
      <p:sp>
        <p:nvSpPr>
          <p:cNvPr id="101379" name="Rectangle 3"/>
          <p:cNvSpPr>
            <a:spLocks noGrp="1"/>
          </p:cNvSpPr>
          <p:nvPr>
            <p:ph idx="1"/>
          </p:nvPr>
        </p:nvSpPr>
        <p:spPr>
          <a:xfrm>
            <a:off x="684213" y="1600200"/>
            <a:ext cx="7200900" cy="4525963"/>
          </a:xfrm>
          <a:ln/>
        </p:spPr>
        <p:txBody>
          <a:bodyPr vert="horz" wrap="square" lIns="91440" tIns="45720" rIns="91440" bIns="45720" anchor="t" anchorCtr="0"/>
          <a:p>
            <a:pPr eaLnBrk="1" hangingPunct="1">
              <a:lnSpc>
                <a:spcPct val="90000"/>
              </a:lnSpc>
              <a:spcBef>
                <a:spcPct val="35000"/>
              </a:spcBef>
            </a:pPr>
            <a:r>
              <a:rPr lang="zh-CN" altLang="en-US" b="1" dirty="0"/>
              <a:t>区别</a:t>
            </a:r>
            <a:endParaRPr lang="zh-CN" altLang="en-US" b="1" dirty="0"/>
          </a:p>
          <a:p>
            <a:pPr lvl="1" eaLnBrk="1" hangingPunct="1">
              <a:lnSpc>
                <a:spcPct val="90000"/>
              </a:lnSpc>
              <a:spcBef>
                <a:spcPct val="35000"/>
              </a:spcBef>
            </a:pPr>
            <a:r>
              <a:rPr lang="zh-CN" altLang="en-US" b="1" dirty="0"/>
              <a:t>函数依赖规定某些元组不能出现在关系中，也称为</a:t>
            </a:r>
            <a:r>
              <a:rPr lang="zh-CN" altLang="en-US" b="1" u="sng" dirty="0"/>
              <a:t>相等产生依赖</a:t>
            </a:r>
            <a:endParaRPr lang="zh-CN" altLang="en-US" b="1" dirty="0"/>
          </a:p>
          <a:p>
            <a:pPr lvl="1" eaLnBrk="1" hangingPunct="1">
              <a:lnSpc>
                <a:spcPct val="90000"/>
              </a:lnSpc>
              <a:spcBef>
                <a:spcPct val="35000"/>
              </a:spcBef>
            </a:pPr>
            <a:r>
              <a:rPr lang="zh-CN" altLang="en-US" b="1" dirty="0"/>
              <a:t>多值依赖要求某种形式的其它元组必须在关系中，称为</a:t>
            </a:r>
            <a:r>
              <a:rPr lang="zh-CN" altLang="en-US" b="1" u="sng" dirty="0"/>
              <a:t>元组产生依赖</a:t>
            </a:r>
            <a:endParaRPr lang="zh-CN" altLang="en-US" b="1" dirty="0"/>
          </a:p>
          <a:p>
            <a:pPr eaLnBrk="1" hangingPunct="1">
              <a:lnSpc>
                <a:spcPct val="90000"/>
              </a:lnSpc>
              <a:spcBef>
                <a:spcPct val="35000"/>
              </a:spcBef>
            </a:pPr>
            <a:r>
              <a:rPr lang="zh-CN" altLang="en-US" b="1" dirty="0"/>
              <a:t>有效性范围</a:t>
            </a:r>
            <a:endParaRPr lang="zh-CN" altLang="en-US" b="1" dirty="0"/>
          </a:p>
          <a:p>
            <a:pPr lvl="1" eaLnBrk="1" hangingPunct="1">
              <a:lnSpc>
                <a:spcPct val="90000"/>
              </a:lnSpc>
              <a:spcBef>
                <a:spcPct val="35000"/>
              </a:spcBef>
            </a:pPr>
            <a:r>
              <a:rPr lang="en-US" altLang="zh-CN" b="1" dirty="0"/>
              <a:t>X</a:t>
            </a:r>
            <a:r>
              <a:rPr lang="en-US" altLang="zh-CN" b="1" dirty="0">
                <a:sym typeface="Symbol" panose="05050102010706020507" pitchFamily="18" charset="2"/>
              </a:rPr>
              <a:t></a:t>
            </a:r>
            <a:r>
              <a:rPr lang="en-US" altLang="zh-CN" b="1" dirty="0"/>
              <a:t>Y</a:t>
            </a:r>
            <a:r>
              <a:rPr lang="zh-CN" altLang="en-US" b="1" dirty="0"/>
              <a:t>的有效性仅决定于</a:t>
            </a:r>
            <a:r>
              <a:rPr lang="en-US" altLang="zh-CN" b="1" dirty="0"/>
              <a:t>X</a:t>
            </a:r>
            <a:r>
              <a:rPr lang="zh-CN" altLang="en-US" b="1" dirty="0"/>
              <a:t>、</a:t>
            </a:r>
            <a:r>
              <a:rPr lang="en-US" altLang="zh-CN" b="1" dirty="0"/>
              <a:t>Y</a:t>
            </a:r>
            <a:r>
              <a:rPr lang="zh-CN" altLang="en-US" b="1" dirty="0"/>
              <a:t>属性集上的值，它在任何属性集</a:t>
            </a:r>
            <a:r>
              <a:rPr lang="en-US" altLang="zh-CN" b="1" dirty="0"/>
              <a:t>W</a:t>
            </a:r>
            <a:r>
              <a:rPr lang="zh-CN" altLang="en-US" b="1" dirty="0"/>
              <a:t>（</a:t>
            </a:r>
            <a:r>
              <a:rPr lang="en-US" altLang="zh-CN" b="1" dirty="0"/>
              <a:t>XY </a:t>
            </a:r>
            <a:r>
              <a:rPr lang="en-US" altLang="zh-CN" b="1" dirty="0">
                <a:sym typeface="Symbol" panose="05050102010706020507" pitchFamily="18" charset="2"/>
              </a:rPr>
              <a:t> </a:t>
            </a:r>
            <a:r>
              <a:rPr lang="en-US" altLang="zh-CN" b="1" dirty="0"/>
              <a:t>W </a:t>
            </a:r>
            <a:r>
              <a:rPr lang="en-US" altLang="zh-CN" b="1" dirty="0">
                <a:sym typeface="Symbol" panose="05050102010706020507" pitchFamily="18" charset="2"/>
              </a:rPr>
              <a:t> </a:t>
            </a:r>
            <a:r>
              <a:rPr lang="en-US" altLang="zh-CN" b="1" dirty="0"/>
              <a:t>U</a:t>
            </a:r>
            <a:r>
              <a:rPr lang="zh-CN" altLang="en-US" b="1" dirty="0"/>
              <a:t>）上都成立。</a:t>
            </a:r>
            <a:endParaRPr lang="zh-CN" altLang="en-US" b="1" dirty="0"/>
          </a:p>
          <a:p>
            <a:pPr lvl="1" eaLnBrk="1" hangingPunct="1">
              <a:lnSpc>
                <a:spcPct val="90000"/>
              </a:lnSpc>
              <a:spcBef>
                <a:spcPct val="35000"/>
              </a:spcBef>
              <a:buNone/>
            </a:pPr>
            <a:r>
              <a:rPr lang="zh-CN" altLang="en-US" b="1" dirty="0"/>
              <a:t>	若</a:t>
            </a:r>
            <a:r>
              <a:rPr lang="en-US" altLang="zh-CN" b="1" dirty="0"/>
              <a:t>X</a:t>
            </a:r>
            <a:r>
              <a:rPr lang="en-US" altLang="zh-CN" b="1" dirty="0">
                <a:sym typeface="Symbol" panose="05050102010706020507" pitchFamily="18" charset="2"/>
              </a:rPr>
              <a:t></a:t>
            </a:r>
            <a:r>
              <a:rPr lang="en-US" altLang="zh-CN" b="1" dirty="0"/>
              <a:t>Y</a:t>
            </a:r>
            <a:r>
              <a:rPr lang="zh-CN" altLang="en-US" b="1" dirty="0"/>
              <a:t>在</a:t>
            </a:r>
            <a:r>
              <a:rPr lang="en-US" altLang="zh-CN" b="1" dirty="0"/>
              <a:t>R(U)</a:t>
            </a:r>
            <a:r>
              <a:rPr lang="zh-CN" altLang="en-US" b="1" dirty="0"/>
              <a:t>上成立，则对于任何</a:t>
            </a:r>
            <a:r>
              <a:rPr lang="en-US" altLang="zh-CN" b="1" dirty="0"/>
              <a:t>Y′</a:t>
            </a:r>
            <a:r>
              <a:rPr lang="en-US" altLang="zh-CN" b="1" dirty="0">
                <a:sym typeface="Symbol" panose="05050102010706020507" pitchFamily="18" charset="2"/>
              </a:rPr>
              <a:t></a:t>
            </a:r>
            <a:r>
              <a:rPr lang="en-US" altLang="zh-CN" b="1" dirty="0"/>
              <a:t> Y</a:t>
            </a:r>
            <a:r>
              <a:rPr lang="zh-CN" altLang="en-US" b="1" dirty="0"/>
              <a:t>，均有</a:t>
            </a:r>
            <a:r>
              <a:rPr lang="en-US" altLang="zh-CN" b="1" dirty="0"/>
              <a:t>X</a:t>
            </a:r>
            <a:r>
              <a:rPr lang="en-US" altLang="zh-CN" b="1" dirty="0">
                <a:sym typeface="Symbol" panose="05050102010706020507" pitchFamily="18" charset="2"/>
              </a:rPr>
              <a:t></a:t>
            </a:r>
            <a:r>
              <a:rPr lang="en-US" altLang="zh-CN" b="1" dirty="0"/>
              <a:t>Y′</a:t>
            </a:r>
            <a:r>
              <a:rPr lang="zh-CN" altLang="en-US" b="1" dirty="0"/>
              <a:t>成立。</a:t>
            </a:r>
            <a:endParaRPr lang="zh-CN" altLang="en-US"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3426"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多值依赖与函数依赖</a:t>
            </a:r>
            <a:endParaRPr lang="en-US" altLang="zh-CN" sz="4000" b="1" dirty="0">
              <a:solidFill>
                <a:srgbClr val="E40000"/>
              </a:solidFill>
              <a:latin typeface="Arial" panose="020B0604020202020204" pitchFamily="34" charset="0"/>
            </a:endParaRPr>
          </a:p>
        </p:txBody>
      </p:sp>
      <p:sp>
        <p:nvSpPr>
          <p:cNvPr id="103427" name="Rectangle 3"/>
          <p:cNvSpPr>
            <a:spLocks noGrp="1"/>
          </p:cNvSpPr>
          <p:nvPr>
            <p:ph idx="1"/>
          </p:nvPr>
        </p:nvSpPr>
        <p:spPr>
          <a:xfrm>
            <a:off x="1042988" y="1484313"/>
            <a:ext cx="7058025" cy="4886325"/>
          </a:xfrm>
          <a:ln/>
        </p:spPr>
        <p:txBody>
          <a:bodyPr vert="horz" wrap="square" lIns="91440" tIns="45720" rIns="91440" bIns="45720" anchor="t" anchorCtr="0"/>
          <a:p>
            <a:pPr eaLnBrk="1" hangingPunct="1">
              <a:lnSpc>
                <a:spcPct val="90000"/>
              </a:lnSpc>
              <a:spcBef>
                <a:spcPct val="35000"/>
              </a:spcBef>
            </a:pPr>
            <a:r>
              <a:rPr lang="zh-CN" altLang="en-US" b="1" dirty="0"/>
              <a:t>有效性范围</a:t>
            </a:r>
            <a:endParaRPr lang="zh-CN" altLang="en-US" b="1" dirty="0"/>
          </a:p>
          <a:p>
            <a:pPr lvl="1" eaLnBrk="1" hangingPunct="1">
              <a:lnSpc>
                <a:spcPct val="90000"/>
              </a:lnSpc>
              <a:spcBef>
                <a:spcPct val="55000"/>
              </a:spcBef>
            </a:pPr>
            <a:r>
              <a:rPr lang="en-US" altLang="zh-CN" b="1" dirty="0"/>
              <a:t>X</a:t>
            </a:r>
            <a:r>
              <a:rPr lang="en-US" altLang="zh-CN" b="1" dirty="0">
                <a:sym typeface="Symbol" panose="05050102010706020507" pitchFamily="18" charset="2"/>
              </a:rPr>
              <a:t></a:t>
            </a:r>
            <a:r>
              <a:rPr lang="en-US" altLang="zh-CN" b="1" dirty="0"/>
              <a:t>Y</a:t>
            </a:r>
            <a:r>
              <a:rPr lang="zh-CN" altLang="en-US" b="1" dirty="0"/>
              <a:t>的有效性与属性集范围有关 	</a:t>
            </a:r>
            <a:endParaRPr lang="zh-CN" altLang="en-US" b="1" dirty="0"/>
          </a:p>
          <a:p>
            <a:pPr lvl="1" eaLnBrk="1" hangingPunct="1">
              <a:lnSpc>
                <a:spcPct val="90000"/>
              </a:lnSpc>
              <a:spcBef>
                <a:spcPct val="55000"/>
              </a:spcBef>
            </a:pPr>
            <a:r>
              <a:rPr lang="en-US" altLang="zh-CN" b="1" dirty="0"/>
              <a:t>X</a:t>
            </a:r>
            <a:r>
              <a:rPr lang="en-US" altLang="zh-CN" b="1" dirty="0">
                <a:sym typeface="Symbol" panose="05050102010706020507" pitchFamily="18" charset="2"/>
              </a:rPr>
              <a:t></a:t>
            </a:r>
            <a:r>
              <a:rPr lang="en-US" altLang="zh-CN" b="1" dirty="0"/>
              <a:t>Y</a:t>
            </a:r>
            <a:r>
              <a:rPr lang="zh-CN" altLang="en-US" b="1" dirty="0"/>
              <a:t>在属性集</a:t>
            </a:r>
            <a:r>
              <a:rPr lang="en-US" altLang="zh-CN" b="1" dirty="0"/>
              <a:t>W</a:t>
            </a:r>
            <a:r>
              <a:rPr lang="zh-CN" altLang="en-US" b="1" dirty="0"/>
              <a:t>（</a:t>
            </a:r>
            <a:r>
              <a:rPr lang="en-US" altLang="zh-CN" b="1" dirty="0"/>
              <a:t>XY </a:t>
            </a:r>
            <a:r>
              <a:rPr lang="en-US" altLang="zh-CN" b="1" dirty="0">
                <a:sym typeface="Symbol" panose="05050102010706020507" pitchFamily="18" charset="2"/>
              </a:rPr>
              <a:t> </a:t>
            </a:r>
            <a:r>
              <a:rPr lang="en-US" altLang="zh-CN" b="1" dirty="0"/>
              <a:t>W </a:t>
            </a:r>
            <a:r>
              <a:rPr lang="en-US" altLang="zh-CN" b="1" dirty="0">
                <a:sym typeface="Symbol" panose="05050102010706020507" pitchFamily="18" charset="2"/>
              </a:rPr>
              <a:t> </a:t>
            </a:r>
            <a:r>
              <a:rPr lang="en-US" altLang="zh-CN" b="1" dirty="0"/>
              <a:t>U</a:t>
            </a:r>
            <a:r>
              <a:rPr lang="zh-CN" altLang="en-US" b="1" dirty="0"/>
              <a:t>）上成立，但在</a:t>
            </a:r>
            <a:r>
              <a:rPr lang="en-US" altLang="zh-CN" b="1" dirty="0"/>
              <a:t>U</a:t>
            </a:r>
            <a:r>
              <a:rPr lang="zh-CN" altLang="en-US" b="1" dirty="0"/>
              <a:t>上不一定成立</a:t>
            </a:r>
            <a:endParaRPr lang="zh-CN" altLang="en-US" b="1" dirty="0"/>
          </a:p>
          <a:p>
            <a:pPr lvl="1" eaLnBrk="1" hangingPunct="1">
              <a:lnSpc>
                <a:spcPct val="90000"/>
              </a:lnSpc>
              <a:spcBef>
                <a:spcPct val="55000"/>
              </a:spcBef>
            </a:pPr>
            <a:r>
              <a:rPr lang="en-US" altLang="zh-CN" b="1" dirty="0"/>
              <a:t>X</a:t>
            </a:r>
            <a:r>
              <a:rPr lang="en-US" altLang="zh-CN" b="1" dirty="0">
                <a:sym typeface="Symbol" panose="05050102010706020507" pitchFamily="18" charset="2"/>
              </a:rPr>
              <a:t></a:t>
            </a:r>
            <a:r>
              <a:rPr lang="en-US" altLang="zh-CN" b="1" dirty="0"/>
              <a:t>Y</a:t>
            </a:r>
            <a:r>
              <a:rPr lang="zh-CN" altLang="en-US" b="1" dirty="0"/>
              <a:t>在</a:t>
            </a:r>
            <a:r>
              <a:rPr lang="en-US" altLang="zh-CN" b="1" dirty="0"/>
              <a:t>U</a:t>
            </a:r>
            <a:r>
              <a:rPr lang="zh-CN" altLang="en-US" b="1" dirty="0"/>
              <a:t>上成立 </a:t>
            </a:r>
            <a:r>
              <a:rPr lang="zh-CN" altLang="en-US" b="1" dirty="0">
                <a:sym typeface="Symbol" panose="05050102010706020507" pitchFamily="18" charset="2"/>
              </a:rPr>
              <a:t> </a:t>
            </a:r>
            <a:r>
              <a:rPr lang="en-US" altLang="zh-CN" b="1" dirty="0"/>
              <a:t>X</a:t>
            </a:r>
            <a:r>
              <a:rPr lang="en-US" altLang="zh-CN" b="1" dirty="0">
                <a:sym typeface="Symbol" panose="05050102010706020507" pitchFamily="18" charset="2"/>
              </a:rPr>
              <a:t></a:t>
            </a:r>
            <a:r>
              <a:rPr lang="en-US" altLang="zh-CN" b="1" dirty="0"/>
              <a:t>Y</a:t>
            </a:r>
            <a:r>
              <a:rPr lang="zh-CN" altLang="en-US" b="1" dirty="0"/>
              <a:t>在属性集</a:t>
            </a:r>
            <a:r>
              <a:rPr lang="en-US" altLang="zh-CN" b="1" dirty="0"/>
              <a:t>W</a:t>
            </a:r>
            <a:r>
              <a:rPr lang="zh-CN" altLang="en-US" b="1" dirty="0"/>
              <a:t>（</a:t>
            </a:r>
            <a:r>
              <a:rPr lang="en-US" altLang="zh-CN" b="1" dirty="0"/>
              <a:t>XY </a:t>
            </a:r>
            <a:r>
              <a:rPr lang="en-US" altLang="zh-CN" b="1" dirty="0">
                <a:sym typeface="Symbol" panose="05050102010706020507" pitchFamily="18" charset="2"/>
              </a:rPr>
              <a:t> </a:t>
            </a:r>
            <a:r>
              <a:rPr lang="en-US" altLang="zh-CN" b="1" dirty="0"/>
              <a:t>W </a:t>
            </a:r>
            <a:r>
              <a:rPr lang="en-US" altLang="zh-CN" b="1" dirty="0">
                <a:sym typeface="Symbol" panose="05050102010706020507" pitchFamily="18" charset="2"/>
              </a:rPr>
              <a:t> </a:t>
            </a:r>
            <a:r>
              <a:rPr lang="en-US" altLang="zh-CN" b="1" dirty="0"/>
              <a:t>U</a:t>
            </a:r>
            <a:r>
              <a:rPr lang="zh-CN" altLang="en-US" b="1" dirty="0"/>
              <a:t>）上成立</a:t>
            </a:r>
            <a:endParaRPr lang="zh-CN" altLang="en-US" b="1" dirty="0"/>
          </a:p>
          <a:p>
            <a:pPr lvl="1" eaLnBrk="1" hangingPunct="1">
              <a:lnSpc>
                <a:spcPct val="90000"/>
              </a:lnSpc>
              <a:spcBef>
                <a:spcPct val="55000"/>
              </a:spcBef>
            </a:pPr>
            <a:endParaRPr lang="zh-CN" altLang="en-US"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5474"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嵌入型多值依赖</a:t>
            </a:r>
            <a:endParaRPr lang="zh-CN" altLang="en-US" sz="4000" b="1" dirty="0">
              <a:solidFill>
                <a:srgbClr val="E40000"/>
              </a:solidFill>
              <a:latin typeface="Arial" panose="020B0604020202020204" pitchFamily="34" charset="0"/>
            </a:endParaRPr>
          </a:p>
        </p:txBody>
      </p:sp>
      <p:sp>
        <p:nvSpPr>
          <p:cNvPr id="105475" name="Rectangle 3"/>
          <p:cNvSpPr>
            <a:spLocks noGrp="1"/>
          </p:cNvSpPr>
          <p:nvPr>
            <p:ph idx="1"/>
          </p:nvPr>
        </p:nvSpPr>
        <p:spPr>
          <a:xfrm>
            <a:off x="971550" y="1773238"/>
            <a:ext cx="7488238" cy="4525962"/>
          </a:xfrm>
          <a:ln/>
        </p:spPr>
        <p:txBody>
          <a:bodyPr vert="horz" wrap="square" lIns="91440" tIns="45720" rIns="91440" bIns="45720" anchor="t" anchorCtr="0"/>
          <a:p>
            <a:pPr eaLnBrk="1" hangingPunct="1">
              <a:lnSpc>
                <a:spcPct val="90000"/>
              </a:lnSpc>
            </a:pPr>
            <a:r>
              <a:rPr lang="zh-CN" altLang="en-US" b="1" dirty="0"/>
              <a:t>若函数依赖</a:t>
            </a:r>
            <a:r>
              <a:rPr lang="en-US" altLang="zh-CN" b="1" dirty="0"/>
              <a:t>X→Y</a:t>
            </a:r>
            <a:r>
              <a:rPr lang="zh-CN" altLang="en-US" b="1" dirty="0"/>
              <a:t>在</a:t>
            </a:r>
            <a:r>
              <a:rPr lang="en-US" altLang="zh-CN" b="1" dirty="0"/>
              <a:t>R(U)</a:t>
            </a:r>
            <a:r>
              <a:rPr lang="zh-CN" altLang="en-US" b="1" dirty="0"/>
              <a:t>上成立，则对于任何</a:t>
            </a:r>
            <a:r>
              <a:rPr lang="en-US" altLang="zh-CN" b="1" dirty="0"/>
              <a:t>Y</a:t>
            </a:r>
            <a:r>
              <a:rPr lang="en-US" altLang="zh-CN" b="1" dirty="0">
                <a:latin typeface="Book Antiqua" pitchFamily="18" charset="0"/>
                <a:ea typeface="MS PMincho"/>
              </a:rPr>
              <a:t>‘</a:t>
            </a:r>
            <a:r>
              <a:rPr lang="en-US" altLang="zh-CN" b="1" dirty="0"/>
              <a:t> </a:t>
            </a:r>
            <a:r>
              <a:rPr lang="en-US" altLang="zh-CN" sz="3200" b="1" dirty="0">
                <a:sym typeface="Symbol" panose="05050102010706020507" pitchFamily="18" charset="2"/>
              </a:rPr>
              <a:t></a:t>
            </a:r>
            <a:r>
              <a:rPr lang="en-US" altLang="zh-CN" b="1" dirty="0"/>
              <a:t>Y</a:t>
            </a:r>
            <a:r>
              <a:rPr lang="zh-CN" altLang="en-US" b="1" dirty="0"/>
              <a:t>均有</a:t>
            </a:r>
            <a:r>
              <a:rPr lang="en-US" altLang="zh-CN" b="1" dirty="0"/>
              <a:t>X→Y</a:t>
            </a:r>
            <a:r>
              <a:rPr lang="en-US" altLang="zh-CN" b="1" dirty="0">
                <a:latin typeface="Book Antiqua" pitchFamily="18" charset="0"/>
                <a:ea typeface="MS PMincho"/>
              </a:rPr>
              <a:t>‘</a:t>
            </a:r>
            <a:r>
              <a:rPr lang="zh-CN" altLang="en-US" b="1" dirty="0"/>
              <a:t>成立。而多值依赖</a:t>
            </a:r>
            <a:r>
              <a:rPr lang="en-US" altLang="zh-CN" b="1" dirty="0"/>
              <a:t>X→→Y</a:t>
            </a:r>
            <a:r>
              <a:rPr lang="zh-CN" altLang="en-US" b="1" dirty="0"/>
              <a:t>若在</a:t>
            </a:r>
            <a:r>
              <a:rPr lang="en-US" altLang="zh-CN" b="1" dirty="0"/>
              <a:t>R(U)</a:t>
            </a:r>
            <a:r>
              <a:rPr lang="zh-CN" altLang="en-US" b="1" dirty="0"/>
              <a:t>上成立，我们却不能断言对于任何  </a:t>
            </a:r>
            <a:r>
              <a:rPr lang="en-US" altLang="zh-CN" b="1" dirty="0"/>
              <a:t>Y</a:t>
            </a:r>
            <a:r>
              <a:rPr lang="en-US" altLang="zh-CN" b="1" dirty="0">
                <a:latin typeface="Book Antiqua" pitchFamily="18" charset="0"/>
                <a:ea typeface="MS PMincho"/>
              </a:rPr>
              <a:t>‘</a:t>
            </a:r>
            <a:r>
              <a:rPr lang="en-US" altLang="zh-CN" b="1" dirty="0"/>
              <a:t> </a:t>
            </a:r>
            <a:r>
              <a:rPr lang="en-US" altLang="zh-CN" sz="3200" b="1" dirty="0">
                <a:sym typeface="Symbol" panose="05050102010706020507" pitchFamily="18" charset="2"/>
              </a:rPr>
              <a:t></a:t>
            </a:r>
            <a:r>
              <a:rPr lang="en-US" altLang="zh-CN" b="1" dirty="0"/>
              <a:t> Y</a:t>
            </a:r>
            <a:r>
              <a:rPr lang="zh-CN" altLang="en-US" b="1" dirty="0"/>
              <a:t>有</a:t>
            </a:r>
            <a:r>
              <a:rPr lang="en-US" altLang="zh-CN" b="1" dirty="0"/>
              <a:t>X→→Y</a:t>
            </a:r>
            <a:r>
              <a:rPr lang="en-US" altLang="zh-CN" b="1" dirty="0">
                <a:latin typeface="Book Antiqua" pitchFamily="18" charset="0"/>
                <a:ea typeface="MS PMincho"/>
              </a:rPr>
              <a:t>‘</a:t>
            </a:r>
            <a:r>
              <a:rPr lang="zh-CN" altLang="en-US" b="1" dirty="0"/>
              <a:t>成立。因此有</a:t>
            </a:r>
            <a:r>
              <a:rPr lang="en-US" altLang="zh-CN" b="1" dirty="0"/>
              <a:t>: </a:t>
            </a:r>
            <a:endParaRPr lang="zh-CN" altLang="en-US" b="1" dirty="0"/>
          </a:p>
          <a:p>
            <a:pPr eaLnBrk="1" hangingPunct="1">
              <a:lnSpc>
                <a:spcPct val="90000"/>
              </a:lnSpc>
            </a:pPr>
            <a:r>
              <a:rPr lang="zh-CN" altLang="en-US" b="1" dirty="0"/>
              <a:t>定义</a:t>
            </a:r>
            <a:r>
              <a:rPr lang="en-US" altLang="zh-CN" b="1" dirty="0"/>
              <a:t>4.13</a:t>
            </a:r>
            <a:r>
              <a:rPr lang="zh-CN" altLang="en-US" b="1" dirty="0"/>
              <a:t>：设关系模式</a:t>
            </a:r>
            <a:r>
              <a:rPr lang="en-US" altLang="zh-CN" b="1" dirty="0"/>
              <a:t>R</a:t>
            </a:r>
            <a:r>
              <a:rPr lang="zh-CN" altLang="en-US" b="1" dirty="0"/>
              <a:t>（</a:t>
            </a:r>
            <a:r>
              <a:rPr lang="en-US" altLang="zh-CN" b="1" dirty="0"/>
              <a:t>U</a:t>
            </a:r>
            <a:r>
              <a:rPr lang="zh-CN" altLang="en-US" b="1" dirty="0"/>
              <a:t>），</a:t>
            </a:r>
            <a:r>
              <a:rPr lang="en-US" altLang="zh-CN" b="1" dirty="0"/>
              <a:t>X</a:t>
            </a:r>
            <a:r>
              <a:rPr lang="zh-CN" altLang="en-US" b="1" dirty="0"/>
              <a:t>和</a:t>
            </a:r>
            <a:r>
              <a:rPr lang="en-US" altLang="zh-CN" b="1" dirty="0"/>
              <a:t>Y</a:t>
            </a:r>
            <a:r>
              <a:rPr lang="zh-CN" altLang="en-US" b="1" dirty="0"/>
              <a:t>是属性集</a:t>
            </a:r>
            <a:r>
              <a:rPr lang="en-US" altLang="zh-CN" b="1" dirty="0"/>
              <a:t>U</a:t>
            </a:r>
            <a:r>
              <a:rPr lang="zh-CN" altLang="en-US" b="1" dirty="0"/>
              <a:t>的子集，</a:t>
            </a:r>
            <a:r>
              <a:rPr lang="en-US" altLang="zh-CN" b="1" dirty="0"/>
              <a:t>W</a:t>
            </a:r>
            <a:r>
              <a:rPr lang="zh-CN" altLang="en-US" b="1" dirty="0"/>
              <a:t>是</a:t>
            </a:r>
            <a:r>
              <a:rPr lang="en-US" altLang="zh-CN" b="1" dirty="0"/>
              <a:t>U</a:t>
            </a:r>
            <a:r>
              <a:rPr lang="zh-CN" altLang="en-US" b="1" dirty="0"/>
              <a:t>的真子集，并且</a:t>
            </a:r>
            <a:r>
              <a:rPr lang="en-US" altLang="zh-CN" b="1" dirty="0"/>
              <a:t>XY</a:t>
            </a:r>
            <a:r>
              <a:rPr lang="en-US" altLang="zh-CN" b="1" dirty="0">
                <a:sym typeface="Symbol" panose="05050102010706020507" pitchFamily="18" charset="2"/>
              </a:rPr>
              <a:t></a:t>
            </a:r>
            <a:r>
              <a:rPr lang="en-US" altLang="zh-CN" b="1" dirty="0"/>
              <a:t>W</a:t>
            </a:r>
            <a:r>
              <a:rPr lang="zh-CN" altLang="en-US" b="1" dirty="0"/>
              <a:t>。如果</a:t>
            </a:r>
            <a:r>
              <a:rPr lang="en-US" altLang="zh-CN" b="1" dirty="0"/>
              <a:t>MVD X→→Y</a:t>
            </a:r>
            <a:r>
              <a:rPr lang="zh-CN" altLang="en-US" b="1" dirty="0"/>
              <a:t>在模式</a:t>
            </a:r>
            <a:r>
              <a:rPr lang="en-US" altLang="zh-CN" b="1" dirty="0"/>
              <a:t>R</a:t>
            </a:r>
            <a:r>
              <a:rPr lang="zh-CN" altLang="en-US" b="1" dirty="0"/>
              <a:t>上不成立，但在模式</a:t>
            </a:r>
            <a:r>
              <a:rPr lang="en-US" altLang="zh-CN" b="1" dirty="0"/>
              <a:t>W</a:t>
            </a:r>
            <a:r>
              <a:rPr lang="zh-CN" altLang="en-US" b="1" dirty="0"/>
              <a:t>上成立，则称</a:t>
            </a:r>
            <a:r>
              <a:rPr lang="en-US" altLang="zh-CN" b="1" dirty="0"/>
              <a:t>X→→Y</a:t>
            </a:r>
            <a:r>
              <a:rPr lang="zh-CN" altLang="en-US" b="1" dirty="0"/>
              <a:t>为</a:t>
            </a:r>
            <a:r>
              <a:rPr lang="en-US" altLang="zh-CN" b="1" dirty="0"/>
              <a:t>R</a:t>
            </a:r>
            <a:r>
              <a:rPr lang="zh-CN" altLang="en-US" b="1" dirty="0"/>
              <a:t>上的嵌入型多值依赖（</a:t>
            </a:r>
            <a:r>
              <a:rPr lang="en-US" altLang="zh-CN" b="1" dirty="0"/>
              <a:t>Embedded MVD</a:t>
            </a:r>
            <a:r>
              <a:rPr lang="zh-CN" altLang="en-US" b="1" dirty="0"/>
              <a:t>，简记为</a:t>
            </a:r>
            <a:r>
              <a:rPr lang="en-US" altLang="zh-CN" b="1" dirty="0"/>
              <a:t>eMVD</a:t>
            </a:r>
            <a:r>
              <a:rPr lang="zh-CN" altLang="en-US" b="1" dirty="0"/>
              <a:t>），用符号（</a:t>
            </a:r>
            <a:r>
              <a:rPr lang="en-US" altLang="zh-CN" b="1" dirty="0"/>
              <a:t>X→→Y</a:t>
            </a:r>
            <a:r>
              <a:rPr lang="zh-CN" altLang="en-US" b="1" dirty="0"/>
              <a:t>）</a:t>
            </a:r>
            <a:r>
              <a:rPr lang="en-US" altLang="zh-CN" b="1" baseline="-25000" dirty="0"/>
              <a:t>W</a:t>
            </a:r>
            <a:r>
              <a:rPr lang="zh-CN" altLang="en-US" b="1" dirty="0"/>
              <a:t>表示 </a:t>
            </a:r>
            <a:endParaRPr lang="zh-CN" altLang="en-US"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40578" name="Group 258"/>
          <p:cNvGraphicFramePr>
            <a:graphicFrameLocks noGrp="1"/>
          </p:cNvGraphicFramePr>
          <p:nvPr>
            <p:ph idx="1"/>
          </p:nvPr>
        </p:nvGraphicFramePr>
        <p:xfrm>
          <a:off x="941388" y="1863725"/>
          <a:ext cx="7086600" cy="3959225"/>
        </p:xfrm>
        <a:graphic>
          <a:graphicData uri="http://schemas.openxmlformats.org/drawingml/2006/table">
            <a:tbl>
              <a:tblPr/>
              <a:tblGrid>
                <a:gridCol w="1771650"/>
                <a:gridCol w="1771650"/>
                <a:gridCol w="1771650"/>
                <a:gridCol w="1771650"/>
              </a:tblGrid>
              <a:tr h="9493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endParaRPr kumimoji="0" lang="en-US" altLang="zh-CN"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0000" marR="90000" marT="46800" marB="46800" anchor="ct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PC#</a:t>
                      </a:r>
                      <a:endParaRPr kumimoji="0" lang="en-US" altLang="zh-CN"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0000" marR="90000" marT="46800" marB="46800" anchor="ct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endParaRPr kumimoji="0" lang="en-US" altLang="zh-CN"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0000" marR="90000" marT="46800" marB="46800" anchor="ct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Grade</a:t>
                      </a:r>
                      <a:endParaRPr kumimoji="0" lang="en-US" altLang="zh-CN"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0000" marR="90000" marT="46800" marB="46800" anchor="ct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6921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C1</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PC1</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S1</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80</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080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C1</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PC2</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S1</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80</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175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C1</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PC1</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S2</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90</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21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C1</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PC2</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S2</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itchFamily="2" charset="-122"/>
                          <a:cs typeface="Times New Roman" panose="02020603050405020304" pitchFamily="18" charset="0"/>
                        </a:rPr>
                        <a:t>90</a:t>
                      </a:r>
                      <a:endParaRPr kumimoji="0" lang="en-US" altLang="zh-CN" sz="2400" b="0" i="0" u="none" strike="noStrike" cap="none" normalizeH="0" baseline="0">
                        <a:ln>
                          <a:noFill/>
                        </a:ln>
                        <a:solidFill>
                          <a:schemeClr val="accent2"/>
                        </a:solidFill>
                        <a:effectLst/>
                        <a:latin typeface="Arial" panose="020B0604020202020204" pitchFamily="34" charset="0"/>
                        <a:ea typeface="宋体" pitchFamily="2" charset="-122"/>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8546" name="Rectangle 2"/>
          <p:cNvSpPr>
            <a:spLocks noGrp="1"/>
          </p:cNvSpPr>
          <p:nvPr>
            <p:ph type="title"/>
          </p:nvPr>
        </p:nvSpPr>
        <p:spPr>
          <a:xfrm>
            <a:off x="1279525" y="685800"/>
            <a:ext cx="7086600" cy="487363"/>
          </a:xfrm>
          <a:ln/>
        </p:spPr>
        <p:txBody>
          <a:bodyPr vert="horz" wrap="square" lIns="91440" tIns="45720" rIns="91440" bIns="45720" anchor="ctr" anchorCtr="0"/>
          <a:p>
            <a:pPr algn="ctr" eaLnBrk="1" hangingPunct="1"/>
            <a:r>
              <a:rPr lang="en-US" altLang="zh-CN" sz="4000" b="1" dirty="0">
                <a:solidFill>
                  <a:srgbClr val="E40000"/>
                </a:solidFill>
                <a:latin typeface="Arial" panose="020B0604020202020204" pitchFamily="34" charset="0"/>
              </a:rPr>
              <a:t>4</a:t>
            </a:r>
            <a:r>
              <a:rPr lang="en-US" altLang="en-US" sz="4000" b="1" dirty="0">
                <a:solidFill>
                  <a:srgbClr val="E40000"/>
                </a:solidFill>
                <a:latin typeface="Arial" panose="020B0604020202020204" pitchFamily="34" charset="0"/>
              </a:rPr>
              <a:t>.</a:t>
            </a:r>
            <a:r>
              <a:rPr lang="en-US" altLang="zh-CN" sz="4000" b="1" dirty="0">
                <a:solidFill>
                  <a:srgbClr val="E40000"/>
                </a:solidFill>
                <a:latin typeface="Arial" panose="020B0604020202020204" pitchFamily="34" charset="0"/>
              </a:rPr>
              <a:t>3</a:t>
            </a:r>
            <a:r>
              <a:rPr lang="en-US" altLang="en-US" sz="4000" b="1" dirty="0">
                <a:solidFill>
                  <a:srgbClr val="E40000"/>
                </a:solidFill>
                <a:latin typeface="Arial" panose="020B0604020202020204" pitchFamily="34" charset="0"/>
              </a:rPr>
              <a:t> </a:t>
            </a:r>
            <a:r>
              <a:rPr lang="en-US" altLang="zh-CN" sz="4000" b="1" dirty="0">
                <a:solidFill>
                  <a:srgbClr val="E40000"/>
                </a:solidFill>
                <a:latin typeface="Arial" panose="020B0604020202020204" pitchFamily="34" charset="0"/>
              </a:rPr>
              <a:t>关系模式分解</a:t>
            </a:r>
            <a:endParaRPr lang="zh-CN" altLang="en-US" sz="4000" b="1" dirty="0">
              <a:solidFill>
                <a:srgbClr val="E40000"/>
              </a:solidFill>
              <a:latin typeface="Arial" panose="020B0604020202020204" pitchFamily="34" charset="0"/>
            </a:endParaRPr>
          </a:p>
        </p:txBody>
      </p:sp>
      <p:sp>
        <p:nvSpPr>
          <p:cNvPr id="108547" name="Rectangle 3"/>
          <p:cNvSpPr>
            <a:spLocks noGrp="1"/>
          </p:cNvSpPr>
          <p:nvPr>
            <p:ph idx="1"/>
          </p:nvPr>
        </p:nvSpPr>
        <p:spPr>
          <a:xfrm>
            <a:off x="755650" y="1557338"/>
            <a:ext cx="8059738" cy="4568825"/>
          </a:xfrm>
          <a:ln/>
        </p:spPr>
        <p:txBody>
          <a:bodyPr vert="horz" wrap="square" lIns="91440" tIns="45720" rIns="91440" bIns="45720" anchor="t" anchorCtr="0"/>
          <a:p>
            <a:pPr marL="193675" indent="-193675" eaLnBrk="1" hangingPunct="1">
              <a:lnSpc>
                <a:spcPct val="80000"/>
              </a:lnSpc>
            </a:pPr>
            <a:r>
              <a:rPr lang="zh-CN" altLang="en-US" b="1" dirty="0">
                <a:latin typeface="黑体" pitchFamily="49" charset="-122"/>
                <a:ea typeface="黑体" pitchFamily="49" charset="-122"/>
              </a:rPr>
              <a:t>我们可以通过把一个</a:t>
            </a:r>
            <a:r>
              <a:rPr lang="zh-CN" altLang="en-US" b="1" dirty="0">
                <a:ea typeface="黑体" pitchFamily="49" charset="-122"/>
              </a:rPr>
              <a:t>”</a:t>
            </a:r>
            <a:r>
              <a:rPr lang="zh-CN" altLang="en-US" b="1" dirty="0">
                <a:latin typeface="黑体" pitchFamily="49" charset="-122"/>
                <a:ea typeface="黑体" pitchFamily="49" charset="-122"/>
              </a:rPr>
              <a:t>大的</a:t>
            </a:r>
            <a:r>
              <a:rPr lang="zh-CN" altLang="en-US" b="1" dirty="0">
                <a:ea typeface="黑体" pitchFamily="49" charset="-122"/>
              </a:rPr>
              <a:t>”</a:t>
            </a:r>
            <a:r>
              <a:rPr lang="zh-CN" altLang="en-US" b="1" dirty="0">
                <a:latin typeface="黑体" pitchFamily="49" charset="-122"/>
                <a:ea typeface="黑体" pitchFamily="49" charset="-122"/>
              </a:rPr>
              <a:t>关系模式分解成多个</a:t>
            </a:r>
            <a:r>
              <a:rPr lang="zh-CN" altLang="en-US" b="1" dirty="0">
                <a:ea typeface="黑体" pitchFamily="49" charset="-122"/>
              </a:rPr>
              <a:t>”</a:t>
            </a:r>
            <a:r>
              <a:rPr lang="zh-CN" altLang="en-US" b="1" dirty="0">
                <a:latin typeface="黑体" pitchFamily="49" charset="-122"/>
                <a:ea typeface="黑体" pitchFamily="49" charset="-122"/>
              </a:rPr>
              <a:t>小的</a:t>
            </a:r>
            <a:r>
              <a:rPr lang="zh-CN" altLang="en-US" b="1" dirty="0">
                <a:ea typeface="黑体" pitchFamily="49" charset="-122"/>
              </a:rPr>
              <a:t>”</a:t>
            </a:r>
            <a:r>
              <a:rPr lang="zh-CN" altLang="en-US" b="1" dirty="0">
                <a:latin typeface="黑体" pitchFamily="49" charset="-122"/>
                <a:ea typeface="黑体" pitchFamily="49" charset="-122"/>
              </a:rPr>
              <a:t>关系模式，以解决插入异常、删除异常和更新异常等问题</a:t>
            </a:r>
            <a:endParaRPr lang="zh-CN" altLang="en-US" b="1" dirty="0">
              <a:latin typeface="黑体" pitchFamily="49" charset="-122"/>
              <a:ea typeface="黑体" pitchFamily="49" charset="-122"/>
            </a:endParaRPr>
          </a:p>
          <a:p>
            <a:pPr marL="193675" indent="-193675" eaLnBrk="1" hangingPunct="1">
              <a:lnSpc>
                <a:spcPct val="80000"/>
              </a:lnSpc>
            </a:pPr>
            <a:r>
              <a:rPr lang="zh-CN" altLang="en-US" b="1" dirty="0">
                <a:latin typeface="黑体" pitchFamily="49" charset="-122"/>
                <a:ea typeface="黑体" pitchFamily="49" charset="-122"/>
              </a:rPr>
              <a:t>实际上，关系模式的分解，不仅仅是属性集合的分解，也是对关系模式上的</a:t>
            </a:r>
            <a:r>
              <a:rPr lang="zh-CN" altLang="en-US" b="1" u="sng" dirty="0">
                <a:latin typeface="黑体" pitchFamily="49" charset="-122"/>
                <a:ea typeface="黑体" pitchFamily="49" charset="-122"/>
              </a:rPr>
              <a:t>函数依赖集</a:t>
            </a:r>
            <a:r>
              <a:rPr lang="zh-CN" altLang="en-US" b="1" dirty="0">
                <a:latin typeface="黑体" pitchFamily="49" charset="-122"/>
                <a:ea typeface="黑体" pitchFamily="49" charset="-122"/>
              </a:rPr>
              <a:t>，以及</a:t>
            </a:r>
            <a:r>
              <a:rPr lang="zh-CN" altLang="en-US" b="1" u="sng" dirty="0">
                <a:latin typeface="黑体" pitchFamily="49" charset="-122"/>
                <a:ea typeface="黑体" pitchFamily="49" charset="-122"/>
              </a:rPr>
              <a:t>关系模式的当前值</a:t>
            </a:r>
            <a:r>
              <a:rPr lang="zh-CN" altLang="en-US" b="1" dirty="0">
                <a:latin typeface="黑体" pitchFamily="49" charset="-122"/>
                <a:ea typeface="黑体" pitchFamily="49" charset="-122"/>
              </a:rPr>
              <a:t>的分解的具体表现</a:t>
            </a:r>
            <a:endParaRPr lang="zh-CN" altLang="en-US" b="1" dirty="0">
              <a:latin typeface="黑体" pitchFamily="49" charset="-122"/>
              <a:ea typeface="黑体" pitchFamily="49" charset="-122"/>
            </a:endParaRPr>
          </a:p>
          <a:p>
            <a:pPr marL="193675" indent="-193675" eaLnBrk="1" hangingPunct="1">
              <a:lnSpc>
                <a:spcPct val="80000"/>
              </a:lnSpc>
            </a:pPr>
            <a:r>
              <a:rPr lang="zh-CN" altLang="en-US" b="1" dirty="0">
                <a:latin typeface="黑体" pitchFamily="49" charset="-122"/>
                <a:ea typeface="黑体" pitchFamily="49" charset="-122"/>
              </a:rPr>
              <a:t>关系模式的分解并不是随意的，必须保证原来的关系模式的语义性质和信息不被丢失，即要求分解应当既</a:t>
            </a:r>
            <a:r>
              <a:rPr lang="zh-CN" altLang="en-US" b="1" dirty="0">
                <a:ea typeface="黑体" pitchFamily="49" charset="-122"/>
              </a:rPr>
              <a:t>“</a:t>
            </a:r>
            <a:r>
              <a:rPr lang="zh-CN" altLang="en-US" b="1" dirty="0">
                <a:solidFill>
                  <a:srgbClr val="FF9933"/>
                </a:solidFill>
                <a:latin typeface="黑体" pitchFamily="49" charset="-122"/>
                <a:ea typeface="黑体" pitchFamily="49" charset="-122"/>
              </a:rPr>
              <a:t>无损联接</a:t>
            </a:r>
            <a:r>
              <a:rPr lang="zh-CN" altLang="en-US" b="1" dirty="0">
                <a:ea typeface="黑体" pitchFamily="49" charset="-122"/>
              </a:rPr>
              <a:t>”</a:t>
            </a:r>
            <a:r>
              <a:rPr lang="zh-CN" altLang="en-US" b="1" dirty="0">
                <a:latin typeface="黑体" pitchFamily="49" charset="-122"/>
                <a:ea typeface="黑体" pitchFamily="49" charset="-122"/>
              </a:rPr>
              <a:t>又</a:t>
            </a:r>
            <a:r>
              <a:rPr lang="zh-CN" altLang="en-US" b="1" dirty="0">
                <a:ea typeface="黑体" pitchFamily="49" charset="-122"/>
              </a:rPr>
              <a:t>“</a:t>
            </a:r>
            <a:r>
              <a:rPr lang="zh-CN" altLang="en-US" b="1" dirty="0">
                <a:solidFill>
                  <a:srgbClr val="FF9933"/>
                </a:solidFill>
                <a:latin typeface="黑体" pitchFamily="49" charset="-122"/>
                <a:ea typeface="黑体" pitchFamily="49" charset="-122"/>
              </a:rPr>
              <a:t>保持函数依赖</a:t>
            </a:r>
            <a:r>
              <a:rPr lang="zh-CN" altLang="en-US" b="1" dirty="0">
                <a:ea typeface="黑体" pitchFamily="49" charset="-122"/>
              </a:rPr>
              <a:t>”</a:t>
            </a:r>
            <a:endParaRPr lang="zh-CN" altLang="en-US" b="1" dirty="0">
              <a:latin typeface="黑体" pitchFamily="49" charset="-122"/>
              <a:ea typeface="黑体"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0594" name="Rectangle 2"/>
          <p:cNvSpPr>
            <a:spLocks noGrp="1"/>
          </p:cNvSpPr>
          <p:nvPr>
            <p:ph type="title"/>
          </p:nvPr>
        </p:nvSpPr>
        <p:spPr>
          <a:xfrm>
            <a:off x="1279525" y="685800"/>
            <a:ext cx="7086600" cy="487363"/>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关系模式分解的定义</a:t>
            </a:r>
            <a:endParaRPr lang="zh-CN" altLang="en-US" sz="4000" b="1" dirty="0">
              <a:solidFill>
                <a:srgbClr val="E40000"/>
              </a:solidFill>
              <a:latin typeface="Arial" panose="020B0604020202020204" pitchFamily="34" charset="0"/>
            </a:endParaRPr>
          </a:p>
        </p:txBody>
      </p:sp>
      <p:sp>
        <p:nvSpPr>
          <p:cNvPr id="110595" name="Rectangle 3"/>
          <p:cNvSpPr>
            <a:spLocks noGrp="1"/>
          </p:cNvSpPr>
          <p:nvPr>
            <p:ph idx="1"/>
          </p:nvPr>
        </p:nvSpPr>
        <p:spPr>
          <a:xfrm>
            <a:off x="539750" y="1524000"/>
            <a:ext cx="8280400" cy="4568825"/>
          </a:xfrm>
          <a:ln/>
        </p:spPr>
        <p:txBody>
          <a:bodyPr vert="horz" wrap="square" lIns="91440" tIns="45720" rIns="91440" bIns="45720" anchor="t" anchorCtr="0"/>
          <a:p>
            <a:pPr marL="193675" indent="-193675" eaLnBrk="1" hangingPunct="1"/>
            <a:r>
              <a:rPr lang="zh-CN" altLang="en-US" sz="2400" b="1" dirty="0">
                <a:latin typeface="黑体" pitchFamily="49" charset="-122"/>
                <a:ea typeface="黑体" pitchFamily="49" charset="-122"/>
              </a:rPr>
              <a:t>定义</a:t>
            </a:r>
            <a:r>
              <a:rPr lang="en-US" altLang="zh-CN" sz="2400" b="1" dirty="0">
                <a:latin typeface="黑体" pitchFamily="49" charset="-122"/>
                <a:ea typeface="黑体" pitchFamily="49" charset="-122"/>
              </a:rPr>
              <a:t>4.14</a:t>
            </a:r>
            <a:r>
              <a:rPr lang="en-US" altLang="zh-CN" sz="2400" b="1" dirty="0"/>
              <a:t>:</a:t>
            </a:r>
            <a:r>
              <a:rPr lang="zh-CN" altLang="en-US" sz="2400" b="1" dirty="0"/>
              <a:t>设</a:t>
            </a:r>
            <a:r>
              <a:rPr lang="en-US" altLang="zh-CN" sz="2400" b="1" dirty="0"/>
              <a:t>R(U)</a:t>
            </a:r>
            <a:r>
              <a:rPr lang="zh-CN" altLang="en-US" sz="2400" b="1" dirty="0"/>
              <a:t>为关系模式，则称</a:t>
            </a:r>
            <a:r>
              <a:rPr lang="en-US" altLang="zh-CN" sz="2400" b="1" dirty="0"/>
              <a:t>:</a:t>
            </a:r>
            <a:endParaRPr lang="en-US" altLang="zh-CN" sz="2400" b="1" dirty="0"/>
          </a:p>
          <a:p>
            <a:pPr marL="193675" indent="-193675" eaLnBrk="1" hangingPunct="1">
              <a:buNone/>
            </a:pPr>
            <a:r>
              <a:rPr lang="en-US" altLang="zh-CN" sz="2400" b="1" dirty="0"/>
              <a:t> ρ={R</a:t>
            </a:r>
            <a:r>
              <a:rPr lang="en-US" altLang="zh-CN" sz="2400" b="1" baseline="-25000" dirty="0"/>
              <a:t>1</a:t>
            </a:r>
            <a:r>
              <a:rPr lang="en-US" altLang="zh-CN" sz="2400" b="1" dirty="0"/>
              <a:t>(U</a:t>
            </a:r>
            <a:r>
              <a:rPr lang="en-US" altLang="zh-CN" sz="2400" b="1" baseline="-25000" dirty="0"/>
              <a:t>1</a:t>
            </a:r>
            <a:r>
              <a:rPr lang="en-US" altLang="zh-CN" sz="2400" b="1" dirty="0"/>
              <a:t>),R</a:t>
            </a:r>
            <a:r>
              <a:rPr lang="en-US" altLang="zh-CN" sz="2400" b="1" baseline="-25000" dirty="0"/>
              <a:t>2</a:t>
            </a:r>
            <a:r>
              <a:rPr lang="en-US" altLang="zh-CN" sz="2400" b="1" dirty="0"/>
              <a:t>(U</a:t>
            </a:r>
            <a:r>
              <a:rPr lang="en-US" altLang="zh-CN" sz="2400" b="1" baseline="-25000" dirty="0"/>
              <a:t>2</a:t>
            </a:r>
            <a:r>
              <a:rPr lang="en-US" altLang="zh-CN" sz="2400" b="1" dirty="0"/>
              <a:t>),…,R</a:t>
            </a:r>
            <a:r>
              <a:rPr lang="en-US" altLang="zh-CN" sz="2400" b="1" baseline="-25000" dirty="0"/>
              <a:t>k</a:t>
            </a:r>
            <a:r>
              <a:rPr lang="en-US" altLang="zh-CN" sz="2400" b="1" dirty="0"/>
              <a:t>(U</a:t>
            </a:r>
            <a:r>
              <a:rPr lang="en-US" altLang="zh-CN" sz="2400" b="1" baseline="-25000" dirty="0"/>
              <a:t>k</a:t>
            </a:r>
            <a:r>
              <a:rPr lang="en-US" altLang="zh-CN" sz="2400" b="1" dirty="0"/>
              <a:t>)} (</a:t>
            </a:r>
            <a:r>
              <a:rPr lang="zh-CN" altLang="en-US" sz="2400" b="1" dirty="0"/>
              <a:t>其中</a:t>
            </a:r>
            <a:r>
              <a:rPr lang="en-US" altLang="zh-CN" sz="2400" b="1" dirty="0"/>
              <a:t>U=      ,   </a:t>
            </a:r>
            <a:r>
              <a:rPr lang="zh-CN" altLang="en-US" sz="2400" b="1" dirty="0"/>
              <a:t>且对于任意的</a:t>
            </a:r>
            <a:r>
              <a:rPr lang="en-US" altLang="zh-CN" sz="2400" b="1" dirty="0"/>
              <a:t>1</a:t>
            </a:r>
            <a:r>
              <a:rPr lang="en-US" altLang="en-US" sz="2400" b="1" dirty="0"/>
              <a:t>≤i,j≤k</a:t>
            </a:r>
            <a:r>
              <a:rPr lang="en-US" altLang="zh-CN" sz="2400" b="1" dirty="0"/>
              <a:t>没有U</a:t>
            </a:r>
            <a:r>
              <a:rPr lang="en-US" altLang="zh-CN" sz="2400" b="1" baseline="-25000" dirty="0"/>
              <a:t>i</a:t>
            </a:r>
            <a:r>
              <a:rPr lang="en-US" altLang="zh-CN" sz="2400" b="1" dirty="0">
                <a:sym typeface="Symbol" panose="05050102010706020507" pitchFamily="18" charset="2"/>
              </a:rPr>
              <a:t></a:t>
            </a:r>
            <a:r>
              <a:rPr lang="en-US" altLang="zh-CN" sz="2400" b="1" dirty="0"/>
              <a:t>U</a:t>
            </a:r>
            <a:r>
              <a:rPr lang="en-US" altLang="zh-CN" sz="2400" b="1" baseline="-25000" dirty="0"/>
              <a:t>j</a:t>
            </a:r>
            <a:r>
              <a:rPr lang="en-US" altLang="zh-CN" sz="2400" b="1" dirty="0"/>
              <a:t>)</a:t>
            </a:r>
            <a:r>
              <a:rPr lang="zh-CN" altLang="en-US" sz="2400" b="1" dirty="0"/>
              <a:t>为</a:t>
            </a:r>
            <a:r>
              <a:rPr lang="en-US" altLang="zh-CN" sz="2400" b="1" dirty="0"/>
              <a:t>R</a:t>
            </a:r>
            <a:r>
              <a:rPr lang="zh-CN" altLang="en-US" sz="2400" b="1" dirty="0"/>
              <a:t>的一个分解。</a:t>
            </a:r>
            <a:endParaRPr lang="zh-CN" altLang="en-US" sz="2400" b="1" dirty="0"/>
          </a:p>
          <a:p>
            <a:pPr marL="193675" indent="-193675" eaLnBrk="1" hangingPunct="1"/>
            <a:r>
              <a:rPr lang="zh-CN" altLang="en-US" sz="2400" b="1" dirty="0">
                <a:latin typeface="黑体" pitchFamily="49" charset="-122"/>
                <a:ea typeface="黑体" pitchFamily="49" charset="-122"/>
              </a:rPr>
              <a:t>定义</a:t>
            </a:r>
            <a:r>
              <a:rPr lang="en-US" altLang="zh-CN" sz="2400" b="1" dirty="0">
                <a:latin typeface="黑体" pitchFamily="49" charset="-122"/>
                <a:ea typeface="黑体" pitchFamily="49" charset="-122"/>
              </a:rPr>
              <a:t>4.15</a:t>
            </a:r>
            <a:r>
              <a:rPr lang="en-US" altLang="zh-CN" sz="2400" b="1" dirty="0"/>
              <a:t>:</a:t>
            </a:r>
            <a:r>
              <a:rPr lang="zh-CN" altLang="en-US" sz="2400" b="1" dirty="0"/>
              <a:t>函数依赖集</a:t>
            </a:r>
            <a:r>
              <a:rPr lang="en-US" altLang="zh-CN" sz="2400" b="1" dirty="0"/>
              <a:t>F</a:t>
            </a:r>
            <a:r>
              <a:rPr lang="zh-CN" altLang="en-US" sz="2400" b="1" dirty="0"/>
              <a:t>在属性集</a:t>
            </a:r>
            <a:r>
              <a:rPr lang="en-US" altLang="zh-CN" sz="2400" b="1" dirty="0"/>
              <a:t>Ui(</a:t>
            </a:r>
            <a:r>
              <a:rPr lang="en-US" altLang="zh-CN" sz="2400" b="1" dirty="0">
                <a:sym typeface="Symbol" panose="05050102010706020507" pitchFamily="18" charset="2"/>
              </a:rPr>
              <a:t></a:t>
            </a:r>
            <a:r>
              <a:rPr lang="en-US" altLang="zh-CN" sz="2400" b="1" dirty="0"/>
              <a:t>U)</a:t>
            </a:r>
            <a:r>
              <a:rPr lang="zh-CN" altLang="en-US" sz="2400" b="1" dirty="0"/>
              <a:t>上的投影定义为：</a:t>
            </a:r>
            <a:endParaRPr lang="zh-CN" altLang="en-US" sz="2400" b="1" dirty="0"/>
          </a:p>
          <a:p>
            <a:pPr marL="193675" indent="-193675" eaLnBrk="1" hangingPunct="1"/>
            <a:endParaRPr lang="zh-CN" altLang="en-US" sz="2400" b="1" dirty="0"/>
          </a:p>
          <a:p>
            <a:pPr marL="193675" indent="-193675" eaLnBrk="1" hangingPunct="1"/>
            <a:endParaRPr lang="en-US" altLang="zh-CN" sz="2400" b="1" dirty="0"/>
          </a:p>
          <a:p>
            <a:pPr marL="193675" indent="-193675" eaLnBrk="1" hangingPunct="1"/>
            <a:r>
              <a:rPr lang="en-US" altLang="zh-CN" sz="2400" b="1" dirty="0"/>
              <a:t>R</a:t>
            </a:r>
            <a:r>
              <a:rPr lang="zh-CN" altLang="en-US" sz="2400" b="1" dirty="0"/>
              <a:t>称为泛关系模式，</a:t>
            </a:r>
            <a:r>
              <a:rPr lang="en-US" altLang="zh-CN" sz="2400" b="1" dirty="0"/>
              <a:t>R</a:t>
            </a:r>
            <a:r>
              <a:rPr lang="zh-CN" altLang="en-US" sz="2400" b="1" dirty="0"/>
              <a:t>对应的当前值称为泛关系</a:t>
            </a:r>
            <a:endParaRPr lang="zh-CN" altLang="en-US" sz="2400" b="1" dirty="0"/>
          </a:p>
          <a:p>
            <a:pPr marL="193675" indent="-193675" eaLnBrk="1" hangingPunct="1"/>
            <a:r>
              <a:rPr lang="zh-CN" altLang="en-US" sz="2400" b="1" dirty="0"/>
              <a:t>数据库对应的当前值</a:t>
            </a:r>
            <a:r>
              <a:rPr lang="en-US" altLang="zh-CN" sz="2400" b="1" dirty="0"/>
              <a:t>σ</a:t>
            </a:r>
            <a:r>
              <a:rPr lang="zh-CN" altLang="en-US" sz="2400" b="1" dirty="0"/>
              <a:t>称为数据库实例，它是由数据库模式中的每一个关系模式的当前值组成，即</a:t>
            </a:r>
            <a:endParaRPr lang="zh-CN" altLang="en-US" sz="2400" b="1" dirty="0"/>
          </a:p>
          <a:p>
            <a:pPr marL="193675" indent="-193675" eaLnBrk="1" hangingPunct="1">
              <a:buNone/>
            </a:pPr>
            <a:r>
              <a:rPr lang="en-US" altLang="zh-CN" sz="2400" b="1" dirty="0"/>
              <a:t>      σ</a:t>
            </a:r>
            <a:r>
              <a:rPr lang="zh-CN" altLang="en-US" sz="2400" b="1" dirty="0"/>
              <a:t>＝｛</a:t>
            </a:r>
            <a:r>
              <a:rPr lang="en-US" altLang="zh-CN" sz="2400" b="1" dirty="0"/>
              <a:t>r1,r2…rk}</a:t>
            </a:r>
            <a:endParaRPr lang="zh-CN" altLang="en-US" sz="2400" b="1" dirty="0"/>
          </a:p>
          <a:p>
            <a:pPr marL="193675" indent="-193675" eaLnBrk="1" hangingPunct="1">
              <a:buNone/>
            </a:pPr>
            <a:endParaRPr lang="zh-CN" altLang="en-US" b="1" dirty="0"/>
          </a:p>
        </p:txBody>
      </p:sp>
      <p:graphicFrame>
        <p:nvGraphicFramePr>
          <p:cNvPr id="110596" name="Object 4"/>
          <p:cNvGraphicFramePr>
            <a:graphicFrameLocks noChangeAspect="1"/>
          </p:cNvGraphicFramePr>
          <p:nvPr/>
        </p:nvGraphicFramePr>
        <p:xfrm>
          <a:off x="5436235" y="1916748"/>
          <a:ext cx="736600" cy="576262"/>
        </p:xfrm>
        <a:graphic>
          <a:graphicData uri="http://schemas.openxmlformats.org/presentationml/2006/ole">
            <mc:AlternateContent xmlns:mc="http://schemas.openxmlformats.org/markup-compatibility/2006">
              <mc:Choice xmlns:v="urn:schemas-microsoft-com:vml" Requires="v">
                <p:oleObj spid="_x0000_s3080" name="" r:id="rId1" imgW="368300" imgH="431800" progId="Equation.3">
                  <p:embed/>
                </p:oleObj>
              </mc:Choice>
              <mc:Fallback>
                <p:oleObj name="" r:id="rId1" imgW="368300" imgH="431800" progId="Equation.3">
                  <p:embed/>
                  <p:pic>
                    <p:nvPicPr>
                      <p:cNvPr id="0" name="Picture 3079"/>
                      <p:cNvPicPr/>
                      <p:nvPr/>
                    </p:nvPicPr>
                    <p:blipFill>
                      <a:blip r:embed="rId2">
                        <a:biLevel thresh="50000"/>
                        <a:grayscl/>
                      </a:blip>
                      <a:stretch>
                        <a:fillRect/>
                      </a:stretch>
                    </p:blipFill>
                    <p:spPr>
                      <a:xfrm>
                        <a:off x="5436235" y="1916748"/>
                        <a:ext cx="736600" cy="576262"/>
                      </a:xfrm>
                      <a:prstGeom prst="rect">
                        <a:avLst/>
                      </a:prstGeom>
                      <a:solidFill>
                        <a:schemeClr val="bg1"/>
                      </a:solidFill>
                      <a:ln w="38100">
                        <a:noFill/>
                        <a:miter/>
                      </a:ln>
                    </p:spPr>
                  </p:pic>
                </p:oleObj>
              </mc:Fallback>
            </mc:AlternateContent>
          </a:graphicData>
        </a:graphic>
      </p:graphicFrame>
      <p:graphicFrame>
        <p:nvGraphicFramePr>
          <p:cNvPr id="110597" name="Object 5"/>
          <p:cNvGraphicFramePr>
            <a:graphicFrameLocks noChangeAspect="1"/>
          </p:cNvGraphicFramePr>
          <p:nvPr/>
        </p:nvGraphicFramePr>
        <p:xfrm>
          <a:off x="1763713" y="3357563"/>
          <a:ext cx="5480050" cy="576262"/>
        </p:xfrm>
        <a:graphic>
          <a:graphicData uri="http://schemas.openxmlformats.org/presentationml/2006/ole">
            <mc:AlternateContent xmlns:mc="http://schemas.openxmlformats.org/markup-compatibility/2006">
              <mc:Choice xmlns:v="urn:schemas-microsoft-com:vml" Requires="v">
                <p:oleObj spid="_x0000_s3081" name="" r:id="rId3" imgW="2840355" imgH="194310" progId="Equation.DSMT4">
                  <p:embed/>
                </p:oleObj>
              </mc:Choice>
              <mc:Fallback>
                <p:oleObj name="" r:id="rId3" imgW="2840355" imgH="194310" progId="Equation.DSMT4">
                  <p:embed/>
                  <p:pic>
                    <p:nvPicPr>
                      <p:cNvPr id="0" name="Picture 3080"/>
                      <p:cNvPicPr/>
                      <p:nvPr/>
                    </p:nvPicPr>
                    <p:blipFill>
                      <a:blip r:embed="rId4"/>
                      <a:stretch>
                        <a:fillRect/>
                      </a:stretch>
                    </p:blipFill>
                    <p:spPr>
                      <a:xfrm>
                        <a:off x="1763713" y="3357563"/>
                        <a:ext cx="5480050" cy="576262"/>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2642" name="Rectangle 2"/>
          <p:cNvSpPr>
            <a:spLocks noGrp="1"/>
          </p:cNvSpPr>
          <p:nvPr>
            <p:ph type="title"/>
          </p:nvPr>
        </p:nvSpPr>
        <p:spPr>
          <a:ln/>
        </p:spPr>
        <p:txBody>
          <a:bodyPr vert="horz" wrap="square" lIns="91440" tIns="45720" rIns="91440" bIns="45720" anchor="ctr" anchorCtr="0"/>
          <a:p>
            <a:pPr eaLnBrk="1" hangingPunct="1"/>
            <a:r>
              <a:rPr lang="zh-CN" altLang="en-US" b="1" dirty="0">
                <a:solidFill>
                  <a:srgbClr val="E40000"/>
                </a:solidFill>
                <a:latin typeface="Arial" panose="020B0604020202020204" pitchFamily="34" charset="0"/>
              </a:rPr>
              <a:t>泛关系模式</a:t>
            </a:r>
            <a:endParaRPr lang="zh-CN" altLang="en-US" b="1" dirty="0">
              <a:solidFill>
                <a:srgbClr val="E40000"/>
              </a:solidFill>
              <a:latin typeface="Arial" panose="020B0604020202020204" pitchFamily="34" charset="0"/>
            </a:endParaRPr>
          </a:p>
        </p:txBody>
      </p:sp>
      <p:sp>
        <p:nvSpPr>
          <p:cNvPr id="112643" name="Rectangle 3"/>
          <p:cNvSpPr/>
          <p:nvPr/>
        </p:nvSpPr>
        <p:spPr>
          <a:xfrm>
            <a:off x="0" y="26368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12644" name="Rectangle 4"/>
          <p:cNvSpPr/>
          <p:nvPr/>
        </p:nvSpPr>
        <p:spPr>
          <a:xfrm>
            <a:off x="0" y="26368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269875" eaLnBrk="1" hangingPunct="1">
              <a:spcBef>
                <a:spcPct val="0"/>
              </a:spcBef>
              <a:buNone/>
            </a:pPr>
            <a:endParaRPr lang="zh-CN" altLang="en-US" sz="2400" dirty="0">
              <a:latin typeface="Times New Roman" panose="02020603050405020304" pitchFamily="18" charset="0"/>
            </a:endParaRPr>
          </a:p>
        </p:txBody>
      </p:sp>
      <p:pic>
        <p:nvPicPr>
          <p:cNvPr id="112645" name="Picture 5" descr="45"/>
          <p:cNvPicPr>
            <a:picLocks noChangeAspect="1"/>
          </p:cNvPicPr>
          <p:nvPr/>
        </p:nvPicPr>
        <p:blipFill>
          <a:blip r:embed="rId1"/>
          <a:stretch>
            <a:fillRect/>
          </a:stretch>
        </p:blipFill>
        <p:spPr>
          <a:xfrm>
            <a:off x="990600" y="1984375"/>
            <a:ext cx="7467600" cy="2892425"/>
          </a:xfrm>
          <a:prstGeom prst="rect">
            <a:avLst/>
          </a:prstGeom>
          <a:noFill/>
          <a:ln w="9525">
            <a:noFill/>
          </a:ln>
        </p:spPr>
      </p:pic>
      <p:sp>
        <p:nvSpPr>
          <p:cNvPr id="112646" name="Text Box 6"/>
          <p:cNvSpPr txBox="1"/>
          <p:nvPr/>
        </p:nvSpPr>
        <p:spPr>
          <a:xfrm>
            <a:off x="3059113" y="5445125"/>
            <a:ext cx="35877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zh-CN" altLang="en-US" sz="2400" b="1" dirty="0"/>
              <a:t>图</a:t>
            </a:r>
            <a:r>
              <a:rPr lang="en-US" altLang="zh-CN" sz="2400" b="1" dirty="0"/>
              <a:t>4.5  </a:t>
            </a:r>
            <a:r>
              <a:rPr lang="zh-CN" altLang="en-US" sz="2400" b="1" dirty="0"/>
              <a:t>模式分解示意图</a:t>
            </a:r>
            <a:r>
              <a:rPr lang="zh-CN" altLang="en-US" sz="1600" dirty="0">
                <a:latin typeface="Arial" panose="020B0604020202020204" pitchFamily="34" charset="0"/>
              </a:rPr>
              <a:t> </a:t>
            </a:r>
            <a:endParaRPr lang="zh-CN" altLang="en-US" sz="1600" dirty="0">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4690"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无损联接分解</a:t>
            </a:r>
            <a:endParaRPr lang="zh-CN" altLang="en-US" sz="4000" b="1" dirty="0">
              <a:solidFill>
                <a:srgbClr val="E40000"/>
              </a:solidFill>
              <a:latin typeface="Arial" panose="020B0604020202020204" pitchFamily="34" charset="0"/>
            </a:endParaRPr>
          </a:p>
        </p:txBody>
      </p:sp>
      <p:sp>
        <p:nvSpPr>
          <p:cNvPr id="114691" name="Rectangle 3"/>
          <p:cNvSpPr>
            <a:spLocks noGrp="1"/>
          </p:cNvSpPr>
          <p:nvPr>
            <p:ph idx="1"/>
          </p:nvPr>
        </p:nvSpPr>
        <p:spPr>
          <a:xfrm>
            <a:off x="755650" y="1600200"/>
            <a:ext cx="8064500" cy="4525963"/>
          </a:xfrm>
          <a:ln/>
        </p:spPr>
        <p:txBody>
          <a:bodyPr vert="horz" wrap="square" lIns="91440" tIns="45720" rIns="91440" bIns="45720" anchor="t" anchorCtr="0"/>
          <a:p>
            <a:pPr eaLnBrk="1" hangingPunct="1"/>
            <a:r>
              <a:rPr lang="zh-CN" altLang="en-US" b="1" dirty="0">
                <a:latin typeface="黑体" pitchFamily="49" charset="-122"/>
                <a:ea typeface="黑体" pitchFamily="49" charset="-122"/>
              </a:rPr>
              <a:t>定义</a:t>
            </a:r>
            <a:r>
              <a:rPr lang="en-US" altLang="zh-CN" b="1" dirty="0">
                <a:latin typeface="黑体" pitchFamily="49" charset="-122"/>
                <a:ea typeface="黑体" pitchFamily="49" charset="-122"/>
              </a:rPr>
              <a:t>4.16</a:t>
            </a:r>
            <a:r>
              <a:rPr lang="en-US" altLang="zh-CN" b="1" dirty="0"/>
              <a:t>:</a:t>
            </a:r>
            <a:r>
              <a:rPr lang="zh-CN" altLang="en-US" b="1" dirty="0"/>
              <a:t>设</a:t>
            </a:r>
            <a:r>
              <a:rPr lang="en-US" altLang="zh-CN" b="1" dirty="0"/>
              <a:t>R</a:t>
            </a:r>
            <a:r>
              <a:rPr lang="zh-CN" altLang="en-US" b="1" dirty="0"/>
              <a:t>是一个关系模式，</a:t>
            </a:r>
            <a:r>
              <a:rPr lang="en-US" altLang="zh-CN" b="1" dirty="0"/>
              <a:t>F</a:t>
            </a:r>
            <a:r>
              <a:rPr lang="zh-CN" altLang="en-US" b="1" dirty="0"/>
              <a:t>是</a:t>
            </a:r>
            <a:r>
              <a:rPr lang="en-US" altLang="zh-CN" b="1" dirty="0"/>
              <a:t>R</a:t>
            </a:r>
            <a:r>
              <a:rPr lang="zh-CN" altLang="en-US" b="1" dirty="0"/>
              <a:t>上的一个</a:t>
            </a:r>
            <a:r>
              <a:rPr lang="en-US" altLang="zh-CN" b="1" dirty="0"/>
              <a:t>FD</a:t>
            </a:r>
            <a:r>
              <a:rPr lang="zh-CN" altLang="en-US" b="1" dirty="0"/>
              <a:t>集</a:t>
            </a:r>
            <a:r>
              <a:rPr lang="en-US" altLang="zh-CN" b="1" dirty="0"/>
              <a:t>,ρ=</a:t>
            </a:r>
            <a:r>
              <a:rPr lang="zh-CN" altLang="en-US" b="1" dirty="0"/>
              <a:t>｛ </a:t>
            </a:r>
            <a:r>
              <a:rPr lang="en-US" altLang="zh-CN" b="1" dirty="0"/>
              <a:t>R</a:t>
            </a:r>
            <a:r>
              <a:rPr lang="en-US" altLang="zh-CN" b="1" i="1" baseline="-16000" dirty="0"/>
              <a:t>1</a:t>
            </a:r>
            <a:r>
              <a:rPr lang="zh-CN" altLang="en-US" b="1" dirty="0"/>
              <a:t>，</a:t>
            </a:r>
            <a:r>
              <a:rPr lang="en-US" altLang="zh-CN" b="1" dirty="0"/>
              <a:t>…</a:t>
            </a:r>
            <a:r>
              <a:rPr lang="zh-CN" altLang="en-US" b="1" dirty="0"/>
              <a:t>，</a:t>
            </a:r>
            <a:r>
              <a:rPr lang="en-US" altLang="zh-CN" b="1" dirty="0"/>
              <a:t>R</a:t>
            </a:r>
            <a:r>
              <a:rPr lang="en-US" altLang="zh-CN" b="1" i="1" baseline="-16000" dirty="0"/>
              <a:t>k</a:t>
            </a:r>
            <a:r>
              <a:rPr lang="en-US" altLang="zh-CN" b="1" dirty="0"/>
              <a:t> </a:t>
            </a:r>
            <a:r>
              <a:rPr lang="zh-CN" altLang="en-US" b="1" dirty="0"/>
              <a:t>｝ 为</a:t>
            </a:r>
            <a:r>
              <a:rPr lang="en-US" altLang="zh-CN" b="1" dirty="0"/>
              <a:t>R</a:t>
            </a:r>
            <a:r>
              <a:rPr lang="zh-CN" altLang="en-US" b="1" dirty="0"/>
              <a:t>的一个分解</a:t>
            </a:r>
            <a:r>
              <a:rPr lang="en-US" altLang="zh-CN" b="1" dirty="0"/>
              <a:t>,</a:t>
            </a:r>
            <a:r>
              <a:rPr lang="zh-CN" altLang="en-US" b="1" dirty="0"/>
              <a:t>如果对</a:t>
            </a:r>
            <a:r>
              <a:rPr lang="en-US" altLang="zh-CN" b="1" dirty="0"/>
              <a:t>R</a:t>
            </a:r>
            <a:r>
              <a:rPr lang="zh-CN" altLang="en-US" b="1" dirty="0"/>
              <a:t>中满足</a:t>
            </a:r>
            <a:r>
              <a:rPr lang="en-US" altLang="zh-CN" b="1" dirty="0"/>
              <a:t>F</a:t>
            </a:r>
            <a:r>
              <a:rPr lang="zh-CN" altLang="en-US" b="1" dirty="0"/>
              <a:t>的每一个关系</a:t>
            </a:r>
            <a:r>
              <a:rPr lang="en-US" altLang="zh-CN" b="1" dirty="0"/>
              <a:t>r</a:t>
            </a:r>
            <a:r>
              <a:rPr lang="zh-CN" altLang="en-US" b="1" dirty="0"/>
              <a:t>，都有</a:t>
            </a:r>
            <a:endParaRPr lang="zh-CN" altLang="en-US" b="1" dirty="0"/>
          </a:p>
          <a:p>
            <a:pPr eaLnBrk="1" hangingPunct="1">
              <a:buNone/>
            </a:pPr>
            <a:r>
              <a:rPr lang="en-US" altLang="zh-CN" dirty="0"/>
              <a:t>      r =</a:t>
            </a:r>
            <a:r>
              <a:rPr lang="en-US" altLang="zh-CN" dirty="0">
                <a:latin typeface="Times New Roman" panose="02020603050405020304" pitchFamily="18" charset="0"/>
                <a:ea typeface="黑体" pitchFamily="49" charset="-122"/>
              </a:rPr>
              <a:t>π</a:t>
            </a:r>
            <a:r>
              <a:rPr lang="en-US" altLang="zh-CN" i="1" baseline="-10000" dirty="0">
                <a:latin typeface="Times New Roman" panose="02020603050405020304" pitchFamily="18" charset="0"/>
              </a:rPr>
              <a:t>R</a:t>
            </a:r>
            <a:r>
              <a:rPr lang="en-US" altLang="zh-CN" sz="2000" i="1" baseline="-34000" dirty="0"/>
              <a:t>1</a:t>
            </a:r>
            <a:r>
              <a:rPr lang="zh-CN" altLang="en-US" dirty="0"/>
              <a:t>（</a:t>
            </a:r>
            <a:r>
              <a:rPr lang="en-US" altLang="zh-CN" dirty="0"/>
              <a:t>r</a:t>
            </a:r>
            <a:r>
              <a:rPr lang="zh-CN" altLang="en-US" dirty="0"/>
              <a:t>）</a:t>
            </a:r>
            <a:r>
              <a:rPr lang="en-US" altLang="zh-CN" dirty="0"/>
              <a:t>⋈π</a:t>
            </a:r>
            <a:r>
              <a:rPr lang="en-US" altLang="zh-CN" i="1" baseline="-10000" dirty="0">
                <a:latin typeface="Times New Roman" panose="02020603050405020304" pitchFamily="18" charset="0"/>
              </a:rPr>
              <a:t>R</a:t>
            </a:r>
            <a:r>
              <a:rPr lang="en-US" altLang="zh-CN" sz="2000" i="1" baseline="-34000" dirty="0"/>
              <a:t>2</a:t>
            </a:r>
            <a:r>
              <a:rPr lang="zh-CN" altLang="en-US" dirty="0"/>
              <a:t>（</a:t>
            </a:r>
            <a:r>
              <a:rPr lang="en-US" altLang="zh-CN" dirty="0"/>
              <a:t>r</a:t>
            </a:r>
            <a:r>
              <a:rPr lang="zh-CN" altLang="en-US" dirty="0"/>
              <a:t>）</a:t>
            </a:r>
            <a:r>
              <a:rPr lang="en-US" altLang="zh-CN" dirty="0"/>
              <a:t>⋈ … ⋈π</a:t>
            </a:r>
            <a:r>
              <a:rPr lang="en-US" altLang="zh-CN" i="1" baseline="-10000" dirty="0">
                <a:latin typeface="Times New Roman" panose="02020603050405020304" pitchFamily="18" charset="0"/>
              </a:rPr>
              <a:t>R</a:t>
            </a:r>
            <a:r>
              <a:rPr lang="en-US" altLang="zh-CN" sz="2000" i="1" baseline="-34000" dirty="0"/>
              <a:t>k</a:t>
            </a:r>
            <a:r>
              <a:rPr lang="zh-CN" altLang="en-US" dirty="0"/>
              <a:t>（</a:t>
            </a:r>
            <a:r>
              <a:rPr lang="en-US" altLang="zh-CN" dirty="0"/>
              <a:t>r</a:t>
            </a:r>
            <a:r>
              <a:rPr lang="zh-CN" altLang="en-US" dirty="0"/>
              <a:t>）</a:t>
            </a:r>
            <a:endParaRPr lang="zh-CN" altLang="en-US" dirty="0"/>
          </a:p>
          <a:p>
            <a:pPr eaLnBrk="1" hangingPunct="1"/>
            <a:r>
              <a:rPr lang="zh-CN" altLang="en-US" b="1" dirty="0"/>
              <a:t>则称分解</a:t>
            </a:r>
            <a:r>
              <a:rPr lang="en-US" altLang="zh-CN" b="1" dirty="0">
                <a:latin typeface="Times New Roman" panose="02020603050405020304" pitchFamily="18" charset="0"/>
              </a:rPr>
              <a:t>ρ</a:t>
            </a:r>
            <a:r>
              <a:rPr lang="zh-CN" altLang="en-US" b="1" dirty="0"/>
              <a:t>相对于</a:t>
            </a:r>
            <a:r>
              <a:rPr lang="en-US" altLang="zh-CN" b="1" dirty="0"/>
              <a:t>R</a:t>
            </a:r>
            <a:r>
              <a:rPr lang="zh-CN" altLang="en-US" b="1" dirty="0"/>
              <a:t>是“无损联接分解”</a:t>
            </a:r>
            <a:r>
              <a:rPr lang="en-US" altLang="zh-CN" b="1" dirty="0"/>
              <a:t>(lossless join decomposition)</a:t>
            </a:r>
            <a:r>
              <a:rPr lang="zh-CN" altLang="en-US" b="1" dirty="0"/>
              <a:t>，简称“无损分解”，否则，称</a:t>
            </a:r>
            <a:r>
              <a:rPr lang="en-US" altLang="zh-CN" b="1" dirty="0">
                <a:latin typeface="Times New Roman" panose="02020603050405020304" pitchFamily="18" charset="0"/>
              </a:rPr>
              <a:t>ρ</a:t>
            </a:r>
            <a:r>
              <a:rPr lang="zh-CN" altLang="en-US" b="1" dirty="0"/>
              <a:t>为</a:t>
            </a:r>
            <a:r>
              <a:rPr lang="en-US" altLang="zh-CN" b="1" dirty="0"/>
              <a:t>”</a:t>
            </a:r>
            <a:r>
              <a:rPr lang="zh-CN" altLang="en-US" b="1" dirty="0"/>
              <a:t>有损联接分解</a:t>
            </a:r>
            <a:r>
              <a:rPr lang="en-US" altLang="zh-CN" b="1" dirty="0"/>
              <a:t>” (loss join decomposition),</a:t>
            </a:r>
            <a:r>
              <a:rPr lang="zh-CN" altLang="en-US" b="1" dirty="0"/>
              <a:t>简称</a:t>
            </a:r>
            <a:r>
              <a:rPr lang="en-US" altLang="zh-CN" b="1" dirty="0"/>
              <a:t>“</a:t>
            </a:r>
            <a:r>
              <a:rPr lang="zh-CN" altLang="en-US" b="1" dirty="0"/>
              <a:t>有损分解”。</a:t>
            </a:r>
            <a:endParaRPr lang="en-US" altLang="zh-CN" b="1"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6738"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无损联接分解：例</a:t>
            </a:r>
            <a:endParaRPr lang="zh-CN" altLang="en-US" sz="4000" b="1" dirty="0">
              <a:solidFill>
                <a:srgbClr val="E40000"/>
              </a:solidFill>
              <a:latin typeface="Arial" panose="020B0604020202020204" pitchFamily="34" charset="0"/>
            </a:endParaRPr>
          </a:p>
        </p:txBody>
      </p:sp>
      <p:sp>
        <p:nvSpPr>
          <p:cNvPr id="116739" name="Rectangle 3"/>
          <p:cNvSpPr>
            <a:spLocks noGrp="1"/>
          </p:cNvSpPr>
          <p:nvPr>
            <p:ph type="body" sz="half" idx="1"/>
          </p:nvPr>
        </p:nvSpPr>
        <p:spPr>
          <a:xfrm>
            <a:off x="1279525" y="1600200"/>
            <a:ext cx="2578100" cy="4525963"/>
          </a:xfrm>
          <a:ln/>
        </p:spPr>
        <p:txBody>
          <a:bodyPr vert="horz" wrap="square" lIns="91440" tIns="45720" rIns="91440" bIns="45720" anchor="t" anchorCtr="0"/>
          <a:p>
            <a:pPr eaLnBrk="1" hangingPunct="1">
              <a:buClrTx/>
              <a:buSzTx/>
              <a:buFontTx/>
            </a:pPr>
            <a:r>
              <a:rPr lang="zh-CN" altLang="en-US" sz="2400" dirty="0"/>
              <a:t>例</a:t>
            </a:r>
            <a:endParaRPr lang="zh-CN" altLang="en-US" sz="2400" dirty="0"/>
          </a:p>
        </p:txBody>
      </p:sp>
      <p:sp>
        <p:nvSpPr>
          <p:cNvPr id="116740" name="Rectangle 4"/>
          <p:cNvSpPr/>
          <p:nvPr/>
        </p:nvSpPr>
        <p:spPr>
          <a:xfrm>
            <a:off x="7162800" y="2362200"/>
            <a:ext cx="101600" cy="365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ËÎÌå"/>
              </a:rPr>
              <a:t>r</a:t>
            </a:r>
            <a:endParaRPr lang="en-US" altLang="zh-CN" sz="1800" dirty="0">
              <a:latin typeface="Arial" panose="020B0604020202020204" pitchFamily="34" charset="0"/>
            </a:endParaRPr>
          </a:p>
        </p:txBody>
      </p:sp>
      <p:sp>
        <p:nvSpPr>
          <p:cNvPr id="116741" name="Rectangle 5"/>
          <p:cNvSpPr/>
          <p:nvPr/>
        </p:nvSpPr>
        <p:spPr>
          <a:xfrm>
            <a:off x="8420100" y="2498725"/>
            <a:ext cx="341313" cy="3857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ËÎÌå"/>
              </a:rPr>
              <a:t>C</a:t>
            </a:r>
            <a:endParaRPr lang="en-US" altLang="zh-CN" sz="1800" dirty="0">
              <a:latin typeface="Arial" panose="020B0604020202020204" pitchFamily="34" charset="0"/>
            </a:endParaRPr>
          </a:p>
        </p:txBody>
      </p:sp>
      <p:sp>
        <p:nvSpPr>
          <p:cNvPr id="116742" name="Rectangle 6"/>
          <p:cNvSpPr/>
          <p:nvPr/>
        </p:nvSpPr>
        <p:spPr>
          <a:xfrm>
            <a:off x="8605838" y="4865688"/>
            <a:ext cx="328612" cy="3619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C</a:t>
            </a:r>
            <a:endParaRPr lang="en-US" altLang="zh-CN" sz="1800" dirty="0">
              <a:latin typeface="Arial" panose="020B0604020202020204" pitchFamily="34" charset="0"/>
            </a:endParaRPr>
          </a:p>
        </p:txBody>
      </p:sp>
      <p:sp>
        <p:nvSpPr>
          <p:cNvPr id="116743" name="Rectangle 7"/>
          <p:cNvSpPr/>
          <p:nvPr/>
        </p:nvSpPr>
        <p:spPr>
          <a:xfrm>
            <a:off x="8605838" y="5119688"/>
            <a:ext cx="266700" cy="3619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4</a:t>
            </a:r>
            <a:endParaRPr lang="zh-CN" altLang="en-US" sz="1800" dirty="0">
              <a:latin typeface="Arial" panose="020B0604020202020204" pitchFamily="34" charset="0"/>
            </a:endParaRPr>
          </a:p>
        </p:txBody>
      </p:sp>
      <p:sp>
        <p:nvSpPr>
          <p:cNvPr id="116744" name="Rectangle 8"/>
          <p:cNvSpPr/>
          <p:nvPr/>
        </p:nvSpPr>
        <p:spPr>
          <a:xfrm>
            <a:off x="8605838" y="5354638"/>
            <a:ext cx="266700" cy="3619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3</a:t>
            </a:r>
            <a:endParaRPr lang="zh-CN" altLang="en-US" sz="1800" dirty="0">
              <a:latin typeface="Arial" panose="020B0604020202020204" pitchFamily="34" charset="0"/>
            </a:endParaRPr>
          </a:p>
        </p:txBody>
      </p:sp>
      <p:sp>
        <p:nvSpPr>
          <p:cNvPr id="116745" name="Rectangle 9"/>
          <p:cNvSpPr/>
          <p:nvPr/>
        </p:nvSpPr>
        <p:spPr>
          <a:xfrm>
            <a:off x="8605838" y="5610225"/>
            <a:ext cx="266700" cy="3619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4</a:t>
            </a:r>
            <a:endParaRPr lang="zh-CN" altLang="en-US" sz="1800" dirty="0">
              <a:latin typeface="Arial" panose="020B0604020202020204" pitchFamily="34" charset="0"/>
            </a:endParaRPr>
          </a:p>
        </p:txBody>
      </p:sp>
      <p:sp>
        <p:nvSpPr>
          <p:cNvPr id="116746" name="Rectangle 10"/>
          <p:cNvSpPr/>
          <p:nvPr/>
        </p:nvSpPr>
        <p:spPr>
          <a:xfrm>
            <a:off x="8605838" y="5865813"/>
            <a:ext cx="266700" cy="3619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3</a:t>
            </a:r>
            <a:endParaRPr lang="zh-CN" altLang="en-US" sz="1800" dirty="0">
              <a:latin typeface="Arial" panose="020B0604020202020204" pitchFamily="34" charset="0"/>
            </a:endParaRPr>
          </a:p>
        </p:txBody>
      </p:sp>
      <p:grpSp>
        <p:nvGrpSpPr>
          <p:cNvPr id="116747" name="Group 11"/>
          <p:cNvGrpSpPr/>
          <p:nvPr/>
        </p:nvGrpSpPr>
        <p:grpSpPr>
          <a:xfrm>
            <a:off x="323850" y="2405063"/>
            <a:ext cx="8410575" cy="1741487"/>
            <a:chOff x="204" y="1515"/>
            <a:chExt cx="5298" cy="1097"/>
          </a:xfrm>
        </p:grpSpPr>
        <p:sp>
          <p:nvSpPr>
            <p:cNvPr id="116803" name="Rectangle 12"/>
            <p:cNvSpPr/>
            <p:nvPr/>
          </p:nvSpPr>
          <p:spPr>
            <a:xfrm>
              <a:off x="320" y="1536"/>
              <a:ext cx="6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ËÎÌå"/>
                </a:rPr>
                <a:t>r</a:t>
              </a:r>
              <a:endParaRPr lang="en-US" altLang="zh-CN" sz="1800" dirty="0">
                <a:latin typeface="Arial" panose="020B0604020202020204" pitchFamily="34" charset="0"/>
              </a:endParaRPr>
            </a:p>
          </p:txBody>
        </p:sp>
        <p:sp>
          <p:nvSpPr>
            <p:cNvPr id="116804" name="Rectangle 13"/>
            <p:cNvSpPr/>
            <p:nvPr/>
          </p:nvSpPr>
          <p:spPr>
            <a:xfrm>
              <a:off x="600" y="1574"/>
              <a:ext cx="139"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Times New Roman" panose="02020603050405020304" pitchFamily="18" charset="0"/>
                </a:rPr>
                <a:t>A</a:t>
              </a:r>
              <a:endParaRPr lang="en-US" altLang="zh-CN" sz="2400" dirty="0">
                <a:solidFill>
                  <a:srgbClr val="000000"/>
                </a:solidFill>
                <a:latin typeface="Times New Roman" panose="02020603050405020304" pitchFamily="18" charset="0"/>
              </a:endParaRPr>
            </a:p>
          </p:txBody>
        </p:sp>
        <p:sp>
          <p:nvSpPr>
            <p:cNvPr id="116805" name="Rectangle 14"/>
            <p:cNvSpPr/>
            <p:nvPr/>
          </p:nvSpPr>
          <p:spPr>
            <a:xfrm>
              <a:off x="996" y="1574"/>
              <a:ext cx="12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Times New Roman" panose="02020603050405020304" pitchFamily="18" charset="0"/>
                </a:rPr>
                <a:t>B</a:t>
              </a:r>
              <a:endParaRPr lang="en-US" altLang="zh-CN" sz="2400" dirty="0">
                <a:solidFill>
                  <a:srgbClr val="000000"/>
                </a:solidFill>
                <a:latin typeface="Times New Roman" panose="02020603050405020304" pitchFamily="18" charset="0"/>
              </a:endParaRPr>
            </a:p>
          </p:txBody>
        </p:sp>
        <p:sp>
          <p:nvSpPr>
            <p:cNvPr id="116806" name="Rectangle 15"/>
            <p:cNvSpPr/>
            <p:nvPr/>
          </p:nvSpPr>
          <p:spPr>
            <a:xfrm>
              <a:off x="1392" y="1574"/>
              <a:ext cx="128"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Times New Roman" panose="02020603050405020304" pitchFamily="18" charset="0"/>
                </a:rPr>
                <a:t>C</a:t>
              </a:r>
              <a:endParaRPr lang="en-US" altLang="zh-CN" sz="1800" dirty="0">
                <a:latin typeface="Times New Roman" panose="02020603050405020304" pitchFamily="18" charset="0"/>
              </a:endParaRPr>
            </a:p>
          </p:txBody>
        </p:sp>
        <p:sp>
          <p:nvSpPr>
            <p:cNvPr id="116807" name="Rectangle 16"/>
            <p:cNvSpPr/>
            <p:nvPr/>
          </p:nvSpPr>
          <p:spPr>
            <a:xfrm>
              <a:off x="2672" y="1515"/>
              <a:ext cx="6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ËÎÌå"/>
                </a:rPr>
                <a:t>r</a:t>
              </a:r>
              <a:endParaRPr lang="en-US" altLang="zh-CN" sz="1800" dirty="0">
                <a:latin typeface="Arial" panose="020B0604020202020204" pitchFamily="34" charset="0"/>
              </a:endParaRPr>
            </a:p>
          </p:txBody>
        </p:sp>
        <p:sp>
          <p:nvSpPr>
            <p:cNvPr id="116808" name="Rectangle 17"/>
            <p:cNvSpPr/>
            <p:nvPr/>
          </p:nvSpPr>
          <p:spPr>
            <a:xfrm>
              <a:off x="2768" y="1632"/>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400" dirty="0">
                  <a:solidFill>
                    <a:srgbClr val="000000"/>
                  </a:solidFill>
                  <a:latin typeface="ËÎÌå"/>
                </a:rPr>
                <a:t>1</a:t>
              </a:r>
              <a:endParaRPr lang="zh-CN" altLang="en-US" sz="1400" dirty="0">
                <a:latin typeface="Arial" panose="020B0604020202020204" pitchFamily="34" charset="0"/>
              </a:endParaRPr>
            </a:p>
          </p:txBody>
        </p:sp>
        <p:sp>
          <p:nvSpPr>
            <p:cNvPr id="116809" name="Rectangle 18"/>
            <p:cNvSpPr/>
            <p:nvPr/>
          </p:nvSpPr>
          <p:spPr>
            <a:xfrm>
              <a:off x="2961" y="1574"/>
              <a:ext cx="215"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ËÎÌå"/>
                </a:rPr>
                <a:t>A</a:t>
              </a:r>
              <a:endParaRPr lang="en-US" altLang="zh-CN" sz="1800" dirty="0">
                <a:latin typeface="Arial" panose="020B0604020202020204" pitchFamily="34" charset="0"/>
              </a:endParaRPr>
            </a:p>
          </p:txBody>
        </p:sp>
        <p:sp>
          <p:nvSpPr>
            <p:cNvPr id="116810" name="Rectangle 19"/>
            <p:cNvSpPr/>
            <p:nvPr/>
          </p:nvSpPr>
          <p:spPr>
            <a:xfrm>
              <a:off x="3340" y="1574"/>
              <a:ext cx="215"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ËÎÌå"/>
                </a:rPr>
                <a:t>B</a:t>
              </a:r>
              <a:endParaRPr lang="en-US" altLang="zh-CN" sz="1800" dirty="0">
                <a:latin typeface="Arial" panose="020B0604020202020204" pitchFamily="34" charset="0"/>
              </a:endParaRPr>
            </a:p>
          </p:txBody>
        </p:sp>
        <p:sp>
          <p:nvSpPr>
            <p:cNvPr id="116811" name="Rectangle 20"/>
            <p:cNvSpPr/>
            <p:nvPr/>
          </p:nvSpPr>
          <p:spPr>
            <a:xfrm>
              <a:off x="4608" y="1622"/>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200" dirty="0">
                  <a:solidFill>
                    <a:srgbClr val="000000"/>
                  </a:solidFill>
                  <a:latin typeface="ËÎÌå"/>
                </a:rPr>
                <a:t>2</a:t>
              </a:r>
              <a:endParaRPr lang="zh-CN" altLang="en-US" sz="1200" dirty="0">
                <a:latin typeface="Arial" panose="020B0604020202020204" pitchFamily="34" charset="0"/>
              </a:endParaRPr>
            </a:p>
          </p:txBody>
        </p:sp>
        <p:sp>
          <p:nvSpPr>
            <p:cNvPr id="116812" name="Rectangle 21"/>
            <p:cNvSpPr/>
            <p:nvPr/>
          </p:nvSpPr>
          <p:spPr>
            <a:xfrm>
              <a:off x="4908" y="1574"/>
              <a:ext cx="215"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400" dirty="0">
                  <a:solidFill>
                    <a:srgbClr val="000000"/>
                  </a:solidFill>
                  <a:latin typeface="ËÎÌå"/>
                </a:rPr>
                <a:t>A</a:t>
              </a:r>
              <a:endParaRPr lang="en-US" altLang="zh-CN" sz="1800" dirty="0">
                <a:latin typeface="Arial" panose="020B0604020202020204" pitchFamily="34" charset="0"/>
              </a:endParaRPr>
            </a:p>
          </p:txBody>
        </p:sp>
        <p:sp>
          <p:nvSpPr>
            <p:cNvPr id="116813" name="Rectangle 22"/>
            <p:cNvSpPr/>
            <p:nvPr/>
          </p:nvSpPr>
          <p:spPr>
            <a:xfrm>
              <a:off x="600" y="1768"/>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1</a:t>
              </a:r>
              <a:endParaRPr lang="zh-CN" altLang="en-US" sz="1800" dirty="0">
                <a:latin typeface="Arial" panose="020B0604020202020204" pitchFamily="34" charset="0"/>
              </a:endParaRPr>
            </a:p>
          </p:txBody>
        </p:sp>
        <p:sp>
          <p:nvSpPr>
            <p:cNvPr id="116814" name="Rectangle 23"/>
            <p:cNvSpPr/>
            <p:nvPr/>
          </p:nvSpPr>
          <p:spPr>
            <a:xfrm>
              <a:off x="996" y="1768"/>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1</a:t>
              </a:r>
              <a:endParaRPr lang="zh-CN" altLang="en-US" sz="1800" dirty="0">
                <a:latin typeface="Arial" panose="020B0604020202020204" pitchFamily="34" charset="0"/>
              </a:endParaRPr>
            </a:p>
          </p:txBody>
        </p:sp>
        <p:sp>
          <p:nvSpPr>
            <p:cNvPr id="116815" name="Rectangle 24"/>
            <p:cNvSpPr/>
            <p:nvPr/>
          </p:nvSpPr>
          <p:spPr>
            <a:xfrm>
              <a:off x="1392" y="1768"/>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1</a:t>
              </a:r>
              <a:endParaRPr lang="zh-CN" altLang="en-US" sz="1800" dirty="0">
                <a:latin typeface="Arial" panose="020B0604020202020204" pitchFamily="34" charset="0"/>
              </a:endParaRPr>
            </a:p>
          </p:txBody>
        </p:sp>
        <p:sp>
          <p:nvSpPr>
            <p:cNvPr id="116816" name="Rectangle 25"/>
            <p:cNvSpPr/>
            <p:nvPr/>
          </p:nvSpPr>
          <p:spPr>
            <a:xfrm>
              <a:off x="2961" y="1768"/>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1</a:t>
              </a:r>
              <a:endParaRPr lang="zh-CN" altLang="en-US" sz="1800" dirty="0">
                <a:latin typeface="Arial" panose="020B0604020202020204" pitchFamily="34" charset="0"/>
              </a:endParaRPr>
            </a:p>
          </p:txBody>
        </p:sp>
        <p:sp>
          <p:nvSpPr>
            <p:cNvPr id="116817" name="Rectangle 26"/>
            <p:cNvSpPr/>
            <p:nvPr/>
          </p:nvSpPr>
          <p:spPr>
            <a:xfrm>
              <a:off x="3340" y="1768"/>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1</a:t>
              </a:r>
              <a:endParaRPr lang="zh-CN" altLang="en-US" sz="1800" dirty="0">
                <a:latin typeface="Arial" panose="020B0604020202020204" pitchFamily="34" charset="0"/>
              </a:endParaRPr>
            </a:p>
          </p:txBody>
        </p:sp>
        <p:sp>
          <p:nvSpPr>
            <p:cNvPr id="116818" name="Rectangle 27"/>
            <p:cNvSpPr/>
            <p:nvPr/>
          </p:nvSpPr>
          <p:spPr>
            <a:xfrm>
              <a:off x="4908" y="1768"/>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1</a:t>
              </a:r>
              <a:endParaRPr lang="zh-CN" altLang="en-US" sz="1800" dirty="0">
                <a:latin typeface="Arial" panose="020B0604020202020204" pitchFamily="34" charset="0"/>
              </a:endParaRPr>
            </a:p>
          </p:txBody>
        </p:sp>
        <p:sp>
          <p:nvSpPr>
            <p:cNvPr id="116819" name="Rectangle 28"/>
            <p:cNvSpPr/>
            <p:nvPr/>
          </p:nvSpPr>
          <p:spPr>
            <a:xfrm>
              <a:off x="5304" y="1768"/>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1</a:t>
              </a:r>
              <a:endParaRPr lang="zh-CN" altLang="en-US" sz="1800" dirty="0">
                <a:latin typeface="Arial" panose="020B0604020202020204" pitchFamily="34" charset="0"/>
              </a:endParaRPr>
            </a:p>
          </p:txBody>
        </p:sp>
        <p:sp>
          <p:nvSpPr>
            <p:cNvPr id="116820" name="Rectangle 29"/>
            <p:cNvSpPr/>
            <p:nvPr/>
          </p:nvSpPr>
          <p:spPr>
            <a:xfrm>
              <a:off x="600" y="1947"/>
              <a:ext cx="96"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Times New Roman" panose="02020603050405020304" pitchFamily="18" charset="0"/>
                </a:rPr>
                <a:t>1</a:t>
              </a:r>
              <a:endParaRPr lang="zh-CN" altLang="en-US" sz="2400" dirty="0">
                <a:solidFill>
                  <a:srgbClr val="000000"/>
                </a:solidFill>
                <a:latin typeface="Times New Roman" panose="02020603050405020304" pitchFamily="18" charset="0"/>
              </a:endParaRPr>
            </a:p>
          </p:txBody>
        </p:sp>
        <p:sp>
          <p:nvSpPr>
            <p:cNvPr id="116821" name="Rectangle 30"/>
            <p:cNvSpPr/>
            <p:nvPr/>
          </p:nvSpPr>
          <p:spPr>
            <a:xfrm>
              <a:off x="996" y="1947"/>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2</a:t>
              </a:r>
              <a:endParaRPr lang="zh-CN" altLang="en-US" sz="1800" dirty="0">
                <a:latin typeface="Arial" panose="020B0604020202020204" pitchFamily="34" charset="0"/>
              </a:endParaRPr>
            </a:p>
          </p:txBody>
        </p:sp>
        <p:sp>
          <p:nvSpPr>
            <p:cNvPr id="116822" name="Rectangle 31"/>
            <p:cNvSpPr/>
            <p:nvPr/>
          </p:nvSpPr>
          <p:spPr>
            <a:xfrm>
              <a:off x="1392" y="1947"/>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1</a:t>
              </a:r>
              <a:endParaRPr lang="zh-CN" altLang="en-US" sz="1800" dirty="0">
                <a:latin typeface="Arial" panose="020B0604020202020204" pitchFamily="34" charset="0"/>
              </a:endParaRPr>
            </a:p>
          </p:txBody>
        </p:sp>
        <p:sp>
          <p:nvSpPr>
            <p:cNvPr id="116823" name="Rectangle 32"/>
            <p:cNvSpPr/>
            <p:nvPr/>
          </p:nvSpPr>
          <p:spPr>
            <a:xfrm>
              <a:off x="2961" y="1947"/>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1</a:t>
              </a:r>
              <a:endParaRPr lang="zh-CN" altLang="en-US" sz="1800" dirty="0">
                <a:latin typeface="Arial" panose="020B0604020202020204" pitchFamily="34" charset="0"/>
              </a:endParaRPr>
            </a:p>
          </p:txBody>
        </p:sp>
        <p:sp>
          <p:nvSpPr>
            <p:cNvPr id="116824" name="Rectangle 33"/>
            <p:cNvSpPr/>
            <p:nvPr/>
          </p:nvSpPr>
          <p:spPr>
            <a:xfrm>
              <a:off x="3340" y="1947"/>
              <a:ext cx="198" cy="2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dirty="0">
                  <a:solidFill>
                    <a:srgbClr val="000000"/>
                  </a:solidFill>
                  <a:latin typeface="ËÎÌå"/>
                </a:rPr>
                <a:t>2</a:t>
              </a:r>
              <a:endParaRPr lang="zh-CN" altLang="en-US" sz="1800" dirty="0">
                <a:latin typeface="Arial" panose="020B0604020202020204" pitchFamily="34" charset="0"/>
              </a:endParaRPr>
            </a:p>
          </p:txBody>
        </p:sp>
        <p:sp>
          <p:nvSpPr>
            <p:cNvPr id="116825" name="Line 34"/>
            <p:cNvSpPr/>
            <p:nvPr/>
          </p:nvSpPr>
          <p:spPr>
            <a:xfrm>
              <a:off x="204" y="1776"/>
              <a:ext cx="1406" cy="0"/>
            </a:xfrm>
            <a:prstGeom prst="line">
              <a:avLst/>
            </a:prstGeom>
            <a:ln w="9525" cap="flat" cmpd="sng">
              <a:solidFill>
                <a:schemeClr val="tx1"/>
              </a:solidFill>
              <a:prstDash val="solid"/>
              <a:headEnd type="none" w="med" len="med"/>
              <a:tailEnd type="none" w="med" len="med"/>
            </a:ln>
          </p:spPr>
        </p:sp>
        <p:sp>
          <p:nvSpPr>
            <p:cNvPr id="116826" name="Line 35"/>
            <p:cNvSpPr/>
            <p:nvPr/>
          </p:nvSpPr>
          <p:spPr>
            <a:xfrm>
              <a:off x="4560" y="1776"/>
              <a:ext cx="905" cy="0"/>
            </a:xfrm>
            <a:prstGeom prst="line">
              <a:avLst/>
            </a:prstGeom>
            <a:ln w="9525" cap="flat" cmpd="sng">
              <a:solidFill>
                <a:schemeClr val="tx1"/>
              </a:solidFill>
              <a:prstDash val="solid"/>
              <a:headEnd type="none" w="med" len="med"/>
              <a:tailEnd type="none" w="med" len="med"/>
            </a:ln>
          </p:spPr>
        </p:sp>
        <p:sp>
          <p:nvSpPr>
            <p:cNvPr id="116827" name="Line 36"/>
            <p:cNvSpPr/>
            <p:nvPr/>
          </p:nvSpPr>
          <p:spPr>
            <a:xfrm>
              <a:off x="480" y="1584"/>
              <a:ext cx="0" cy="720"/>
            </a:xfrm>
            <a:prstGeom prst="line">
              <a:avLst/>
            </a:prstGeom>
            <a:ln w="9525" cap="flat" cmpd="sng">
              <a:solidFill>
                <a:schemeClr val="tx1"/>
              </a:solidFill>
              <a:prstDash val="solid"/>
              <a:headEnd type="none" w="med" len="med"/>
              <a:tailEnd type="none" w="med" len="med"/>
            </a:ln>
          </p:spPr>
        </p:sp>
        <p:sp>
          <p:nvSpPr>
            <p:cNvPr id="116828" name="Line 37"/>
            <p:cNvSpPr/>
            <p:nvPr/>
          </p:nvSpPr>
          <p:spPr>
            <a:xfrm>
              <a:off x="2544" y="1776"/>
              <a:ext cx="1008" cy="0"/>
            </a:xfrm>
            <a:prstGeom prst="line">
              <a:avLst/>
            </a:prstGeom>
            <a:ln w="9525" cap="flat" cmpd="sng">
              <a:solidFill>
                <a:schemeClr val="tx1"/>
              </a:solidFill>
              <a:prstDash val="solid"/>
              <a:headEnd type="none" w="med" len="med"/>
              <a:tailEnd type="none" w="med" len="med"/>
            </a:ln>
          </p:spPr>
        </p:sp>
        <p:sp>
          <p:nvSpPr>
            <p:cNvPr id="116829" name="Line 38"/>
            <p:cNvSpPr/>
            <p:nvPr/>
          </p:nvSpPr>
          <p:spPr>
            <a:xfrm>
              <a:off x="2880" y="1584"/>
              <a:ext cx="0" cy="624"/>
            </a:xfrm>
            <a:prstGeom prst="line">
              <a:avLst/>
            </a:prstGeom>
            <a:ln w="9525" cap="flat" cmpd="sng">
              <a:solidFill>
                <a:schemeClr val="tx1"/>
              </a:solidFill>
              <a:prstDash val="solid"/>
              <a:headEnd type="none" w="med" len="med"/>
              <a:tailEnd type="none" w="med" len="med"/>
            </a:ln>
          </p:spPr>
        </p:sp>
        <p:sp>
          <p:nvSpPr>
            <p:cNvPr id="116830" name="Line 39"/>
            <p:cNvSpPr/>
            <p:nvPr/>
          </p:nvSpPr>
          <p:spPr>
            <a:xfrm>
              <a:off x="4752" y="1632"/>
              <a:ext cx="0" cy="576"/>
            </a:xfrm>
            <a:prstGeom prst="line">
              <a:avLst/>
            </a:prstGeom>
            <a:ln w="9525" cap="flat" cmpd="sng">
              <a:solidFill>
                <a:schemeClr val="tx1"/>
              </a:solidFill>
              <a:prstDash val="solid"/>
              <a:headEnd type="none" w="med" len="med"/>
              <a:tailEnd type="none" w="med" len="med"/>
            </a:ln>
          </p:spPr>
        </p:sp>
        <p:sp>
          <p:nvSpPr>
            <p:cNvPr id="116831" name="Text Box 40"/>
            <p:cNvSpPr txBox="1"/>
            <p:nvPr/>
          </p:nvSpPr>
          <p:spPr>
            <a:xfrm>
              <a:off x="2160" y="2400"/>
              <a:ext cx="163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zh-CN" altLang="en-US" sz="1600" dirty="0"/>
                <a:t>图</a:t>
              </a:r>
              <a:r>
                <a:rPr lang="en-US" altLang="zh-CN" sz="1600" dirty="0"/>
                <a:t>  </a:t>
              </a:r>
              <a:r>
                <a:rPr lang="zh-CN" altLang="en-US" sz="1600" dirty="0"/>
                <a:t>未丢失信息的分解</a:t>
              </a:r>
              <a:r>
                <a:rPr lang="zh-CN" altLang="en-US" sz="1600" dirty="0">
                  <a:latin typeface="Arial" panose="020B0604020202020204" pitchFamily="34" charset="0"/>
                </a:rPr>
                <a:t> </a:t>
              </a:r>
              <a:endParaRPr lang="zh-CN" altLang="en-US" sz="1600" dirty="0">
                <a:latin typeface="Arial" panose="020B0604020202020204" pitchFamily="34" charset="0"/>
              </a:endParaRPr>
            </a:p>
          </p:txBody>
        </p:sp>
        <p:sp>
          <p:nvSpPr>
            <p:cNvPr id="116832" name="Rectangle 41"/>
            <p:cNvSpPr/>
            <p:nvPr/>
          </p:nvSpPr>
          <p:spPr>
            <a:xfrm>
              <a:off x="2976" y="2208"/>
              <a:ext cx="40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a:t>
              </a:r>
              <a:r>
                <a:rPr lang="en-US" altLang="zh-CN" sz="2000" dirty="0">
                  <a:solidFill>
                    <a:srgbClr val="000000"/>
                  </a:solidFill>
                  <a:latin typeface="ËÎÌå"/>
                </a:rPr>
                <a:t>b）</a:t>
              </a:r>
              <a:endParaRPr lang="en-US" altLang="zh-CN" sz="1800" dirty="0">
                <a:latin typeface="Arial" panose="020B0604020202020204" pitchFamily="34" charset="0"/>
              </a:endParaRPr>
            </a:p>
          </p:txBody>
        </p:sp>
        <p:sp>
          <p:nvSpPr>
            <p:cNvPr id="116833" name="Rectangle 42"/>
            <p:cNvSpPr/>
            <p:nvPr/>
          </p:nvSpPr>
          <p:spPr>
            <a:xfrm>
              <a:off x="4944" y="2160"/>
              <a:ext cx="39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a:t>
              </a:r>
              <a:r>
                <a:rPr lang="en-US" altLang="zh-CN" sz="2000" dirty="0">
                  <a:solidFill>
                    <a:srgbClr val="000000"/>
                  </a:solidFill>
                  <a:latin typeface="ËÎÌå"/>
                </a:rPr>
                <a:t>c）</a:t>
              </a:r>
              <a:endParaRPr lang="en-US" altLang="zh-CN" sz="1800" dirty="0">
                <a:latin typeface="Arial" panose="020B0604020202020204" pitchFamily="34" charset="0"/>
              </a:endParaRPr>
            </a:p>
          </p:txBody>
        </p:sp>
        <p:sp>
          <p:nvSpPr>
            <p:cNvPr id="116834" name="Rectangle 43"/>
            <p:cNvSpPr/>
            <p:nvPr/>
          </p:nvSpPr>
          <p:spPr>
            <a:xfrm>
              <a:off x="816" y="2208"/>
              <a:ext cx="39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a:t>
              </a:r>
              <a:r>
                <a:rPr lang="en-US" altLang="zh-CN" sz="2000" dirty="0">
                  <a:solidFill>
                    <a:srgbClr val="000000"/>
                  </a:solidFill>
                  <a:latin typeface="ËÎÌå"/>
                </a:rPr>
                <a:t>a）</a:t>
              </a:r>
              <a:endParaRPr lang="en-US" altLang="zh-CN" sz="1800" dirty="0">
                <a:latin typeface="Arial" panose="020B0604020202020204" pitchFamily="34" charset="0"/>
              </a:endParaRPr>
            </a:p>
          </p:txBody>
        </p:sp>
      </p:grpSp>
      <p:grpSp>
        <p:nvGrpSpPr>
          <p:cNvPr id="116748" name="Group 44"/>
          <p:cNvGrpSpPr/>
          <p:nvPr/>
        </p:nvGrpSpPr>
        <p:grpSpPr>
          <a:xfrm>
            <a:off x="385763" y="4724400"/>
            <a:ext cx="8451850" cy="1784350"/>
            <a:chOff x="243" y="2976"/>
            <a:chExt cx="5324" cy="1124"/>
          </a:xfrm>
        </p:grpSpPr>
        <p:sp>
          <p:nvSpPr>
            <p:cNvPr id="116749" name="Rectangle 45"/>
            <p:cNvSpPr/>
            <p:nvPr/>
          </p:nvSpPr>
          <p:spPr>
            <a:xfrm>
              <a:off x="243" y="3024"/>
              <a:ext cx="93"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 </a:t>
              </a:r>
              <a:r>
                <a:rPr lang="en-US" altLang="zh-CN" sz="2000" dirty="0">
                  <a:solidFill>
                    <a:srgbClr val="000000"/>
                  </a:solidFill>
                  <a:latin typeface="ËÎÌå"/>
                </a:rPr>
                <a:t>r</a:t>
              </a:r>
              <a:endParaRPr lang="en-US" altLang="zh-CN" sz="1800" dirty="0">
                <a:latin typeface="Arial" panose="020B0604020202020204" pitchFamily="34" charset="0"/>
              </a:endParaRPr>
            </a:p>
          </p:txBody>
        </p:sp>
        <p:sp>
          <p:nvSpPr>
            <p:cNvPr id="116750" name="Rectangle 46"/>
            <p:cNvSpPr/>
            <p:nvPr/>
          </p:nvSpPr>
          <p:spPr>
            <a:xfrm>
              <a:off x="527" y="3065"/>
              <a:ext cx="116"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A</a:t>
              </a:r>
              <a:endParaRPr lang="en-US" altLang="zh-CN" sz="2400" dirty="0">
                <a:solidFill>
                  <a:srgbClr val="000000"/>
                </a:solidFill>
                <a:latin typeface="ËÎÌå"/>
              </a:endParaRPr>
            </a:p>
          </p:txBody>
        </p:sp>
        <p:sp>
          <p:nvSpPr>
            <p:cNvPr id="116751" name="Rectangle 47"/>
            <p:cNvSpPr/>
            <p:nvPr/>
          </p:nvSpPr>
          <p:spPr>
            <a:xfrm>
              <a:off x="824" y="3065"/>
              <a:ext cx="107"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B</a:t>
              </a:r>
              <a:endParaRPr lang="en-US" altLang="zh-CN" sz="2000" dirty="0">
                <a:solidFill>
                  <a:srgbClr val="000000"/>
                </a:solidFill>
                <a:latin typeface="ËÎÌå"/>
              </a:endParaRPr>
            </a:p>
          </p:txBody>
        </p:sp>
        <p:sp>
          <p:nvSpPr>
            <p:cNvPr id="116752" name="Rectangle 48"/>
            <p:cNvSpPr/>
            <p:nvPr/>
          </p:nvSpPr>
          <p:spPr>
            <a:xfrm>
              <a:off x="1134" y="3065"/>
              <a:ext cx="207"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C</a:t>
              </a:r>
              <a:endParaRPr lang="en-US" altLang="zh-CN" sz="1800" dirty="0">
                <a:latin typeface="Arial" panose="020B0604020202020204" pitchFamily="34" charset="0"/>
              </a:endParaRPr>
            </a:p>
          </p:txBody>
        </p:sp>
        <p:sp>
          <p:nvSpPr>
            <p:cNvPr id="116753" name="Rectangle 49"/>
            <p:cNvSpPr/>
            <p:nvPr/>
          </p:nvSpPr>
          <p:spPr>
            <a:xfrm>
              <a:off x="1728" y="3024"/>
              <a:ext cx="53"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r</a:t>
              </a:r>
              <a:endParaRPr lang="en-US" altLang="zh-CN" sz="1800" dirty="0">
                <a:latin typeface="Arial" panose="020B0604020202020204" pitchFamily="34" charset="0"/>
              </a:endParaRPr>
            </a:p>
          </p:txBody>
        </p:sp>
        <p:sp>
          <p:nvSpPr>
            <p:cNvPr id="116754" name="Rectangle 50"/>
            <p:cNvSpPr/>
            <p:nvPr/>
          </p:nvSpPr>
          <p:spPr>
            <a:xfrm>
              <a:off x="1818" y="3120"/>
              <a:ext cx="52"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16755" name="Rectangle 51"/>
            <p:cNvSpPr/>
            <p:nvPr/>
          </p:nvSpPr>
          <p:spPr>
            <a:xfrm>
              <a:off x="2050" y="3065"/>
              <a:ext cx="194"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A</a:t>
              </a:r>
              <a:endParaRPr lang="en-US" altLang="zh-CN" sz="1800" dirty="0">
                <a:latin typeface="Arial" panose="020B0604020202020204" pitchFamily="34" charset="0"/>
              </a:endParaRPr>
            </a:p>
          </p:txBody>
        </p:sp>
        <p:sp>
          <p:nvSpPr>
            <p:cNvPr id="116756" name="Rectangle 52"/>
            <p:cNvSpPr/>
            <p:nvPr/>
          </p:nvSpPr>
          <p:spPr>
            <a:xfrm>
              <a:off x="2360" y="3065"/>
              <a:ext cx="194"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B</a:t>
              </a:r>
              <a:endParaRPr lang="en-US" altLang="zh-CN" sz="1800" dirty="0">
                <a:latin typeface="Arial" panose="020B0604020202020204" pitchFamily="34" charset="0"/>
              </a:endParaRPr>
            </a:p>
          </p:txBody>
        </p:sp>
        <p:sp>
          <p:nvSpPr>
            <p:cNvPr id="116757" name="Rectangle 53"/>
            <p:cNvSpPr/>
            <p:nvPr/>
          </p:nvSpPr>
          <p:spPr>
            <a:xfrm>
              <a:off x="2928" y="3024"/>
              <a:ext cx="53"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r</a:t>
              </a:r>
              <a:endParaRPr lang="en-US" altLang="zh-CN" sz="1800" dirty="0">
                <a:latin typeface="Arial" panose="020B0604020202020204" pitchFamily="34" charset="0"/>
              </a:endParaRPr>
            </a:p>
          </p:txBody>
        </p:sp>
        <p:sp>
          <p:nvSpPr>
            <p:cNvPr id="116758" name="Rectangle 54"/>
            <p:cNvSpPr/>
            <p:nvPr/>
          </p:nvSpPr>
          <p:spPr>
            <a:xfrm>
              <a:off x="3020" y="3120"/>
              <a:ext cx="52"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2</a:t>
              </a:r>
              <a:endParaRPr lang="zh-CN" altLang="en-US" sz="1800" dirty="0">
                <a:latin typeface="Arial" panose="020B0604020202020204" pitchFamily="34" charset="0"/>
              </a:endParaRPr>
            </a:p>
          </p:txBody>
        </p:sp>
        <p:sp>
          <p:nvSpPr>
            <p:cNvPr id="116759" name="Rectangle 55"/>
            <p:cNvSpPr/>
            <p:nvPr/>
          </p:nvSpPr>
          <p:spPr>
            <a:xfrm>
              <a:off x="3277" y="3065"/>
              <a:ext cx="194"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A</a:t>
              </a:r>
              <a:endParaRPr lang="en-US" altLang="zh-CN" sz="1800" dirty="0">
                <a:latin typeface="Arial" panose="020B0604020202020204" pitchFamily="34" charset="0"/>
              </a:endParaRPr>
            </a:p>
          </p:txBody>
        </p:sp>
        <p:sp>
          <p:nvSpPr>
            <p:cNvPr id="116760" name="Rectangle 56"/>
            <p:cNvSpPr/>
            <p:nvPr/>
          </p:nvSpPr>
          <p:spPr>
            <a:xfrm>
              <a:off x="3587" y="3065"/>
              <a:ext cx="207"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C</a:t>
              </a:r>
              <a:endParaRPr lang="en-US" altLang="zh-CN" sz="1800" dirty="0">
                <a:latin typeface="Arial" panose="020B0604020202020204" pitchFamily="34" charset="0"/>
              </a:endParaRPr>
            </a:p>
          </p:txBody>
        </p:sp>
        <p:sp>
          <p:nvSpPr>
            <p:cNvPr id="116761" name="Rectangle 57"/>
            <p:cNvSpPr/>
            <p:nvPr/>
          </p:nvSpPr>
          <p:spPr>
            <a:xfrm>
              <a:off x="4212" y="2976"/>
              <a:ext cx="93"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 </a:t>
              </a:r>
              <a:r>
                <a:rPr lang="en-US" altLang="zh-CN" sz="2000" dirty="0">
                  <a:solidFill>
                    <a:srgbClr val="000000"/>
                  </a:solidFill>
                  <a:latin typeface="ËÎÌå"/>
                </a:rPr>
                <a:t>r</a:t>
              </a:r>
              <a:endParaRPr lang="en-US" altLang="zh-CN" sz="1800" dirty="0">
                <a:latin typeface="Arial" panose="020B0604020202020204" pitchFamily="34" charset="0"/>
              </a:endParaRPr>
            </a:p>
          </p:txBody>
        </p:sp>
        <p:sp>
          <p:nvSpPr>
            <p:cNvPr id="116762" name="Rectangle 58"/>
            <p:cNvSpPr/>
            <p:nvPr/>
          </p:nvSpPr>
          <p:spPr>
            <a:xfrm>
              <a:off x="4364" y="3072"/>
              <a:ext cx="52"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16763" name="Rectangle 59"/>
            <p:cNvSpPr/>
            <p:nvPr/>
          </p:nvSpPr>
          <p:spPr>
            <a:xfrm>
              <a:off x="4603" y="2976"/>
              <a:ext cx="77"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r</a:t>
              </a:r>
              <a:endParaRPr lang="en-US" altLang="zh-CN" sz="1800" dirty="0">
                <a:latin typeface="Arial" panose="020B0604020202020204" pitchFamily="34" charset="0"/>
              </a:endParaRPr>
            </a:p>
          </p:txBody>
        </p:sp>
        <p:sp>
          <p:nvSpPr>
            <p:cNvPr id="116764" name="Rectangle 60"/>
            <p:cNvSpPr/>
            <p:nvPr/>
          </p:nvSpPr>
          <p:spPr>
            <a:xfrm>
              <a:off x="4688" y="3072"/>
              <a:ext cx="52"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2</a:t>
              </a:r>
              <a:endParaRPr lang="zh-CN" altLang="en-US" sz="1800" dirty="0">
                <a:latin typeface="Arial" panose="020B0604020202020204" pitchFamily="34" charset="0"/>
              </a:endParaRPr>
            </a:p>
          </p:txBody>
        </p:sp>
        <p:sp>
          <p:nvSpPr>
            <p:cNvPr id="116765" name="Rectangle 61"/>
            <p:cNvSpPr/>
            <p:nvPr/>
          </p:nvSpPr>
          <p:spPr>
            <a:xfrm>
              <a:off x="4814" y="3065"/>
              <a:ext cx="194"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A</a:t>
              </a:r>
              <a:endParaRPr lang="en-US" altLang="zh-CN" sz="1800" dirty="0">
                <a:latin typeface="Arial" panose="020B0604020202020204" pitchFamily="34" charset="0"/>
              </a:endParaRPr>
            </a:p>
          </p:txBody>
        </p:sp>
        <p:sp>
          <p:nvSpPr>
            <p:cNvPr id="116766" name="Rectangle 62"/>
            <p:cNvSpPr/>
            <p:nvPr/>
          </p:nvSpPr>
          <p:spPr>
            <a:xfrm>
              <a:off x="5111" y="3065"/>
              <a:ext cx="194"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2000" dirty="0">
                  <a:solidFill>
                    <a:srgbClr val="000000"/>
                  </a:solidFill>
                  <a:latin typeface="ËÎÌå"/>
                </a:rPr>
                <a:t>B</a:t>
              </a:r>
              <a:endParaRPr lang="en-US" altLang="zh-CN" sz="1800" dirty="0">
                <a:latin typeface="Arial" panose="020B0604020202020204" pitchFamily="34" charset="0"/>
              </a:endParaRPr>
            </a:p>
          </p:txBody>
        </p:sp>
        <p:sp>
          <p:nvSpPr>
            <p:cNvPr id="116767" name="Rectangle 63"/>
            <p:cNvSpPr/>
            <p:nvPr/>
          </p:nvSpPr>
          <p:spPr>
            <a:xfrm>
              <a:off x="527" y="322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68" name="Rectangle 64"/>
            <p:cNvSpPr/>
            <p:nvPr/>
          </p:nvSpPr>
          <p:spPr>
            <a:xfrm>
              <a:off x="824" y="322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69" name="Rectangle 65"/>
            <p:cNvSpPr/>
            <p:nvPr/>
          </p:nvSpPr>
          <p:spPr>
            <a:xfrm>
              <a:off x="1134" y="322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4</a:t>
              </a:r>
              <a:endParaRPr lang="zh-CN" altLang="en-US" sz="1800" dirty="0">
                <a:latin typeface="Arial" panose="020B0604020202020204" pitchFamily="34" charset="0"/>
              </a:endParaRPr>
            </a:p>
          </p:txBody>
        </p:sp>
        <p:sp>
          <p:nvSpPr>
            <p:cNvPr id="116770" name="Rectangle 66"/>
            <p:cNvSpPr/>
            <p:nvPr/>
          </p:nvSpPr>
          <p:spPr>
            <a:xfrm>
              <a:off x="2050" y="322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71" name="Rectangle 67"/>
            <p:cNvSpPr/>
            <p:nvPr/>
          </p:nvSpPr>
          <p:spPr>
            <a:xfrm>
              <a:off x="2360" y="322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72" name="Rectangle 68"/>
            <p:cNvSpPr/>
            <p:nvPr/>
          </p:nvSpPr>
          <p:spPr>
            <a:xfrm>
              <a:off x="3277" y="322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73" name="Rectangle 69"/>
            <p:cNvSpPr/>
            <p:nvPr/>
          </p:nvSpPr>
          <p:spPr>
            <a:xfrm>
              <a:off x="3587" y="322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4</a:t>
              </a:r>
              <a:endParaRPr lang="zh-CN" altLang="en-US" sz="1800" dirty="0">
                <a:latin typeface="Arial" panose="020B0604020202020204" pitchFamily="34" charset="0"/>
              </a:endParaRPr>
            </a:p>
          </p:txBody>
        </p:sp>
        <p:sp>
          <p:nvSpPr>
            <p:cNvPr id="116774" name="Rectangle 70"/>
            <p:cNvSpPr/>
            <p:nvPr/>
          </p:nvSpPr>
          <p:spPr>
            <a:xfrm>
              <a:off x="4814" y="322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75" name="Rectangle 71"/>
            <p:cNvSpPr/>
            <p:nvPr/>
          </p:nvSpPr>
          <p:spPr>
            <a:xfrm>
              <a:off x="5111" y="322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76" name="Rectangle 72"/>
            <p:cNvSpPr/>
            <p:nvPr/>
          </p:nvSpPr>
          <p:spPr>
            <a:xfrm>
              <a:off x="527" y="3373"/>
              <a:ext cx="8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2000" dirty="0">
                <a:solidFill>
                  <a:srgbClr val="000000"/>
                </a:solidFill>
                <a:latin typeface="ËÎÌå"/>
              </a:endParaRPr>
            </a:p>
          </p:txBody>
        </p:sp>
        <p:sp>
          <p:nvSpPr>
            <p:cNvPr id="116777" name="Rectangle 73"/>
            <p:cNvSpPr/>
            <p:nvPr/>
          </p:nvSpPr>
          <p:spPr>
            <a:xfrm>
              <a:off x="824" y="3373"/>
              <a:ext cx="8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2</a:t>
              </a:r>
              <a:endParaRPr lang="zh-CN" altLang="en-US" sz="2000" dirty="0">
                <a:solidFill>
                  <a:srgbClr val="000000"/>
                </a:solidFill>
                <a:latin typeface="ËÎÌå"/>
              </a:endParaRPr>
            </a:p>
          </p:txBody>
        </p:sp>
        <p:sp>
          <p:nvSpPr>
            <p:cNvPr id="116778" name="Rectangle 74"/>
            <p:cNvSpPr/>
            <p:nvPr/>
          </p:nvSpPr>
          <p:spPr>
            <a:xfrm>
              <a:off x="1134" y="3373"/>
              <a:ext cx="8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3</a:t>
              </a:r>
              <a:endParaRPr lang="zh-CN" altLang="en-US" sz="2000" dirty="0">
                <a:solidFill>
                  <a:srgbClr val="000000"/>
                </a:solidFill>
                <a:latin typeface="ËÎÌå"/>
              </a:endParaRPr>
            </a:p>
          </p:txBody>
        </p:sp>
        <p:sp>
          <p:nvSpPr>
            <p:cNvPr id="116779" name="Rectangle 75"/>
            <p:cNvSpPr/>
            <p:nvPr/>
          </p:nvSpPr>
          <p:spPr>
            <a:xfrm>
              <a:off x="2050" y="3373"/>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80" name="Rectangle 76"/>
            <p:cNvSpPr/>
            <p:nvPr/>
          </p:nvSpPr>
          <p:spPr>
            <a:xfrm>
              <a:off x="2360" y="3373"/>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2</a:t>
              </a:r>
              <a:endParaRPr lang="zh-CN" altLang="en-US" sz="1800" dirty="0">
                <a:latin typeface="Arial" panose="020B0604020202020204" pitchFamily="34" charset="0"/>
              </a:endParaRPr>
            </a:p>
          </p:txBody>
        </p:sp>
        <p:sp>
          <p:nvSpPr>
            <p:cNvPr id="116781" name="Rectangle 77"/>
            <p:cNvSpPr/>
            <p:nvPr/>
          </p:nvSpPr>
          <p:spPr>
            <a:xfrm>
              <a:off x="3277" y="3373"/>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82" name="Rectangle 78"/>
            <p:cNvSpPr/>
            <p:nvPr/>
          </p:nvSpPr>
          <p:spPr>
            <a:xfrm>
              <a:off x="3587" y="3373"/>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3</a:t>
              </a:r>
              <a:endParaRPr lang="zh-CN" altLang="en-US" sz="1800" dirty="0">
                <a:latin typeface="Arial" panose="020B0604020202020204" pitchFamily="34" charset="0"/>
              </a:endParaRPr>
            </a:p>
          </p:txBody>
        </p:sp>
        <p:sp>
          <p:nvSpPr>
            <p:cNvPr id="116783" name="Rectangle 79"/>
            <p:cNvSpPr/>
            <p:nvPr/>
          </p:nvSpPr>
          <p:spPr>
            <a:xfrm>
              <a:off x="4814" y="3373"/>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84" name="Rectangle 80"/>
            <p:cNvSpPr/>
            <p:nvPr/>
          </p:nvSpPr>
          <p:spPr>
            <a:xfrm>
              <a:off x="5111" y="3373"/>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85" name="Rectangle 81"/>
            <p:cNvSpPr/>
            <p:nvPr/>
          </p:nvSpPr>
          <p:spPr>
            <a:xfrm>
              <a:off x="4816" y="3534"/>
              <a:ext cx="8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86" name="Rectangle 82"/>
            <p:cNvSpPr/>
            <p:nvPr/>
          </p:nvSpPr>
          <p:spPr>
            <a:xfrm>
              <a:off x="5111" y="3534"/>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2</a:t>
              </a:r>
              <a:endParaRPr lang="zh-CN" altLang="en-US" sz="1800" dirty="0">
                <a:latin typeface="Arial" panose="020B0604020202020204" pitchFamily="34" charset="0"/>
              </a:endParaRPr>
            </a:p>
          </p:txBody>
        </p:sp>
        <p:sp>
          <p:nvSpPr>
            <p:cNvPr id="116787" name="Rectangle 83"/>
            <p:cNvSpPr/>
            <p:nvPr/>
          </p:nvSpPr>
          <p:spPr>
            <a:xfrm>
              <a:off x="4816" y="3695"/>
              <a:ext cx="8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1</a:t>
              </a:r>
              <a:endParaRPr lang="zh-CN" altLang="en-US" sz="1800" dirty="0">
                <a:latin typeface="Arial" panose="020B0604020202020204" pitchFamily="34" charset="0"/>
              </a:endParaRPr>
            </a:p>
          </p:txBody>
        </p:sp>
        <p:sp>
          <p:nvSpPr>
            <p:cNvPr id="116788" name="Rectangle 84"/>
            <p:cNvSpPr/>
            <p:nvPr/>
          </p:nvSpPr>
          <p:spPr>
            <a:xfrm>
              <a:off x="5111" y="3695"/>
              <a:ext cx="168" cy="22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2</a:t>
              </a:r>
              <a:endParaRPr lang="zh-CN" altLang="en-US" sz="1800" dirty="0">
                <a:latin typeface="Arial" panose="020B0604020202020204" pitchFamily="34" charset="0"/>
              </a:endParaRPr>
            </a:p>
          </p:txBody>
        </p:sp>
        <p:sp>
          <p:nvSpPr>
            <p:cNvPr id="116789" name="Rectangle 85"/>
            <p:cNvSpPr/>
            <p:nvPr/>
          </p:nvSpPr>
          <p:spPr>
            <a:xfrm>
              <a:off x="665" y="3600"/>
              <a:ext cx="39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a:t>
              </a:r>
              <a:r>
                <a:rPr lang="en-US" altLang="zh-CN" sz="2000" dirty="0">
                  <a:solidFill>
                    <a:srgbClr val="000000"/>
                  </a:solidFill>
                  <a:latin typeface="ËÎÌå"/>
                </a:rPr>
                <a:t>a）</a:t>
              </a:r>
              <a:endParaRPr lang="en-US" altLang="zh-CN" sz="1800" dirty="0">
                <a:latin typeface="Arial" panose="020B0604020202020204" pitchFamily="34" charset="0"/>
              </a:endParaRPr>
            </a:p>
          </p:txBody>
        </p:sp>
        <p:sp>
          <p:nvSpPr>
            <p:cNvPr id="116790" name="Rectangle 86"/>
            <p:cNvSpPr/>
            <p:nvPr/>
          </p:nvSpPr>
          <p:spPr>
            <a:xfrm>
              <a:off x="2050" y="3648"/>
              <a:ext cx="40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a:t>
              </a:r>
              <a:r>
                <a:rPr lang="en-US" altLang="zh-CN" sz="2000" dirty="0">
                  <a:solidFill>
                    <a:srgbClr val="000000"/>
                  </a:solidFill>
                  <a:latin typeface="ËÎÌå"/>
                </a:rPr>
                <a:t>b）</a:t>
              </a:r>
              <a:endParaRPr lang="en-US" altLang="zh-CN" sz="1800" dirty="0">
                <a:latin typeface="Arial" panose="020B0604020202020204" pitchFamily="34" charset="0"/>
              </a:endParaRPr>
            </a:p>
          </p:txBody>
        </p:sp>
        <p:sp>
          <p:nvSpPr>
            <p:cNvPr id="116791" name="Rectangle 87"/>
            <p:cNvSpPr/>
            <p:nvPr/>
          </p:nvSpPr>
          <p:spPr>
            <a:xfrm>
              <a:off x="3277" y="3648"/>
              <a:ext cx="39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a:t>
              </a:r>
              <a:r>
                <a:rPr lang="en-US" altLang="zh-CN" sz="2000" dirty="0">
                  <a:solidFill>
                    <a:srgbClr val="000000"/>
                  </a:solidFill>
                  <a:latin typeface="ËÎÌå"/>
                </a:rPr>
                <a:t>c）</a:t>
              </a:r>
              <a:endParaRPr lang="en-US" altLang="zh-CN" sz="1800" dirty="0">
                <a:latin typeface="Arial" panose="020B0604020202020204" pitchFamily="34" charset="0"/>
              </a:endParaRPr>
            </a:p>
          </p:txBody>
        </p:sp>
        <p:sp>
          <p:nvSpPr>
            <p:cNvPr id="116792" name="Rectangle 88"/>
            <p:cNvSpPr/>
            <p:nvPr/>
          </p:nvSpPr>
          <p:spPr>
            <a:xfrm>
              <a:off x="4976" y="3888"/>
              <a:ext cx="40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000" dirty="0">
                  <a:solidFill>
                    <a:srgbClr val="000000"/>
                  </a:solidFill>
                  <a:latin typeface="ËÎÌå"/>
                </a:rPr>
                <a:t>（</a:t>
              </a:r>
              <a:r>
                <a:rPr lang="en-US" altLang="zh-CN" sz="2000" dirty="0">
                  <a:solidFill>
                    <a:srgbClr val="000000"/>
                  </a:solidFill>
                  <a:latin typeface="ËÎÌå"/>
                </a:rPr>
                <a:t>d）</a:t>
              </a:r>
              <a:endParaRPr lang="en-US" altLang="zh-CN" sz="1800" dirty="0">
                <a:latin typeface="Arial" panose="020B0604020202020204" pitchFamily="34" charset="0"/>
              </a:endParaRPr>
            </a:p>
          </p:txBody>
        </p:sp>
        <p:sp>
          <p:nvSpPr>
            <p:cNvPr id="116793" name="Line 89"/>
            <p:cNvSpPr/>
            <p:nvPr/>
          </p:nvSpPr>
          <p:spPr>
            <a:xfrm>
              <a:off x="259" y="3248"/>
              <a:ext cx="1043" cy="0"/>
            </a:xfrm>
            <a:prstGeom prst="line">
              <a:avLst/>
            </a:prstGeom>
            <a:ln w="9525" cap="flat" cmpd="sng">
              <a:solidFill>
                <a:schemeClr val="tx1"/>
              </a:solidFill>
              <a:prstDash val="solid"/>
              <a:headEnd type="none" w="med" len="med"/>
              <a:tailEnd type="none" w="med" len="med"/>
            </a:ln>
          </p:spPr>
        </p:sp>
        <p:sp>
          <p:nvSpPr>
            <p:cNvPr id="116794" name="Line 90"/>
            <p:cNvSpPr/>
            <p:nvPr/>
          </p:nvSpPr>
          <p:spPr>
            <a:xfrm>
              <a:off x="1728" y="3248"/>
              <a:ext cx="744" cy="0"/>
            </a:xfrm>
            <a:prstGeom prst="line">
              <a:avLst/>
            </a:prstGeom>
            <a:ln w="9525" cap="flat" cmpd="sng">
              <a:solidFill>
                <a:schemeClr val="tx1"/>
              </a:solidFill>
              <a:prstDash val="solid"/>
              <a:headEnd type="none" w="med" len="med"/>
              <a:tailEnd type="none" w="med" len="med"/>
            </a:ln>
          </p:spPr>
        </p:sp>
        <p:sp>
          <p:nvSpPr>
            <p:cNvPr id="116795" name="Line 91"/>
            <p:cNvSpPr/>
            <p:nvPr/>
          </p:nvSpPr>
          <p:spPr>
            <a:xfrm>
              <a:off x="2976" y="3237"/>
              <a:ext cx="721" cy="0"/>
            </a:xfrm>
            <a:prstGeom prst="line">
              <a:avLst/>
            </a:prstGeom>
            <a:ln w="9525" cap="flat" cmpd="sng">
              <a:solidFill>
                <a:schemeClr val="tx1"/>
              </a:solidFill>
              <a:prstDash val="solid"/>
              <a:headEnd type="none" w="med" len="med"/>
              <a:tailEnd type="none" w="med" len="med"/>
            </a:ln>
          </p:spPr>
        </p:sp>
        <p:sp>
          <p:nvSpPr>
            <p:cNvPr id="116796" name="Line 92"/>
            <p:cNvSpPr/>
            <p:nvPr/>
          </p:nvSpPr>
          <p:spPr>
            <a:xfrm>
              <a:off x="4283" y="3247"/>
              <a:ext cx="1284" cy="0"/>
            </a:xfrm>
            <a:prstGeom prst="line">
              <a:avLst/>
            </a:prstGeom>
            <a:ln w="9525" cap="flat" cmpd="sng">
              <a:solidFill>
                <a:schemeClr val="tx1"/>
              </a:solidFill>
              <a:prstDash val="solid"/>
              <a:headEnd type="none" w="med" len="med"/>
              <a:tailEnd type="none" w="med" len="med"/>
            </a:ln>
          </p:spPr>
        </p:sp>
        <p:sp>
          <p:nvSpPr>
            <p:cNvPr id="116797" name="Line 93"/>
            <p:cNvSpPr/>
            <p:nvPr/>
          </p:nvSpPr>
          <p:spPr>
            <a:xfrm>
              <a:off x="3168" y="3072"/>
              <a:ext cx="0" cy="480"/>
            </a:xfrm>
            <a:prstGeom prst="line">
              <a:avLst/>
            </a:prstGeom>
            <a:ln w="9525" cap="flat" cmpd="sng">
              <a:solidFill>
                <a:schemeClr val="tx1"/>
              </a:solidFill>
              <a:prstDash val="solid"/>
              <a:headEnd type="none" w="med" len="med"/>
              <a:tailEnd type="none" w="med" len="med"/>
            </a:ln>
          </p:spPr>
        </p:sp>
        <p:sp>
          <p:nvSpPr>
            <p:cNvPr id="116798" name="Line 94"/>
            <p:cNvSpPr/>
            <p:nvPr/>
          </p:nvSpPr>
          <p:spPr>
            <a:xfrm>
              <a:off x="1920" y="3072"/>
              <a:ext cx="0" cy="528"/>
            </a:xfrm>
            <a:prstGeom prst="line">
              <a:avLst/>
            </a:prstGeom>
            <a:ln w="9525" cap="flat" cmpd="sng">
              <a:solidFill>
                <a:schemeClr val="tx1"/>
              </a:solidFill>
              <a:prstDash val="solid"/>
              <a:headEnd type="none" w="med" len="med"/>
              <a:tailEnd type="none" w="med" len="med"/>
            </a:ln>
          </p:spPr>
        </p:sp>
        <p:sp>
          <p:nvSpPr>
            <p:cNvPr id="116799" name="Line 95"/>
            <p:cNvSpPr/>
            <p:nvPr/>
          </p:nvSpPr>
          <p:spPr>
            <a:xfrm>
              <a:off x="432" y="3072"/>
              <a:ext cx="0" cy="480"/>
            </a:xfrm>
            <a:prstGeom prst="line">
              <a:avLst/>
            </a:prstGeom>
            <a:ln w="9525" cap="flat" cmpd="sng">
              <a:solidFill>
                <a:schemeClr val="tx1"/>
              </a:solidFill>
              <a:prstDash val="solid"/>
              <a:headEnd type="none" w="med" len="med"/>
              <a:tailEnd type="none" w="med" len="med"/>
            </a:ln>
          </p:spPr>
        </p:sp>
        <p:sp>
          <p:nvSpPr>
            <p:cNvPr id="116800" name="Line 96"/>
            <p:cNvSpPr/>
            <p:nvPr/>
          </p:nvSpPr>
          <p:spPr>
            <a:xfrm>
              <a:off x="4752" y="3024"/>
              <a:ext cx="0" cy="912"/>
            </a:xfrm>
            <a:prstGeom prst="line">
              <a:avLst/>
            </a:prstGeom>
            <a:ln w="9525" cap="flat" cmpd="sng">
              <a:solidFill>
                <a:schemeClr val="tx1"/>
              </a:solidFill>
              <a:prstDash val="solid"/>
              <a:headEnd type="none" w="med" len="med"/>
              <a:tailEnd type="none" w="med" len="med"/>
            </a:ln>
          </p:spPr>
        </p:sp>
        <p:sp>
          <p:nvSpPr>
            <p:cNvPr id="116801" name="Text Box 97"/>
            <p:cNvSpPr txBox="1"/>
            <p:nvPr/>
          </p:nvSpPr>
          <p:spPr>
            <a:xfrm>
              <a:off x="2064" y="3888"/>
              <a:ext cx="163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zh-CN" altLang="en-US" sz="1600" dirty="0"/>
                <a:t>图</a:t>
              </a:r>
              <a:r>
                <a:rPr lang="en-US" altLang="zh-CN" sz="1600" dirty="0"/>
                <a:t>  </a:t>
              </a:r>
              <a:r>
                <a:rPr lang="zh-CN" altLang="en-US" sz="1600" dirty="0"/>
                <a:t>丢失信息的分解</a:t>
              </a:r>
              <a:r>
                <a:rPr lang="zh-CN" altLang="en-US" sz="1600" dirty="0">
                  <a:latin typeface="Arial" panose="020B0604020202020204" pitchFamily="34" charset="0"/>
                </a:rPr>
                <a:t> </a:t>
              </a:r>
              <a:endParaRPr lang="zh-CN" altLang="en-US" sz="1600" dirty="0">
                <a:latin typeface="Arial" panose="020B0604020202020204" pitchFamily="34" charset="0"/>
              </a:endParaRPr>
            </a:p>
          </p:txBody>
        </p:sp>
        <p:pic>
          <p:nvPicPr>
            <p:cNvPr id="116802" name="Picture 98" descr="未标题-1 拷贝"/>
            <p:cNvPicPr>
              <a:picLocks noChangeAspect="1"/>
            </p:cNvPicPr>
            <p:nvPr/>
          </p:nvPicPr>
          <p:blipFill>
            <a:blip r:embed="rId1"/>
            <a:stretch>
              <a:fillRect/>
            </a:stretch>
          </p:blipFill>
          <p:spPr>
            <a:xfrm>
              <a:off x="4416" y="3042"/>
              <a:ext cx="161" cy="106"/>
            </a:xfrm>
            <a:prstGeom prst="rect">
              <a:avLst/>
            </a:prstGeom>
            <a:noFill/>
            <a:ln w="9525">
              <a:noFill/>
            </a:ln>
          </p:spPr>
        </p:pic>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8786"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投影连接运算</a:t>
            </a:r>
            <a:endParaRPr lang="zh-CN" altLang="en-US" sz="4000" b="1" dirty="0">
              <a:solidFill>
                <a:srgbClr val="E40000"/>
              </a:solidFill>
              <a:latin typeface="Arial" panose="020B0604020202020204" pitchFamily="34" charset="0"/>
            </a:endParaRPr>
          </a:p>
        </p:txBody>
      </p:sp>
      <p:sp>
        <p:nvSpPr>
          <p:cNvPr id="118787" name="Rectangle 3"/>
          <p:cNvSpPr>
            <a:spLocks noGrp="1"/>
          </p:cNvSpPr>
          <p:nvPr>
            <p:ph type="body" sz="half" idx="1"/>
          </p:nvPr>
        </p:nvSpPr>
        <p:spPr>
          <a:xfrm>
            <a:off x="539750" y="1600200"/>
            <a:ext cx="7920038" cy="4525963"/>
          </a:xfrm>
          <a:ln/>
        </p:spPr>
        <p:txBody>
          <a:bodyPr vert="horz" wrap="square" lIns="91440" tIns="45720" rIns="91440" bIns="45720" anchor="t" anchorCtr="0"/>
          <a:p>
            <a:pPr marL="274955" indent="-274955" eaLnBrk="1" hangingPunct="1">
              <a:lnSpc>
                <a:spcPct val="90000"/>
              </a:lnSpc>
              <a:buClr>
                <a:srgbClr val="FF3300"/>
              </a:buClr>
              <a:buSzTx/>
              <a:buFont typeface="Wingdings" panose="05000000000000000000" pitchFamily="2" charset="2"/>
              <a:buChar char="n"/>
            </a:pPr>
            <a:r>
              <a:rPr lang="zh-CN" altLang="en-US" sz="2400" b="1" dirty="0">
                <a:latin typeface="黑体" pitchFamily="49" charset="-122"/>
                <a:ea typeface="黑体" pitchFamily="49" charset="-122"/>
              </a:rPr>
              <a:t>定义</a:t>
            </a:r>
            <a:r>
              <a:rPr lang="en-US" altLang="zh-CN" sz="2400" b="1" dirty="0">
                <a:latin typeface="黑体" pitchFamily="49" charset="-122"/>
                <a:ea typeface="黑体" pitchFamily="49" charset="-122"/>
              </a:rPr>
              <a:t>4.17</a:t>
            </a:r>
            <a:r>
              <a:rPr lang="zh-CN" altLang="en-US" sz="2400" b="1" dirty="0"/>
              <a:t>：设</a:t>
            </a:r>
            <a:r>
              <a:rPr lang="en-US" altLang="zh-CN" sz="2400" b="1" dirty="0"/>
              <a:t>ρ=</a:t>
            </a:r>
            <a:r>
              <a:rPr lang="zh-CN" altLang="en-US" sz="2400" b="1" dirty="0"/>
              <a:t>｛ </a:t>
            </a:r>
            <a:r>
              <a:rPr lang="en-US" altLang="zh-CN" sz="2400" b="1" i="1" dirty="0">
                <a:latin typeface="Times New Roman" panose="02020603050405020304" pitchFamily="18" charset="0"/>
              </a:rPr>
              <a:t>R</a:t>
            </a:r>
            <a:r>
              <a:rPr lang="en-US" altLang="zh-CN" sz="2400" b="1" i="1" baseline="-16000" dirty="0">
                <a:latin typeface="Times New Roman" panose="02020603050405020304" pitchFamily="18" charset="0"/>
              </a:rPr>
              <a:t>1</a:t>
            </a:r>
            <a:r>
              <a:rPr lang="zh-CN" altLang="en-US" sz="2400" b="1" dirty="0"/>
              <a:t>，</a:t>
            </a:r>
            <a:r>
              <a:rPr lang="en-US" altLang="zh-CN" sz="2400" b="1" dirty="0"/>
              <a:t>…</a:t>
            </a:r>
            <a:r>
              <a:rPr lang="zh-CN" altLang="en-US" sz="2400" b="1" dirty="0"/>
              <a:t>，</a:t>
            </a:r>
            <a:r>
              <a:rPr lang="en-US" altLang="zh-CN" sz="2400" b="1" i="1" dirty="0">
                <a:latin typeface="Times New Roman" panose="02020603050405020304" pitchFamily="18" charset="0"/>
              </a:rPr>
              <a:t>R</a:t>
            </a:r>
            <a:r>
              <a:rPr lang="en-US" altLang="zh-CN" sz="2400" b="1" i="1" baseline="-16000" dirty="0">
                <a:latin typeface="Times New Roman" panose="02020603050405020304" pitchFamily="18" charset="0"/>
              </a:rPr>
              <a:t>k</a:t>
            </a:r>
            <a:r>
              <a:rPr lang="en-US" altLang="zh-CN" sz="2400" b="1" dirty="0"/>
              <a:t> </a:t>
            </a:r>
            <a:r>
              <a:rPr lang="zh-CN" altLang="en-US" sz="2400" b="1" dirty="0"/>
              <a:t>｝为</a:t>
            </a:r>
            <a:r>
              <a:rPr lang="en-US" altLang="zh-CN" sz="2400" b="1" dirty="0"/>
              <a:t>R</a:t>
            </a:r>
            <a:r>
              <a:rPr lang="zh-CN" altLang="en-US" sz="2400" b="1" dirty="0"/>
              <a:t>的一个分解，</a:t>
            </a:r>
            <a:r>
              <a:rPr lang="en-US" altLang="zh-CN" sz="2400" b="1" dirty="0"/>
              <a:t>r</a:t>
            </a:r>
            <a:r>
              <a:rPr lang="zh-CN" altLang="en-US" sz="2400" b="1" dirty="0"/>
              <a:t>是</a:t>
            </a:r>
            <a:r>
              <a:rPr lang="en-US" altLang="zh-CN" sz="2400" b="1" dirty="0"/>
              <a:t>R</a:t>
            </a:r>
            <a:r>
              <a:rPr lang="zh-CN" altLang="en-US" sz="2400" b="1" dirty="0"/>
              <a:t>上的任意一个具体关系，则</a:t>
            </a:r>
            <a:r>
              <a:rPr lang="en-US" altLang="zh-CN" sz="2400" b="1" dirty="0"/>
              <a:t>r</a:t>
            </a:r>
            <a:r>
              <a:rPr lang="zh-CN" altLang="en-US" sz="2400" b="1" dirty="0"/>
              <a:t>对于</a:t>
            </a:r>
            <a:r>
              <a:rPr lang="en-US" altLang="zh-CN" sz="2400" b="1" dirty="0"/>
              <a:t>ρ</a:t>
            </a:r>
            <a:r>
              <a:rPr lang="zh-CN" altLang="en-US" sz="2400" b="1" dirty="0"/>
              <a:t>的投影连接运算定义为： </a:t>
            </a:r>
            <a:endParaRPr lang="zh-CN" altLang="en-US" sz="2400" b="1" dirty="0"/>
          </a:p>
          <a:p>
            <a:pPr marL="274955" indent="-274955" eaLnBrk="1" hangingPunct="1">
              <a:lnSpc>
                <a:spcPct val="90000"/>
              </a:lnSpc>
              <a:buClr>
                <a:srgbClr val="FF3300"/>
              </a:buClr>
              <a:buSzTx/>
              <a:buFont typeface="Wingdings" panose="05000000000000000000" pitchFamily="2" charset="2"/>
              <a:buChar char="n"/>
            </a:pPr>
            <a:endParaRPr lang="zh-CN" altLang="en-US" sz="2400" b="1" dirty="0"/>
          </a:p>
          <a:p>
            <a:pPr marL="274955" indent="-274955" eaLnBrk="1" hangingPunct="1">
              <a:buClrTx/>
              <a:buSzTx/>
              <a:buFontTx/>
              <a:buChar char="•"/>
            </a:pPr>
            <a:endParaRPr lang="zh-CN" altLang="en-US" sz="2400" b="1" dirty="0"/>
          </a:p>
          <a:p>
            <a:pPr marL="274955" indent="-274955" eaLnBrk="1" hangingPunct="1">
              <a:buClr>
                <a:srgbClr val="3366FF"/>
              </a:buClr>
              <a:buSzTx/>
              <a:buFont typeface="Wingdings" panose="05000000000000000000" pitchFamily="2" charset="2"/>
              <a:buChar char="n"/>
            </a:pPr>
            <a:r>
              <a:rPr lang="zh-CN" altLang="en-US" sz="2400" b="1" dirty="0">
                <a:latin typeface="黑体" pitchFamily="49" charset="-122"/>
                <a:ea typeface="黑体" pitchFamily="49" charset="-122"/>
              </a:rPr>
              <a:t>引理</a:t>
            </a:r>
            <a:r>
              <a:rPr lang="en-US" altLang="zh-CN" sz="2400" b="1" dirty="0">
                <a:latin typeface="黑体" pitchFamily="49" charset="-122"/>
                <a:ea typeface="黑体" pitchFamily="49" charset="-122"/>
              </a:rPr>
              <a:t>4.4</a:t>
            </a:r>
            <a:r>
              <a:rPr lang="zh-CN" altLang="en-US" sz="2400" b="1" dirty="0"/>
              <a:t>：设</a:t>
            </a:r>
            <a:r>
              <a:rPr lang="en-US" altLang="zh-CN" sz="2400" b="1" dirty="0"/>
              <a:t>ρ=</a:t>
            </a:r>
            <a:r>
              <a:rPr lang="zh-CN" altLang="en-US" sz="2400" b="1" dirty="0"/>
              <a:t>｛ </a:t>
            </a:r>
            <a:r>
              <a:rPr lang="en-US" altLang="zh-CN" sz="2400" b="1" i="1" dirty="0">
                <a:latin typeface="Times New Roman" panose="02020603050405020304" pitchFamily="18" charset="0"/>
              </a:rPr>
              <a:t>R</a:t>
            </a:r>
            <a:r>
              <a:rPr lang="en-US" altLang="zh-CN" sz="2400" b="1" i="1" baseline="-16000" dirty="0">
                <a:latin typeface="Times New Roman" panose="02020603050405020304" pitchFamily="18" charset="0"/>
              </a:rPr>
              <a:t>1</a:t>
            </a:r>
            <a:r>
              <a:rPr lang="zh-CN" altLang="en-US" sz="2400" b="1" dirty="0"/>
              <a:t>，</a:t>
            </a:r>
            <a:r>
              <a:rPr lang="en-US" altLang="zh-CN" sz="2400" b="1" dirty="0"/>
              <a:t>…</a:t>
            </a:r>
            <a:r>
              <a:rPr lang="zh-CN" altLang="en-US" sz="2400" b="1" dirty="0"/>
              <a:t>，</a:t>
            </a:r>
            <a:r>
              <a:rPr lang="en-US" altLang="zh-CN" sz="2400" b="1" i="1" dirty="0">
                <a:latin typeface="Times New Roman" panose="02020603050405020304" pitchFamily="18" charset="0"/>
              </a:rPr>
              <a:t>R</a:t>
            </a:r>
            <a:r>
              <a:rPr lang="en-US" altLang="zh-CN" sz="2400" b="1" i="1" baseline="-16000" dirty="0">
                <a:latin typeface="Times New Roman" panose="02020603050405020304" pitchFamily="18" charset="0"/>
              </a:rPr>
              <a:t>k</a:t>
            </a:r>
            <a:r>
              <a:rPr lang="en-US" altLang="zh-CN" sz="2400" b="1" dirty="0"/>
              <a:t> </a:t>
            </a:r>
            <a:r>
              <a:rPr lang="zh-CN" altLang="en-US" sz="2400" b="1" dirty="0"/>
              <a:t>｝是</a:t>
            </a:r>
            <a:r>
              <a:rPr lang="en-US" altLang="zh-CN" sz="2400" b="1" i="1" dirty="0">
                <a:latin typeface="Times New Roman" panose="02020603050405020304" pitchFamily="18" charset="0"/>
              </a:rPr>
              <a:t>R</a:t>
            </a:r>
            <a:r>
              <a:rPr lang="zh-CN" altLang="en-US" sz="2400" b="1" dirty="0"/>
              <a:t>的一个分解，</a:t>
            </a:r>
            <a:r>
              <a:rPr lang="en-US" altLang="zh-CN" sz="2400" b="1" i="1" dirty="0">
                <a:latin typeface="Times New Roman" panose="02020603050405020304" pitchFamily="18" charset="0"/>
                <a:cs typeface="Tahoma" panose="020B0604030504040204" pitchFamily="34" charset="0"/>
              </a:rPr>
              <a:t>r</a:t>
            </a:r>
            <a:r>
              <a:rPr lang="zh-CN" altLang="en-US" sz="2400" b="1" dirty="0"/>
              <a:t>是</a:t>
            </a:r>
            <a:r>
              <a:rPr lang="en-US" altLang="zh-CN" sz="2400" b="1" i="1" dirty="0">
                <a:latin typeface="Times New Roman" panose="02020603050405020304" pitchFamily="18" charset="0"/>
              </a:rPr>
              <a:t>R</a:t>
            </a:r>
            <a:r>
              <a:rPr lang="zh-CN" altLang="en-US" sz="2400" b="1" dirty="0"/>
              <a:t>的任一关系，</a:t>
            </a:r>
            <a:r>
              <a:rPr lang="en-US" altLang="zh-CN" sz="2400" b="1" i="1" dirty="0">
                <a:latin typeface="Times New Roman" panose="02020603050405020304" pitchFamily="18" charset="0"/>
              </a:rPr>
              <a:t>r</a:t>
            </a:r>
            <a:r>
              <a:rPr lang="en-US" altLang="zh-CN" sz="2400" b="1" i="1" baseline="-16000" dirty="0">
                <a:latin typeface="Times New Roman" panose="02020603050405020304" pitchFamily="18" charset="0"/>
              </a:rPr>
              <a:t>i</a:t>
            </a:r>
            <a:r>
              <a:rPr lang="en-US" altLang="zh-CN" sz="2400" b="1" dirty="0"/>
              <a:t>=π</a:t>
            </a:r>
            <a:r>
              <a:rPr lang="en-US" altLang="zh-CN" sz="2400" b="1" i="1" baseline="-10000" dirty="0">
                <a:latin typeface="Times New Roman" panose="02020603050405020304" pitchFamily="18" charset="0"/>
              </a:rPr>
              <a:t>R</a:t>
            </a:r>
            <a:r>
              <a:rPr lang="en-US" altLang="zh-CN" sz="2400" b="1" i="1" baseline="-16000" dirty="0">
                <a:latin typeface="Times New Roman" panose="02020603050405020304" pitchFamily="18" charset="0"/>
              </a:rPr>
              <a:t>i</a:t>
            </a:r>
            <a:r>
              <a:rPr lang="zh-CN" altLang="en-US" sz="2400" b="1" dirty="0"/>
              <a:t>（</a:t>
            </a:r>
            <a:r>
              <a:rPr lang="en-US" altLang="zh-CN" sz="2400" b="1" i="1" dirty="0">
                <a:latin typeface="Times New Roman" panose="02020603050405020304" pitchFamily="18" charset="0"/>
              </a:rPr>
              <a:t>r</a:t>
            </a:r>
            <a:r>
              <a:rPr lang="zh-CN" altLang="en-US" sz="2400" b="1" dirty="0"/>
              <a:t>）（</a:t>
            </a:r>
            <a:r>
              <a:rPr lang="en-US" altLang="zh-CN" sz="2400" b="1" dirty="0"/>
              <a:t>1≤</a:t>
            </a:r>
            <a:r>
              <a:rPr lang="en-US" altLang="zh-CN" sz="2400" b="1" i="1" dirty="0">
                <a:latin typeface="Times New Roman" panose="02020603050405020304" pitchFamily="18" charset="0"/>
              </a:rPr>
              <a:t>i</a:t>
            </a:r>
            <a:r>
              <a:rPr lang="en-US" altLang="zh-CN" sz="2400" b="1" dirty="0"/>
              <a:t>≤</a:t>
            </a:r>
            <a:r>
              <a:rPr lang="en-US" altLang="zh-CN" sz="2400" b="1" i="1" dirty="0">
                <a:latin typeface="Times New Roman" panose="02020603050405020304" pitchFamily="18" charset="0"/>
              </a:rPr>
              <a:t>k</a:t>
            </a:r>
            <a:r>
              <a:rPr lang="zh-CN" altLang="en-US" sz="2400" b="1" dirty="0"/>
              <a:t>），那么有下列性质：</a:t>
            </a:r>
            <a:endParaRPr lang="zh-CN" altLang="en-US" sz="2400" b="1" dirty="0"/>
          </a:p>
          <a:p>
            <a:pPr marL="901700" lvl="1" indent="-447675" eaLnBrk="1" hangingPunct="1">
              <a:buClr>
                <a:schemeClr val="tx1"/>
              </a:buClr>
              <a:buFontTx/>
              <a:buChar char="–"/>
            </a:pPr>
            <a:r>
              <a:rPr lang="en-US" altLang="zh-CN" sz="2000" b="1" i="1" dirty="0">
                <a:latin typeface="Times New Roman" panose="02020603050405020304" pitchFamily="18" charset="0"/>
              </a:rPr>
              <a:t>r</a:t>
            </a:r>
            <a:r>
              <a:rPr lang="en-US" altLang="zh-CN" sz="2000" b="1" dirty="0">
                <a:sym typeface="Symbol" panose="05050102010706020507" pitchFamily="18" charset="2"/>
              </a:rPr>
              <a:t></a:t>
            </a:r>
            <a:r>
              <a:rPr lang="en-US" altLang="zh-CN" sz="2000" b="1" i="1" dirty="0">
                <a:latin typeface="Times New Roman" panose="02020603050405020304" pitchFamily="18" charset="0"/>
              </a:rPr>
              <a:t>m</a:t>
            </a:r>
            <a:r>
              <a:rPr lang="en-US" altLang="zh-CN" sz="2000" b="1" baseline="-20000" dirty="0">
                <a:latin typeface="Times New Roman" panose="02020603050405020304" pitchFamily="18" charset="0"/>
              </a:rPr>
              <a:t>ρ</a:t>
            </a:r>
            <a:r>
              <a:rPr lang="zh-CN" altLang="en-US" sz="2000" b="1" dirty="0"/>
              <a:t>（</a:t>
            </a:r>
            <a:r>
              <a:rPr lang="en-US" altLang="zh-CN" sz="2000" b="1" i="1" dirty="0">
                <a:latin typeface="Times New Roman" panose="02020603050405020304" pitchFamily="18" charset="0"/>
              </a:rPr>
              <a:t>r</a:t>
            </a:r>
            <a:r>
              <a:rPr lang="zh-CN" altLang="en-US" sz="2000" b="1" dirty="0"/>
              <a:t>）；</a:t>
            </a:r>
            <a:endParaRPr lang="zh-CN" altLang="en-US" sz="2000" b="1" dirty="0"/>
          </a:p>
          <a:p>
            <a:pPr marL="901700" lvl="1" indent="-447675" eaLnBrk="1" hangingPunct="1">
              <a:buClr>
                <a:schemeClr val="tx1"/>
              </a:buClr>
              <a:buFontTx/>
              <a:buChar char="–"/>
            </a:pPr>
            <a:r>
              <a:rPr lang="zh-CN" altLang="en-US" sz="2000" b="1" dirty="0"/>
              <a:t>若</a:t>
            </a:r>
            <a:r>
              <a:rPr lang="en-US" altLang="zh-CN" sz="2000" b="1" i="1" dirty="0">
                <a:latin typeface="Times New Roman" panose="02020603050405020304" pitchFamily="18" charset="0"/>
              </a:rPr>
              <a:t>s</a:t>
            </a:r>
            <a:r>
              <a:rPr lang="en-US" altLang="zh-CN" sz="2000" b="1" dirty="0"/>
              <a:t>= </a:t>
            </a:r>
            <a:r>
              <a:rPr lang="en-US" altLang="zh-CN" sz="2000" b="1" i="1" dirty="0">
                <a:latin typeface="Times New Roman" panose="02020603050405020304" pitchFamily="18" charset="0"/>
              </a:rPr>
              <a:t>m</a:t>
            </a:r>
            <a:r>
              <a:rPr lang="en-US" altLang="zh-CN" sz="2000" b="1" baseline="-20000" dirty="0">
                <a:latin typeface="Times New Roman" panose="02020603050405020304" pitchFamily="18" charset="0"/>
              </a:rPr>
              <a:t>ρ</a:t>
            </a:r>
            <a:r>
              <a:rPr lang="zh-CN" altLang="en-US" sz="2000" b="1" dirty="0"/>
              <a:t>（</a:t>
            </a:r>
            <a:r>
              <a:rPr lang="en-US" altLang="zh-CN" sz="2000" b="1" i="1" dirty="0">
                <a:latin typeface="Times New Roman" panose="02020603050405020304" pitchFamily="18" charset="0"/>
              </a:rPr>
              <a:t>r</a:t>
            </a:r>
            <a:r>
              <a:rPr lang="zh-CN" altLang="en-US" sz="2000" b="1" dirty="0"/>
              <a:t>），则</a:t>
            </a:r>
            <a:r>
              <a:rPr lang="en-US" altLang="zh-CN" sz="2000" b="1" dirty="0"/>
              <a:t>π</a:t>
            </a:r>
            <a:r>
              <a:rPr lang="en-US" altLang="zh-CN" sz="2000" b="1" i="1" baseline="-10000" dirty="0">
                <a:latin typeface="Times New Roman" panose="02020603050405020304" pitchFamily="18" charset="0"/>
              </a:rPr>
              <a:t>R</a:t>
            </a:r>
            <a:r>
              <a:rPr lang="en-US" altLang="zh-CN" sz="2000" b="1" i="1" baseline="-16000" dirty="0">
                <a:latin typeface="Times New Roman" panose="02020603050405020304" pitchFamily="18" charset="0"/>
              </a:rPr>
              <a:t>i</a:t>
            </a:r>
            <a:r>
              <a:rPr lang="zh-CN" altLang="en-US" sz="2000" b="1" dirty="0"/>
              <a:t>（</a:t>
            </a:r>
            <a:r>
              <a:rPr lang="en-US" altLang="zh-CN" sz="2000" b="1" i="1" dirty="0">
                <a:latin typeface="Times New Roman" panose="02020603050405020304" pitchFamily="18" charset="0"/>
              </a:rPr>
              <a:t>s</a:t>
            </a:r>
            <a:r>
              <a:rPr lang="zh-CN" altLang="en-US" sz="2000" b="1" dirty="0"/>
              <a:t>）</a:t>
            </a:r>
            <a:r>
              <a:rPr lang="en-US" altLang="zh-CN" sz="2000" b="1" dirty="0"/>
              <a:t>=</a:t>
            </a:r>
            <a:r>
              <a:rPr lang="en-US" altLang="zh-CN" sz="2000" b="1" i="1" dirty="0">
                <a:latin typeface="Times New Roman" panose="02020603050405020304" pitchFamily="18" charset="0"/>
              </a:rPr>
              <a:t>r</a:t>
            </a:r>
            <a:r>
              <a:rPr lang="en-US" altLang="zh-CN" sz="2000" b="1" i="1" baseline="-16000" dirty="0">
                <a:latin typeface="Times New Roman" panose="02020603050405020304" pitchFamily="18" charset="0"/>
              </a:rPr>
              <a:t>i</a:t>
            </a:r>
            <a:r>
              <a:rPr lang="zh-CN" altLang="en-US" sz="2000" b="1" dirty="0"/>
              <a:t>；</a:t>
            </a:r>
            <a:endParaRPr lang="zh-CN" altLang="en-US" sz="2000" b="1" dirty="0"/>
          </a:p>
          <a:p>
            <a:pPr marL="901700" lvl="1" indent="-447675" eaLnBrk="1" hangingPunct="1">
              <a:buClr>
                <a:schemeClr val="tx1"/>
              </a:buClr>
              <a:buFontTx/>
              <a:buChar char="–"/>
            </a:pPr>
            <a:r>
              <a:rPr lang="en-US" altLang="zh-CN" sz="2000" b="1" i="1" dirty="0">
                <a:latin typeface="Times New Roman" panose="02020603050405020304" pitchFamily="18" charset="0"/>
              </a:rPr>
              <a:t>m</a:t>
            </a:r>
            <a:r>
              <a:rPr lang="en-US" altLang="zh-CN" sz="2000" b="1" baseline="-20000" dirty="0">
                <a:latin typeface="Times New Roman" panose="02020603050405020304" pitchFamily="18" charset="0"/>
              </a:rPr>
              <a:t>ρ</a:t>
            </a:r>
            <a:r>
              <a:rPr lang="zh-CN" altLang="en-US" sz="2000" b="1" dirty="0"/>
              <a:t>（</a:t>
            </a:r>
            <a:r>
              <a:rPr lang="en-US" altLang="zh-CN" sz="2000" b="1" i="1" dirty="0">
                <a:latin typeface="Times New Roman" panose="02020603050405020304" pitchFamily="18" charset="0"/>
              </a:rPr>
              <a:t>m</a:t>
            </a:r>
            <a:r>
              <a:rPr lang="en-US" altLang="zh-CN" sz="2000" b="1" baseline="-20000" dirty="0">
                <a:latin typeface="Times New Roman" panose="02020603050405020304" pitchFamily="18" charset="0"/>
              </a:rPr>
              <a:t>ρ</a:t>
            </a:r>
            <a:r>
              <a:rPr lang="zh-CN" altLang="en-US" sz="2000" b="1" dirty="0"/>
              <a:t>（</a:t>
            </a:r>
            <a:r>
              <a:rPr lang="en-US" altLang="zh-CN" sz="2000" b="1" i="1" dirty="0">
                <a:latin typeface="Times New Roman" panose="02020603050405020304" pitchFamily="18" charset="0"/>
              </a:rPr>
              <a:t>r</a:t>
            </a:r>
            <a:r>
              <a:rPr lang="zh-CN" altLang="en-US" sz="2000" b="1" dirty="0"/>
              <a:t>））</a:t>
            </a:r>
            <a:r>
              <a:rPr lang="en-US" altLang="zh-CN" sz="2000" b="1" dirty="0"/>
              <a:t>= </a:t>
            </a:r>
            <a:r>
              <a:rPr lang="en-US" altLang="zh-CN" sz="2000" b="1" i="1" dirty="0">
                <a:latin typeface="Times New Roman" panose="02020603050405020304" pitchFamily="18" charset="0"/>
              </a:rPr>
              <a:t>m</a:t>
            </a:r>
            <a:r>
              <a:rPr lang="en-US" altLang="zh-CN" sz="2000" b="1" baseline="-20000" dirty="0">
                <a:latin typeface="Times New Roman" panose="02020603050405020304" pitchFamily="18" charset="0"/>
              </a:rPr>
              <a:t>ρ</a:t>
            </a:r>
            <a:r>
              <a:rPr lang="zh-CN" altLang="en-US" sz="2000" b="1" dirty="0"/>
              <a:t>（</a:t>
            </a:r>
            <a:r>
              <a:rPr lang="en-US" altLang="zh-CN" sz="2000" b="1" i="1" dirty="0">
                <a:latin typeface="Times New Roman" panose="02020603050405020304" pitchFamily="18" charset="0"/>
              </a:rPr>
              <a:t>r</a:t>
            </a:r>
            <a:r>
              <a:rPr lang="zh-CN" altLang="en-US" sz="2000" b="1" dirty="0"/>
              <a:t>），这个性质称为幂等性</a:t>
            </a:r>
            <a:r>
              <a:rPr lang="en-US" altLang="zh-CN" sz="2000" b="1" dirty="0"/>
              <a:t>(</a:t>
            </a:r>
            <a:r>
              <a:rPr lang="en-US" altLang="zh-CN" sz="2000" b="1" dirty="0">
                <a:latin typeface="Times New Roman" panose="02020603050405020304" pitchFamily="18" charset="0"/>
              </a:rPr>
              <a:t>Idempotent)</a:t>
            </a:r>
            <a:endParaRPr lang="zh-CN" altLang="en-US" sz="2000" b="1" dirty="0"/>
          </a:p>
        </p:txBody>
      </p:sp>
      <p:graphicFrame>
        <p:nvGraphicFramePr>
          <p:cNvPr id="277508" name="Object 4"/>
          <p:cNvGraphicFramePr>
            <a:graphicFrameLocks noGrp="1" noChangeAspect="1"/>
          </p:cNvGraphicFramePr>
          <p:nvPr>
            <p:ph sz="half" idx="2"/>
          </p:nvPr>
        </p:nvGraphicFramePr>
        <p:xfrm>
          <a:off x="2195513" y="2724150"/>
          <a:ext cx="4176712" cy="560388"/>
        </p:xfrm>
        <a:graphic>
          <a:graphicData uri="http://schemas.openxmlformats.org/presentationml/2006/ole">
            <mc:AlternateContent xmlns:mc="http://schemas.openxmlformats.org/markup-compatibility/2006">
              <mc:Choice xmlns:v="urn:schemas-microsoft-com:vml" Requires="v">
                <p:oleObj spid="_x0000_s3082" name="" r:id="rId1" imgW="1351915" imgH="223520" progId="Equation.DSMT4">
                  <p:embed/>
                </p:oleObj>
              </mc:Choice>
              <mc:Fallback>
                <p:oleObj name="" r:id="rId1" imgW="1351915" imgH="223520" progId="Equation.DSMT4">
                  <p:embed/>
                  <p:pic>
                    <p:nvPicPr>
                      <p:cNvPr id="0" name="Picture 3081"/>
                      <p:cNvPicPr/>
                      <p:nvPr/>
                    </p:nvPicPr>
                    <p:blipFill>
                      <a:blip r:embed="rId2"/>
                      <a:srcRect/>
                      <a:stretch>
                        <a:fillRect/>
                      </a:stretch>
                    </p:blipFill>
                    <p:spPr>
                      <a:xfrm>
                        <a:off x="2195513" y="2724150"/>
                        <a:ext cx="4176712" cy="560388"/>
                      </a:xfrm>
                      <a:prstGeom prst="rect">
                        <a:avLst/>
                      </a:prstGeom>
                      <a:solidFill>
                        <a:schemeClr val="bg1">
                          <a:alpha val="100000"/>
                        </a:schemeClr>
                      </a:solid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7508"/>
                                        </p:tgtEl>
                                        <p:attrNameLst>
                                          <p:attrName>style.visibility</p:attrName>
                                        </p:attrNameLst>
                                      </p:cBhvr>
                                      <p:to>
                                        <p:strVal val="visible"/>
                                      </p:to>
                                    </p:set>
                                    <p:anim calcmode="lin" valueType="num">
                                      <p:cBhvr additive="base">
                                        <p:cTn id="7" dur="500" fill="hold"/>
                                        <p:tgtEl>
                                          <p:spTgt spid="277508"/>
                                        </p:tgtEl>
                                        <p:attrNameLst>
                                          <p:attrName>ppt_x</p:attrName>
                                        </p:attrNameLst>
                                      </p:cBhvr>
                                      <p:tavLst>
                                        <p:tav tm="0">
                                          <p:val>
                                            <p:strVal val="0-#ppt_w/2"/>
                                          </p:val>
                                        </p:tav>
                                        <p:tav tm="100000">
                                          <p:val>
                                            <p:strVal val="#ppt_x"/>
                                          </p:val>
                                        </p:tav>
                                      </p:tavLst>
                                    </p:anim>
                                    <p:anim calcmode="lin" valueType="num">
                                      <p:cBhvr additive="base">
                                        <p:cTn id="8" dur="500" fill="hold"/>
                                        <p:tgtEl>
                                          <p:spTgt spid="2775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0834" name="Rectangle 2"/>
          <p:cNvSpPr>
            <a:spLocks noGrp="1"/>
          </p:cNvSpPr>
          <p:nvPr>
            <p:ph type="title"/>
          </p:nvPr>
        </p:nvSpPr>
        <p:spPr>
          <a:xfrm>
            <a:off x="1462088" y="758825"/>
            <a:ext cx="6829425" cy="487363"/>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无损联接分解</a:t>
            </a:r>
            <a:endParaRPr lang="zh-CN" altLang="en-US" sz="4000" b="1" dirty="0">
              <a:solidFill>
                <a:srgbClr val="E40000"/>
              </a:solidFill>
              <a:latin typeface="Arial" panose="020B0604020202020204" pitchFamily="34" charset="0"/>
            </a:endParaRPr>
          </a:p>
        </p:txBody>
      </p:sp>
      <p:sp>
        <p:nvSpPr>
          <p:cNvPr id="120835" name="Rectangle 3"/>
          <p:cNvSpPr>
            <a:spLocks noGrp="1"/>
          </p:cNvSpPr>
          <p:nvPr>
            <p:ph idx="1"/>
          </p:nvPr>
        </p:nvSpPr>
        <p:spPr>
          <a:xfrm>
            <a:off x="685800" y="1524000"/>
            <a:ext cx="7772400" cy="4648200"/>
          </a:xfrm>
          <a:ln/>
        </p:spPr>
        <p:txBody>
          <a:bodyPr vert="horz" wrap="square" lIns="91440" tIns="45720" rIns="91440" bIns="45720" anchor="t" anchorCtr="0"/>
          <a:p>
            <a:pPr marL="193675" indent="-193675" eaLnBrk="1" hangingPunct="1">
              <a:lnSpc>
                <a:spcPct val="80000"/>
              </a:lnSpc>
            </a:pPr>
            <a:r>
              <a:rPr lang="zh-CN" altLang="en-US" b="1" dirty="0"/>
              <a:t>由引理</a:t>
            </a:r>
            <a:r>
              <a:rPr lang="en-US" altLang="zh-CN" b="1" dirty="0"/>
              <a:t>4.4</a:t>
            </a:r>
            <a:r>
              <a:rPr lang="zh-CN" altLang="en-US" b="1" dirty="0"/>
              <a:t>可得到下面的结论：</a:t>
            </a:r>
            <a:endParaRPr lang="zh-CN" altLang="en-US" b="1" dirty="0"/>
          </a:p>
          <a:p>
            <a:pPr marL="193675" indent="-193675" eaLnBrk="1" hangingPunct="1">
              <a:lnSpc>
                <a:spcPct val="80000"/>
              </a:lnSpc>
            </a:pPr>
            <a:r>
              <a:rPr lang="zh-CN" altLang="en-US" b="1" dirty="0"/>
              <a:t>如果 </a:t>
            </a:r>
            <a:r>
              <a:rPr lang="en-US" altLang="zh-CN" b="1" dirty="0"/>
              <a:t>r≠ mρ(r) </a:t>
            </a:r>
            <a:r>
              <a:rPr lang="zh-CN" altLang="en-US" b="1" dirty="0"/>
              <a:t>，则</a:t>
            </a:r>
            <a:r>
              <a:rPr lang="en-US" altLang="zh-CN" b="1" dirty="0"/>
              <a:t>ρ</a:t>
            </a:r>
            <a:r>
              <a:rPr lang="zh-CN" altLang="en-US" b="1" dirty="0"/>
              <a:t>不是无损分解。</a:t>
            </a:r>
            <a:endParaRPr lang="zh-CN" altLang="en-US" b="1" dirty="0"/>
          </a:p>
          <a:p>
            <a:pPr marL="193675" indent="-193675" eaLnBrk="1" hangingPunct="1">
              <a:lnSpc>
                <a:spcPct val="80000"/>
              </a:lnSpc>
            </a:pPr>
            <a:r>
              <a:rPr lang="zh-CN" altLang="en-US" b="1" dirty="0"/>
              <a:t>由引理</a:t>
            </a:r>
            <a:r>
              <a:rPr lang="en-US" altLang="zh-CN" b="1" dirty="0"/>
              <a:t>4.4(1)</a:t>
            </a:r>
            <a:r>
              <a:rPr lang="zh-CN" altLang="en-US" b="1" dirty="0"/>
              <a:t>可知，</a:t>
            </a:r>
            <a:r>
              <a:rPr lang="en-US" altLang="zh-CN" b="1" dirty="0"/>
              <a:t>r</a:t>
            </a:r>
            <a:r>
              <a:rPr lang="zh-CN" altLang="en-US" b="1" dirty="0"/>
              <a:t>经过分解后再连接，如果</a:t>
            </a:r>
            <a:r>
              <a:rPr lang="en-US" altLang="zh-CN" b="1" dirty="0"/>
              <a:t>ρ</a:t>
            </a:r>
            <a:r>
              <a:rPr lang="zh-CN" altLang="en-US" b="1" dirty="0"/>
              <a:t>不是无损分解，则所得到的结果的元组数总比原来的</a:t>
            </a:r>
            <a:r>
              <a:rPr lang="en-US" altLang="zh-CN" b="1" dirty="0"/>
              <a:t>r</a:t>
            </a:r>
            <a:r>
              <a:rPr lang="zh-CN" altLang="en-US" b="1" dirty="0"/>
              <a:t>多，即所谓“</a:t>
            </a:r>
            <a:r>
              <a:rPr lang="zh-CN" altLang="en-US" b="1" u="sng" dirty="0"/>
              <a:t>元组增加，信息丢失</a:t>
            </a:r>
            <a:r>
              <a:rPr lang="en-US" altLang="zh-CN" b="1" dirty="0"/>
              <a:t>(</a:t>
            </a:r>
            <a:r>
              <a:rPr lang="zh-CN" altLang="en-US" b="1" dirty="0"/>
              <a:t>有损</a:t>
            </a:r>
            <a:r>
              <a:rPr lang="en-US" altLang="zh-CN" b="1" dirty="0"/>
              <a:t>)</a:t>
            </a:r>
            <a:r>
              <a:rPr lang="zh-CN" altLang="en-US" b="1" dirty="0"/>
              <a:t>！”</a:t>
            </a:r>
            <a:endParaRPr lang="zh-CN" altLang="en-US" b="1" dirty="0"/>
          </a:p>
          <a:p>
            <a:pPr marL="193675" indent="-193675" eaLnBrk="1" hangingPunct="1">
              <a:lnSpc>
                <a:spcPct val="80000"/>
              </a:lnSpc>
            </a:pPr>
            <a:r>
              <a:rPr lang="zh-CN" altLang="en-US" b="1" dirty="0"/>
              <a:t>由引理</a:t>
            </a:r>
            <a:r>
              <a:rPr lang="en-US" altLang="zh-CN" b="1" dirty="0"/>
              <a:t>4.4(2)</a:t>
            </a:r>
            <a:r>
              <a:rPr lang="zh-CN" altLang="en-US" b="1" dirty="0"/>
              <a:t>可知，对</a:t>
            </a:r>
            <a:r>
              <a:rPr lang="en-US" altLang="zh-CN" b="1" dirty="0"/>
              <a:t>r</a:t>
            </a:r>
            <a:r>
              <a:rPr lang="zh-CN" altLang="en-US" b="1" dirty="0"/>
              <a:t>进行</a:t>
            </a:r>
            <a:r>
              <a:rPr lang="en-US" altLang="zh-CN" b="1" dirty="0"/>
              <a:t>mρ(r)</a:t>
            </a:r>
            <a:r>
              <a:rPr lang="zh-CN" altLang="en-US" b="1" dirty="0"/>
              <a:t>变换后得到的</a:t>
            </a:r>
            <a:r>
              <a:rPr lang="en-US" altLang="zh-CN" b="1" dirty="0"/>
              <a:t>s</a:t>
            </a:r>
            <a:r>
              <a:rPr lang="zh-CN" altLang="en-US" b="1" dirty="0"/>
              <a:t>可满足条件：</a:t>
            </a:r>
            <a:endParaRPr lang="zh-CN" altLang="en-US" b="1" dirty="0"/>
          </a:p>
          <a:p>
            <a:pPr marL="193675" indent="-193675" eaLnBrk="1" hangingPunct="1">
              <a:lnSpc>
                <a:spcPct val="80000"/>
              </a:lnSpc>
              <a:buNone/>
            </a:pPr>
            <a:r>
              <a:rPr lang="zh-CN" altLang="en-US" b="1" dirty="0"/>
              <a:t>             </a:t>
            </a:r>
            <a:r>
              <a:rPr lang="en-US" altLang="zh-CN" b="1" dirty="0"/>
              <a:t>П</a:t>
            </a:r>
            <a:r>
              <a:rPr lang="en-US" altLang="zh-CN" sz="2000" b="1" dirty="0"/>
              <a:t>Ri</a:t>
            </a:r>
            <a:r>
              <a:rPr lang="en-US" altLang="zh-CN" b="1" dirty="0"/>
              <a:t>(s)= ri</a:t>
            </a:r>
            <a:endParaRPr lang="zh-CN" altLang="en-US" b="1" dirty="0"/>
          </a:p>
          <a:p>
            <a:pPr marL="193675" indent="-193675" eaLnBrk="1" hangingPunct="1">
              <a:lnSpc>
                <a:spcPct val="80000"/>
              </a:lnSpc>
            </a:pPr>
            <a:r>
              <a:rPr lang="zh-CN" altLang="en-US" b="1" dirty="0"/>
              <a:t>但必须注意：如果</a:t>
            </a:r>
            <a:r>
              <a:rPr lang="en-US" altLang="zh-CN" b="1" dirty="0"/>
              <a:t>ri</a:t>
            </a:r>
            <a:r>
              <a:rPr lang="zh-CN" altLang="en-US" b="1" dirty="0"/>
              <a:t>不是</a:t>
            </a:r>
            <a:r>
              <a:rPr lang="en-US" altLang="zh-CN" b="1" dirty="0"/>
              <a:t>r</a:t>
            </a:r>
            <a:r>
              <a:rPr lang="zh-CN" altLang="en-US" b="1" dirty="0"/>
              <a:t>的投影，而是独立的关系，则一般而言，连接后的关系</a:t>
            </a:r>
            <a:r>
              <a:rPr lang="en-US" altLang="zh-CN" b="1" dirty="0"/>
              <a:t>s</a:t>
            </a:r>
            <a:r>
              <a:rPr lang="zh-CN" altLang="en-US" b="1" dirty="0"/>
              <a:t>不再满足条件</a:t>
            </a:r>
            <a:r>
              <a:rPr lang="en-US" altLang="zh-CN" b="1" dirty="0"/>
              <a:t>П</a:t>
            </a:r>
            <a:r>
              <a:rPr lang="en-US" altLang="zh-CN" sz="2400" b="1" dirty="0"/>
              <a:t>Ri</a:t>
            </a:r>
            <a:r>
              <a:rPr lang="en-US" altLang="zh-CN" b="1" dirty="0"/>
              <a:t>(s)= ri</a:t>
            </a:r>
            <a:r>
              <a:rPr lang="zh-CN" altLang="en-US" b="1" dirty="0"/>
              <a:t>，而是</a:t>
            </a:r>
            <a:r>
              <a:rPr lang="en-US" altLang="zh-CN" b="1" dirty="0"/>
              <a:t>П</a:t>
            </a:r>
            <a:r>
              <a:rPr lang="en-US" altLang="zh-CN" sz="1800" b="1" dirty="0"/>
              <a:t>Ri</a:t>
            </a:r>
            <a:r>
              <a:rPr lang="en-US" altLang="zh-CN" b="1" dirty="0"/>
              <a:t>(s)</a:t>
            </a:r>
            <a:r>
              <a:rPr lang="en-US" altLang="zh-CN" b="1" dirty="0">
                <a:sym typeface="Symbol" panose="05050102010706020507" pitchFamily="18" charset="2"/>
              </a:rPr>
              <a:t></a:t>
            </a:r>
            <a:r>
              <a:rPr lang="en-US" altLang="zh-CN" b="1" dirty="0"/>
              <a:t> ri</a:t>
            </a:r>
            <a:endParaRPr lang="zh-CN" altLang="en-US" b="1"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2882"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无损联接分解</a:t>
            </a:r>
            <a:endParaRPr lang="zh-CN" altLang="en-US" sz="4000" b="1" dirty="0">
              <a:solidFill>
                <a:srgbClr val="E40000"/>
              </a:solidFill>
              <a:latin typeface="Arial" panose="020B0604020202020204" pitchFamily="34" charset="0"/>
            </a:endParaRPr>
          </a:p>
        </p:txBody>
      </p:sp>
      <p:sp>
        <p:nvSpPr>
          <p:cNvPr id="122883" name="Rectangle 3"/>
          <p:cNvSpPr>
            <a:spLocks noGrp="1"/>
          </p:cNvSpPr>
          <p:nvPr>
            <p:ph type="body" sz="half" idx="1"/>
          </p:nvPr>
        </p:nvSpPr>
        <p:spPr>
          <a:xfrm>
            <a:off x="684213" y="1700213"/>
            <a:ext cx="7704137" cy="1900237"/>
          </a:xfrm>
          <a:ln/>
        </p:spPr>
        <p:txBody>
          <a:bodyPr vert="horz" wrap="square" lIns="91440" tIns="45720" rIns="91440" bIns="45720" anchor="t" anchorCtr="0"/>
          <a:p>
            <a:pPr eaLnBrk="1" hangingPunct="1">
              <a:buClrTx/>
              <a:buSzTx/>
              <a:buFontTx/>
            </a:pPr>
            <a:r>
              <a:rPr lang="zh-CN" altLang="en-US" sz="2400" b="1" dirty="0"/>
              <a:t>例</a:t>
            </a:r>
            <a:r>
              <a:rPr lang="en-US" altLang="zh-CN" sz="2400" b="1" dirty="0"/>
              <a:t>:</a:t>
            </a:r>
            <a:r>
              <a:rPr lang="zh-CN" altLang="en-US" sz="2400" b="1" dirty="0"/>
              <a:t>设关系模式</a:t>
            </a:r>
            <a:r>
              <a:rPr lang="en-US" altLang="zh-CN" sz="2400" b="1" dirty="0"/>
              <a:t>R</a:t>
            </a:r>
            <a:r>
              <a:rPr lang="zh-CN" altLang="en-US" sz="2400" b="1" dirty="0"/>
              <a:t>（</a:t>
            </a:r>
            <a:r>
              <a:rPr lang="en-US" altLang="zh-CN" sz="2400" b="1" dirty="0"/>
              <a:t>ABC</a:t>
            </a:r>
            <a:r>
              <a:rPr lang="zh-CN" altLang="en-US" sz="2400" b="1" dirty="0"/>
              <a:t>）分解成</a:t>
            </a:r>
            <a:r>
              <a:rPr lang="en-US" altLang="zh-CN" sz="2400" b="1" dirty="0"/>
              <a:t>ρ=</a:t>
            </a:r>
            <a:r>
              <a:rPr lang="zh-CN" altLang="en-US" sz="2400" b="1" dirty="0"/>
              <a:t>｛ </a:t>
            </a:r>
            <a:r>
              <a:rPr lang="en-US" altLang="zh-CN" sz="2400" b="1" dirty="0"/>
              <a:t>AB</a:t>
            </a:r>
            <a:r>
              <a:rPr lang="zh-CN" altLang="en-US" sz="2400" b="1" dirty="0"/>
              <a:t>，</a:t>
            </a:r>
            <a:r>
              <a:rPr lang="en-US" altLang="zh-CN" sz="2400" b="1" dirty="0"/>
              <a:t>BC </a:t>
            </a:r>
            <a:r>
              <a:rPr lang="zh-CN" altLang="en-US" sz="2400" b="1" dirty="0"/>
              <a:t>｝</a:t>
            </a:r>
            <a:r>
              <a:rPr lang="en-US" altLang="zh-CN" sz="2400" b="1" dirty="0"/>
              <a:t>,</a:t>
            </a:r>
            <a:r>
              <a:rPr lang="zh-CN" altLang="en-US" sz="2400" b="1" dirty="0"/>
              <a:t>（</a:t>
            </a:r>
            <a:r>
              <a:rPr lang="en-US" altLang="zh-CN" sz="2400" b="1" dirty="0"/>
              <a:t>a</a:t>
            </a:r>
            <a:r>
              <a:rPr lang="zh-CN" altLang="en-US" sz="2400" b="1" dirty="0"/>
              <a:t>）和（</a:t>
            </a:r>
            <a:r>
              <a:rPr lang="en-US" altLang="zh-CN" sz="2400" b="1" dirty="0"/>
              <a:t>b</a:t>
            </a:r>
            <a:r>
              <a:rPr lang="zh-CN" altLang="en-US" sz="2400" b="1" dirty="0"/>
              <a:t>）分别是模式</a:t>
            </a:r>
            <a:r>
              <a:rPr lang="en-US" altLang="zh-CN" sz="2400" b="1" dirty="0"/>
              <a:t>AB</a:t>
            </a:r>
            <a:r>
              <a:rPr lang="zh-CN" altLang="en-US" sz="2400" b="1" dirty="0"/>
              <a:t>和</a:t>
            </a:r>
            <a:r>
              <a:rPr lang="en-US" altLang="zh-CN" sz="2400" b="1" dirty="0"/>
              <a:t>BC</a:t>
            </a:r>
            <a:r>
              <a:rPr lang="zh-CN" altLang="en-US" sz="2400" b="1" dirty="0"/>
              <a:t>上的值</a:t>
            </a:r>
            <a:r>
              <a:rPr lang="en-US" altLang="zh-CN" sz="2400" b="1" dirty="0"/>
              <a:t>r</a:t>
            </a:r>
            <a:r>
              <a:rPr lang="en-US" altLang="zh-CN" sz="2400" b="1" baseline="-16000" dirty="0"/>
              <a:t>1</a:t>
            </a:r>
            <a:r>
              <a:rPr lang="zh-CN" altLang="en-US" sz="2400" b="1" dirty="0"/>
              <a:t>和</a:t>
            </a:r>
            <a:r>
              <a:rPr lang="en-US" altLang="zh-CN" sz="2400" b="1" dirty="0"/>
              <a:t>r</a:t>
            </a:r>
            <a:r>
              <a:rPr lang="en-US" altLang="zh-CN" sz="2400" b="1" baseline="-16000" dirty="0"/>
              <a:t>2</a:t>
            </a:r>
            <a:r>
              <a:rPr lang="zh-CN" altLang="en-US" sz="2400" b="1" dirty="0"/>
              <a:t>，（</a:t>
            </a:r>
            <a:r>
              <a:rPr lang="en-US" altLang="zh-CN" sz="2400" b="1" dirty="0"/>
              <a:t>c</a:t>
            </a:r>
            <a:r>
              <a:rPr lang="zh-CN" altLang="en-US" sz="2400" b="1" dirty="0"/>
              <a:t>）是</a:t>
            </a:r>
            <a:r>
              <a:rPr lang="en-US" altLang="zh-CN" sz="2400" b="1" dirty="0"/>
              <a:t>r</a:t>
            </a:r>
            <a:r>
              <a:rPr lang="en-US" altLang="zh-CN" sz="2400" b="1" baseline="-16000" dirty="0"/>
              <a:t>1</a:t>
            </a:r>
            <a:r>
              <a:rPr lang="en-US" altLang="zh-CN" sz="2400" b="1" dirty="0"/>
              <a:t>⋈ r</a:t>
            </a:r>
            <a:r>
              <a:rPr lang="en-US" altLang="zh-CN" sz="2400" b="1" baseline="-16000" dirty="0"/>
              <a:t>2</a:t>
            </a:r>
            <a:r>
              <a:rPr lang="zh-CN" altLang="en-US" sz="2400" b="1" dirty="0"/>
              <a:t>的值。显然</a:t>
            </a:r>
            <a:r>
              <a:rPr lang="en-US" altLang="zh-CN" sz="2400" b="1" dirty="0"/>
              <a:t>π</a:t>
            </a:r>
            <a:r>
              <a:rPr lang="en-US" altLang="zh-CN" sz="2400" b="1" i="1" baseline="-16000" dirty="0">
                <a:latin typeface="Times New Roman" panose="02020603050405020304" pitchFamily="18" charset="0"/>
              </a:rPr>
              <a:t>BC</a:t>
            </a:r>
            <a:r>
              <a:rPr lang="zh-CN" altLang="en-US" sz="2400" b="1" dirty="0"/>
              <a:t>（</a:t>
            </a:r>
            <a:r>
              <a:rPr lang="en-US" altLang="zh-CN" sz="2400" b="1" dirty="0"/>
              <a:t>r</a:t>
            </a:r>
            <a:r>
              <a:rPr lang="en-US" altLang="zh-CN" sz="2400" b="1" baseline="-16000" dirty="0"/>
              <a:t>1</a:t>
            </a:r>
            <a:r>
              <a:rPr lang="en-US" altLang="zh-CN" sz="2400" b="1" dirty="0"/>
              <a:t>⋈ r</a:t>
            </a:r>
            <a:r>
              <a:rPr lang="en-US" altLang="zh-CN" sz="2400" b="1" baseline="-16000" dirty="0"/>
              <a:t>2</a:t>
            </a:r>
            <a:r>
              <a:rPr lang="zh-CN" altLang="en-US" sz="2400" b="1" dirty="0"/>
              <a:t>）</a:t>
            </a:r>
            <a:r>
              <a:rPr lang="en-US" altLang="zh-CN" sz="2400" b="1" dirty="0"/>
              <a:t>≠r</a:t>
            </a:r>
            <a:r>
              <a:rPr lang="en-US" altLang="zh-CN" sz="2400" b="1" baseline="-16000" dirty="0"/>
              <a:t>2</a:t>
            </a:r>
            <a:r>
              <a:rPr lang="zh-CN" altLang="en-US" sz="2400" b="1" dirty="0"/>
              <a:t>。这里</a:t>
            </a:r>
            <a:r>
              <a:rPr lang="en-US" altLang="zh-CN" sz="2400" b="1" dirty="0"/>
              <a:t>r</a:t>
            </a:r>
            <a:r>
              <a:rPr lang="en-US" altLang="zh-CN" sz="2400" b="1" baseline="-16000" dirty="0"/>
              <a:t>2</a:t>
            </a:r>
            <a:r>
              <a:rPr lang="zh-CN" altLang="en-US" sz="2400" b="1" dirty="0"/>
              <a:t>中元组（</a:t>
            </a:r>
            <a:r>
              <a:rPr lang="en-US" altLang="zh-CN" sz="2400" b="1" dirty="0"/>
              <a:t>b</a:t>
            </a:r>
            <a:r>
              <a:rPr lang="en-US" altLang="zh-CN" sz="2400" b="1" baseline="-16000" dirty="0"/>
              <a:t>2 </a:t>
            </a:r>
            <a:r>
              <a:rPr lang="en-US" altLang="zh-CN" sz="2400" b="1" dirty="0"/>
              <a:t>c</a:t>
            </a:r>
            <a:r>
              <a:rPr lang="en-US" altLang="zh-CN" sz="2400" b="1" baseline="-16000" dirty="0"/>
              <a:t>2</a:t>
            </a:r>
            <a:r>
              <a:rPr lang="zh-CN" altLang="en-US" sz="2400" b="1" dirty="0"/>
              <a:t>）就是一个悬挂元组，由于它的存在，使得</a:t>
            </a:r>
            <a:r>
              <a:rPr lang="en-US" altLang="zh-CN" sz="2400" b="1" dirty="0"/>
              <a:t>r</a:t>
            </a:r>
            <a:r>
              <a:rPr lang="en-US" altLang="zh-CN" sz="2400" b="1" baseline="-16000" dirty="0"/>
              <a:t>1</a:t>
            </a:r>
            <a:r>
              <a:rPr lang="zh-CN" altLang="en-US" sz="2400" b="1" dirty="0"/>
              <a:t>和</a:t>
            </a:r>
            <a:r>
              <a:rPr lang="en-US" altLang="zh-CN" sz="2400" b="1" dirty="0"/>
              <a:t>r</a:t>
            </a:r>
            <a:r>
              <a:rPr lang="en-US" altLang="zh-CN" sz="2400" b="1" baseline="-16000" dirty="0"/>
              <a:t>2</a:t>
            </a:r>
            <a:r>
              <a:rPr lang="zh-CN" altLang="en-US" sz="2400" b="1" dirty="0"/>
              <a:t>不存在泛关系</a:t>
            </a:r>
            <a:r>
              <a:rPr lang="en-US" altLang="zh-CN" sz="2400" b="1" dirty="0"/>
              <a:t>r</a:t>
            </a:r>
            <a:r>
              <a:rPr lang="zh-CN" altLang="en-US" sz="2400" b="1" dirty="0"/>
              <a:t> </a:t>
            </a:r>
            <a:endParaRPr lang="zh-CN" altLang="en-US" sz="2400" b="1" dirty="0"/>
          </a:p>
        </p:txBody>
      </p:sp>
      <p:sp>
        <p:nvSpPr>
          <p:cNvPr id="122884" name="Rectangle 4"/>
          <p:cNvSpPr/>
          <p:nvPr/>
        </p:nvSpPr>
        <p:spPr>
          <a:xfrm>
            <a:off x="563563" y="4351338"/>
            <a:ext cx="80962" cy="2889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r</a:t>
            </a:r>
            <a:endParaRPr lang="en-US" altLang="zh-CN" sz="1800" dirty="0">
              <a:latin typeface="Arial" panose="020B0604020202020204" pitchFamily="34" charset="0"/>
            </a:endParaRPr>
          </a:p>
        </p:txBody>
      </p:sp>
      <p:sp>
        <p:nvSpPr>
          <p:cNvPr id="122885" name="Line 5"/>
          <p:cNvSpPr/>
          <p:nvPr/>
        </p:nvSpPr>
        <p:spPr>
          <a:xfrm>
            <a:off x="533400" y="4719638"/>
            <a:ext cx="1438275" cy="4762"/>
          </a:xfrm>
          <a:prstGeom prst="line">
            <a:avLst/>
          </a:prstGeom>
          <a:ln w="9525" cap="flat" cmpd="sng">
            <a:solidFill>
              <a:schemeClr val="tx1"/>
            </a:solidFill>
            <a:prstDash val="solid"/>
            <a:headEnd type="none" w="med" len="med"/>
            <a:tailEnd type="none" w="med" len="med"/>
          </a:ln>
        </p:spPr>
      </p:sp>
      <p:sp>
        <p:nvSpPr>
          <p:cNvPr id="122886" name="Line 6"/>
          <p:cNvSpPr/>
          <p:nvPr/>
        </p:nvSpPr>
        <p:spPr>
          <a:xfrm>
            <a:off x="6249988" y="4648200"/>
            <a:ext cx="2436812" cy="4763"/>
          </a:xfrm>
          <a:prstGeom prst="line">
            <a:avLst/>
          </a:prstGeom>
          <a:ln w="9525" cap="flat" cmpd="sng">
            <a:solidFill>
              <a:schemeClr val="tx1"/>
            </a:solidFill>
            <a:prstDash val="solid"/>
            <a:headEnd type="none" w="med" len="med"/>
            <a:tailEnd type="none" w="med" len="med"/>
          </a:ln>
        </p:spPr>
      </p:sp>
      <p:grpSp>
        <p:nvGrpSpPr>
          <p:cNvPr id="122887" name="Group 7"/>
          <p:cNvGrpSpPr/>
          <p:nvPr/>
        </p:nvGrpSpPr>
        <p:grpSpPr>
          <a:xfrm>
            <a:off x="755650" y="4221163"/>
            <a:ext cx="7953375" cy="1524000"/>
            <a:chOff x="444" y="2688"/>
            <a:chExt cx="5010" cy="960"/>
          </a:xfrm>
        </p:grpSpPr>
        <p:sp>
          <p:nvSpPr>
            <p:cNvPr id="122888" name="Rectangle 8"/>
            <p:cNvSpPr/>
            <p:nvPr/>
          </p:nvSpPr>
          <p:spPr>
            <a:xfrm>
              <a:off x="444" y="2841"/>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22889" name="Rectangle 9"/>
            <p:cNvSpPr/>
            <p:nvPr/>
          </p:nvSpPr>
          <p:spPr>
            <a:xfrm>
              <a:off x="713" y="2741"/>
              <a:ext cx="10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A</a:t>
              </a:r>
              <a:endParaRPr lang="en-US" altLang="zh-CN" sz="1800" dirty="0">
                <a:latin typeface="Arial" panose="020B0604020202020204" pitchFamily="34" charset="0"/>
              </a:endParaRPr>
            </a:p>
          </p:txBody>
        </p:sp>
        <p:sp>
          <p:nvSpPr>
            <p:cNvPr id="122890" name="Rectangle 10"/>
            <p:cNvSpPr/>
            <p:nvPr/>
          </p:nvSpPr>
          <p:spPr>
            <a:xfrm>
              <a:off x="1071" y="2741"/>
              <a:ext cx="10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B</a:t>
              </a:r>
              <a:endParaRPr lang="en-US" altLang="zh-CN" sz="1800" dirty="0">
                <a:latin typeface="Arial" panose="020B0604020202020204" pitchFamily="34" charset="0"/>
              </a:endParaRPr>
            </a:p>
          </p:txBody>
        </p:sp>
        <p:sp>
          <p:nvSpPr>
            <p:cNvPr id="122891" name="Rectangle 11"/>
            <p:cNvSpPr/>
            <p:nvPr/>
          </p:nvSpPr>
          <p:spPr>
            <a:xfrm>
              <a:off x="2130" y="2741"/>
              <a:ext cx="5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r</a:t>
              </a:r>
              <a:endParaRPr lang="en-US" altLang="zh-CN" sz="1800" dirty="0">
                <a:latin typeface="Arial" panose="020B0604020202020204" pitchFamily="34" charset="0"/>
              </a:endParaRPr>
            </a:p>
          </p:txBody>
        </p:sp>
        <p:sp>
          <p:nvSpPr>
            <p:cNvPr id="122892" name="Rectangle 12"/>
            <p:cNvSpPr/>
            <p:nvPr/>
          </p:nvSpPr>
          <p:spPr>
            <a:xfrm>
              <a:off x="2219" y="2841"/>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2</a:t>
              </a:r>
              <a:endParaRPr lang="zh-CN" altLang="en-US" sz="1800" dirty="0">
                <a:latin typeface="Arial" panose="020B0604020202020204" pitchFamily="34" charset="0"/>
              </a:endParaRPr>
            </a:p>
          </p:txBody>
        </p:sp>
        <p:sp>
          <p:nvSpPr>
            <p:cNvPr id="122893" name="Rectangle 13"/>
            <p:cNvSpPr/>
            <p:nvPr/>
          </p:nvSpPr>
          <p:spPr>
            <a:xfrm>
              <a:off x="2488" y="2746"/>
              <a:ext cx="10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B</a:t>
              </a:r>
              <a:endParaRPr lang="en-US" altLang="zh-CN" sz="1800" dirty="0">
                <a:latin typeface="Arial" panose="020B0604020202020204" pitchFamily="34" charset="0"/>
              </a:endParaRPr>
            </a:p>
          </p:txBody>
        </p:sp>
        <p:sp>
          <p:nvSpPr>
            <p:cNvPr id="122894" name="Rectangle 14"/>
            <p:cNvSpPr/>
            <p:nvPr/>
          </p:nvSpPr>
          <p:spPr>
            <a:xfrm>
              <a:off x="2831" y="2746"/>
              <a:ext cx="110"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C</a:t>
              </a:r>
              <a:endParaRPr lang="en-US" altLang="zh-CN" sz="1800" dirty="0">
                <a:latin typeface="Arial" panose="020B0604020202020204" pitchFamily="34" charset="0"/>
              </a:endParaRPr>
            </a:p>
          </p:txBody>
        </p:sp>
        <p:sp>
          <p:nvSpPr>
            <p:cNvPr id="122895" name="Rectangle 15"/>
            <p:cNvSpPr/>
            <p:nvPr/>
          </p:nvSpPr>
          <p:spPr>
            <a:xfrm>
              <a:off x="4606" y="2741"/>
              <a:ext cx="10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A</a:t>
              </a:r>
              <a:endParaRPr lang="en-US" altLang="zh-CN" sz="1800" dirty="0">
                <a:latin typeface="Arial" panose="020B0604020202020204" pitchFamily="34" charset="0"/>
              </a:endParaRPr>
            </a:p>
          </p:txBody>
        </p:sp>
        <p:sp>
          <p:nvSpPr>
            <p:cNvPr id="122896" name="Rectangle 16"/>
            <p:cNvSpPr/>
            <p:nvPr/>
          </p:nvSpPr>
          <p:spPr>
            <a:xfrm>
              <a:off x="4949" y="2741"/>
              <a:ext cx="10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B</a:t>
              </a:r>
              <a:endParaRPr lang="en-US" altLang="zh-CN" sz="1800" dirty="0">
                <a:latin typeface="Arial" panose="020B0604020202020204" pitchFamily="34" charset="0"/>
              </a:endParaRPr>
            </a:p>
          </p:txBody>
        </p:sp>
        <p:sp>
          <p:nvSpPr>
            <p:cNvPr id="122897" name="Rectangle 17"/>
            <p:cNvSpPr/>
            <p:nvPr/>
          </p:nvSpPr>
          <p:spPr>
            <a:xfrm>
              <a:off x="5307" y="2741"/>
              <a:ext cx="110"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C</a:t>
              </a:r>
              <a:endParaRPr lang="en-US" altLang="zh-CN" sz="1800" dirty="0">
                <a:latin typeface="Arial" panose="020B0604020202020204" pitchFamily="34" charset="0"/>
              </a:endParaRPr>
            </a:p>
          </p:txBody>
        </p:sp>
        <p:grpSp>
          <p:nvGrpSpPr>
            <p:cNvPr id="122898" name="Group 18"/>
            <p:cNvGrpSpPr/>
            <p:nvPr/>
          </p:nvGrpSpPr>
          <p:grpSpPr>
            <a:xfrm>
              <a:off x="713" y="2976"/>
              <a:ext cx="505" cy="230"/>
              <a:chOff x="713" y="3034"/>
              <a:chExt cx="505" cy="230"/>
            </a:xfrm>
          </p:grpSpPr>
          <p:sp>
            <p:nvSpPr>
              <p:cNvPr id="122941" name="Rectangle 19"/>
              <p:cNvSpPr/>
              <p:nvPr/>
            </p:nvSpPr>
            <p:spPr>
              <a:xfrm>
                <a:off x="713" y="3034"/>
                <a:ext cx="85"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a</a:t>
                </a:r>
                <a:endParaRPr lang="en-US" altLang="zh-CN" sz="1800" dirty="0">
                  <a:latin typeface="Arial" panose="020B0604020202020204" pitchFamily="34" charset="0"/>
                </a:endParaRPr>
              </a:p>
            </p:txBody>
          </p:sp>
          <p:sp>
            <p:nvSpPr>
              <p:cNvPr id="122942" name="Rectangle 20"/>
              <p:cNvSpPr/>
              <p:nvPr/>
            </p:nvSpPr>
            <p:spPr>
              <a:xfrm>
                <a:off x="802" y="3139"/>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22943" name="Rectangle 21"/>
              <p:cNvSpPr/>
              <p:nvPr/>
            </p:nvSpPr>
            <p:spPr>
              <a:xfrm>
                <a:off x="1071" y="3034"/>
                <a:ext cx="85"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b</a:t>
                </a:r>
                <a:endParaRPr lang="en-US" altLang="zh-CN" sz="1800" dirty="0">
                  <a:latin typeface="Arial" panose="020B0604020202020204" pitchFamily="34" charset="0"/>
                </a:endParaRPr>
              </a:p>
            </p:txBody>
          </p:sp>
          <p:sp>
            <p:nvSpPr>
              <p:cNvPr id="122944" name="Rectangle 22"/>
              <p:cNvSpPr/>
              <p:nvPr/>
            </p:nvSpPr>
            <p:spPr>
              <a:xfrm>
                <a:off x="1160" y="3139"/>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grpSp>
        <p:sp>
          <p:nvSpPr>
            <p:cNvPr id="122899" name="Rectangle 23"/>
            <p:cNvSpPr/>
            <p:nvPr/>
          </p:nvSpPr>
          <p:spPr>
            <a:xfrm>
              <a:off x="4606" y="2932"/>
              <a:ext cx="85"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a</a:t>
              </a:r>
              <a:endParaRPr lang="en-US" altLang="zh-CN" sz="1800" dirty="0">
                <a:latin typeface="Arial" panose="020B0604020202020204" pitchFamily="34" charset="0"/>
              </a:endParaRPr>
            </a:p>
          </p:txBody>
        </p:sp>
        <p:sp>
          <p:nvSpPr>
            <p:cNvPr id="122900" name="Rectangle 24"/>
            <p:cNvSpPr/>
            <p:nvPr/>
          </p:nvSpPr>
          <p:spPr>
            <a:xfrm>
              <a:off x="4695" y="2992"/>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22901" name="Rectangle 25"/>
            <p:cNvSpPr/>
            <p:nvPr/>
          </p:nvSpPr>
          <p:spPr>
            <a:xfrm>
              <a:off x="4949" y="2928"/>
              <a:ext cx="85"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b</a:t>
              </a:r>
              <a:endParaRPr lang="en-US" altLang="zh-CN" sz="1800" dirty="0">
                <a:latin typeface="Arial" panose="020B0604020202020204" pitchFamily="34" charset="0"/>
              </a:endParaRPr>
            </a:p>
          </p:txBody>
        </p:sp>
        <p:sp>
          <p:nvSpPr>
            <p:cNvPr id="122902" name="Rectangle 26"/>
            <p:cNvSpPr/>
            <p:nvPr/>
          </p:nvSpPr>
          <p:spPr>
            <a:xfrm>
              <a:off x="5038" y="2992"/>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22903" name="Rectangle 27"/>
            <p:cNvSpPr/>
            <p:nvPr/>
          </p:nvSpPr>
          <p:spPr>
            <a:xfrm>
              <a:off x="5307" y="2932"/>
              <a:ext cx="76"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c</a:t>
              </a:r>
              <a:endParaRPr lang="en-US" altLang="zh-CN" sz="1800" dirty="0">
                <a:latin typeface="Arial" panose="020B0604020202020204" pitchFamily="34" charset="0"/>
              </a:endParaRPr>
            </a:p>
          </p:txBody>
        </p:sp>
        <p:sp>
          <p:nvSpPr>
            <p:cNvPr id="122904" name="Rectangle 28"/>
            <p:cNvSpPr/>
            <p:nvPr/>
          </p:nvSpPr>
          <p:spPr>
            <a:xfrm>
              <a:off x="5396" y="2992"/>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grpSp>
          <p:nvGrpSpPr>
            <p:cNvPr id="122905" name="Group 29"/>
            <p:cNvGrpSpPr/>
            <p:nvPr/>
          </p:nvGrpSpPr>
          <p:grpSpPr>
            <a:xfrm>
              <a:off x="2488" y="2976"/>
              <a:ext cx="490" cy="363"/>
              <a:chOff x="2488" y="2891"/>
              <a:chExt cx="490" cy="363"/>
            </a:xfrm>
          </p:grpSpPr>
          <p:sp>
            <p:nvSpPr>
              <p:cNvPr id="122932" name="Rectangle 30"/>
              <p:cNvSpPr/>
              <p:nvPr/>
            </p:nvSpPr>
            <p:spPr>
              <a:xfrm>
                <a:off x="2488" y="2891"/>
                <a:ext cx="85"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b</a:t>
                </a:r>
                <a:endParaRPr lang="en-US" altLang="zh-CN" sz="1800" dirty="0">
                  <a:latin typeface="Arial" panose="020B0604020202020204" pitchFamily="34" charset="0"/>
                </a:endParaRPr>
              </a:p>
            </p:txBody>
          </p:sp>
          <p:sp>
            <p:nvSpPr>
              <p:cNvPr id="122933" name="Rectangle 31"/>
              <p:cNvSpPr/>
              <p:nvPr/>
            </p:nvSpPr>
            <p:spPr>
              <a:xfrm>
                <a:off x="2831" y="2891"/>
                <a:ext cx="76"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c</a:t>
                </a:r>
                <a:endParaRPr lang="en-US" altLang="zh-CN" sz="1800" dirty="0">
                  <a:latin typeface="Arial" panose="020B0604020202020204" pitchFamily="34" charset="0"/>
                </a:endParaRPr>
              </a:p>
            </p:txBody>
          </p:sp>
          <p:sp>
            <p:nvSpPr>
              <p:cNvPr id="122934" name="Rectangle 32"/>
              <p:cNvSpPr/>
              <p:nvPr/>
            </p:nvSpPr>
            <p:spPr>
              <a:xfrm>
                <a:off x="2920" y="2992"/>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22935" name="Rectangle 33"/>
              <p:cNvSpPr/>
              <p:nvPr/>
            </p:nvSpPr>
            <p:spPr>
              <a:xfrm>
                <a:off x="2496" y="3029"/>
                <a:ext cx="85"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b</a:t>
                </a:r>
                <a:endParaRPr lang="en-US" altLang="zh-CN" sz="1800" dirty="0">
                  <a:latin typeface="Arial" panose="020B0604020202020204" pitchFamily="34" charset="0"/>
                </a:endParaRPr>
              </a:p>
            </p:txBody>
          </p:sp>
          <p:grpSp>
            <p:nvGrpSpPr>
              <p:cNvPr id="122936" name="Group 34"/>
              <p:cNvGrpSpPr/>
              <p:nvPr/>
            </p:nvGrpSpPr>
            <p:grpSpPr>
              <a:xfrm>
                <a:off x="2562" y="2992"/>
                <a:ext cx="345" cy="262"/>
                <a:chOff x="2562" y="2992"/>
                <a:chExt cx="345" cy="262"/>
              </a:xfrm>
            </p:grpSpPr>
            <p:sp>
              <p:nvSpPr>
                <p:cNvPr id="122938" name="Rectangle 35"/>
                <p:cNvSpPr/>
                <p:nvPr/>
              </p:nvSpPr>
              <p:spPr>
                <a:xfrm>
                  <a:off x="2562" y="2992"/>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22939" name="Rectangle 36"/>
                <p:cNvSpPr/>
                <p:nvPr/>
              </p:nvSpPr>
              <p:spPr>
                <a:xfrm>
                  <a:off x="2607" y="3129"/>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2</a:t>
                  </a:r>
                  <a:endParaRPr lang="zh-CN" altLang="en-US" sz="1800" dirty="0">
                    <a:latin typeface="Arial" panose="020B0604020202020204" pitchFamily="34" charset="0"/>
                  </a:endParaRPr>
                </a:p>
              </p:txBody>
            </p:sp>
            <p:sp>
              <p:nvSpPr>
                <p:cNvPr id="122940" name="Rectangle 37"/>
                <p:cNvSpPr/>
                <p:nvPr/>
              </p:nvSpPr>
              <p:spPr>
                <a:xfrm>
                  <a:off x="2831" y="3029"/>
                  <a:ext cx="76"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c</a:t>
                  </a:r>
                  <a:endParaRPr lang="en-US" altLang="zh-CN" sz="1800" dirty="0">
                    <a:latin typeface="Arial" panose="020B0604020202020204" pitchFamily="34" charset="0"/>
                  </a:endParaRPr>
                </a:p>
              </p:txBody>
            </p:sp>
          </p:grpSp>
          <p:sp>
            <p:nvSpPr>
              <p:cNvPr id="122937" name="Rectangle 38"/>
              <p:cNvSpPr/>
              <p:nvPr/>
            </p:nvSpPr>
            <p:spPr>
              <a:xfrm>
                <a:off x="2920" y="3129"/>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2</a:t>
                </a:r>
                <a:endParaRPr lang="zh-CN" altLang="en-US" sz="1800" dirty="0">
                  <a:latin typeface="Arial" panose="020B0604020202020204" pitchFamily="34" charset="0"/>
                </a:endParaRPr>
              </a:p>
            </p:txBody>
          </p:sp>
        </p:grpSp>
        <p:grpSp>
          <p:nvGrpSpPr>
            <p:cNvPr id="122906" name="Group 39"/>
            <p:cNvGrpSpPr/>
            <p:nvPr/>
          </p:nvGrpSpPr>
          <p:grpSpPr>
            <a:xfrm>
              <a:off x="510" y="3467"/>
              <a:ext cx="648" cy="181"/>
              <a:chOff x="370" y="3179"/>
              <a:chExt cx="648" cy="181"/>
            </a:xfrm>
          </p:grpSpPr>
          <p:sp>
            <p:nvSpPr>
              <p:cNvPr id="122930" name="Rectangle 40"/>
              <p:cNvSpPr/>
              <p:nvPr/>
            </p:nvSpPr>
            <p:spPr>
              <a:xfrm>
                <a:off x="370" y="3179"/>
                <a:ext cx="626"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600" dirty="0">
                    <a:solidFill>
                      <a:srgbClr val="000000"/>
                    </a:solidFill>
                    <a:latin typeface="ËÎÌå"/>
                  </a:rPr>
                  <a:t>（</a:t>
                </a:r>
                <a:r>
                  <a:rPr lang="en-US" altLang="zh-CN" sz="1600" dirty="0">
                    <a:solidFill>
                      <a:srgbClr val="000000"/>
                    </a:solidFill>
                    <a:latin typeface="ËÎÌå"/>
                  </a:rPr>
                  <a:t>a）</a:t>
                </a:r>
                <a:r>
                  <a:rPr lang="zh-CN" altLang="en-US" sz="1600" dirty="0">
                    <a:solidFill>
                      <a:srgbClr val="000000"/>
                    </a:solidFill>
                    <a:latin typeface="ËÎÌå"/>
                  </a:rPr>
                  <a:t>关系</a:t>
                </a:r>
                <a:r>
                  <a:rPr lang="en-US" altLang="zh-CN" sz="1600" dirty="0">
                    <a:solidFill>
                      <a:srgbClr val="000000"/>
                    </a:solidFill>
                    <a:latin typeface="ËÎÌå"/>
                  </a:rPr>
                  <a:t>r</a:t>
                </a:r>
                <a:endParaRPr lang="en-US" altLang="zh-CN" sz="1600" dirty="0">
                  <a:latin typeface="Arial" panose="020B0604020202020204" pitchFamily="34" charset="0"/>
                </a:endParaRPr>
              </a:p>
            </p:txBody>
          </p:sp>
          <p:sp>
            <p:nvSpPr>
              <p:cNvPr id="122931" name="Rectangle 41"/>
              <p:cNvSpPr/>
              <p:nvPr/>
            </p:nvSpPr>
            <p:spPr>
              <a:xfrm>
                <a:off x="960" y="3235"/>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grpSp>
        <p:grpSp>
          <p:nvGrpSpPr>
            <p:cNvPr id="122907" name="Group 42"/>
            <p:cNvGrpSpPr/>
            <p:nvPr/>
          </p:nvGrpSpPr>
          <p:grpSpPr>
            <a:xfrm>
              <a:off x="2322" y="3438"/>
              <a:ext cx="708" cy="210"/>
              <a:chOff x="2130" y="3179"/>
              <a:chExt cx="708" cy="210"/>
            </a:xfrm>
          </p:grpSpPr>
          <p:sp>
            <p:nvSpPr>
              <p:cNvPr id="122928" name="Rectangle 43"/>
              <p:cNvSpPr/>
              <p:nvPr/>
            </p:nvSpPr>
            <p:spPr>
              <a:xfrm>
                <a:off x="2130" y="3179"/>
                <a:ext cx="634"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600" dirty="0">
                    <a:solidFill>
                      <a:srgbClr val="000000"/>
                    </a:solidFill>
                    <a:latin typeface="ËÎÌå"/>
                  </a:rPr>
                  <a:t>（</a:t>
                </a:r>
                <a:r>
                  <a:rPr lang="en-US" altLang="zh-CN" sz="1600" dirty="0">
                    <a:solidFill>
                      <a:srgbClr val="000000"/>
                    </a:solidFill>
                    <a:latin typeface="ËÎÌå"/>
                  </a:rPr>
                  <a:t>b）</a:t>
                </a:r>
                <a:r>
                  <a:rPr lang="zh-CN" altLang="en-US" sz="1600" dirty="0">
                    <a:solidFill>
                      <a:srgbClr val="000000"/>
                    </a:solidFill>
                    <a:latin typeface="ËÎÌå"/>
                  </a:rPr>
                  <a:t>关系</a:t>
                </a:r>
                <a:r>
                  <a:rPr lang="en-US" altLang="zh-CN" sz="1900" dirty="0">
                    <a:solidFill>
                      <a:srgbClr val="000000"/>
                    </a:solidFill>
                    <a:latin typeface="ËÎÌå"/>
                  </a:rPr>
                  <a:t>r</a:t>
                </a:r>
                <a:endParaRPr lang="en-US" altLang="zh-CN" sz="1800" dirty="0">
                  <a:latin typeface="Arial" panose="020B0604020202020204" pitchFamily="34" charset="0"/>
                </a:endParaRPr>
              </a:p>
            </p:txBody>
          </p:sp>
          <p:sp>
            <p:nvSpPr>
              <p:cNvPr id="122929" name="Rectangle 44"/>
              <p:cNvSpPr/>
              <p:nvPr/>
            </p:nvSpPr>
            <p:spPr>
              <a:xfrm>
                <a:off x="2780" y="3264"/>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2</a:t>
                </a:r>
                <a:endParaRPr lang="zh-CN" altLang="en-US" sz="1800" dirty="0">
                  <a:latin typeface="Arial" panose="020B0604020202020204" pitchFamily="34" charset="0"/>
                </a:endParaRPr>
              </a:p>
            </p:txBody>
          </p:sp>
        </p:grpSp>
        <p:sp>
          <p:nvSpPr>
            <p:cNvPr id="122908" name="Line 45"/>
            <p:cNvSpPr/>
            <p:nvPr/>
          </p:nvSpPr>
          <p:spPr>
            <a:xfrm>
              <a:off x="2112" y="2973"/>
              <a:ext cx="904" cy="3"/>
            </a:xfrm>
            <a:prstGeom prst="line">
              <a:avLst/>
            </a:prstGeom>
            <a:ln w="9525" cap="flat" cmpd="sng">
              <a:solidFill>
                <a:schemeClr val="tx1"/>
              </a:solidFill>
              <a:prstDash val="solid"/>
              <a:headEnd type="none" w="med" len="med"/>
              <a:tailEnd type="none" w="med" len="med"/>
            </a:ln>
          </p:spPr>
        </p:sp>
        <p:grpSp>
          <p:nvGrpSpPr>
            <p:cNvPr id="122909" name="Group 46"/>
            <p:cNvGrpSpPr/>
            <p:nvPr/>
          </p:nvGrpSpPr>
          <p:grpSpPr>
            <a:xfrm>
              <a:off x="4030" y="2688"/>
              <a:ext cx="440" cy="225"/>
              <a:chOff x="3890" y="2741"/>
              <a:chExt cx="440" cy="225"/>
            </a:xfrm>
          </p:grpSpPr>
          <p:sp>
            <p:nvSpPr>
              <p:cNvPr id="122922" name="Rectangle 47"/>
              <p:cNvSpPr/>
              <p:nvPr/>
            </p:nvSpPr>
            <p:spPr>
              <a:xfrm>
                <a:off x="3890" y="2741"/>
                <a:ext cx="5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r</a:t>
                </a:r>
                <a:endParaRPr lang="en-US" altLang="zh-CN" sz="1800" dirty="0">
                  <a:latin typeface="Arial" panose="020B0604020202020204" pitchFamily="34" charset="0"/>
                </a:endParaRPr>
              </a:p>
            </p:txBody>
          </p:sp>
          <p:sp>
            <p:nvSpPr>
              <p:cNvPr id="122923" name="Rectangle 48"/>
              <p:cNvSpPr/>
              <p:nvPr/>
            </p:nvSpPr>
            <p:spPr>
              <a:xfrm>
                <a:off x="4221" y="2741"/>
                <a:ext cx="5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r</a:t>
                </a:r>
                <a:endParaRPr lang="en-US" altLang="zh-CN" sz="1800" dirty="0">
                  <a:latin typeface="Arial" panose="020B0604020202020204" pitchFamily="34" charset="0"/>
                </a:endParaRPr>
              </a:p>
            </p:txBody>
          </p:sp>
          <p:grpSp>
            <p:nvGrpSpPr>
              <p:cNvPr id="122924" name="Group 49"/>
              <p:cNvGrpSpPr/>
              <p:nvPr/>
            </p:nvGrpSpPr>
            <p:grpSpPr>
              <a:xfrm>
                <a:off x="3936" y="2784"/>
                <a:ext cx="394" cy="182"/>
                <a:chOff x="3936" y="2784"/>
                <a:chExt cx="394" cy="182"/>
              </a:xfrm>
            </p:grpSpPr>
            <p:sp>
              <p:nvSpPr>
                <p:cNvPr id="122925" name="Rectangle 50"/>
                <p:cNvSpPr/>
                <p:nvPr/>
              </p:nvSpPr>
              <p:spPr>
                <a:xfrm>
                  <a:off x="3936" y="2841"/>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22926" name="Rectangle 51"/>
                <p:cNvSpPr/>
                <p:nvPr/>
              </p:nvSpPr>
              <p:spPr>
                <a:xfrm>
                  <a:off x="4272" y="2841"/>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2</a:t>
                  </a:r>
                  <a:endParaRPr lang="zh-CN" altLang="en-US" sz="1800" dirty="0">
                    <a:latin typeface="Arial" panose="020B0604020202020204" pitchFamily="34" charset="0"/>
                  </a:endParaRPr>
                </a:p>
              </p:txBody>
            </p:sp>
            <p:pic>
              <p:nvPicPr>
                <p:cNvPr id="122927" name="Picture 52" descr="fuhao1"/>
                <p:cNvPicPr>
                  <a:picLocks noChangeAspect="1"/>
                </p:cNvPicPr>
                <p:nvPr/>
              </p:nvPicPr>
              <p:blipFill>
                <a:blip r:embed="rId1"/>
                <a:stretch>
                  <a:fillRect/>
                </a:stretch>
              </p:blipFill>
              <p:spPr>
                <a:xfrm>
                  <a:off x="3984" y="2784"/>
                  <a:ext cx="240" cy="145"/>
                </a:xfrm>
                <a:prstGeom prst="rect">
                  <a:avLst/>
                </a:prstGeom>
                <a:noFill/>
                <a:ln w="9525">
                  <a:noFill/>
                </a:ln>
              </p:spPr>
            </p:pic>
          </p:grpSp>
        </p:grpSp>
        <p:grpSp>
          <p:nvGrpSpPr>
            <p:cNvPr id="122910" name="Group 53"/>
            <p:cNvGrpSpPr/>
            <p:nvPr/>
          </p:nvGrpSpPr>
          <p:grpSpPr>
            <a:xfrm>
              <a:off x="4296" y="3423"/>
              <a:ext cx="798" cy="225"/>
              <a:chOff x="4248" y="3135"/>
              <a:chExt cx="798" cy="225"/>
            </a:xfrm>
          </p:grpSpPr>
          <p:sp>
            <p:nvSpPr>
              <p:cNvPr id="122914" name="Rectangle 54"/>
              <p:cNvSpPr/>
              <p:nvPr/>
            </p:nvSpPr>
            <p:spPr>
              <a:xfrm>
                <a:off x="4248" y="3179"/>
                <a:ext cx="320"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600" dirty="0">
                    <a:solidFill>
                      <a:srgbClr val="000000"/>
                    </a:solidFill>
                    <a:latin typeface="ËÎÌå"/>
                  </a:rPr>
                  <a:t>（</a:t>
                </a:r>
                <a:r>
                  <a:rPr lang="en-US" altLang="zh-CN" sz="1600" dirty="0">
                    <a:solidFill>
                      <a:srgbClr val="000000"/>
                    </a:solidFill>
                    <a:latin typeface="ËÎÌå"/>
                  </a:rPr>
                  <a:t>c）</a:t>
                </a:r>
                <a:endParaRPr lang="en-US" altLang="zh-CN" sz="1600" dirty="0">
                  <a:latin typeface="Arial" panose="020B0604020202020204" pitchFamily="34" charset="0"/>
                </a:endParaRPr>
              </a:p>
            </p:txBody>
          </p:sp>
          <p:grpSp>
            <p:nvGrpSpPr>
              <p:cNvPr id="122915" name="Group 55"/>
              <p:cNvGrpSpPr/>
              <p:nvPr/>
            </p:nvGrpSpPr>
            <p:grpSpPr>
              <a:xfrm>
                <a:off x="4606" y="3135"/>
                <a:ext cx="440" cy="225"/>
                <a:chOff x="3890" y="2741"/>
                <a:chExt cx="440" cy="225"/>
              </a:xfrm>
            </p:grpSpPr>
            <p:sp>
              <p:nvSpPr>
                <p:cNvPr id="122916" name="Rectangle 56"/>
                <p:cNvSpPr/>
                <p:nvPr/>
              </p:nvSpPr>
              <p:spPr>
                <a:xfrm>
                  <a:off x="3890" y="2741"/>
                  <a:ext cx="5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r</a:t>
                  </a:r>
                  <a:endParaRPr lang="en-US" altLang="zh-CN" sz="1800" dirty="0">
                    <a:latin typeface="Arial" panose="020B0604020202020204" pitchFamily="34" charset="0"/>
                  </a:endParaRPr>
                </a:p>
              </p:txBody>
            </p:sp>
            <p:sp>
              <p:nvSpPr>
                <p:cNvPr id="122917" name="Rectangle 57"/>
                <p:cNvSpPr/>
                <p:nvPr/>
              </p:nvSpPr>
              <p:spPr>
                <a:xfrm>
                  <a:off x="4221" y="2741"/>
                  <a:ext cx="51"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en-US" altLang="zh-CN" sz="1900" dirty="0">
                      <a:solidFill>
                        <a:srgbClr val="000000"/>
                      </a:solidFill>
                      <a:latin typeface="ËÎÌå"/>
                    </a:rPr>
                    <a:t>r</a:t>
                  </a:r>
                  <a:endParaRPr lang="en-US" altLang="zh-CN" sz="1800" dirty="0">
                    <a:latin typeface="Arial" panose="020B0604020202020204" pitchFamily="34" charset="0"/>
                  </a:endParaRPr>
                </a:p>
              </p:txBody>
            </p:sp>
            <p:grpSp>
              <p:nvGrpSpPr>
                <p:cNvPr id="122918" name="Group 58"/>
                <p:cNvGrpSpPr/>
                <p:nvPr/>
              </p:nvGrpSpPr>
              <p:grpSpPr>
                <a:xfrm>
                  <a:off x="3936" y="2784"/>
                  <a:ext cx="394" cy="182"/>
                  <a:chOff x="3936" y="2784"/>
                  <a:chExt cx="394" cy="182"/>
                </a:xfrm>
              </p:grpSpPr>
              <p:sp>
                <p:nvSpPr>
                  <p:cNvPr id="122919" name="Rectangle 59"/>
                  <p:cNvSpPr/>
                  <p:nvPr/>
                </p:nvSpPr>
                <p:spPr>
                  <a:xfrm>
                    <a:off x="3936" y="2841"/>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1</a:t>
                    </a:r>
                    <a:endParaRPr lang="zh-CN" altLang="en-US" sz="1800" dirty="0">
                      <a:latin typeface="Arial" panose="020B0604020202020204" pitchFamily="34" charset="0"/>
                    </a:endParaRPr>
                  </a:p>
                </p:txBody>
              </p:sp>
              <p:sp>
                <p:nvSpPr>
                  <p:cNvPr id="122920" name="Rectangle 60"/>
                  <p:cNvSpPr/>
                  <p:nvPr/>
                </p:nvSpPr>
                <p:spPr>
                  <a:xfrm>
                    <a:off x="4272" y="2841"/>
                    <a:ext cx="58" cy="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300" dirty="0">
                        <a:solidFill>
                          <a:srgbClr val="000000"/>
                        </a:solidFill>
                        <a:latin typeface="ËÎÌå"/>
                      </a:rPr>
                      <a:t>2</a:t>
                    </a:r>
                    <a:endParaRPr lang="zh-CN" altLang="en-US" sz="1800" dirty="0">
                      <a:latin typeface="Arial" panose="020B0604020202020204" pitchFamily="34" charset="0"/>
                    </a:endParaRPr>
                  </a:p>
                </p:txBody>
              </p:sp>
              <p:pic>
                <p:nvPicPr>
                  <p:cNvPr id="122921" name="Picture 61" descr="fuhao1"/>
                  <p:cNvPicPr>
                    <a:picLocks noChangeAspect="1"/>
                  </p:cNvPicPr>
                  <p:nvPr/>
                </p:nvPicPr>
                <p:blipFill>
                  <a:blip r:embed="rId1"/>
                  <a:stretch>
                    <a:fillRect/>
                  </a:stretch>
                </p:blipFill>
                <p:spPr>
                  <a:xfrm>
                    <a:off x="3984" y="2784"/>
                    <a:ext cx="240" cy="145"/>
                  </a:xfrm>
                  <a:prstGeom prst="rect">
                    <a:avLst/>
                  </a:prstGeom>
                  <a:noFill/>
                  <a:ln w="9525">
                    <a:noFill/>
                  </a:ln>
                </p:spPr>
              </p:pic>
            </p:grpSp>
          </p:grpSp>
        </p:grpSp>
        <p:sp>
          <p:nvSpPr>
            <p:cNvPr id="122911" name="Line 62"/>
            <p:cNvSpPr/>
            <p:nvPr/>
          </p:nvSpPr>
          <p:spPr>
            <a:xfrm>
              <a:off x="576" y="2784"/>
              <a:ext cx="0" cy="480"/>
            </a:xfrm>
            <a:prstGeom prst="line">
              <a:avLst/>
            </a:prstGeom>
            <a:ln w="9525" cap="flat" cmpd="sng">
              <a:solidFill>
                <a:schemeClr val="tx1"/>
              </a:solidFill>
              <a:prstDash val="solid"/>
              <a:headEnd type="none" w="med" len="med"/>
              <a:tailEnd type="none" w="med" len="med"/>
            </a:ln>
          </p:spPr>
        </p:sp>
        <p:sp>
          <p:nvSpPr>
            <p:cNvPr id="122912" name="Line 63"/>
            <p:cNvSpPr/>
            <p:nvPr/>
          </p:nvSpPr>
          <p:spPr>
            <a:xfrm>
              <a:off x="2352" y="2784"/>
              <a:ext cx="0" cy="576"/>
            </a:xfrm>
            <a:prstGeom prst="line">
              <a:avLst/>
            </a:prstGeom>
            <a:ln w="9525" cap="flat" cmpd="sng">
              <a:solidFill>
                <a:schemeClr val="tx1"/>
              </a:solidFill>
              <a:prstDash val="solid"/>
              <a:headEnd type="none" w="med" len="med"/>
              <a:tailEnd type="none" w="med" len="med"/>
            </a:ln>
          </p:spPr>
        </p:sp>
        <p:sp>
          <p:nvSpPr>
            <p:cNvPr id="122913" name="Line 64"/>
            <p:cNvSpPr/>
            <p:nvPr/>
          </p:nvSpPr>
          <p:spPr>
            <a:xfrm>
              <a:off x="4512" y="2736"/>
              <a:ext cx="0" cy="432"/>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4930"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无损分解的判别方法</a:t>
            </a:r>
            <a:endParaRPr lang="zh-CN" altLang="en-US" sz="4000" b="1" dirty="0">
              <a:solidFill>
                <a:srgbClr val="E40000"/>
              </a:solidFill>
              <a:latin typeface="Arial" panose="020B0604020202020204" pitchFamily="34" charset="0"/>
            </a:endParaRPr>
          </a:p>
        </p:txBody>
      </p:sp>
      <p:sp>
        <p:nvSpPr>
          <p:cNvPr id="124931" name="Rectangle 3"/>
          <p:cNvSpPr>
            <a:spLocks noGrp="1"/>
          </p:cNvSpPr>
          <p:nvPr>
            <p:ph idx="1"/>
          </p:nvPr>
        </p:nvSpPr>
        <p:spPr>
          <a:xfrm>
            <a:off x="539750" y="1600200"/>
            <a:ext cx="7993063" cy="4525963"/>
          </a:xfrm>
          <a:ln/>
        </p:spPr>
        <p:txBody>
          <a:bodyPr vert="horz" wrap="square" lIns="91440" tIns="45720" rIns="91440" bIns="45720" anchor="t" anchorCtr="0"/>
          <a:p>
            <a:pPr marL="533400" indent="-533400" eaLnBrk="1" hangingPunct="1">
              <a:lnSpc>
                <a:spcPct val="80000"/>
              </a:lnSpc>
              <a:buFontTx/>
              <a:buAutoNum type="arabicPeriod"/>
            </a:pPr>
            <a:r>
              <a:rPr lang="zh-CN" altLang="en-US" sz="2400" b="1" dirty="0"/>
              <a:t>构造一张</a:t>
            </a:r>
            <a:r>
              <a:rPr lang="en-US" altLang="zh-CN" sz="2400" b="1" i="1" dirty="0">
                <a:latin typeface="Times New Roman" panose="02020603050405020304" pitchFamily="18" charset="0"/>
              </a:rPr>
              <a:t>k</a:t>
            </a:r>
            <a:r>
              <a:rPr lang="zh-CN" altLang="en-US" sz="2400" b="1" dirty="0"/>
              <a:t>行</a:t>
            </a:r>
            <a:r>
              <a:rPr lang="en-US" altLang="zh-CN" sz="2400" b="1" i="1" dirty="0">
                <a:latin typeface="Times New Roman" panose="02020603050405020304" pitchFamily="18" charset="0"/>
              </a:rPr>
              <a:t>n</a:t>
            </a:r>
            <a:r>
              <a:rPr lang="zh-CN" altLang="en-US" sz="2400" b="1" dirty="0"/>
              <a:t>列的表格，每列对应一个属性</a:t>
            </a:r>
            <a:r>
              <a:rPr lang="en-US" altLang="zh-CN" sz="2400" b="1" i="1" dirty="0">
                <a:latin typeface="Times New Roman" panose="02020603050405020304" pitchFamily="18" charset="0"/>
              </a:rPr>
              <a:t>A</a:t>
            </a:r>
            <a:r>
              <a:rPr lang="en-US" altLang="zh-CN" sz="2400" b="1" i="1" baseline="-16000" dirty="0">
                <a:latin typeface="Times New Roman" panose="02020603050405020304" pitchFamily="18" charset="0"/>
              </a:rPr>
              <a:t>j</a:t>
            </a:r>
            <a:r>
              <a:rPr lang="zh-CN" altLang="en-US" sz="2400" b="1" dirty="0"/>
              <a:t>（</a:t>
            </a:r>
            <a:r>
              <a:rPr lang="en-US" altLang="zh-CN" sz="2400" b="1" dirty="0"/>
              <a:t>1≤</a:t>
            </a:r>
            <a:r>
              <a:rPr lang="en-US" altLang="zh-CN" sz="2400" b="1" i="1" dirty="0">
                <a:latin typeface="Times New Roman" panose="02020603050405020304" pitchFamily="18" charset="0"/>
              </a:rPr>
              <a:t>j</a:t>
            </a:r>
            <a:r>
              <a:rPr lang="en-US" altLang="zh-CN" sz="2400" b="1" dirty="0"/>
              <a:t>≤</a:t>
            </a:r>
            <a:r>
              <a:rPr lang="en-US" altLang="zh-CN" sz="2400" b="1" i="1" dirty="0">
                <a:latin typeface="Times New Roman" panose="02020603050405020304" pitchFamily="18" charset="0"/>
              </a:rPr>
              <a:t>n</a:t>
            </a:r>
            <a:r>
              <a:rPr lang="zh-CN" altLang="en-US" sz="2400" b="1" dirty="0"/>
              <a:t>），每行对应一个模式</a:t>
            </a:r>
            <a:r>
              <a:rPr lang="en-US" altLang="zh-CN" sz="2400" b="1" i="1" dirty="0">
                <a:latin typeface="Times New Roman" panose="02020603050405020304" pitchFamily="18" charset="0"/>
              </a:rPr>
              <a:t>R</a:t>
            </a:r>
            <a:r>
              <a:rPr lang="en-US" altLang="zh-CN" sz="2400" b="1" i="1" baseline="-16000" dirty="0">
                <a:latin typeface="Times New Roman" panose="02020603050405020304" pitchFamily="18" charset="0"/>
              </a:rPr>
              <a:t>i</a:t>
            </a:r>
            <a:r>
              <a:rPr lang="zh-CN" altLang="en-US" sz="2400" b="1" dirty="0"/>
              <a:t>（</a:t>
            </a:r>
            <a:r>
              <a:rPr lang="en-US" altLang="zh-CN" sz="2400" b="1" dirty="0"/>
              <a:t>1≤</a:t>
            </a:r>
            <a:r>
              <a:rPr lang="en-US" altLang="zh-CN" sz="2400" b="1" i="1" dirty="0">
                <a:latin typeface="Times New Roman" panose="02020603050405020304" pitchFamily="18" charset="0"/>
              </a:rPr>
              <a:t>i</a:t>
            </a:r>
            <a:r>
              <a:rPr lang="en-US" altLang="zh-CN" sz="2400" b="1" dirty="0"/>
              <a:t>≤</a:t>
            </a:r>
            <a:r>
              <a:rPr lang="en-US" altLang="zh-CN" sz="2400" b="1" i="1" dirty="0">
                <a:latin typeface="Times New Roman" panose="02020603050405020304" pitchFamily="18" charset="0"/>
              </a:rPr>
              <a:t>k</a:t>
            </a:r>
            <a:r>
              <a:rPr lang="zh-CN" altLang="en-US" sz="2400" b="1" dirty="0"/>
              <a:t>）。如果</a:t>
            </a:r>
            <a:r>
              <a:rPr lang="en-US" altLang="zh-CN" sz="2400" b="1" i="1" dirty="0">
                <a:latin typeface="Times New Roman" panose="02020603050405020304" pitchFamily="18" charset="0"/>
              </a:rPr>
              <a:t>A</a:t>
            </a:r>
            <a:r>
              <a:rPr lang="en-US" altLang="zh-CN" sz="2400" b="1" i="1" baseline="-16000" dirty="0">
                <a:latin typeface="Times New Roman" panose="02020603050405020304" pitchFamily="18" charset="0"/>
              </a:rPr>
              <a:t>j</a:t>
            </a:r>
            <a:r>
              <a:rPr lang="zh-CN" altLang="en-US" sz="2400" b="1" dirty="0"/>
              <a:t>在</a:t>
            </a:r>
            <a:r>
              <a:rPr lang="en-US" altLang="zh-CN" sz="2400" b="1" dirty="0"/>
              <a:t>R</a:t>
            </a:r>
            <a:r>
              <a:rPr lang="en-US" altLang="zh-CN" sz="2400" b="1" i="1" baseline="-16000" dirty="0">
                <a:latin typeface="Times New Roman" panose="02020603050405020304" pitchFamily="18" charset="0"/>
              </a:rPr>
              <a:t>i</a:t>
            </a:r>
            <a:r>
              <a:rPr lang="zh-CN" altLang="en-US" sz="2400" b="1" dirty="0"/>
              <a:t>中，那么在表格的第</a:t>
            </a:r>
            <a:r>
              <a:rPr lang="en-US" altLang="zh-CN" sz="2400" b="1" i="1" dirty="0">
                <a:latin typeface="Times New Roman" panose="02020603050405020304" pitchFamily="18" charset="0"/>
              </a:rPr>
              <a:t>i</a:t>
            </a:r>
            <a:r>
              <a:rPr lang="zh-CN" altLang="en-US" sz="2400" b="1" dirty="0"/>
              <a:t>行第</a:t>
            </a:r>
            <a:r>
              <a:rPr lang="en-US" altLang="zh-CN" sz="2400" b="1" i="1" dirty="0">
                <a:latin typeface="Times New Roman" panose="02020603050405020304" pitchFamily="18" charset="0"/>
              </a:rPr>
              <a:t>j</a:t>
            </a:r>
            <a:r>
              <a:rPr lang="zh-CN" altLang="en-US" sz="2400" b="1" dirty="0"/>
              <a:t>列处填上符号</a:t>
            </a:r>
            <a:r>
              <a:rPr lang="en-US" altLang="zh-CN" sz="2400" b="1" i="1" dirty="0">
                <a:latin typeface="Times New Roman" panose="02020603050405020304" pitchFamily="18" charset="0"/>
              </a:rPr>
              <a:t>a</a:t>
            </a:r>
            <a:r>
              <a:rPr lang="en-US" altLang="zh-CN" sz="2400" b="1" i="1" baseline="-16000" dirty="0">
                <a:latin typeface="Times New Roman" panose="02020603050405020304" pitchFamily="18" charset="0"/>
              </a:rPr>
              <a:t>j</a:t>
            </a:r>
            <a:r>
              <a:rPr lang="zh-CN" altLang="en-US" sz="2400" b="1" dirty="0"/>
              <a:t>，否则填上</a:t>
            </a:r>
            <a:r>
              <a:rPr lang="en-US" altLang="zh-CN" sz="2400" b="1" i="1" dirty="0">
                <a:latin typeface="Times New Roman" panose="02020603050405020304" pitchFamily="18" charset="0"/>
              </a:rPr>
              <a:t>b</a:t>
            </a:r>
            <a:r>
              <a:rPr lang="en-US" altLang="zh-CN" sz="2400" b="1" i="1" baseline="-16000" dirty="0">
                <a:latin typeface="Times New Roman" panose="02020603050405020304" pitchFamily="18" charset="0"/>
              </a:rPr>
              <a:t>ij</a:t>
            </a:r>
            <a:endParaRPr lang="zh-CN" altLang="en-US" sz="2400" b="1" dirty="0"/>
          </a:p>
          <a:p>
            <a:pPr marL="533400" indent="-533400" eaLnBrk="1" hangingPunct="1">
              <a:lnSpc>
                <a:spcPct val="80000"/>
              </a:lnSpc>
              <a:buClr>
                <a:schemeClr val="tx1"/>
              </a:buClr>
              <a:buFontTx/>
              <a:buAutoNum type="arabicPeriod"/>
            </a:pPr>
            <a:r>
              <a:rPr lang="zh-CN" altLang="en-US" sz="2400" b="1" dirty="0"/>
              <a:t>把表格看成模式</a:t>
            </a:r>
            <a:r>
              <a:rPr lang="en-US" altLang="zh-CN" sz="2400" b="1" i="1" dirty="0">
                <a:latin typeface="Times New Roman" panose="02020603050405020304" pitchFamily="18" charset="0"/>
              </a:rPr>
              <a:t>R</a:t>
            </a:r>
            <a:r>
              <a:rPr lang="zh-CN" altLang="en-US" sz="2400" b="1" dirty="0"/>
              <a:t>的一个关系，反复检查</a:t>
            </a:r>
            <a:r>
              <a:rPr lang="en-US" altLang="zh-CN" sz="2400" b="1" dirty="0"/>
              <a:t>F</a:t>
            </a:r>
            <a:r>
              <a:rPr lang="zh-CN" altLang="en-US" sz="2400" b="1" dirty="0"/>
              <a:t>中每个</a:t>
            </a:r>
            <a:r>
              <a:rPr lang="en-US" altLang="zh-CN" sz="2400" b="1" dirty="0"/>
              <a:t>FD</a:t>
            </a:r>
            <a:r>
              <a:rPr lang="zh-CN" altLang="en-US" sz="2400" b="1" dirty="0"/>
              <a:t>在表格中是否成立，若不成立，则修改表格中的值。修改方法如下：对于</a:t>
            </a:r>
            <a:r>
              <a:rPr lang="en-US" altLang="zh-CN" sz="2400" b="1" dirty="0"/>
              <a:t>F</a:t>
            </a:r>
            <a:r>
              <a:rPr lang="zh-CN" altLang="en-US" sz="2400" b="1" dirty="0"/>
              <a:t>中一个</a:t>
            </a:r>
            <a:r>
              <a:rPr lang="en-US" altLang="zh-CN" sz="2400" b="1" dirty="0"/>
              <a:t>FD X→Y</a:t>
            </a:r>
            <a:r>
              <a:rPr lang="zh-CN" altLang="en-US" sz="2400" b="1" dirty="0"/>
              <a:t>，如果表格中有两行在</a:t>
            </a:r>
            <a:r>
              <a:rPr lang="en-US" altLang="zh-CN" sz="2400" b="1" dirty="0"/>
              <a:t>X</a:t>
            </a:r>
            <a:r>
              <a:rPr lang="zh-CN" altLang="en-US" sz="2400" b="1" dirty="0"/>
              <a:t>值上相等，在</a:t>
            </a:r>
            <a:r>
              <a:rPr lang="en-US" altLang="zh-CN" sz="2400" b="1" dirty="0"/>
              <a:t>Y</a:t>
            </a:r>
            <a:r>
              <a:rPr lang="zh-CN" altLang="en-US" sz="2400" b="1" dirty="0"/>
              <a:t>值上不相等，那么把这两行在</a:t>
            </a:r>
            <a:r>
              <a:rPr lang="en-US" altLang="zh-CN" sz="2400" b="1" dirty="0"/>
              <a:t>Y</a:t>
            </a:r>
            <a:r>
              <a:rPr lang="zh-CN" altLang="en-US" sz="2400" b="1" dirty="0"/>
              <a:t>值上也改成相等的值。如果</a:t>
            </a:r>
            <a:r>
              <a:rPr lang="en-US" altLang="zh-CN" sz="2400" b="1" dirty="0"/>
              <a:t>Y</a:t>
            </a:r>
            <a:r>
              <a:rPr lang="zh-CN" altLang="en-US" sz="2400" b="1" dirty="0"/>
              <a:t>值中有一个是</a:t>
            </a:r>
            <a:r>
              <a:rPr lang="en-US" altLang="zh-CN" sz="2400" b="1" i="1" dirty="0">
                <a:latin typeface="Times New Roman" panose="02020603050405020304" pitchFamily="18" charset="0"/>
              </a:rPr>
              <a:t>a</a:t>
            </a:r>
            <a:r>
              <a:rPr lang="en-US" altLang="zh-CN" sz="2400" b="1" i="1" baseline="-16000" dirty="0">
                <a:latin typeface="Times New Roman" panose="02020603050405020304" pitchFamily="18" charset="0"/>
              </a:rPr>
              <a:t>j</a:t>
            </a:r>
            <a:r>
              <a:rPr lang="zh-CN" altLang="en-US" sz="2400" b="1" dirty="0"/>
              <a:t>，那么另一个也改成</a:t>
            </a:r>
            <a:r>
              <a:rPr lang="en-US" altLang="zh-CN" sz="2400" b="1" i="1" dirty="0">
                <a:latin typeface="Times New Roman" panose="02020603050405020304" pitchFamily="18" charset="0"/>
              </a:rPr>
              <a:t>a</a:t>
            </a:r>
            <a:r>
              <a:rPr lang="en-US" altLang="zh-CN" sz="2400" b="1" i="1" baseline="-16000" dirty="0">
                <a:latin typeface="Times New Roman" panose="02020603050405020304" pitchFamily="18" charset="0"/>
              </a:rPr>
              <a:t>j</a:t>
            </a:r>
            <a:r>
              <a:rPr lang="zh-CN" altLang="en-US" sz="2400" b="1" dirty="0"/>
              <a:t>；如果没有</a:t>
            </a:r>
            <a:r>
              <a:rPr lang="en-US" altLang="zh-CN" sz="2400" b="1" i="1" dirty="0">
                <a:latin typeface="Times New Roman" panose="02020603050405020304" pitchFamily="18" charset="0"/>
              </a:rPr>
              <a:t>a</a:t>
            </a:r>
            <a:r>
              <a:rPr lang="en-US" altLang="zh-CN" sz="2400" b="1" i="1" baseline="-16000" dirty="0">
                <a:latin typeface="Times New Roman" panose="02020603050405020304" pitchFamily="18" charset="0"/>
              </a:rPr>
              <a:t>j</a:t>
            </a:r>
            <a:r>
              <a:rPr lang="zh-CN" altLang="en-US" sz="2400" b="1" dirty="0"/>
              <a:t>，那么用其中一个</a:t>
            </a:r>
            <a:r>
              <a:rPr lang="en-US" altLang="zh-CN" sz="2400" b="1" i="1" dirty="0">
                <a:latin typeface="Times New Roman" panose="02020603050405020304" pitchFamily="18" charset="0"/>
              </a:rPr>
              <a:t>b</a:t>
            </a:r>
            <a:r>
              <a:rPr lang="en-US" altLang="zh-CN" sz="2400" b="1" i="1" baseline="-16000" dirty="0">
                <a:latin typeface="Times New Roman" panose="02020603050405020304" pitchFamily="18" charset="0"/>
              </a:rPr>
              <a:t>ij</a:t>
            </a:r>
            <a:r>
              <a:rPr lang="zh-CN" altLang="en-US" sz="2400" b="1" dirty="0"/>
              <a:t>替换另一个值（尽量把下标</a:t>
            </a:r>
            <a:r>
              <a:rPr lang="en-US" altLang="zh-CN" sz="2400" b="1" dirty="0"/>
              <a:t>ij</a:t>
            </a:r>
            <a:r>
              <a:rPr lang="zh-CN" altLang="en-US" sz="2400" b="1" dirty="0"/>
              <a:t>改成较小的数）。一直到表格不能修改为止（这个过程称为</a:t>
            </a:r>
            <a:r>
              <a:rPr lang="en-US" altLang="zh-CN" sz="2400" b="1" dirty="0"/>
              <a:t>chase</a:t>
            </a:r>
            <a:r>
              <a:rPr lang="zh-CN" altLang="en-US" sz="2400" b="1" dirty="0"/>
              <a:t>过程）</a:t>
            </a:r>
            <a:endParaRPr lang="zh-CN" altLang="en-US" sz="2400" b="1" dirty="0"/>
          </a:p>
          <a:p>
            <a:pPr marL="533400" indent="-533400" eaLnBrk="1" hangingPunct="1">
              <a:lnSpc>
                <a:spcPct val="80000"/>
              </a:lnSpc>
              <a:buClr>
                <a:schemeClr val="tx1"/>
              </a:buClr>
              <a:buFontTx/>
              <a:buAutoNum type="arabicPeriod"/>
            </a:pPr>
            <a:r>
              <a:rPr lang="zh-CN" altLang="en-US" sz="2400" b="1" dirty="0"/>
              <a:t>若修改的最后一张表格中有一行是全</a:t>
            </a:r>
            <a:r>
              <a:rPr lang="en-US" altLang="zh-CN" sz="2400" b="1" i="1" dirty="0">
                <a:latin typeface="Times New Roman" panose="02020603050405020304" pitchFamily="18" charset="0"/>
              </a:rPr>
              <a:t>a</a:t>
            </a:r>
            <a:r>
              <a:rPr lang="zh-CN" altLang="en-US" sz="2400" b="1" dirty="0"/>
              <a:t>，即</a:t>
            </a:r>
            <a:r>
              <a:rPr lang="en-US" altLang="zh-CN" sz="2400" b="1" i="1" dirty="0">
                <a:latin typeface="Times New Roman" panose="02020603050405020304" pitchFamily="18" charset="0"/>
              </a:rPr>
              <a:t>a</a:t>
            </a:r>
            <a:r>
              <a:rPr lang="en-US" altLang="zh-CN" sz="2400" b="1" baseline="-16000" dirty="0">
                <a:latin typeface="Times New Roman" panose="02020603050405020304" pitchFamily="18" charset="0"/>
              </a:rPr>
              <a:t>1</a:t>
            </a:r>
            <a:r>
              <a:rPr lang="en-US" altLang="zh-CN" sz="2400" b="1" i="1" dirty="0">
                <a:latin typeface="Times New Roman" panose="02020603050405020304" pitchFamily="18" charset="0"/>
              </a:rPr>
              <a:t>a</a:t>
            </a:r>
            <a:r>
              <a:rPr lang="en-US" altLang="zh-CN" sz="2400" b="1" baseline="-16000" dirty="0">
                <a:latin typeface="Times New Roman" panose="02020603050405020304" pitchFamily="18" charset="0"/>
              </a:rPr>
              <a:t>2</a:t>
            </a:r>
            <a:r>
              <a:rPr lang="en-US" altLang="zh-CN" sz="2400" b="1" dirty="0"/>
              <a:t>…</a:t>
            </a:r>
            <a:r>
              <a:rPr lang="en-US" altLang="zh-CN" sz="2400" b="1" i="1" dirty="0">
                <a:latin typeface="Times New Roman" panose="02020603050405020304" pitchFamily="18" charset="0"/>
              </a:rPr>
              <a:t>a</a:t>
            </a:r>
            <a:r>
              <a:rPr lang="en-US" altLang="zh-CN" sz="2400" b="1" i="1" baseline="-16000" dirty="0">
                <a:latin typeface="Times New Roman" panose="02020603050405020304" pitchFamily="18" charset="0"/>
              </a:rPr>
              <a:t>n</a:t>
            </a:r>
            <a:r>
              <a:rPr lang="zh-CN" altLang="en-US" sz="2400" b="1" dirty="0"/>
              <a:t>，那么称</a:t>
            </a:r>
            <a:r>
              <a:rPr lang="en-US" altLang="zh-CN" sz="2400" b="1" dirty="0"/>
              <a:t>ρ</a:t>
            </a:r>
            <a:r>
              <a:rPr lang="zh-CN" altLang="en-US" sz="2400" b="1" dirty="0"/>
              <a:t>相对于</a:t>
            </a:r>
            <a:r>
              <a:rPr lang="en-US" altLang="zh-CN" sz="2400" b="1" dirty="0"/>
              <a:t>F</a:t>
            </a:r>
            <a:r>
              <a:rPr lang="zh-CN" altLang="en-US" sz="2400" b="1" dirty="0"/>
              <a:t>是无损分解，否则称损失分解 </a:t>
            </a:r>
            <a:endParaRPr lang="zh-CN" altLang="en-US" sz="24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6978"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无损分解的判别算法</a:t>
            </a:r>
            <a:endParaRPr lang="zh-CN" altLang="en-US" sz="4000" b="1" dirty="0">
              <a:solidFill>
                <a:srgbClr val="E40000"/>
              </a:solidFill>
              <a:latin typeface="Arial" panose="020B0604020202020204" pitchFamily="34" charset="0"/>
            </a:endParaRPr>
          </a:p>
        </p:txBody>
      </p:sp>
      <p:sp>
        <p:nvSpPr>
          <p:cNvPr id="126979" name="Rectangle 3"/>
          <p:cNvSpPr>
            <a:spLocks noGrp="1"/>
          </p:cNvSpPr>
          <p:nvPr>
            <p:ph idx="1"/>
          </p:nvPr>
        </p:nvSpPr>
        <p:spPr>
          <a:xfrm>
            <a:off x="685800" y="1524000"/>
            <a:ext cx="8207375" cy="4648200"/>
          </a:xfrm>
          <a:ln/>
        </p:spPr>
        <p:txBody>
          <a:bodyPr vert="horz" wrap="square" lIns="91440" tIns="45720" rIns="91440" bIns="45720" anchor="t" anchorCtr="0"/>
          <a:p>
            <a:pPr marL="193675" indent="-193675" eaLnBrk="1" hangingPunct="1"/>
            <a:r>
              <a:rPr lang="zh-CN" altLang="en-US" sz="2400" b="1" dirty="0"/>
              <a:t>算法</a:t>
            </a:r>
            <a:r>
              <a:rPr lang="en-US" altLang="zh-CN" sz="2400" b="1" dirty="0"/>
              <a:t>4.3: </a:t>
            </a:r>
            <a:r>
              <a:rPr lang="zh-CN" altLang="en-US" sz="2400" b="1" dirty="0"/>
              <a:t>检验一个分解是否无损连接分解</a:t>
            </a:r>
            <a:endParaRPr lang="zh-CN" altLang="en-US" sz="2400" b="1" dirty="0"/>
          </a:p>
          <a:p>
            <a:pPr marL="193675" indent="-193675" eaLnBrk="1" hangingPunct="1"/>
            <a:r>
              <a:rPr lang="zh-CN" altLang="en-US" sz="2400" b="1" dirty="0"/>
              <a:t>输入：关系模式</a:t>
            </a:r>
            <a:r>
              <a:rPr lang="en-US" altLang="zh-CN" sz="2400" b="1" dirty="0"/>
              <a:t>R(A1,…,An);R</a:t>
            </a:r>
            <a:r>
              <a:rPr lang="zh-CN" altLang="en-US" sz="2400" b="1" dirty="0"/>
              <a:t>上的函数依赖集</a:t>
            </a:r>
            <a:r>
              <a:rPr lang="en-US" altLang="zh-CN" sz="2400" b="1" dirty="0"/>
              <a:t>F</a:t>
            </a:r>
            <a:r>
              <a:rPr lang="zh-CN" altLang="en-US" sz="2400" b="1" dirty="0"/>
              <a:t>；</a:t>
            </a:r>
            <a:endParaRPr lang="zh-CN" altLang="en-US" sz="2400" b="1" dirty="0"/>
          </a:p>
          <a:p>
            <a:pPr marL="193675" indent="-193675" eaLnBrk="1" hangingPunct="1">
              <a:buNone/>
            </a:pPr>
            <a:r>
              <a:rPr lang="zh-CN" altLang="en-US" sz="2400" b="1" dirty="0"/>
              <a:t>        </a:t>
            </a:r>
            <a:r>
              <a:rPr lang="en-US" altLang="zh-CN" sz="2400" b="1" dirty="0"/>
              <a:t>R</a:t>
            </a:r>
            <a:r>
              <a:rPr lang="zh-CN" altLang="en-US" sz="2400" b="1" dirty="0"/>
              <a:t>的一个分解</a:t>
            </a:r>
            <a:r>
              <a:rPr lang="en-US" altLang="zh-CN" sz="2400" b="1" dirty="0"/>
              <a:t>ρ={R1,R2,…,Rk}</a:t>
            </a:r>
            <a:r>
              <a:rPr lang="zh-CN" altLang="en-US" sz="2400" b="1" dirty="0"/>
              <a:t>；</a:t>
            </a:r>
            <a:endParaRPr lang="zh-CN" altLang="en-US" sz="2400" b="1" dirty="0"/>
          </a:p>
          <a:p>
            <a:pPr marL="193675" indent="-193675" eaLnBrk="1" hangingPunct="1"/>
            <a:r>
              <a:rPr lang="zh-CN" altLang="en-US" sz="2400" b="1" dirty="0"/>
              <a:t>输出： </a:t>
            </a:r>
            <a:r>
              <a:rPr lang="en-US" altLang="zh-CN" sz="2400" b="1" dirty="0"/>
              <a:t>ρ</a:t>
            </a:r>
            <a:r>
              <a:rPr lang="zh-CN" altLang="en-US" sz="2400" b="1" dirty="0"/>
              <a:t>是否无损连接分解</a:t>
            </a:r>
            <a:endParaRPr lang="zh-CN" altLang="en-US" sz="2400" b="1" dirty="0"/>
          </a:p>
          <a:p>
            <a:pPr marL="193675" indent="-193675" eaLnBrk="1" hangingPunct="1"/>
            <a:r>
              <a:rPr lang="zh-CN" altLang="en-US" sz="2400" b="1" dirty="0"/>
              <a:t>方法</a:t>
            </a:r>
            <a:r>
              <a:rPr lang="zh-CN" altLang="en-US" sz="2400" b="1" dirty="0">
                <a:sym typeface="Wingdings" panose="05000000000000000000" pitchFamily="2" charset="2"/>
              </a:rPr>
              <a:t>： （</a:t>
            </a:r>
            <a:r>
              <a:rPr lang="en-US" altLang="zh-CN" sz="2400" b="1" dirty="0">
                <a:sym typeface="Wingdings" panose="05000000000000000000" pitchFamily="2" charset="2"/>
              </a:rPr>
              <a:t>1</a:t>
            </a:r>
            <a:r>
              <a:rPr lang="zh-CN" altLang="en-US" sz="2400" b="1" dirty="0">
                <a:sym typeface="Wingdings" panose="05000000000000000000" pitchFamily="2" charset="2"/>
              </a:rPr>
              <a:t>）建立一个</a:t>
            </a:r>
            <a:r>
              <a:rPr lang="en-US" altLang="zh-CN" sz="2400" b="1" dirty="0">
                <a:sym typeface="Wingdings" panose="05000000000000000000" pitchFamily="2" charset="2"/>
              </a:rPr>
              <a:t>n</a:t>
            </a:r>
            <a:r>
              <a:rPr lang="zh-CN" altLang="en-US" sz="2400" b="1" dirty="0">
                <a:sym typeface="Wingdings" panose="05000000000000000000" pitchFamily="2" charset="2"/>
              </a:rPr>
              <a:t>列、</a:t>
            </a:r>
            <a:r>
              <a:rPr lang="en-US" altLang="zh-CN" sz="2400" b="1" dirty="0">
                <a:sym typeface="Wingdings" panose="05000000000000000000" pitchFamily="2" charset="2"/>
              </a:rPr>
              <a:t>k</a:t>
            </a:r>
            <a:r>
              <a:rPr lang="zh-CN" altLang="en-US" sz="2400" b="1" dirty="0">
                <a:sym typeface="Wingdings" panose="05000000000000000000" pitchFamily="2" charset="2"/>
              </a:rPr>
              <a:t>行的符号表</a:t>
            </a:r>
            <a:r>
              <a:rPr lang="en-US" altLang="zh-CN" sz="2400" b="1" dirty="0">
                <a:sym typeface="Wingdings" panose="05000000000000000000" pitchFamily="2" charset="2"/>
              </a:rPr>
              <a:t>M </a:t>
            </a:r>
            <a:r>
              <a:rPr lang="zh-CN" altLang="en-US" sz="2400" b="1" dirty="0">
                <a:sym typeface="Wingdings" panose="05000000000000000000" pitchFamily="2" charset="2"/>
              </a:rPr>
              <a:t>：</a:t>
            </a:r>
            <a:endParaRPr lang="zh-CN" altLang="en-US" sz="2400" b="1" dirty="0">
              <a:sym typeface="Wingdings" panose="05000000000000000000" pitchFamily="2" charset="2"/>
            </a:endParaRPr>
          </a:p>
          <a:p>
            <a:pPr marL="193675" indent="-193675" eaLnBrk="1" hangingPunct="1">
              <a:buNone/>
            </a:pPr>
            <a:r>
              <a:rPr lang="zh-CN" altLang="en-US" sz="2400" dirty="0"/>
              <a:t>                </a:t>
            </a:r>
            <a:r>
              <a:rPr lang="en-US" altLang="zh-CN" sz="2000" dirty="0"/>
              <a:t>A1      A2        Aj              An</a:t>
            </a:r>
            <a:endParaRPr lang="en-US" altLang="zh-CN" sz="2000" dirty="0"/>
          </a:p>
          <a:p>
            <a:pPr marL="193675" indent="-193675" eaLnBrk="1" hangingPunct="1">
              <a:buNone/>
            </a:pPr>
            <a:r>
              <a:rPr lang="en-US" altLang="zh-CN" sz="2000" dirty="0"/>
              <a:t>             R1    …      …        …              …</a:t>
            </a:r>
            <a:endParaRPr lang="en-US" altLang="zh-CN" sz="2000" dirty="0"/>
          </a:p>
          <a:p>
            <a:pPr marL="193675" indent="-193675" eaLnBrk="1" hangingPunct="1">
              <a:buNone/>
            </a:pPr>
            <a:r>
              <a:rPr lang="en-US" altLang="zh-CN" sz="2000" dirty="0"/>
              <a:t>             R2    …      …        …              …</a:t>
            </a:r>
            <a:endParaRPr lang="en-US" altLang="zh-CN" sz="2000" dirty="0"/>
          </a:p>
          <a:p>
            <a:pPr marL="193675" indent="-193675" eaLnBrk="1" hangingPunct="1">
              <a:buNone/>
            </a:pPr>
            <a:r>
              <a:rPr lang="en-US" altLang="zh-CN" sz="2000" dirty="0"/>
              <a:t>                   …     …        …               …</a:t>
            </a:r>
            <a:endParaRPr lang="en-US" altLang="zh-CN" sz="2000" dirty="0"/>
          </a:p>
          <a:p>
            <a:pPr marL="193675" indent="-193675" eaLnBrk="1" hangingPunct="1">
              <a:buNone/>
            </a:pPr>
            <a:r>
              <a:rPr lang="en-US" altLang="zh-CN" sz="2000" dirty="0"/>
              <a:t>             Ri                     M[i,j]           …</a:t>
            </a:r>
            <a:endParaRPr lang="en-US" altLang="zh-CN" sz="2000" dirty="0"/>
          </a:p>
          <a:p>
            <a:pPr marL="193675" indent="-193675" eaLnBrk="1" hangingPunct="1">
              <a:buNone/>
            </a:pPr>
            <a:r>
              <a:rPr lang="en-US" altLang="zh-CN" sz="2000" dirty="0"/>
              <a:t>             Rk  …       …         …              …</a:t>
            </a:r>
            <a:endParaRPr lang="en-US" altLang="zh-CN"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9026" name="Rectangle 2"/>
          <p:cNvSpPr>
            <a:spLocks noGrp="1"/>
          </p:cNvSpPr>
          <p:nvPr>
            <p:ph type="title"/>
          </p:nvPr>
        </p:nvSpPr>
        <p:spPr>
          <a:xfrm>
            <a:off x="1187450" y="549275"/>
            <a:ext cx="7086600" cy="731838"/>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无损分解的判别算法</a:t>
            </a:r>
            <a:endParaRPr lang="zh-CN" altLang="en-US" sz="4000" b="1" dirty="0">
              <a:solidFill>
                <a:srgbClr val="E40000"/>
              </a:solidFill>
              <a:latin typeface="Arial" panose="020B0604020202020204" pitchFamily="34" charset="0"/>
            </a:endParaRPr>
          </a:p>
        </p:txBody>
      </p:sp>
      <p:sp>
        <p:nvSpPr>
          <p:cNvPr id="129027" name="Rectangle 3"/>
          <p:cNvSpPr>
            <a:spLocks noGrp="1"/>
          </p:cNvSpPr>
          <p:nvPr>
            <p:ph idx="1"/>
          </p:nvPr>
        </p:nvSpPr>
        <p:spPr>
          <a:xfrm>
            <a:off x="685800" y="1524000"/>
            <a:ext cx="7772400" cy="381000"/>
          </a:xfrm>
          <a:ln/>
        </p:spPr>
        <p:txBody>
          <a:bodyPr vert="horz" wrap="square" lIns="91440" tIns="45720" rIns="91440" bIns="45720" anchor="t" anchorCtr="0"/>
          <a:p>
            <a:pPr marL="193675" indent="-193675" eaLnBrk="1" hangingPunct="1"/>
            <a:r>
              <a:rPr lang="zh-CN" altLang="en-US" sz="2000" b="1" dirty="0"/>
              <a:t>符号表</a:t>
            </a:r>
            <a:r>
              <a:rPr lang="en-US" altLang="zh-CN" sz="2000" b="1" dirty="0"/>
              <a:t>M</a:t>
            </a:r>
            <a:r>
              <a:rPr lang="zh-CN" altLang="en-US" sz="2000" b="1" dirty="0"/>
              <a:t>各元素的值由下面的规则确定：</a:t>
            </a:r>
            <a:endParaRPr lang="zh-CN" altLang="en-US" b="1" dirty="0"/>
          </a:p>
        </p:txBody>
      </p:sp>
      <p:graphicFrame>
        <p:nvGraphicFramePr>
          <p:cNvPr id="293892" name="Object 4"/>
          <p:cNvGraphicFramePr>
            <a:graphicFrameLocks noChangeAspect="1"/>
          </p:cNvGraphicFramePr>
          <p:nvPr/>
        </p:nvGraphicFramePr>
        <p:xfrm>
          <a:off x="2195513" y="2114550"/>
          <a:ext cx="3529012" cy="666750"/>
        </p:xfrm>
        <a:graphic>
          <a:graphicData uri="http://schemas.openxmlformats.org/presentationml/2006/ole">
            <mc:AlternateContent xmlns:mc="http://schemas.openxmlformats.org/markup-compatibility/2006">
              <mc:Choice xmlns:v="urn:schemas-microsoft-com:vml" Requires="v">
                <p:oleObj spid="_x0000_s3083" name="" r:id="rId1" imgW="1468755" imgH="495935" progId="Equation.DSMT4">
                  <p:embed/>
                </p:oleObj>
              </mc:Choice>
              <mc:Fallback>
                <p:oleObj name="" r:id="rId1" imgW="1468755" imgH="495935" progId="Equation.DSMT4">
                  <p:embed/>
                  <p:pic>
                    <p:nvPicPr>
                      <p:cNvPr id="0" name="Picture 3082"/>
                      <p:cNvPicPr/>
                      <p:nvPr/>
                    </p:nvPicPr>
                    <p:blipFill>
                      <a:blip r:embed="rId2"/>
                      <a:stretch>
                        <a:fillRect/>
                      </a:stretch>
                    </p:blipFill>
                    <p:spPr>
                      <a:xfrm>
                        <a:off x="2195513" y="2114550"/>
                        <a:ext cx="3529012" cy="666750"/>
                      </a:xfrm>
                      <a:prstGeom prst="rect">
                        <a:avLst/>
                      </a:prstGeom>
                      <a:solidFill>
                        <a:schemeClr val="bg1"/>
                      </a:solidFill>
                      <a:ln w="38100">
                        <a:noFill/>
                        <a:miter/>
                      </a:ln>
                    </p:spPr>
                  </p:pic>
                </p:oleObj>
              </mc:Fallback>
            </mc:AlternateContent>
          </a:graphicData>
        </a:graphic>
      </p:graphicFrame>
      <p:sp>
        <p:nvSpPr>
          <p:cNvPr id="293893" name="Rectangle 5"/>
          <p:cNvSpPr/>
          <p:nvPr/>
        </p:nvSpPr>
        <p:spPr>
          <a:xfrm>
            <a:off x="762000" y="2867025"/>
            <a:ext cx="7772400" cy="36576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193675" lvl="0" indent="-193675" algn="just" eaLnBrk="1" hangingPunct="1">
              <a:lnSpc>
                <a:spcPct val="90000"/>
              </a:lnSpc>
            </a:pPr>
            <a:r>
              <a:rPr lang="zh-CN" altLang="en-US" sz="2400" b="1" dirty="0"/>
              <a:t>用</a:t>
            </a:r>
            <a:r>
              <a:rPr lang="en-US" altLang="zh-CN" sz="2400" b="1" dirty="0"/>
              <a:t>F</a:t>
            </a:r>
            <a:r>
              <a:rPr lang="zh-CN" altLang="en-US" sz="2400" b="1" dirty="0"/>
              <a:t>中的每一函数依赖</a:t>
            </a:r>
            <a:r>
              <a:rPr lang="en-US" altLang="zh-CN" sz="2400" b="1" dirty="0">
                <a:latin typeface="Times New Roman" panose="02020603050405020304" pitchFamily="18" charset="0"/>
              </a:rPr>
              <a:t>X→Y</a:t>
            </a:r>
            <a:r>
              <a:rPr lang="zh-CN" altLang="en-US" sz="2400" b="1" dirty="0">
                <a:latin typeface="Times New Roman" panose="02020603050405020304" pitchFamily="18" charset="0"/>
              </a:rPr>
              <a:t>对</a:t>
            </a:r>
            <a:r>
              <a:rPr lang="en-US" altLang="zh-CN" sz="2400" b="1" dirty="0">
                <a:latin typeface="Times New Roman" panose="02020603050405020304" pitchFamily="18" charset="0"/>
              </a:rPr>
              <a:t>M</a:t>
            </a:r>
            <a:r>
              <a:rPr lang="zh-CN" altLang="en-US" sz="2400" b="1" dirty="0">
                <a:latin typeface="Times New Roman" panose="02020603050405020304" pitchFamily="18" charset="0"/>
              </a:rPr>
              <a:t>反复进行下列检查和处理：检查</a:t>
            </a:r>
            <a:r>
              <a:rPr lang="en-US" altLang="zh-CN" sz="2400" b="1" dirty="0">
                <a:latin typeface="Times New Roman" panose="02020603050405020304" pitchFamily="18" charset="0"/>
              </a:rPr>
              <a:t>X</a:t>
            </a:r>
            <a:r>
              <a:rPr lang="zh-CN" altLang="en-US" sz="2400" b="1" dirty="0">
                <a:latin typeface="Times New Roman" panose="02020603050405020304" pitchFamily="18" charset="0"/>
              </a:rPr>
              <a:t>中的属性所对应的列，找出在</a:t>
            </a:r>
            <a:r>
              <a:rPr lang="en-US" altLang="zh-CN" sz="2400" b="1" dirty="0">
                <a:latin typeface="Times New Roman" panose="02020603050405020304" pitchFamily="18" charset="0"/>
              </a:rPr>
              <a:t>X</a:t>
            </a:r>
            <a:r>
              <a:rPr lang="zh-CN" altLang="en-US" sz="2400" b="1" dirty="0">
                <a:latin typeface="Times New Roman" panose="02020603050405020304" pitchFamily="18" charset="0"/>
              </a:rPr>
              <a:t>上取值相等的行，如果找到两个</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或多个</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行在</a:t>
            </a:r>
            <a:r>
              <a:rPr lang="en-US" altLang="zh-CN" sz="2400" b="1" dirty="0">
                <a:latin typeface="Times New Roman" panose="02020603050405020304" pitchFamily="18" charset="0"/>
              </a:rPr>
              <a:t>X</a:t>
            </a:r>
            <a:r>
              <a:rPr lang="zh-CN" altLang="en-US" sz="2400" b="1" dirty="0">
                <a:latin typeface="Times New Roman" panose="02020603050405020304" pitchFamily="18" charset="0"/>
              </a:rPr>
              <a:t>上取值相等，就将对应行中</a:t>
            </a:r>
            <a:r>
              <a:rPr lang="en-US" altLang="zh-CN" sz="2400" b="1" dirty="0">
                <a:latin typeface="Times New Roman" panose="02020603050405020304" pitchFamily="18" charset="0"/>
              </a:rPr>
              <a:t>Y</a:t>
            </a:r>
            <a:r>
              <a:rPr lang="zh-CN" altLang="en-US" sz="2400" b="1" dirty="0">
                <a:latin typeface="Times New Roman" panose="02020603050405020304" pitchFamily="18" charset="0"/>
              </a:rPr>
              <a:t>中属性所对应的符号改为一致，即如果其中之一为</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j</a:t>
            </a:r>
            <a:r>
              <a:rPr lang="zh-CN" altLang="en-US" sz="2400" b="1" dirty="0">
                <a:latin typeface="Times New Roman" panose="02020603050405020304" pitchFamily="18" charset="0"/>
              </a:rPr>
              <a:t>，则将其他符号也改为</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j</a:t>
            </a:r>
            <a:r>
              <a:rPr lang="zh-CN" altLang="en-US" sz="2400" b="1" dirty="0">
                <a:latin typeface="Times New Roman" panose="02020603050405020304" pitchFamily="18" charset="0"/>
              </a:rPr>
              <a:t>；如果全部符号都是“</a:t>
            </a:r>
            <a:r>
              <a:rPr lang="en-US" altLang="zh-CN" sz="2400" b="1" dirty="0">
                <a:latin typeface="Times New Roman" panose="02020603050405020304" pitchFamily="18" charset="0"/>
              </a:rPr>
              <a:t>b”</a:t>
            </a:r>
            <a:r>
              <a:rPr lang="zh-CN" altLang="en-US" sz="2400" b="1" dirty="0">
                <a:latin typeface="Times New Roman" panose="02020603050405020304" pitchFamily="18" charset="0"/>
              </a:rPr>
              <a:t>符号，则将它们改为同样的“</a:t>
            </a:r>
            <a:r>
              <a:rPr lang="en-US" altLang="zh-CN" sz="2400" b="1" dirty="0">
                <a:latin typeface="Times New Roman" panose="02020603050405020304" pitchFamily="18" charset="0"/>
              </a:rPr>
              <a:t>b”</a:t>
            </a:r>
            <a:r>
              <a:rPr lang="zh-CN" altLang="en-US" sz="2400" b="1" dirty="0">
                <a:latin typeface="Times New Roman" panose="02020603050405020304" pitchFamily="18" charset="0"/>
              </a:rPr>
              <a:t>符号</a:t>
            </a:r>
            <a:endParaRPr lang="zh-CN" altLang="en-US" sz="2400" b="1" dirty="0">
              <a:latin typeface="Times New Roman" panose="02020603050405020304" pitchFamily="18" charset="0"/>
            </a:endParaRPr>
          </a:p>
          <a:p>
            <a:pPr marL="193675" lvl="0" indent="-193675" algn="just" eaLnBrk="1" hangingPunct="1">
              <a:lnSpc>
                <a:spcPct val="90000"/>
              </a:lnSpc>
            </a:pPr>
            <a:r>
              <a:rPr lang="zh-CN" altLang="en-US" sz="2400" b="1" dirty="0">
                <a:latin typeface="Times New Roman" panose="02020603050405020304" pitchFamily="18" charset="0"/>
              </a:rPr>
              <a:t>如此进行下去，直到发现</a:t>
            </a:r>
            <a:r>
              <a:rPr lang="en-US" altLang="zh-CN" sz="2400" b="1" dirty="0">
                <a:latin typeface="Times New Roman" panose="02020603050405020304" pitchFamily="18" charset="0"/>
              </a:rPr>
              <a:t>M</a:t>
            </a:r>
            <a:r>
              <a:rPr lang="zh-CN" altLang="en-US" sz="2400" b="1" dirty="0">
                <a:latin typeface="Times New Roman" panose="02020603050405020304" pitchFamily="18" charset="0"/>
              </a:rPr>
              <a:t>中某一行变为：</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n</a:t>
            </a:r>
            <a:r>
              <a:rPr lang="zh-CN" altLang="en-US" sz="2400" b="1" dirty="0">
                <a:latin typeface="Times New Roman" panose="02020603050405020304" pitchFamily="18" charset="0"/>
              </a:rPr>
              <a:t>，则说明</a:t>
            </a:r>
            <a:r>
              <a:rPr lang="en-US" altLang="zh-CN" sz="2400" b="1" dirty="0"/>
              <a:t>ρ</a:t>
            </a:r>
            <a:r>
              <a:rPr lang="zh-CN" altLang="en-US" sz="2400" b="1" dirty="0"/>
              <a:t>是无损连接分解；</a:t>
            </a:r>
            <a:endParaRPr lang="zh-CN" altLang="en-US" sz="2400" b="1" dirty="0"/>
          </a:p>
          <a:p>
            <a:pPr marL="193675" lvl="0" indent="-193675" algn="just" eaLnBrk="1" hangingPunct="1">
              <a:lnSpc>
                <a:spcPct val="90000"/>
              </a:lnSpc>
            </a:pPr>
            <a:r>
              <a:rPr lang="zh-CN" altLang="en-US" sz="2400" b="1" dirty="0"/>
              <a:t>否则，一直进行到</a:t>
            </a:r>
            <a:r>
              <a:rPr lang="en-US" altLang="zh-CN" sz="2400" b="1" dirty="0"/>
              <a:t>M</a:t>
            </a:r>
            <a:r>
              <a:rPr lang="zh-CN" altLang="en-US" sz="2400" b="1" dirty="0"/>
              <a:t>不再改变为止，</a:t>
            </a:r>
            <a:r>
              <a:rPr lang="zh-CN" altLang="en-US" sz="2400" b="1" dirty="0">
                <a:latin typeface="Times New Roman" panose="02020603050405020304" pitchFamily="18" charset="0"/>
              </a:rPr>
              <a:t>则说明</a:t>
            </a:r>
            <a:r>
              <a:rPr lang="en-US" altLang="zh-CN" sz="2400" b="1" dirty="0"/>
              <a:t>ρ</a:t>
            </a:r>
            <a:r>
              <a:rPr lang="zh-CN" altLang="en-US" sz="2400" b="1" dirty="0"/>
              <a:t>不是无损连接分解</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3892"/>
                                        </p:tgtEl>
                                        <p:attrNameLst>
                                          <p:attrName>style.visibility</p:attrName>
                                        </p:attrNameLst>
                                      </p:cBhvr>
                                      <p:to>
                                        <p:strVal val="visible"/>
                                      </p:to>
                                    </p:set>
                                    <p:anim calcmode="lin" valueType="num">
                                      <p:cBhvr additive="base">
                                        <p:cTn id="7" dur="500" fill="hold"/>
                                        <p:tgtEl>
                                          <p:spTgt spid="293892"/>
                                        </p:tgtEl>
                                        <p:attrNameLst>
                                          <p:attrName>ppt_x</p:attrName>
                                        </p:attrNameLst>
                                      </p:cBhvr>
                                      <p:tavLst>
                                        <p:tav tm="0">
                                          <p:val>
                                            <p:strVal val="0-#ppt_w/2"/>
                                          </p:val>
                                        </p:tav>
                                        <p:tav tm="100000">
                                          <p:val>
                                            <p:strVal val="#ppt_x"/>
                                          </p:val>
                                        </p:tav>
                                      </p:tavLst>
                                    </p:anim>
                                    <p:anim calcmode="lin" valueType="num">
                                      <p:cBhvr additive="base">
                                        <p:cTn id="8" dur="500" fill="hold"/>
                                        <p:tgtEl>
                                          <p:spTgt spid="2938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3893">
                                            <p:txEl>
                                              <p:charRg st="0" end="145"/>
                                            </p:txEl>
                                          </p:spTgt>
                                        </p:tgtEl>
                                        <p:attrNameLst>
                                          <p:attrName>style.visibility</p:attrName>
                                        </p:attrNameLst>
                                      </p:cBhvr>
                                      <p:to>
                                        <p:strVal val="visible"/>
                                      </p:to>
                                    </p:set>
                                    <p:anim calcmode="lin" valueType="num">
                                      <p:cBhvr additive="base">
                                        <p:cTn id="13" dur="500" fill="hold"/>
                                        <p:tgtEl>
                                          <p:spTgt spid="293893">
                                            <p:txEl>
                                              <p:charRg st="0" end="14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3893">
                                            <p:txEl>
                                              <p:charRg st="0" end="145"/>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3893">
                                            <p:txEl>
                                              <p:charRg st="145" end="189"/>
                                            </p:txEl>
                                          </p:spTgt>
                                        </p:tgtEl>
                                        <p:attrNameLst>
                                          <p:attrName>style.visibility</p:attrName>
                                        </p:attrNameLst>
                                      </p:cBhvr>
                                      <p:to>
                                        <p:strVal val="visible"/>
                                      </p:to>
                                    </p:set>
                                    <p:anim calcmode="lin" valueType="num">
                                      <p:cBhvr additive="base">
                                        <p:cTn id="19" dur="500" fill="hold"/>
                                        <p:tgtEl>
                                          <p:spTgt spid="293893">
                                            <p:txEl>
                                              <p:charRg st="145" end="189"/>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3893">
                                            <p:txEl>
                                              <p:charRg st="145" end="189"/>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3893">
                                            <p:txEl>
                                              <p:charRg st="189" end="218"/>
                                            </p:txEl>
                                          </p:spTgt>
                                        </p:tgtEl>
                                        <p:attrNameLst>
                                          <p:attrName>style.visibility</p:attrName>
                                        </p:attrNameLst>
                                      </p:cBhvr>
                                      <p:to>
                                        <p:strVal val="visible"/>
                                      </p:to>
                                    </p:set>
                                    <p:anim calcmode="lin" valueType="num">
                                      <p:cBhvr additive="base">
                                        <p:cTn id="25" dur="500" fill="hold"/>
                                        <p:tgtEl>
                                          <p:spTgt spid="293893">
                                            <p:txEl>
                                              <p:charRg st="189" end="218"/>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3893">
                                            <p:txEl>
                                              <p:charRg st="189" end="21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3" grpId="0" bldLvl="4" build="p"/>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1074" name="Rectangle 2"/>
          <p:cNvSpPr>
            <a:spLocks noGrp="1"/>
          </p:cNvSpPr>
          <p:nvPr>
            <p:ph type="title"/>
          </p:nvPr>
        </p:nvSpPr>
        <p:spPr>
          <a:xfrm>
            <a:off x="971550" y="620713"/>
            <a:ext cx="7086600" cy="731837"/>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无损分解的判别算法</a:t>
            </a:r>
            <a:endParaRPr lang="zh-CN" altLang="en-US" sz="4000" b="1" dirty="0">
              <a:solidFill>
                <a:srgbClr val="E40000"/>
              </a:solidFill>
              <a:latin typeface="Arial" panose="020B0604020202020204" pitchFamily="34" charset="0"/>
            </a:endParaRPr>
          </a:p>
        </p:txBody>
      </p:sp>
      <p:sp>
        <p:nvSpPr>
          <p:cNvPr id="131075" name="Rectangle 3"/>
          <p:cNvSpPr>
            <a:spLocks noGrp="1"/>
          </p:cNvSpPr>
          <p:nvPr>
            <p:ph idx="1"/>
          </p:nvPr>
        </p:nvSpPr>
        <p:spPr>
          <a:xfrm>
            <a:off x="539750" y="1628775"/>
            <a:ext cx="8229600" cy="4924425"/>
          </a:xfrm>
          <a:ln/>
        </p:spPr>
        <p:txBody>
          <a:bodyPr vert="horz" wrap="square" lIns="91440" tIns="45720" rIns="91440" bIns="45720" anchor="t" anchorCtr="0"/>
          <a:p>
            <a:pPr eaLnBrk="1" hangingPunct="1"/>
            <a:r>
              <a:rPr lang="zh-CN" altLang="en-US" b="1" dirty="0"/>
              <a:t>例</a:t>
            </a:r>
            <a:r>
              <a:rPr lang="en-US" altLang="zh-CN" b="1" dirty="0"/>
              <a:t>: R(A,B,C,D,E)</a:t>
            </a:r>
            <a:endParaRPr lang="en-US" altLang="zh-CN" b="1" dirty="0"/>
          </a:p>
          <a:p>
            <a:pPr lvl="1" eaLnBrk="1" hangingPunct="1">
              <a:buNone/>
            </a:pPr>
            <a:r>
              <a:rPr lang="en-US" altLang="zh-CN" b="1" dirty="0"/>
              <a:t>    F={A</a:t>
            </a:r>
            <a:r>
              <a:rPr lang="en-US" altLang="zh-CN" b="1" dirty="0">
                <a:cs typeface="Arial" panose="020B0604020202020204" pitchFamily="34" charset="0"/>
              </a:rPr>
              <a:t>→</a:t>
            </a:r>
            <a:r>
              <a:rPr lang="en-US" altLang="zh-CN" b="1" dirty="0"/>
              <a:t>C, B</a:t>
            </a:r>
            <a:r>
              <a:rPr lang="en-US" altLang="zh-CN" b="1" dirty="0">
                <a:cs typeface="Arial" panose="020B0604020202020204" pitchFamily="34" charset="0"/>
              </a:rPr>
              <a:t>→C, C→</a:t>
            </a:r>
            <a:r>
              <a:rPr lang="en-US" altLang="zh-CN" b="1" dirty="0"/>
              <a:t>D, DE</a:t>
            </a:r>
            <a:r>
              <a:rPr lang="en-US" altLang="zh-CN" b="1" dirty="0">
                <a:cs typeface="Arial" panose="020B0604020202020204" pitchFamily="34" charset="0"/>
              </a:rPr>
              <a:t>→</a:t>
            </a:r>
            <a:r>
              <a:rPr lang="en-US" altLang="zh-CN" b="1" dirty="0"/>
              <a:t>C, CE</a:t>
            </a:r>
            <a:r>
              <a:rPr lang="en-US" altLang="zh-CN" b="1" dirty="0">
                <a:cs typeface="Arial" panose="020B0604020202020204" pitchFamily="34" charset="0"/>
              </a:rPr>
              <a:t>→</a:t>
            </a:r>
            <a:r>
              <a:rPr lang="en-US" altLang="zh-CN" b="1" dirty="0"/>
              <a:t>A}</a:t>
            </a:r>
            <a:endParaRPr lang="en-US" altLang="zh-CN" b="1" dirty="0"/>
          </a:p>
          <a:p>
            <a:pPr eaLnBrk="1" hangingPunct="1"/>
            <a:r>
              <a:rPr lang="zh-CN" altLang="en-US" b="1" dirty="0"/>
              <a:t>判断</a:t>
            </a:r>
            <a:r>
              <a:rPr lang="en-US" altLang="zh-CN" b="1" dirty="0"/>
              <a:t>:</a:t>
            </a:r>
            <a:endParaRPr lang="en-US" altLang="zh-CN" b="1" dirty="0"/>
          </a:p>
          <a:p>
            <a:pPr eaLnBrk="1" hangingPunct="1">
              <a:buNone/>
            </a:pPr>
            <a:r>
              <a:rPr lang="en-US" altLang="zh-CN" b="1" dirty="0"/>
              <a:t>  ρ</a:t>
            </a:r>
            <a:r>
              <a:rPr lang="zh-CN" altLang="en-US" b="1" dirty="0"/>
              <a:t>＝</a:t>
            </a:r>
            <a:r>
              <a:rPr lang="en-US" altLang="zh-CN" b="1" dirty="0"/>
              <a:t>{R1(A,D),R2(A,B),R3(B,E),R4(C,D,E)</a:t>
            </a:r>
            <a:r>
              <a:rPr lang="zh-CN" altLang="en-US" b="1" dirty="0"/>
              <a:t>， </a:t>
            </a:r>
            <a:endParaRPr lang="zh-CN" altLang="en-US" b="1" dirty="0"/>
          </a:p>
          <a:p>
            <a:pPr eaLnBrk="1" hangingPunct="1">
              <a:buNone/>
            </a:pPr>
            <a:r>
              <a:rPr lang="en-US" altLang="zh-CN" b="1" dirty="0"/>
              <a:t>      R5(A,E)}</a:t>
            </a:r>
            <a:endParaRPr lang="en-US" altLang="zh-CN" b="1" dirty="0"/>
          </a:p>
          <a:p>
            <a:pPr eaLnBrk="1" hangingPunct="1">
              <a:buNone/>
            </a:pPr>
            <a:endParaRPr lang="en-US" altLang="zh-CN" b="1" dirty="0"/>
          </a:p>
          <a:p>
            <a:pPr eaLnBrk="1" hangingPunct="1"/>
            <a:r>
              <a:rPr lang="zh-CN" altLang="en-US" b="1" dirty="0"/>
              <a:t>是否是无损连接的分解</a:t>
            </a:r>
            <a:r>
              <a:rPr lang="en-US" altLang="zh-CN" b="1" dirty="0"/>
              <a:t>?</a:t>
            </a:r>
            <a:endParaRPr lang="en-US" altLang="zh-CN" b="1" dirty="0"/>
          </a:p>
          <a:p>
            <a:pPr eaLnBrk="1" hangingPunct="1"/>
            <a:endParaRPr lang="zh-CN" altLang="en-US" b="1" dirty="0"/>
          </a:p>
          <a:p>
            <a:pPr eaLnBrk="1" hangingPunct="1"/>
            <a:endParaRPr lang="zh-CN" altLang="en-US" b="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3122" name="Text Box 2"/>
          <p:cNvSpPr txBox="1"/>
          <p:nvPr/>
        </p:nvSpPr>
        <p:spPr>
          <a:xfrm>
            <a:off x="349250" y="1155700"/>
            <a:ext cx="3576638" cy="457200"/>
          </a:xfrm>
          <a:prstGeom prst="rect">
            <a:avLst/>
          </a:prstGeom>
          <a:no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2400" b="1" dirty="0">
                <a:latin typeface="Helvetica" pitchFamily="34" charset="0"/>
              </a:rPr>
              <a:t>1</a:t>
            </a:r>
            <a:r>
              <a:rPr lang="zh-CN" altLang="en-US" sz="2400" b="1" dirty="0">
                <a:latin typeface="Helvetica" pitchFamily="34" charset="0"/>
              </a:rPr>
              <a:t>、构造初始表格</a:t>
            </a:r>
            <a:endParaRPr lang="zh-CN" altLang="en-US" sz="2400" b="1" dirty="0">
              <a:latin typeface="Helvetica" pitchFamily="34" charset="0"/>
            </a:endParaRPr>
          </a:p>
        </p:txBody>
      </p:sp>
      <p:grpSp>
        <p:nvGrpSpPr>
          <p:cNvPr id="133123" name="Group 3"/>
          <p:cNvGrpSpPr/>
          <p:nvPr/>
        </p:nvGrpSpPr>
        <p:grpSpPr>
          <a:xfrm>
            <a:off x="1236663" y="1547813"/>
            <a:ext cx="6346825" cy="2430462"/>
            <a:chOff x="779" y="1127"/>
            <a:chExt cx="3998" cy="1531"/>
          </a:xfrm>
        </p:grpSpPr>
        <p:sp>
          <p:nvSpPr>
            <p:cNvPr id="133143" name="Text Box 4"/>
            <p:cNvSpPr txBox="1"/>
            <p:nvPr/>
          </p:nvSpPr>
          <p:spPr>
            <a:xfrm>
              <a:off x="779" y="1127"/>
              <a:ext cx="3998" cy="1531"/>
            </a:xfrm>
            <a:prstGeom prst="rect">
              <a:avLst/>
            </a:prstGeom>
            <a:no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zh-CN" altLang="en-US" sz="1800" b="1" u="sng" dirty="0">
                  <a:latin typeface="Helvetica" pitchFamily="34" charset="0"/>
                </a:rPr>
                <a:t>	</a:t>
              </a:r>
              <a:r>
                <a:rPr lang="en-US" altLang="zh-CN" sz="1800" b="1" u="sng" dirty="0">
                  <a:latin typeface="Helvetica" pitchFamily="34" charset="0"/>
                </a:rPr>
                <a:t>A	B	C	D	E    </a:t>
              </a:r>
              <a:endParaRPr lang="en-US" altLang="zh-CN" sz="1800" b="1" u="sng" dirty="0">
                <a:latin typeface="Helvetica" pitchFamily="34" charset="0"/>
              </a:endParaRPr>
            </a:p>
            <a:p>
              <a:pPr marL="0" lvl="0" indent="0">
                <a:spcBef>
                  <a:spcPct val="50000"/>
                </a:spcBef>
                <a:buNone/>
              </a:pPr>
              <a:r>
                <a:rPr lang="en-US" altLang="zh-CN" sz="1800" b="1" dirty="0">
                  <a:latin typeface="Helvetica" pitchFamily="34" charset="0"/>
                </a:rPr>
                <a:t>AD	a1	b12	b13	a4	b15</a:t>
              </a:r>
              <a:endParaRPr lang="en-US" altLang="zh-CN" sz="1800" b="1" dirty="0">
                <a:latin typeface="Helvetica" pitchFamily="34" charset="0"/>
              </a:endParaRPr>
            </a:p>
            <a:p>
              <a:pPr marL="0" lvl="0" indent="0">
                <a:spcBef>
                  <a:spcPct val="50000"/>
                </a:spcBef>
                <a:buNone/>
              </a:pPr>
              <a:r>
                <a:rPr lang="en-US" altLang="zh-CN" sz="1800" b="1" dirty="0">
                  <a:latin typeface="Helvetica" pitchFamily="34" charset="0"/>
                </a:rPr>
                <a:t>AB	a1	a2	b23	b24	b25</a:t>
              </a:r>
              <a:endParaRPr lang="en-US" altLang="zh-CN" sz="1800" b="1" dirty="0">
                <a:latin typeface="Helvetica" pitchFamily="34" charset="0"/>
              </a:endParaRPr>
            </a:p>
            <a:p>
              <a:pPr marL="0" lvl="0" indent="0">
                <a:spcBef>
                  <a:spcPct val="50000"/>
                </a:spcBef>
                <a:buNone/>
              </a:pPr>
              <a:r>
                <a:rPr lang="en-US" altLang="zh-CN" sz="1800" b="1" dirty="0">
                  <a:latin typeface="Helvetica" pitchFamily="34" charset="0"/>
                </a:rPr>
                <a:t>BE	b31	a2	b33	b34	a5</a:t>
              </a:r>
              <a:endParaRPr lang="en-US" altLang="zh-CN" sz="1800" b="1" dirty="0">
                <a:latin typeface="Helvetica" pitchFamily="34" charset="0"/>
              </a:endParaRPr>
            </a:p>
            <a:p>
              <a:pPr marL="0" lvl="0" indent="0">
                <a:spcBef>
                  <a:spcPct val="50000"/>
                </a:spcBef>
                <a:buNone/>
              </a:pPr>
              <a:r>
                <a:rPr lang="en-US" altLang="zh-CN" sz="1800" b="1" dirty="0">
                  <a:latin typeface="Helvetica" pitchFamily="34" charset="0"/>
                </a:rPr>
                <a:t>CDE	b41	b42	a3	a4	a5</a:t>
              </a:r>
              <a:endParaRPr lang="en-US" altLang="zh-CN" sz="1800" b="1" dirty="0">
                <a:latin typeface="Helvetica" pitchFamily="34" charset="0"/>
              </a:endParaRPr>
            </a:p>
            <a:p>
              <a:pPr marL="0" lvl="0" indent="0">
                <a:spcBef>
                  <a:spcPct val="50000"/>
                </a:spcBef>
                <a:buNone/>
              </a:pPr>
              <a:r>
                <a:rPr lang="en-US" altLang="zh-CN" sz="1800" b="1" dirty="0">
                  <a:latin typeface="Helvetica" pitchFamily="34" charset="0"/>
                </a:rPr>
                <a:t>AE	a1	b52	b53	b54	a5</a:t>
              </a:r>
              <a:endParaRPr lang="en-US" altLang="zh-CN" sz="1800" b="1" dirty="0">
                <a:latin typeface="Helvetica" pitchFamily="34" charset="0"/>
              </a:endParaRPr>
            </a:p>
          </p:txBody>
        </p:sp>
        <p:sp>
          <p:nvSpPr>
            <p:cNvPr id="133144" name="Line 5"/>
            <p:cNvSpPr/>
            <p:nvPr/>
          </p:nvSpPr>
          <p:spPr>
            <a:xfrm>
              <a:off x="1186" y="1169"/>
              <a:ext cx="0" cy="1457"/>
            </a:xfrm>
            <a:prstGeom prst="line">
              <a:avLst/>
            </a:prstGeom>
            <a:ln w="19050" cap="flat" cmpd="sng">
              <a:solidFill>
                <a:srgbClr val="000099"/>
              </a:solidFill>
              <a:prstDash val="solid"/>
              <a:headEnd type="none" w="med" len="med"/>
              <a:tailEnd type="none" w="med" len="med"/>
            </a:ln>
          </p:spPr>
        </p:sp>
      </p:grpSp>
      <p:sp>
        <p:nvSpPr>
          <p:cNvPr id="133124" name="Text Box 6"/>
          <p:cNvSpPr txBox="1"/>
          <p:nvPr/>
        </p:nvSpPr>
        <p:spPr>
          <a:xfrm>
            <a:off x="323850" y="4076700"/>
            <a:ext cx="8296275" cy="2520950"/>
          </a:xfrm>
          <a:prstGeom prst="rect">
            <a:avLst/>
          </a:prstGeom>
          <a:no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2400" b="1" dirty="0">
                <a:latin typeface="Helvetica" pitchFamily="34" charset="0"/>
              </a:rPr>
              <a:t>2</a:t>
            </a:r>
            <a:r>
              <a:rPr lang="zh-CN" altLang="en-US" sz="2400" b="1" dirty="0">
                <a:latin typeface="Helvetica" pitchFamily="34" charset="0"/>
              </a:rPr>
              <a:t>、处理表格</a:t>
            </a:r>
            <a:endParaRPr lang="zh-CN" altLang="en-US" sz="2400" b="1" dirty="0">
              <a:latin typeface="Helvetica" pitchFamily="34" charset="0"/>
            </a:endParaRPr>
          </a:p>
          <a:p>
            <a:pPr marL="0" lvl="0" indent="0">
              <a:spcBef>
                <a:spcPct val="50000"/>
              </a:spcBef>
              <a:buNone/>
            </a:pPr>
            <a:r>
              <a:rPr lang="zh-CN" altLang="en-US" sz="1800" b="1" dirty="0">
                <a:latin typeface="Helvetica" pitchFamily="34" charset="0"/>
              </a:rPr>
              <a:t>	 </a:t>
            </a:r>
            <a:r>
              <a:rPr lang="en-US" altLang="zh-CN" sz="1800" b="1" dirty="0">
                <a:latin typeface="Arial" panose="020B0604020202020204" pitchFamily="34" charset="0"/>
              </a:rPr>
              <a:t>A</a:t>
            </a:r>
            <a:r>
              <a:rPr lang="en-US" altLang="zh-CN" sz="1800" b="1" dirty="0">
                <a:latin typeface="Arial" panose="020B0604020202020204" pitchFamily="34" charset="0"/>
                <a:cs typeface="Arial" panose="020B0604020202020204" pitchFamily="34" charset="0"/>
              </a:rPr>
              <a:t>→</a:t>
            </a:r>
            <a:r>
              <a:rPr lang="en-US" altLang="zh-CN" sz="1800" b="1" dirty="0">
                <a:latin typeface="Arial" panose="020B0604020202020204" pitchFamily="34" charset="0"/>
              </a:rPr>
              <a:t>C</a:t>
            </a:r>
            <a:r>
              <a:rPr lang="zh-CN" altLang="en-US" sz="1800" b="1" dirty="0">
                <a:latin typeface="Arial" panose="020B0604020202020204" pitchFamily="34" charset="0"/>
              </a:rPr>
              <a:t>：将</a:t>
            </a:r>
            <a:r>
              <a:rPr lang="en-US" altLang="zh-CN" sz="1800" b="1" dirty="0">
                <a:latin typeface="Arial" panose="020B0604020202020204" pitchFamily="34" charset="0"/>
              </a:rPr>
              <a:t>b23</a:t>
            </a:r>
            <a:r>
              <a:rPr lang="zh-CN" altLang="en-US" sz="1800" b="1" dirty="0">
                <a:latin typeface="Arial" panose="020B0604020202020204" pitchFamily="34" charset="0"/>
              </a:rPr>
              <a:t>，</a:t>
            </a:r>
            <a:r>
              <a:rPr lang="en-US" altLang="zh-CN" sz="1800" b="1" dirty="0">
                <a:latin typeface="Arial" panose="020B0604020202020204" pitchFamily="34" charset="0"/>
              </a:rPr>
              <a:t>b53</a:t>
            </a:r>
            <a:r>
              <a:rPr lang="zh-CN" altLang="en-US" sz="1800" b="1" dirty="0">
                <a:latin typeface="Arial" panose="020B0604020202020204" pitchFamily="34" charset="0"/>
              </a:rPr>
              <a:t>改为</a:t>
            </a:r>
            <a:r>
              <a:rPr lang="en-US" altLang="zh-CN" sz="1800" b="1" dirty="0">
                <a:latin typeface="Arial" panose="020B0604020202020204" pitchFamily="34" charset="0"/>
              </a:rPr>
              <a:t>b13</a:t>
            </a:r>
            <a:endParaRPr lang="en-US" altLang="zh-CN" sz="1800" b="1" dirty="0">
              <a:latin typeface="Arial" panose="020B0604020202020204" pitchFamily="34" charset="0"/>
            </a:endParaRPr>
          </a:p>
          <a:p>
            <a:pPr marL="0" lvl="0" indent="0">
              <a:spcBef>
                <a:spcPct val="50000"/>
              </a:spcBef>
              <a:buNone/>
            </a:pPr>
            <a:r>
              <a:rPr lang="en-US" altLang="zh-CN" sz="1800" b="1" dirty="0">
                <a:latin typeface="Arial" panose="020B0604020202020204" pitchFamily="34" charset="0"/>
              </a:rPr>
              <a:t>	</a:t>
            </a:r>
            <a:r>
              <a:rPr lang="en-US" altLang="zh-CN" sz="1800" b="1" dirty="0">
                <a:latin typeface="Helvetica" pitchFamily="34" charset="0"/>
              </a:rPr>
              <a:t> </a:t>
            </a:r>
            <a:r>
              <a:rPr lang="en-US" altLang="zh-CN" sz="1800" b="1" dirty="0">
                <a:latin typeface="Arial" panose="020B0604020202020204" pitchFamily="34" charset="0"/>
              </a:rPr>
              <a:t>B→C</a:t>
            </a:r>
            <a:r>
              <a:rPr lang="zh-CN" altLang="en-US" sz="1800" b="1" dirty="0">
                <a:latin typeface="Arial" panose="020B0604020202020204" pitchFamily="34" charset="0"/>
              </a:rPr>
              <a:t>：将</a:t>
            </a:r>
            <a:r>
              <a:rPr lang="en-US" altLang="zh-CN" sz="1800" b="1" dirty="0">
                <a:latin typeface="Arial" panose="020B0604020202020204" pitchFamily="34" charset="0"/>
              </a:rPr>
              <a:t>b33</a:t>
            </a:r>
            <a:r>
              <a:rPr lang="zh-CN" altLang="en-US" sz="1800" b="1" dirty="0">
                <a:latin typeface="Arial" panose="020B0604020202020204" pitchFamily="34" charset="0"/>
              </a:rPr>
              <a:t>改为</a:t>
            </a:r>
            <a:r>
              <a:rPr lang="en-US" altLang="zh-CN" sz="1800" b="1" dirty="0">
                <a:latin typeface="Arial" panose="020B0604020202020204" pitchFamily="34" charset="0"/>
              </a:rPr>
              <a:t>b13</a:t>
            </a:r>
            <a:endParaRPr lang="en-US" altLang="zh-CN" sz="1800" b="1" dirty="0">
              <a:latin typeface="Arial" panose="020B0604020202020204" pitchFamily="34" charset="0"/>
            </a:endParaRPr>
          </a:p>
          <a:p>
            <a:pPr marL="0" lvl="0" indent="0">
              <a:spcBef>
                <a:spcPct val="50000"/>
              </a:spcBef>
              <a:buNone/>
            </a:pPr>
            <a:r>
              <a:rPr lang="en-US" altLang="zh-CN" sz="1800" b="1" dirty="0">
                <a:latin typeface="Arial" panose="020B0604020202020204" pitchFamily="34" charset="0"/>
              </a:rPr>
              <a:t>	</a:t>
            </a:r>
            <a:r>
              <a:rPr lang="en-US" altLang="zh-CN" sz="1800" b="1" dirty="0">
                <a:latin typeface="Helvetica" pitchFamily="34" charset="0"/>
              </a:rPr>
              <a:t> C</a:t>
            </a:r>
            <a:r>
              <a:rPr lang="en-US" altLang="zh-CN" sz="1800" b="1" dirty="0">
                <a:latin typeface="Arial" panose="020B0604020202020204" pitchFamily="34" charset="0"/>
              </a:rPr>
              <a:t>→D</a:t>
            </a:r>
            <a:r>
              <a:rPr lang="zh-CN" altLang="en-US" sz="1800" b="1" dirty="0">
                <a:latin typeface="Arial" panose="020B0604020202020204" pitchFamily="34" charset="0"/>
              </a:rPr>
              <a:t>：将</a:t>
            </a:r>
            <a:r>
              <a:rPr lang="en-US" altLang="zh-CN" sz="1800" b="1" dirty="0">
                <a:latin typeface="Arial" panose="020B0604020202020204" pitchFamily="34" charset="0"/>
              </a:rPr>
              <a:t>b24</a:t>
            </a:r>
            <a:r>
              <a:rPr lang="zh-CN" altLang="en-US" sz="1800" b="1" dirty="0">
                <a:latin typeface="Arial" panose="020B0604020202020204" pitchFamily="34" charset="0"/>
              </a:rPr>
              <a:t>，</a:t>
            </a:r>
            <a:r>
              <a:rPr lang="en-US" altLang="zh-CN" sz="1800" b="1" dirty="0">
                <a:latin typeface="Arial" panose="020B0604020202020204" pitchFamily="34" charset="0"/>
              </a:rPr>
              <a:t>b34</a:t>
            </a:r>
            <a:r>
              <a:rPr lang="zh-CN" altLang="en-US" sz="1800" b="1" dirty="0">
                <a:latin typeface="Arial" panose="020B0604020202020204" pitchFamily="34" charset="0"/>
              </a:rPr>
              <a:t>，</a:t>
            </a:r>
            <a:r>
              <a:rPr lang="en-US" altLang="zh-CN" sz="1800" b="1" dirty="0">
                <a:latin typeface="Arial" panose="020B0604020202020204" pitchFamily="34" charset="0"/>
              </a:rPr>
              <a:t>b54</a:t>
            </a:r>
            <a:r>
              <a:rPr lang="zh-CN" altLang="en-US" sz="1800" b="1" dirty="0">
                <a:latin typeface="Arial" panose="020B0604020202020204" pitchFamily="34" charset="0"/>
              </a:rPr>
              <a:t>改为</a:t>
            </a:r>
            <a:r>
              <a:rPr lang="en-US" altLang="zh-CN" sz="1800" b="1" dirty="0">
                <a:latin typeface="Arial" panose="020B0604020202020204" pitchFamily="34" charset="0"/>
              </a:rPr>
              <a:t>a4</a:t>
            </a:r>
            <a:endParaRPr lang="en-US" altLang="zh-CN" sz="1800" b="1" dirty="0">
              <a:latin typeface="Arial" panose="020B0604020202020204" pitchFamily="34" charset="0"/>
            </a:endParaRPr>
          </a:p>
          <a:p>
            <a:pPr marL="0" lvl="0" indent="0">
              <a:spcBef>
                <a:spcPct val="50000"/>
              </a:spcBef>
              <a:buNone/>
            </a:pPr>
            <a:r>
              <a:rPr lang="en-US" altLang="zh-CN" sz="1800" b="1" dirty="0">
                <a:latin typeface="Arial" panose="020B0604020202020204" pitchFamily="34" charset="0"/>
              </a:rPr>
              <a:t>	</a:t>
            </a:r>
            <a:r>
              <a:rPr lang="en-US" altLang="zh-CN" sz="1800" b="1" dirty="0">
                <a:latin typeface="Helvetica" pitchFamily="34" charset="0"/>
              </a:rPr>
              <a:t> DE</a:t>
            </a:r>
            <a:r>
              <a:rPr lang="en-US" altLang="zh-CN" sz="1800" b="1" dirty="0">
                <a:latin typeface="Arial" panose="020B0604020202020204" pitchFamily="34" charset="0"/>
              </a:rPr>
              <a:t>→C</a:t>
            </a:r>
            <a:r>
              <a:rPr lang="zh-CN" altLang="en-US" sz="1800" b="1" dirty="0">
                <a:latin typeface="Arial" panose="020B0604020202020204" pitchFamily="34" charset="0"/>
              </a:rPr>
              <a:t>：将第</a:t>
            </a:r>
            <a:r>
              <a:rPr lang="en-US" altLang="zh-CN" sz="1800" b="1" dirty="0">
                <a:latin typeface="Arial" panose="020B0604020202020204" pitchFamily="34" charset="0"/>
              </a:rPr>
              <a:t>3</a:t>
            </a:r>
            <a:r>
              <a:rPr lang="zh-CN" altLang="en-US" sz="1800" b="1" dirty="0">
                <a:latin typeface="Arial" panose="020B0604020202020204" pitchFamily="34" charset="0"/>
              </a:rPr>
              <a:t>行和第</a:t>
            </a:r>
            <a:r>
              <a:rPr lang="en-US" altLang="zh-CN" sz="1800" b="1" dirty="0">
                <a:latin typeface="Arial" panose="020B0604020202020204" pitchFamily="34" charset="0"/>
              </a:rPr>
              <a:t>5</a:t>
            </a:r>
            <a:r>
              <a:rPr lang="zh-CN" altLang="en-US" sz="1800" b="1" dirty="0">
                <a:latin typeface="Arial" panose="020B0604020202020204" pitchFamily="34" charset="0"/>
              </a:rPr>
              <a:t>行的</a:t>
            </a:r>
            <a:r>
              <a:rPr lang="en-US" altLang="zh-CN" sz="1800" b="1" dirty="0">
                <a:latin typeface="Arial" panose="020B0604020202020204" pitchFamily="34" charset="0"/>
              </a:rPr>
              <a:t>C</a:t>
            </a:r>
            <a:r>
              <a:rPr lang="zh-CN" altLang="en-US" sz="1800" b="1" dirty="0">
                <a:latin typeface="Arial" panose="020B0604020202020204" pitchFamily="34" charset="0"/>
              </a:rPr>
              <a:t>改为</a:t>
            </a:r>
            <a:r>
              <a:rPr lang="en-US" altLang="zh-CN" sz="1800" b="1" dirty="0">
                <a:latin typeface="Arial" panose="020B0604020202020204" pitchFamily="34" charset="0"/>
              </a:rPr>
              <a:t>a3</a:t>
            </a:r>
            <a:endParaRPr lang="en-US" altLang="zh-CN" sz="1800" b="1" dirty="0">
              <a:latin typeface="Arial" panose="020B0604020202020204" pitchFamily="34" charset="0"/>
            </a:endParaRPr>
          </a:p>
          <a:p>
            <a:pPr marL="0" lvl="0" indent="0">
              <a:spcBef>
                <a:spcPct val="50000"/>
              </a:spcBef>
              <a:buNone/>
            </a:pPr>
            <a:r>
              <a:rPr lang="en-US" altLang="zh-CN" sz="1800" b="1" dirty="0">
                <a:latin typeface="Arial" panose="020B0604020202020204" pitchFamily="34" charset="0"/>
              </a:rPr>
              <a:t>	</a:t>
            </a:r>
            <a:r>
              <a:rPr lang="en-US" altLang="zh-CN" sz="1800" b="1" dirty="0">
                <a:latin typeface="Helvetica" pitchFamily="34" charset="0"/>
              </a:rPr>
              <a:t> CE</a:t>
            </a:r>
            <a:r>
              <a:rPr lang="en-US" altLang="zh-CN" sz="1800" b="1" dirty="0">
                <a:latin typeface="Arial" panose="020B0604020202020204" pitchFamily="34" charset="0"/>
              </a:rPr>
              <a:t>→A</a:t>
            </a:r>
            <a:r>
              <a:rPr lang="zh-CN" altLang="en-US" sz="1800" b="1" dirty="0">
                <a:latin typeface="Arial" panose="020B0604020202020204" pitchFamily="34" charset="0"/>
              </a:rPr>
              <a:t>：将第</a:t>
            </a:r>
            <a:r>
              <a:rPr lang="en-US" altLang="zh-CN" sz="1800" b="1" dirty="0">
                <a:latin typeface="Arial" panose="020B0604020202020204" pitchFamily="34" charset="0"/>
              </a:rPr>
              <a:t>3</a:t>
            </a:r>
            <a:r>
              <a:rPr lang="zh-CN" altLang="en-US" sz="1800" b="1" dirty="0">
                <a:latin typeface="Arial" panose="020B0604020202020204" pitchFamily="34" charset="0"/>
              </a:rPr>
              <a:t>行和第</a:t>
            </a:r>
            <a:r>
              <a:rPr lang="en-US" altLang="zh-CN" sz="1800" b="1" dirty="0">
                <a:latin typeface="Arial" panose="020B0604020202020204" pitchFamily="34" charset="0"/>
              </a:rPr>
              <a:t>4</a:t>
            </a:r>
            <a:r>
              <a:rPr lang="zh-CN" altLang="en-US" sz="1800" b="1" dirty="0">
                <a:latin typeface="Arial" panose="020B0604020202020204" pitchFamily="34" charset="0"/>
              </a:rPr>
              <a:t>行的</a:t>
            </a:r>
            <a:r>
              <a:rPr lang="en-US" altLang="zh-CN" sz="1800" b="1" dirty="0">
                <a:latin typeface="Arial" panose="020B0604020202020204" pitchFamily="34" charset="0"/>
              </a:rPr>
              <a:t>A</a:t>
            </a:r>
            <a:r>
              <a:rPr lang="zh-CN" altLang="en-US" sz="1800" b="1" dirty="0">
                <a:latin typeface="Arial" panose="020B0604020202020204" pitchFamily="34" charset="0"/>
              </a:rPr>
              <a:t>改为</a:t>
            </a:r>
            <a:r>
              <a:rPr lang="en-US" altLang="zh-CN" sz="1800" b="1" dirty="0">
                <a:latin typeface="Arial" panose="020B0604020202020204" pitchFamily="34" charset="0"/>
              </a:rPr>
              <a:t>a1</a:t>
            </a:r>
            <a:endParaRPr lang="en-US" altLang="zh-CN" sz="1800" b="1" dirty="0">
              <a:latin typeface="Arial" panose="020B0604020202020204" pitchFamily="34" charset="0"/>
            </a:endParaRPr>
          </a:p>
        </p:txBody>
      </p:sp>
      <p:grpSp>
        <p:nvGrpSpPr>
          <p:cNvPr id="297991" name="Group 7"/>
          <p:cNvGrpSpPr/>
          <p:nvPr/>
        </p:nvGrpSpPr>
        <p:grpSpPr>
          <a:xfrm>
            <a:off x="3967163" y="2366963"/>
            <a:ext cx="604837" cy="1603375"/>
            <a:chOff x="2499" y="1491"/>
            <a:chExt cx="381" cy="1010"/>
          </a:xfrm>
        </p:grpSpPr>
        <p:sp>
          <p:nvSpPr>
            <p:cNvPr id="133141" name="Text Box 8"/>
            <p:cNvSpPr txBox="1"/>
            <p:nvPr/>
          </p:nvSpPr>
          <p:spPr>
            <a:xfrm>
              <a:off x="2499" y="1491"/>
              <a:ext cx="381" cy="231"/>
            </a:xfrm>
            <a:prstGeom prst="rect">
              <a:avLst/>
            </a:prstGeom>
            <a:solidFill>
              <a:srgbClr val="000099"/>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a:spcBef>
                  <a:spcPct val="50000"/>
                </a:spcBef>
                <a:buNone/>
              </a:pPr>
              <a:r>
                <a:rPr lang="en-US" altLang="zh-CN" sz="1800" b="1" dirty="0">
                  <a:solidFill>
                    <a:schemeClr val="accent1"/>
                  </a:solidFill>
                  <a:latin typeface="Helvetica" pitchFamily="34" charset="0"/>
                </a:rPr>
                <a:t>b13</a:t>
              </a:r>
              <a:endParaRPr lang="en-US" altLang="zh-CN" sz="1800" b="1" dirty="0">
                <a:solidFill>
                  <a:schemeClr val="accent1"/>
                </a:solidFill>
                <a:latin typeface="Helvetica" pitchFamily="34" charset="0"/>
              </a:endParaRPr>
            </a:p>
          </p:txBody>
        </p:sp>
        <p:sp>
          <p:nvSpPr>
            <p:cNvPr id="133142" name="Text Box 9"/>
            <p:cNvSpPr txBox="1"/>
            <p:nvPr/>
          </p:nvSpPr>
          <p:spPr>
            <a:xfrm>
              <a:off x="2499" y="2270"/>
              <a:ext cx="381" cy="231"/>
            </a:xfrm>
            <a:prstGeom prst="rect">
              <a:avLst/>
            </a:prstGeom>
            <a:solidFill>
              <a:srgbClr val="000099"/>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a:spcBef>
                  <a:spcPct val="50000"/>
                </a:spcBef>
                <a:buNone/>
              </a:pPr>
              <a:r>
                <a:rPr lang="en-US" altLang="zh-CN" sz="1800" b="1" dirty="0">
                  <a:solidFill>
                    <a:schemeClr val="accent1"/>
                  </a:solidFill>
                  <a:latin typeface="Helvetica" pitchFamily="34" charset="0"/>
                </a:rPr>
                <a:t>b13</a:t>
              </a:r>
              <a:endParaRPr lang="en-US" altLang="zh-CN" sz="1800" b="1" dirty="0">
                <a:solidFill>
                  <a:schemeClr val="accent1"/>
                </a:solidFill>
                <a:latin typeface="Helvetica" pitchFamily="34" charset="0"/>
              </a:endParaRPr>
            </a:p>
          </p:txBody>
        </p:sp>
      </p:grpSp>
      <p:sp>
        <p:nvSpPr>
          <p:cNvPr id="297994" name="Text Box 10"/>
          <p:cNvSpPr txBox="1"/>
          <p:nvPr/>
        </p:nvSpPr>
        <p:spPr>
          <a:xfrm>
            <a:off x="3978275" y="2784475"/>
            <a:ext cx="604838" cy="366713"/>
          </a:xfrm>
          <a:prstGeom prst="rect">
            <a:avLst/>
          </a:prstGeom>
          <a:solidFill>
            <a:schemeClr val="tx2"/>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a:spcBef>
                <a:spcPct val="50000"/>
              </a:spcBef>
              <a:buNone/>
            </a:pPr>
            <a:r>
              <a:rPr lang="en-US" altLang="zh-CN" sz="1800" b="1" dirty="0">
                <a:solidFill>
                  <a:schemeClr val="accent1"/>
                </a:solidFill>
                <a:latin typeface="Helvetica" pitchFamily="34" charset="0"/>
              </a:rPr>
              <a:t>b13</a:t>
            </a:r>
            <a:endParaRPr lang="en-US" altLang="zh-CN" sz="1800" b="1" dirty="0">
              <a:solidFill>
                <a:schemeClr val="accent1"/>
              </a:solidFill>
              <a:latin typeface="Helvetica" pitchFamily="34" charset="0"/>
            </a:endParaRPr>
          </a:p>
        </p:txBody>
      </p:sp>
      <p:grpSp>
        <p:nvGrpSpPr>
          <p:cNvPr id="297995" name="Group 11"/>
          <p:cNvGrpSpPr/>
          <p:nvPr/>
        </p:nvGrpSpPr>
        <p:grpSpPr>
          <a:xfrm>
            <a:off x="4803775" y="2366963"/>
            <a:ext cx="625475" cy="1587500"/>
            <a:chOff x="3026" y="1491"/>
            <a:chExt cx="394" cy="1000"/>
          </a:xfrm>
        </p:grpSpPr>
        <p:sp>
          <p:nvSpPr>
            <p:cNvPr id="133138" name="Text Box 12"/>
            <p:cNvSpPr txBox="1"/>
            <p:nvPr/>
          </p:nvSpPr>
          <p:spPr>
            <a:xfrm>
              <a:off x="3026" y="1491"/>
              <a:ext cx="381" cy="231"/>
            </a:xfrm>
            <a:prstGeom prst="rect">
              <a:avLst/>
            </a:prstGeom>
            <a:solidFill>
              <a:schemeClr val="tx1"/>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a:spcBef>
                  <a:spcPct val="50000"/>
                </a:spcBef>
                <a:buNone/>
              </a:pPr>
              <a:r>
                <a:rPr lang="en-US" altLang="zh-CN" sz="1800" b="1" dirty="0">
                  <a:solidFill>
                    <a:schemeClr val="bg1"/>
                  </a:solidFill>
                  <a:latin typeface="Helvetica" pitchFamily="34" charset="0"/>
                </a:rPr>
                <a:t>a4</a:t>
              </a:r>
              <a:endParaRPr lang="en-US" altLang="zh-CN" sz="1800" b="1" dirty="0">
                <a:solidFill>
                  <a:schemeClr val="bg1"/>
                </a:solidFill>
                <a:latin typeface="Helvetica" pitchFamily="34" charset="0"/>
              </a:endParaRPr>
            </a:p>
          </p:txBody>
        </p:sp>
        <p:sp>
          <p:nvSpPr>
            <p:cNvPr id="133139" name="Text Box 13"/>
            <p:cNvSpPr txBox="1"/>
            <p:nvPr/>
          </p:nvSpPr>
          <p:spPr>
            <a:xfrm>
              <a:off x="3033" y="1761"/>
              <a:ext cx="381" cy="231"/>
            </a:xfrm>
            <a:prstGeom prst="rect">
              <a:avLst/>
            </a:prstGeom>
            <a:solidFill>
              <a:schemeClr val="tx1"/>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a:spcBef>
                  <a:spcPct val="50000"/>
                </a:spcBef>
                <a:buNone/>
              </a:pPr>
              <a:r>
                <a:rPr lang="en-US" altLang="zh-CN" sz="1800" b="1" dirty="0">
                  <a:solidFill>
                    <a:schemeClr val="bg1"/>
                  </a:solidFill>
                  <a:latin typeface="Helvetica" pitchFamily="34" charset="0"/>
                </a:rPr>
                <a:t>a4</a:t>
              </a:r>
              <a:endParaRPr lang="en-US" altLang="zh-CN" sz="1800" b="1" dirty="0">
                <a:solidFill>
                  <a:schemeClr val="bg1"/>
                </a:solidFill>
                <a:latin typeface="Helvetica" pitchFamily="34" charset="0"/>
              </a:endParaRPr>
            </a:p>
          </p:txBody>
        </p:sp>
        <p:sp>
          <p:nvSpPr>
            <p:cNvPr id="133140" name="Text Box 14"/>
            <p:cNvSpPr txBox="1"/>
            <p:nvPr/>
          </p:nvSpPr>
          <p:spPr>
            <a:xfrm>
              <a:off x="3039" y="2260"/>
              <a:ext cx="381" cy="231"/>
            </a:xfrm>
            <a:prstGeom prst="rect">
              <a:avLst/>
            </a:prstGeom>
            <a:solidFill>
              <a:schemeClr val="tx1"/>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a:spcBef>
                  <a:spcPct val="50000"/>
                </a:spcBef>
                <a:buNone/>
              </a:pPr>
              <a:r>
                <a:rPr lang="en-US" altLang="zh-CN" sz="1800" b="1" dirty="0">
                  <a:solidFill>
                    <a:schemeClr val="bg1"/>
                  </a:solidFill>
                  <a:latin typeface="Helvetica" pitchFamily="34" charset="0"/>
                </a:rPr>
                <a:t>a4</a:t>
              </a:r>
              <a:endParaRPr lang="en-US" altLang="zh-CN" sz="1800" b="1" dirty="0">
                <a:solidFill>
                  <a:schemeClr val="bg1"/>
                </a:solidFill>
                <a:latin typeface="Helvetica" pitchFamily="34" charset="0"/>
              </a:endParaRPr>
            </a:p>
          </p:txBody>
        </p:sp>
      </p:grpSp>
      <p:grpSp>
        <p:nvGrpSpPr>
          <p:cNvPr id="297999" name="Group 15"/>
          <p:cNvGrpSpPr/>
          <p:nvPr/>
        </p:nvGrpSpPr>
        <p:grpSpPr>
          <a:xfrm>
            <a:off x="2087563" y="2781300"/>
            <a:ext cx="619125" cy="784225"/>
            <a:chOff x="1315" y="1752"/>
            <a:chExt cx="390" cy="494"/>
          </a:xfrm>
        </p:grpSpPr>
        <p:sp>
          <p:nvSpPr>
            <p:cNvPr id="133136" name="Text Box 16"/>
            <p:cNvSpPr txBox="1"/>
            <p:nvPr/>
          </p:nvSpPr>
          <p:spPr>
            <a:xfrm>
              <a:off x="1315" y="2015"/>
              <a:ext cx="381" cy="231"/>
            </a:xfrm>
            <a:prstGeom prst="rect">
              <a:avLst/>
            </a:prstGeom>
            <a:solidFill>
              <a:srgbClr val="FFFFFF"/>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a:spcBef>
                  <a:spcPct val="50000"/>
                </a:spcBef>
                <a:buNone/>
              </a:pPr>
              <a:r>
                <a:rPr lang="en-US" altLang="zh-CN" sz="1800" b="1" dirty="0">
                  <a:latin typeface="Helvetica" pitchFamily="34" charset="0"/>
                </a:rPr>
                <a:t>a1</a:t>
              </a:r>
              <a:endParaRPr lang="en-US" altLang="zh-CN" sz="1800" b="1" dirty="0">
                <a:latin typeface="Helvetica" pitchFamily="34" charset="0"/>
              </a:endParaRPr>
            </a:p>
          </p:txBody>
        </p:sp>
        <p:sp>
          <p:nvSpPr>
            <p:cNvPr id="133137" name="Text Box 17"/>
            <p:cNvSpPr txBox="1"/>
            <p:nvPr/>
          </p:nvSpPr>
          <p:spPr>
            <a:xfrm>
              <a:off x="1324" y="1752"/>
              <a:ext cx="381" cy="231"/>
            </a:xfrm>
            <a:prstGeom prst="rect">
              <a:avLst/>
            </a:prstGeom>
            <a:solidFill>
              <a:srgbClr val="FFFFFF"/>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a:spcBef>
                  <a:spcPct val="50000"/>
                </a:spcBef>
                <a:buNone/>
              </a:pPr>
              <a:r>
                <a:rPr lang="en-US" altLang="zh-CN" sz="1800" b="1" dirty="0">
                  <a:latin typeface="Helvetica" pitchFamily="34" charset="0"/>
                </a:rPr>
                <a:t>a1</a:t>
              </a:r>
              <a:endParaRPr lang="en-US" altLang="zh-CN" sz="1800" b="1" dirty="0">
                <a:latin typeface="Helvetica" pitchFamily="34" charset="0"/>
              </a:endParaRPr>
            </a:p>
          </p:txBody>
        </p:sp>
      </p:grpSp>
      <p:grpSp>
        <p:nvGrpSpPr>
          <p:cNvPr id="298002" name="Group 18"/>
          <p:cNvGrpSpPr/>
          <p:nvPr/>
        </p:nvGrpSpPr>
        <p:grpSpPr>
          <a:xfrm>
            <a:off x="3962400" y="2781300"/>
            <a:ext cx="619125" cy="1189038"/>
            <a:chOff x="2500" y="1756"/>
            <a:chExt cx="390" cy="749"/>
          </a:xfrm>
        </p:grpSpPr>
        <p:sp>
          <p:nvSpPr>
            <p:cNvPr id="133134" name="Text Box 19"/>
            <p:cNvSpPr txBox="1"/>
            <p:nvPr/>
          </p:nvSpPr>
          <p:spPr>
            <a:xfrm>
              <a:off x="2509" y="1756"/>
              <a:ext cx="381" cy="231"/>
            </a:xfrm>
            <a:prstGeom prst="rect">
              <a:avLst/>
            </a:prstGeom>
            <a:solidFill>
              <a:srgbClr val="FFFF00"/>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1800" b="1" dirty="0">
                  <a:latin typeface="Helvetica" pitchFamily="34" charset="0"/>
                </a:rPr>
                <a:t>a3</a:t>
              </a:r>
              <a:endParaRPr lang="en-US" altLang="zh-CN" sz="1800" b="1" dirty="0">
                <a:latin typeface="Helvetica" pitchFamily="34" charset="0"/>
              </a:endParaRPr>
            </a:p>
          </p:txBody>
        </p:sp>
        <p:sp>
          <p:nvSpPr>
            <p:cNvPr id="133135" name="Text Box 20"/>
            <p:cNvSpPr txBox="1"/>
            <p:nvPr/>
          </p:nvSpPr>
          <p:spPr>
            <a:xfrm>
              <a:off x="2500" y="2274"/>
              <a:ext cx="381" cy="231"/>
            </a:xfrm>
            <a:prstGeom prst="rect">
              <a:avLst/>
            </a:prstGeom>
            <a:solidFill>
              <a:srgbClr val="FFFF00"/>
            </a:solidFill>
            <a:ln w="2857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1800" b="1" dirty="0">
                  <a:latin typeface="Helvetica" pitchFamily="34" charset="0"/>
                </a:rPr>
                <a:t>a3</a:t>
              </a:r>
              <a:endParaRPr lang="en-US" altLang="zh-CN" sz="1800" b="1" dirty="0">
                <a:latin typeface="Helvetica" pitchFamily="34" charset="0"/>
              </a:endParaRPr>
            </a:p>
          </p:txBody>
        </p:sp>
      </p:grpSp>
      <p:sp>
        <p:nvSpPr>
          <p:cNvPr id="298005" name="AutoShape 21"/>
          <p:cNvSpPr/>
          <p:nvPr/>
        </p:nvSpPr>
        <p:spPr>
          <a:xfrm>
            <a:off x="6373813" y="2728913"/>
            <a:ext cx="1735137" cy="471487"/>
          </a:xfrm>
          <a:prstGeom prst="leftArrow">
            <a:avLst>
              <a:gd name="adj1" fmla="val 50000"/>
              <a:gd name="adj2" fmla="val 92003"/>
            </a:avLst>
          </a:prstGeom>
          <a:solidFill>
            <a:srgbClr val="FFFFCC"/>
          </a:solid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298006" name="AutoShape 22"/>
          <p:cNvSpPr/>
          <p:nvPr/>
        </p:nvSpPr>
        <p:spPr>
          <a:xfrm>
            <a:off x="6696075" y="4224338"/>
            <a:ext cx="1668463" cy="1196975"/>
          </a:xfrm>
          <a:prstGeom prst="wedgeRoundRectCallout">
            <a:avLst>
              <a:gd name="adj1" fmla="val -80639"/>
              <a:gd name="adj2" fmla="val -143236"/>
              <a:gd name="adj3" fmla="val 16667"/>
            </a:avLst>
          </a:prstGeom>
          <a:solidFill>
            <a:srgbClr val="FFFFFF"/>
          </a:solidFill>
          <a:ln w="2857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a:spcBef>
                <a:spcPct val="0"/>
              </a:spcBef>
              <a:buNone/>
            </a:pPr>
            <a:r>
              <a:rPr lang="zh-CN" altLang="en-US" sz="1800" b="1" dirty="0">
                <a:solidFill>
                  <a:srgbClr val="000000"/>
                </a:solidFill>
                <a:latin typeface="Arial" panose="020B0604020202020204" pitchFamily="34" charset="0"/>
              </a:rPr>
              <a:t>因此是无损连接的分解</a:t>
            </a:r>
            <a:endParaRPr lang="zh-CN" altLang="en-US" sz="1800" b="1" dirty="0">
              <a:solidFill>
                <a:srgbClr val="000000"/>
              </a:solidFill>
              <a:latin typeface="Arial" panose="020B0604020202020204" pitchFamily="34" charset="0"/>
            </a:endParaRPr>
          </a:p>
        </p:txBody>
      </p:sp>
      <p:sp>
        <p:nvSpPr>
          <p:cNvPr id="133132" name="Rectangle 23"/>
          <p:cNvSpPr>
            <a:spLocks noGrp="1"/>
          </p:cNvSpPr>
          <p:nvPr>
            <p:ph type="title"/>
          </p:nvPr>
        </p:nvSpPr>
        <p:spPr>
          <a:xfrm>
            <a:off x="685800" y="115888"/>
            <a:ext cx="7772400" cy="1143000"/>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无损分解的判别算法</a:t>
            </a:r>
            <a:endParaRPr lang="zh-CN" altLang="en-US" sz="4000" b="1" dirty="0">
              <a:solidFill>
                <a:srgbClr val="E40000"/>
              </a:solidFill>
              <a:latin typeface="Arial" panose="020B0604020202020204" pitchFamily="34" charset="0"/>
            </a:endParaRPr>
          </a:p>
        </p:txBody>
      </p:sp>
      <p:sp>
        <p:nvSpPr>
          <p:cNvPr id="133133" name="矩形 1"/>
          <p:cNvSpPr/>
          <p:nvPr/>
        </p:nvSpPr>
        <p:spPr>
          <a:xfrm>
            <a:off x="3708400" y="874713"/>
            <a:ext cx="5256213" cy="7826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r>
              <a:rPr lang="en-US" altLang="zh-CN" sz="1600" b="1" dirty="0">
                <a:solidFill>
                  <a:srgbClr val="990099"/>
                </a:solidFill>
                <a:latin typeface="Arial" panose="020B0604020202020204" pitchFamily="34" charset="0"/>
              </a:rPr>
              <a:t>R(A,B,C,D,E)</a:t>
            </a:r>
            <a:r>
              <a:rPr lang="en-US" altLang="zh-CN" sz="1600" b="1" dirty="0">
                <a:latin typeface="Arial" panose="020B0604020202020204" pitchFamily="34" charset="0"/>
              </a:rPr>
              <a:t>  </a:t>
            </a:r>
            <a:r>
              <a:rPr lang="en-US" altLang="zh-CN" sz="1600" b="1" dirty="0">
                <a:solidFill>
                  <a:srgbClr val="990099"/>
                </a:solidFill>
                <a:latin typeface="Arial" panose="020B0604020202020204" pitchFamily="34" charset="0"/>
              </a:rPr>
              <a:t>F={A→C, B→C, C→D, DE→C, CE→A}</a:t>
            </a:r>
            <a:endParaRPr lang="en-US" altLang="zh-CN" sz="1600" b="1" dirty="0">
              <a:solidFill>
                <a:srgbClr val="990099"/>
              </a:solidFill>
              <a:latin typeface="Arial" panose="020B0604020202020204" pitchFamily="34" charset="0"/>
            </a:endParaRPr>
          </a:p>
          <a:p>
            <a:pPr marL="0" lvl="0" indent="0" eaLnBrk="1" hangingPunct="1">
              <a:buNone/>
            </a:pPr>
            <a:r>
              <a:rPr lang="en-US" altLang="zh-CN" sz="1600" b="1" dirty="0">
                <a:solidFill>
                  <a:srgbClr val="990099"/>
                </a:solidFill>
                <a:latin typeface="Arial" panose="020B0604020202020204" pitchFamily="34" charset="0"/>
              </a:rPr>
              <a:t>ρ</a:t>
            </a:r>
            <a:r>
              <a:rPr lang="zh-CN" altLang="en-US" sz="1600" b="1" dirty="0">
                <a:solidFill>
                  <a:srgbClr val="990099"/>
                </a:solidFill>
                <a:latin typeface="Arial" panose="020B0604020202020204" pitchFamily="34" charset="0"/>
              </a:rPr>
              <a:t>＝</a:t>
            </a:r>
            <a:r>
              <a:rPr lang="en-US" altLang="zh-CN" sz="1600" b="1" dirty="0">
                <a:solidFill>
                  <a:srgbClr val="990099"/>
                </a:solidFill>
                <a:latin typeface="Arial" panose="020B0604020202020204" pitchFamily="34" charset="0"/>
              </a:rPr>
              <a:t>{R1(A,D),R2(A,B),R3(B,E),R4(C,D,E),R5(A,E)}</a:t>
            </a:r>
            <a:endParaRPr lang="en-US" altLang="zh-CN" sz="1600" b="1" dirty="0">
              <a:solidFill>
                <a:srgbClr val="990099"/>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979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79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979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980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979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298005"/>
                                        </p:tgtEl>
                                        <p:attrNameLst>
                                          <p:attrName>style.visibility</p:attrName>
                                        </p:attrNameLst>
                                      </p:cBhvr>
                                      <p:to>
                                        <p:strVal val="visible"/>
                                      </p:to>
                                    </p:set>
                                    <p:anim calcmode="lin" valueType="num">
                                      <p:cBhvr additive="base">
                                        <p:cTn id="27" dur="500" fill="hold"/>
                                        <p:tgtEl>
                                          <p:spTgt spid="298005"/>
                                        </p:tgtEl>
                                        <p:attrNameLst>
                                          <p:attrName>ppt_x</p:attrName>
                                        </p:attrNameLst>
                                      </p:cBhvr>
                                      <p:tavLst>
                                        <p:tav tm="0">
                                          <p:val>
                                            <p:strVal val="1+#ppt_w/2"/>
                                          </p:val>
                                        </p:tav>
                                        <p:tav tm="100000">
                                          <p:val>
                                            <p:strVal val="#ppt_x"/>
                                          </p:val>
                                        </p:tav>
                                      </p:tavLst>
                                    </p:anim>
                                    <p:anim calcmode="lin" valueType="num">
                                      <p:cBhvr additive="base">
                                        <p:cTn id="28" dur="500" fill="hold"/>
                                        <p:tgtEl>
                                          <p:spTgt spid="29800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98006"/>
                                        </p:tgtEl>
                                        <p:attrNameLst>
                                          <p:attrName>style.visibility</p:attrName>
                                        </p:attrNameLst>
                                      </p:cBhvr>
                                      <p:to>
                                        <p:strVal val="visible"/>
                                      </p:to>
                                    </p:set>
                                    <p:anim calcmode="lin" valueType="num">
                                      <p:cBhvr additive="base">
                                        <p:cTn id="33" dur="500" fill="hold"/>
                                        <p:tgtEl>
                                          <p:spTgt spid="298006"/>
                                        </p:tgtEl>
                                        <p:attrNameLst>
                                          <p:attrName>ppt_x</p:attrName>
                                        </p:attrNameLst>
                                      </p:cBhvr>
                                      <p:tavLst>
                                        <p:tav tm="0">
                                          <p:val>
                                            <p:strVal val="1+#ppt_w/2"/>
                                          </p:val>
                                        </p:tav>
                                        <p:tav tm="100000">
                                          <p:val>
                                            <p:strVal val="#ppt_x"/>
                                          </p:val>
                                        </p:tav>
                                      </p:tavLst>
                                    </p:anim>
                                    <p:anim calcmode="lin" valueType="num">
                                      <p:cBhvr additive="base">
                                        <p:cTn id="34" dur="500" fill="hold"/>
                                        <p:tgtEl>
                                          <p:spTgt spid="2980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94" grpId="0" animBg="1"/>
      <p:bldP spid="298005" grpId="0" animBg="1"/>
      <p:bldP spid="298006"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5170"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无损分解的判别算法</a:t>
            </a:r>
            <a:endParaRPr lang="zh-CN" altLang="en-US" sz="4000" b="1" dirty="0">
              <a:solidFill>
                <a:srgbClr val="E40000"/>
              </a:solidFill>
              <a:latin typeface="Arial" panose="020B0604020202020204" pitchFamily="34" charset="0"/>
            </a:endParaRPr>
          </a:p>
        </p:txBody>
      </p:sp>
      <p:sp>
        <p:nvSpPr>
          <p:cNvPr id="135171" name="Rectangle 3"/>
          <p:cNvSpPr>
            <a:spLocks noGrp="1"/>
          </p:cNvSpPr>
          <p:nvPr>
            <p:ph idx="1"/>
          </p:nvPr>
        </p:nvSpPr>
        <p:spPr>
          <a:xfrm>
            <a:off x="755650" y="1600200"/>
            <a:ext cx="7993063" cy="4525963"/>
          </a:xfrm>
          <a:ln/>
        </p:spPr>
        <p:txBody>
          <a:bodyPr vert="horz" wrap="square" lIns="91440" tIns="45720" rIns="91440" bIns="45720" anchor="t" anchorCtr="0"/>
          <a:p>
            <a:pPr eaLnBrk="1" hangingPunct="1"/>
            <a:r>
              <a:rPr lang="zh-CN" altLang="en-US" b="1" dirty="0"/>
              <a:t>对于只有</a:t>
            </a:r>
            <a:r>
              <a:rPr lang="en-US" altLang="zh-CN" b="1" dirty="0"/>
              <a:t>2</a:t>
            </a:r>
            <a:r>
              <a:rPr lang="zh-CN" altLang="en-US" b="1" dirty="0"/>
              <a:t>个关系模式的分解可以通过下面的定理判断其是否为无损联接分解</a:t>
            </a:r>
            <a:endParaRPr lang="zh-CN" altLang="en-US" b="1" dirty="0"/>
          </a:p>
          <a:p>
            <a:pPr eaLnBrk="1" hangingPunct="1"/>
            <a:r>
              <a:rPr lang="zh-CN" altLang="en-US" b="1" dirty="0">
                <a:latin typeface="黑体" pitchFamily="49" charset="-122"/>
                <a:ea typeface="黑体" pitchFamily="49" charset="-122"/>
              </a:rPr>
              <a:t>定理</a:t>
            </a:r>
            <a:r>
              <a:rPr lang="en-US" altLang="zh-CN" b="1" dirty="0">
                <a:latin typeface="黑体" pitchFamily="49" charset="-122"/>
                <a:ea typeface="黑体" pitchFamily="49" charset="-122"/>
              </a:rPr>
              <a:t>4.4</a:t>
            </a:r>
            <a:r>
              <a:rPr lang="zh-CN" altLang="en-US" b="1" dirty="0"/>
              <a:t>：设</a:t>
            </a:r>
            <a:r>
              <a:rPr lang="en-US" altLang="zh-CN" b="1" dirty="0"/>
              <a:t>ρ=</a:t>
            </a:r>
            <a:r>
              <a:rPr lang="zh-CN" altLang="en-US" b="1" dirty="0"/>
              <a:t>｛ </a:t>
            </a:r>
            <a:r>
              <a:rPr lang="en-US" altLang="zh-CN" b="1" dirty="0"/>
              <a:t>R</a:t>
            </a:r>
            <a:r>
              <a:rPr lang="en-US" altLang="zh-CN" b="1" baseline="-16000" dirty="0"/>
              <a:t>1</a:t>
            </a:r>
            <a:r>
              <a:rPr lang="zh-CN" altLang="en-US" b="1" dirty="0"/>
              <a:t>，</a:t>
            </a:r>
            <a:r>
              <a:rPr lang="en-US" altLang="zh-CN" b="1" dirty="0"/>
              <a:t>R</a:t>
            </a:r>
            <a:r>
              <a:rPr lang="en-US" altLang="zh-CN" b="1" baseline="-16000" dirty="0"/>
              <a:t>2</a:t>
            </a:r>
            <a:r>
              <a:rPr lang="en-US" altLang="zh-CN" b="1" dirty="0"/>
              <a:t> </a:t>
            </a:r>
            <a:r>
              <a:rPr lang="zh-CN" altLang="en-US" b="1" dirty="0"/>
              <a:t>｝是关系模式</a:t>
            </a:r>
            <a:r>
              <a:rPr lang="en-US" altLang="zh-CN" b="1" dirty="0"/>
              <a:t>R</a:t>
            </a:r>
            <a:r>
              <a:rPr lang="zh-CN" altLang="en-US" b="1" dirty="0"/>
              <a:t>的一个分解，</a:t>
            </a:r>
            <a:r>
              <a:rPr lang="en-US" altLang="zh-CN" b="1" dirty="0"/>
              <a:t>F</a:t>
            </a:r>
            <a:r>
              <a:rPr lang="zh-CN" altLang="en-US" b="1" dirty="0"/>
              <a:t>是</a:t>
            </a:r>
            <a:r>
              <a:rPr lang="en-US" altLang="zh-CN" b="1" dirty="0"/>
              <a:t>R</a:t>
            </a:r>
            <a:r>
              <a:rPr lang="zh-CN" altLang="en-US" b="1" dirty="0"/>
              <a:t>上成立的</a:t>
            </a:r>
            <a:r>
              <a:rPr lang="en-US" altLang="zh-CN" b="1" dirty="0"/>
              <a:t>FD</a:t>
            </a:r>
            <a:r>
              <a:rPr lang="zh-CN" altLang="en-US" b="1" dirty="0"/>
              <a:t>集，那么分解</a:t>
            </a:r>
            <a:r>
              <a:rPr lang="en-US" altLang="zh-CN" b="1" dirty="0"/>
              <a:t>ρ</a:t>
            </a:r>
            <a:r>
              <a:rPr lang="zh-CN" altLang="en-US" b="1" dirty="0"/>
              <a:t>相对于</a:t>
            </a:r>
            <a:r>
              <a:rPr lang="en-US" altLang="zh-CN" b="1" dirty="0"/>
              <a:t>F</a:t>
            </a:r>
            <a:r>
              <a:rPr lang="zh-CN" altLang="en-US" b="1" dirty="0"/>
              <a:t>是无损分解的充分必要条件是（</a:t>
            </a:r>
            <a:r>
              <a:rPr lang="en-US" altLang="zh-CN" b="1" dirty="0"/>
              <a:t>R</a:t>
            </a:r>
            <a:r>
              <a:rPr lang="en-US" altLang="zh-CN" b="1" baseline="-16000" dirty="0"/>
              <a:t>1</a:t>
            </a:r>
            <a:r>
              <a:rPr lang="en-US" altLang="zh-CN" b="1" dirty="0"/>
              <a:t>∩R</a:t>
            </a:r>
            <a:r>
              <a:rPr lang="en-US" altLang="zh-CN" b="1" baseline="-16000" dirty="0"/>
              <a:t>2</a:t>
            </a:r>
            <a:r>
              <a:rPr lang="zh-CN" altLang="en-US" b="1" dirty="0"/>
              <a:t>）</a:t>
            </a:r>
            <a:r>
              <a:rPr lang="en-US" altLang="zh-CN" b="1" dirty="0"/>
              <a:t>→</a:t>
            </a:r>
            <a:r>
              <a:rPr lang="zh-CN" altLang="en-US" b="1" dirty="0"/>
              <a:t>（</a:t>
            </a:r>
            <a:r>
              <a:rPr lang="en-US" altLang="zh-CN" b="1" dirty="0"/>
              <a:t>R</a:t>
            </a:r>
            <a:r>
              <a:rPr lang="en-US" altLang="zh-CN" b="1" baseline="-16000" dirty="0"/>
              <a:t>1</a:t>
            </a:r>
            <a:r>
              <a:rPr lang="zh-CN" altLang="en-US" b="1" dirty="0"/>
              <a:t>－</a:t>
            </a:r>
            <a:r>
              <a:rPr lang="en-US" altLang="zh-CN" b="1" dirty="0"/>
              <a:t>R</a:t>
            </a:r>
            <a:r>
              <a:rPr lang="en-US" altLang="zh-CN" b="1" baseline="-16000" dirty="0"/>
              <a:t>2</a:t>
            </a:r>
            <a:r>
              <a:rPr lang="zh-CN" altLang="en-US" b="1" dirty="0"/>
              <a:t>）或（</a:t>
            </a:r>
            <a:r>
              <a:rPr lang="en-US" altLang="zh-CN" b="1" dirty="0"/>
              <a:t>R</a:t>
            </a:r>
            <a:r>
              <a:rPr lang="en-US" altLang="zh-CN" b="1" baseline="-16000" dirty="0"/>
              <a:t>1</a:t>
            </a:r>
            <a:r>
              <a:rPr lang="en-US" altLang="zh-CN" b="1" dirty="0"/>
              <a:t>∩R</a:t>
            </a:r>
            <a:r>
              <a:rPr lang="en-US" altLang="zh-CN" b="1" baseline="-16000" dirty="0"/>
              <a:t>2</a:t>
            </a:r>
            <a:r>
              <a:rPr lang="zh-CN" altLang="en-US" b="1" dirty="0"/>
              <a:t>）</a:t>
            </a:r>
            <a:r>
              <a:rPr lang="en-US" altLang="zh-CN" b="1" dirty="0"/>
              <a:t>→</a:t>
            </a:r>
            <a:r>
              <a:rPr lang="zh-CN" altLang="en-US" b="1" dirty="0"/>
              <a:t>（</a:t>
            </a:r>
            <a:r>
              <a:rPr lang="en-US" altLang="zh-CN" b="1" dirty="0"/>
              <a:t>R</a:t>
            </a:r>
            <a:r>
              <a:rPr lang="en-US" altLang="zh-CN" b="1" baseline="-16000" dirty="0"/>
              <a:t>2</a:t>
            </a:r>
            <a:r>
              <a:rPr lang="zh-CN" altLang="en-US" b="1" dirty="0"/>
              <a:t>－</a:t>
            </a:r>
            <a:r>
              <a:rPr lang="en-US" altLang="zh-CN" b="1" dirty="0"/>
              <a:t>R</a:t>
            </a:r>
            <a:r>
              <a:rPr lang="en-US" altLang="zh-CN" b="1" baseline="-16000" dirty="0"/>
              <a:t>1</a:t>
            </a:r>
            <a:r>
              <a:rPr lang="zh-CN" altLang="en-US" b="1" dirty="0"/>
              <a:t>）</a:t>
            </a:r>
            <a:endParaRPr lang="zh-CN" altLang="en-US" b="1" dirty="0"/>
          </a:p>
          <a:p>
            <a:pPr eaLnBrk="1" hangingPunct="1"/>
            <a:endParaRPr lang="zh-CN" altLang="en-US" b="1" dirty="0"/>
          </a:p>
          <a:p>
            <a:pPr eaLnBrk="1" hangingPunct="1"/>
            <a:r>
              <a:rPr lang="zh-CN" altLang="en-US" b="1" dirty="0">
                <a:latin typeface="黑体" pitchFamily="49" charset="-122"/>
                <a:ea typeface="黑体" pitchFamily="49" charset="-122"/>
              </a:rPr>
              <a:t>定理</a:t>
            </a:r>
            <a:r>
              <a:rPr lang="en-US" altLang="zh-CN" b="1" dirty="0">
                <a:latin typeface="黑体" pitchFamily="49" charset="-122"/>
                <a:ea typeface="黑体" pitchFamily="49" charset="-122"/>
              </a:rPr>
              <a:t>4.5</a:t>
            </a:r>
            <a:r>
              <a:rPr lang="zh-CN" altLang="en-US" b="1" dirty="0"/>
              <a:t>：如果</a:t>
            </a:r>
            <a:r>
              <a:rPr lang="en-US" altLang="zh-CN" b="1" dirty="0"/>
              <a:t>FD</a:t>
            </a:r>
            <a:r>
              <a:rPr lang="zh-CN" altLang="en-US" b="1" dirty="0"/>
              <a:t>：</a:t>
            </a:r>
            <a:r>
              <a:rPr lang="en-US" altLang="zh-CN" b="1" dirty="0"/>
              <a:t>X→Y</a:t>
            </a:r>
            <a:r>
              <a:rPr lang="zh-CN" altLang="en-US" b="1" dirty="0"/>
              <a:t>在模式</a:t>
            </a:r>
            <a:r>
              <a:rPr lang="en-US" altLang="zh-CN" b="1" dirty="0"/>
              <a:t>R</a:t>
            </a:r>
            <a:r>
              <a:rPr lang="zh-CN" altLang="en-US" b="1" dirty="0"/>
              <a:t>上成立，且</a:t>
            </a:r>
            <a:r>
              <a:rPr lang="en-US" altLang="zh-CN" b="1" dirty="0"/>
              <a:t>X∩Y=φ</a:t>
            </a:r>
            <a:r>
              <a:rPr lang="zh-CN" altLang="en-US" b="1" dirty="0"/>
              <a:t>，则</a:t>
            </a:r>
            <a:r>
              <a:rPr lang="en-US" altLang="zh-CN" b="1" dirty="0"/>
              <a:t>ρ={U</a:t>
            </a:r>
            <a:r>
              <a:rPr lang="zh-CN" altLang="en-US" b="1" dirty="0"/>
              <a:t>－</a:t>
            </a:r>
            <a:r>
              <a:rPr lang="en-US" altLang="zh-CN" b="1" dirty="0"/>
              <a:t>Y</a:t>
            </a:r>
            <a:r>
              <a:rPr lang="zh-CN" altLang="en-US" b="1" dirty="0"/>
              <a:t>，</a:t>
            </a:r>
            <a:r>
              <a:rPr lang="en-US" altLang="zh-CN" b="1" dirty="0"/>
              <a:t>XY }</a:t>
            </a:r>
            <a:r>
              <a:rPr lang="zh-CN" altLang="en-US" b="1" dirty="0"/>
              <a:t>是</a:t>
            </a:r>
            <a:r>
              <a:rPr lang="en-US" altLang="zh-CN" b="1" dirty="0"/>
              <a:t>R</a:t>
            </a:r>
            <a:r>
              <a:rPr lang="zh-CN" altLang="en-US" b="1" dirty="0"/>
              <a:t>的无损分解</a:t>
            </a:r>
            <a:endParaRPr lang="zh-CN" altLang="en-US" b="1"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7218"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保持函数依赖的分解</a:t>
            </a:r>
            <a:endParaRPr lang="zh-CN" altLang="en-US" sz="4000" b="1" dirty="0">
              <a:solidFill>
                <a:srgbClr val="E40000"/>
              </a:solidFill>
              <a:latin typeface="Arial" panose="020B0604020202020204" pitchFamily="34" charset="0"/>
            </a:endParaRPr>
          </a:p>
        </p:txBody>
      </p:sp>
      <p:sp>
        <p:nvSpPr>
          <p:cNvPr id="137219" name="Rectangle 3"/>
          <p:cNvSpPr>
            <a:spLocks noGrp="1"/>
          </p:cNvSpPr>
          <p:nvPr>
            <p:ph type="body" sz="half" idx="1"/>
          </p:nvPr>
        </p:nvSpPr>
        <p:spPr>
          <a:xfrm>
            <a:off x="900113" y="1628775"/>
            <a:ext cx="7570787" cy="4530725"/>
          </a:xfrm>
          <a:ln/>
        </p:spPr>
        <p:txBody>
          <a:bodyPr vert="horz" wrap="square" lIns="91440" tIns="45720" rIns="91440" bIns="45720" anchor="t" anchorCtr="0"/>
          <a:p>
            <a:pPr eaLnBrk="1" hangingPunct="1">
              <a:buClrTx/>
              <a:buSzTx/>
              <a:buFontTx/>
            </a:pPr>
            <a:r>
              <a:rPr lang="zh-CN" altLang="en-US" b="1" dirty="0"/>
              <a:t>保持关系模式分解等价的另一个重要条件是关系模式的函数依赖集在分解后仍在数据库模式中保持不变</a:t>
            </a:r>
            <a:endParaRPr lang="zh-CN" altLang="en-US" b="1" dirty="0"/>
          </a:p>
          <a:p>
            <a:pPr eaLnBrk="1" hangingPunct="1">
              <a:buClrTx/>
              <a:buSzTx/>
              <a:buFontTx/>
            </a:pPr>
            <a:r>
              <a:rPr lang="zh-CN" altLang="en-US" b="1" dirty="0"/>
              <a:t>即关系模式</a:t>
            </a:r>
            <a:r>
              <a:rPr lang="en-US" altLang="zh-CN" b="1" dirty="0"/>
              <a:t>R </a:t>
            </a:r>
            <a:r>
              <a:rPr lang="zh-CN" altLang="en-US" b="1" dirty="0"/>
              <a:t>到</a:t>
            </a:r>
            <a:r>
              <a:rPr lang="zh-CN" altLang="en-US" b="1" dirty="0">
                <a:sym typeface="Symbol" panose="05050102010706020507" pitchFamily="18" charset="2"/>
              </a:rPr>
              <a:t></a:t>
            </a:r>
            <a:r>
              <a:rPr lang="en-US" altLang="zh-CN" b="1" dirty="0"/>
              <a:t>={R</a:t>
            </a:r>
            <a:r>
              <a:rPr lang="en-US" altLang="zh-CN" b="1" baseline="-25000" dirty="0"/>
              <a:t>1</a:t>
            </a:r>
            <a:r>
              <a:rPr lang="en-US" altLang="zh-CN" b="1" dirty="0"/>
              <a:t>,R</a:t>
            </a:r>
            <a:r>
              <a:rPr lang="en-US" altLang="zh-CN" b="1" baseline="-25000" dirty="0"/>
              <a:t>2</a:t>
            </a:r>
            <a:r>
              <a:rPr lang="en-US" altLang="zh-CN" b="1" dirty="0"/>
              <a:t>…R</a:t>
            </a:r>
            <a:r>
              <a:rPr lang="en-US" altLang="zh-CN" b="1" baseline="-25000" dirty="0"/>
              <a:t>k</a:t>
            </a:r>
            <a:r>
              <a:rPr lang="en-US" altLang="zh-CN" b="1" dirty="0"/>
              <a:t>}</a:t>
            </a:r>
            <a:r>
              <a:rPr lang="zh-CN" altLang="en-US" b="1" dirty="0"/>
              <a:t>的分解，应使函数依赖集</a:t>
            </a:r>
            <a:r>
              <a:rPr lang="en-US" altLang="zh-CN" b="1" dirty="0"/>
              <a:t>F,</a:t>
            </a:r>
            <a:r>
              <a:rPr lang="zh-CN" altLang="en-US" b="1" dirty="0"/>
              <a:t>被</a:t>
            </a:r>
            <a:r>
              <a:rPr lang="en-US" altLang="zh-CN" b="1" dirty="0"/>
              <a:t>F</a:t>
            </a:r>
            <a:r>
              <a:rPr lang="zh-CN" altLang="en-US" b="1" dirty="0"/>
              <a:t>在这些</a:t>
            </a:r>
            <a:r>
              <a:rPr lang="en-US" altLang="zh-CN" b="1" dirty="0"/>
              <a:t>R</a:t>
            </a:r>
            <a:r>
              <a:rPr lang="en-US" altLang="zh-CN" b="1" baseline="-25000" dirty="0"/>
              <a:t>i</a:t>
            </a:r>
            <a:r>
              <a:rPr lang="zh-CN" altLang="en-US" b="1" dirty="0"/>
              <a:t>上的投影蕴涵</a:t>
            </a:r>
            <a:endParaRPr lang="zh-CN" altLang="en-US" b="1"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9266"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保持函数依赖的分解</a:t>
            </a:r>
            <a:endParaRPr lang="zh-CN" altLang="en-US" sz="4000" b="1" dirty="0">
              <a:solidFill>
                <a:srgbClr val="E40000"/>
              </a:solidFill>
              <a:latin typeface="Arial" panose="020B0604020202020204" pitchFamily="34" charset="0"/>
            </a:endParaRPr>
          </a:p>
        </p:txBody>
      </p:sp>
      <p:sp>
        <p:nvSpPr>
          <p:cNvPr id="139267" name="Rectangle 3"/>
          <p:cNvSpPr>
            <a:spLocks noGrp="1"/>
          </p:cNvSpPr>
          <p:nvPr>
            <p:ph type="body" sz="half" idx="1"/>
          </p:nvPr>
        </p:nvSpPr>
        <p:spPr>
          <a:xfrm>
            <a:off x="827088" y="1773238"/>
            <a:ext cx="7570787" cy="4530725"/>
          </a:xfrm>
          <a:ln/>
        </p:spPr>
        <p:txBody>
          <a:bodyPr vert="horz" wrap="square" lIns="91440" tIns="45720" rIns="91440" bIns="45720" anchor="t" anchorCtr="0"/>
          <a:p>
            <a:pPr eaLnBrk="1" hangingPunct="1">
              <a:buClrTx/>
              <a:buSzTx/>
              <a:buFont typeface="Wingdings" panose="05000000000000000000" pitchFamily="2" charset="2"/>
              <a:buChar char="n"/>
            </a:pPr>
            <a:r>
              <a:rPr lang="zh-CN" altLang="en-US" b="1" dirty="0"/>
              <a:t>定义</a:t>
            </a:r>
            <a:r>
              <a:rPr lang="en-US" altLang="zh-CN" b="1" dirty="0"/>
              <a:t>4.18</a:t>
            </a:r>
            <a:r>
              <a:rPr lang="zh-CN" altLang="en-US" b="1" dirty="0"/>
              <a:t>：设</a:t>
            </a:r>
            <a:r>
              <a:rPr lang="en-US" altLang="zh-CN" b="1" dirty="0"/>
              <a:t>ρ=</a:t>
            </a:r>
            <a:r>
              <a:rPr lang="zh-CN" altLang="en-US" b="1" dirty="0"/>
              <a:t>｛ </a:t>
            </a:r>
            <a:r>
              <a:rPr lang="en-US" altLang="zh-CN" b="1" dirty="0"/>
              <a:t>R1</a:t>
            </a:r>
            <a:r>
              <a:rPr lang="zh-CN" altLang="en-US" b="1" dirty="0"/>
              <a:t>，</a:t>
            </a:r>
            <a:r>
              <a:rPr lang="en-US" altLang="zh-CN" b="1" dirty="0"/>
              <a:t>…</a:t>
            </a:r>
            <a:r>
              <a:rPr lang="zh-CN" altLang="en-US" b="1" dirty="0"/>
              <a:t>，</a:t>
            </a:r>
            <a:r>
              <a:rPr lang="en-US" altLang="zh-CN" b="1" dirty="0"/>
              <a:t>Rk </a:t>
            </a:r>
            <a:r>
              <a:rPr lang="zh-CN" altLang="en-US" b="1" dirty="0"/>
              <a:t>｝是</a:t>
            </a:r>
            <a:r>
              <a:rPr lang="en-US" altLang="zh-CN" b="1" dirty="0"/>
              <a:t>R</a:t>
            </a:r>
            <a:r>
              <a:rPr lang="zh-CN" altLang="en-US" b="1" dirty="0"/>
              <a:t>的一个分解，</a:t>
            </a:r>
            <a:r>
              <a:rPr lang="en-US" altLang="zh-CN" b="1" dirty="0"/>
              <a:t>F</a:t>
            </a:r>
            <a:r>
              <a:rPr lang="zh-CN" altLang="en-US" b="1" dirty="0"/>
              <a:t>是</a:t>
            </a:r>
            <a:r>
              <a:rPr lang="en-US" altLang="zh-CN" b="1" dirty="0"/>
              <a:t>R</a:t>
            </a:r>
            <a:r>
              <a:rPr lang="zh-CN" altLang="en-US" b="1" dirty="0"/>
              <a:t>上的</a:t>
            </a:r>
            <a:r>
              <a:rPr lang="en-US" altLang="zh-CN" b="1" dirty="0"/>
              <a:t>FD</a:t>
            </a:r>
            <a:r>
              <a:rPr lang="zh-CN" altLang="en-US" b="1" dirty="0"/>
              <a:t>集，如果有：</a:t>
            </a:r>
            <a:r>
              <a:rPr lang="zh-CN" altLang="en-US" sz="4200" b="1" baseline="-16000" dirty="0"/>
              <a:t>           </a:t>
            </a:r>
            <a:endParaRPr lang="zh-CN" altLang="en-US" sz="4200" b="1" baseline="-16000" dirty="0"/>
          </a:p>
          <a:p>
            <a:pPr eaLnBrk="1" hangingPunct="1">
              <a:buClrTx/>
              <a:buSzTx/>
              <a:buFontTx/>
              <a:buNone/>
            </a:pPr>
            <a:r>
              <a:rPr lang="en-US" altLang="zh-CN" sz="4200" b="1" baseline="-16000" dirty="0"/>
              <a:t>             </a:t>
            </a:r>
            <a:r>
              <a:rPr lang="en-US" altLang="zh-CN" sz="5000" b="1" baseline="-16000" dirty="0"/>
              <a:t>∪π</a:t>
            </a:r>
            <a:r>
              <a:rPr lang="en-US" altLang="zh-CN" sz="4200" b="1" baseline="-25000" dirty="0"/>
              <a:t>R</a:t>
            </a:r>
            <a:r>
              <a:rPr lang="en-US" altLang="zh-CN" b="1" i="1" baseline="-25000" dirty="0"/>
              <a:t>i</a:t>
            </a:r>
            <a:r>
              <a:rPr lang="zh-CN" altLang="en-US" sz="5000" b="1" baseline="-16000" dirty="0"/>
              <a:t>（</a:t>
            </a:r>
            <a:r>
              <a:rPr lang="en-US" altLang="zh-CN" sz="5000" b="1" baseline="-16000" dirty="0"/>
              <a:t>F</a:t>
            </a:r>
            <a:r>
              <a:rPr lang="zh-CN" altLang="en-US" sz="5000" b="1" baseline="-16000" dirty="0"/>
              <a:t>）</a:t>
            </a:r>
            <a:r>
              <a:rPr lang="en-US" altLang="zh-CN" sz="5000" b="1" baseline="-16000" dirty="0"/>
              <a:t>⊨ F</a:t>
            </a:r>
            <a:endParaRPr lang="en-US" altLang="zh-CN" sz="5000" b="1" baseline="-16000" dirty="0"/>
          </a:p>
          <a:p>
            <a:pPr eaLnBrk="1" hangingPunct="1">
              <a:buClrTx/>
              <a:buSzTx/>
              <a:buFontTx/>
              <a:buNone/>
            </a:pPr>
            <a:r>
              <a:rPr lang="zh-CN" altLang="en-US" sz="4200" b="1" baseline="-16000" dirty="0"/>
              <a:t>  则称分解</a:t>
            </a:r>
            <a:r>
              <a:rPr lang="en-US" altLang="zh-CN" sz="4200" b="1" baseline="-16000" dirty="0"/>
              <a:t>ρ</a:t>
            </a:r>
            <a:r>
              <a:rPr lang="zh-CN" altLang="en-US" sz="4200" b="1" baseline="-16000" dirty="0"/>
              <a:t>保持函数依赖集</a:t>
            </a:r>
            <a:r>
              <a:rPr lang="en-US" altLang="zh-CN" sz="4200" b="1" baseline="-16000" dirty="0"/>
              <a:t>F</a:t>
            </a:r>
            <a:r>
              <a:rPr lang="zh-CN" altLang="en-US" sz="3200" b="1" baseline="-16000" dirty="0"/>
              <a:t> </a:t>
            </a:r>
            <a:endParaRPr lang="zh-CN" altLang="en-US" sz="3200" b="1" baseline="-16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1314" name="Rectangle 2"/>
          <p:cNvSpPr>
            <a:spLocks noGrp="1"/>
          </p:cNvSpPr>
          <p:nvPr>
            <p:ph type="title"/>
          </p:nvPr>
        </p:nvSpPr>
        <p:spPr>
          <a:xfrm>
            <a:off x="1279525" y="685800"/>
            <a:ext cx="7086600" cy="487363"/>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保持函数依赖的分解</a:t>
            </a:r>
            <a:endParaRPr lang="zh-CN" altLang="en-US" sz="4000" b="1" dirty="0">
              <a:solidFill>
                <a:srgbClr val="E40000"/>
              </a:solidFill>
              <a:latin typeface="Arial" panose="020B0604020202020204" pitchFamily="34" charset="0"/>
            </a:endParaRPr>
          </a:p>
        </p:txBody>
      </p:sp>
      <p:sp>
        <p:nvSpPr>
          <p:cNvPr id="141315" name="Rectangle 3"/>
          <p:cNvSpPr>
            <a:spLocks noGrp="1"/>
          </p:cNvSpPr>
          <p:nvPr>
            <p:ph idx="1"/>
          </p:nvPr>
        </p:nvSpPr>
        <p:spPr>
          <a:xfrm>
            <a:off x="684213" y="1557338"/>
            <a:ext cx="8459787" cy="4648200"/>
          </a:xfrm>
          <a:ln/>
        </p:spPr>
        <p:txBody>
          <a:bodyPr vert="horz" wrap="square" lIns="91440" tIns="45720" rIns="91440" bIns="45720" anchor="t" anchorCtr="0"/>
          <a:p>
            <a:pPr marL="193675" indent="-193675" algn="just" eaLnBrk="1" hangingPunct="1">
              <a:lnSpc>
                <a:spcPct val="90000"/>
              </a:lnSpc>
            </a:pPr>
            <a:r>
              <a:rPr lang="zh-CN" altLang="en-US" sz="2400" b="1" dirty="0"/>
              <a:t>下面介绍检验分解是否保持函数依赖的算法</a:t>
            </a:r>
            <a:endParaRPr lang="zh-CN" altLang="en-US" sz="2400" b="1" dirty="0"/>
          </a:p>
          <a:p>
            <a:pPr marL="193675" indent="-193675" algn="just" eaLnBrk="1" hangingPunct="1">
              <a:lnSpc>
                <a:spcPct val="90000"/>
              </a:lnSpc>
            </a:pPr>
            <a:r>
              <a:rPr lang="zh-CN" altLang="en-US" sz="2400" b="1" dirty="0"/>
              <a:t>检验分解是否保持函数依赖实质上就是检验        </a:t>
            </a:r>
            <a:endParaRPr lang="zh-CN" altLang="en-US" sz="2400" b="1" dirty="0"/>
          </a:p>
          <a:p>
            <a:pPr marL="193675" indent="-193675" algn="just" eaLnBrk="1" hangingPunct="1">
              <a:lnSpc>
                <a:spcPct val="90000"/>
              </a:lnSpc>
              <a:buNone/>
            </a:pPr>
            <a:r>
              <a:rPr lang="zh-CN" altLang="en-US" sz="2400" b="1" dirty="0"/>
              <a:t>         是否覆盖</a:t>
            </a:r>
            <a:r>
              <a:rPr lang="en-US" altLang="zh-CN" sz="2400" b="1" dirty="0"/>
              <a:t>F</a:t>
            </a:r>
            <a:endParaRPr lang="zh-CN" altLang="en-US" sz="2400" b="1" dirty="0"/>
          </a:p>
          <a:p>
            <a:pPr marL="193675" indent="-193675" algn="just" eaLnBrk="1" hangingPunct="1">
              <a:lnSpc>
                <a:spcPct val="90000"/>
              </a:lnSpc>
            </a:pPr>
            <a:r>
              <a:rPr lang="zh-CN" altLang="en-US" sz="2400" b="1" dirty="0"/>
              <a:t>算法</a:t>
            </a:r>
            <a:r>
              <a:rPr lang="en-US" altLang="zh-CN" sz="2400" b="1" dirty="0"/>
              <a:t>4.4: </a:t>
            </a:r>
            <a:r>
              <a:rPr lang="zh-CN" altLang="en-US" sz="2400" b="1" dirty="0"/>
              <a:t>检验分解是否保持函数依赖。</a:t>
            </a:r>
            <a:endParaRPr lang="zh-CN" altLang="en-US" sz="2400" b="1" dirty="0"/>
          </a:p>
          <a:p>
            <a:pPr marL="193675" indent="-193675" algn="just" eaLnBrk="1" hangingPunct="1">
              <a:lnSpc>
                <a:spcPct val="90000"/>
              </a:lnSpc>
            </a:pPr>
            <a:r>
              <a:rPr lang="zh-CN" altLang="en-US" sz="2400" b="1" dirty="0"/>
              <a:t>输入：</a:t>
            </a:r>
            <a:r>
              <a:rPr lang="en-US" altLang="zh-CN" sz="2400" b="1" dirty="0"/>
              <a:t>ρ={R1,R2,…,Rk}</a:t>
            </a:r>
            <a:r>
              <a:rPr lang="zh-CN" altLang="en-US" sz="2400" b="1" dirty="0"/>
              <a:t>，函数依赖集</a:t>
            </a:r>
            <a:r>
              <a:rPr lang="en-US" altLang="zh-CN" sz="2400" b="1" dirty="0"/>
              <a:t>F</a:t>
            </a:r>
            <a:endParaRPr lang="en-US" altLang="zh-CN" sz="2400" b="1" dirty="0"/>
          </a:p>
          <a:p>
            <a:pPr marL="193675" indent="-193675" algn="just" eaLnBrk="1" hangingPunct="1">
              <a:lnSpc>
                <a:spcPct val="90000"/>
              </a:lnSpc>
            </a:pPr>
            <a:r>
              <a:rPr lang="zh-CN" altLang="en-US" sz="2400" b="1" dirty="0"/>
              <a:t>输出： </a:t>
            </a:r>
            <a:r>
              <a:rPr lang="en-US" altLang="zh-CN" sz="2400" b="1" dirty="0"/>
              <a:t>ρ</a:t>
            </a:r>
            <a:r>
              <a:rPr lang="zh-CN" altLang="en-US" sz="2400" b="1" dirty="0"/>
              <a:t>是否保持</a:t>
            </a:r>
            <a:r>
              <a:rPr lang="en-US" altLang="zh-CN" sz="2400" b="1" dirty="0"/>
              <a:t>F</a:t>
            </a:r>
            <a:endParaRPr lang="en-US" altLang="zh-CN" sz="2400" b="1" dirty="0"/>
          </a:p>
          <a:p>
            <a:pPr marL="193675" indent="-193675" algn="just" eaLnBrk="1" hangingPunct="1">
              <a:lnSpc>
                <a:spcPct val="90000"/>
              </a:lnSpc>
            </a:pPr>
            <a:endParaRPr lang="zh-CN" altLang="en-US" sz="2400" b="1" dirty="0"/>
          </a:p>
          <a:p>
            <a:pPr marL="193675" indent="-193675" algn="just" eaLnBrk="1" hangingPunct="1">
              <a:lnSpc>
                <a:spcPct val="90000"/>
              </a:lnSpc>
            </a:pPr>
            <a:r>
              <a:rPr lang="zh-CN" altLang="en-US" sz="2400" b="1" dirty="0"/>
              <a:t>方法：令</a:t>
            </a:r>
            <a:r>
              <a:rPr lang="en-US" altLang="zh-CN" sz="2400" b="1" dirty="0"/>
              <a:t>G=</a:t>
            </a:r>
            <a:endParaRPr lang="en-US" altLang="zh-CN" sz="2400" b="1" dirty="0"/>
          </a:p>
          <a:p>
            <a:pPr marL="193675" indent="-193675" algn="just" eaLnBrk="1" hangingPunct="1">
              <a:lnSpc>
                <a:spcPct val="90000"/>
              </a:lnSpc>
            </a:pPr>
            <a:r>
              <a:rPr lang="zh-CN" altLang="en-US" sz="2400" b="1" dirty="0"/>
              <a:t>为检验</a:t>
            </a:r>
            <a:r>
              <a:rPr lang="en-US" altLang="zh-CN" sz="2400" b="1" dirty="0"/>
              <a:t>G</a:t>
            </a:r>
            <a:r>
              <a:rPr lang="zh-CN" altLang="en-US" sz="2400" b="1" dirty="0"/>
              <a:t>是否覆盖</a:t>
            </a:r>
            <a:r>
              <a:rPr lang="en-US" altLang="zh-CN" sz="2400" b="1" dirty="0"/>
              <a:t>F</a:t>
            </a:r>
            <a:r>
              <a:rPr lang="zh-CN" altLang="en-US" sz="2400" b="1" dirty="0"/>
              <a:t>，可对</a:t>
            </a:r>
            <a:r>
              <a:rPr lang="en-US" altLang="zh-CN" sz="2400" b="1" dirty="0"/>
              <a:t>F</a:t>
            </a:r>
            <a:r>
              <a:rPr lang="zh-CN" altLang="en-US" sz="2400" b="1" dirty="0"/>
              <a:t>中的每一函数依赖</a:t>
            </a:r>
            <a:r>
              <a:rPr lang="en-US" altLang="zh-CN" sz="2400" b="1" dirty="0"/>
              <a:t>X</a:t>
            </a:r>
            <a:r>
              <a:rPr lang="en-US" altLang="zh-CN" sz="2000" b="1" dirty="0"/>
              <a:t>→</a:t>
            </a:r>
            <a:r>
              <a:rPr lang="en-US" altLang="zh-CN" sz="2400" b="1" dirty="0"/>
              <a:t>Y</a:t>
            </a:r>
            <a:r>
              <a:rPr lang="zh-CN" altLang="en-US" sz="2400" b="1" dirty="0"/>
              <a:t>进行下列检验：</a:t>
            </a:r>
            <a:endParaRPr lang="zh-CN" altLang="en-US" sz="2400" b="1" dirty="0"/>
          </a:p>
          <a:p>
            <a:pPr marL="193675" indent="-193675" algn="just" eaLnBrk="1" hangingPunct="1">
              <a:lnSpc>
                <a:spcPct val="90000"/>
              </a:lnSpc>
            </a:pPr>
            <a:r>
              <a:rPr lang="zh-CN" altLang="en-US" sz="2400" b="1" dirty="0"/>
              <a:t>首先计算   ，然后检查</a:t>
            </a:r>
            <a:r>
              <a:rPr lang="en-US" altLang="zh-CN" sz="2400" b="1" dirty="0"/>
              <a:t>Y</a:t>
            </a:r>
            <a:r>
              <a:rPr lang="zh-CN" altLang="en-US" sz="2400" b="1" dirty="0"/>
              <a:t>是否被包含在   中</a:t>
            </a:r>
            <a:endParaRPr lang="zh-CN" altLang="en-US" sz="2400" b="1" dirty="0"/>
          </a:p>
        </p:txBody>
      </p:sp>
      <p:graphicFrame>
        <p:nvGraphicFramePr>
          <p:cNvPr id="141316" name="Object 4"/>
          <p:cNvGraphicFramePr>
            <a:graphicFrameLocks noChangeAspect="1"/>
          </p:cNvGraphicFramePr>
          <p:nvPr/>
        </p:nvGraphicFramePr>
        <p:xfrm>
          <a:off x="2698750" y="4294188"/>
          <a:ext cx="1582738" cy="503237"/>
        </p:xfrm>
        <a:graphic>
          <a:graphicData uri="http://schemas.openxmlformats.org/presentationml/2006/ole">
            <mc:AlternateContent xmlns:mc="http://schemas.openxmlformats.org/markup-compatibility/2006">
              <mc:Choice xmlns:v="urn:schemas-microsoft-com:vml" Requires="v">
                <p:oleObj spid="_x0000_s3084" name="" r:id="rId1" imgW="729615" imgH="389255" progId="Equation.DSMT4">
                  <p:embed/>
                </p:oleObj>
              </mc:Choice>
              <mc:Fallback>
                <p:oleObj name="" r:id="rId1" imgW="729615" imgH="389255" progId="Equation.DSMT4">
                  <p:embed/>
                  <p:pic>
                    <p:nvPicPr>
                      <p:cNvPr id="0" name="Picture 3083"/>
                      <p:cNvPicPr/>
                      <p:nvPr/>
                    </p:nvPicPr>
                    <p:blipFill>
                      <a:blip r:embed="rId2"/>
                      <a:stretch>
                        <a:fillRect/>
                      </a:stretch>
                    </p:blipFill>
                    <p:spPr>
                      <a:xfrm>
                        <a:off x="2698750" y="4294188"/>
                        <a:ext cx="1582738" cy="503237"/>
                      </a:xfrm>
                      <a:prstGeom prst="rect">
                        <a:avLst/>
                      </a:prstGeom>
                      <a:solidFill>
                        <a:schemeClr val="bg1"/>
                      </a:solidFill>
                      <a:ln w="38100">
                        <a:noFill/>
                        <a:miter/>
                      </a:ln>
                    </p:spPr>
                  </p:pic>
                </p:oleObj>
              </mc:Fallback>
            </mc:AlternateContent>
          </a:graphicData>
        </a:graphic>
      </p:graphicFrame>
      <p:graphicFrame>
        <p:nvGraphicFramePr>
          <p:cNvPr id="141317" name="Object 5"/>
          <p:cNvGraphicFramePr>
            <a:graphicFrameLocks noChangeAspect="1"/>
          </p:cNvGraphicFramePr>
          <p:nvPr/>
        </p:nvGraphicFramePr>
        <p:xfrm>
          <a:off x="981075" y="2349500"/>
          <a:ext cx="1173163" cy="428625"/>
        </p:xfrm>
        <a:graphic>
          <a:graphicData uri="http://schemas.openxmlformats.org/presentationml/2006/ole">
            <mc:AlternateContent xmlns:mc="http://schemas.openxmlformats.org/markup-compatibility/2006">
              <mc:Choice xmlns:v="urn:schemas-microsoft-com:vml" Requires="v">
                <p:oleObj spid="_x0000_s3085" name="" r:id="rId3" imgW="720090" imgH="389255" progId="Equation.DSMT4">
                  <p:embed/>
                </p:oleObj>
              </mc:Choice>
              <mc:Fallback>
                <p:oleObj name="" r:id="rId3" imgW="720090" imgH="389255" progId="Equation.DSMT4">
                  <p:embed/>
                  <p:pic>
                    <p:nvPicPr>
                      <p:cNvPr id="0" name="Picture 3084"/>
                      <p:cNvPicPr/>
                      <p:nvPr/>
                    </p:nvPicPr>
                    <p:blipFill>
                      <a:blip r:embed="rId4"/>
                      <a:stretch>
                        <a:fillRect/>
                      </a:stretch>
                    </p:blipFill>
                    <p:spPr>
                      <a:xfrm>
                        <a:off x="981075" y="2349500"/>
                        <a:ext cx="1173163" cy="428625"/>
                      </a:xfrm>
                      <a:prstGeom prst="rect">
                        <a:avLst/>
                      </a:prstGeom>
                      <a:solidFill>
                        <a:schemeClr val="bg1"/>
                      </a:solidFill>
                      <a:ln w="38100">
                        <a:noFill/>
                        <a:miter/>
                      </a:ln>
                    </p:spPr>
                  </p:pic>
                </p:oleObj>
              </mc:Fallback>
            </mc:AlternateContent>
          </a:graphicData>
        </a:graphic>
      </p:graphicFrame>
      <p:graphicFrame>
        <p:nvGraphicFramePr>
          <p:cNvPr id="141318" name="Object 6"/>
          <p:cNvGraphicFramePr>
            <a:graphicFrameLocks noChangeAspect="1"/>
          </p:cNvGraphicFramePr>
          <p:nvPr/>
        </p:nvGraphicFramePr>
        <p:xfrm>
          <a:off x="2268538" y="5516563"/>
          <a:ext cx="377825" cy="377825"/>
        </p:xfrm>
        <a:graphic>
          <a:graphicData uri="http://schemas.openxmlformats.org/presentationml/2006/ole">
            <mc:AlternateContent xmlns:mc="http://schemas.openxmlformats.org/markup-compatibility/2006">
              <mc:Choice xmlns:v="urn:schemas-microsoft-com:vml" Requires="v">
                <p:oleObj spid="_x0000_s3086" name="" r:id="rId5" imgW="194310" imgH="194310" progId="Equation.DSMT4">
                  <p:embed/>
                </p:oleObj>
              </mc:Choice>
              <mc:Fallback>
                <p:oleObj name="" r:id="rId5" imgW="194310" imgH="194310" progId="Equation.DSMT4">
                  <p:embed/>
                  <p:pic>
                    <p:nvPicPr>
                      <p:cNvPr id="0" name="Picture 3085"/>
                      <p:cNvPicPr/>
                      <p:nvPr/>
                    </p:nvPicPr>
                    <p:blipFill>
                      <a:blip r:embed="rId6"/>
                      <a:stretch>
                        <a:fillRect/>
                      </a:stretch>
                    </p:blipFill>
                    <p:spPr>
                      <a:xfrm>
                        <a:off x="2268538" y="5516563"/>
                        <a:ext cx="377825" cy="377825"/>
                      </a:xfrm>
                      <a:prstGeom prst="rect">
                        <a:avLst/>
                      </a:prstGeom>
                      <a:solidFill>
                        <a:schemeClr val="bg1"/>
                      </a:solidFill>
                      <a:ln w="38100">
                        <a:noFill/>
                        <a:miter/>
                      </a:ln>
                    </p:spPr>
                  </p:pic>
                </p:oleObj>
              </mc:Fallback>
            </mc:AlternateContent>
          </a:graphicData>
        </a:graphic>
      </p:graphicFrame>
      <p:graphicFrame>
        <p:nvGraphicFramePr>
          <p:cNvPr id="141319" name="Object 7"/>
          <p:cNvGraphicFramePr>
            <a:graphicFrameLocks noChangeAspect="1"/>
          </p:cNvGraphicFramePr>
          <p:nvPr/>
        </p:nvGraphicFramePr>
        <p:xfrm>
          <a:off x="6227763" y="5516563"/>
          <a:ext cx="377825" cy="377825"/>
        </p:xfrm>
        <a:graphic>
          <a:graphicData uri="http://schemas.openxmlformats.org/presentationml/2006/ole">
            <mc:AlternateContent xmlns:mc="http://schemas.openxmlformats.org/markup-compatibility/2006">
              <mc:Choice xmlns:v="urn:schemas-microsoft-com:vml" Requires="v">
                <p:oleObj spid="_x0000_s3087" name="" r:id="rId7" imgW="194310" imgH="194310" progId="Equation.DSMT4">
                  <p:embed/>
                </p:oleObj>
              </mc:Choice>
              <mc:Fallback>
                <p:oleObj name="" r:id="rId7" imgW="194310" imgH="194310" progId="Equation.DSMT4">
                  <p:embed/>
                  <p:pic>
                    <p:nvPicPr>
                      <p:cNvPr id="0" name="Picture 3086"/>
                      <p:cNvPicPr/>
                      <p:nvPr/>
                    </p:nvPicPr>
                    <p:blipFill>
                      <a:blip r:embed="rId8"/>
                      <a:stretch>
                        <a:fillRect/>
                      </a:stretch>
                    </p:blipFill>
                    <p:spPr>
                      <a:xfrm>
                        <a:off x="6227763" y="5516563"/>
                        <a:ext cx="377825" cy="377825"/>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3362" name="Rectangle 2"/>
          <p:cNvSpPr>
            <a:spLocks noGrp="1"/>
          </p:cNvSpPr>
          <p:nvPr>
            <p:ph type="title"/>
          </p:nvPr>
        </p:nvSpPr>
        <p:spPr>
          <a:xfrm>
            <a:off x="1279525" y="685800"/>
            <a:ext cx="7086600" cy="487363"/>
          </a:xfrm>
          <a:solidFill>
            <a:schemeClr val="bg1">
              <a:alpha val="100000"/>
            </a:schemeClr>
          </a:solidFill>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保持函数依赖的分解</a:t>
            </a:r>
            <a:endParaRPr lang="zh-CN" altLang="en-US" sz="4000" b="1" dirty="0">
              <a:solidFill>
                <a:srgbClr val="E40000"/>
              </a:solidFill>
              <a:latin typeface="Arial" panose="020B0604020202020204" pitchFamily="34" charset="0"/>
            </a:endParaRPr>
          </a:p>
        </p:txBody>
      </p:sp>
      <p:sp>
        <p:nvSpPr>
          <p:cNvPr id="143363" name="Rectangle 3"/>
          <p:cNvSpPr>
            <a:spLocks noGrp="1"/>
          </p:cNvSpPr>
          <p:nvPr>
            <p:ph idx="1"/>
          </p:nvPr>
        </p:nvSpPr>
        <p:spPr>
          <a:xfrm>
            <a:off x="539750" y="1524000"/>
            <a:ext cx="7772400" cy="5029200"/>
          </a:xfrm>
          <a:ln/>
        </p:spPr>
        <p:txBody>
          <a:bodyPr vert="horz" wrap="square" lIns="91440" tIns="45720" rIns="91440" bIns="45720" anchor="t" anchorCtr="0"/>
          <a:p>
            <a:pPr marL="193675" indent="-193675" algn="just" eaLnBrk="1" hangingPunct="1">
              <a:lnSpc>
                <a:spcPct val="90000"/>
              </a:lnSpc>
            </a:pPr>
            <a:r>
              <a:rPr lang="zh-CN" altLang="en-US" b="1" dirty="0"/>
              <a:t>下面是不必求出</a:t>
            </a:r>
            <a:r>
              <a:rPr lang="en-US" altLang="zh-CN" b="1" dirty="0"/>
              <a:t>G</a:t>
            </a:r>
            <a:r>
              <a:rPr lang="zh-CN" altLang="en-US" b="1" dirty="0"/>
              <a:t>而计算   的算法：</a:t>
            </a:r>
            <a:endParaRPr lang="zh-CN" altLang="en-US" b="1" dirty="0"/>
          </a:p>
          <a:p>
            <a:pPr marL="193675" indent="-193675" algn="just" eaLnBrk="1" hangingPunct="1">
              <a:lnSpc>
                <a:spcPct val="90000"/>
              </a:lnSpc>
              <a:buNone/>
            </a:pPr>
            <a:r>
              <a:rPr lang="zh-CN" altLang="en-US" b="1" dirty="0"/>
              <a:t>   </a:t>
            </a:r>
            <a:r>
              <a:rPr lang="en-US" altLang="zh-CN" b="1" dirty="0"/>
              <a:t>Z := X;</a:t>
            </a:r>
            <a:endParaRPr lang="en-US" altLang="zh-CN" b="1" dirty="0"/>
          </a:p>
          <a:p>
            <a:pPr marL="193675" indent="-193675" algn="just" eaLnBrk="1" hangingPunct="1">
              <a:lnSpc>
                <a:spcPct val="90000"/>
              </a:lnSpc>
              <a:buNone/>
            </a:pPr>
            <a:r>
              <a:rPr lang="en-US" altLang="zh-CN" b="1" dirty="0"/>
              <a:t>   repeat</a:t>
            </a:r>
            <a:endParaRPr lang="en-US" altLang="zh-CN" b="1" dirty="0"/>
          </a:p>
          <a:p>
            <a:pPr marL="193675" indent="-193675" algn="just" eaLnBrk="1" hangingPunct="1">
              <a:lnSpc>
                <a:spcPct val="90000"/>
              </a:lnSpc>
              <a:buNone/>
            </a:pPr>
            <a:r>
              <a:rPr lang="en-US" altLang="zh-CN" b="1" dirty="0"/>
              <a:t>     for i=1 to k do</a:t>
            </a:r>
            <a:endParaRPr lang="en-US" altLang="zh-CN" b="1" dirty="0"/>
          </a:p>
          <a:p>
            <a:pPr marL="193675" indent="-193675" algn="just" eaLnBrk="1" hangingPunct="1">
              <a:lnSpc>
                <a:spcPct val="90000"/>
              </a:lnSpc>
              <a:buNone/>
            </a:pPr>
            <a:r>
              <a:rPr lang="en-US" altLang="zh-CN" b="1" dirty="0"/>
              <a:t>       Z:=Z</a:t>
            </a:r>
            <a:r>
              <a:rPr lang="en-US" altLang="zh-CN" b="1" dirty="0">
                <a:cs typeface="Times New Roman" panose="02020603050405020304" pitchFamily="18" charset="0"/>
              </a:rPr>
              <a:t>∪</a:t>
            </a:r>
            <a:r>
              <a:rPr lang="en-US" altLang="zh-CN" b="1" dirty="0"/>
              <a:t>((Z </a:t>
            </a:r>
            <a:r>
              <a:rPr lang="en-US" altLang="zh-CN" b="1" dirty="0">
                <a:cs typeface="Times New Roman" panose="02020603050405020304" pitchFamily="18" charset="0"/>
              </a:rPr>
              <a:t>∩</a:t>
            </a:r>
            <a:r>
              <a:rPr lang="en-US" altLang="zh-CN" b="1" dirty="0"/>
              <a:t> U</a:t>
            </a:r>
            <a:r>
              <a:rPr lang="en-US" altLang="zh-CN" b="1" baseline="-25000" dirty="0"/>
              <a:t>i</a:t>
            </a:r>
            <a:r>
              <a:rPr lang="en-US" altLang="zh-CN" b="1" dirty="0"/>
              <a:t>)</a:t>
            </a:r>
            <a:r>
              <a:rPr lang="en-US" altLang="zh-CN" sz="2000" b="1" dirty="0"/>
              <a:t>F</a:t>
            </a:r>
            <a:r>
              <a:rPr lang="en-US" altLang="zh-CN" b="1" baseline="30000" dirty="0"/>
              <a:t>+</a:t>
            </a:r>
            <a:r>
              <a:rPr lang="en-US" altLang="zh-CN" sz="2000" b="1" dirty="0"/>
              <a:t> </a:t>
            </a:r>
            <a:r>
              <a:rPr lang="en-US" altLang="zh-CN" b="1" dirty="0">
                <a:cs typeface="Times New Roman" panose="02020603050405020304" pitchFamily="18" charset="0"/>
              </a:rPr>
              <a:t>∩ U</a:t>
            </a:r>
            <a:r>
              <a:rPr lang="en-US" altLang="zh-CN" b="1" baseline="-25000" dirty="0"/>
              <a:t>i</a:t>
            </a:r>
            <a:r>
              <a:rPr lang="en-US" altLang="zh-CN" b="1" dirty="0">
                <a:cs typeface="Times New Roman" panose="02020603050405020304" pitchFamily="18" charset="0"/>
              </a:rPr>
              <a:t>)</a:t>
            </a:r>
            <a:endParaRPr lang="en-US" altLang="zh-CN" b="1" dirty="0">
              <a:cs typeface="Times New Roman" panose="02020603050405020304" pitchFamily="18" charset="0"/>
            </a:endParaRPr>
          </a:p>
          <a:p>
            <a:pPr marL="193675" indent="-193675" algn="just" eaLnBrk="1" hangingPunct="1">
              <a:lnSpc>
                <a:spcPct val="90000"/>
              </a:lnSpc>
              <a:buNone/>
            </a:pPr>
            <a:r>
              <a:rPr lang="en-US" altLang="zh-CN" sz="2400" b="1" dirty="0"/>
              <a:t>    until Z</a:t>
            </a:r>
            <a:r>
              <a:rPr lang="zh-CN" altLang="en-US" sz="2400" b="1" dirty="0"/>
              <a:t>不再变化；</a:t>
            </a:r>
            <a:endParaRPr lang="zh-CN" altLang="en-US" sz="2400" b="1" dirty="0"/>
          </a:p>
          <a:p>
            <a:pPr marL="193675" indent="-193675" algn="just" eaLnBrk="1" hangingPunct="1">
              <a:lnSpc>
                <a:spcPct val="90000"/>
              </a:lnSpc>
            </a:pPr>
            <a:r>
              <a:rPr lang="zh-CN" altLang="en-US" b="1" dirty="0"/>
              <a:t>如果</a:t>
            </a:r>
            <a:r>
              <a:rPr lang="en-US" altLang="zh-CN" b="1" dirty="0"/>
              <a:t>Y</a:t>
            </a:r>
            <a:r>
              <a:rPr lang="zh-CN" altLang="en-US" b="1" dirty="0"/>
              <a:t>被包含在   中，则</a:t>
            </a:r>
            <a:r>
              <a:rPr lang="en-US" altLang="zh-CN" b="1" dirty="0"/>
              <a:t>X</a:t>
            </a:r>
            <a:r>
              <a:rPr lang="en-US" altLang="zh-CN" sz="2400" b="1" dirty="0"/>
              <a:t>→</a:t>
            </a:r>
            <a:r>
              <a:rPr lang="en-US" altLang="zh-CN" b="1" dirty="0"/>
              <a:t>Y  </a:t>
            </a:r>
            <a:endParaRPr lang="zh-CN" altLang="en-US" b="1" dirty="0"/>
          </a:p>
          <a:p>
            <a:pPr marL="193675" indent="-193675" algn="just" eaLnBrk="1" hangingPunct="1">
              <a:lnSpc>
                <a:spcPct val="90000"/>
              </a:lnSpc>
            </a:pPr>
            <a:r>
              <a:rPr lang="zh-CN" altLang="en-US" b="1" dirty="0"/>
              <a:t>如果</a:t>
            </a:r>
            <a:r>
              <a:rPr lang="en-US" altLang="zh-CN" b="1" dirty="0"/>
              <a:t>F</a:t>
            </a:r>
            <a:r>
              <a:rPr lang="zh-CN" altLang="en-US" b="1" dirty="0"/>
              <a:t>中的所有函数依赖经检验都属于  ，则</a:t>
            </a:r>
            <a:r>
              <a:rPr lang="en-US" altLang="zh-CN" b="1" dirty="0"/>
              <a:t>ρ</a:t>
            </a:r>
            <a:r>
              <a:rPr lang="zh-CN" altLang="en-US" b="1" dirty="0"/>
              <a:t>保持依赖，否则不保持依赖</a:t>
            </a:r>
            <a:endParaRPr lang="zh-CN" altLang="en-US" b="1" dirty="0"/>
          </a:p>
        </p:txBody>
      </p:sp>
      <p:graphicFrame>
        <p:nvGraphicFramePr>
          <p:cNvPr id="143364" name="Object 4"/>
          <p:cNvGraphicFramePr>
            <a:graphicFrameLocks noChangeAspect="1"/>
          </p:cNvGraphicFramePr>
          <p:nvPr/>
        </p:nvGraphicFramePr>
        <p:xfrm>
          <a:off x="4699000" y="1600200"/>
          <a:ext cx="449263" cy="377825"/>
        </p:xfrm>
        <a:graphic>
          <a:graphicData uri="http://schemas.openxmlformats.org/presentationml/2006/ole">
            <mc:AlternateContent xmlns:mc="http://schemas.openxmlformats.org/markup-compatibility/2006">
              <mc:Choice xmlns:v="urn:schemas-microsoft-com:vml" Requires="v">
                <p:oleObj spid="_x0000_s3088" name="" r:id="rId1" imgW="194310" imgH="194310" progId="Equation.DSMT4">
                  <p:embed/>
                </p:oleObj>
              </mc:Choice>
              <mc:Fallback>
                <p:oleObj name="" r:id="rId1" imgW="194310" imgH="194310" progId="Equation.DSMT4">
                  <p:embed/>
                  <p:pic>
                    <p:nvPicPr>
                      <p:cNvPr id="0" name="Picture 3087"/>
                      <p:cNvPicPr/>
                      <p:nvPr/>
                    </p:nvPicPr>
                    <p:blipFill>
                      <a:blip r:embed="rId2"/>
                      <a:stretch>
                        <a:fillRect/>
                      </a:stretch>
                    </p:blipFill>
                    <p:spPr>
                      <a:xfrm>
                        <a:off x="4699000" y="1600200"/>
                        <a:ext cx="449263" cy="377825"/>
                      </a:xfrm>
                      <a:prstGeom prst="rect">
                        <a:avLst/>
                      </a:prstGeom>
                      <a:solidFill>
                        <a:schemeClr val="bg1"/>
                      </a:solidFill>
                      <a:ln w="38100">
                        <a:noFill/>
                        <a:miter/>
                      </a:ln>
                    </p:spPr>
                  </p:pic>
                </p:oleObj>
              </mc:Fallback>
            </mc:AlternateContent>
          </a:graphicData>
        </a:graphic>
      </p:graphicFrame>
      <p:graphicFrame>
        <p:nvGraphicFramePr>
          <p:cNvPr id="143365" name="Object 5"/>
          <p:cNvGraphicFramePr>
            <a:graphicFrameLocks noChangeAspect="1"/>
          </p:cNvGraphicFramePr>
          <p:nvPr/>
        </p:nvGraphicFramePr>
        <p:xfrm>
          <a:off x="3330575" y="4365625"/>
          <a:ext cx="377825" cy="377825"/>
        </p:xfrm>
        <a:graphic>
          <a:graphicData uri="http://schemas.openxmlformats.org/presentationml/2006/ole">
            <mc:AlternateContent xmlns:mc="http://schemas.openxmlformats.org/markup-compatibility/2006">
              <mc:Choice xmlns:v="urn:schemas-microsoft-com:vml" Requires="v">
                <p:oleObj spid="_x0000_s3089" name="" r:id="rId3" imgW="194310" imgH="194310" progId="Equation.DSMT4">
                  <p:embed/>
                </p:oleObj>
              </mc:Choice>
              <mc:Fallback>
                <p:oleObj name="" r:id="rId3" imgW="194310" imgH="194310" progId="Equation.DSMT4">
                  <p:embed/>
                  <p:pic>
                    <p:nvPicPr>
                      <p:cNvPr id="0" name="Picture 3088"/>
                      <p:cNvPicPr/>
                      <p:nvPr/>
                    </p:nvPicPr>
                    <p:blipFill>
                      <a:blip r:embed="rId4"/>
                      <a:stretch>
                        <a:fillRect/>
                      </a:stretch>
                    </p:blipFill>
                    <p:spPr>
                      <a:xfrm>
                        <a:off x="3330575" y="4365625"/>
                        <a:ext cx="377825" cy="377825"/>
                      </a:xfrm>
                      <a:prstGeom prst="rect">
                        <a:avLst/>
                      </a:prstGeom>
                      <a:solidFill>
                        <a:schemeClr val="bg1"/>
                      </a:solidFill>
                      <a:ln w="38100">
                        <a:noFill/>
                        <a:miter/>
                      </a:ln>
                    </p:spPr>
                  </p:pic>
                </p:oleObj>
              </mc:Fallback>
            </mc:AlternateContent>
          </a:graphicData>
        </a:graphic>
      </p:graphicFrame>
      <p:sp>
        <p:nvSpPr>
          <p:cNvPr id="143366" name="Rectangle 7"/>
          <p:cNvSpPr/>
          <p:nvPr/>
        </p:nvSpPr>
        <p:spPr>
          <a:xfrm>
            <a:off x="4400550" y="333375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graphicFrame>
        <p:nvGraphicFramePr>
          <p:cNvPr id="143367" name="Object 8"/>
          <p:cNvGraphicFramePr>
            <a:graphicFrameLocks noChangeAspect="1"/>
          </p:cNvGraphicFramePr>
          <p:nvPr/>
        </p:nvGraphicFramePr>
        <p:xfrm>
          <a:off x="5576888" y="4292600"/>
          <a:ext cx="579437" cy="357188"/>
        </p:xfrm>
        <a:graphic>
          <a:graphicData uri="http://schemas.openxmlformats.org/presentationml/2006/ole">
            <mc:AlternateContent xmlns:mc="http://schemas.openxmlformats.org/markup-compatibility/2006">
              <mc:Choice xmlns:v="urn:schemas-microsoft-com:vml" Requires="v">
                <p:oleObj spid="_x0000_s3090" name="" r:id="rId5" imgW="292100" imgH="155575" progId="Equation.DSMT4">
                  <p:embed/>
                </p:oleObj>
              </mc:Choice>
              <mc:Fallback>
                <p:oleObj name="" r:id="rId5" imgW="292100" imgH="155575" progId="Equation.DSMT4">
                  <p:embed/>
                  <p:pic>
                    <p:nvPicPr>
                      <p:cNvPr id="0" name="Picture 3089"/>
                      <p:cNvPicPr/>
                      <p:nvPr/>
                    </p:nvPicPr>
                    <p:blipFill>
                      <a:blip r:embed="rId6"/>
                      <a:stretch>
                        <a:fillRect/>
                      </a:stretch>
                    </p:blipFill>
                    <p:spPr>
                      <a:xfrm>
                        <a:off x="5576888" y="4292600"/>
                        <a:ext cx="579437" cy="357188"/>
                      </a:xfrm>
                      <a:prstGeom prst="rect">
                        <a:avLst/>
                      </a:prstGeom>
                      <a:solidFill>
                        <a:schemeClr val="bg1"/>
                      </a:solidFill>
                      <a:ln w="38100">
                        <a:noFill/>
                        <a:miter/>
                      </a:ln>
                    </p:spPr>
                  </p:pic>
                </p:oleObj>
              </mc:Fallback>
            </mc:AlternateContent>
          </a:graphicData>
        </a:graphic>
      </p:graphicFrame>
      <p:graphicFrame>
        <p:nvGraphicFramePr>
          <p:cNvPr id="143368" name="Object 9"/>
          <p:cNvGraphicFramePr>
            <a:graphicFrameLocks noChangeAspect="1"/>
          </p:cNvGraphicFramePr>
          <p:nvPr/>
        </p:nvGraphicFramePr>
        <p:xfrm>
          <a:off x="6948488" y="4800600"/>
          <a:ext cx="379412" cy="357188"/>
        </p:xfrm>
        <a:graphic>
          <a:graphicData uri="http://schemas.openxmlformats.org/presentationml/2006/ole">
            <mc:AlternateContent xmlns:mc="http://schemas.openxmlformats.org/markup-compatibility/2006">
              <mc:Choice xmlns:v="urn:schemas-microsoft-com:vml" Requires="v">
                <p:oleObj spid="_x0000_s3091" name="" r:id="rId7" imgW="175260" imgH="155575" progId="Equation.DSMT4">
                  <p:embed/>
                </p:oleObj>
              </mc:Choice>
              <mc:Fallback>
                <p:oleObj name="" r:id="rId7" imgW="175260" imgH="155575" progId="Equation.DSMT4">
                  <p:embed/>
                  <p:pic>
                    <p:nvPicPr>
                      <p:cNvPr id="0" name="Picture 3090"/>
                      <p:cNvPicPr/>
                      <p:nvPr/>
                    </p:nvPicPr>
                    <p:blipFill>
                      <a:blip r:embed="rId8"/>
                      <a:stretch>
                        <a:fillRect/>
                      </a:stretch>
                    </p:blipFill>
                    <p:spPr>
                      <a:xfrm>
                        <a:off x="6948488" y="4800600"/>
                        <a:ext cx="379412" cy="357188"/>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5410"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保持函数依赖的分解：举例</a:t>
            </a:r>
            <a:endParaRPr lang="zh-CN" altLang="en-US" sz="4000" b="1" dirty="0">
              <a:solidFill>
                <a:srgbClr val="E40000"/>
              </a:solidFill>
              <a:latin typeface="Arial" panose="020B0604020202020204" pitchFamily="34" charset="0"/>
            </a:endParaRPr>
          </a:p>
        </p:txBody>
      </p:sp>
      <p:sp>
        <p:nvSpPr>
          <p:cNvPr id="74755" name="Rectangle 3"/>
          <p:cNvSpPr>
            <a:spLocks noGrp="1" noChangeArrowheads="1"/>
          </p:cNvSpPr>
          <p:nvPr>
            <p:ph type="body" sz="half" idx="1"/>
          </p:nvPr>
        </p:nvSpPr>
        <p:spPr>
          <a:xfrm>
            <a:off x="1279525" y="1600200"/>
            <a:ext cx="7396163" cy="4525963"/>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例</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4.6</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R(ABCD) F={A→B,B→C,C→D,D→A}</a:t>
            </a:r>
            <a:r>
              <a:rPr kumimoji="0" lang="en-US" altLang="zh-CN" sz="2000" b="1" i="0" u="none" strike="noStrike" kern="0" cap="none" spc="0" normalizeH="0" baseline="0" noProof="0" dirty="0">
                <a:ln>
                  <a:noFill/>
                </a:ln>
                <a:solidFill>
                  <a:schemeClr val="tx1"/>
                </a:solidFill>
                <a:effectLst/>
                <a:uLnTx/>
                <a:uFillTx/>
                <a:latin typeface="+mn-lt"/>
                <a:ea typeface="+mn-ea"/>
                <a:cs typeface="+mn-cs"/>
              </a:rPr>
              <a:t> </a:t>
            </a:r>
            <a:endParaRPr kumimoji="0" lang="en-US" altLang="zh-CN" sz="20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  试判别</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ρ={R1(AB),R2(BC),R3(CD)}</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是否保持依赖</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F</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解：显然</a:t>
            </a:r>
            <a:r>
              <a:rPr kumimoji="0" lang="zh-CN" altLang="en-US" sz="20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ρ</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可以保持</a:t>
            </a:r>
            <a:r>
              <a:rPr kumimoji="0" lang="zh-CN" altLang="en-US" sz="20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A→B,B→C,C→D</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   下面检验</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ρ</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是否保持</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D→A</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   令</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G=       </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100000"/>
              </a:lnSpc>
              <a:spcBef>
                <a:spcPct val="20000"/>
              </a:spcBef>
              <a:spcAft>
                <a:spcPct val="0"/>
              </a:spcAft>
              <a:buClrTx/>
              <a:buSzTx/>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10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   ∵    =DCBA </a:t>
            </a:r>
            <a:r>
              <a:rPr kumimoji="0" lang="zh-CN" altLang="en-US" sz="2400" b="0"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其中包含</a:t>
            </a:r>
            <a:r>
              <a:rPr kumimoji="0" lang="en-US" altLang="zh-CN" sz="2400" b="0"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A</a:t>
            </a:r>
            <a:endParaRPr kumimoji="0" lang="en-US" altLang="zh-CN" sz="2400" b="0" i="0" u="none" strike="noStrike" kern="0" cap="none" spc="0" normalizeH="0" baseline="0" noProof="0" dirty="0">
              <a:ln>
                <a:noFill/>
              </a:ln>
              <a:solidFill>
                <a:schemeClr val="tx1"/>
              </a:solidFill>
              <a:effectLst/>
              <a:uLnTx/>
              <a:uFillTx/>
              <a:latin typeface="黑体" pitchFamily="49" charset="-122"/>
              <a:ea typeface="黑体" pitchFamily="49" charset="-122"/>
              <a:cs typeface="+mn-cs"/>
            </a:endParaRPr>
          </a:p>
          <a:p>
            <a:pPr marL="342900" marR="0" lvl="0" indent="-342900" algn="just" defTabSz="914400" rtl="0" eaLnBrk="1" fontAlgn="base" latinLnBrk="0" hangingPunct="1">
              <a:lnSpc>
                <a:spcPct val="10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黑体" pitchFamily="49" charset="-122"/>
                <a:ea typeface="黑体" pitchFamily="49" charset="-122"/>
                <a:cs typeface="+mn-cs"/>
              </a:rPr>
              <a:t>   ∴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ρ</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保持依赖</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F</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20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a:ln>
                  <a:noFill/>
                </a:ln>
                <a:solidFill>
                  <a:schemeClr val="accent6">
                    <a:lumMod val="40000"/>
                    <a:lumOff val="60000"/>
                  </a:schemeClr>
                </a:solidFill>
                <a:effectLst/>
                <a:uLnTx/>
                <a:uFillTx/>
                <a:latin typeface="+mn-lt"/>
                <a:ea typeface="+mn-ea"/>
                <a:cs typeface="+mn-cs"/>
              </a:rPr>
              <a:t>Z:=Z</a:t>
            </a:r>
            <a:r>
              <a:rPr kumimoji="0" lang="en-US" altLang="zh-CN" sz="2400" b="1" i="0" u="none" strike="noStrike" kern="0" cap="none" spc="0" normalizeH="0" baseline="0" noProof="0" dirty="0">
                <a:ln>
                  <a:noFill/>
                </a:ln>
                <a:solidFill>
                  <a:schemeClr val="accent6">
                    <a:lumMod val="40000"/>
                    <a:lumOff val="60000"/>
                  </a:schemeClr>
                </a:solidFill>
                <a:effectLst/>
                <a:uLnTx/>
                <a:uFillTx/>
                <a:latin typeface="+mn-lt"/>
                <a:ea typeface="+mn-ea"/>
                <a:cs typeface="Times New Roman" panose="02020603050405020304" pitchFamily="18" charset="0"/>
              </a:rPr>
              <a:t>∪</a:t>
            </a:r>
            <a:r>
              <a:rPr kumimoji="0" lang="en-US" altLang="zh-CN" sz="2400" b="1" i="0" u="none" strike="noStrike" kern="0" cap="none" spc="0" normalizeH="0" baseline="0" noProof="0" dirty="0">
                <a:ln>
                  <a:noFill/>
                </a:ln>
                <a:solidFill>
                  <a:schemeClr val="accent6">
                    <a:lumMod val="40000"/>
                    <a:lumOff val="60000"/>
                  </a:schemeClr>
                </a:solidFill>
                <a:effectLst/>
                <a:uLnTx/>
                <a:uFillTx/>
                <a:latin typeface="+mn-lt"/>
                <a:ea typeface="+mn-ea"/>
                <a:cs typeface="+mn-cs"/>
              </a:rPr>
              <a:t>((Z </a:t>
            </a:r>
            <a:r>
              <a:rPr kumimoji="0" lang="en-US" altLang="zh-CN" sz="2400" b="1" i="0" u="none" strike="noStrike" kern="0" cap="none" spc="0" normalizeH="0" baseline="0" noProof="0" dirty="0">
                <a:ln>
                  <a:noFill/>
                </a:ln>
                <a:solidFill>
                  <a:schemeClr val="accent6">
                    <a:lumMod val="40000"/>
                    <a:lumOff val="60000"/>
                  </a:schemeClr>
                </a:solidFill>
                <a:effectLst/>
                <a:uLnTx/>
                <a:uFillTx/>
                <a:latin typeface="+mn-lt"/>
                <a:ea typeface="+mn-ea"/>
                <a:cs typeface="Times New Roman" panose="02020603050405020304" pitchFamily="18" charset="0"/>
              </a:rPr>
              <a:t>∩</a:t>
            </a:r>
            <a:r>
              <a:rPr kumimoji="0" lang="en-US" altLang="zh-CN" sz="2400" b="1" i="0" u="none" strike="noStrike" kern="0" cap="none" spc="0" normalizeH="0" baseline="0" noProof="0" dirty="0">
                <a:ln>
                  <a:noFill/>
                </a:ln>
                <a:solidFill>
                  <a:schemeClr val="accent6">
                    <a:lumMod val="40000"/>
                    <a:lumOff val="60000"/>
                  </a:schemeClr>
                </a:solidFill>
                <a:effectLst/>
                <a:uLnTx/>
                <a:uFillTx/>
                <a:latin typeface="+mn-lt"/>
                <a:ea typeface="+mn-ea"/>
                <a:cs typeface="+mn-cs"/>
              </a:rPr>
              <a:t> U</a:t>
            </a:r>
            <a:r>
              <a:rPr kumimoji="0" lang="en-US" altLang="zh-CN" sz="2400" b="1" i="0" u="none" strike="noStrike" kern="0" cap="none" spc="0" normalizeH="0" baseline="-25000" noProof="0" dirty="0">
                <a:ln>
                  <a:noFill/>
                </a:ln>
                <a:solidFill>
                  <a:schemeClr val="accent6">
                    <a:lumMod val="40000"/>
                    <a:lumOff val="60000"/>
                  </a:schemeClr>
                </a:solidFill>
                <a:effectLst/>
                <a:uLnTx/>
                <a:uFillTx/>
                <a:latin typeface="+mn-lt"/>
                <a:ea typeface="+mn-ea"/>
                <a:cs typeface="+mn-cs"/>
              </a:rPr>
              <a:t>i</a:t>
            </a:r>
            <a:r>
              <a:rPr kumimoji="0" lang="en-US" altLang="zh-CN" sz="2400" b="1" i="0" u="none" strike="noStrike" kern="0" cap="none" spc="0" normalizeH="0" baseline="0" noProof="0" dirty="0">
                <a:ln>
                  <a:noFill/>
                </a:ln>
                <a:solidFill>
                  <a:schemeClr val="accent6">
                    <a:lumMod val="40000"/>
                    <a:lumOff val="60000"/>
                  </a:schemeClr>
                </a:solidFill>
                <a:effectLst/>
                <a:uLnTx/>
                <a:uFillTx/>
                <a:latin typeface="+mn-lt"/>
                <a:ea typeface="+mn-ea"/>
                <a:cs typeface="+mn-cs"/>
              </a:rPr>
              <a:t>)</a:t>
            </a:r>
            <a:r>
              <a:rPr kumimoji="0" lang="en-US" altLang="zh-CN" sz="2400" b="1" i="0" u="none" strike="noStrike" kern="0" cap="none" spc="0" normalizeH="0" baseline="30000" noProof="0" dirty="0">
                <a:ln>
                  <a:noFill/>
                </a:ln>
                <a:solidFill>
                  <a:schemeClr val="accent6">
                    <a:lumMod val="40000"/>
                    <a:lumOff val="60000"/>
                  </a:schemeClr>
                </a:solidFill>
                <a:effectLst/>
                <a:uLnTx/>
                <a:uFillTx/>
                <a:latin typeface="+mn-lt"/>
                <a:ea typeface="+mn-ea"/>
                <a:cs typeface="+mn-cs"/>
              </a:rPr>
              <a:t> </a:t>
            </a:r>
            <a:r>
              <a:rPr kumimoji="0" lang="en-US" altLang="zh-CN" sz="1800" b="1" i="0" u="none" strike="noStrike" kern="0" cap="none" spc="0" normalizeH="0" baseline="0" noProof="0" dirty="0">
                <a:ln>
                  <a:noFill/>
                </a:ln>
                <a:solidFill>
                  <a:schemeClr val="accent6">
                    <a:lumMod val="40000"/>
                    <a:lumOff val="60000"/>
                  </a:schemeClr>
                </a:solidFill>
                <a:effectLst/>
                <a:uLnTx/>
                <a:uFillTx/>
                <a:latin typeface="+mn-lt"/>
                <a:ea typeface="+mn-ea"/>
                <a:cs typeface="+mn-cs"/>
              </a:rPr>
              <a:t>F</a:t>
            </a:r>
            <a:r>
              <a:rPr kumimoji="0" lang="en-US" altLang="zh-CN" sz="2400" b="1" i="0" u="none" strike="noStrike" kern="0" cap="none" spc="0" normalizeH="0" baseline="30000" noProof="0" dirty="0">
                <a:ln>
                  <a:noFill/>
                </a:ln>
                <a:solidFill>
                  <a:schemeClr val="accent6">
                    <a:lumMod val="40000"/>
                    <a:lumOff val="60000"/>
                  </a:schemeClr>
                </a:solidFill>
                <a:effectLst/>
                <a:uLnTx/>
                <a:uFillTx/>
                <a:latin typeface="+mn-lt"/>
                <a:ea typeface="+mn-ea"/>
                <a:cs typeface="+mn-cs"/>
              </a:rPr>
              <a:t>+</a:t>
            </a:r>
            <a:r>
              <a:rPr kumimoji="0" lang="en-US" altLang="zh-CN" sz="1800" b="1" i="0" u="none" strike="noStrike" kern="0" cap="none" spc="0" normalizeH="0" baseline="0" noProof="0" dirty="0">
                <a:ln>
                  <a:noFill/>
                </a:ln>
                <a:solidFill>
                  <a:schemeClr val="accent6">
                    <a:lumMod val="40000"/>
                    <a:lumOff val="60000"/>
                  </a:schemeClr>
                </a:solidFill>
                <a:effectLst/>
                <a:uLnTx/>
                <a:uFillTx/>
                <a:latin typeface="+mn-lt"/>
                <a:ea typeface="+mn-ea"/>
                <a:cs typeface="+mn-cs"/>
              </a:rPr>
              <a:t> </a:t>
            </a:r>
            <a:r>
              <a:rPr kumimoji="0" lang="en-US" altLang="zh-CN" sz="2400" b="1" i="0" u="none" strike="noStrike" kern="0" cap="none" spc="0" normalizeH="0" baseline="0" noProof="0" dirty="0">
                <a:ln>
                  <a:noFill/>
                </a:ln>
                <a:solidFill>
                  <a:schemeClr val="accent6">
                    <a:lumMod val="40000"/>
                    <a:lumOff val="60000"/>
                  </a:schemeClr>
                </a:solidFill>
                <a:effectLst/>
                <a:uLnTx/>
                <a:uFillTx/>
                <a:latin typeface="+mn-lt"/>
                <a:ea typeface="+mn-ea"/>
                <a:cs typeface="Times New Roman" panose="02020603050405020304" pitchFamily="18" charset="0"/>
              </a:rPr>
              <a:t>∩ U</a:t>
            </a:r>
            <a:r>
              <a:rPr kumimoji="0" lang="en-US" altLang="zh-CN" sz="2400" b="1" i="0" u="none" strike="noStrike" kern="0" cap="none" spc="0" normalizeH="0" baseline="-25000" noProof="0" dirty="0">
                <a:ln>
                  <a:noFill/>
                </a:ln>
                <a:solidFill>
                  <a:schemeClr val="accent6">
                    <a:lumMod val="40000"/>
                    <a:lumOff val="60000"/>
                  </a:schemeClr>
                </a:solidFill>
                <a:effectLst/>
                <a:uLnTx/>
                <a:uFillTx/>
                <a:latin typeface="+mn-lt"/>
                <a:ea typeface="+mn-ea"/>
                <a:cs typeface="+mn-cs"/>
              </a:rPr>
              <a:t>i</a:t>
            </a:r>
            <a:r>
              <a:rPr kumimoji="0" lang="en-US" altLang="zh-CN" sz="2400" b="1" i="0" u="none" strike="noStrike" kern="0" cap="none" spc="0" normalizeH="0" baseline="0" noProof="0" dirty="0">
                <a:ln>
                  <a:noFill/>
                </a:ln>
                <a:solidFill>
                  <a:schemeClr val="accent6">
                    <a:lumMod val="40000"/>
                    <a:lumOff val="60000"/>
                  </a:schemeClr>
                </a:solidFill>
                <a:effectLst/>
                <a:uLnTx/>
                <a:uFillTx/>
                <a:latin typeface="+mn-lt"/>
                <a:ea typeface="+mn-ea"/>
                <a:cs typeface="Times New Roman" panose="02020603050405020304" pitchFamily="18" charset="0"/>
              </a:rPr>
              <a:t>)</a:t>
            </a:r>
            <a:endParaRPr kumimoji="0" lang="en-US" altLang="zh-CN" sz="2400" b="1" i="0" u="none" strike="noStrike" kern="0" cap="none" spc="0" normalizeH="0" baseline="0" noProof="0" dirty="0">
              <a:ln>
                <a:noFill/>
              </a:ln>
              <a:solidFill>
                <a:schemeClr val="accent6">
                  <a:lumMod val="40000"/>
                  <a:lumOff val="60000"/>
                </a:schemeClr>
              </a:solidFill>
              <a:effectLst/>
              <a:uLnTx/>
              <a:uFillTx/>
              <a:latin typeface="+mn-lt"/>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Tx/>
              <a:buSzTx/>
              <a:buFontTx/>
              <a:buChar char="•"/>
              <a:defRPr/>
            </a:pP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p:txBody>
      </p:sp>
      <p:graphicFrame>
        <p:nvGraphicFramePr>
          <p:cNvPr id="145412" name="Object 4"/>
          <p:cNvGraphicFramePr>
            <a:graphicFrameLocks noGrp="1" noChangeAspect="1"/>
          </p:cNvGraphicFramePr>
          <p:nvPr>
            <p:ph sz="quarter" idx="2"/>
          </p:nvPr>
        </p:nvGraphicFramePr>
        <p:xfrm>
          <a:off x="2555875" y="3348038"/>
          <a:ext cx="1296988" cy="574675"/>
        </p:xfrm>
        <a:graphic>
          <a:graphicData uri="http://schemas.openxmlformats.org/presentationml/2006/ole">
            <mc:AlternateContent xmlns:mc="http://schemas.openxmlformats.org/markup-compatibility/2006">
              <mc:Choice xmlns:v="urn:schemas-microsoft-com:vml" Requires="v">
                <p:oleObj spid="_x0000_s3092" name="" r:id="rId1" imgW="729615" imgH="389255" progId="Equation.DSMT4">
                  <p:embed/>
                </p:oleObj>
              </mc:Choice>
              <mc:Fallback>
                <p:oleObj name="" r:id="rId1" imgW="729615" imgH="389255" progId="Equation.DSMT4">
                  <p:embed/>
                  <p:pic>
                    <p:nvPicPr>
                      <p:cNvPr id="0" name="Picture 3091"/>
                      <p:cNvPicPr/>
                      <p:nvPr/>
                    </p:nvPicPr>
                    <p:blipFill>
                      <a:blip r:embed="rId2"/>
                      <a:srcRect/>
                      <a:stretch>
                        <a:fillRect/>
                      </a:stretch>
                    </p:blipFill>
                    <p:spPr>
                      <a:xfrm>
                        <a:off x="2555875" y="3348038"/>
                        <a:ext cx="1296988" cy="574675"/>
                      </a:xfrm>
                      <a:prstGeom prst="rect">
                        <a:avLst/>
                      </a:prstGeom>
                      <a:solidFill>
                        <a:schemeClr val="bg1">
                          <a:alpha val="100000"/>
                        </a:schemeClr>
                      </a:solidFill>
                      <a:ln w="38100">
                        <a:miter/>
                      </a:ln>
                    </p:spPr>
                  </p:pic>
                </p:oleObj>
              </mc:Fallback>
            </mc:AlternateContent>
          </a:graphicData>
        </a:graphic>
      </p:graphicFrame>
      <p:graphicFrame>
        <p:nvGraphicFramePr>
          <p:cNvPr id="145413" name="Object 6"/>
          <p:cNvGraphicFramePr>
            <a:graphicFrameLocks noGrp="1" noChangeAspect="1"/>
          </p:cNvGraphicFramePr>
          <p:nvPr>
            <p:ph sz="quarter" idx="3"/>
          </p:nvPr>
        </p:nvGraphicFramePr>
        <p:xfrm>
          <a:off x="2320925" y="4292600"/>
          <a:ext cx="341313" cy="360363"/>
        </p:xfrm>
        <a:graphic>
          <a:graphicData uri="http://schemas.openxmlformats.org/presentationml/2006/ole">
            <mc:AlternateContent xmlns:mc="http://schemas.openxmlformats.org/markup-compatibility/2006">
              <mc:Choice xmlns:v="urn:schemas-microsoft-com:vml" Requires="v">
                <p:oleObj spid="_x0000_s3093" name="" r:id="rId3" imgW="184785" imgH="194310" progId="Equation.DSMT4">
                  <p:embed/>
                </p:oleObj>
              </mc:Choice>
              <mc:Fallback>
                <p:oleObj name="" r:id="rId3" imgW="184785" imgH="194310" progId="Equation.DSMT4">
                  <p:embed/>
                  <p:pic>
                    <p:nvPicPr>
                      <p:cNvPr id="0" name="Picture 3092"/>
                      <p:cNvPicPr/>
                      <p:nvPr/>
                    </p:nvPicPr>
                    <p:blipFill>
                      <a:blip r:embed="rId4"/>
                      <a:srcRect/>
                      <a:stretch>
                        <a:fillRect/>
                      </a:stretch>
                    </p:blipFill>
                    <p:spPr>
                      <a:xfrm>
                        <a:off x="2320925" y="4292600"/>
                        <a:ext cx="341313" cy="360363"/>
                      </a:xfrm>
                      <a:prstGeom prst="rect">
                        <a:avLst/>
                      </a:prstGeom>
                      <a:solidFill>
                        <a:schemeClr val="bg1">
                          <a:alpha val="100000"/>
                        </a:schemeClr>
                      </a:solidFill>
                      <a:ln w="38100">
                        <a:miter/>
                      </a:ln>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7458" name="Rectangle 2"/>
          <p:cNvSpPr>
            <a:spLocks noGrp="1"/>
          </p:cNvSpPr>
          <p:nvPr>
            <p:ph type="title"/>
          </p:nvPr>
        </p:nvSpPr>
        <p:spPr>
          <a:xfrm>
            <a:off x="1403350" y="620713"/>
            <a:ext cx="6324600" cy="493712"/>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保持函数依赖的分解：举例</a:t>
            </a:r>
            <a:endParaRPr lang="zh-CN" altLang="en-US" sz="4000" b="1" dirty="0">
              <a:solidFill>
                <a:srgbClr val="E40000"/>
              </a:solidFill>
              <a:latin typeface="Arial" panose="020B0604020202020204" pitchFamily="34" charset="0"/>
            </a:endParaRPr>
          </a:p>
        </p:txBody>
      </p:sp>
      <p:sp>
        <p:nvSpPr>
          <p:cNvPr id="147459" name="Rectangle 3"/>
          <p:cNvSpPr>
            <a:spLocks noGrp="1"/>
          </p:cNvSpPr>
          <p:nvPr>
            <p:ph idx="1"/>
          </p:nvPr>
        </p:nvSpPr>
        <p:spPr>
          <a:xfrm>
            <a:off x="395288" y="1557338"/>
            <a:ext cx="8610600" cy="4648200"/>
          </a:xfrm>
          <a:ln/>
        </p:spPr>
        <p:txBody>
          <a:bodyPr vert="horz" wrap="square" lIns="91440" tIns="45720" rIns="91440" bIns="45720" anchor="t" anchorCtr="0"/>
          <a:p>
            <a:pPr eaLnBrk="1" hangingPunct="1"/>
            <a:r>
              <a:rPr lang="zh-CN" altLang="en-US" b="1" dirty="0"/>
              <a:t>设关系模式</a:t>
            </a:r>
            <a:r>
              <a:rPr lang="en-US" altLang="zh-CN" b="1" dirty="0"/>
              <a:t>R={CITY,ST,ZIP}</a:t>
            </a:r>
            <a:r>
              <a:rPr lang="zh-CN" altLang="en-US" b="1" dirty="0"/>
              <a:t>满足函数依赖：</a:t>
            </a:r>
            <a:endParaRPr lang="zh-CN" altLang="en-US" b="1" dirty="0"/>
          </a:p>
          <a:p>
            <a:pPr eaLnBrk="1" hangingPunct="1">
              <a:buNone/>
            </a:pPr>
            <a:r>
              <a:rPr lang="en-US" altLang="zh-CN" b="1" dirty="0"/>
              <a:t>           (CITY,ST) → ZIP</a:t>
            </a:r>
            <a:endParaRPr lang="en-US" altLang="zh-CN" b="1" dirty="0"/>
          </a:p>
          <a:p>
            <a:pPr eaLnBrk="1" hangingPunct="1">
              <a:buNone/>
            </a:pPr>
            <a:r>
              <a:rPr lang="en-US" altLang="zh-CN" b="1" dirty="0"/>
              <a:t>           ZIP →CITY</a:t>
            </a:r>
            <a:endParaRPr lang="en-US" altLang="zh-CN" b="1" dirty="0"/>
          </a:p>
          <a:p>
            <a:pPr eaLnBrk="1" hangingPunct="1">
              <a:buNone/>
            </a:pPr>
            <a:r>
              <a:rPr lang="en-US" altLang="zh-CN" b="1" dirty="0"/>
              <a:t>  </a:t>
            </a:r>
            <a:r>
              <a:rPr lang="zh-CN" altLang="en-US" b="1" dirty="0"/>
              <a:t>分解成</a:t>
            </a:r>
            <a:r>
              <a:rPr lang="zh-CN" altLang="en-US" b="1" dirty="0">
                <a:sym typeface="Symbol" panose="05050102010706020507" pitchFamily="18" charset="2"/>
              </a:rPr>
              <a:t>＝｛</a:t>
            </a:r>
            <a:r>
              <a:rPr lang="en-US" altLang="zh-CN" b="1" dirty="0">
                <a:sym typeface="Symbol" panose="05050102010706020507" pitchFamily="18" charset="2"/>
              </a:rPr>
              <a:t>R1(ST,ZIP),R2(CITY,ZIP)</a:t>
            </a:r>
            <a:r>
              <a:rPr lang="zh-CN" altLang="en-US" b="1" dirty="0">
                <a:sym typeface="Symbol" panose="05050102010706020507" pitchFamily="18" charset="2"/>
              </a:rPr>
              <a:t>｝</a:t>
            </a:r>
            <a:endParaRPr lang="zh-CN" altLang="en-US" b="1" dirty="0">
              <a:sym typeface="Symbol" panose="05050102010706020507" pitchFamily="18" charset="2"/>
            </a:endParaRPr>
          </a:p>
          <a:p>
            <a:pPr eaLnBrk="1" hangingPunct="1"/>
            <a:r>
              <a:rPr lang="zh-CN" altLang="en-US" b="1" dirty="0">
                <a:sym typeface="Symbol" panose="05050102010706020507" pitchFamily="18" charset="2"/>
              </a:rPr>
              <a:t>检查该分解是否具有保持函数依赖性：</a:t>
            </a:r>
            <a:endParaRPr lang="zh-CN" altLang="en-US" b="1" dirty="0">
              <a:sym typeface="Symbol" panose="05050102010706020507" pitchFamily="18" charset="2"/>
            </a:endParaRPr>
          </a:p>
          <a:p>
            <a:pPr eaLnBrk="1" hangingPunct="1">
              <a:buNone/>
            </a:pPr>
            <a:r>
              <a:rPr lang="zh-CN" altLang="en-US" sz="2400" dirty="0">
                <a:solidFill>
                  <a:schemeClr val="folHlink"/>
                </a:solidFill>
              </a:rPr>
              <a:t>   </a:t>
            </a:r>
            <a:r>
              <a:rPr lang="en-US" altLang="zh-CN" b="1" dirty="0">
                <a:latin typeface="黑体" pitchFamily="49" charset="-122"/>
                <a:ea typeface="黑体" pitchFamily="49" charset="-122"/>
              </a:rPr>
              <a:t>∵</a:t>
            </a:r>
            <a:r>
              <a:rPr lang="zh-CN" altLang="en-US" sz="2400" dirty="0">
                <a:solidFill>
                  <a:schemeClr val="folHlink"/>
                </a:solidFill>
              </a:rPr>
              <a:t>  </a:t>
            </a:r>
            <a:r>
              <a:rPr lang="zh-CN" altLang="en-US" sz="2400" dirty="0"/>
              <a:t>∏</a:t>
            </a:r>
            <a:r>
              <a:rPr lang="en-US" altLang="zh-CN" sz="2400" baseline="-25000" dirty="0"/>
              <a:t>R1</a:t>
            </a:r>
            <a:r>
              <a:rPr lang="zh-CN" altLang="en-US" sz="2400" baseline="-25000" dirty="0"/>
              <a:t>＝</a:t>
            </a:r>
            <a:r>
              <a:rPr lang="en-US" altLang="zh-CN" sz="2400" dirty="0">
                <a:latin typeface="Tahoma" panose="020B0604030504040204" pitchFamily="34" charset="0"/>
              </a:rPr>
              <a:t>ø</a:t>
            </a:r>
            <a:r>
              <a:rPr lang="zh-CN" altLang="en-US" sz="2400" dirty="0"/>
              <a:t>（平凡的函数依赖）</a:t>
            </a:r>
            <a:endParaRPr lang="zh-CN" altLang="en-US" sz="2400" dirty="0"/>
          </a:p>
          <a:p>
            <a:pPr eaLnBrk="1" hangingPunct="1">
              <a:buNone/>
            </a:pPr>
            <a:r>
              <a:rPr lang="zh-CN" altLang="en-US" sz="2400" dirty="0"/>
              <a:t>       ∏</a:t>
            </a:r>
            <a:r>
              <a:rPr lang="en-US" altLang="zh-CN" sz="2400" baseline="-25000" dirty="0"/>
              <a:t>R2</a:t>
            </a:r>
            <a:r>
              <a:rPr lang="zh-CN" altLang="en-US" sz="2400" baseline="-25000" dirty="0"/>
              <a:t>＝</a:t>
            </a:r>
            <a:r>
              <a:rPr lang="en-US" altLang="zh-CN" sz="2400" dirty="0"/>
              <a:t>{ZIP </a:t>
            </a:r>
            <a:r>
              <a:rPr lang="en-US" altLang="zh-CN" sz="2400" b="1" dirty="0">
                <a:latin typeface="楷体_GB2312" pitchFamily="49" charset="-122"/>
                <a:ea typeface="楷体_GB2312" pitchFamily="49" charset="-122"/>
              </a:rPr>
              <a:t>→CITY</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eaLnBrk="1" hangingPunct="1">
              <a:buNone/>
            </a:pPr>
            <a:r>
              <a:rPr lang="zh-CN" altLang="en-US" sz="2400" dirty="0"/>
              <a:t>       ∏</a:t>
            </a:r>
            <a:r>
              <a:rPr lang="en-US" altLang="zh-CN" sz="2400" baseline="-25000" dirty="0"/>
              <a:t>R1</a:t>
            </a:r>
            <a:r>
              <a:rPr lang="en-US" altLang="zh-CN" sz="2400" dirty="0"/>
              <a:t>U∏</a:t>
            </a:r>
            <a:r>
              <a:rPr lang="en-US" altLang="zh-CN" sz="2400" baseline="-25000" dirty="0"/>
              <a:t>R2</a:t>
            </a:r>
            <a:r>
              <a:rPr lang="zh-CN" altLang="en-US" sz="2400" baseline="-25000" dirty="0"/>
              <a:t>＝</a:t>
            </a:r>
            <a:r>
              <a:rPr lang="en-US" altLang="zh-CN" sz="2400" dirty="0"/>
              <a:t>{ZIP </a:t>
            </a:r>
            <a:r>
              <a:rPr lang="en-US" altLang="zh-CN" sz="2400" b="1" dirty="0">
                <a:latin typeface="楷体_GB2312" pitchFamily="49" charset="-122"/>
                <a:ea typeface="楷体_GB2312" pitchFamily="49" charset="-122"/>
              </a:rPr>
              <a:t>→CITY</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eaLnBrk="1" hangingPunct="1"/>
            <a:r>
              <a:rPr lang="en-US" altLang="zh-CN" b="1" dirty="0">
                <a:latin typeface="黑体" pitchFamily="49" charset="-122"/>
                <a:ea typeface="黑体" pitchFamily="49" charset="-122"/>
              </a:rPr>
              <a:t>∴</a:t>
            </a:r>
            <a:r>
              <a:rPr lang="en-US" altLang="zh-CN" b="1" dirty="0">
                <a:sym typeface="Symbol" panose="05050102010706020507" pitchFamily="18" charset="2"/>
              </a:rPr>
              <a:t> </a:t>
            </a:r>
            <a:r>
              <a:rPr lang="zh-CN" altLang="en-US" b="1" dirty="0">
                <a:sym typeface="Symbol" panose="05050102010706020507" pitchFamily="18" charset="2"/>
              </a:rPr>
              <a:t>不具有保持函数依赖性</a:t>
            </a:r>
            <a:endParaRPr lang="zh-CN" altLang="en-US" b="1" dirty="0">
              <a:sym typeface="Symbol" panose="05050102010706020507" pitchFamily="18" charset="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9506"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模式分解与模式等价问题</a:t>
            </a:r>
            <a:endParaRPr lang="zh-CN" altLang="en-US" sz="4000" b="1" dirty="0">
              <a:solidFill>
                <a:srgbClr val="E40000"/>
              </a:solidFill>
              <a:latin typeface="Arial" panose="020B0604020202020204" pitchFamily="34" charset="0"/>
            </a:endParaRPr>
          </a:p>
        </p:txBody>
      </p:sp>
      <p:sp>
        <p:nvSpPr>
          <p:cNvPr id="149507" name="Rectangle 3"/>
          <p:cNvSpPr>
            <a:spLocks noGrp="1"/>
          </p:cNvSpPr>
          <p:nvPr>
            <p:ph idx="1"/>
          </p:nvPr>
        </p:nvSpPr>
        <p:spPr>
          <a:xfrm>
            <a:off x="684213" y="1844675"/>
            <a:ext cx="7561262" cy="4525963"/>
          </a:xfrm>
          <a:ln/>
        </p:spPr>
        <p:txBody>
          <a:bodyPr vert="horz" wrap="square" lIns="91440" tIns="45720" rIns="91440" bIns="45720" anchor="t" anchorCtr="0"/>
          <a:p>
            <a:pPr eaLnBrk="1" hangingPunct="1">
              <a:lnSpc>
                <a:spcPct val="80000"/>
              </a:lnSpc>
            </a:pPr>
            <a:r>
              <a:rPr lang="zh-CN" altLang="en-US" sz="2400" b="1" dirty="0"/>
              <a:t>本节讨论的关系模式分解的两个特性实际上涉及到两个数据库模式的等价问题，这种等价包括</a:t>
            </a:r>
            <a:r>
              <a:rPr lang="zh-CN" altLang="en-US" sz="2400" b="1" u="sng" dirty="0"/>
              <a:t>数据等价</a:t>
            </a:r>
            <a:r>
              <a:rPr lang="zh-CN" altLang="en-US" sz="2400" b="1" dirty="0"/>
              <a:t>和</a:t>
            </a:r>
            <a:r>
              <a:rPr lang="zh-CN" altLang="en-US" sz="2400" b="1" u="sng" dirty="0"/>
              <a:t>依赖等价</a:t>
            </a:r>
            <a:r>
              <a:rPr lang="zh-CN" altLang="en-US" sz="2400" b="1" dirty="0"/>
              <a:t>两个方面</a:t>
            </a:r>
            <a:endParaRPr lang="zh-CN" altLang="en-US" sz="2400" b="1" dirty="0"/>
          </a:p>
          <a:p>
            <a:pPr eaLnBrk="1" hangingPunct="1">
              <a:lnSpc>
                <a:spcPct val="80000"/>
              </a:lnSpc>
            </a:pPr>
            <a:r>
              <a:rPr lang="zh-CN" altLang="en-US" sz="2400" b="1" dirty="0"/>
              <a:t>数据等价是指两个数据库实例应表示同样的信息内容，用“无损分解”衡量</a:t>
            </a:r>
            <a:endParaRPr lang="zh-CN" altLang="en-US" sz="2400" b="1" dirty="0"/>
          </a:p>
          <a:p>
            <a:pPr eaLnBrk="1" hangingPunct="1">
              <a:lnSpc>
                <a:spcPct val="80000"/>
              </a:lnSpc>
            </a:pPr>
            <a:r>
              <a:rPr lang="zh-CN" altLang="en-US" sz="2400" b="1" dirty="0"/>
              <a:t>如果是无损分解，那么对泛关系反复的投影和联接都不会丢失信息</a:t>
            </a:r>
            <a:endParaRPr lang="zh-CN" altLang="en-US" sz="2400" b="1" dirty="0"/>
          </a:p>
          <a:p>
            <a:pPr eaLnBrk="1" hangingPunct="1">
              <a:lnSpc>
                <a:spcPct val="80000"/>
              </a:lnSpc>
            </a:pPr>
            <a:r>
              <a:rPr lang="zh-CN" altLang="en-US" sz="2400" b="1" dirty="0"/>
              <a:t>依赖等价是指两个数据库模式应有相同的依赖集闭包</a:t>
            </a:r>
            <a:endParaRPr lang="zh-CN" altLang="en-US" sz="2400" b="1" dirty="0"/>
          </a:p>
          <a:p>
            <a:pPr eaLnBrk="1" hangingPunct="1">
              <a:lnSpc>
                <a:spcPct val="80000"/>
              </a:lnSpc>
            </a:pPr>
            <a:r>
              <a:rPr lang="zh-CN" altLang="en-US" sz="2400" b="1" dirty="0"/>
              <a:t>在依赖集闭包相等情况下，数据的语义是不会出差错的。</a:t>
            </a:r>
            <a:endParaRPr lang="zh-CN" altLang="en-US" sz="2400" b="1" dirty="0"/>
          </a:p>
          <a:p>
            <a:pPr eaLnBrk="1" hangingPunct="1">
              <a:lnSpc>
                <a:spcPct val="80000"/>
              </a:lnSpc>
            </a:pPr>
            <a:r>
              <a:rPr lang="zh-CN" altLang="en-US" sz="2400" b="1" dirty="0"/>
              <a:t>违反数据等价或依赖等价的分解很难说是一个好的模式设计</a:t>
            </a:r>
            <a:endParaRPr lang="zh-CN" altLang="en-US" sz="2400" b="1"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1554"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模式分解与模式等价问题</a:t>
            </a:r>
            <a:endParaRPr lang="en-US" altLang="zh-CN" sz="4000" b="1" dirty="0">
              <a:solidFill>
                <a:srgbClr val="E40000"/>
              </a:solidFill>
              <a:latin typeface="Arial" panose="020B0604020202020204" pitchFamily="34" charset="0"/>
            </a:endParaRPr>
          </a:p>
        </p:txBody>
      </p:sp>
      <p:sp>
        <p:nvSpPr>
          <p:cNvPr id="151555" name="Rectangle 3"/>
          <p:cNvSpPr>
            <a:spLocks noGrp="1"/>
          </p:cNvSpPr>
          <p:nvPr>
            <p:ph idx="1"/>
          </p:nvPr>
        </p:nvSpPr>
        <p:spPr>
          <a:xfrm>
            <a:off x="323850" y="1557338"/>
            <a:ext cx="8820150" cy="4854575"/>
          </a:xfrm>
          <a:ln/>
        </p:spPr>
        <p:txBody>
          <a:bodyPr vert="horz" wrap="square" lIns="91440" tIns="45720" rIns="91440" bIns="45720" anchor="t" anchorCtr="0"/>
          <a:p>
            <a:pPr marL="381000" indent="-381000" eaLnBrk="1" hangingPunct="1">
              <a:lnSpc>
                <a:spcPct val="90000"/>
              </a:lnSpc>
            </a:pPr>
            <a:r>
              <a:rPr lang="zh-CN" altLang="en-US" sz="2400" b="1" dirty="0"/>
              <a:t>例</a:t>
            </a:r>
            <a:r>
              <a:rPr lang="en-US" altLang="zh-CN" sz="2400" b="1" dirty="0"/>
              <a:t>4.7</a:t>
            </a:r>
            <a:r>
              <a:rPr lang="zh-CN" altLang="en-US" sz="2400" b="1" dirty="0"/>
              <a:t>：关系模式</a:t>
            </a:r>
            <a:r>
              <a:rPr lang="en-US" altLang="zh-CN" sz="2400" b="1" dirty="0"/>
              <a:t>R</a:t>
            </a:r>
            <a:r>
              <a:rPr lang="zh-CN" altLang="en-US" sz="2400" b="1" dirty="0"/>
              <a:t>（</a:t>
            </a:r>
            <a:r>
              <a:rPr lang="en-US" altLang="zh-CN" sz="2400" b="1" dirty="0"/>
              <a:t>ABC</a:t>
            </a:r>
            <a:r>
              <a:rPr lang="zh-CN" altLang="en-US" sz="2400" b="1" dirty="0"/>
              <a:t>），</a:t>
            </a:r>
            <a:r>
              <a:rPr lang="en-US" altLang="zh-CN" sz="2400" b="1" dirty="0">
                <a:solidFill>
                  <a:srgbClr val="990099"/>
                </a:solidFill>
              </a:rPr>
              <a:t>ρ=</a:t>
            </a:r>
            <a:r>
              <a:rPr lang="zh-CN" altLang="en-US" sz="2400" b="1" dirty="0">
                <a:solidFill>
                  <a:srgbClr val="990099"/>
                </a:solidFill>
              </a:rPr>
              <a:t>｛ </a:t>
            </a:r>
            <a:r>
              <a:rPr lang="en-US" altLang="zh-CN" sz="2400" b="1" dirty="0">
                <a:solidFill>
                  <a:srgbClr val="990099"/>
                </a:solidFill>
              </a:rPr>
              <a:t>AB</a:t>
            </a:r>
            <a:r>
              <a:rPr lang="zh-CN" altLang="en-US" sz="2400" b="1" dirty="0">
                <a:solidFill>
                  <a:srgbClr val="990099"/>
                </a:solidFill>
              </a:rPr>
              <a:t>，</a:t>
            </a:r>
            <a:r>
              <a:rPr lang="en-US" altLang="zh-CN" sz="2400" b="1" dirty="0">
                <a:solidFill>
                  <a:srgbClr val="990099"/>
                </a:solidFill>
              </a:rPr>
              <a:t>AC </a:t>
            </a:r>
            <a:r>
              <a:rPr lang="zh-CN" altLang="en-US" sz="2400" b="1" dirty="0">
                <a:solidFill>
                  <a:srgbClr val="990099"/>
                </a:solidFill>
              </a:rPr>
              <a:t>｝</a:t>
            </a:r>
            <a:r>
              <a:rPr lang="zh-CN" altLang="en-US" sz="2400" b="1" dirty="0"/>
              <a:t>是</a:t>
            </a:r>
            <a:r>
              <a:rPr lang="en-US" altLang="zh-CN" sz="2400" b="1" dirty="0"/>
              <a:t>R</a:t>
            </a:r>
            <a:r>
              <a:rPr lang="zh-CN" altLang="en-US" sz="2400" b="1" dirty="0"/>
              <a:t>的一个分解</a:t>
            </a:r>
            <a:endParaRPr lang="zh-CN" altLang="en-US" sz="2400" b="1" dirty="0"/>
          </a:p>
          <a:p>
            <a:pPr marL="381000" indent="-381000" eaLnBrk="1" hangingPunct="1">
              <a:lnSpc>
                <a:spcPct val="90000"/>
              </a:lnSpc>
            </a:pPr>
            <a:r>
              <a:rPr lang="zh-CN" altLang="en-US" sz="2400" b="1" dirty="0"/>
              <a:t>试分析分别在</a:t>
            </a:r>
            <a:r>
              <a:rPr lang="en-US" altLang="zh-CN" sz="2400" b="1" dirty="0"/>
              <a:t>F</a:t>
            </a:r>
            <a:r>
              <a:rPr lang="en-US" altLang="zh-CN" sz="2400" b="1" baseline="-18000" dirty="0"/>
              <a:t>1</a:t>
            </a:r>
            <a:r>
              <a:rPr lang="en-US" altLang="zh-CN" sz="2400" b="1" dirty="0"/>
              <a:t>=</a:t>
            </a:r>
            <a:r>
              <a:rPr lang="zh-CN" altLang="en-US" sz="2400" b="1" dirty="0"/>
              <a:t>｛ </a:t>
            </a:r>
            <a:r>
              <a:rPr lang="en-US" altLang="zh-CN" sz="2400" b="1" dirty="0"/>
              <a:t>A→B </a:t>
            </a:r>
            <a:r>
              <a:rPr lang="zh-CN" altLang="en-US" sz="2400" b="1" dirty="0"/>
              <a:t>｝，</a:t>
            </a:r>
            <a:r>
              <a:rPr lang="en-US" altLang="zh-CN" sz="2400" b="1" dirty="0"/>
              <a:t>F</a:t>
            </a:r>
            <a:r>
              <a:rPr lang="en-US" altLang="zh-CN" sz="2400" b="1" baseline="-18000" dirty="0"/>
              <a:t>2</a:t>
            </a:r>
            <a:r>
              <a:rPr lang="en-US" altLang="zh-CN" sz="2400" b="1" dirty="0"/>
              <a:t>=</a:t>
            </a:r>
            <a:r>
              <a:rPr lang="zh-CN" altLang="en-US" sz="2400" b="1" dirty="0"/>
              <a:t>｛ </a:t>
            </a:r>
            <a:r>
              <a:rPr lang="en-US" altLang="zh-CN" sz="2400" b="1" dirty="0"/>
              <a:t>A→C</a:t>
            </a:r>
            <a:r>
              <a:rPr lang="zh-CN" altLang="en-US" sz="2400" b="1" dirty="0"/>
              <a:t>，</a:t>
            </a:r>
            <a:r>
              <a:rPr lang="en-US" altLang="zh-CN" sz="2400" b="1" dirty="0"/>
              <a:t>B→C </a:t>
            </a:r>
            <a:r>
              <a:rPr lang="zh-CN" altLang="en-US" sz="2400" b="1" dirty="0"/>
              <a:t>｝，</a:t>
            </a:r>
            <a:r>
              <a:rPr lang="en-US" altLang="zh-CN" sz="2400" b="1" dirty="0"/>
              <a:t>F</a:t>
            </a:r>
            <a:r>
              <a:rPr lang="en-US" altLang="zh-CN" sz="2400" b="1" baseline="-18000" dirty="0"/>
              <a:t>3</a:t>
            </a:r>
            <a:r>
              <a:rPr lang="en-US" altLang="zh-CN" sz="2400" b="1" dirty="0"/>
              <a:t>=</a:t>
            </a:r>
            <a:r>
              <a:rPr lang="zh-CN" altLang="en-US" sz="2400" b="1" dirty="0"/>
              <a:t>｛ </a:t>
            </a:r>
            <a:r>
              <a:rPr lang="en-US" altLang="zh-CN" sz="2400" b="1" dirty="0"/>
              <a:t>B→A </a:t>
            </a:r>
            <a:r>
              <a:rPr lang="zh-CN" altLang="en-US" sz="2400" b="1" dirty="0"/>
              <a:t>｝，</a:t>
            </a:r>
            <a:r>
              <a:rPr lang="en-US" altLang="zh-CN" sz="2400" b="1" dirty="0"/>
              <a:t>F</a:t>
            </a:r>
            <a:r>
              <a:rPr lang="en-US" altLang="zh-CN" sz="2400" b="1" baseline="-18000" dirty="0"/>
              <a:t>4</a:t>
            </a:r>
            <a:r>
              <a:rPr lang="en-US" altLang="zh-CN" sz="2400" b="1" dirty="0"/>
              <a:t>=</a:t>
            </a:r>
            <a:r>
              <a:rPr lang="zh-CN" altLang="en-US" sz="2400" b="1" dirty="0"/>
              <a:t>｛ </a:t>
            </a:r>
            <a:r>
              <a:rPr lang="en-US" altLang="zh-CN" sz="2400" b="1" dirty="0"/>
              <a:t>C→B</a:t>
            </a:r>
            <a:r>
              <a:rPr lang="zh-CN" altLang="en-US" sz="2400" b="1" dirty="0"/>
              <a:t>，</a:t>
            </a:r>
            <a:r>
              <a:rPr lang="en-US" altLang="zh-CN" sz="2400" b="1" dirty="0"/>
              <a:t>B→A </a:t>
            </a:r>
            <a:r>
              <a:rPr lang="zh-CN" altLang="en-US" sz="2400" b="1" dirty="0"/>
              <a:t>｝情况下，检验</a:t>
            </a:r>
            <a:r>
              <a:rPr lang="en-US" altLang="zh-CN" sz="2400" b="1" dirty="0"/>
              <a:t>ρ</a:t>
            </a:r>
            <a:r>
              <a:rPr lang="zh-CN" altLang="en-US" sz="2400" b="1" dirty="0"/>
              <a:t>是否具有无损分解和保持</a:t>
            </a:r>
            <a:r>
              <a:rPr lang="en-US" altLang="zh-CN" sz="2400" b="1" dirty="0"/>
              <a:t>FD</a:t>
            </a:r>
            <a:r>
              <a:rPr lang="zh-CN" altLang="en-US" sz="2400" b="1" dirty="0"/>
              <a:t>的分解特性</a:t>
            </a:r>
            <a:endParaRPr lang="zh-CN" altLang="en-US" sz="2400" b="1" dirty="0"/>
          </a:p>
          <a:p>
            <a:pPr marL="381000" indent="-381000" eaLnBrk="1" hangingPunct="1">
              <a:lnSpc>
                <a:spcPct val="90000"/>
              </a:lnSpc>
            </a:pPr>
            <a:r>
              <a:rPr lang="zh-CN" altLang="en-US" sz="2400" b="1" dirty="0"/>
              <a:t>解：</a:t>
            </a:r>
            <a:endParaRPr lang="zh-CN" altLang="en-US" sz="2400" b="1" dirty="0"/>
          </a:p>
          <a:p>
            <a:pPr marL="800100" lvl="1" indent="-342900" eaLnBrk="1" hangingPunct="1">
              <a:lnSpc>
                <a:spcPct val="90000"/>
              </a:lnSpc>
              <a:buClr>
                <a:schemeClr val="tx1"/>
              </a:buClr>
              <a:buFontTx/>
              <a:buAutoNum type="circleNumDbPlain"/>
            </a:pPr>
            <a:r>
              <a:rPr lang="zh-CN" altLang="en-US" b="1" dirty="0"/>
              <a:t>相对于</a:t>
            </a:r>
            <a:r>
              <a:rPr lang="en-US" altLang="zh-CN" b="1" dirty="0"/>
              <a:t>F1 =</a:t>
            </a:r>
            <a:r>
              <a:rPr lang="zh-CN" altLang="en-US" b="1" dirty="0"/>
              <a:t>｛ </a:t>
            </a:r>
            <a:r>
              <a:rPr lang="en-US" altLang="zh-CN" b="1" dirty="0"/>
              <a:t>A→B </a:t>
            </a:r>
            <a:r>
              <a:rPr lang="zh-CN" altLang="en-US" b="1" dirty="0"/>
              <a:t>｝，分解</a:t>
            </a:r>
            <a:r>
              <a:rPr lang="en-US" altLang="zh-CN" b="1" dirty="0"/>
              <a:t>ρ</a:t>
            </a:r>
            <a:r>
              <a:rPr lang="zh-CN" altLang="en-US" b="1" dirty="0"/>
              <a:t>是无损分解且保持</a:t>
            </a:r>
            <a:r>
              <a:rPr lang="en-US" altLang="zh-CN" b="1" dirty="0"/>
              <a:t>FD</a:t>
            </a:r>
            <a:r>
              <a:rPr lang="zh-CN" altLang="en-US" b="1" dirty="0"/>
              <a:t>的分解</a:t>
            </a:r>
            <a:endParaRPr lang="zh-CN" altLang="en-US" b="1" dirty="0"/>
          </a:p>
          <a:p>
            <a:pPr marL="800100" lvl="1" indent="-342900" eaLnBrk="1" hangingPunct="1">
              <a:lnSpc>
                <a:spcPct val="90000"/>
              </a:lnSpc>
              <a:buClr>
                <a:schemeClr val="tx1"/>
              </a:buClr>
              <a:buFontTx/>
              <a:buAutoNum type="circleNumDbPlain"/>
            </a:pPr>
            <a:r>
              <a:rPr lang="zh-CN" altLang="en-US" b="1" dirty="0"/>
              <a:t>相对于</a:t>
            </a:r>
            <a:r>
              <a:rPr lang="en-US" altLang="zh-CN" b="1" dirty="0"/>
              <a:t>F2</a:t>
            </a:r>
            <a:r>
              <a:rPr lang="zh-CN" altLang="en-US" b="1" dirty="0"/>
              <a:t> </a:t>
            </a:r>
            <a:r>
              <a:rPr lang="en-US" altLang="zh-CN" b="1" dirty="0"/>
              <a:t>=</a:t>
            </a:r>
            <a:r>
              <a:rPr lang="zh-CN" altLang="en-US" b="1" dirty="0"/>
              <a:t>｛ </a:t>
            </a:r>
            <a:r>
              <a:rPr lang="en-US" altLang="zh-CN" b="1" dirty="0"/>
              <a:t>A→C</a:t>
            </a:r>
            <a:r>
              <a:rPr lang="zh-CN" altLang="en-US" b="1" dirty="0"/>
              <a:t>，</a:t>
            </a:r>
            <a:r>
              <a:rPr lang="en-US" altLang="zh-CN" b="1" dirty="0"/>
              <a:t>B→C </a:t>
            </a:r>
            <a:r>
              <a:rPr lang="zh-CN" altLang="en-US" b="1" dirty="0"/>
              <a:t>｝，分解</a:t>
            </a:r>
            <a:r>
              <a:rPr lang="en-US" altLang="zh-CN" b="1" dirty="0"/>
              <a:t>ρ</a:t>
            </a:r>
            <a:r>
              <a:rPr lang="zh-CN" altLang="en-US" b="1" dirty="0"/>
              <a:t>是无损分解，但不保持</a:t>
            </a:r>
            <a:r>
              <a:rPr lang="en-US" altLang="zh-CN" b="1" dirty="0"/>
              <a:t>FD</a:t>
            </a:r>
            <a:r>
              <a:rPr lang="zh-CN" altLang="en-US" b="1" dirty="0"/>
              <a:t>集。因为</a:t>
            </a:r>
            <a:r>
              <a:rPr lang="en-US" altLang="zh-CN" b="1" dirty="0"/>
              <a:t>B→C</a:t>
            </a:r>
            <a:r>
              <a:rPr lang="zh-CN" altLang="en-US" b="1" dirty="0"/>
              <a:t>丢失了</a:t>
            </a:r>
            <a:endParaRPr lang="zh-CN" altLang="en-US" b="1" dirty="0"/>
          </a:p>
          <a:p>
            <a:pPr marL="800100" lvl="1" indent="-342900" eaLnBrk="1" hangingPunct="1">
              <a:lnSpc>
                <a:spcPct val="90000"/>
              </a:lnSpc>
              <a:buClr>
                <a:schemeClr val="tx1"/>
              </a:buClr>
              <a:buFontTx/>
              <a:buAutoNum type="circleNumDbPlain"/>
            </a:pPr>
            <a:r>
              <a:rPr lang="zh-CN" altLang="en-US" b="1" dirty="0"/>
              <a:t>相对于</a:t>
            </a:r>
            <a:r>
              <a:rPr lang="en-US" altLang="zh-CN" b="1" dirty="0"/>
              <a:t>F3</a:t>
            </a:r>
            <a:r>
              <a:rPr lang="zh-CN" altLang="en-US" b="1" dirty="0"/>
              <a:t> </a:t>
            </a:r>
            <a:r>
              <a:rPr lang="en-US" altLang="zh-CN" b="1" dirty="0"/>
              <a:t>=</a:t>
            </a:r>
            <a:r>
              <a:rPr lang="zh-CN" altLang="en-US" b="1" dirty="0"/>
              <a:t>｛ </a:t>
            </a:r>
            <a:r>
              <a:rPr lang="en-US" altLang="zh-CN" b="1" dirty="0"/>
              <a:t>B→A </a:t>
            </a:r>
            <a:r>
              <a:rPr lang="zh-CN" altLang="en-US" b="1" dirty="0"/>
              <a:t>｝，分解</a:t>
            </a:r>
            <a:r>
              <a:rPr lang="en-US" altLang="zh-CN" b="1" dirty="0"/>
              <a:t>ρ</a:t>
            </a:r>
            <a:r>
              <a:rPr lang="zh-CN" altLang="en-US" b="1" dirty="0"/>
              <a:t>是损失分解但保持</a:t>
            </a:r>
            <a:r>
              <a:rPr lang="en-US" altLang="zh-CN" b="1" dirty="0"/>
              <a:t>FD</a:t>
            </a:r>
            <a:r>
              <a:rPr lang="zh-CN" altLang="en-US" b="1" dirty="0"/>
              <a:t>集的分解</a:t>
            </a:r>
            <a:endParaRPr lang="zh-CN" altLang="en-US" b="1" dirty="0"/>
          </a:p>
          <a:p>
            <a:pPr marL="800100" lvl="1" indent="-342900" eaLnBrk="1" hangingPunct="1">
              <a:lnSpc>
                <a:spcPct val="90000"/>
              </a:lnSpc>
              <a:buClr>
                <a:schemeClr val="tx1"/>
              </a:buClr>
              <a:buFontTx/>
              <a:buAutoNum type="circleNumDbPlain"/>
            </a:pPr>
            <a:r>
              <a:rPr lang="zh-CN" altLang="en-US" b="1" dirty="0"/>
              <a:t>相对于</a:t>
            </a:r>
            <a:r>
              <a:rPr lang="en-US" altLang="zh-CN" b="1" dirty="0"/>
              <a:t>F4</a:t>
            </a:r>
            <a:r>
              <a:rPr lang="zh-CN" altLang="en-US" b="1" dirty="0"/>
              <a:t> </a:t>
            </a:r>
            <a:r>
              <a:rPr lang="en-US" altLang="zh-CN" b="1" dirty="0"/>
              <a:t>=</a:t>
            </a:r>
            <a:r>
              <a:rPr lang="zh-CN" altLang="en-US" b="1" dirty="0"/>
              <a:t>｛ </a:t>
            </a:r>
            <a:r>
              <a:rPr lang="en-US" altLang="zh-CN" b="1" dirty="0"/>
              <a:t>C→B</a:t>
            </a:r>
            <a:r>
              <a:rPr lang="zh-CN" altLang="en-US" b="1" dirty="0"/>
              <a:t>，</a:t>
            </a:r>
            <a:r>
              <a:rPr lang="en-US" altLang="zh-CN" b="1" dirty="0"/>
              <a:t>B→A </a:t>
            </a:r>
            <a:r>
              <a:rPr lang="zh-CN" altLang="en-US" b="1" dirty="0"/>
              <a:t>｝，分解</a:t>
            </a:r>
            <a:r>
              <a:rPr lang="en-US" altLang="zh-CN" b="1" dirty="0"/>
              <a:t>ρ</a:t>
            </a:r>
            <a:r>
              <a:rPr lang="zh-CN" altLang="en-US" b="1" dirty="0"/>
              <a:t>是损失分解且不保持</a:t>
            </a:r>
            <a:r>
              <a:rPr lang="en-US" altLang="zh-CN" b="1" dirty="0"/>
              <a:t>FD</a:t>
            </a:r>
            <a:r>
              <a:rPr lang="zh-CN" altLang="en-US" b="1" dirty="0"/>
              <a:t>集的分解</a:t>
            </a:r>
            <a:r>
              <a:rPr lang="en-US" altLang="zh-CN" b="1" dirty="0"/>
              <a:t>(</a:t>
            </a:r>
            <a:r>
              <a:rPr lang="zh-CN" altLang="en-US" b="1" dirty="0"/>
              <a:t>丢失了</a:t>
            </a:r>
            <a:r>
              <a:rPr lang="en-US" altLang="zh-CN" b="1" dirty="0"/>
              <a:t>C→B) </a:t>
            </a:r>
            <a:endParaRPr lang="zh-CN" altLang="en-US" b="1"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3602" name="Rectangle 2"/>
          <p:cNvSpPr>
            <a:spLocks noGrp="1"/>
          </p:cNvSpPr>
          <p:nvPr>
            <p:ph type="title"/>
          </p:nvPr>
        </p:nvSpPr>
        <p:spPr>
          <a:xfrm>
            <a:off x="684213" y="333375"/>
            <a:ext cx="7772400" cy="1143000"/>
          </a:xfrm>
          <a:ln/>
        </p:spPr>
        <p:txBody>
          <a:bodyPr vert="horz" wrap="square" lIns="91440" tIns="45720" rIns="91440" bIns="45720" anchor="ctr" anchorCtr="0"/>
          <a:p>
            <a:pPr algn="ctr" eaLnBrk="1" hangingPunct="1"/>
            <a:r>
              <a:rPr lang="en-US" altLang="zh-CN" sz="4000" b="1" dirty="0">
                <a:solidFill>
                  <a:srgbClr val="E40000"/>
                </a:solidFill>
                <a:latin typeface="Arial" panose="020B0604020202020204" pitchFamily="34" charset="0"/>
              </a:rPr>
              <a:t>4.4 </a:t>
            </a:r>
            <a:r>
              <a:rPr lang="zh-CN" altLang="en-US" sz="4000" b="1" dirty="0">
                <a:solidFill>
                  <a:srgbClr val="E40000"/>
                </a:solidFill>
                <a:latin typeface="Arial" panose="020B0604020202020204" pitchFamily="34" charset="0"/>
              </a:rPr>
              <a:t>关系模式的规范化</a:t>
            </a:r>
            <a:endParaRPr lang="zh-CN" altLang="en-US" sz="4000" b="1" dirty="0">
              <a:solidFill>
                <a:srgbClr val="E40000"/>
              </a:solidFill>
              <a:latin typeface="Arial" panose="020B0604020202020204" pitchFamily="34" charset="0"/>
            </a:endParaRPr>
          </a:p>
        </p:txBody>
      </p:sp>
      <p:sp>
        <p:nvSpPr>
          <p:cNvPr id="153603" name="Rectangle 3"/>
          <p:cNvSpPr>
            <a:spLocks noGrp="1"/>
          </p:cNvSpPr>
          <p:nvPr>
            <p:ph idx="1"/>
          </p:nvPr>
        </p:nvSpPr>
        <p:spPr>
          <a:xfrm>
            <a:off x="684213" y="1628775"/>
            <a:ext cx="8137525" cy="3960813"/>
          </a:xfrm>
          <a:ln/>
        </p:spPr>
        <p:txBody>
          <a:bodyPr vert="horz" wrap="square" lIns="91440" tIns="45720" rIns="91440" bIns="45720" anchor="t" anchorCtr="0"/>
          <a:p>
            <a:pPr eaLnBrk="1" hangingPunct="1">
              <a:lnSpc>
                <a:spcPct val="80000"/>
              </a:lnSpc>
              <a:spcBef>
                <a:spcPct val="0"/>
              </a:spcBef>
            </a:pPr>
            <a:r>
              <a:rPr lang="zh-CN" altLang="en-US" b="1" dirty="0"/>
              <a:t>为了使数据库设计的理论和方法走向完备，人们研究了关系规范化理论，以指导我们设计规范化的数据库模式</a:t>
            </a:r>
            <a:endParaRPr lang="zh-CN" altLang="en-US" b="1" dirty="0"/>
          </a:p>
          <a:p>
            <a:pPr eaLnBrk="1" hangingPunct="1">
              <a:lnSpc>
                <a:spcPct val="80000"/>
              </a:lnSpc>
            </a:pPr>
            <a:r>
              <a:rPr lang="zh-CN" altLang="en-US" b="1" dirty="0"/>
              <a:t>在进行关系模式设计时，首先面临的一个问题是如何评价一个关系模式的“好”与“坏”，即用什么标准衡量？</a:t>
            </a:r>
            <a:endParaRPr lang="zh-CN" altLang="en-US" b="1" dirty="0"/>
          </a:p>
          <a:p>
            <a:pPr eaLnBrk="1" hangingPunct="1">
              <a:lnSpc>
                <a:spcPct val="80000"/>
              </a:lnSpc>
            </a:pPr>
            <a:r>
              <a:rPr lang="zh-CN" altLang="en-US" b="1" dirty="0"/>
              <a:t>这个标准就是模式的范式</a:t>
            </a:r>
            <a:r>
              <a:rPr lang="en-US" altLang="zh-CN" b="1" dirty="0"/>
              <a:t>(Normal Forms</a:t>
            </a:r>
            <a:r>
              <a:rPr lang="zh-CN" altLang="en-US" b="1" dirty="0"/>
              <a:t>，简记为</a:t>
            </a:r>
            <a:r>
              <a:rPr lang="en-US" altLang="zh-CN" b="1" dirty="0"/>
              <a:t>NF)</a:t>
            </a:r>
            <a:endParaRPr lang="en-US" altLang="zh-CN" b="1" dirty="0"/>
          </a:p>
          <a:p>
            <a:pPr eaLnBrk="1" hangingPunct="1">
              <a:lnSpc>
                <a:spcPct val="80000"/>
              </a:lnSpc>
            </a:pPr>
            <a:r>
              <a:rPr lang="zh-CN" altLang="en-US" b="1" dirty="0"/>
              <a:t>而使得关系模式达到一定范式要求，就是关系模式的规范化</a:t>
            </a:r>
            <a:endParaRPr lang="zh-CN" altLang="en-US" b="1" dirty="0"/>
          </a:p>
          <a:p>
            <a:pPr eaLnBrk="1" hangingPunct="1">
              <a:lnSpc>
                <a:spcPct val="80000"/>
              </a:lnSpc>
              <a:spcBef>
                <a:spcPct val="0"/>
              </a:spcBef>
            </a:pPr>
            <a:endParaRPr lang="en-US" altLang="zh-CN" b="1"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5650" name="Rectangle 2"/>
          <p:cNvSpPr>
            <a:spLocks noGrp="1"/>
          </p:cNvSpPr>
          <p:nvPr>
            <p:ph type="title"/>
          </p:nvPr>
        </p:nvSpPr>
        <p:spPr>
          <a:xfrm>
            <a:off x="684213" y="333375"/>
            <a:ext cx="7772400" cy="1143000"/>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范式</a:t>
            </a:r>
            <a:endParaRPr lang="zh-CN" altLang="en-US" sz="4000" b="1" dirty="0">
              <a:solidFill>
                <a:srgbClr val="E40000"/>
              </a:solidFill>
              <a:latin typeface="Arial" panose="020B0604020202020204" pitchFamily="34" charset="0"/>
            </a:endParaRPr>
          </a:p>
        </p:txBody>
      </p:sp>
      <p:sp>
        <p:nvSpPr>
          <p:cNvPr id="155651" name="Rectangle 3"/>
          <p:cNvSpPr>
            <a:spLocks noGrp="1"/>
          </p:cNvSpPr>
          <p:nvPr>
            <p:ph idx="1"/>
          </p:nvPr>
        </p:nvSpPr>
        <p:spPr>
          <a:xfrm>
            <a:off x="684213" y="1628775"/>
            <a:ext cx="8137525" cy="3960813"/>
          </a:xfrm>
          <a:ln/>
        </p:spPr>
        <p:txBody>
          <a:bodyPr vert="horz" wrap="square" lIns="91440" tIns="45720" rIns="91440" bIns="45720" anchor="t" anchorCtr="0"/>
          <a:p>
            <a:pPr eaLnBrk="1" hangingPunct="1">
              <a:lnSpc>
                <a:spcPct val="80000"/>
              </a:lnSpc>
            </a:pPr>
            <a:r>
              <a:rPr lang="zh-CN" altLang="en-US" b="1" dirty="0"/>
              <a:t>关系数据库中的关系模式要满足一定的规范化要求，满足不同程度规范化要求的关系模式的类</a:t>
            </a:r>
            <a:r>
              <a:rPr lang="en-US" altLang="zh-CN" b="1" dirty="0"/>
              <a:t>,</a:t>
            </a:r>
            <a:r>
              <a:rPr lang="zh-CN" altLang="en-US" b="1" dirty="0"/>
              <a:t>称为不同的</a:t>
            </a:r>
            <a:r>
              <a:rPr lang="zh-CN" altLang="en-US" b="1" u="sng" dirty="0"/>
              <a:t>范式</a:t>
            </a:r>
            <a:r>
              <a:rPr lang="en-US" altLang="zh-CN" b="1" dirty="0"/>
              <a:t>(Normal Forms</a:t>
            </a:r>
            <a:r>
              <a:rPr lang="zh-CN" altLang="en-US" b="1" dirty="0"/>
              <a:t>，简记为</a:t>
            </a:r>
            <a:r>
              <a:rPr lang="en-US" altLang="zh-CN" b="1" dirty="0"/>
              <a:t>NF)</a:t>
            </a:r>
            <a:endParaRPr lang="zh-CN" altLang="en-US" b="1" dirty="0"/>
          </a:p>
          <a:p>
            <a:pPr eaLnBrk="1" hangingPunct="1">
              <a:lnSpc>
                <a:spcPct val="80000"/>
              </a:lnSpc>
            </a:pPr>
            <a:r>
              <a:rPr lang="zh-CN" altLang="en-US" b="1" dirty="0"/>
              <a:t>范式的种类与数据依赖有着直接的联系，基于</a:t>
            </a:r>
            <a:r>
              <a:rPr lang="en-US" altLang="zh-CN" b="1" dirty="0"/>
              <a:t>FD</a:t>
            </a:r>
            <a:r>
              <a:rPr lang="zh-CN" altLang="en-US" b="1" dirty="0"/>
              <a:t>的范式有</a:t>
            </a:r>
            <a:r>
              <a:rPr lang="en-US" altLang="zh-CN" b="1" dirty="0"/>
              <a:t>1NF</a:t>
            </a:r>
            <a:r>
              <a:rPr lang="zh-CN" altLang="en-US" b="1" dirty="0"/>
              <a:t>、</a:t>
            </a:r>
            <a:r>
              <a:rPr lang="en-US" altLang="zh-CN" b="1" dirty="0"/>
              <a:t>2NF</a:t>
            </a:r>
            <a:r>
              <a:rPr lang="zh-CN" altLang="en-US" b="1" dirty="0"/>
              <a:t>、</a:t>
            </a:r>
            <a:r>
              <a:rPr lang="en-US" altLang="zh-CN" b="1" dirty="0"/>
              <a:t>3NF</a:t>
            </a:r>
            <a:r>
              <a:rPr lang="zh-CN" altLang="en-US" b="1" dirty="0"/>
              <a:t>、</a:t>
            </a:r>
            <a:r>
              <a:rPr lang="en-US" altLang="zh-CN" b="1" dirty="0"/>
              <a:t>BCNF</a:t>
            </a:r>
            <a:r>
              <a:rPr lang="zh-CN" altLang="en-US" b="1" dirty="0"/>
              <a:t>等多种</a:t>
            </a:r>
            <a:endParaRPr lang="zh-CN" altLang="en-US" b="1" dirty="0"/>
          </a:p>
          <a:p>
            <a:pPr eaLnBrk="1" hangingPunct="1">
              <a:lnSpc>
                <a:spcPct val="80000"/>
              </a:lnSpc>
            </a:pPr>
            <a:r>
              <a:rPr lang="zh-CN" altLang="en-US" b="1" dirty="0"/>
              <a:t>满足最低要求的关系模式称为第一范式</a:t>
            </a:r>
            <a:r>
              <a:rPr lang="en-US" altLang="zh-CN" b="1" dirty="0"/>
              <a:t>,</a:t>
            </a:r>
            <a:r>
              <a:rPr lang="zh-CN" altLang="en-US" b="1" dirty="0"/>
              <a:t>简称</a:t>
            </a:r>
            <a:r>
              <a:rPr lang="en-US" altLang="zh-CN" b="1" dirty="0"/>
              <a:t>lNF</a:t>
            </a:r>
            <a:r>
              <a:rPr lang="zh-CN" altLang="en-US" b="1" dirty="0"/>
              <a:t>。在第一范式中满足进一步要求的为第二范式，其余以此类推</a:t>
            </a:r>
            <a:endParaRPr lang="zh-CN" altLang="en-US" b="1" dirty="0"/>
          </a:p>
          <a:p>
            <a:pPr eaLnBrk="1" hangingPunct="1">
              <a:lnSpc>
                <a:spcPct val="80000"/>
              </a:lnSpc>
            </a:pPr>
            <a:r>
              <a:rPr lang="en-US" altLang="zh-CN" b="1" dirty="0"/>
              <a:t>R</a:t>
            </a:r>
            <a:r>
              <a:rPr lang="zh-CN" altLang="en-US" b="1" dirty="0"/>
              <a:t>为第几范式就写成</a:t>
            </a:r>
            <a:r>
              <a:rPr lang="en-US" altLang="zh-CN" b="1" dirty="0"/>
              <a:t>R∈xNF</a:t>
            </a:r>
            <a:endParaRPr lang="zh-CN" altLang="en-US" b="1"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7698" name="Rectangle 2"/>
          <p:cNvSpPr>
            <a:spLocks noGrp="1"/>
          </p:cNvSpPr>
          <p:nvPr>
            <p:ph type="title"/>
          </p:nvPr>
        </p:nvSpPr>
        <p:spPr>
          <a:xfrm>
            <a:off x="684213" y="188913"/>
            <a:ext cx="7772400" cy="954087"/>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各种范式之间的关系</a:t>
            </a:r>
            <a:endParaRPr lang="zh-CN" altLang="en-US" sz="4000" b="1" dirty="0">
              <a:solidFill>
                <a:srgbClr val="E40000"/>
              </a:solidFill>
              <a:latin typeface="Arial" panose="020B0604020202020204" pitchFamily="34" charset="0"/>
            </a:endParaRPr>
          </a:p>
        </p:txBody>
      </p:sp>
      <p:grpSp>
        <p:nvGrpSpPr>
          <p:cNvPr id="157699" name="Group 4"/>
          <p:cNvGrpSpPr/>
          <p:nvPr/>
        </p:nvGrpSpPr>
        <p:grpSpPr>
          <a:xfrm>
            <a:off x="2484438" y="2940050"/>
            <a:ext cx="3806825" cy="3657600"/>
            <a:chOff x="1632" y="1824"/>
            <a:chExt cx="2446" cy="2448"/>
          </a:xfrm>
        </p:grpSpPr>
        <p:sp>
          <p:nvSpPr>
            <p:cNvPr id="157701" name="Oval 5"/>
            <p:cNvSpPr/>
            <p:nvPr/>
          </p:nvSpPr>
          <p:spPr>
            <a:xfrm>
              <a:off x="2592" y="2834"/>
              <a:ext cx="576" cy="57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57702" name="Oval 6"/>
            <p:cNvSpPr>
              <a:spLocks noChangeAspect="1"/>
            </p:cNvSpPr>
            <p:nvPr/>
          </p:nvSpPr>
          <p:spPr>
            <a:xfrm>
              <a:off x="2400" y="2629"/>
              <a:ext cx="973" cy="97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57703" name="Oval 7"/>
            <p:cNvSpPr>
              <a:spLocks noChangeAspect="1"/>
            </p:cNvSpPr>
            <p:nvPr/>
          </p:nvSpPr>
          <p:spPr>
            <a:xfrm>
              <a:off x="2237" y="2431"/>
              <a:ext cx="1315" cy="131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57704" name="Oval 8"/>
            <p:cNvSpPr>
              <a:spLocks noChangeAspect="1"/>
            </p:cNvSpPr>
            <p:nvPr/>
          </p:nvSpPr>
          <p:spPr>
            <a:xfrm>
              <a:off x="2064" y="2249"/>
              <a:ext cx="1650" cy="165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57705" name="Oval 9"/>
            <p:cNvSpPr>
              <a:spLocks noChangeAspect="1"/>
            </p:cNvSpPr>
            <p:nvPr/>
          </p:nvSpPr>
          <p:spPr>
            <a:xfrm>
              <a:off x="1850" y="2044"/>
              <a:ext cx="2038" cy="2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57706" name="Oval 10"/>
            <p:cNvSpPr>
              <a:spLocks noChangeAspect="1"/>
            </p:cNvSpPr>
            <p:nvPr/>
          </p:nvSpPr>
          <p:spPr>
            <a:xfrm>
              <a:off x="1632" y="1826"/>
              <a:ext cx="2446" cy="244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57707" name="Text Box 11"/>
            <p:cNvSpPr txBox="1"/>
            <p:nvPr/>
          </p:nvSpPr>
          <p:spPr>
            <a:xfrm>
              <a:off x="2688" y="1824"/>
              <a:ext cx="528" cy="30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2400" b="1" dirty="0">
                  <a:latin typeface="Times New Roman" panose="02020603050405020304" pitchFamily="18" charset="0"/>
                </a:rPr>
                <a:t>1NF</a:t>
              </a:r>
              <a:endParaRPr lang="en-US" altLang="zh-CN" sz="2400" b="1" dirty="0">
                <a:latin typeface="Times New Roman" panose="02020603050405020304" pitchFamily="18" charset="0"/>
              </a:endParaRPr>
            </a:p>
          </p:txBody>
        </p:sp>
        <p:sp>
          <p:nvSpPr>
            <p:cNvPr id="157708" name="Text Box 12"/>
            <p:cNvSpPr txBox="1"/>
            <p:nvPr/>
          </p:nvSpPr>
          <p:spPr>
            <a:xfrm>
              <a:off x="2688" y="2018"/>
              <a:ext cx="528" cy="30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2400" b="1" dirty="0">
                  <a:latin typeface="Times New Roman" panose="02020603050405020304" pitchFamily="18" charset="0"/>
                </a:rPr>
                <a:t>2NF</a:t>
              </a:r>
              <a:endParaRPr lang="en-US" altLang="zh-CN" sz="2400" b="1" dirty="0">
                <a:latin typeface="Times New Roman" panose="02020603050405020304" pitchFamily="18" charset="0"/>
              </a:endParaRPr>
            </a:p>
          </p:txBody>
        </p:sp>
        <p:sp>
          <p:nvSpPr>
            <p:cNvPr id="157709" name="Text Box 13"/>
            <p:cNvSpPr txBox="1"/>
            <p:nvPr/>
          </p:nvSpPr>
          <p:spPr>
            <a:xfrm>
              <a:off x="2688" y="2208"/>
              <a:ext cx="528" cy="30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2400" b="1" dirty="0">
                  <a:latin typeface="Times New Roman" panose="02020603050405020304" pitchFamily="18" charset="0"/>
                </a:rPr>
                <a:t>3NF</a:t>
              </a:r>
              <a:endParaRPr lang="en-US" altLang="zh-CN" sz="2400" b="1" dirty="0">
                <a:latin typeface="Times New Roman" panose="02020603050405020304" pitchFamily="18" charset="0"/>
              </a:endParaRPr>
            </a:p>
          </p:txBody>
        </p:sp>
        <p:sp>
          <p:nvSpPr>
            <p:cNvPr id="157710" name="Text Box 14"/>
            <p:cNvSpPr txBox="1"/>
            <p:nvPr/>
          </p:nvSpPr>
          <p:spPr>
            <a:xfrm>
              <a:off x="2688" y="2594"/>
              <a:ext cx="528" cy="30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2400" b="1" dirty="0">
                  <a:latin typeface="Times New Roman" panose="02020603050405020304" pitchFamily="18" charset="0"/>
                </a:rPr>
                <a:t>4NF</a:t>
              </a:r>
              <a:endParaRPr lang="en-US" altLang="zh-CN" sz="2400" b="1" dirty="0">
                <a:latin typeface="Times New Roman" panose="02020603050405020304" pitchFamily="18" charset="0"/>
              </a:endParaRPr>
            </a:p>
          </p:txBody>
        </p:sp>
        <p:sp>
          <p:nvSpPr>
            <p:cNvPr id="157711" name="Text Box 15"/>
            <p:cNvSpPr txBox="1"/>
            <p:nvPr/>
          </p:nvSpPr>
          <p:spPr>
            <a:xfrm>
              <a:off x="2592" y="2402"/>
              <a:ext cx="720" cy="30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2400" b="1" dirty="0">
                  <a:latin typeface="Times New Roman" panose="02020603050405020304" pitchFamily="18" charset="0"/>
                </a:rPr>
                <a:t>BCNF</a:t>
              </a:r>
              <a:endParaRPr lang="en-US" altLang="zh-CN" sz="2400" b="1" dirty="0">
                <a:latin typeface="Times New Roman" panose="02020603050405020304" pitchFamily="18" charset="0"/>
              </a:endParaRPr>
            </a:p>
          </p:txBody>
        </p:sp>
        <p:sp>
          <p:nvSpPr>
            <p:cNvPr id="157712" name="Text Box 16"/>
            <p:cNvSpPr txBox="1"/>
            <p:nvPr/>
          </p:nvSpPr>
          <p:spPr>
            <a:xfrm>
              <a:off x="2688" y="2978"/>
              <a:ext cx="528" cy="30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en-US" altLang="zh-CN" sz="2400" b="1" dirty="0">
                  <a:latin typeface="Times New Roman" panose="02020603050405020304" pitchFamily="18" charset="0"/>
                </a:rPr>
                <a:t>5NF</a:t>
              </a:r>
              <a:endParaRPr lang="en-US" altLang="zh-CN" sz="2400" b="1" dirty="0">
                <a:latin typeface="Times New Roman" panose="02020603050405020304" pitchFamily="18" charset="0"/>
              </a:endParaRPr>
            </a:p>
          </p:txBody>
        </p:sp>
      </p:grpSp>
      <p:sp>
        <p:nvSpPr>
          <p:cNvPr id="157700" name="Rectangle 18"/>
          <p:cNvSpPr/>
          <p:nvPr/>
        </p:nvSpPr>
        <p:spPr>
          <a:xfrm>
            <a:off x="755650" y="1628775"/>
            <a:ext cx="78486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177800" lvl="0" indent="-177800" eaLnBrk="1" hangingPunct="1">
              <a:spcBef>
                <a:spcPct val="0"/>
              </a:spcBef>
            </a:pPr>
            <a:r>
              <a:rPr lang="zh-CN" altLang="en-US" b="1" dirty="0">
                <a:solidFill>
                  <a:schemeClr val="tx2"/>
                </a:solidFill>
              </a:rPr>
              <a:t>按属性间依赖情况来区分，关系规范化的程度为</a:t>
            </a:r>
            <a:r>
              <a:rPr lang="en-US" altLang="zh-CN" b="1" dirty="0">
                <a:solidFill>
                  <a:schemeClr val="tx2"/>
                </a:solidFill>
              </a:rPr>
              <a:t>1NF,2NF,3NF,BCNF,4NF </a:t>
            </a:r>
            <a:r>
              <a:rPr lang="zh-CN" altLang="en-US" b="1" dirty="0">
                <a:solidFill>
                  <a:schemeClr val="tx2"/>
                </a:solidFill>
              </a:rPr>
              <a:t>和 </a:t>
            </a:r>
            <a:r>
              <a:rPr lang="en-US" altLang="zh-CN" b="1" dirty="0">
                <a:solidFill>
                  <a:schemeClr val="tx2"/>
                </a:solidFill>
              </a:rPr>
              <a:t>5NF</a:t>
            </a:r>
            <a:r>
              <a:rPr lang="zh-CN" altLang="en-US" b="1" dirty="0">
                <a:solidFill>
                  <a:schemeClr val="tx2"/>
                </a:solidFill>
              </a:rPr>
              <a:t>等 </a:t>
            </a:r>
            <a:br>
              <a:rPr lang="zh-CN" altLang="en-US" b="1" dirty="0">
                <a:solidFill>
                  <a:schemeClr val="tx2"/>
                </a:solidFill>
              </a:rPr>
            </a:br>
            <a:r>
              <a:rPr lang="zh-CN" altLang="en-US" b="1" dirty="0">
                <a:solidFill>
                  <a:schemeClr val="tx2"/>
                </a:solidFill>
              </a:rPr>
              <a:t>各种范式之间的关系如图所示</a:t>
            </a:r>
            <a:r>
              <a:rPr lang="en-US" altLang="zh-CN" b="1" dirty="0">
                <a:solidFill>
                  <a:schemeClr val="tx2"/>
                </a:solidFill>
              </a:rPr>
              <a:t>:</a:t>
            </a:r>
            <a:br>
              <a:rPr lang="en-US" altLang="zh-CN" b="1" dirty="0">
                <a:solidFill>
                  <a:schemeClr val="tx2"/>
                </a:solidFill>
              </a:rPr>
            </a:br>
            <a:endParaRPr lang="zh-CN" altLang="en-US" b="1" dirty="0">
              <a:solidFill>
                <a:schemeClr val="tx2"/>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9746"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规范化的过程</a:t>
            </a:r>
            <a:endParaRPr lang="zh-CN" altLang="en-US" sz="4000" b="1" dirty="0">
              <a:solidFill>
                <a:srgbClr val="E40000"/>
              </a:solidFill>
              <a:latin typeface="Arial" panose="020B0604020202020204" pitchFamily="34" charset="0"/>
            </a:endParaRPr>
          </a:p>
        </p:txBody>
      </p:sp>
      <p:sp>
        <p:nvSpPr>
          <p:cNvPr id="159747" name="Rectangle 3"/>
          <p:cNvSpPr>
            <a:spLocks noGrp="1"/>
          </p:cNvSpPr>
          <p:nvPr>
            <p:ph idx="1"/>
          </p:nvPr>
        </p:nvSpPr>
        <p:spPr>
          <a:xfrm>
            <a:off x="971550" y="1844675"/>
            <a:ext cx="7343775" cy="4525963"/>
          </a:xfrm>
          <a:ln/>
        </p:spPr>
        <p:txBody>
          <a:bodyPr vert="horz" wrap="square" lIns="91440" tIns="45720" rIns="91440" bIns="45720" anchor="t" anchorCtr="0"/>
          <a:p>
            <a:pPr eaLnBrk="1" hangingPunct="1">
              <a:lnSpc>
                <a:spcPct val="90000"/>
              </a:lnSpc>
            </a:pPr>
            <a:r>
              <a:rPr lang="en-US" altLang="zh-CN" sz="3200" b="1" dirty="0"/>
              <a:t>1NF</a:t>
            </a:r>
            <a:r>
              <a:rPr lang="zh-CN" altLang="en-US" sz="3200" b="1" dirty="0"/>
              <a:t>是关系模式的基础；</a:t>
            </a:r>
            <a:r>
              <a:rPr lang="en-US" altLang="zh-CN" sz="3200" b="1" dirty="0"/>
              <a:t>2NF</a:t>
            </a:r>
            <a:r>
              <a:rPr lang="zh-CN" altLang="en-US" sz="3200" b="1" dirty="0"/>
              <a:t>已成为历史，一般不再提及；在数据库设计中最常用的是</a:t>
            </a:r>
            <a:r>
              <a:rPr lang="en-US" altLang="zh-CN" sz="3200" b="1" dirty="0"/>
              <a:t>3NF</a:t>
            </a:r>
            <a:r>
              <a:rPr lang="zh-CN" altLang="en-US" sz="3200" b="1" dirty="0"/>
              <a:t>和</a:t>
            </a:r>
            <a:r>
              <a:rPr lang="en-US" altLang="zh-CN" sz="3200" b="1" dirty="0"/>
              <a:t>BCNF</a:t>
            </a:r>
            <a:endParaRPr lang="zh-CN" altLang="en-US" sz="3200" b="1" dirty="0"/>
          </a:p>
          <a:p>
            <a:pPr eaLnBrk="1" hangingPunct="1">
              <a:lnSpc>
                <a:spcPct val="90000"/>
              </a:lnSpc>
            </a:pPr>
            <a:r>
              <a:rPr lang="zh-CN" altLang="en-US" sz="3200" b="1" dirty="0"/>
              <a:t>为了叙述的方便，我们按照</a:t>
            </a:r>
            <a:r>
              <a:rPr lang="en-US" altLang="zh-CN" sz="3200" b="1" dirty="0"/>
              <a:t>1NF</a:t>
            </a:r>
            <a:r>
              <a:rPr lang="zh-CN" altLang="en-US" sz="3200" b="1" dirty="0"/>
              <a:t>、</a:t>
            </a:r>
            <a:r>
              <a:rPr lang="en-US" altLang="zh-CN" sz="3200" b="1" dirty="0"/>
              <a:t>2NF</a:t>
            </a:r>
            <a:r>
              <a:rPr lang="zh-CN" altLang="en-US" sz="3200" b="1" dirty="0"/>
              <a:t>、</a:t>
            </a:r>
            <a:r>
              <a:rPr lang="en-US" altLang="zh-CN" sz="3200" b="1" dirty="0"/>
              <a:t>3NF</a:t>
            </a:r>
            <a:r>
              <a:rPr lang="zh-CN" altLang="en-US" sz="3200" b="1" dirty="0"/>
              <a:t>、</a:t>
            </a:r>
            <a:r>
              <a:rPr lang="en-US" altLang="zh-CN" sz="3200" b="1" dirty="0"/>
              <a:t>BCNF</a:t>
            </a:r>
            <a:r>
              <a:rPr lang="zh-CN" altLang="en-US" sz="3200" b="1" dirty="0"/>
              <a:t>顺序来介绍 </a:t>
            </a:r>
            <a:endParaRPr lang="zh-CN" altLang="en-US" sz="3200" b="1"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1794" name="Rectangle 2"/>
          <p:cNvSpPr>
            <a:spLocks noGrp="1"/>
          </p:cNvSpPr>
          <p:nvPr>
            <p:ph type="title"/>
          </p:nvPr>
        </p:nvSpPr>
        <p:spPr>
          <a:xfrm>
            <a:off x="1258888" y="333375"/>
            <a:ext cx="7086600" cy="731838"/>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第一范式（</a:t>
            </a:r>
            <a:r>
              <a:rPr lang="en-US" altLang="zh-CN" sz="4000" b="1" dirty="0">
                <a:solidFill>
                  <a:srgbClr val="E40000"/>
                </a:solidFill>
                <a:latin typeface="Arial" panose="020B0604020202020204" pitchFamily="34" charset="0"/>
              </a:rPr>
              <a:t>1NF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
        <p:nvSpPr>
          <p:cNvPr id="161795" name="Rectangle 3"/>
          <p:cNvSpPr>
            <a:spLocks noGrp="1"/>
          </p:cNvSpPr>
          <p:nvPr>
            <p:ph idx="1"/>
          </p:nvPr>
        </p:nvSpPr>
        <p:spPr>
          <a:xfrm>
            <a:off x="1042988" y="1341438"/>
            <a:ext cx="7129462" cy="4525962"/>
          </a:xfrm>
          <a:ln/>
        </p:spPr>
        <p:txBody>
          <a:bodyPr vert="horz" wrap="square" lIns="91440" tIns="45720" rIns="91440" bIns="45720" anchor="t" anchorCtr="0"/>
          <a:p>
            <a:pPr eaLnBrk="1" hangingPunct="1">
              <a:buFont typeface="Wingdings" panose="05000000000000000000" pitchFamily="2" charset="2"/>
              <a:buChar char="n"/>
            </a:pPr>
            <a:r>
              <a:rPr lang="zh-CN" altLang="en-US" sz="2400" b="1" dirty="0">
                <a:latin typeface="黑体" pitchFamily="49" charset="-122"/>
                <a:ea typeface="黑体" pitchFamily="49" charset="-122"/>
              </a:rPr>
              <a:t>定义</a:t>
            </a:r>
            <a:r>
              <a:rPr lang="en-US" altLang="zh-CN" sz="2400" b="1" dirty="0">
                <a:latin typeface="黑体" pitchFamily="49" charset="-122"/>
                <a:ea typeface="黑体" pitchFamily="49" charset="-122"/>
              </a:rPr>
              <a:t>4.19</a:t>
            </a:r>
            <a:r>
              <a:rPr lang="zh-CN" altLang="en-US" sz="2400" b="1" dirty="0"/>
              <a:t>：如果关系模式</a:t>
            </a:r>
            <a:r>
              <a:rPr lang="en-US" altLang="zh-CN" sz="2400" b="1" dirty="0"/>
              <a:t>R</a:t>
            </a:r>
            <a:r>
              <a:rPr lang="zh-CN" altLang="en-US" sz="2400" b="1" dirty="0"/>
              <a:t>的每个关系</a:t>
            </a:r>
            <a:r>
              <a:rPr lang="en-US" altLang="zh-CN" sz="2400" b="1" dirty="0"/>
              <a:t>r</a:t>
            </a:r>
            <a:r>
              <a:rPr lang="zh-CN" altLang="en-US" sz="2400" b="1" dirty="0"/>
              <a:t>的属性值都是不可分的原子值，则称</a:t>
            </a:r>
            <a:r>
              <a:rPr lang="en-US" altLang="zh-CN" sz="2400" b="1" dirty="0"/>
              <a:t>R</a:t>
            </a:r>
            <a:r>
              <a:rPr lang="zh-CN" altLang="en-US" sz="2400" b="1" dirty="0"/>
              <a:t>是第一范式（</a:t>
            </a:r>
            <a:r>
              <a:rPr lang="en-US" altLang="zh-CN" sz="2400" b="1" dirty="0"/>
              <a:t>first normal form</a:t>
            </a:r>
            <a:r>
              <a:rPr lang="zh-CN" altLang="en-US" sz="2400" b="1" dirty="0"/>
              <a:t>，简记为</a:t>
            </a:r>
            <a:r>
              <a:rPr lang="en-US" altLang="zh-CN" sz="2400" b="1" dirty="0"/>
              <a:t>1NF</a:t>
            </a:r>
            <a:r>
              <a:rPr lang="zh-CN" altLang="en-US" sz="2400" b="1" dirty="0"/>
              <a:t>）的模式</a:t>
            </a:r>
            <a:endParaRPr lang="zh-CN" altLang="en-US" sz="2400" b="1" dirty="0"/>
          </a:p>
          <a:p>
            <a:pPr eaLnBrk="1" hangingPunct="1">
              <a:buFont typeface="Wingdings" panose="05000000000000000000" pitchFamily="2" charset="2"/>
              <a:buChar char="n"/>
            </a:pPr>
            <a:r>
              <a:rPr lang="zh-CN" altLang="en-US" sz="2400" b="1" dirty="0"/>
              <a:t>满足</a:t>
            </a:r>
            <a:r>
              <a:rPr lang="en-US" altLang="zh-CN" sz="2400" b="1" dirty="0"/>
              <a:t>1NF</a:t>
            </a:r>
            <a:r>
              <a:rPr lang="zh-CN" altLang="en-US" sz="2400" b="1" dirty="0"/>
              <a:t>的关系称为规范化的关系，否则称为非规范化的关系</a:t>
            </a:r>
            <a:endParaRPr lang="zh-CN" altLang="en-US" sz="2400" b="1" dirty="0"/>
          </a:p>
          <a:p>
            <a:pPr eaLnBrk="1" hangingPunct="1">
              <a:buFont typeface="Wingdings" panose="05000000000000000000" pitchFamily="2" charset="2"/>
              <a:buChar char="n"/>
            </a:pPr>
            <a:r>
              <a:rPr lang="zh-CN" altLang="en-US" sz="2400" b="1" dirty="0"/>
              <a:t>关系数据库研究的关系都是规范化的关系。</a:t>
            </a:r>
            <a:endParaRPr lang="zh-CN" altLang="en-US" sz="2400" b="1" dirty="0"/>
          </a:p>
          <a:p>
            <a:pPr eaLnBrk="1" hangingPunct="1">
              <a:buFont typeface="Wingdings" panose="05000000000000000000" pitchFamily="2" charset="2"/>
              <a:buChar char="n"/>
            </a:pPr>
            <a:r>
              <a:rPr lang="zh-CN" altLang="en-US" sz="2400" b="1" dirty="0"/>
              <a:t>例如关系模式</a:t>
            </a:r>
            <a:r>
              <a:rPr lang="en-US" altLang="zh-CN" sz="2400" b="1" dirty="0"/>
              <a:t>R</a:t>
            </a:r>
            <a:r>
              <a:rPr lang="zh-CN" altLang="en-US" sz="2400" b="1" dirty="0"/>
              <a:t>（</a:t>
            </a:r>
            <a:r>
              <a:rPr lang="en-US" altLang="zh-CN" sz="2400" b="1" dirty="0"/>
              <a:t>NAME</a:t>
            </a:r>
            <a:r>
              <a:rPr lang="zh-CN" altLang="en-US" sz="2400" b="1" dirty="0"/>
              <a:t>，</a:t>
            </a:r>
            <a:r>
              <a:rPr lang="en-US" altLang="zh-CN" sz="2400" b="1" dirty="0"/>
              <a:t>ADDRESS</a:t>
            </a:r>
            <a:r>
              <a:rPr lang="zh-CN" altLang="en-US" sz="2400" b="1" dirty="0"/>
              <a:t>，</a:t>
            </a:r>
            <a:r>
              <a:rPr lang="en-US" altLang="zh-CN" sz="2400" b="1" dirty="0"/>
              <a:t>PHONE</a:t>
            </a:r>
            <a:r>
              <a:rPr lang="zh-CN" altLang="en-US" sz="2400" b="1" dirty="0"/>
              <a:t>），如果一个人有两个电话号码（</a:t>
            </a:r>
            <a:r>
              <a:rPr lang="en-US" altLang="zh-CN" sz="2400" b="1" dirty="0"/>
              <a:t>PHONE</a:t>
            </a:r>
            <a:r>
              <a:rPr lang="zh-CN" altLang="en-US" sz="2400" b="1" dirty="0"/>
              <a:t>），那么在关系中至少要出现两个元组，以便存储这两个号码</a:t>
            </a:r>
            <a:endParaRPr lang="zh-CN" altLang="en-US" sz="2400" b="1" dirty="0"/>
          </a:p>
          <a:p>
            <a:pPr eaLnBrk="1" hangingPunct="1">
              <a:buFont typeface="Wingdings" panose="05000000000000000000" pitchFamily="2" charset="2"/>
              <a:buChar char="n"/>
            </a:pPr>
            <a:r>
              <a:rPr lang="en-US" altLang="zh-CN" sz="2400" b="1" dirty="0"/>
              <a:t>1NF</a:t>
            </a:r>
            <a:r>
              <a:rPr lang="zh-CN" altLang="en-US" sz="2400" b="1" dirty="0"/>
              <a:t>是关系模式应具备的最起码的条件</a:t>
            </a:r>
            <a:r>
              <a:rPr lang="zh-CN" altLang="en-US" sz="2400" dirty="0"/>
              <a:t> </a:t>
            </a:r>
            <a:endParaRPr lang="zh-CN" alt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3842" name="Rectangle 2"/>
          <p:cNvSpPr>
            <a:spLocks noGrp="1"/>
          </p:cNvSpPr>
          <p:nvPr>
            <p:ph type="title"/>
          </p:nvPr>
        </p:nvSpPr>
        <p:spPr>
          <a:xfrm>
            <a:off x="685800" y="260350"/>
            <a:ext cx="7772400" cy="936625"/>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第一范式（</a:t>
            </a:r>
            <a:r>
              <a:rPr lang="en-US" altLang="zh-CN" sz="4000" b="1" dirty="0">
                <a:solidFill>
                  <a:srgbClr val="E40000"/>
                </a:solidFill>
                <a:latin typeface="Arial" panose="020B0604020202020204" pitchFamily="34" charset="0"/>
              </a:rPr>
              <a:t>1NF</a:t>
            </a:r>
            <a:r>
              <a:rPr lang="zh-CN" altLang="en-US" sz="4000" b="1" dirty="0">
                <a:solidFill>
                  <a:srgbClr val="E40000"/>
                </a:solidFill>
                <a:latin typeface="Arial" panose="020B0604020202020204" pitchFamily="34" charset="0"/>
              </a:rPr>
              <a:t>）</a:t>
            </a:r>
            <a:endParaRPr lang="en-US" altLang="zh-CN" sz="4000" b="1" dirty="0">
              <a:solidFill>
                <a:srgbClr val="E40000"/>
              </a:solidFill>
              <a:latin typeface="Arial" panose="020B0604020202020204" pitchFamily="34" charset="0"/>
            </a:endParaRPr>
          </a:p>
        </p:txBody>
      </p:sp>
      <p:sp>
        <p:nvSpPr>
          <p:cNvPr id="163843" name="Rectangle 3"/>
          <p:cNvSpPr>
            <a:spLocks noGrp="1"/>
          </p:cNvSpPr>
          <p:nvPr>
            <p:ph idx="1"/>
          </p:nvPr>
        </p:nvSpPr>
        <p:spPr>
          <a:xfrm>
            <a:off x="539750" y="1287463"/>
            <a:ext cx="8375650" cy="4949825"/>
          </a:xfrm>
          <a:ln/>
        </p:spPr>
        <p:txBody>
          <a:bodyPr vert="horz" wrap="square" lIns="91440" tIns="45720" rIns="91440" bIns="45720" anchor="t" anchorCtr="0"/>
          <a:p>
            <a:pPr eaLnBrk="1" hangingPunct="1"/>
            <a:r>
              <a:rPr lang="zh-CN" altLang="en-US" sz="2400" b="1" dirty="0"/>
              <a:t>分量是否需要再分，与具体应用有关</a:t>
            </a:r>
            <a:r>
              <a:rPr lang="en-US" altLang="zh-CN" sz="2400" b="1" dirty="0"/>
              <a:t>,</a:t>
            </a:r>
            <a:r>
              <a:rPr lang="zh-CN" altLang="en-US" sz="2400" b="1" dirty="0"/>
              <a:t>如果用到值的一部分，则需要进一步分割</a:t>
            </a:r>
            <a:r>
              <a:rPr lang="en-US" altLang="zh-CN" sz="2400" b="1" dirty="0"/>
              <a:t>,</a:t>
            </a:r>
            <a:r>
              <a:rPr lang="zh-CN" altLang="en-US" sz="2400" b="1" dirty="0"/>
              <a:t>例如</a:t>
            </a:r>
            <a:r>
              <a:rPr lang="en-US" altLang="zh-CN" sz="2400" b="1" dirty="0"/>
              <a:t>:</a:t>
            </a:r>
            <a:endParaRPr lang="en-US" altLang="zh-CN" sz="2400" b="1" dirty="0"/>
          </a:p>
          <a:p>
            <a:pPr eaLnBrk="1" hangingPunct="1"/>
            <a:endParaRPr lang="en-US" altLang="zh-CN" sz="2400" b="1" dirty="0"/>
          </a:p>
          <a:p>
            <a:pPr lvl="1" eaLnBrk="1" hangingPunct="1">
              <a:buNone/>
            </a:pPr>
            <a:r>
              <a:rPr lang="zh-CN" altLang="en-US" sz="2000" dirty="0"/>
              <a:t>	</a:t>
            </a:r>
            <a:endParaRPr lang="zh-CN" altLang="en-US" sz="2000" dirty="0"/>
          </a:p>
          <a:p>
            <a:pPr lvl="1" eaLnBrk="1" hangingPunct="1">
              <a:buNone/>
            </a:pPr>
            <a:endParaRPr lang="zh-CN" altLang="en-US" sz="2000" dirty="0"/>
          </a:p>
          <a:p>
            <a:pPr lvl="1" eaLnBrk="1" hangingPunct="1">
              <a:buNone/>
            </a:pPr>
            <a:endParaRPr lang="zh-CN" altLang="en-US" sz="2000" dirty="0"/>
          </a:p>
          <a:p>
            <a:pPr lvl="1" eaLnBrk="1" hangingPunct="1">
              <a:buNone/>
            </a:pPr>
            <a:endParaRPr lang="zh-CN" altLang="en-US" sz="2000" dirty="0"/>
          </a:p>
          <a:p>
            <a:pPr lvl="1" eaLnBrk="1" hangingPunct="1">
              <a:buNone/>
            </a:pPr>
            <a:endParaRPr lang="zh-CN" altLang="en-US" sz="2000" dirty="0"/>
          </a:p>
          <a:p>
            <a:pPr eaLnBrk="1" hangingPunct="1"/>
            <a:r>
              <a:rPr lang="zh-CN" altLang="en-US" sz="2400" b="1" dirty="0"/>
              <a:t>如果只是查询出生日期，则它满足</a:t>
            </a:r>
            <a:r>
              <a:rPr lang="en-US" altLang="zh-CN" sz="2400" b="1" dirty="0"/>
              <a:t>1NF</a:t>
            </a:r>
            <a:endParaRPr lang="en-US" altLang="zh-CN" sz="2400" b="1" dirty="0"/>
          </a:p>
          <a:p>
            <a:pPr eaLnBrk="1" hangingPunct="1"/>
            <a:r>
              <a:rPr lang="zh-CN" altLang="en-US" sz="2400" b="1" dirty="0"/>
              <a:t>如果查询两人生日是否相同，则只比较月、日，需要将生日分解，就不满足</a:t>
            </a:r>
            <a:r>
              <a:rPr lang="en-US" altLang="zh-CN" sz="2400" b="1" dirty="0"/>
              <a:t>1NF</a:t>
            </a:r>
            <a:endParaRPr lang="en-US" altLang="zh-CN" sz="2400" b="1" dirty="0"/>
          </a:p>
          <a:p>
            <a:pPr eaLnBrk="1" hangingPunct="1"/>
            <a:r>
              <a:rPr lang="zh-CN" altLang="en-US" sz="2400" b="1" dirty="0"/>
              <a:t>如果比较两人的生肖呢？</a:t>
            </a:r>
            <a:endParaRPr lang="zh-CN" altLang="en-US" sz="2400" b="1" dirty="0"/>
          </a:p>
        </p:txBody>
      </p:sp>
      <p:graphicFrame>
        <p:nvGraphicFramePr>
          <p:cNvPr id="354348" name="Group 44"/>
          <p:cNvGraphicFramePr>
            <a:graphicFrameLocks noGrp="1"/>
          </p:cNvGraphicFramePr>
          <p:nvPr/>
        </p:nvGraphicFramePr>
        <p:xfrm>
          <a:off x="1143000" y="2514600"/>
          <a:ext cx="3141663" cy="1706563"/>
        </p:xfrm>
        <a:graphic>
          <a:graphicData uri="http://schemas.openxmlformats.org/drawingml/2006/table">
            <a:tbl>
              <a:tblPr/>
              <a:tblGrid>
                <a:gridCol w="1611313"/>
                <a:gridCol w="1530350"/>
              </a:tblGrid>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姓名</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生日</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7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王军</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itchFamily="2" charset="-122"/>
                          <a:ea typeface="宋体" pitchFamily="2" charset="-122"/>
                        </a:rPr>
                        <a:t>68.7.10</a:t>
                      </a:r>
                      <a:endParaRPr kumimoji="0" lang="en-US" altLang="zh-CN" sz="20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张立</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itchFamily="2" charset="-122"/>
                          <a:ea typeface="宋体" pitchFamily="2" charset="-122"/>
                        </a:rPr>
                        <a:t>69.7.10</a:t>
                      </a:r>
                      <a:endParaRPr kumimoji="0" lang="en-US" altLang="zh-CN" sz="20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李明</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itchFamily="2" charset="-122"/>
                          <a:ea typeface="宋体" pitchFamily="2" charset="-122"/>
                        </a:rPr>
                        <a:t>80.3.28</a:t>
                      </a:r>
                      <a:endParaRPr kumimoji="0" lang="en-US" altLang="zh-CN" sz="20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54347" name="Group 43"/>
          <p:cNvGraphicFramePr>
            <a:graphicFrameLocks noGrp="1"/>
          </p:cNvGraphicFramePr>
          <p:nvPr/>
        </p:nvGraphicFramePr>
        <p:xfrm>
          <a:off x="4876800" y="2514600"/>
          <a:ext cx="3733800" cy="1711325"/>
        </p:xfrm>
        <a:graphic>
          <a:graphicData uri="http://schemas.openxmlformats.org/drawingml/2006/table">
            <a:tbl>
              <a:tblPr/>
              <a:tblGrid>
                <a:gridCol w="982663"/>
                <a:gridCol w="1150937"/>
                <a:gridCol w="1600200"/>
              </a:tblGrid>
              <a:tr h="396216">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姓名</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年</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月日</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865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王军</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itchFamily="2" charset="-122"/>
                          <a:ea typeface="宋体" pitchFamily="2" charset="-122"/>
                        </a:rPr>
                        <a:t>68</a:t>
                      </a:r>
                      <a:endParaRPr kumimoji="0" lang="en-US" altLang="zh-CN"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itchFamily="2" charset="-122"/>
                          <a:ea typeface="宋体" pitchFamily="2" charset="-122"/>
                        </a:rPr>
                        <a:t>7.10</a:t>
                      </a:r>
                      <a:endParaRPr kumimoji="0" lang="en-US" altLang="zh-CN"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024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张立</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itchFamily="2" charset="-122"/>
                          <a:ea typeface="宋体" pitchFamily="2" charset="-122"/>
                        </a:rPr>
                        <a:t>69</a:t>
                      </a:r>
                      <a:endParaRPr kumimoji="0" lang="en-US" altLang="zh-CN"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itchFamily="2" charset="-122"/>
                          <a:ea typeface="宋体" pitchFamily="2" charset="-122"/>
                        </a:rPr>
                        <a:t>7.10</a:t>
                      </a:r>
                      <a:endParaRPr kumimoji="0" lang="en-US" altLang="zh-CN"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16">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itchFamily="2" charset="-122"/>
                          <a:ea typeface="宋体" pitchFamily="2" charset="-122"/>
                        </a:rPr>
                        <a:t>李明</a:t>
                      </a:r>
                      <a:endParaRPr kumimoji="0" lang="zh-CN" altLang="en-US"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itchFamily="2" charset="-122"/>
                          <a:ea typeface="宋体" pitchFamily="2" charset="-122"/>
                        </a:rPr>
                        <a:t>80</a:t>
                      </a:r>
                      <a:endParaRPr kumimoji="0" lang="en-US" altLang="zh-CN"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itchFamily="2" charset="-122"/>
                          <a:ea typeface="宋体" pitchFamily="2" charset="-122"/>
                        </a:rPr>
                        <a:t>3.28</a:t>
                      </a:r>
                      <a:endParaRPr kumimoji="0" lang="en-US" altLang="zh-CN" sz="2000" b="0" i="0" u="none" strike="noStrike" cap="none" normalizeH="0" baseline="0">
                        <a:ln>
                          <a:noFill/>
                        </a:ln>
                        <a:solidFill>
                          <a:schemeClr val="tx1"/>
                        </a:solidFill>
                        <a:effectLst/>
                        <a:latin typeface="宋体" pitchFamily="2" charset="-122"/>
                        <a:ea typeface="宋体" pitchFamily="2"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5890" name="Rectangle 2"/>
          <p:cNvSpPr>
            <a:spLocks noGrp="1"/>
          </p:cNvSpPr>
          <p:nvPr>
            <p:ph type="title"/>
          </p:nvPr>
        </p:nvSpPr>
        <p:spPr>
          <a:xfrm>
            <a:off x="1279525" y="685800"/>
            <a:ext cx="7086600" cy="536575"/>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键</a:t>
            </a:r>
            <a:r>
              <a:rPr lang="en-US" altLang="zh-CN" sz="4000" b="1" dirty="0">
                <a:solidFill>
                  <a:srgbClr val="E40000"/>
                </a:solidFill>
                <a:latin typeface="Arial" panose="020B0604020202020204" pitchFamily="34" charset="0"/>
              </a:rPr>
              <a:t>(Key)</a:t>
            </a:r>
            <a:endParaRPr lang="en-US" altLang="zh-CN" sz="4000" b="1" dirty="0">
              <a:solidFill>
                <a:srgbClr val="E40000"/>
              </a:solidFill>
              <a:latin typeface="Arial" panose="020B0604020202020204" pitchFamily="34" charset="0"/>
            </a:endParaRPr>
          </a:p>
        </p:txBody>
      </p:sp>
      <p:sp>
        <p:nvSpPr>
          <p:cNvPr id="165891" name="Rectangle 3"/>
          <p:cNvSpPr>
            <a:spLocks noGrp="1"/>
          </p:cNvSpPr>
          <p:nvPr>
            <p:ph idx="1"/>
          </p:nvPr>
        </p:nvSpPr>
        <p:spPr>
          <a:xfrm>
            <a:off x="685800" y="1600200"/>
            <a:ext cx="7772400" cy="4648200"/>
          </a:xfrm>
          <a:ln/>
        </p:spPr>
        <p:txBody>
          <a:bodyPr vert="horz" wrap="square" lIns="91440" tIns="45720" rIns="91440" bIns="45720" anchor="t" anchorCtr="0"/>
          <a:p>
            <a:pPr marL="282575" indent="-282575" eaLnBrk="1" hangingPunct="1">
              <a:lnSpc>
                <a:spcPct val="90000"/>
              </a:lnSpc>
            </a:pPr>
            <a:r>
              <a:rPr lang="zh-CN" altLang="en-US" sz="2400" b="1" dirty="0">
                <a:latin typeface="黑体" pitchFamily="49" charset="-122"/>
                <a:ea typeface="黑体" pitchFamily="49" charset="-122"/>
              </a:rPr>
              <a:t>定义</a:t>
            </a:r>
            <a:r>
              <a:rPr lang="en-US" altLang="zh-CN" sz="2400" b="1" dirty="0">
                <a:latin typeface="黑体" pitchFamily="49" charset="-122"/>
                <a:ea typeface="黑体" pitchFamily="49" charset="-122"/>
              </a:rPr>
              <a:t>4.20</a:t>
            </a:r>
            <a:r>
              <a:rPr lang="en-US" altLang="zh-CN" sz="2400" b="1" dirty="0"/>
              <a:t>: </a:t>
            </a:r>
            <a:r>
              <a:rPr lang="zh-CN" altLang="en-US" sz="2400" b="1" dirty="0"/>
              <a:t>设</a:t>
            </a:r>
            <a:r>
              <a:rPr lang="en-US" altLang="zh-CN" sz="2400" b="1" dirty="0"/>
              <a:t>K</a:t>
            </a:r>
            <a:r>
              <a:rPr lang="zh-CN" altLang="en-US" sz="2400" b="1" dirty="0"/>
              <a:t>为</a:t>
            </a:r>
            <a:r>
              <a:rPr lang="en-US" altLang="zh-CN" sz="2400" b="1" dirty="0"/>
              <a:t>R&lt;U</a:t>
            </a:r>
            <a:r>
              <a:rPr lang="zh-CN" altLang="en-US" sz="2400" b="1" dirty="0"/>
              <a:t>，</a:t>
            </a:r>
            <a:r>
              <a:rPr lang="en-US" altLang="zh-CN" sz="2400" b="1" dirty="0"/>
              <a:t>F&gt;</a:t>
            </a:r>
            <a:r>
              <a:rPr lang="zh-CN" altLang="en-US" sz="2400" b="1" dirty="0"/>
              <a:t>中的属性或属性组合，若</a:t>
            </a:r>
            <a:endParaRPr lang="zh-CN" altLang="en-US" sz="2400" b="1" dirty="0"/>
          </a:p>
          <a:p>
            <a:pPr marL="282575" indent="-282575" eaLnBrk="1" hangingPunct="1">
              <a:lnSpc>
                <a:spcPct val="90000"/>
              </a:lnSpc>
              <a:buNone/>
            </a:pPr>
            <a:r>
              <a:rPr lang="zh-CN" altLang="en-US" sz="2400" b="1" dirty="0"/>
              <a:t>     </a:t>
            </a:r>
            <a:r>
              <a:rPr lang="en-US" altLang="zh-CN" sz="2400" b="1" dirty="0"/>
              <a:t>K→U</a:t>
            </a:r>
            <a:r>
              <a:rPr lang="en-US" altLang="en-US" sz="2400" b="1" dirty="0"/>
              <a:t>∈</a:t>
            </a:r>
            <a:r>
              <a:rPr lang="en-US" altLang="zh-CN" sz="2400" b="1" dirty="0"/>
              <a:t>F</a:t>
            </a:r>
            <a:r>
              <a:rPr lang="en-US" altLang="zh-CN" sz="2400" b="1" baseline="30000" dirty="0"/>
              <a:t>+</a:t>
            </a:r>
            <a:r>
              <a:rPr lang="zh-CN" altLang="en-US" sz="2400" b="1" dirty="0"/>
              <a:t>，则称</a:t>
            </a:r>
            <a:r>
              <a:rPr lang="en-US" altLang="zh-CN" sz="2400" b="1" dirty="0"/>
              <a:t>K</a:t>
            </a:r>
            <a:r>
              <a:rPr lang="zh-CN" altLang="en-US" sz="2400" b="1" dirty="0"/>
              <a:t>为</a:t>
            </a:r>
            <a:r>
              <a:rPr lang="en-US" altLang="zh-CN" sz="2400" b="1" dirty="0"/>
              <a:t>R</a:t>
            </a:r>
            <a:r>
              <a:rPr lang="zh-CN" altLang="en-US" sz="2400" b="1" dirty="0"/>
              <a:t>的一个</a:t>
            </a:r>
            <a:r>
              <a:rPr lang="zh-CN" altLang="en-US" sz="2400" b="1" dirty="0">
                <a:solidFill>
                  <a:srgbClr val="FF9933"/>
                </a:solidFill>
              </a:rPr>
              <a:t>超键</a:t>
            </a:r>
            <a:endParaRPr lang="zh-CN" altLang="en-US" sz="2400" b="1" dirty="0">
              <a:solidFill>
                <a:srgbClr val="FF9933"/>
              </a:solidFill>
            </a:endParaRPr>
          </a:p>
          <a:p>
            <a:pPr marL="282575" indent="-282575" eaLnBrk="1" hangingPunct="1">
              <a:lnSpc>
                <a:spcPct val="90000"/>
              </a:lnSpc>
            </a:pPr>
            <a:r>
              <a:rPr lang="zh-CN" altLang="en-US" sz="2400" b="1" dirty="0">
                <a:latin typeface="黑体" pitchFamily="49" charset="-122"/>
                <a:ea typeface="黑体" pitchFamily="49" charset="-122"/>
              </a:rPr>
              <a:t>定义</a:t>
            </a:r>
            <a:r>
              <a:rPr lang="en-US" altLang="zh-CN" sz="2400" b="1" dirty="0">
                <a:latin typeface="黑体" pitchFamily="49" charset="-122"/>
                <a:ea typeface="黑体" pitchFamily="49" charset="-122"/>
              </a:rPr>
              <a:t>4.21</a:t>
            </a:r>
            <a:r>
              <a:rPr lang="en-US" altLang="zh-CN" sz="2400" b="1" dirty="0"/>
              <a:t>: </a:t>
            </a:r>
            <a:r>
              <a:rPr lang="zh-CN" altLang="en-US" sz="2400" b="1" dirty="0"/>
              <a:t>如果一个超键</a:t>
            </a:r>
            <a:r>
              <a:rPr lang="en-US" altLang="zh-CN" sz="2400" b="1" dirty="0"/>
              <a:t>K</a:t>
            </a:r>
            <a:r>
              <a:rPr lang="zh-CN" altLang="en-US" sz="2400" b="1" dirty="0"/>
              <a:t>的任何真子集都不再是超键，则称</a:t>
            </a:r>
            <a:r>
              <a:rPr lang="en-US" altLang="zh-CN" sz="2400" b="1" dirty="0"/>
              <a:t>K</a:t>
            </a:r>
            <a:r>
              <a:rPr lang="zh-CN" altLang="en-US" sz="2400" b="1" dirty="0"/>
              <a:t>为</a:t>
            </a:r>
            <a:r>
              <a:rPr lang="en-US" altLang="zh-CN" sz="2400" b="1" dirty="0"/>
              <a:t>R</a:t>
            </a:r>
            <a:r>
              <a:rPr lang="zh-CN" altLang="en-US" sz="2400" b="1" dirty="0"/>
              <a:t>的一个</a:t>
            </a:r>
            <a:r>
              <a:rPr lang="zh-CN" altLang="en-US" sz="2400" b="1" dirty="0">
                <a:solidFill>
                  <a:srgbClr val="FF9933"/>
                </a:solidFill>
              </a:rPr>
              <a:t>候选键</a:t>
            </a:r>
            <a:r>
              <a:rPr lang="en-US" altLang="zh-CN" sz="2400" b="1" dirty="0"/>
              <a:t>(Candidate key)</a:t>
            </a:r>
            <a:endParaRPr lang="zh-CN" altLang="en-US" sz="2400" b="1" dirty="0"/>
          </a:p>
          <a:p>
            <a:pPr marL="282575" indent="-282575" eaLnBrk="1" hangingPunct="1">
              <a:lnSpc>
                <a:spcPct val="90000"/>
              </a:lnSpc>
            </a:pPr>
            <a:r>
              <a:rPr lang="zh-CN" altLang="en-US" sz="2400" b="1" dirty="0"/>
              <a:t>候选键有时也简称为键</a:t>
            </a:r>
            <a:endParaRPr lang="zh-CN" altLang="en-US" sz="2400" b="1" dirty="0"/>
          </a:p>
          <a:p>
            <a:pPr marL="282575" indent="-282575" eaLnBrk="1" hangingPunct="1">
              <a:lnSpc>
                <a:spcPct val="90000"/>
              </a:lnSpc>
            </a:pPr>
            <a:r>
              <a:rPr lang="zh-CN" altLang="en-US" sz="2400" b="1" dirty="0"/>
              <a:t>若关系模式中有多个候选键，则选定其中的一个为</a:t>
            </a:r>
            <a:r>
              <a:rPr lang="zh-CN" altLang="en-US" sz="2400" b="1" dirty="0">
                <a:solidFill>
                  <a:srgbClr val="FF9933"/>
                </a:solidFill>
              </a:rPr>
              <a:t>主键</a:t>
            </a:r>
            <a:r>
              <a:rPr lang="en-US" altLang="zh-CN" sz="2400" b="1" dirty="0"/>
              <a:t>(Primary key)</a:t>
            </a:r>
            <a:endParaRPr lang="zh-CN" altLang="en-US" sz="2400" b="1" dirty="0"/>
          </a:p>
          <a:p>
            <a:pPr marL="282575" indent="-282575" eaLnBrk="1" hangingPunct="1">
              <a:lnSpc>
                <a:spcPct val="90000"/>
              </a:lnSpc>
            </a:pPr>
            <a:r>
              <a:rPr lang="zh-CN" altLang="en-US" sz="2400" b="1" dirty="0">
                <a:latin typeface="黑体" pitchFamily="49" charset="-122"/>
                <a:ea typeface="黑体" pitchFamily="49" charset="-122"/>
              </a:rPr>
              <a:t>定义</a:t>
            </a:r>
            <a:r>
              <a:rPr lang="en-US" altLang="zh-CN" sz="2400" b="1" dirty="0">
                <a:latin typeface="黑体" pitchFamily="49" charset="-122"/>
                <a:ea typeface="黑体" pitchFamily="49" charset="-122"/>
              </a:rPr>
              <a:t>4.22</a:t>
            </a:r>
            <a:r>
              <a:rPr lang="en-US" altLang="zh-CN" sz="2400" b="1" dirty="0"/>
              <a:t>: </a:t>
            </a:r>
            <a:r>
              <a:rPr lang="zh-CN" altLang="en-US" sz="2400" b="1" dirty="0"/>
              <a:t>包含在任何一个候选键中的属性，称为</a:t>
            </a:r>
            <a:r>
              <a:rPr lang="zh-CN" altLang="en-US" sz="2400" b="1" u="sng" dirty="0">
                <a:solidFill>
                  <a:srgbClr val="FF0000"/>
                </a:solidFill>
              </a:rPr>
              <a:t>主属性</a:t>
            </a:r>
            <a:r>
              <a:rPr lang="en-US" altLang="zh-CN" sz="2400" b="1" dirty="0"/>
              <a:t>(Prime attribute)</a:t>
            </a:r>
            <a:r>
              <a:rPr lang="zh-CN" altLang="en-US" sz="2400" b="1" dirty="0"/>
              <a:t>或</a:t>
            </a:r>
            <a:r>
              <a:rPr lang="zh-CN" altLang="en-US" sz="2400" b="1" u="sng" dirty="0"/>
              <a:t>键属性</a:t>
            </a:r>
            <a:r>
              <a:rPr lang="en-US" altLang="zh-CN" sz="2400" b="1" dirty="0"/>
              <a:t>(Key attribute) </a:t>
            </a:r>
            <a:r>
              <a:rPr lang="zh-CN" altLang="en-US" sz="2400" b="1" dirty="0"/>
              <a:t>。不包含在任何候选键中的属性，则称为</a:t>
            </a:r>
            <a:r>
              <a:rPr lang="zh-CN" altLang="en-US" sz="2400" b="1" u="sng" dirty="0">
                <a:solidFill>
                  <a:srgbClr val="FF0000"/>
                </a:solidFill>
              </a:rPr>
              <a:t>非主属性</a:t>
            </a:r>
            <a:r>
              <a:rPr lang="en-US" altLang="zh-CN" sz="2400" b="1" dirty="0"/>
              <a:t>(Nonprime attribute)</a:t>
            </a:r>
            <a:r>
              <a:rPr lang="zh-CN" altLang="en-US" sz="2400" b="1" dirty="0"/>
              <a:t>或</a:t>
            </a:r>
            <a:r>
              <a:rPr lang="zh-CN" altLang="en-US" sz="2400" b="1" u="sng" dirty="0"/>
              <a:t>非键属性</a:t>
            </a:r>
            <a:r>
              <a:rPr lang="en-US" altLang="zh-CN" sz="2400" b="1" dirty="0"/>
              <a:t>(Non-key attribute)</a:t>
            </a:r>
            <a:endParaRPr lang="zh-CN" altLang="en-US" sz="2400"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7938" name="Rectangle 2"/>
          <p:cNvSpPr>
            <a:spLocks noGrp="1"/>
          </p:cNvSpPr>
          <p:nvPr>
            <p:ph type="title"/>
          </p:nvPr>
        </p:nvSpPr>
        <p:spPr>
          <a:xfrm>
            <a:off x="1279525" y="685800"/>
            <a:ext cx="7086600" cy="536575"/>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键</a:t>
            </a:r>
            <a:r>
              <a:rPr lang="en-US" altLang="zh-CN" sz="4000" b="1" dirty="0">
                <a:solidFill>
                  <a:srgbClr val="E40000"/>
                </a:solidFill>
                <a:latin typeface="Arial" panose="020B0604020202020204" pitchFamily="34" charset="0"/>
              </a:rPr>
              <a:t>(Key)</a:t>
            </a:r>
            <a:endParaRPr lang="en-US" altLang="zh-CN" sz="4000" b="1" dirty="0">
              <a:solidFill>
                <a:srgbClr val="E40000"/>
              </a:solidFill>
              <a:latin typeface="Arial" panose="020B0604020202020204" pitchFamily="34" charset="0"/>
            </a:endParaRPr>
          </a:p>
        </p:txBody>
      </p:sp>
      <p:sp>
        <p:nvSpPr>
          <p:cNvPr id="167939" name="Rectangle 3"/>
          <p:cNvSpPr>
            <a:spLocks noGrp="1"/>
          </p:cNvSpPr>
          <p:nvPr>
            <p:ph idx="1"/>
          </p:nvPr>
        </p:nvSpPr>
        <p:spPr>
          <a:xfrm>
            <a:off x="685800" y="1600200"/>
            <a:ext cx="7772400" cy="4648200"/>
          </a:xfrm>
          <a:ln/>
        </p:spPr>
        <p:txBody>
          <a:bodyPr vert="horz" wrap="square" lIns="91440" tIns="45720" rIns="91440" bIns="45720" anchor="t" anchorCtr="0"/>
          <a:p>
            <a:pPr marL="282575" indent="-282575" eaLnBrk="1" hangingPunct="1">
              <a:lnSpc>
                <a:spcPct val="90000"/>
              </a:lnSpc>
            </a:pPr>
            <a:r>
              <a:rPr lang="zh-CN" altLang="en-US" b="1" dirty="0"/>
              <a:t>最简单的情况，单个属性是候选键。最极端的情况下，整个属性组是候选键，并称为</a:t>
            </a:r>
            <a:r>
              <a:rPr lang="zh-CN" altLang="en-US" b="1" dirty="0">
                <a:solidFill>
                  <a:srgbClr val="FF9933"/>
                </a:solidFill>
              </a:rPr>
              <a:t>全键</a:t>
            </a:r>
            <a:r>
              <a:rPr lang="en-US" altLang="zh-CN" b="1" dirty="0"/>
              <a:t>(All-key)</a:t>
            </a:r>
            <a:endParaRPr lang="en-US" altLang="zh-CN" b="1" dirty="0"/>
          </a:p>
          <a:p>
            <a:pPr marL="282575" indent="-282575" eaLnBrk="1" hangingPunct="1">
              <a:lnSpc>
                <a:spcPct val="90000"/>
              </a:lnSpc>
            </a:pPr>
            <a:endParaRPr lang="zh-CN" altLang="en-US" b="1" dirty="0"/>
          </a:p>
          <a:p>
            <a:pPr marL="282575" indent="-282575" eaLnBrk="1" hangingPunct="1">
              <a:lnSpc>
                <a:spcPct val="90000"/>
              </a:lnSpc>
            </a:pPr>
            <a:r>
              <a:rPr lang="zh-CN" altLang="en-US" b="1" dirty="0"/>
              <a:t>例：关系模式</a:t>
            </a:r>
            <a:r>
              <a:rPr lang="en-US" altLang="zh-CN" b="1" dirty="0"/>
              <a:t>R(P,W,A),</a:t>
            </a:r>
            <a:r>
              <a:rPr lang="zh-CN" altLang="en-US" b="1" dirty="0"/>
              <a:t>属性</a:t>
            </a:r>
            <a:r>
              <a:rPr lang="en-US" altLang="zh-CN" b="1" dirty="0"/>
              <a:t>P</a:t>
            </a:r>
            <a:r>
              <a:rPr lang="zh-CN" altLang="en-US" b="1" dirty="0"/>
              <a:t>表示演奏者，</a:t>
            </a:r>
            <a:r>
              <a:rPr lang="en-US" altLang="zh-CN" b="1" dirty="0"/>
              <a:t>W</a:t>
            </a:r>
            <a:r>
              <a:rPr lang="zh-CN" altLang="en-US" b="1" dirty="0"/>
              <a:t>表示作品</a:t>
            </a:r>
            <a:r>
              <a:rPr lang="en-US" altLang="zh-CN" b="1" dirty="0"/>
              <a:t>,A</a:t>
            </a:r>
            <a:r>
              <a:rPr lang="zh-CN" altLang="en-US" b="1" dirty="0"/>
              <a:t>表示听众。假设一个演奏者可以演奏多个作品，某一作品可被多个演奏者演奏。听众也可以欣赏不同演奏者的不同作品，这个关系模式的候选键为</a:t>
            </a:r>
            <a:r>
              <a:rPr lang="en-US" altLang="zh-CN" b="1" dirty="0"/>
              <a:t>(P,W,A)</a:t>
            </a:r>
            <a:r>
              <a:rPr lang="zh-CN" altLang="en-US" b="1" dirty="0"/>
              <a:t>，即</a:t>
            </a:r>
            <a:r>
              <a:rPr lang="en-US" altLang="zh-CN" b="1" dirty="0"/>
              <a:t>All-key</a:t>
            </a:r>
            <a:endParaRPr lang="zh-CN" altLang="en-US"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7042" name="Rectangle 5"/>
          <p:cNvSpPr>
            <a:spLocks noChangeArrowheads="1"/>
          </p:cNvSpPr>
          <p:nvPr/>
        </p:nvSpPr>
        <p:spPr bwMode="auto">
          <a:xfrm>
            <a:off x="684213" y="1628775"/>
            <a:ext cx="8135938" cy="440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73050" marR="0" lvl="0" indent="-273050" algn="l" defTabSz="914400" rtl="0" eaLnBrk="1" fontAlgn="base" latinLnBrk="0" hangingPunct="1">
              <a:lnSpc>
                <a:spcPct val="16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求</a:t>
            </a:r>
            <a:r>
              <a:rPr kumimoji="0" lang="zh-CN"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关系模式上的全部候选键</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的方法</a:t>
            </a:r>
            <a:endParaRPr kumimoji="0" lang="zh-CN"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a:p>
            <a:pPr marL="273050" marR="0" lvl="0" indent="-273050" algn="l" defTabSz="914400" rtl="0" eaLnBrk="1" fontAlgn="base" latinLnBrk="0" hangingPunct="1">
              <a:lnSpc>
                <a:spcPct val="130000"/>
              </a:lnSpc>
              <a:spcBef>
                <a:spcPct val="20000"/>
              </a:spcBef>
              <a:spcAft>
                <a:spcPct val="0"/>
              </a:spcAft>
              <a:buClrTx/>
              <a:buSzTx/>
              <a:buFontTx/>
              <a:buChar char="•"/>
              <a:defRPr/>
            </a:pPr>
            <a:r>
              <a:rPr kumimoji="0" lang="zh-CN"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输入：关系模式R(U，F)，</a:t>
            </a:r>
            <a:r>
              <a:rPr kumimoji="0" lang="zh-CN" altLang="zh-CN" sz="2400" b="1" i="0" u="none" strike="noStrike" kern="1200" cap="none" spc="0" normalizeH="0" baseline="0" noProof="0" dirty="0">
                <a:ln>
                  <a:noFill/>
                </a:ln>
                <a:solidFill>
                  <a:schemeClr val="bg2">
                    <a:lumMod val="60000"/>
                    <a:lumOff val="40000"/>
                  </a:schemeClr>
                </a:solidFill>
                <a:effectLst/>
                <a:uLnTx/>
                <a:uFillTx/>
                <a:latin typeface="黑体" pitchFamily="49" charset="-122"/>
                <a:ea typeface="黑体" pitchFamily="49" charset="-122"/>
                <a:cs typeface="+mn-cs"/>
              </a:rPr>
              <a:t>其中F是最小覆盖</a:t>
            </a:r>
            <a:endParaRPr kumimoji="0" lang="zh-CN" altLang="zh-CN" sz="2400" b="1" i="0" u="none" strike="noStrike" kern="1200" cap="none" spc="0" normalizeH="0" baseline="0" noProof="0" dirty="0">
              <a:ln>
                <a:noFill/>
              </a:ln>
              <a:solidFill>
                <a:schemeClr val="bg2">
                  <a:lumMod val="60000"/>
                  <a:lumOff val="40000"/>
                </a:schemeClr>
              </a:solidFill>
              <a:effectLst/>
              <a:uLnTx/>
              <a:uFillTx/>
              <a:latin typeface="黑体" pitchFamily="49" charset="-122"/>
              <a:ea typeface="黑体" pitchFamily="49" charset="-122"/>
              <a:cs typeface="+mn-cs"/>
            </a:endParaRPr>
          </a:p>
          <a:p>
            <a:pPr marL="273050" marR="0" lvl="0" indent="-273050" algn="l" defTabSz="914400" rtl="0" eaLnBrk="1" fontAlgn="base" latinLnBrk="0" hangingPunct="1">
              <a:lnSpc>
                <a:spcPct val="130000"/>
              </a:lnSpc>
              <a:spcBef>
                <a:spcPct val="20000"/>
              </a:spcBef>
              <a:spcAft>
                <a:spcPct val="0"/>
              </a:spcAft>
              <a:buClrTx/>
              <a:buSzTx/>
              <a:buFontTx/>
              <a:buChar char="•"/>
              <a:defRPr/>
            </a:pPr>
            <a:r>
              <a:rPr kumimoji="0" lang="zh-CN"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输出：R上的所有候选键</a:t>
            </a:r>
            <a:endParaRPr kumimoji="0" lang="zh-CN"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a:p>
            <a:pPr marL="273050" marR="0" lvl="0" indent="-273050" algn="l" defTabSz="914400" rtl="0" eaLnBrk="1" fontAlgn="base" latinLnBrk="0" hangingPunct="1">
              <a:lnSpc>
                <a:spcPct val="160000"/>
              </a:lnSpc>
              <a:spcBef>
                <a:spcPct val="20000"/>
              </a:spcBef>
              <a:spcAft>
                <a:spcPct val="0"/>
              </a:spcAft>
              <a:buClrTx/>
              <a:buSzTx/>
              <a:buFontTx/>
              <a:buChar char="•"/>
              <a:defRPr/>
            </a:pPr>
            <a:r>
              <a:rPr kumimoji="0" lang="zh-CN"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步骤(1)</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a:t>
            </a:r>
            <a:r>
              <a:rPr kumimoji="0" lang="zh-CN"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将R的全部属性分为四类，分别是C1：不在任何函数依赖中出现的属性；C2：仅在函数依赖决定子中出现的属性；C3：仅在函数依赖右部出现的属性；C4：在函数依赖左部右部均有出现的属性。</a:t>
            </a:r>
            <a:r>
              <a:rPr kumimoji="0" lang="zh-CN" altLang="en-US"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注意，</a:t>
            </a:r>
            <a:r>
              <a:rPr kumimoji="0" lang="zh-CN"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任何候选键中必然会包括C1、C2中的属性</a:t>
            </a:r>
            <a:endParaRPr kumimoji="0" lang="zh-CN" altLang="zh-CN" sz="2400" b="1"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p:txBody>
      </p:sp>
      <p:sp>
        <p:nvSpPr>
          <p:cNvPr id="169987" name="Rectangle 6"/>
          <p:cNvSpPr/>
          <p:nvPr/>
        </p:nvSpPr>
        <p:spPr>
          <a:xfrm>
            <a:off x="0" y="320040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69988" name="Rectangle 8"/>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求关系模式</a:t>
            </a:r>
            <a:r>
              <a:rPr lang="zh-CN" altLang="zh-CN" sz="4000" b="1" dirty="0">
                <a:solidFill>
                  <a:srgbClr val="E40000"/>
                </a:solidFill>
                <a:latin typeface="Arial" panose="020B0604020202020204" pitchFamily="34" charset="0"/>
              </a:rPr>
              <a:t>上全部候选键</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2034" name="Rectangle 5"/>
          <p:cNvSpPr/>
          <p:nvPr/>
        </p:nvSpPr>
        <p:spPr>
          <a:xfrm>
            <a:off x="684213" y="1543050"/>
            <a:ext cx="8135937"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177800" lvl="0" indent="-177800" eaLnBrk="1" hangingPunct="1">
              <a:lnSpc>
                <a:spcPct val="160000"/>
              </a:lnSpc>
            </a:pPr>
            <a:r>
              <a:rPr lang="zh-CN" altLang="zh-CN" sz="2400" b="1" dirty="0">
                <a:latin typeface="黑体" pitchFamily="49" charset="-122"/>
                <a:ea typeface="黑体" pitchFamily="49" charset="-122"/>
              </a:rPr>
              <a:t>步骤(2)</a:t>
            </a:r>
            <a:r>
              <a:rPr lang="zh-CN" altLang="en-US" sz="2400" b="1" dirty="0">
                <a:latin typeface="黑体" pitchFamily="49" charset="-122"/>
                <a:ea typeface="黑体" pitchFamily="49" charset="-122"/>
              </a:rPr>
              <a:t>：</a:t>
            </a:r>
            <a:r>
              <a:rPr lang="zh-CN" altLang="zh-CN" sz="2400" b="1" dirty="0">
                <a:latin typeface="黑体" pitchFamily="49" charset="-122"/>
                <a:ea typeface="黑体" pitchFamily="49" charset="-122"/>
              </a:rPr>
              <a:t>若(C1∪C2)</a:t>
            </a:r>
            <a:r>
              <a:rPr lang="en-US" altLang="zh-CN" b="1" baseline="30000" dirty="0"/>
              <a:t>+</a:t>
            </a:r>
            <a:r>
              <a:rPr lang="zh-CN" altLang="zh-CN" sz="2400" b="1" dirty="0">
                <a:latin typeface="黑体" pitchFamily="49" charset="-122"/>
                <a:ea typeface="黑体" pitchFamily="49" charset="-122"/>
              </a:rPr>
              <a:t>＝U</a:t>
            </a:r>
            <a:r>
              <a:rPr lang="zh-CN" altLang="en-US" sz="2400" b="1" dirty="0">
                <a:latin typeface="黑体" pitchFamily="49" charset="-122"/>
                <a:ea typeface="黑体" pitchFamily="49" charset="-122"/>
              </a:rPr>
              <a:t> </a:t>
            </a:r>
            <a:r>
              <a:rPr lang="zh-CN" altLang="zh-CN" sz="2400" b="1" dirty="0">
                <a:latin typeface="黑体" pitchFamily="49" charset="-122"/>
                <a:ea typeface="黑体" pitchFamily="49" charset="-122"/>
              </a:rPr>
              <a:t>或者</a:t>
            </a:r>
            <a:r>
              <a:rPr lang="zh-CN" altLang="en-US" sz="2400" b="1" dirty="0">
                <a:latin typeface="黑体" pitchFamily="49" charset="-122"/>
                <a:ea typeface="黑体" pitchFamily="49" charset="-122"/>
              </a:rPr>
              <a:t> </a:t>
            </a:r>
            <a:r>
              <a:rPr lang="zh-CN" altLang="zh-CN" sz="2400" b="1" dirty="0">
                <a:latin typeface="黑体" pitchFamily="49" charset="-122"/>
                <a:ea typeface="黑体" pitchFamily="49" charset="-122"/>
              </a:rPr>
              <a:t>C4＝</a:t>
            </a:r>
            <a:r>
              <a:rPr lang="el-GR" altLang="zh-CN" sz="2400" b="1" dirty="0">
                <a:latin typeface="黑体" pitchFamily="49" charset="-122"/>
                <a:ea typeface="黑体" pitchFamily="49" charset="-122"/>
              </a:rPr>
              <a:t>Φ</a:t>
            </a:r>
            <a:r>
              <a:rPr lang="zh-CN" altLang="zh-CN" sz="2400" b="1" dirty="0">
                <a:latin typeface="黑体" pitchFamily="49" charset="-122"/>
                <a:ea typeface="黑体" pitchFamily="49" charset="-122"/>
              </a:rPr>
              <a:t>，则C1∪C2即为惟一的候选键；否则，逐一将C4中的属性加入C1∪C2并计算其闭包，若其闭包为U，则C1∪C2与该属性构成关系上的一个候选键，重复该过程直至找出所有的候选键</a:t>
            </a:r>
            <a:endParaRPr lang="zh-CN" altLang="zh-CN" sz="2400" b="1" dirty="0">
              <a:latin typeface="黑体" pitchFamily="49" charset="-122"/>
              <a:ea typeface="黑体" pitchFamily="49" charset="-122"/>
            </a:endParaRPr>
          </a:p>
        </p:txBody>
      </p:sp>
      <p:sp>
        <p:nvSpPr>
          <p:cNvPr id="172035" name="Rectangle 6"/>
          <p:cNvSpPr/>
          <p:nvPr/>
        </p:nvSpPr>
        <p:spPr>
          <a:xfrm>
            <a:off x="0" y="320040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72036" name="Rectangle 8"/>
          <p:cNvSpPr/>
          <p:nvPr/>
        </p:nvSpPr>
        <p:spPr>
          <a:xfrm>
            <a:off x="0" y="335280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72037" name="Rectangle 11"/>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求关系模式</a:t>
            </a:r>
            <a:r>
              <a:rPr lang="zh-CN" altLang="zh-CN" sz="4000" b="1" dirty="0">
                <a:solidFill>
                  <a:srgbClr val="E40000"/>
                </a:solidFill>
                <a:latin typeface="Arial" panose="020B0604020202020204" pitchFamily="34" charset="0"/>
              </a:rPr>
              <a:t>上全部候选键</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4082" name="Rectangle 5"/>
          <p:cNvSpPr/>
          <p:nvPr/>
        </p:nvSpPr>
        <p:spPr>
          <a:xfrm>
            <a:off x="539750" y="1543050"/>
            <a:ext cx="8280400"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177800" lvl="0" indent="-177800" eaLnBrk="1" hangingPunct="1">
              <a:lnSpc>
                <a:spcPct val="160000"/>
              </a:lnSpc>
              <a:buClr>
                <a:srgbClr val="E40000"/>
              </a:buClr>
              <a:buFont typeface="Wingdings" panose="05000000000000000000" pitchFamily="2" charset="2"/>
              <a:buChar char="n"/>
            </a:pPr>
            <a:r>
              <a:rPr lang="zh-CN" altLang="zh-CN" sz="2400" dirty="0">
                <a:latin typeface="黑体" pitchFamily="49" charset="-122"/>
                <a:ea typeface="黑体" pitchFamily="49" charset="-122"/>
              </a:rPr>
              <a:t>例4</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8</a:t>
            </a:r>
            <a:r>
              <a:rPr lang="zh-CN" altLang="en-US" sz="2400" dirty="0">
                <a:latin typeface="黑体" pitchFamily="49" charset="-122"/>
                <a:ea typeface="黑体" pitchFamily="49" charset="-122"/>
              </a:rPr>
              <a:t>：</a:t>
            </a:r>
            <a:r>
              <a:rPr lang="zh-CN" altLang="zh-CN" sz="2400" dirty="0">
                <a:latin typeface="黑体" pitchFamily="49" charset="-122"/>
                <a:ea typeface="黑体" pitchFamily="49" charset="-122"/>
              </a:rPr>
              <a:t>求R(A，B，C，D)，F＝{A→B，B→C，BD→A}的所有候选键：</a:t>
            </a:r>
            <a:endParaRPr lang="zh-CN" altLang="zh-CN" sz="2400" dirty="0">
              <a:latin typeface="黑体" pitchFamily="49" charset="-122"/>
              <a:ea typeface="黑体" pitchFamily="49" charset="-122"/>
            </a:endParaRPr>
          </a:p>
          <a:p>
            <a:pPr marL="177800" lvl="0" indent="-177800" eaLnBrk="1" hangingPunct="1">
              <a:lnSpc>
                <a:spcPct val="160000"/>
              </a:lnSpc>
              <a:buFont typeface="Wingdings" panose="05000000000000000000" pitchFamily="2" charset="2"/>
              <a:buChar char="n"/>
            </a:pPr>
            <a:r>
              <a:rPr lang="zh-CN" altLang="zh-CN" sz="2400" dirty="0">
                <a:latin typeface="黑体" pitchFamily="49" charset="-122"/>
                <a:ea typeface="黑体" pitchFamily="49" charset="-122"/>
              </a:rPr>
              <a:t>解：C1＝</a:t>
            </a:r>
            <a:r>
              <a:rPr lang="el-GR" altLang="zh-CN" sz="2400" dirty="0">
                <a:latin typeface="黑体" pitchFamily="49" charset="-122"/>
                <a:ea typeface="黑体" pitchFamily="49" charset="-122"/>
              </a:rPr>
              <a:t>Φ</a:t>
            </a:r>
            <a:r>
              <a:rPr lang="zh-CN" altLang="zh-CN" sz="2400" dirty="0">
                <a:latin typeface="黑体" pitchFamily="49" charset="-122"/>
                <a:ea typeface="黑体" pitchFamily="49" charset="-122"/>
              </a:rPr>
              <a:t>，C2＝{D}，C3＝{C}，C4＝{A，B}，(C1∪C2)</a:t>
            </a:r>
            <a:r>
              <a:rPr lang="zh-CN" altLang="zh-CN" sz="1800" dirty="0">
                <a:latin typeface="黑体" pitchFamily="49" charset="-122"/>
                <a:ea typeface="黑体" pitchFamily="49" charset="-122"/>
              </a:rPr>
              <a:t>＋</a:t>
            </a:r>
            <a:r>
              <a:rPr lang="zh-CN" altLang="zh-CN" sz="2400" dirty="0">
                <a:latin typeface="黑体" pitchFamily="49" charset="-122"/>
                <a:ea typeface="黑体" pitchFamily="49" charset="-122"/>
              </a:rPr>
              <a:t>＝{D}，所以C1∪C2不是候选键，依次将C4中的A、B加入C1∪C2中计算其闭包可得：(AD)</a:t>
            </a:r>
            <a:r>
              <a:rPr lang="zh-CN" altLang="zh-CN" sz="1600" dirty="0">
                <a:latin typeface="黑体" pitchFamily="49" charset="-122"/>
                <a:ea typeface="黑体" pitchFamily="49" charset="-122"/>
              </a:rPr>
              <a:t>＋</a:t>
            </a:r>
            <a:r>
              <a:rPr lang="zh-CN" altLang="zh-CN" sz="2400" dirty="0">
                <a:latin typeface="黑体" pitchFamily="49" charset="-122"/>
                <a:ea typeface="黑体" pitchFamily="49" charset="-122"/>
              </a:rPr>
              <a:t>＝ADBC，(BD)</a:t>
            </a:r>
            <a:r>
              <a:rPr lang="zh-CN" altLang="zh-CN" sz="1600" dirty="0">
                <a:latin typeface="黑体" pitchFamily="49" charset="-122"/>
                <a:ea typeface="黑体" pitchFamily="49" charset="-122"/>
              </a:rPr>
              <a:t>＋</a:t>
            </a:r>
            <a:r>
              <a:rPr lang="zh-CN" altLang="zh-CN" sz="2400" dirty="0">
                <a:latin typeface="黑体" pitchFamily="49" charset="-122"/>
                <a:ea typeface="黑体" pitchFamily="49" charset="-122"/>
              </a:rPr>
              <a:t>＝BDAC，所以可知R的候选键为AD和BD</a:t>
            </a:r>
            <a:endParaRPr lang="zh-CN" altLang="en-US" sz="2400" dirty="0">
              <a:latin typeface="黑体" pitchFamily="49" charset="-122"/>
              <a:ea typeface="黑体" pitchFamily="49" charset="-122"/>
            </a:endParaRPr>
          </a:p>
        </p:txBody>
      </p:sp>
      <p:sp>
        <p:nvSpPr>
          <p:cNvPr id="174083" name="Rectangle 8"/>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求关系模式</a:t>
            </a:r>
            <a:r>
              <a:rPr lang="zh-CN" altLang="zh-CN" sz="4000" b="1" dirty="0">
                <a:solidFill>
                  <a:srgbClr val="E40000"/>
                </a:solidFill>
                <a:latin typeface="Arial" panose="020B0604020202020204" pitchFamily="34" charset="0"/>
              </a:rPr>
              <a:t>上全部候选键</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6130" name="Rectangle 5"/>
          <p:cNvSpPr/>
          <p:nvPr/>
        </p:nvSpPr>
        <p:spPr>
          <a:xfrm>
            <a:off x="468313" y="1557338"/>
            <a:ext cx="8351837" cy="4824412"/>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450850" lvl="0" indent="-450850" eaLnBrk="1" hangingPunct="1">
              <a:lnSpc>
                <a:spcPct val="155000"/>
              </a:lnSpc>
              <a:buClr>
                <a:srgbClr val="E40000"/>
              </a:buClr>
              <a:buFont typeface="Wingdings" panose="05000000000000000000" pitchFamily="2" charset="2"/>
              <a:buChar char="Ø"/>
            </a:pPr>
            <a:r>
              <a:rPr lang="zh-CN" altLang="zh-CN" b="1" dirty="0">
                <a:latin typeface="黑体" pitchFamily="49" charset="-122"/>
                <a:ea typeface="黑体" pitchFamily="49" charset="-122"/>
              </a:rPr>
              <a:t>定义4</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23</a:t>
            </a:r>
            <a:r>
              <a:rPr lang="zh-CN" altLang="zh-CN" b="1" dirty="0"/>
              <a:t>：如果关系模式R中的</a:t>
            </a:r>
            <a:r>
              <a:rPr lang="zh-CN" altLang="zh-CN" b="1" u="sng" dirty="0"/>
              <a:t>所有</a:t>
            </a:r>
            <a:r>
              <a:rPr lang="zh-CN" altLang="zh-CN" b="1" dirty="0"/>
              <a:t>非主属性都完全函数依赖于</a:t>
            </a:r>
            <a:r>
              <a:rPr lang="zh-CN" altLang="zh-CN" b="1" u="sng" dirty="0"/>
              <a:t>所有</a:t>
            </a:r>
            <a:r>
              <a:rPr lang="zh-CN" altLang="zh-CN" b="1" dirty="0"/>
              <a:t>CK，则称R满足2NF，表示为R∈2NF</a:t>
            </a:r>
            <a:endParaRPr lang="zh-CN" altLang="en-US" b="1" dirty="0"/>
          </a:p>
          <a:p>
            <a:pPr marL="450850" lvl="0" indent="-450850" eaLnBrk="1" hangingPunct="1">
              <a:lnSpc>
                <a:spcPct val="155000"/>
              </a:lnSpc>
              <a:buFont typeface="Wingdings" panose="05000000000000000000" pitchFamily="2" charset="2"/>
              <a:buChar char="Ø"/>
            </a:pPr>
            <a:r>
              <a:rPr lang="zh-CN" altLang="zh-CN" b="1" dirty="0"/>
              <a:t>2NF是在1NF的基础上消除非主属性对于所有候选键的部分函数依赖</a:t>
            </a:r>
            <a:endParaRPr lang="zh-CN" altLang="en-US" b="1" dirty="0"/>
          </a:p>
          <a:p>
            <a:pPr marL="450850" lvl="0" indent="-450850" eaLnBrk="1" hangingPunct="1">
              <a:lnSpc>
                <a:spcPct val="155000"/>
              </a:lnSpc>
              <a:buFont typeface="Wingdings" panose="05000000000000000000" pitchFamily="2" charset="2"/>
              <a:buChar char="Ø"/>
            </a:pPr>
            <a:r>
              <a:rPr lang="zh-CN" altLang="en-US" b="1" dirty="0">
                <a:solidFill>
                  <a:schemeClr val="bg2"/>
                </a:solidFill>
              </a:rPr>
              <a:t>如果数据库模式中每个关系模式都是</a:t>
            </a:r>
            <a:r>
              <a:rPr lang="en-US" altLang="zh-CN" b="1" dirty="0">
                <a:solidFill>
                  <a:schemeClr val="bg2"/>
                </a:solidFill>
              </a:rPr>
              <a:t>2NF</a:t>
            </a:r>
            <a:r>
              <a:rPr lang="zh-CN" altLang="en-US" b="1" dirty="0">
                <a:solidFill>
                  <a:schemeClr val="bg2"/>
                </a:solidFill>
              </a:rPr>
              <a:t>，则称数据库模式为</a:t>
            </a:r>
            <a:r>
              <a:rPr lang="en-US" altLang="zh-CN" b="1" dirty="0">
                <a:solidFill>
                  <a:schemeClr val="bg2"/>
                </a:solidFill>
              </a:rPr>
              <a:t>2NF</a:t>
            </a:r>
            <a:r>
              <a:rPr lang="zh-CN" altLang="en-US" b="1" dirty="0">
                <a:solidFill>
                  <a:schemeClr val="bg2"/>
                </a:solidFill>
              </a:rPr>
              <a:t>的数据库模式</a:t>
            </a:r>
            <a:endParaRPr lang="zh-CN" altLang="zh-CN" b="1" dirty="0">
              <a:solidFill>
                <a:schemeClr val="bg2"/>
              </a:solidFill>
            </a:endParaRPr>
          </a:p>
        </p:txBody>
      </p:sp>
      <p:sp>
        <p:nvSpPr>
          <p:cNvPr id="176131" name="Rectangle 6"/>
          <p:cNvSpPr/>
          <p:nvPr/>
        </p:nvSpPr>
        <p:spPr>
          <a:xfrm>
            <a:off x="0" y="320040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60000"/>
              </a:lnSpc>
              <a:buNone/>
            </a:pPr>
            <a:endParaRPr lang="zh-CN" altLang="en-US" sz="3600" b="1" dirty="0">
              <a:latin typeface="Arial" panose="020B0604020202020204" pitchFamily="34" charset="0"/>
            </a:endParaRPr>
          </a:p>
        </p:txBody>
      </p:sp>
      <p:sp>
        <p:nvSpPr>
          <p:cNvPr id="176132" name="Rectangle 13"/>
          <p:cNvSpPr/>
          <p:nvPr/>
        </p:nvSpPr>
        <p:spPr>
          <a:xfrm>
            <a:off x="1042988" y="549275"/>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第二范式（</a:t>
            </a:r>
            <a:r>
              <a:rPr lang="en-US" altLang="zh-CN" sz="4000" b="1" dirty="0">
                <a:solidFill>
                  <a:srgbClr val="E40000"/>
                </a:solidFill>
                <a:latin typeface="Arial" panose="020B0604020202020204" pitchFamily="34" charset="0"/>
              </a:rPr>
              <a:t>2NF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78178" name="Group 5"/>
          <p:cNvGrpSpPr/>
          <p:nvPr/>
        </p:nvGrpSpPr>
        <p:grpSpPr>
          <a:xfrm>
            <a:off x="1044575" y="3355975"/>
            <a:ext cx="7056438" cy="3168650"/>
            <a:chOff x="4140" y="1908"/>
            <a:chExt cx="3804" cy="2652"/>
          </a:xfrm>
        </p:grpSpPr>
        <p:sp>
          <p:nvSpPr>
            <p:cNvPr id="178181" name="Text Box 6"/>
            <p:cNvSpPr txBox="1"/>
            <p:nvPr/>
          </p:nvSpPr>
          <p:spPr>
            <a:xfrm>
              <a:off x="4140" y="1908"/>
              <a:ext cx="72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S#</a:t>
              </a:r>
              <a:endParaRPr lang="en-US" altLang="zh-CN" sz="2400" dirty="0">
                <a:latin typeface="Arial" panose="020B0604020202020204" pitchFamily="34" charset="0"/>
              </a:endParaRPr>
            </a:p>
          </p:txBody>
        </p:sp>
        <p:sp>
          <p:nvSpPr>
            <p:cNvPr id="178182" name="Text Box 7"/>
            <p:cNvSpPr txBox="1"/>
            <p:nvPr/>
          </p:nvSpPr>
          <p:spPr>
            <a:xfrm>
              <a:off x="5220" y="1908"/>
              <a:ext cx="72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C#</a:t>
              </a:r>
              <a:endParaRPr lang="en-US" altLang="zh-CN" sz="2400" dirty="0">
                <a:latin typeface="Arial" panose="020B0604020202020204" pitchFamily="34" charset="0"/>
              </a:endParaRPr>
            </a:p>
          </p:txBody>
        </p:sp>
        <p:sp>
          <p:nvSpPr>
            <p:cNvPr id="178183" name="Line 8"/>
            <p:cNvSpPr/>
            <p:nvPr/>
          </p:nvSpPr>
          <p:spPr>
            <a:xfrm>
              <a:off x="4500" y="2376"/>
              <a:ext cx="0" cy="468"/>
            </a:xfrm>
            <a:prstGeom prst="line">
              <a:avLst/>
            </a:prstGeom>
            <a:ln w="9525" cap="flat" cmpd="sng">
              <a:solidFill>
                <a:srgbClr val="000000"/>
              </a:solidFill>
              <a:prstDash val="solid"/>
              <a:headEnd type="none" w="med" len="med"/>
              <a:tailEnd type="none" w="med" len="med"/>
            </a:ln>
          </p:spPr>
        </p:sp>
        <p:sp>
          <p:nvSpPr>
            <p:cNvPr id="178184" name="Line 9"/>
            <p:cNvSpPr/>
            <p:nvPr/>
          </p:nvSpPr>
          <p:spPr>
            <a:xfrm>
              <a:off x="5580" y="2376"/>
              <a:ext cx="0" cy="468"/>
            </a:xfrm>
            <a:prstGeom prst="line">
              <a:avLst/>
            </a:prstGeom>
            <a:ln w="9525" cap="flat" cmpd="sng">
              <a:solidFill>
                <a:srgbClr val="000000"/>
              </a:solidFill>
              <a:prstDash val="solid"/>
              <a:headEnd type="none" w="med" len="med"/>
              <a:tailEnd type="none" w="med" len="med"/>
            </a:ln>
          </p:spPr>
        </p:sp>
        <p:sp>
          <p:nvSpPr>
            <p:cNvPr id="178185" name="Line 10"/>
            <p:cNvSpPr/>
            <p:nvPr/>
          </p:nvSpPr>
          <p:spPr>
            <a:xfrm>
              <a:off x="4500" y="2844"/>
              <a:ext cx="1080" cy="0"/>
            </a:xfrm>
            <a:prstGeom prst="line">
              <a:avLst/>
            </a:prstGeom>
            <a:ln w="9525" cap="flat" cmpd="sng">
              <a:solidFill>
                <a:srgbClr val="000000"/>
              </a:solidFill>
              <a:prstDash val="solid"/>
              <a:headEnd type="none" w="med" len="med"/>
              <a:tailEnd type="none" w="med" len="med"/>
            </a:ln>
          </p:spPr>
        </p:sp>
        <p:sp>
          <p:nvSpPr>
            <p:cNvPr id="178186" name="Line 11"/>
            <p:cNvSpPr/>
            <p:nvPr/>
          </p:nvSpPr>
          <p:spPr>
            <a:xfrm>
              <a:off x="5040" y="2844"/>
              <a:ext cx="0" cy="468"/>
            </a:xfrm>
            <a:prstGeom prst="line">
              <a:avLst/>
            </a:prstGeom>
            <a:ln w="9525" cap="flat" cmpd="sng">
              <a:solidFill>
                <a:srgbClr val="000000"/>
              </a:solidFill>
              <a:prstDash val="solid"/>
              <a:headEnd type="none" w="med" len="med"/>
              <a:tailEnd type="triangle" w="med" len="med"/>
            </a:ln>
          </p:spPr>
        </p:sp>
        <p:sp>
          <p:nvSpPr>
            <p:cNvPr id="178187" name="Text Box 12"/>
            <p:cNvSpPr txBox="1"/>
            <p:nvPr/>
          </p:nvSpPr>
          <p:spPr>
            <a:xfrm>
              <a:off x="4584" y="3312"/>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Grade</a:t>
              </a:r>
              <a:endParaRPr lang="en-US" altLang="zh-CN" sz="2400" dirty="0">
                <a:latin typeface="Arial" panose="020B0604020202020204" pitchFamily="34" charset="0"/>
              </a:endParaRPr>
            </a:p>
          </p:txBody>
        </p:sp>
        <p:sp>
          <p:nvSpPr>
            <p:cNvPr id="178188" name="Line 13"/>
            <p:cNvSpPr/>
            <p:nvPr/>
          </p:nvSpPr>
          <p:spPr>
            <a:xfrm>
              <a:off x="5940" y="2136"/>
              <a:ext cx="1080" cy="0"/>
            </a:xfrm>
            <a:prstGeom prst="line">
              <a:avLst/>
            </a:prstGeom>
            <a:ln w="9525" cap="flat" cmpd="sng">
              <a:solidFill>
                <a:srgbClr val="000000"/>
              </a:solidFill>
              <a:prstDash val="solid"/>
              <a:headEnd type="none" w="med" len="med"/>
              <a:tailEnd type="triangle" w="med" len="med"/>
            </a:ln>
          </p:spPr>
        </p:sp>
        <p:sp>
          <p:nvSpPr>
            <p:cNvPr id="178189" name="Text Box 14"/>
            <p:cNvSpPr txBox="1"/>
            <p:nvPr/>
          </p:nvSpPr>
          <p:spPr>
            <a:xfrm>
              <a:off x="7044" y="1911"/>
              <a:ext cx="876" cy="468"/>
            </a:xfrm>
            <a:prstGeom prst="rect">
              <a:avLst/>
            </a:prstGeom>
            <a:solidFill>
              <a:srgbClr val="FFFFFF"/>
            </a:solidFill>
            <a:ln w="9525" cap="flat" cmpd="sng">
              <a:solidFill>
                <a:srgbClr val="000000"/>
              </a:solidFill>
              <a:prstDash val="solid"/>
              <a:miter/>
              <a:headEnd type="none" w="med" len="med"/>
              <a:tailEnd type="none" w="med" len="med"/>
            </a:ln>
          </p:spPr>
          <p:txBody>
            <a:bodyPr lIns="0" rIns="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Teacher</a:t>
              </a:r>
              <a:endParaRPr lang="en-US" altLang="zh-CN" sz="2400" dirty="0">
                <a:latin typeface="Arial" panose="020B0604020202020204" pitchFamily="34" charset="0"/>
              </a:endParaRPr>
            </a:p>
          </p:txBody>
        </p:sp>
        <p:sp>
          <p:nvSpPr>
            <p:cNvPr id="178190" name="Line 15"/>
            <p:cNvSpPr/>
            <p:nvPr/>
          </p:nvSpPr>
          <p:spPr>
            <a:xfrm>
              <a:off x="7500" y="2388"/>
              <a:ext cx="0" cy="936"/>
            </a:xfrm>
            <a:prstGeom prst="line">
              <a:avLst/>
            </a:prstGeom>
            <a:ln w="9525" cap="flat" cmpd="sng">
              <a:solidFill>
                <a:srgbClr val="000000"/>
              </a:solidFill>
              <a:prstDash val="solid"/>
              <a:headEnd type="none" w="med" len="med"/>
              <a:tailEnd type="triangle" w="med" len="med"/>
            </a:ln>
          </p:spPr>
        </p:sp>
        <p:sp>
          <p:nvSpPr>
            <p:cNvPr id="178191" name="Text Box 16"/>
            <p:cNvSpPr txBox="1"/>
            <p:nvPr/>
          </p:nvSpPr>
          <p:spPr>
            <a:xfrm>
              <a:off x="7044" y="3348"/>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Dept</a:t>
              </a:r>
              <a:endParaRPr lang="en-US" altLang="zh-CN" sz="2400" dirty="0">
                <a:latin typeface="Arial" panose="020B0604020202020204" pitchFamily="34" charset="0"/>
              </a:endParaRPr>
            </a:p>
          </p:txBody>
        </p:sp>
        <p:sp>
          <p:nvSpPr>
            <p:cNvPr id="178192" name="Text Box 17"/>
            <p:cNvSpPr txBox="1"/>
            <p:nvPr/>
          </p:nvSpPr>
          <p:spPr>
            <a:xfrm>
              <a:off x="4140" y="4092"/>
              <a:ext cx="3780" cy="468"/>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endParaRPr lang="zh-CN" altLang="en-US" sz="2400" b="1" dirty="0">
                <a:latin typeface="Arial" panose="020B0604020202020204" pitchFamily="34" charset="0"/>
              </a:endParaRPr>
            </a:p>
          </p:txBody>
        </p:sp>
      </p:grpSp>
      <p:sp>
        <p:nvSpPr>
          <p:cNvPr id="178179" name="Rectangle 3"/>
          <p:cNvSpPr txBox="1"/>
          <p:nvPr/>
        </p:nvSpPr>
        <p:spPr>
          <a:xfrm>
            <a:off x="250825" y="1700213"/>
            <a:ext cx="8685213" cy="13684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42900" lvl="0" indent="-342900" eaLnBrk="1" hangingPunct="1">
              <a:lnSpc>
                <a:spcPct val="90000"/>
              </a:lnSpc>
            </a:pPr>
            <a:r>
              <a:rPr lang="zh-CN" altLang="en-US" sz="2600" b="1" dirty="0">
                <a:latin typeface="Times New Roman" panose="02020603050405020304" pitchFamily="18" charset="0"/>
              </a:rPr>
              <a:t>例</a:t>
            </a:r>
            <a:r>
              <a:rPr lang="en-US" altLang="zh-CN" sz="2600" b="1" dirty="0">
                <a:latin typeface="Times New Roman" panose="02020603050405020304" pitchFamily="18" charset="0"/>
              </a:rPr>
              <a:t>4.14 :</a:t>
            </a:r>
            <a:r>
              <a:rPr lang="zh-CN" altLang="en-US" sz="2600" b="1" dirty="0">
                <a:latin typeface="Times New Roman" panose="02020603050405020304" pitchFamily="18" charset="0"/>
              </a:rPr>
              <a:t>设关系模式</a:t>
            </a:r>
            <a:r>
              <a:rPr lang="en-US" altLang="zh-CN" sz="2600" b="1" dirty="0">
                <a:latin typeface="Times New Roman" panose="02020603050405020304" pitchFamily="18" charset="0"/>
              </a:rPr>
              <a:t>R</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S#</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C#</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Grade</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Teacher</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Dept</a:t>
            </a:r>
            <a:r>
              <a:rPr lang="zh-CN" altLang="en-US" sz="2600" b="1" dirty="0">
                <a:latin typeface="Times New Roman" panose="02020603050405020304" pitchFamily="18" charset="0"/>
              </a:rPr>
              <a:t>）的属性分别表示学生学号、选修课程的编号、成绩、任课教师姓名和所在系等意义。（</a:t>
            </a:r>
            <a:r>
              <a:rPr lang="en-US" altLang="zh-CN" sz="2600" b="1" dirty="0">
                <a:latin typeface="Times New Roman" panose="02020603050405020304" pitchFamily="18" charset="0"/>
              </a:rPr>
              <a:t>S#</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C#</a:t>
            </a:r>
            <a:r>
              <a:rPr lang="zh-CN" altLang="en-US" sz="2600" b="1" dirty="0">
                <a:latin typeface="Times New Roman" panose="02020603050405020304" pitchFamily="18" charset="0"/>
              </a:rPr>
              <a:t>）是</a:t>
            </a:r>
            <a:r>
              <a:rPr lang="en-US" altLang="zh-CN" sz="2600" b="1" dirty="0">
                <a:latin typeface="Times New Roman" panose="02020603050405020304" pitchFamily="18" charset="0"/>
              </a:rPr>
              <a:t>R</a:t>
            </a:r>
            <a:r>
              <a:rPr lang="zh-CN" altLang="en-US" sz="2600" b="1" dirty="0">
                <a:latin typeface="Times New Roman" panose="02020603050405020304" pitchFamily="18" charset="0"/>
              </a:rPr>
              <a:t>的候选键</a:t>
            </a:r>
            <a:endParaRPr lang="zh-CN" altLang="en-US" sz="2600" b="1" dirty="0">
              <a:latin typeface="Times New Roman" panose="02020603050405020304" pitchFamily="18" charset="0"/>
            </a:endParaRPr>
          </a:p>
        </p:txBody>
      </p:sp>
      <p:sp>
        <p:nvSpPr>
          <p:cNvPr id="178180" name="Rectangle 2"/>
          <p:cNvSpPr>
            <a:spLocks noGrp="1"/>
          </p:cNvSpPr>
          <p:nvPr>
            <p:ph type="title"/>
          </p:nvPr>
        </p:nvSpPr>
        <p:spPr>
          <a:xfrm>
            <a:off x="1258888" y="404813"/>
            <a:ext cx="7086600" cy="731837"/>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第二范式（</a:t>
            </a:r>
            <a:r>
              <a:rPr lang="en-US" altLang="zh-CN" sz="4000" b="1" dirty="0">
                <a:solidFill>
                  <a:srgbClr val="E40000"/>
                </a:solidFill>
                <a:latin typeface="Arial" panose="020B0604020202020204" pitchFamily="34" charset="0"/>
              </a:rPr>
              <a:t>2NF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9202" name="Rectangle 2"/>
          <p:cNvSpPr>
            <a:spLocks noGrp="1"/>
          </p:cNvSpPr>
          <p:nvPr>
            <p:ph type="title"/>
          </p:nvPr>
        </p:nvSpPr>
        <p:spPr>
          <a:xfrm>
            <a:off x="1258888" y="404813"/>
            <a:ext cx="7086600" cy="731837"/>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第二范式（</a:t>
            </a:r>
            <a:r>
              <a:rPr lang="en-US" altLang="zh-CN" sz="4000" b="1" dirty="0">
                <a:solidFill>
                  <a:srgbClr val="E40000"/>
                </a:solidFill>
                <a:latin typeface="Arial" panose="020B0604020202020204" pitchFamily="34" charset="0"/>
              </a:rPr>
              <a:t>2NF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
        <p:nvSpPr>
          <p:cNvPr id="179203" name="Rectangle 3"/>
          <p:cNvSpPr>
            <a:spLocks noGrp="1"/>
          </p:cNvSpPr>
          <p:nvPr>
            <p:ph idx="1"/>
          </p:nvPr>
        </p:nvSpPr>
        <p:spPr>
          <a:xfrm>
            <a:off x="250825" y="4221163"/>
            <a:ext cx="8685213" cy="2303462"/>
          </a:xfrm>
          <a:ln/>
        </p:spPr>
        <p:txBody>
          <a:bodyPr vert="horz" wrap="square" lIns="91440" tIns="45720" rIns="91440" bIns="45720" anchor="t" anchorCtr="0"/>
          <a:p>
            <a:pPr eaLnBrk="1" hangingPunct="1">
              <a:lnSpc>
                <a:spcPct val="90000"/>
              </a:lnSpc>
            </a:pPr>
            <a:r>
              <a:rPr lang="en-US" altLang="zh-CN" sz="2600" b="1" dirty="0">
                <a:latin typeface="Times New Roman" panose="02020603050405020304" pitchFamily="18" charset="0"/>
              </a:rPr>
              <a:t>R</a:t>
            </a:r>
            <a:r>
              <a:rPr lang="zh-CN" altLang="en-US" sz="2600" b="1" dirty="0">
                <a:latin typeface="Times New Roman" panose="02020603050405020304" pitchFamily="18" charset="0"/>
              </a:rPr>
              <a:t>上有两个</a:t>
            </a:r>
            <a:r>
              <a:rPr lang="en-US" altLang="zh-CN" sz="2600" b="1" dirty="0">
                <a:latin typeface="Times New Roman" panose="02020603050405020304" pitchFamily="18" charset="0"/>
              </a:rPr>
              <a:t>FD</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S#</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C#</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Teacher</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Dept</a:t>
            </a:r>
            <a:r>
              <a:rPr lang="zh-CN" altLang="en-US" sz="2600" b="1" dirty="0">
                <a:latin typeface="Times New Roman" panose="02020603050405020304" pitchFamily="18" charset="0"/>
              </a:rPr>
              <a:t>）和</a:t>
            </a:r>
            <a:r>
              <a:rPr lang="en-US" altLang="zh-CN" sz="2600" b="1" dirty="0">
                <a:latin typeface="Times New Roman" panose="02020603050405020304" pitchFamily="18" charset="0"/>
              </a:rPr>
              <a:t>C#→</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Teacher</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Dept</a:t>
            </a:r>
            <a:r>
              <a:rPr lang="zh-CN" altLang="en-US" sz="2600" b="1" dirty="0">
                <a:latin typeface="Times New Roman" panose="02020603050405020304" pitchFamily="18" charset="0"/>
              </a:rPr>
              <a:t>），由于前一个</a:t>
            </a:r>
            <a:r>
              <a:rPr lang="en-US" altLang="zh-CN" sz="2600" b="1" dirty="0">
                <a:latin typeface="Times New Roman" panose="02020603050405020304" pitchFamily="18" charset="0"/>
              </a:rPr>
              <a:t>FD</a:t>
            </a:r>
            <a:r>
              <a:rPr lang="zh-CN" altLang="en-US" sz="2600" b="1" dirty="0">
                <a:latin typeface="Times New Roman" panose="02020603050405020304" pitchFamily="18" charset="0"/>
              </a:rPr>
              <a:t>是部分依赖，因此</a:t>
            </a:r>
            <a:r>
              <a:rPr lang="en-US" altLang="zh-CN" sz="2600" b="1" dirty="0">
                <a:latin typeface="Times New Roman" panose="02020603050405020304" pitchFamily="18" charset="0"/>
              </a:rPr>
              <a:t>R</a:t>
            </a:r>
            <a:r>
              <a:rPr lang="zh-CN" altLang="en-US" sz="2600" b="1" dirty="0">
                <a:latin typeface="Times New Roman" panose="02020603050405020304" pitchFamily="18" charset="0"/>
              </a:rPr>
              <a:t>不是</a:t>
            </a:r>
            <a:r>
              <a:rPr lang="en-US" altLang="zh-CN" sz="2600" b="1" dirty="0">
                <a:latin typeface="Times New Roman" panose="02020603050405020304" pitchFamily="18" charset="0"/>
              </a:rPr>
              <a:t>2NF</a:t>
            </a:r>
            <a:r>
              <a:rPr lang="zh-CN" altLang="en-US" sz="2600" b="1" dirty="0">
                <a:latin typeface="Times New Roman" panose="02020603050405020304" pitchFamily="18" charset="0"/>
              </a:rPr>
              <a:t>模式。此时</a:t>
            </a:r>
            <a:r>
              <a:rPr lang="en-US" altLang="zh-CN" sz="2600" b="1" dirty="0">
                <a:latin typeface="Times New Roman" panose="02020603050405020304" pitchFamily="18" charset="0"/>
              </a:rPr>
              <a:t>R</a:t>
            </a:r>
            <a:r>
              <a:rPr lang="zh-CN" altLang="en-US" sz="2600" b="1" dirty="0">
                <a:latin typeface="Times New Roman" panose="02020603050405020304" pitchFamily="18" charset="0"/>
              </a:rPr>
              <a:t>的关系就会出现冗余和异常现象。譬如某一门课程有</a:t>
            </a:r>
            <a:r>
              <a:rPr lang="en-US" altLang="zh-CN" sz="2600" b="1" dirty="0">
                <a:latin typeface="Times New Roman" panose="02020603050405020304" pitchFamily="18" charset="0"/>
              </a:rPr>
              <a:t>100</a:t>
            </a:r>
            <a:r>
              <a:rPr lang="zh-CN" altLang="en-US" sz="2600" b="1" dirty="0">
                <a:latin typeface="Times New Roman" panose="02020603050405020304" pitchFamily="18" charset="0"/>
              </a:rPr>
              <a:t>个学生选修，那么在关系中就会存在</a:t>
            </a:r>
            <a:r>
              <a:rPr lang="en-US" altLang="zh-CN" sz="2600" b="1" dirty="0">
                <a:latin typeface="Times New Roman" panose="02020603050405020304" pitchFamily="18" charset="0"/>
              </a:rPr>
              <a:t>100</a:t>
            </a:r>
            <a:r>
              <a:rPr lang="zh-CN" altLang="en-US" sz="2600" b="1" dirty="0">
                <a:latin typeface="Times New Roman" panose="02020603050405020304" pitchFamily="18" charset="0"/>
              </a:rPr>
              <a:t>个元组，因而教师的姓名和所在系就会重复</a:t>
            </a:r>
            <a:r>
              <a:rPr lang="en-US" altLang="zh-CN" sz="2600" b="1" dirty="0">
                <a:latin typeface="Times New Roman" panose="02020603050405020304" pitchFamily="18" charset="0"/>
              </a:rPr>
              <a:t>100</a:t>
            </a:r>
            <a:r>
              <a:rPr lang="zh-CN" altLang="en-US" sz="2600" b="1" dirty="0">
                <a:latin typeface="Times New Roman" panose="02020603050405020304" pitchFamily="18" charset="0"/>
              </a:rPr>
              <a:t>次。</a:t>
            </a:r>
            <a:endParaRPr lang="zh-CN" altLang="en-US" sz="2600" b="1" dirty="0">
              <a:latin typeface="Times New Roman" panose="02020603050405020304" pitchFamily="18" charset="0"/>
            </a:endParaRPr>
          </a:p>
        </p:txBody>
      </p:sp>
      <p:grpSp>
        <p:nvGrpSpPr>
          <p:cNvPr id="179204" name="组合 1"/>
          <p:cNvGrpSpPr/>
          <p:nvPr/>
        </p:nvGrpSpPr>
        <p:grpSpPr>
          <a:xfrm>
            <a:off x="900113" y="1700213"/>
            <a:ext cx="7056437" cy="2279650"/>
            <a:chOff x="854743" y="1589562"/>
            <a:chExt cx="7056438" cy="2279708"/>
          </a:xfrm>
        </p:grpSpPr>
        <p:sp>
          <p:nvSpPr>
            <p:cNvPr id="179205" name="Text Box 6"/>
            <p:cNvSpPr txBox="1"/>
            <p:nvPr/>
          </p:nvSpPr>
          <p:spPr>
            <a:xfrm>
              <a:off x="854743" y="1589562"/>
              <a:ext cx="1335603" cy="55917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S#</a:t>
              </a:r>
              <a:endParaRPr lang="en-US" altLang="zh-CN" sz="2400" dirty="0">
                <a:latin typeface="Arial" panose="020B0604020202020204" pitchFamily="34" charset="0"/>
              </a:endParaRPr>
            </a:p>
          </p:txBody>
        </p:sp>
        <p:sp>
          <p:nvSpPr>
            <p:cNvPr id="179206" name="Text Box 7"/>
            <p:cNvSpPr txBox="1"/>
            <p:nvPr/>
          </p:nvSpPr>
          <p:spPr>
            <a:xfrm>
              <a:off x="2858148" y="1589562"/>
              <a:ext cx="1335603" cy="55917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C#</a:t>
              </a:r>
              <a:endParaRPr lang="en-US" altLang="zh-CN" sz="2400" dirty="0">
                <a:latin typeface="Arial" panose="020B0604020202020204" pitchFamily="34" charset="0"/>
              </a:endParaRPr>
            </a:p>
          </p:txBody>
        </p:sp>
        <p:sp>
          <p:nvSpPr>
            <p:cNvPr id="179207" name="Line 8"/>
            <p:cNvSpPr/>
            <p:nvPr/>
          </p:nvSpPr>
          <p:spPr>
            <a:xfrm>
              <a:off x="1522545" y="2148736"/>
              <a:ext cx="0" cy="559174"/>
            </a:xfrm>
            <a:prstGeom prst="line">
              <a:avLst/>
            </a:prstGeom>
            <a:ln w="9525" cap="flat" cmpd="sng">
              <a:solidFill>
                <a:srgbClr val="000000"/>
              </a:solidFill>
              <a:prstDash val="solid"/>
              <a:headEnd type="none" w="med" len="med"/>
              <a:tailEnd type="none" w="med" len="med"/>
            </a:ln>
          </p:spPr>
        </p:sp>
        <p:sp>
          <p:nvSpPr>
            <p:cNvPr id="179208" name="Line 9"/>
            <p:cNvSpPr/>
            <p:nvPr/>
          </p:nvSpPr>
          <p:spPr>
            <a:xfrm>
              <a:off x="3525950" y="2148736"/>
              <a:ext cx="0" cy="559174"/>
            </a:xfrm>
            <a:prstGeom prst="line">
              <a:avLst/>
            </a:prstGeom>
            <a:ln w="9525" cap="flat" cmpd="sng">
              <a:solidFill>
                <a:srgbClr val="000000"/>
              </a:solidFill>
              <a:prstDash val="solid"/>
              <a:headEnd type="none" w="med" len="med"/>
              <a:tailEnd type="none" w="med" len="med"/>
            </a:ln>
          </p:spPr>
        </p:sp>
        <p:sp>
          <p:nvSpPr>
            <p:cNvPr id="179209" name="Line 10"/>
            <p:cNvSpPr/>
            <p:nvPr/>
          </p:nvSpPr>
          <p:spPr>
            <a:xfrm>
              <a:off x="1522545" y="2707909"/>
              <a:ext cx="2003405" cy="0"/>
            </a:xfrm>
            <a:prstGeom prst="line">
              <a:avLst/>
            </a:prstGeom>
            <a:ln w="9525" cap="flat" cmpd="sng">
              <a:solidFill>
                <a:srgbClr val="000000"/>
              </a:solidFill>
              <a:prstDash val="solid"/>
              <a:headEnd type="none" w="med" len="med"/>
              <a:tailEnd type="none" w="med" len="med"/>
            </a:ln>
          </p:spPr>
        </p:sp>
        <p:sp>
          <p:nvSpPr>
            <p:cNvPr id="179210" name="Line 11"/>
            <p:cNvSpPr/>
            <p:nvPr/>
          </p:nvSpPr>
          <p:spPr>
            <a:xfrm>
              <a:off x="2524247" y="2707909"/>
              <a:ext cx="0" cy="559174"/>
            </a:xfrm>
            <a:prstGeom prst="line">
              <a:avLst/>
            </a:prstGeom>
            <a:ln w="9525" cap="flat" cmpd="sng">
              <a:solidFill>
                <a:srgbClr val="000000"/>
              </a:solidFill>
              <a:prstDash val="solid"/>
              <a:headEnd type="none" w="med" len="med"/>
              <a:tailEnd type="triangle" w="med" len="med"/>
            </a:ln>
          </p:spPr>
        </p:sp>
        <p:sp>
          <p:nvSpPr>
            <p:cNvPr id="179211" name="Text Box 12"/>
            <p:cNvSpPr txBox="1"/>
            <p:nvPr/>
          </p:nvSpPr>
          <p:spPr>
            <a:xfrm>
              <a:off x="1678365" y="3267083"/>
              <a:ext cx="1669504" cy="55917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Grade</a:t>
              </a:r>
              <a:endParaRPr lang="en-US" altLang="zh-CN" sz="2400" dirty="0">
                <a:latin typeface="Arial" panose="020B0604020202020204" pitchFamily="34" charset="0"/>
              </a:endParaRPr>
            </a:p>
          </p:txBody>
        </p:sp>
        <p:sp>
          <p:nvSpPr>
            <p:cNvPr id="179212" name="Line 13"/>
            <p:cNvSpPr/>
            <p:nvPr/>
          </p:nvSpPr>
          <p:spPr>
            <a:xfrm>
              <a:off x="4193752" y="1861980"/>
              <a:ext cx="2003405" cy="0"/>
            </a:xfrm>
            <a:prstGeom prst="line">
              <a:avLst/>
            </a:prstGeom>
            <a:ln w="9525" cap="flat" cmpd="sng">
              <a:solidFill>
                <a:srgbClr val="000000"/>
              </a:solidFill>
              <a:prstDash val="solid"/>
              <a:headEnd type="none" w="med" len="med"/>
              <a:tailEnd type="triangle" w="med" len="med"/>
            </a:ln>
          </p:spPr>
        </p:sp>
        <p:sp>
          <p:nvSpPr>
            <p:cNvPr id="179213" name="Text Box 14"/>
            <p:cNvSpPr txBox="1"/>
            <p:nvPr/>
          </p:nvSpPr>
          <p:spPr>
            <a:xfrm>
              <a:off x="6241677" y="1593146"/>
              <a:ext cx="1624984" cy="559174"/>
            </a:xfrm>
            <a:prstGeom prst="rect">
              <a:avLst/>
            </a:prstGeom>
            <a:solidFill>
              <a:srgbClr val="FFFFFF"/>
            </a:solidFill>
            <a:ln w="9525" cap="flat" cmpd="sng">
              <a:solidFill>
                <a:srgbClr val="000000"/>
              </a:solidFill>
              <a:prstDash val="solid"/>
              <a:miter/>
              <a:headEnd type="none" w="med" len="med"/>
              <a:tailEnd type="none" w="med" len="med"/>
            </a:ln>
          </p:spPr>
          <p:txBody>
            <a:bodyPr lIns="0" rIns="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Teacher</a:t>
              </a:r>
              <a:endParaRPr lang="en-US" altLang="zh-CN" sz="2400" dirty="0">
                <a:latin typeface="Arial" panose="020B0604020202020204" pitchFamily="34" charset="0"/>
              </a:endParaRPr>
            </a:p>
          </p:txBody>
        </p:sp>
        <p:sp>
          <p:nvSpPr>
            <p:cNvPr id="179214" name="Line 15"/>
            <p:cNvSpPr/>
            <p:nvPr/>
          </p:nvSpPr>
          <p:spPr>
            <a:xfrm>
              <a:off x="7087559" y="2163073"/>
              <a:ext cx="0" cy="1118347"/>
            </a:xfrm>
            <a:prstGeom prst="line">
              <a:avLst/>
            </a:prstGeom>
            <a:ln w="9525" cap="flat" cmpd="sng">
              <a:solidFill>
                <a:srgbClr val="000000"/>
              </a:solidFill>
              <a:prstDash val="solid"/>
              <a:headEnd type="none" w="med" len="med"/>
              <a:tailEnd type="triangle" w="med" len="med"/>
            </a:ln>
          </p:spPr>
        </p:sp>
        <p:sp>
          <p:nvSpPr>
            <p:cNvPr id="179215" name="Text Box 16"/>
            <p:cNvSpPr txBox="1"/>
            <p:nvPr/>
          </p:nvSpPr>
          <p:spPr>
            <a:xfrm>
              <a:off x="6241677" y="3310096"/>
              <a:ext cx="1669504" cy="55917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Dept</a:t>
              </a:r>
              <a:endParaRPr lang="en-US" altLang="zh-CN" sz="2400" dirty="0">
                <a:latin typeface="Arial" panose="020B0604020202020204" pitchFamily="34" charset="0"/>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3"/>
          <p:cNvSpPr txBox="1"/>
          <p:nvPr/>
        </p:nvSpPr>
        <p:spPr>
          <a:xfrm>
            <a:off x="250825" y="4652963"/>
            <a:ext cx="8685213" cy="136842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42900" lvl="0" indent="-342900" eaLnBrk="1" hangingPunct="1">
              <a:lnSpc>
                <a:spcPct val="90000"/>
              </a:lnSpc>
            </a:pPr>
            <a:r>
              <a:rPr lang="zh-CN" altLang="en-US" sz="2600" b="1" dirty="0">
                <a:latin typeface="Times New Roman" panose="02020603050405020304" pitchFamily="18" charset="0"/>
              </a:rPr>
              <a:t>如果把</a:t>
            </a:r>
            <a:r>
              <a:rPr lang="en-US" altLang="zh-CN" sz="2600" b="1" dirty="0">
                <a:latin typeface="Times New Roman" panose="02020603050405020304" pitchFamily="18" charset="0"/>
              </a:rPr>
              <a:t>R</a:t>
            </a:r>
            <a:r>
              <a:rPr lang="zh-CN" altLang="en-US" sz="2600" b="1" dirty="0">
                <a:latin typeface="Times New Roman" panose="02020603050405020304" pitchFamily="18" charset="0"/>
              </a:rPr>
              <a:t>分解成</a:t>
            </a:r>
            <a:r>
              <a:rPr lang="en-US" altLang="zh-CN" sz="2600" b="1" dirty="0">
                <a:solidFill>
                  <a:srgbClr val="FF9933"/>
                </a:solidFill>
                <a:latin typeface="Times New Roman" panose="02020603050405020304" pitchFamily="18" charset="0"/>
              </a:rPr>
              <a:t>R</a:t>
            </a:r>
            <a:r>
              <a:rPr lang="en-US" altLang="zh-CN" sz="2600" b="1" baseline="-25000" dirty="0">
                <a:solidFill>
                  <a:srgbClr val="FF9933"/>
                </a:solidFill>
                <a:latin typeface="Times New Roman" panose="02020603050405020304" pitchFamily="18" charset="0"/>
              </a:rPr>
              <a:t>1</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C#</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Teacher</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Dept</a:t>
            </a:r>
            <a:r>
              <a:rPr lang="zh-CN" altLang="en-US" sz="2600" b="1" dirty="0">
                <a:latin typeface="Times New Roman" panose="02020603050405020304" pitchFamily="18" charset="0"/>
              </a:rPr>
              <a:t>）和</a:t>
            </a:r>
            <a:r>
              <a:rPr lang="en-US" altLang="zh-CN" sz="2600" b="1" dirty="0">
                <a:solidFill>
                  <a:srgbClr val="FF9933"/>
                </a:solidFill>
                <a:latin typeface="Times New Roman" panose="02020603050405020304" pitchFamily="18" charset="0"/>
              </a:rPr>
              <a:t>R</a:t>
            </a:r>
            <a:r>
              <a:rPr lang="en-US" altLang="zh-CN" sz="2600" b="1" baseline="-25000" dirty="0">
                <a:solidFill>
                  <a:srgbClr val="FF9933"/>
                </a:solidFill>
                <a:latin typeface="Times New Roman" panose="02020603050405020304" pitchFamily="18" charset="0"/>
              </a:rPr>
              <a:t>2</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S#</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C#</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Grade</a:t>
            </a:r>
            <a:r>
              <a:rPr lang="zh-CN" altLang="en-US" sz="2600" b="1" dirty="0">
                <a:latin typeface="Times New Roman" panose="02020603050405020304" pitchFamily="18" charset="0"/>
              </a:rPr>
              <a:t>）后，部分依赖（</a:t>
            </a:r>
            <a:r>
              <a:rPr lang="en-US" altLang="zh-CN" sz="2600" b="1" dirty="0">
                <a:latin typeface="Times New Roman" panose="02020603050405020304" pitchFamily="18" charset="0"/>
              </a:rPr>
              <a:t>S#</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C#</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Teacher</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Dept</a:t>
            </a:r>
            <a:r>
              <a:rPr lang="zh-CN" altLang="en-US" sz="2600" b="1" dirty="0">
                <a:latin typeface="Times New Roman" panose="02020603050405020304" pitchFamily="18" charset="0"/>
              </a:rPr>
              <a:t>）就消失了。</a:t>
            </a:r>
            <a:r>
              <a:rPr lang="en-US" altLang="zh-CN" sz="2600" b="1" dirty="0">
                <a:latin typeface="Times New Roman" panose="02020603050405020304" pitchFamily="18" charset="0"/>
              </a:rPr>
              <a:t>R</a:t>
            </a:r>
            <a:r>
              <a:rPr lang="en-US" altLang="zh-CN" sz="2600" b="1" baseline="-25000" dirty="0">
                <a:latin typeface="Times New Roman" panose="02020603050405020304" pitchFamily="18" charset="0"/>
              </a:rPr>
              <a:t>1</a:t>
            </a:r>
            <a:r>
              <a:rPr lang="zh-CN" altLang="en-US" sz="2600" b="1" dirty="0">
                <a:latin typeface="Times New Roman" panose="02020603050405020304" pitchFamily="18" charset="0"/>
              </a:rPr>
              <a:t>和</a:t>
            </a:r>
            <a:r>
              <a:rPr lang="en-US" altLang="zh-CN" sz="2600" b="1" dirty="0">
                <a:latin typeface="Times New Roman" panose="02020603050405020304" pitchFamily="18" charset="0"/>
              </a:rPr>
              <a:t>R</a:t>
            </a:r>
            <a:r>
              <a:rPr lang="en-US" altLang="zh-CN" sz="2600" b="1" baseline="-25000" dirty="0">
                <a:latin typeface="Times New Roman" panose="02020603050405020304" pitchFamily="18" charset="0"/>
              </a:rPr>
              <a:t>2</a:t>
            </a:r>
            <a:r>
              <a:rPr lang="zh-CN" altLang="en-US" sz="2600" b="1" dirty="0">
                <a:latin typeface="Times New Roman" panose="02020603050405020304" pitchFamily="18" charset="0"/>
              </a:rPr>
              <a:t>都是</a:t>
            </a:r>
            <a:r>
              <a:rPr lang="en-US" altLang="zh-CN" sz="2600" b="1" dirty="0">
                <a:latin typeface="Times New Roman" panose="02020603050405020304" pitchFamily="18" charset="0"/>
              </a:rPr>
              <a:t>2NF</a:t>
            </a:r>
            <a:r>
              <a:rPr lang="zh-CN" altLang="en-US" sz="2600" b="1" dirty="0">
                <a:latin typeface="Times New Roman" panose="02020603050405020304" pitchFamily="18" charset="0"/>
              </a:rPr>
              <a:t>模式</a:t>
            </a:r>
            <a:r>
              <a:rPr lang="zh-CN" altLang="en-US" sz="2400" b="1" dirty="0"/>
              <a:t> </a:t>
            </a:r>
            <a:endParaRPr lang="zh-CN" altLang="en-US" sz="2400" b="1" dirty="0"/>
          </a:p>
        </p:txBody>
      </p:sp>
      <p:grpSp>
        <p:nvGrpSpPr>
          <p:cNvPr id="181251" name="组合 4"/>
          <p:cNvGrpSpPr/>
          <p:nvPr/>
        </p:nvGrpSpPr>
        <p:grpSpPr>
          <a:xfrm>
            <a:off x="900113" y="1870075"/>
            <a:ext cx="7056437" cy="2279650"/>
            <a:chOff x="854743" y="1589562"/>
            <a:chExt cx="7056438" cy="2279708"/>
          </a:xfrm>
        </p:grpSpPr>
        <p:sp>
          <p:nvSpPr>
            <p:cNvPr id="181253" name="Text Box 6"/>
            <p:cNvSpPr txBox="1"/>
            <p:nvPr/>
          </p:nvSpPr>
          <p:spPr>
            <a:xfrm>
              <a:off x="854743" y="1589562"/>
              <a:ext cx="1335603" cy="55917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S#</a:t>
              </a:r>
              <a:endParaRPr lang="en-US" altLang="zh-CN" sz="2400" dirty="0">
                <a:latin typeface="Arial" panose="020B0604020202020204" pitchFamily="34" charset="0"/>
              </a:endParaRPr>
            </a:p>
          </p:txBody>
        </p:sp>
        <p:sp>
          <p:nvSpPr>
            <p:cNvPr id="181254" name="Text Box 7"/>
            <p:cNvSpPr txBox="1"/>
            <p:nvPr/>
          </p:nvSpPr>
          <p:spPr>
            <a:xfrm>
              <a:off x="2858148" y="1589562"/>
              <a:ext cx="1335603" cy="55917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C#</a:t>
              </a:r>
              <a:endParaRPr lang="en-US" altLang="zh-CN" sz="2400" dirty="0">
                <a:latin typeface="Arial" panose="020B0604020202020204" pitchFamily="34" charset="0"/>
              </a:endParaRPr>
            </a:p>
          </p:txBody>
        </p:sp>
        <p:sp>
          <p:nvSpPr>
            <p:cNvPr id="181255" name="Line 8"/>
            <p:cNvSpPr/>
            <p:nvPr/>
          </p:nvSpPr>
          <p:spPr>
            <a:xfrm>
              <a:off x="1522545" y="2148736"/>
              <a:ext cx="0" cy="559174"/>
            </a:xfrm>
            <a:prstGeom prst="line">
              <a:avLst/>
            </a:prstGeom>
            <a:ln w="9525" cap="flat" cmpd="sng">
              <a:solidFill>
                <a:srgbClr val="000000"/>
              </a:solidFill>
              <a:prstDash val="solid"/>
              <a:headEnd type="none" w="med" len="med"/>
              <a:tailEnd type="none" w="med" len="med"/>
            </a:ln>
          </p:spPr>
        </p:sp>
        <p:sp>
          <p:nvSpPr>
            <p:cNvPr id="181256" name="Line 9"/>
            <p:cNvSpPr/>
            <p:nvPr/>
          </p:nvSpPr>
          <p:spPr>
            <a:xfrm>
              <a:off x="3525950" y="2148736"/>
              <a:ext cx="0" cy="559174"/>
            </a:xfrm>
            <a:prstGeom prst="line">
              <a:avLst/>
            </a:prstGeom>
            <a:ln w="9525" cap="flat" cmpd="sng">
              <a:solidFill>
                <a:srgbClr val="000000"/>
              </a:solidFill>
              <a:prstDash val="solid"/>
              <a:headEnd type="none" w="med" len="med"/>
              <a:tailEnd type="none" w="med" len="med"/>
            </a:ln>
          </p:spPr>
        </p:sp>
        <p:sp>
          <p:nvSpPr>
            <p:cNvPr id="181257" name="Line 10"/>
            <p:cNvSpPr/>
            <p:nvPr/>
          </p:nvSpPr>
          <p:spPr>
            <a:xfrm>
              <a:off x="1522545" y="2707909"/>
              <a:ext cx="2003405" cy="0"/>
            </a:xfrm>
            <a:prstGeom prst="line">
              <a:avLst/>
            </a:prstGeom>
            <a:ln w="9525" cap="flat" cmpd="sng">
              <a:solidFill>
                <a:srgbClr val="000000"/>
              </a:solidFill>
              <a:prstDash val="solid"/>
              <a:headEnd type="none" w="med" len="med"/>
              <a:tailEnd type="none" w="med" len="med"/>
            </a:ln>
          </p:spPr>
        </p:sp>
        <p:sp>
          <p:nvSpPr>
            <p:cNvPr id="181258" name="Line 11"/>
            <p:cNvSpPr/>
            <p:nvPr/>
          </p:nvSpPr>
          <p:spPr>
            <a:xfrm>
              <a:off x="2524247" y="2707909"/>
              <a:ext cx="0" cy="559174"/>
            </a:xfrm>
            <a:prstGeom prst="line">
              <a:avLst/>
            </a:prstGeom>
            <a:ln w="9525" cap="flat" cmpd="sng">
              <a:solidFill>
                <a:srgbClr val="000000"/>
              </a:solidFill>
              <a:prstDash val="solid"/>
              <a:headEnd type="none" w="med" len="med"/>
              <a:tailEnd type="triangle" w="med" len="med"/>
            </a:ln>
          </p:spPr>
        </p:sp>
        <p:sp>
          <p:nvSpPr>
            <p:cNvPr id="181259" name="Text Box 12"/>
            <p:cNvSpPr txBox="1"/>
            <p:nvPr/>
          </p:nvSpPr>
          <p:spPr>
            <a:xfrm>
              <a:off x="1678365" y="3267083"/>
              <a:ext cx="1669504" cy="55917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Grade</a:t>
              </a:r>
              <a:endParaRPr lang="en-US" altLang="zh-CN" sz="2400" dirty="0">
                <a:latin typeface="Arial" panose="020B0604020202020204" pitchFamily="34" charset="0"/>
              </a:endParaRPr>
            </a:p>
          </p:txBody>
        </p:sp>
        <p:sp>
          <p:nvSpPr>
            <p:cNvPr id="181260" name="Line 13"/>
            <p:cNvSpPr/>
            <p:nvPr/>
          </p:nvSpPr>
          <p:spPr>
            <a:xfrm>
              <a:off x="4193752" y="1861980"/>
              <a:ext cx="2003405" cy="0"/>
            </a:xfrm>
            <a:prstGeom prst="line">
              <a:avLst/>
            </a:prstGeom>
            <a:ln w="9525" cap="flat" cmpd="sng">
              <a:solidFill>
                <a:srgbClr val="000000"/>
              </a:solidFill>
              <a:prstDash val="solid"/>
              <a:headEnd type="none" w="med" len="med"/>
              <a:tailEnd type="triangle" w="med" len="med"/>
            </a:ln>
          </p:spPr>
        </p:sp>
        <p:sp>
          <p:nvSpPr>
            <p:cNvPr id="181261" name="Text Box 14"/>
            <p:cNvSpPr txBox="1"/>
            <p:nvPr/>
          </p:nvSpPr>
          <p:spPr>
            <a:xfrm>
              <a:off x="6241677" y="1593146"/>
              <a:ext cx="1624984" cy="559174"/>
            </a:xfrm>
            <a:prstGeom prst="rect">
              <a:avLst/>
            </a:prstGeom>
            <a:solidFill>
              <a:srgbClr val="FFFFFF"/>
            </a:solidFill>
            <a:ln w="9525" cap="flat" cmpd="sng">
              <a:solidFill>
                <a:srgbClr val="000000"/>
              </a:solidFill>
              <a:prstDash val="solid"/>
              <a:miter/>
              <a:headEnd type="none" w="med" len="med"/>
              <a:tailEnd type="none" w="med" len="med"/>
            </a:ln>
          </p:spPr>
          <p:txBody>
            <a:bodyPr lIns="0" rIns="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Teacher</a:t>
              </a:r>
              <a:endParaRPr lang="en-US" altLang="zh-CN" sz="2400" dirty="0">
                <a:latin typeface="Arial" panose="020B0604020202020204" pitchFamily="34" charset="0"/>
              </a:endParaRPr>
            </a:p>
          </p:txBody>
        </p:sp>
        <p:sp>
          <p:nvSpPr>
            <p:cNvPr id="181262" name="Line 15"/>
            <p:cNvSpPr/>
            <p:nvPr/>
          </p:nvSpPr>
          <p:spPr>
            <a:xfrm>
              <a:off x="7087559" y="2163073"/>
              <a:ext cx="0" cy="1118347"/>
            </a:xfrm>
            <a:prstGeom prst="line">
              <a:avLst/>
            </a:prstGeom>
            <a:ln w="9525" cap="flat" cmpd="sng">
              <a:solidFill>
                <a:srgbClr val="000000"/>
              </a:solidFill>
              <a:prstDash val="solid"/>
              <a:headEnd type="none" w="med" len="med"/>
              <a:tailEnd type="triangle" w="med" len="med"/>
            </a:ln>
          </p:spPr>
        </p:sp>
        <p:sp>
          <p:nvSpPr>
            <p:cNvPr id="181263" name="Text Box 16"/>
            <p:cNvSpPr txBox="1"/>
            <p:nvPr/>
          </p:nvSpPr>
          <p:spPr>
            <a:xfrm>
              <a:off x="6241677" y="3310096"/>
              <a:ext cx="1669504" cy="55917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imes New Roman" panose="02020603050405020304" pitchFamily="18" charset="0"/>
                </a:rPr>
                <a:t>Dept</a:t>
              </a:r>
              <a:endParaRPr lang="en-US" altLang="zh-CN" sz="2400" dirty="0">
                <a:latin typeface="Arial" panose="020B0604020202020204" pitchFamily="34" charset="0"/>
              </a:endParaRPr>
            </a:p>
          </p:txBody>
        </p:sp>
      </p:grpSp>
      <p:sp>
        <p:nvSpPr>
          <p:cNvPr id="181252" name="Rectangle 2"/>
          <p:cNvSpPr>
            <a:spLocks noGrp="1"/>
          </p:cNvSpPr>
          <p:nvPr>
            <p:ph type="title"/>
          </p:nvPr>
        </p:nvSpPr>
        <p:spPr>
          <a:xfrm>
            <a:off x="1258888" y="404813"/>
            <a:ext cx="7086600" cy="731837"/>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第二范式（</a:t>
            </a:r>
            <a:r>
              <a:rPr lang="en-US" altLang="zh-CN" sz="4000" b="1" dirty="0">
                <a:solidFill>
                  <a:srgbClr val="E40000"/>
                </a:solidFill>
                <a:latin typeface="Arial" panose="020B0604020202020204" pitchFamily="34" charset="0"/>
              </a:rPr>
              <a:t>2NF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2274" name="Rectangle 10"/>
          <p:cNvSpPr/>
          <p:nvPr/>
        </p:nvSpPr>
        <p:spPr>
          <a:xfrm>
            <a:off x="684213" y="1628775"/>
            <a:ext cx="8280400" cy="4968875"/>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50000"/>
              </a:lnSpc>
              <a:buClr>
                <a:srgbClr val="E40000"/>
              </a:buClr>
              <a:buFont typeface="Wingdings" panose="05000000000000000000" pitchFamily="2" charset="2"/>
              <a:buChar char="Ø"/>
            </a:pPr>
            <a:r>
              <a:rPr lang="zh-CN" altLang="zh-CN" b="1" dirty="0">
                <a:latin typeface="黑体" pitchFamily="49" charset="-122"/>
                <a:ea typeface="黑体" pitchFamily="49" charset="-122"/>
              </a:rPr>
              <a:t>定义4</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24</a:t>
            </a:r>
            <a:r>
              <a:rPr lang="zh-CN" altLang="zh-CN" b="1" dirty="0"/>
              <a:t>：如果关系模式R中的非主属性既不部分函数依赖也不传递函数依赖于R上的所有候选键，则称R满足3NF，表示为R∈3NF</a:t>
            </a:r>
            <a:endParaRPr lang="zh-CN" altLang="zh-CN" b="1" dirty="0"/>
          </a:p>
          <a:p>
            <a:pPr marL="355600" lvl="0" indent="-355600" eaLnBrk="1" hangingPunct="1">
              <a:lnSpc>
                <a:spcPct val="150000"/>
              </a:lnSpc>
              <a:buFont typeface="Wingdings" panose="05000000000000000000" pitchFamily="2" charset="2"/>
              <a:buChar char="Ø"/>
            </a:pPr>
            <a:r>
              <a:rPr lang="zh-CN" altLang="zh-CN" b="1" dirty="0"/>
              <a:t>3NF是在2NF的基础上消除非主属性对于键的传递依赖</a:t>
            </a:r>
            <a:endParaRPr lang="zh-CN" altLang="en-US" b="1" dirty="0"/>
          </a:p>
          <a:p>
            <a:pPr marL="355600" lvl="0" indent="-355600" eaLnBrk="1" hangingPunct="1">
              <a:buFont typeface="Wingdings" panose="05000000000000000000" pitchFamily="2" charset="2"/>
              <a:buChar char="Ø"/>
            </a:pPr>
            <a:r>
              <a:rPr lang="zh-CN" altLang="en-US" b="1" dirty="0">
                <a:solidFill>
                  <a:schemeClr val="bg2"/>
                </a:solidFill>
              </a:rPr>
              <a:t>如果数据库模式中每个关系模式都是</a:t>
            </a:r>
            <a:r>
              <a:rPr lang="en-US" altLang="zh-CN" b="1" dirty="0">
                <a:solidFill>
                  <a:schemeClr val="bg2"/>
                </a:solidFill>
              </a:rPr>
              <a:t>3NF</a:t>
            </a:r>
            <a:r>
              <a:rPr lang="zh-CN" altLang="en-US" b="1" dirty="0">
                <a:solidFill>
                  <a:schemeClr val="bg2"/>
                </a:solidFill>
              </a:rPr>
              <a:t>，则称其为</a:t>
            </a:r>
            <a:r>
              <a:rPr lang="en-US" altLang="zh-CN" b="1" dirty="0">
                <a:solidFill>
                  <a:schemeClr val="bg2"/>
                </a:solidFill>
              </a:rPr>
              <a:t>3NF</a:t>
            </a:r>
            <a:r>
              <a:rPr lang="zh-CN" altLang="en-US" b="1" dirty="0">
                <a:solidFill>
                  <a:schemeClr val="bg2"/>
                </a:solidFill>
              </a:rPr>
              <a:t>的数据库模式</a:t>
            </a:r>
            <a:r>
              <a:rPr lang="zh-CN" altLang="en-US" b="1" dirty="0"/>
              <a:t> </a:t>
            </a:r>
            <a:endParaRPr lang="zh-CN" altLang="en-US" b="1" dirty="0"/>
          </a:p>
        </p:txBody>
      </p:sp>
      <p:sp>
        <p:nvSpPr>
          <p:cNvPr id="182275" name="Rectangle 13"/>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第三范式（</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4322"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第三范式（</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
        <p:nvSpPr>
          <p:cNvPr id="184323" name="Rectangle 3"/>
          <p:cNvSpPr>
            <a:spLocks noGrp="1"/>
          </p:cNvSpPr>
          <p:nvPr>
            <p:ph idx="1"/>
          </p:nvPr>
        </p:nvSpPr>
        <p:spPr>
          <a:xfrm>
            <a:off x="612775" y="1412875"/>
            <a:ext cx="8135938" cy="4852988"/>
          </a:xfrm>
          <a:ln/>
        </p:spPr>
        <p:txBody>
          <a:bodyPr vert="horz" wrap="square" lIns="91440" tIns="45720" rIns="91440" bIns="45720" anchor="t" anchorCtr="0"/>
          <a:p>
            <a:pPr eaLnBrk="1" hangingPunct="1">
              <a:lnSpc>
                <a:spcPct val="180000"/>
              </a:lnSpc>
            </a:pPr>
            <a:r>
              <a:rPr lang="zh-CN" altLang="en-US" sz="2000" b="1" dirty="0">
                <a:latin typeface="Times New Roman" panose="02020603050405020304" pitchFamily="18" charset="0"/>
              </a:rPr>
              <a:t>例</a:t>
            </a:r>
            <a:r>
              <a:rPr lang="en-US" altLang="zh-CN" sz="2000" b="1" dirty="0">
                <a:latin typeface="Times New Roman" panose="02020603050405020304" pitchFamily="18" charset="0"/>
              </a:rPr>
              <a:t>4.15  </a:t>
            </a:r>
            <a:r>
              <a:rPr lang="zh-CN" altLang="en-US" sz="2000" b="1" dirty="0">
                <a:latin typeface="Times New Roman" panose="02020603050405020304" pitchFamily="18" charset="0"/>
              </a:rPr>
              <a:t>在例</a:t>
            </a:r>
            <a:r>
              <a:rPr lang="en-US" altLang="zh-CN" sz="2000" b="1" dirty="0">
                <a:latin typeface="Times New Roman" panose="02020603050405020304" pitchFamily="18" charset="0"/>
              </a:rPr>
              <a:t>4.14</a:t>
            </a:r>
            <a:r>
              <a:rPr lang="zh-CN" altLang="en-US" sz="2000" b="1" dirty="0">
                <a:latin typeface="Times New Roman" panose="02020603050405020304" pitchFamily="18" charset="0"/>
              </a:rPr>
              <a:t>中，</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2</a:t>
            </a:r>
            <a:r>
              <a:rPr lang="zh-CN" altLang="en-US" sz="2000" b="1" dirty="0">
                <a:latin typeface="Times New Roman" panose="02020603050405020304" pitchFamily="18" charset="0"/>
              </a:rPr>
              <a:t>是</a:t>
            </a:r>
            <a:r>
              <a:rPr lang="en-US" altLang="zh-CN" sz="2000" b="1" dirty="0">
                <a:latin typeface="Times New Roman" panose="02020603050405020304" pitchFamily="18" charset="0"/>
              </a:rPr>
              <a:t>2NF</a:t>
            </a:r>
            <a:r>
              <a:rPr lang="zh-CN" altLang="en-US" sz="2000" b="1" dirty="0">
                <a:latin typeface="Times New Roman" panose="02020603050405020304" pitchFamily="18" charset="0"/>
              </a:rPr>
              <a:t>模式，而且也已是</a:t>
            </a:r>
            <a:r>
              <a:rPr lang="en-US" altLang="zh-CN" sz="2000" b="1" dirty="0">
                <a:latin typeface="Times New Roman" panose="02020603050405020304" pitchFamily="18" charset="0"/>
              </a:rPr>
              <a:t>3NF</a:t>
            </a:r>
            <a:r>
              <a:rPr lang="zh-CN" altLang="en-US" sz="2000" b="1" dirty="0">
                <a:latin typeface="Times New Roman" panose="02020603050405020304" pitchFamily="18" charset="0"/>
              </a:rPr>
              <a:t>模式。但</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1</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C#</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Teacher</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Dept</a:t>
            </a:r>
            <a:r>
              <a:rPr lang="zh-CN" altLang="en-US" sz="2000" b="1" dirty="0">
                <a:latin typeface="Times New Roman" panose="02020603050405020304" pitchFamily="18" charset="0"/>
              </a:rPr>
              <a:t>）是</a:t>
            </a:r>
            <a:r>
              <a:rPr lang="en-US" altLang="zh-CN" sz="2000" b="1" dirty="0">
                <a:latin typeface="Times New Roman" panose="02020603050405020304" pitchFamily="18" charset="0"/>
              </a:rPr>
              <a:t>2NF</a:t>
            </a:r>
            <a:r>
              <a:rPr lang="zh-CN" altLang="en-US" sz="2000" b="1" dirty="0">
                <a:latin typeface="Times New Roman" panose="02020603050405020304" pitchFamily="18" charset="0"/>
              </a:rPr>
              <a:t>模式，却不是</a:t>
            </a:r>
            <a:r>
              <a:rPr lang="en-US" altLang="zh-CN" sz="2000" b="1" dirty="0">
                <a:latin typeface="Times New Roman" panose="02020603050405020304" pitchFamily="18" charset="0"/>
              </a:rPr>
              <a:t>3NF</a:t>
            </a:r>
            <a:r>
              <a:rPr lang="zh-CN" altLang="en-US" sz="2000" b="1" dirty="0">
                <a:latin typeface="Times New Roman" panose="02020603050405020304" pitchFamily="18" charset="0"/>
              </a:rPr>
              <a:t>模式。如果</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1</a:t>
            </a:r>
            <a:r>
              <a:rPr lang="zh-CN" altLang="en-US" sz="2000" b="1" dirty="0">
                <a:latin typeface="Times New Roman" panose="02020603050405020304" pitchFamily="18" charset="0"/>
              </a:rPr>
              <a:t>中存在函数依赖</a:t>
            </a:r>
            <a:r>
              <a:rPr lang="en-US" altLang="zh-CN" sz="2000" b="1" dirty="0">
                <a:latin typeface="Times New Roman" panose="02020603050405020304" pitchFamily="18" charset="0"/>
              </a:rPr>
              <a:t>C#→Teacher</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Teacher→Dept</a:t>
            </a:r>
            <a:r>
              <a:rPr lang="zh-CN" altLang="en-US" sz="2000" b="1" dirty="0">
                <a:latin typeface="Times New Roman" panose="02020603050405020304" pitchFamily="18" charset="0"/>
              </a:rPr>
              <a:t>，那么</a:t>
            </a:r>
            <a:r>
              <a:rPr lang="en-US" altLang="zh-CN" sz="2000" b="1" dirty="0">
                <a:latin typeface="Times New Roman" panose="02020603050405020304" pitchFamily="18" charset="0"/>
              </a:rPr>
              <a:t>C#→Dept</a:t>
            </a:r>
            <a:r>
              <a:rPr lang="zh-CN" altLang="en-US" sz="2000" b="1" dirty="0">
                <a:latin typeface="Times New Roman" panose="02020603050405020304" pitchFamily="18" charset="0"/>
              </a:rPr>
              <a:t>就是一个传递依赖，即</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1</a:t>
            </a:r>
            <a:r>
              <a:rPr lang="zh-CN" altLang="en-US" sz="2000" b="1" dirty="0">
                <a:latin typeface="Times New Roman" panose="02020603050405020304" pitchFamily="18" charset="0"/>
              </a:rPr>
              <a:t>不是</a:t>
            </a:r>
            <a:r>
              <a:rPr lang="en-US" altLang="zh-CN" sz="2000" b="1" dirty="0">
                <a:latin typeface="Times New Roman" panose="02020603050405020304" pitchFamily="18" charset="0"/>
              </a:rPr>
              <a:t>3NF</a:t>
            </a:r>
            <a:r>
              <a:rPr lang="zh-CN" altLang="en-US" sz="2000" b="1" dirty="0">
                <a:latin typeface="Times New Roman" panose="02020603050405020304" pitchFamily="18" charset="0"/>
              </a:rPr>
              <a:t>模式。此时</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1</a:t>
            </a:r>
            <a:r>
              <a:rPr lang="zh-CN" altLang="en-US" sz="2000" b="1" dirty="0">
                <a:latin typeface="Times New Roman" panose="02020603050405020304" pitchFamily="18" charset="0"/>
              </a:rPr>
              <a:t>的关系中也会出现冗余和异常操作。譬如一个教师开设五门课程，那么关系中就会出现五个元组，教师的</a:t>
            </a:r>
            <a:r>
              <a:rPr lang="en-US" altLang="zh-CN" sz="2000" b="1" dirty="0">
                <a:latin typeface="Times New Roman" panose="02020603050405020304" pitchFamily="18" charset="0"/>
              </a:rPr>
              <a:t>Dept</a:t>
            </a:r>
            <a:r>
              <a:rPr lang="zh-CN" altLang="en-US" sz="2000" b="1" dirty="0">
                <a:latin typeface="Times New Roman" panose="02020603050405020304" pitchFamily="18" charset="0"/>
              </a:rPr>
              <a:t>就会重复五次。</a:t>
            </a:r>
            <a:endParaRPr lang="zh-CN" altLang="en-US" sz="2000" b="1" dirty="0">
              <a:latin typeface="Times New Roman" panose="02020603050405020304" pitchFamily="18" charset="0"/>
            </a:endParaRPr>
          </a:p>
          <a:p>
            <a:pPr eaLnBrk="1" hangingPunct="1">
              <a:lnSpc>
                <a:spcPct val="180000"/>
              </a:lnSpc>
            </a:pPr>
            <a:r>
              <a:rPr lang="zh-CN" altLang="en-US" sz="2000" b="1" dirty="0">
                <a:latin typeface="Times New Roman" panose="02020603050405020304" pitchFamily="18" charset="0"/>
              </a:rPr>
              <a:t>如果把</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2</a:t>
            </a:r>
            <a:r>
              <a:rPr lang="zh-CN" altLang="en-US" sz="2000" b="1" dirty="0">
                <a:latin typeface="Times New Roman" panose="02020603050405020304" pitchFamily="18" charset="0"/>
              </a:rPr>
              <a:t>分解成</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21</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Teacher</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Dept</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22</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C#</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Teacher</a:t>
            </a:r>
            <a:r>
              <a:rPr lang="zh-CN" altLang="en-US" sz="2000" b="1" dirty="0">
                <a:latin typeface="Times New Roman" panose="02020603050405020304" pitchFamily="18" charset="0"/>
              </a:rPr>
              <a:t>）后，</a:t>
            </a:r>
            <a:r>
              <a:rPr lang="en-US" altLang="zh-CN" sz="2000" b="1" dirty="0">
                <a:latin typeface="Times New Roman" panose="02020603050405020304" pitchFamily="18" charset="0"/>
              </a:rPr>
              <a:t>C#→Dept</a:t>
            </a:r>
            <a:r>
              <a:rPr lang="zh-CN" altLang="en-US" sz="2000" b="1" dirty="0">
                <a:latin typeface="Times New Roman" panose="02020603050405020304" pitchFamily="18" charset="0"/>
              </a:rPr>
              <a:t>就不会出现在</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21</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22</a:t>
            </a:r>
            <a:r>
              <a:rPr lang="zh-CN" altLang="en-US" sz="2000" b="1" dirty="0">
                <a:latin typeface="Times New Roman" panose="02020603050405020304" pitchFamily="18" charset="0"/>
              </a:rPr>
              <a:t>中。这样</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21</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22</a:t>
            </a:r>
            <a:r>
              <a:rPr lang="zh-CN" altLang="en-US" sz="2000" b="1" dirty="0">
                <a:latin typeface="Times New Roman" panose="02020603050405020304" pitchFamily="18" charset="0"/>
              </a:rPr>
              <a:t>都是</a:t>
            </a:r>
            <a:r>
              <a:rPr lang="en-US" altLang="zh-CN" sz="2000" b="1" dirty="0">
                <a:latin typeface="Times New Roman" panose="02020603050405020304" pitchFamily="18" charset="0"/>
              </a:rPr>
              <a:t>3NF</a:t>
            </a:r>
            <a:r>
              <a:rPr lang="zh-CN" altLang="en-US" sz="2000" b="1" dirty="0">
                <a:latin typeface="Times New Roman" panose="02020603050405020304" pitchFamily="18" charset="0"/>
              </a:rPr>
              <a:t>模式</a:t>
            </a:r>
            <a:r>
              <a:rPr lang="zh-CN" altLang="en-US" sz="2000" b="1" dirty="0"/>
              <a:t> </a:t>
            </a:r>
            <a:endParaRPr lang="zh-CN" altLang="en-US" sz="2000" b="1"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6370"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第三范式（</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
        <p:nvSpPr>
          <p:cNvPr id="186371" name="Rectangle 3"/>
          <p:cNvSpPr>
            <a:spLocks noGrp="1"/>
          </p:cNvSpPr>
          <p:nvPr>
            <p:ph idx="1"/>
          </p:nvPr>
        </p:nvSpPr>
        <p:spPr>
          <a:xfrm>
            <a:off x="755650" y="1773238"/>
            <a:ext cx="7920038" cy="4525962"/>
          </a:xfrm>
          <a:ln/>
        </p:spPr>
        <p:txBody>
          <a:bodyPr vert="horz" wrap="square" lIns="91440" tIns="45720" rIns="91440" bIns="45720" anchor="t" anchorCtr="0"/>
          <a:p>
            <a:pPr eaLnBrk="1" hangingPunct="1">
              <a:lnSpc>
                <a:spcPct val="90000"/>
              </a:lnSpc>
            </a:pPr>
            <a:r>
              <a:rPr lang="zh-CN" altLang="en-US" b="1" dirty="0"/>
              <a:t>推论</a:t>
            </a:r>
            <a:r>
              <a:rPr lang="en-US" altLang="zh-CN" b="1" dirty="0"/>
              <a:t>1:</a:t>
            </a:r>
            <a:r>
              <a:rPr lang="zh-CN" altLang="en-US" b="1" dirty="0"/>
              <a:t>如果</a:t>
            </a:r>
            <a:r>
              <a:rPr lang="en-US" altLang="zh-CN" b="1" dirty="0"/>
              <a:t>R</a:t>
            </a:r>
            <a:r>
              <a:rPr lang="zh-CN" altLang="en-US" b="1" dirty="0"/>
              <a:t>是</a:t>
            </a:r>
            <a:r>
              <a:rPr lang="en-US" altLang="zh-CN" b="1" dirty="0"/>
              <a:t>3NF</a:t>
            </a:r>
            <a:r>
              <a:rPr lang="zh-CN" altLang="en-US" b="1" dirty="0"/>
              <a:t>模式，那么</a:t>
            </a:r>
            <a:r>
              <a:rPr lang="en-US" altLang="zh-CN" b="1" dirty="0"/>
              <a:t>R</a:t>
            </a:r>
            <a:r>
              <a:rPr lang="zh-CN" altLang="en-US" b="1" dirty="0"/>
              <a:t>也是</a:t>
            </a:r>
            <a:r>
              <a:rPr lang="en-US" altLang="zh-CN" b="1" dirty="0"/>
              <a:t>2NF</a:t>
            </a:r>
            <a:r>
              <a:rPr lang="zh-CN" altLang="en-US" b="1" dirty="0"/>
              <a:t>模式</a:t>
            </a:r>
            <a:endParaRPr lang="zh-CN" altLang="en-US" b="1" dirty="0"/>
          </a:p>
          <a:p>
            <a:pPr eaLnBrk="1" hangingPunct="1">
              <a:lnSpc>
                <a:spcPct val="90000"/>
              </a:lnSpc>
            </a:pPr>
            <a:r>
              <a:rPr lang="zh-CN" altLang="en-US" b="1" dirty="0"/>
              <a:t>证明：</a:t>
            </a:r>
            <a:endParaRPr lang="zh-CN" altLang="en-US" b="1" dirty="0"/>
          </a:p>
          <a:p>
            <a:pPr eaLnBrk="1" hangingPunct="1">
              <a:lnSpc>
                <a:spcPct val="90000"/>
              </a:lnSpc>
            </a:pPr>
            <a:endParaRPr lang="zh-CN" altLang="en-US" b="1" dirty="0"/>
          </a:p>
          <a:p>
            <a:pPr eaLnBrk="1" hangingPunct="1">
              <a:lnSpc>
                <a:spcPct val="90000"/>
              </a:lnSpc>
            </a:pPr>
            <a:r>
              <a:rPr lang="zh-CN" altLang="en-US" b="1" dirty="0">
                <a:solidFill>
                  <a:srgbClr val="FF9933"/>
                </a:solidFill>
              </a:rPr>
              <a:t>推论</a:t>
            </a:r>
            <a:r>
              <a:rPr lang="en-US" altLang="zh-CN" b="1" dirty="0">
                <a:solidFill>
                  <a:srgbClr val="FF9933"/>
                </a:solidFill>
              </a:rPr>
              <a:t>2</a:t>
            </a:r>
            <a:r>
              <a:rPr lang="en-US" altLang="zh-CN" b="1" dirty="0"/>
              <a:t>:</a:t>
            </a:r>
            <a:r>
              <a:rPr lang="zh-CN" altLang="en-US" b="1" dirty="0"/>
              <a:t>设关系模式</a:t>
            </a:r>
            <a:r>
              <a:rPr lang="en-US" altLang="zh-CN" b="1" dirty="0"/>
              <a:t>R</a:t>
            </a:r>
            <a:r>
              <a:rPr lang="zh-CN" altLang="en-US" b="1" dirty="0"/>
              <a:t>，当</a:t>
            </a:r>
            <a:r>
              <a:rPr lang="en-US" altLang="zh-CN" b="1" dirty="0"/>
              <a:t>R</a:t>
            </a:r>
            <a:r>
              <a:rPr lang="zh-CN" altLang="en-US" b="1" dirty="0"/>
              <a:t>上每一个</a:t>
            </a:r>
            <a:r>
              <a:rPr lang="en-US" altLang="zh-CN" b="1" dirty="0"/>
              <a:t>FD X→A</a:t>
            </a:r>
            <a:r>
              <a:rPr lang="zh-CN" altLang="en-US" b="1" dirty="0"/>
              <a:t>满足下列三个条件之一：</a:t>
            </a:r>
            <a:endParaRPr lang="zh-CN" altLang="en-US" b="1" dirty="0"/>
          </a:p>
          <a:p>
            <a:pPr eaLnBrk="1" hangingPunct="1">
              <a:lnSpc>
                <a:spcPct val="90000"/>
              </a:lnSpc>
              <a:buNone/>
            </a:pPr>
            <a:r>
              <a:rPr lang="en-US" altLang="zh-CN" b="1" dirty="0"/>
              <a:t>  1. A∈X</a:t>
            </a:r>
            <a:r>
              <a:rPr lang="zh-CN" altLang="en-US" b="1" dirty="0"/>
              <a:t>（即</a:t>
            </a:r>
            <a:r>
              <a:rPr lang="en-US" altLang="zh-CN" b="1" dirty="0"/>
              <a:t>X→A</a:t>
            </a:r>
            <a:r>
              <a:rPr lang="zh-CN" altLang="en-US" b="1" dirty="0"/>
              <a:t>是一个平凡的</a:t>
            </a:r>
            <a:r>
              <a:rPr lang="en-US" altLang="zh-CN" b="1" dirty="0"/>
              <a:t>FD</a:t>
            </a:r>
            <a:r>
              <a:rPr lang="zh-CN" altLang="en-US" b="1" dirty="0"/>
              <a:t>）；</a:t>
            </a:r>
            <a:endParaRPr lang="zh-CN" altLang="en-US" b="1" dirty="0"/>
          </a:p>
          <a:p>
            <a:pPr eaLnBrk="1" hangingPunct="1">
              <a:lnSpc>
                <a:spcPct val="90000"/>
              </a:lnSpc>
              <a:buNone/>
            </a:pPr>
            <a:r>
              <a:rPr lang="en-US" altLang="zh-CN" b="1" dirty="0"/>
              <a:t>  2. </a:t>
            </a:r>
            <a:r>
              <a:rPr lang="en-US" altLang="zh-CN" b="1" u="sng" dirty="0"/>
              <a:t>X</a:t>
            </a:r>
            <a:r>
              <a:rPr lang="zh-CN" altLang="en-US" b="1" u="sng" dirty="0"/>
              <a:t>是</a:t>
            </a:r>
            <a:r>
              <a:rPr lang="en-US" altLang="zh-CN" b="1" u="sng" dirty="0"/>
              <a:t>R</a:t>
            </a:r>
            <a:r>
              <a:rPr lang="zh-CN" altLang="en-US" b="1" u="sng" dirty="0"/>
              <a:t>的超键</a:t>
            </a:r>
            <a:r>
              <a:rPr lang="zh-CN" altLang="en-US" b="1" dirty="0"/>
              <a:t>；</a:t>
            </a:r>
            <a:endParaRPr lang="zh-CN" altLang="en-US" b="1" dirty="0"/>
          </a:p>
          <a:p>
            <a:pPr eaLnBrk="1" hangingPunct="1">
              <a:lnSpc>
                <a:spcPct val="90000"/>
              </a:lnSpc>
              <a:buNone/>
            </a:pPr>
            <a:r>
              <a:rPr lang="en-US" altLang="zh-CN" b="1" dirty="0"/>
              <a:t>  3. A</a:t>
            </a:r>
            <a:r>
              <a:rPr lang="zh-CN" altLang="en-US" b="1" dirty="0"/>
              <a:t>是主属性。</a:t>
            </a:r>
            <a:endParaRPr lang="en-US" altLang="zh-CN" b="1" dirty="0"/>
          </a:p>
          <a:p>
            <a:pPr eaLnBrk="1" hangingPunct="1">
              <a:lnSpc>
                <a:spcPct val="90000"/>
              </a:lnSpc>
              <a:buNone/>
            </a:pPr>
            <a:r>
              <a:rPr lang="en-US" altLang="zh-CN" b="1" dirty="0"/>
              <a:t>  </a:t>
            </a:r>
            <a:r>
              <a:rPr lang="zh-CN" altLang="en-US" b="1" dirty="0"/>
              <a:t>则关系模式</a:t>
            </a:r>
            <a:r>
              <a:rPr lang="en-US" altLang="zh-CN" b="1" dirty="0"/>
              <a:t>R</a:t>
            </a:r>
            <a:r>
              <a:rPr lang="zh-CN" altLang="en-US" b="1" dirty="0"/>
              <a:t>就是</a:t>
            </a:r>
            <a:r>
              <a:rPr lang="en-US" altLang="zh-CN" b="1" dirty="0"/>
              <a:t>3NF</a:t>
            </a:r>
            <a:r>
              <a:rPr lang="zh-CN" altLang="en-US" b="1" dirty="0"/>
              <a:t>模式。</a:t>
            </a:r>
            <a:endParaRPr lang="zh-CN" altLang="en-US" b="1"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8418"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第三范式（</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
        <p:nvSpPr>
          <p:cNvPr id="188419" name="Rectangle 3"/>
          <p:cNvSpPr/>
          <p:nvPr/>
        </p:nvSpPr>
        <p:spPr>
          <a:xfrm>
            <a:off x="0" y="1485900"/>
            <a:ext cx="454025"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269875" eaLnBrk="1" hangingPunct="1">
              <a:spcBef>
                <a:spcPct val="0"/>
              </a:spcBef>
              <a:buNone/>
            </a:pPr>
            <a:endParaRPr lang="zh-CN" altLang="en-US" sz="2400" dirty="0">
              <a:latin typeface="Times New Roman" panose="02020603050405020304" pitchFamily="18" charset="0"/>
            </a:endParaRPr>
          </a:p>
        </p:txBody>
      </p:sp>
      <p:graphicFrame>
        <p:nvGraphicFramePr>
          <p:cNvPr id="188420" name="Object 4"/>
          <p:cNvGraphicFramePr>
            <a:graphicFrameLocks noGrp="1" noChangeAspect="1"/>
          </p:cNvGraphicFramePr>
          <p:nvPr>
            <p:ph idx="1"/>
          </p:nvPr>
        </p:nvGraphicFramePr>
        <p:xfrm>
          <a:off x="1042988" y="1435100"/>
          <a:ext cx="6337300" cy="4965700"/>
        </p:xfrm>
        <a:graphic>
          <a:graphicData uri="http://schemas.openxmlformats.org/presentationml/2006/ole">
            <mc:AlternateContent xmlns:mc="http://schemas.openxmlformats.org/markup-compatibility/2006">
              <mc:Choice xmlns:v="urn:schemas-microsoft-com:vml" Requires="v">
                <p:oleObj spid="_x0000_s3094" name="" r:id="rId1" imgW="5881370" imgH="5023485" progId="Visio.Drawing.6">
                  <p:embed/>
                </p:oleObj>
              </mc:Choice>
              <mc:Fallback>
                <p:oleObj name="" r:id="rId1" imgW="5881370" imgH="5023485" progId="Visio.Drawing.6">
                  <p:embed/>
                  <p:pic>
                    <p:nvPicPr>
                      <p:cNvPr id="0" name="Picture 3093"/>
                      <p:cNvPicPr/>
                      <p:nvPr/>
                    </p:nvPicPr>
                    <p:blipFill>
                      <a:blip r:embed="rId2"/>
                      <a:srcRect/>
                      <a:stretch>
                        <a:fillRect/>
                      </a:stretch>
                    </p:blipFill>
                    <p:spPr>
                      <a:xfrm>
                        <a:off x="1042988" y="1435100"/>
                        <a:ext cx="6337300" cy="4965700"/>
                      </a:xfrm>
                      <a:prstGeom prst="rect">
                        <a:avLst/>
                      </a:prstGeom>
                      <a:noFill/>
                      <a:ln w="38100">
                        <a:miter/>
                      </a:ln>
                    </p:spPr>
                  </p:pic>
                </p:oleObj>
              </mc:Fallback>
            </mc:AlternateContent>
          </a:graphicData>
        </a:graphic>
      </p:graphicFrame>
      <p:sp>
        <p:nvSpPr>
          <p:cNvPr id="188421" name="Text Box 5"/>
          <p:cNvSpPr txBox="1"/>
          <p:nvPr/>
        </p:nvSpPr>
        <p:spPr>
          <a:xfrm>
            <a:off x="2438400" y="6140450"/>
            <a:ext cx="4343400" cy="3365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spcBef>
                <a:spcPct val="50000"/>
              </a:spcBef>
              <a:buNone/>
            </a:pPr>
            <a:r>
              <a:rPr lang="zh-CN" altLang="en-US" sz="1600" dirty="0"/>
              <a:t>图</a:t>
            </a:r>
            <a:r>
              <a:rPr lang="en-US" altLang="zh-CN" sz="1600" dirty="0"/>
              <a:t>6.15  </a:t>
            </a:r>
            <a:r>
              <a:rPr lang="zh-CN" altLang="en-US" sz="1600" dirty="0"/>
              <a:t>违反3</a:t>
            </a:r>
            <a:r>
              <a:rPr lang="en-US" altLang="zh-CN" sz="1600" dirty="0"/>
              <a:t>NF</a:t>
            </a:r>
            <a:r>
              <a:rPr lang="zh-CN" altLang="en-US" sz="1600" dirty="0"/>
              <a:t>的传递依赖的三种情况</a:t>
            </a:r>
            <a:r>
              <a:rPr lang="zh-CN" altLang="en-US" sz="1600" dirty="0">
                <a:latin typeface="Arial" panose="020B0604020202020204" pitchFamily="34" charset="0"/>
              </a:rPr>
              <a:t> </a:t>
            </a:r>
            <a:endParaRPr lang="zh-CN" altLang="en-US" sz="1600" dirty="0">
              <a:latin typeface="Arial" panose="020B060402020202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0466" name="Rectangle 5"/>
          <p:cNvSpPr/>
          <p:nvPr/>
        </p:nvSpPr>
        <p:spPr>
          <a:xfrm>
            <a:off x="684213" y="1700213"/>
            <a:ext cx="8208962"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45000"/>
              </a:lnSpc>
              <a:buClr>
                <a:srgbClr val="E40000"/>
              </a:buClr>
              <a:buFont typeface="Wingdings" panose="05000000000000000000" pitchFamily="2" charset="2"/>
              <a:buChar char="Ø"/>
            </a:pPr>
            <a:r>
              <a:rPr lang="zh-CN" altLang="zh-CN" b="1" dirty="0">
                <a:latin typeface="黑体" pitchFamily="49" charset="-122"/>
                <a:ea typeface="黑体" pitchFamily="49" charset="-122"/>
              </a:rPr>
              <a:t>定义4</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25</a:t>
            </a:r>
            <a:r>
              <a:rPr lang="zh-CN" altLang="zh-CN" b="1" dirty="0"/>
              <a:t>：若对于R上的任何非平凡函数依赖X→Y都有X必包含R的某个候选键，则称R满足BCNF，表示为R∈BCNF</a:t>
            </a:r>
            <a:endParaRPr lang="zh-CN" altLang="en-US" b="1" dirty="0"/>
          </a:p>
          <a:p>
            <a:pPr marL="355600" lvl="0" indent="-355600" eaLnBrk="1" hangingPunct="1">
              <a:lnSpc>
                <a:spcPct val="145000"/>
              </a:lnSpc>
              <a:buClr>
                <a:srgbClr val="E40000"/>
              </a:buClr>
              <a:buFont typeface="Wingdings" panose="05000000000000000000" pitchFamily="2" charset="2"/>
              <a:buChar char="Ø"/>
            </a:pPr>
            <a:r>
              <a:rPr lang="zh-CN" altLang="en-US" b="1" dirty="0">
                <a:latin typeface="黑体" pitchFamily="49" charset="-122"/>
                <a:ea typeface="黑体" pitchFamily="49" charset="-122"/>
              </a:rPr>
              <a:t>定义</a:t>
            </a:r>
            <a:r>
              <a:rPr lang="zh-CN" altLang="zh-CN" b="1" dirty="0">
                <a:latin typeface="黑体" pitchFamily="49" charset="-122"/>
                <a:ea typeface="黑体" pitchFamily="49" charset="-122"/>
              </a:rPr>
              <a:t>4</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25’</a:t>
            </a:r>
            <a:r>
              <a:rPr lang="zh-CN" altLang="en-US" b="1" dirty="0"/>
              <a:t>：如果关系模式</a:t>
            </a:r>
            <a:r>
              <a:rPr lang="en-US" altLang="zh-CN" b="1" dirty="0"/>
              <a:t>R</a:t>
            </a:r>
            <a:r>
              <a:rPr lang="zh-CN" altLang="en-US" b="1" dirty="0"/>
              <a:t>中的每个属性都不</a:t>
            </a:r>
            <a:r>
              <a:rPr lang="zh-CN" altLang="en-US" b="1" u="sng" dirty="0"/>
              <a:t>传递依赖</a:t>
            </a:r>
            <a:r>
              <a:rPr lang="zh-CN" altLang="en-US" b="1" dirty="0"/>
              <a:t>于</a:t>
            </a:r>
            <a:r>
              <a:rPr lang="en-US" altLang="zh-CN" b="1" dirty="0"/>
              <a:t>R</a:t>
            </a:r>
            <a:r>
              <a:rPr lang="zh-CN" altLang="en-US" b="1" dirty="0"/>
              <a:t>的候选键，那么称</a:t>
            </a:r>
            <a:r>
              <a:rPr lang="en-US" altLang="zh-CN" b="1" dirty="0"/>
              <a:t>R</a:t>
            </a:r>
            <a:r>
              <a:rPr lang="zh-CN" altLang="en-US" b="1" dirty="0"/>
              <a:t>是</a:t>
            </a:r>
            <a:r>
              <a:rPr lang="en-US" altLang="zh-CN" b="1" dirty="0"/>
              <a:t>BCNF</a:t>
            </a:r>
            <a:r>
              <a:rPr lang="zh-CN" altLang="en-US" b="1" dirty="0"/>
              <a:t>的模式</a:t>
            </a:r>
            <a:endParaRPr lang="zh-CN" altLang="en-US" b="1" dirty="0"/>
          </a:p>
        </p:txBody>
      </p:sp>
      <p:sp>
        <p:nvSpPr>
          <p:cNvPr id="190467" name="Rectangle 7"/>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4000" b="1" dirty="0">
                <a:solidFill>
                  <a:srgbClr val="E40000"/>
                </a:solidFill>
                <a:latin typeface="Arial" panose="020B0604020202020204" pitchFamily="34" charset="0"/>
              </a:rPr>
              <a:t>BCNF</a:t>
            </a:r>
            <a:r>
              <a:rPr lang="zh-CN" altLang="en-US" sz="4000" b="1" dirty="0">
                <a:solidFill>
                  <a:srgbClr val="E40000"/>
                </a:solidFill>
                <a:latin typeface="Arial" panose="020B0604020202020204" pitchFamily="34" charset="0"/>
              </a:rPr>
              <a:t>（</a:t>
            </a:r>
            <a:r>
              <a:rPr lang="en-US" altLang="zh-CN" sz="4000" b="1" dirty="0">
                <a:solidFill>
                  <a:srgbClr val="E40000"/>
                </a:solidFill>
                <a:latin typeface="Arial" panose="020B0604020202020204" pitchFamily="34" charset="0"/>
              </a:rPr>
              <a:t>Boyce–Codd 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2514" name="Rectangle 2"/>
          <p:cNvSpPr/>
          <p:nvPr/>
        </p:nvSpPr>
        <p:spPr>
          <a:xfrm>
            <a:off x="684213" y="1700213"/>
            <a:ext cx="8208962"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70000"/>
              </a:lnSpc>
              <a:buFont typeface="Wingdings" panose="05000000000000000000" pitchFamily="2" charset="2"/>
              <a:buChar char="Ø"/>
            </a:pPr>
            <a:r>
              <a:rPr lang="zh-CN" altLang="en-US" b="1" dirty="0"/>
              <a:t>推论</a:t>
            </a:r>
            <a:r>
              <a:rPr lang="en-US" altLang="zh-CN" b="1" dirty="0"/>
              <a:t>3</a:t>
            </a:r>
            <a:r>
              <a:rPr lang="zh-CN" altLang="en-US" b="1" dirty="0"/>
              <a:t>：如果</a:t>
            </a:r>
            <a:r>
              <a:rPr lang="en-US" altLang="zh-CN" b="1" dirty="0"/>
              <a:t>R</a:t>
            </a:r>
            <a:r>
              <a:rPr lang="zh-CN" altLang="en-US" b="1" dirty="0"/>
              <a:t>是</a:t>
            </a:r>
            <a:r>
              <a:rPr lang="en-US" altLang="zh-CN" b="1" dirty="0"/>
              <a:t>BCNF</a:t>
            </a:r>
            <a:r>
              <a:rPr lang="zh-CN" altLang="en-US" b="1" dirty="0"/>
              <a:t>模式，那么</a:t>
            </a:r>
            <a:r>
              <a:rPr lang="en-US" altLang="zh-CN" b="1" dirty="0"/>
              <a:t>R</a:t>
            </a:r>
            <a:r>
              <a:rPr lang="zh-CN" altLang="en-US" b="1" dirty="0"/>
              <a:t>也是</a:t>
            </a:r>
            <a:r>
              <a:rPr lang="en-US" altLang="zh-CN" b="1" dirty="0"/>
              <a:t>3NF</a:t>
            </a:r>
            <a:r>
              <a:rPr lang="zh-CN" altLang="en-US" b="1" dirty="0"/>
              <a:t>模式</a:t>
            </a:r>
            <a:endParaRPr lang="zh-CN" altLang="en-US" b="1" dirty="0"/>
          </a:p>
          <a:p>
            <a:pPr marL="355600" lvl="0" indent="-355600" eaLnBrk="1" hangingPunct="1">
              <a:lnSpc>
                <a:spcPct val="170000"/>
              </a:lnSpc>
              <a:buClr>
                <a:srgbClr val="E40000"/>
              </a:buClr>
              <a:buFont typeface="Wingdings" panose="05000000000000000000" pitchFamily="2" charset="2"/>
              <a:buChar char="Ø"/>
            </a:pPr>
            <a:r>
              <a:rPr lang="zh-CN" altLang="zh-CN" b="1" dirty="0"/>
              <a:t>BCNF是在3NF的基础上消除</a:t>
            </a:r>
            <a:r>
              <a:rPr lang="zh-CN" altLang="zh-CN" b="1" dirty="0">
                <a:solidFill>
                  <a:srgbClr val="FF9933"/>
                </a:solidFill>
              </a:rPr>
              <a:t>主属性</a:t>
            </a:r>
            <a:r>
              <a:rPr lang="zh-CN" altLang="zh-CN" b="1" dirty="0"/>
              <a:t>对于键的部分依赖和传递依赖</a:t>
            </a:r>
            <a:endParaRPr lang="zh-CN" altLang="en-US" b="1" dirty="0"/>
          </a:p>
          <a:p>
            <a:pPr marL="355600" lvl="0" indent="-355600" eaLnBrk="1" hangingPunct="1">
              <a:lnSpc>
                <a:spcPct val="170000"/>
              </a:lnSpc>
              <a:buFont typeface="Wingdings" panose="05000000000000000000" pitchFamily="2" charset="2"/>
              <a:buChar char="Ø"/>
            </a:pPr>
            <a:r>
              <a:rPr lang="zh-CN" altLang="en-US" b="1" dirty="0">
                <a:solidFill>
                  <a:schemeClr val="bg2"/>
                </a:solidFill>
              </a:rPr>
              <a:t>如果数据库模式中每个关系模式都是</a:t>
            </a:r>
            <a:r>
              <a:rPr lang="en-US" altLang="zh-CN" b="1" dirty="0">
                <a:solidFill>
                  <a:schemeClr val="bg2"/>
                </a:solidFill>
              </a:rPr>
              <a:t>BCNF</a:t>
            </a:r>
            <a:r>
              <a:rPr lang="zh-CN" altLang="en-US" b="1" dirty="0">
                <a:solidFill>
                  <a:schemeClr val="bg2"/>
                </a:solidFill>
              </a:rPr>
              <a:t>，则称为</a:t>
            </a:r>
            <a:r>
              <a:rPr lang="en-US" altLang="zh-CN" b="1" dirty="0">
                <a:solidFill>
                  <a:schemeClr val="bg2"/>
                </a:solidFill>
              </a:rPr>
              <a:t>BCNF</a:t>
            </a:r>
            <a:r>
              <a:rPr lang="zh-CN" altLang="en-US" b="1" dirty="0">
                <a:solidFill>
                  <a:schemeClr val="bg2"/>
                </a:solidFill>
              </a:rPr>
              <a:t>的数据库模式。</a:t>
            </a:r>
            <a:endParaRPr lang="zh-CN" altLang="en-US" b="1" dirty="0">
              <a:solidFill>
                <a:schemeClr val="bg2"/>
              </a:solidFill>
            </a:endParaRPr>
          </a:p>
        </p:txBody>
      </p:sp>
      <p:sp>
        <p:nvSpPr>
          <p:cNvPr id="192515" name="Rectangle 3"/>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4000" b="1" dirty="0">
                <a:solidFill>
                  <a:srgbClr val="E40000"/>
                </a:solidFill>
                <a:latin typeface="Arial" panose="020B0604020202020204" pitchFamily="34" charset="0"/>
              </a:rPr>
              <a:t>BCNF</a:t>
            </a:r>
            <a:r>
              <a:rPr lang="zh-CN" altLang="en-US" sz="4000" b="1" dirty="0">
                <a:solidFill>
                  <a:srgbClr val="E40000"/>
                </a:solidFill>
                <a:latin typeface="Arial" panose="020B0604020202020204" pitchFamily="34" charset="0"/>
              </a:rPr>
              <a:t>（</a:t>
            </a:r>
            <a:r>
              <a:rPr lang="en-US" altLang="zh-CN" sz="4000" b="1" dirty="0">
                <a:solidFill>
                  <a:srgbClr val="E40000"/>
                </a:solidFill>
                <a:latin typeface="Arial" panose="020B0604020202020204" pitchFamily="34" charset="0"/>
              </a:rPr>
              <a:t>Boyce–Codd 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4562" name="Rectangle 5"/>
          <p:cNvSpPr/>
          <p:nvPr/>
        </p:nvSpPr>
        <p:spPr>
          <a:xfrm>
            <a:off x="755650" y="1341438"/>
            <a:ext cx="7993063" cy="4751387"/>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lnSpc>
                <a:spcPct val="170000"/>
              </a:lnSpc>
              <a:buClr>
                <a:srgbClr val="E40000"/>
              </a:buClr>
              <a:buFont typeface="Wingdings" panose="05000000000000000000" pitchFamily="2" charset="2"/>
              <a:buChar char="Ø"/>
            </a:pPr>
            <a:r>
              <a:rPr lang="zh-CN" altLang="en-US" b="1" dirty="0"/>
              <a:t>例：</a:t>
            </a:r>
            <a:r>
              <a:rPr lang="zh-CN" altLang="zh-CN" b="1" dirty="0"/>
              <a:t>关系模式Teaching(Cname，Class，Tname) </a:t>
            </a:r>
            <a:endParaRPr lang="zh-CN" altLang="en-US" b="1" dirty="0"/>
          </a:p>
          <a:p>
            <a:pPr marL="273050" lvl="0" indent="-273050" eaLnBrk="1" hangingPunct="1">
              <a:lnSpc>
                <a:spcPct val="170000"/>
              </a:lnSpc>
              <a:buFont typeface="Wingdings" panose="05000000000000000000" pitchFamily="2" charset="2"/>
              <a:buChar char="Ø"/>
            </a:pPr>
            <a:r>
              <a:rPr lang="zh-CN" altLang="zh-CN" b="1" dirty="0"/>
              <a:t>假定每门课程由多名教师承担多个班级的教学任务，同时规定每名老师仅限承担一门课程的教学任务，但是可以同时给若干个班级带课，于是有 (Cname，Class)→Tname，Tname→Cname</a:t>
            </a:r>
            <a:endParaRPr lang="zh-CN" altLang="en-US" b="1" dirty="0"/>
          </a:p>
          <a:p>
            <a:pPr marL="273050" lvl="0" indent="-273050" eaLnBrk="1" hangingPunct="1">
              <a:lnSpc>
                <a:spcPct val="170000"/>
              </a:lnSpc>
              <a:buFont typeface="Wingdings" panose="05000000000000000000" pitchFamily="2" charset="2"/>
              <a:buChar char="Ø"/>
            </a:pPr>
            <a:r>
              <a:rPr lang="zh-CN" altLang="zh-CN" b="1" dirty="0"/>
              <a:t>Teaching </a:t>
            </a:r>
            <a:r>
              <a:rPr lang="zh-CN" altLang="en-US" b="1" dirty="0"/>
              <a:t>是 </a:t>
            </a:r>
            <a:r>
              <a:rPr lang="en-US" altLang="zh-CN" b="1" dirty="0">
                <a:solidFill>
                  <a:schemeClr val="bg1"/>
                </a:solidFill>
              </a:rPr>
              <a:t>3 </a:t>
            </a:r>
            <a:r>
              <a:rPr lang="zh-CN" altLang="zh-CN" b="1" dirty="0"/>
              <a:t>NF</a:t>
            </a:r>
            <a:r>
              <a:rPr lang="zh-CN" altLang="en-US" b="1" dirty="0">
                <a:solidFill>
                  <a:schemeClr val="bg1"/>
                </a:solidFill>
              </a:rPr>
              <a:t>，但不是</a:t>
            </a:r>
            <a:r>
              <a:rPr lang="en-US" altLang="zh-CN" b="1" dirty="0">
                <a:solidFill>
                  <a:schemeClr val="bg1"/>
                </a:solidFill>
              </a:rPr>
              <a:t>BCNF</a:t>
            </a:r>
            <a:endParaRPr lang="zh-CN" altLang="zh-CN" b="1" dirty="0">
              <a:solidFill>
                <a:schemeClr val="bg1"/>
              </a:solidFill>
            </a:endParaRPr>
          </a:p>
        </p:txBody>
      </p:sp>
      <p:sp>
        <p:nvSpPr>
          <p:cNvPr id="194563" name="Rectangle 7"/>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4000" b="1" dirty="0">
                <a:solidFill>
                  <a:srgbClr val="E40000"/>
                </a:solidFill>
                <a:latin typeface="Arial" panose="020B0604020202020204" pitchFamily="34" charset="0"/>
              </a:rPr>
              <a:t>BCNF</a:t>
            </a:r>
            <a:r>
              <a:rPr lang="zh-CN" altLang="en-US" sz="4000" b="1" dirty="0">
                <a:solidFill>
                  <a:srgbClr val="E40000"/>
                </a:solidFill>
                <a:latin typeface="Arial" panose="020B0604020202020204" pitchFamily="34" charset="0"/>
              </a:rPr>
              <a:t>（</a:t>
            </a:r>
            <a:r>
              <a:rPr lang="en-US" altLang="zh-CN" sz="4000" b="1" dirty="0">
                <a:solidFill>
                  <a:srgbClr val="E40000"/>
                </a:solidFill>
                <a:latin typeface="Arial" panose="020B0604020202020204" pitchFamily="34" charset="0"/>
              </a:rPr>
              <a:t>Boyce–Codd 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6610"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第四范式（</a:t>
            </a:r>
            <a:r>
              <a:rPr lang="en-US" altLang="zh-CN" sz="4000" b="1" dirty="0">
                <a:solidFill>
                  <a:srgbClr val="E40000"/>
                </a:solidFill>
                <a:latin typeface="Arial" panose="020B0604020202020204" pitchFamily="34" charset="0"/>
              </a:rPr>
              <a:t>4NF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
        <p:nvSpPr>
          <p:cNvPr id="196611" name="Rectangle 3"/>
          <p:cNvSpPr>
            <a:spLocks noGrp="1"/>
          </p:cNvSpPr>
          <p:nvPr>
            <p:ph idx="1"/>
          </p:nvPr>
        </p:nvSpPr>
        <p:spPr>
          <a:xfrm>
            <a:off x="900113" y="1844675"/>
            <a:ext cx="7559675" cy="4525963"/>
          </a:xfrm>
          <a:ln/>
        </p:spPr>
        <p:txBody>
          <a:bodyPr vert="horz" wrap="square" lIns="91440" tIns="45720" rIns="91440" bIns="45720" anchor="t" anchorCtr="0"/>
          <a:p>
            <a:pPr eaLnBrk="1" hangingPunct="1"/>
            <a:r>
              <a:rPr lang="zh-CN" altLang="en-US" b="1" dirty="0">
                <a:latin typeface="黑体" pitchFamily="49" charset="-122"/>
                <a:ea typeface="黑体" pitchFamily="49" charset="-122"/>
              </a:rPr>
              <a:t>定义</a:t>
            </a:r>
            <a:r>
              <a:rPr lang="en-US" altLang="zh-CN" b="1" dirty="0">
                <a:latin typeface="黑体" pitchFamily="49" charset="-122"/>
                <a:ea typeface="黑体" pitchFamily="49" charset="-122"/>
              </a:rPr>
              <a:t>4.26</a:t>
            </a:r>
            <a:r>
              <a:rPr lang="en-US" altLang="zh-CN" b="1" dirty="0"/>
              <a:t>:</a:t>
            </a:r>
            <a:r>
              <a:rPr lang="zh-CN" altLang="en-US" b="1" dirty="0"/>
              <a:t>设</a:t>
            </a:r>
            <a:r>
              <a:rPr lang="en-US" altLang="zh-CN" b="1" dirty="0"/>
              <a:t>D</a:t>
            </a:r>
            <a:r>
              <a:rPr lang="zh-CN" altLang="en-US" b="1" dirty="0"/>
              <a:t>是关系模式</a:t>
            </a:r>
            <a:r>
              <a:rPr lang="en-US" altLang="zh-CN" b="1" dirty="0"/>
              <a:t>R</a:t>
            </a:r>
            <a:r>
              <a:rPr lang="zh-CN" altLang="en-US" b="1" dirty="0"/>
              <a:t>上成立的</a:t>
            </a:r>
            <a:r>
              <a:rPr lang="en-US" altLang="zh-CN" b="1" dirty="0"/>
              <a:t>FD</a:t>
            </a:r>
            <a:r>
              <a:rPr lang="zh-CN" altLang="en-US" b="1" dirty="0"/>
              <a:t>和</a:t>
            </a:r>
            <a:r>
              <a:rPr lang="en-US" altLang="zh-CN" b="1" dirty="0"/>
              <a:t>MVD</a:t>
            </a:r>
            <a:r>
              <a:rPr lang="zh-CN" altLang="en-US" b="1" dirty="0"/>
              <a:t>集合。如果</a:t>
            </a:r>
            <a:r>
              <a:rPr lang="en-US" altLang="zh-CN" b="1" dirty="0"/>
              <a:t>D</a:t>
            </a:r>
            <a:r>
              <a:rPr lang="zh-CN" altLang="en-US" b="1" dirty="0"/>
              <a:t>中每个非平凡的</a:t>
            </a:r>
            <a:r>
              <a:rPr lang="en-US" altLang="zh-CN" b="1" dirty="0"/>
              <a:t>MVD X→→Y</a:t>
            </a:r>
            <a:r>
              <a:rPr lang="zh-CN" altLang="en-US" b="1" dirty="0"/>
              <a:t>的左部</a:t>
            </a:r>
            <a:r>
              <a:rPr lang="en-US" altLang="zh-CN" b="1" dirty="0"/>
              <a:t>X</a:t>
            </a:r>
            <a:r>
              <a:rPr lang="zh-CN" altLang="en-US" b="1" dirty="0"/>
              <a:t>都是</a:t>
            </a:r>
            <a:r>
              <a:rPr lang="en-US" altLang="zh-CN" b="1" dirty="0"/>
              <a:t>R</a:t>
            </a:r>
            <a:r>
              <a:rPr lang="zh-CN" altLang="en-US" b="1" dirty="0"/>
              <a:t>的超键，那么称</a:t>
            </a:r>
            <a:r>
              <a:rPr lang="en-US" altLang="zh-CN" b="1" dirty="0"/>
              <a:t>R</a:t>
            </a:r>
            <a:r>
              <a:rPr lang="zh-CN" altLang="en-US" b="1" dirty="0"/>
              <a:t>是</a:t>
            </a:r>
            <a:r>
              <a:rPr lang="en-US" altLang="zh-CN" b="1" dirty="0"/>
              <a:t>4NF</a:t>
            </a:r>
            <a:r>
              <a:rPr lang="zh-CN" altLang="en-US" b="1" dirty="0"/>
              <a:t>的模式</a:t>
            </a:r>
            <a:endParaRPr lang="zh-CN" altLang="en-US" b="1" dirty="0"/>
          </a:p>
          <a:p>
            <a:pPr eaLnBrk="1" hangingPunct="1"/>
            <a:r>
              <a:rPr lang="en-US" altLang="zh-CN" b="1" dirty="0"/>
              <a:t>4NF</a:t>
            </a:r>
            <a:r>
              <a:rPr lang="zh-CN" altLang="en-US" b="1" dirty="0"/>
              <a:t>就是限制关系模式的属性之间不允许有非平凡且非函数依赖的多值依赖</a:t>
            </a:r>
            <a:endParaRPr lang="zh-CN" altLang="en-US" b="1" dirty="0"/>
          </a:p>
          <a:p>
            <a:pPr eaLnBrk="1" hangingPunct="1"/>
            <a:r>
              <a:rPr lang="zh-CN" altLang="en-US" b="1" dirty="0"/>
              <a:t>因为根据定义，对于每一个非平凡的多值依赖</a:t>
            </a:r>
            <a:r>
              <a:rPr lang="en-US" altLang="zh-CN" b="1" dirty="0"/>
              <a:t>X→→Y</a:t>
            </a:r>
            <a:r>
              <a:rPr lang="zh-CN" altLang="en-US" b="1" dirty="0"/>
              <a:t>，</a:t>
            </a:r>
            <a:r>
              <a:rPr lang="en-US" altLang="zh-CN" b="1" dirty="0"/>
              <a:t>X</a:t>
            </a:r>
            <a:r>
              <a:rPr lang="zh-CN" altLang="en-US" b="1" dirty="0"/>
              <a:t>都含有候选键，于是就有</a:t>
            </a:r>
            <a:r>
              <a:rPr lang="en-US" altLang="zh-CN" b="1" dirty="0"/>
              <a:t>X→Y</a:t>
            </a:r>
            <a:r>
              <a:rPr lang="zh-CN" altLang="en-US" b="1" dirty="0"/>
              <a:t>，所以</a:t>
            </a:r>
            <a:r>
              <a:rPr lang="en-US" altLang="zh-CN" b="1" dirty="0"/>
              <a:t>4NF</a:t>
            </a:r>
            <a:r>
              <a:rPr lang="zh-CN" altLang="en-US" b="1" dirty="0"/>
              <a:t>所允许的非平凡的多值依赖实际上是函数依赖</a:t>
            </a:r>
            <a:endParaRPr lang="zh-CN" altLang="en-US" b="1"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8658"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第四范式（</a:t>
            </a:r>
            <a:r>
              <a:rPr lang="en-US" altLang="zh-CN" sz="4000" b="1" dirty="0">
                <a:solidFill>
                  <a:srgbClr val="E40000"/>
                </a:solidFill>
                <a:latin typeface="Arial" panose="020B0604020202020204" pitchFamily="34" charset="0"/>
              </a:rPr>
              <a:t>4NF</a:t>
            </a:r>
            <a:r>
              <a:rPr lang="zh-CN" altLang="en-US" sz="4000" b="1" dirty="0">
                <a:solidFill>
                  <a:srgbClr val="E40000"/>
                </a:solidFill>
                <a:latin typeface="Arial" panose="020B0604020202020204" pitchFamily="34" charset="0"/>
              </a:rPr>
              <a:t>）</a:t>
            </a:r>
            <a:endParaRPr lang="zh-CN" altLang="en-US" sz="4000" b="1" dirty="0">
              <a:solidFill>
                <a:srgbClr val="E40000"/>
              </a:solidFill>
              <a:latin typeface="Arial" panose="020B0604020202020204" pitchFamily="34" charset="0"/>
            </a:endParaRPr>
          </a:p>
        </p:txBody>
      </p:sp>
      <p:sp>
        <p:nvSpPr>
          <p:cNvPr id="198659" name="Rectangle 3"/>
          <p:cNvSpPr>
            <a:spLocks noGrp="1"/>
          </p:cNvSpPr>
          <p:nvPr>
            <p:ph idx="1"/>
          </p:nvPr>
        </p:nvSpPr>
        <p:spPr>
          <a:xfrm>
            <a:off x="900113" y="1628775"/>
            <a:ext cx="7343775" cy="4525963"/>
          </a:xfrm>
          <a:ln/>
        </p:spPr>
        <p:txBody>
          <a:bodyPr vert="horz" wrap="square" lIns="91440" tIns="45720" rIns="91440" bIns="45720" anchor="t" anchorCtr="0"/>
          <a:p>
            <a:pPr eaLnBrk="1" hangingPunct="1"/>
            <a:r>
              <a:rPr lang="zh-CN" altLang="en-US" b="1" dirty="0"/>
              <a:t>显然，如果一个关系模式是</a:t>
            </a:r>
            <a:r>
              <a:rPr lang="en-US" altLang="zh-CN" b="1" dirty="0"/>
              <a:t>4NF</a:t>
            </a:r>
            <a:r>
              <a:rPr lang="zh-CN" altLang="en-US" b="1" dirty="0"/>
              <a:t>， 则必为</a:t>
            </a:r>
            <a:r>
              <a:rPr lang="en-US" altLang="zh-CN" b="1" dirty="0"/>
              <a:t>BCNF</a:t>
            </a:r>
            <a:r>
              <a:rPr lang="zh-CN" altLang="en-US" b="1" dirty="0"/>
              <a:t>。但反之不然 </a:t>
            </a:r>
            <a:endParaRPr lang="zh-CN" altLang="en-US" b="1" dirty="0"/>
          </a:p>
          <a:p>
            <a:pPr eaLnBrk="1" hangingPunct="1"/>
            <a:r>
              <a:rPr lang="zh-CN" altLang="en-US" b="1" dirty="0"/>
              <a:t>多值依赖的“毛病”在于数据冗余太大。我们可以用投影分解的方法消去非平凡且非函数依赖的多值依赖 </a:t>
            </a:r>
            <a:endParaRPr lang="zh-CN" altLang="en-US" b="1" dirty="0"/>
          </a:p>
          <a:p>
            <a:pPr eaLnBrk="1" hangingPunct="1"/>
            <a:r>
              <a:rPr lang="zh-CN" altLang="en-US" b="1" dirty="0"/>
              <a:t>函数依赖和多值依赖是两种最重要的数据依赖</a:t>
            </a:r>
            <a:endParaRPr lang="zh-CN" altLang="en-US" b="1" dirty="0"/>
          </a:p>
          <a:p>
            <a:pPr eaLnBrk="1" hangingPunct="1"/>
            <a:r>
              <a:rPr lang="zh-CN" altLang="en-US" b="1" dirty="0"/>
              <a:t>如果只考虑函数依赖，则属于</a:t>
            </a:r>
            <a:r>
              <a:rPr lang="en-US" altLang="zh-CN" b="1" dirty="0"/>
              <a:t>BCNF</a:t>
            </a:r>
            <a:r>
              <a:rPr lang="zh-CN" altLang="en-US" b="1" dirty="0"/>
              <a:t>的关系模式规范化程度为最高。如果考虑多值依赖，则属于</a:t>
            </a:r>
            <a:r>
              <a:rPr lang="en-US" altLang="zh-CN" b="1" dirty="0"/>
              <a:t>4NF</a:t>
            </a:r>
            <a:r>
              <a:rPr lang="zh-CN" altLang="en-US" b="1" dirty="0"/>
              <a:t>的关系模式规范化程度为最高 </a:t>
            </a:r>
            <a:endParaRPr lang="zh-CN" altLang="en-US" b="1"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0706" name="Rectangle 2"/>
          <p:cNvSpPr>
            <a:spLocks noGrp="1"/>
          </p:cNvSpPr>
          <p:nvPr>
            <p:ph type="title"/>
          </p:nvPr>
        </p:nvSpPr>
        <p:spPr>
          <a:xfrm>
            <a:off x="1187450" y="404813"/>
            <a:ext cx="7086600" cy="731837"/>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判断范式级别</a:t>
            </a:r>
            <a:endParaRPr lang="zh-CN" altLang="en-US" sz="4000" b="1" dirty="0">
              <a:solidFill>
                <a:srgbClr val="E40000"/>
              </a:solidFill>
              <a:latin typeface="Arial" panose="020B0604020202020204" pitchFamily="34" charset="0"/>
            </a:endParaRPr>
          </a:p>
        </p:txBody>
      </p:sp>
      <p:sp>
        <p:nvSpPr>
          <p:cNvPr id="200707" name="Rectangle 3"/>
          <p:cNvSpPr>
            <a:spLocks noGrp="1"/>
          </p:cNvSpPr>
          <p:nvPr>
            <p:ph idx="1"/>
          </p:nvPr>
        </p:nvSpPr>
        <p:spPr>
          <a:xfrm>
            <a:off x="755650" y="1412875"/>
            <a:ext cx="7632700" cy="5111750"/>
          </a:xfrm>
          <a:ln/>
        </p:spPr>
        <p:txBody>
          <a:bodyPr vert="horz" wrap="square" lIns="91440" tIns="45720" rIns="91440" bIns="45720" anchor="t" anchorCtr="0"/>
          <a:p>
            <a:pPr marL="533400" indent="-533400" eaLnBrk="1" hangingPunct="1">
              <a:lnSpc>
                <a:spcPct val="90000"/>
              </a:lnSpc>
              <a:buFont typeface="Wingdings" panose="05000000000000000000" pitchFamily="2" charset="2"/>
              <a:buChar char="Ø"/>
            </a:pPr>
            <a:r>
              <a:rPr lang="zh-CN" altLang="en-US" b="1" dirty="0">
                <a:latin typeface="楷体_GB2312" pitchFamily="49" charset="-122"/>
                <a:ea typeface="楷体_GB2312" pitchFamily="49" charset="-122"/>
              </a:rPr>
              <a:t>给定关系模式和函数依赖集合，要求判断达到的最高范式。</a:t>
            </a:r>
            <a:endParaRPr lang="zh-CN" altLang="en-US" b="1" dirty="0">
              <a:latin typeface="楷体_GB2312" pitchFamily="49" charset="-122"/>
              <a:ea typeface="楷体_GB2312" pitchFamily="49" charset="-122"/>
            </a:endParaRPr>
          </a:p>
          <a:p>
            <a:pPr marL="533400" indent="-533400" eaLnBrk="1" hangingPunct="1">
              <a:lnSpc>
                <a:spcPct val="90000"/>
              </a:lnSpc>
              <a:buFont typeface="Wingdings" panose="05000000000000000000" pitchFamily="2" charset="2"/>
              <a:buChar char="Ø"/>
            </a:pPr>
            <a:r>
              <a:rPr lang="zh-CN" altLang="en-US" b="1" dirty="0">
                <a:latin typeface="楷体_GB2312" pitchFamily="49" charset="-122"/>
                <a:ea typeface="楷体_GB2312" pitchFamily="49" charset="-122"/>
              </a:rPr>
              <a:t>方法：</a:t>
            </a:r>
            <a:endParaRPr lang="zh-CN" altLang="en-US" b="1" dirty="0">
              <a:latin typeface="楷体_GB2312" pitchFamily="49" charset="-122"/>
              <a:ea typeface="楷体_GB2312" pitchFamily="49" charset="-122"/>
            </a:endParaRPr>
          </a:p>
          <a:p>
            <a:pPr marL="914400" lvl="1" indent="-457200" eaLnBrk="1" hangingPunct="1">
              <a:lnSpc>
                <a:spcPct val="90000"/>
              </a:lnSpc>
              <a:buFont typeface="Wingdings" panose="05000000000000000000" pitchFamily="2" charset="2"/>
              <a:buAutoNum type="arabicPeriod"/>
            </a:pPr>
            <a:r>
              <a:rPr lang="zh-CN" altLang="en-US" b="1" dirty="0">
                <a:latin typeface="楷体_GB2312" pitchFamily="49" charset="-122"/>
                <a:ea typeface="楷体_GB2312" pitchFamily="49" charset="-122"/>
              </a:rPr>
              <a:t>求出给定关系的候选键（可能不止一个）</a:t>
            </a:r>
            <a:endParaRPr lang="zh-CN" altLang="en-US" b="1" dirty="0">
              <a:latin typeface="楷体_GB2312" pitchFamily="49" charset="-122"/>
              <a:ea typeface="楷体_GB2312" pitchFamily="49" charset="-122"/>
            </a:endParaRPr>
          </a:p>
          <a:p>
            <a:pPr marL="914400" lvl="1" indent="-457200" eaLnBrk="1" hangingPunct="1">
              <a:lnSpc>
                <a:spcPct val="90000"/>
              </a:lnSpc>
              <a:buFont typeface="Wingdings" panose="05000000000000000000" pitchFamily="2" charset="2"/>
              <a:buAutoNum type="arabicPeriod"/>
            </a:pPr>
            <a:r>
              <a:rPr lang="zh-CN" altLang="en-US" b="1" dirty="0">
                <a:latin typeface="楷体_GB2312" pitchFamily="49" charset="-122"/>
                <a:ea typeface="楷体_GB2312" pitchFamily="49" charset="-122"/>
              </a:rPr>
              <a:t>根据键，确定主属性和非主属性。</a:t>
            </a:r>
            <a:endParaRPr lang="zh-CN" altLang="en-US" b="1" dirty="0">
              <a:latin typeface="楷体_GB2312" pitchFamily="49" charset="-122"/>
              <a:ea typeface="楷体_GB2312" pitchFamily="49" charset="-122"/>
            </a:endParaRPr>
          </a:p>
          <a:p>
            <a:pPr marL="914400" lvl="1" indent="-457200" eaLnBrk="1" hangingPunct="1">
              <a:lnSpc>
                <a:spcPct val="90000"/>
              </a:lnSpc>
              <a:buFont typeface="Wingdings" panose="05000000000000000000" pitchFamily="2" charset="2"/>
              <a:buAutoNum type="arabicPeriod"/>
            </a:pPr>
            <a:r>
              <a:rPr lang="zh-CN" altLang="en-US" b="1" dirty="0">
                <a:latin typeface="楷体_GB2312" pitchFamily="49" charset="-122"/>
                <a:ea typeface="楷体_GB2312" pitchFamily="49" charset="-122"/>
              </a:rPr>
              <a:t>判断是否满足第一范式</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看属性的值域是否可以分解）</a:t>
            </a:r>
            <a:endParaRPr lang="zh-CN" altLang="en-US" b="1" dirty="0">
              <a:latin typeface="楷体_GB2312" pitchFamily="49" charset="-122"/>
              <a:ea typeface="楷体_GB2312" pitchFamily="49" charset="-122"/>
            </a:endParaRPr>
          </a:p>
          <a:p>
            <a:pPr marL="914400" lvl="1" indent="-457200" eaLnBrk="1" hangingPunct="1">
              <a:lnSpc>
                <a:spcPct val="90000"/>
              </a:lnSpc>
              <a:buFont typeface="Wingdings" panose="05000000000000000000" pitchFamily="2" charset="2"/>
              <a:buAutoNum type="arabicPeriod"/>
            </a:pPr>
            <a:r>
              <a:rPr lang="zh-CN" altLang="en-US" b="1" dirty="0">
                <a:latin typeface="楷体_GB2312" pitchFamily="49" charset="-122"/>
                <a:ea typeface="楷体_GB2312" pitchFamily="49" charset="-122"/>
              </a:rPr>
              <a:t>判断是否满足第二范式</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非主属性对键的部分函数依赖</a:t>
            </a:r>
            <a:r>
              <a:rPr lang="en-US" altLang="zh-CN" b="1" dirty="0">
                <a:latin typeface="楷体_GB2312" pitchFamily="49" charset="-122"/>
                <a:ea typeface="楷体_GB2312" pitchFamily="49" charset="-122"/>
              </a:rPr>
              <a:t>) </a:t>
            </a:r>
            <a:endParaRPr lang="en-US" altLang="zh-CN" b="1" dirty="0">
              <a:latin typeface="楷体_GB2312" pitchFamily="49" charset="-122"/>
              <a:ea typeface="楷体_GB2312" pitchFamily="49" charset="-122"/>
            </a:endParaRPr>
          </a:p>
          <a:p>
            <a:pPr marL="914400" lvl="1" indent="-457200" eaLnBrk="1" hangingPunct="1">
              <a:lnSpc>
                <a:spcPct val="90000"/>
              </a:lnSpc>
              <a:buFont typeface="Wingdings" panose="05000000000000000000" pitchFamily="2" charset="2"/>
              <a:buAutoNum type="arabicPeriod"/>
            </a:pPr>
            <a:r>
              <a:rPr lang="zh-CN" altLang="en-US" b="1" dirty="0">
                <a:latin typeface="楷体_GB2312" pitchFamily="49" charset="-122"/>
                <a:ea typeface="楷体_GB2312" pitchFamily="49" charset="-122"/>
              </a:rPr>
              <a:t>判断是否满足第三范式</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非主属性对键的传递函数依赖</a:t>
            </a:r>
            <a:r>
              <a:rPr lang="en-US" altLang="zh-CN" b="1" dirty="0">
                <a:latin typeface="楷体_GB2312" pitchFamily="49" charset="-122"/>
                <a:ea typeface="楷体_GB2312" pitchFamily="49" charset="-122"/>
              </a:rPr>
              <a:t>) </a:t>
            </a:r>
            <a:endParaRPr lang="en-US" altLang="zh-CN" b="1" dirty="0">
              <a:latin typeface="楷体_GB2312" pitchFamily="49" charset="-122"/>
              <a:ea typeface="楷体_GB2312" pitchFamily="49" charset="-122"/>
            </a:endParaRPr>
          </a:p>
          <a:p>
            <a:pPr marL="914400" lvl="1" indent="-457200" eaLnBrk="1" hangingPunct="1">
              <a:lnSpc>
                <a:spcPct val="90000"/>
              </a:lnSpc>
              <a:buFont typeface="Wingdings" panose="05000000000000000000" pitchFamily="2" charset="2"/>
              <a:buAutoNum type="arabicPeriod"/>
            </a:pPr>
            <a:r>
              <a:rPr lang="zh-CN" altLang="en-US" b="1" dirty="0">
                <a:latin typeface="楷体_GB2312" pitchFamily="49" charset="-122"/>
                <a:ea typeface="楷体_GB2312" pitchFamily="49" charset="-122"/>
              </a:rPr>
              <a:t>判断是否满足</a:t>
            </a:r>
            <a:r>
              <a:rPr lang="en-US" altLang="zh-CN" b="1" dirty="0">
                <a:latin typeface="楷体_GB2312" pitchFamily="49" charset="-122"/>
                <a:ea typeface="楷体_GB2312" pitchFamily="49" charset="-122"/>
              </a:rPr>
              <a:t>BCNF</a:t>
            </a:r>
            <a:r>
              <a:rPr lang="zh-CN" altLang="en-US" b="1" dirty="0">
                <a:latin typeface="楷体_GB2312" pitchFamily="49" charset="-122"/>
                <a:ea typeface="楷体_GB2312" pitchFamily="49" charset="-122"/>
              </a:rPr>
              <a:t>范式</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主属性对键的传递函数依赖</a:t>
            </a:r>
            <a:r>
              <a:rPr lang="en-US" altLang="zh-CN" b="1" dirty="0">
                <a:latin typeface="楷体_GB2312" pitchFamily="49" charset="-122"/>
                <a:ea typeface="楷体_GB2312" pitchFamily="49" charset="-122"/>
              </a:rPr>
              <a:t>)</a:t>
            </a:r>
            <a:endParaRPr lang="en-US" altLang="zh-CN" b="1" dirty="0">
              <a:latin typeface="楷体_GB2312" pitchFamily="49" charset="-122"/>
              <a:ea typeface="楷体_GB2312" pitchFamily="49"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2754"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判断范式级别：</a:t>
            </a:r>
            <a:r>
              <a:rPr lang="zh-CN" altLang="en-US" dirty="0"/>
              <a:t>举例</a:t>
            </a:r>
            <a:endParaRPr lang="zh-CN" altLang="en-US" dirty="0"/>
          </a:p>
        </p:txBody>
      </p:sp>
      <p:sp>
        <p:nvSpPr>
          <p:cNvPr id="423939" name="Rectangle 3"/>
          <p:cNvSpPr>
            <a:spLocks noGrp="1"/>
          </p:cNvSpPr>
          <p:nvPr>
            <p:ph idx="1"/>
          </p:nvPr>
        </p:nvSpPr>
        <p:spPr>
          <a:xfrm>
            <a:off x="684213" y="1700213"/>
            <a:ext cx="8193087" cy="4721225"/>
          </a:xfrm>
          <a:ln/>
        </p:spPr>
        <p:txBody>
          <a:bodyPr vert="horz" wrap="square" lIns="91440" tIns="45720" rIns="91440" bIns="45720" anchor="t" anchorCtr="0"/>
          <a:p>
            <a:pPr eaLnBrk="1" hangingPunct="1">
              <a:lnSpc>
                <a:spcPct val="90000"/>
              </a:lnSpc>
              <a:buNone/>
            </a:pPr>
            <a:r>
              <a:rPr lang="zh-CN" altLang="en-US" sz="2000" b="1" dirty="0">
                <a:latin typeface="楷体_GB2312" pitchFamily="49" charset="-122"/>
                <a:ea typeface="楷体_GB2312" pitchFamily="49" charset="-122"/>
              </a:rPr>
              <a:t>例</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已知关系</a:t>
            </a:r>
            <a:r>
              <a:rPr lang="en-US" altLang="zh-CN" sz="2000" b="1" dirty="0">
                <a:latin typeface="楷体_GB2312" pitchFamily="49" charset="-122"/>
                <a:ea typeface="楷体_GB2312" pitchFamily="49" charset="-122"/>
              </a:rPr>
              <a:t>R</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A,B,C,D,E</a:t>
            </a:r>
            <a:r>
              <a:rPr lang="zh-CN" altLang="en-US" sz="2000" b="1" dirty="0">
                <a:latin typeface="楷体_GB2312" pitchFamily="49" charset="-122"/>
                <a:ea typeface="楷体_GB2312" pitchFamily="49" charset="-122"/>
              </a:rPr>
              <a:t>）和</a:t>
            </a:r>
            <a:r>
              <a:rPr lang="en-US" altLang="zh-CN" sz="2000" b="1" dirty="0">
                <a:latin typeface="楷体_GB2312" pitchFamily="49" charset="-122"/>
                <a:ea typeface="楷体_GB2312" pitchFamily="49" charset="-122"/>
              </a:rPr>
              <a:t>F={AB</a:t>
            </a:r>
            <a:r>
              <a:rPr lang="en-US" altLang="zh-CN" sz="2000" b="1" dirty="0">
                <a:latin typeface="楷体_GB2312" pitchFamily="49" charset="-122"/>
                <a:ea typeface="楷体_GB2312" pitchFamily="49" charset="-122"/>
                <a:sym typeface="Symbol" panose="05050102010706020507" pitchFamily="18" charset="2"/>
              </a:rPr>
              <a:t>CE,EAB,CD},</a:t>
            </a:r>
            <a:r>
              <a:rPr lang="zh-CN" altLang="en-US" sz="2000" b="1" dirty="0">
                <a:latin typeface="楷体_GB2312" pitchFamily="49" charset="-122"/>
                <a:ea typeface="楷体_GB2312" pitchFamily="49" charset="-122"/>
                <a:sym typeface="Symbol" panose="05050102010706020507" pitchFamily="18" charset="2"/>
              </a:rPr>
              <a:t>试判断该关系最高为第几范式？</a:t>
            </a:r>
            <a:endParaRPr lang="zh-CN" altLang="en-US" sz="2000" b="1" dirty="0">
              <a:latin typeface="楷体_GB2312" pitchFamily="49" charset="-122"/>
              <a:ea typeface="楷体_GB2312" pitchFamily="49" charset="-122"/>
              <a:sym typeface="Symbol" panose="05050102010706020507" pitchFamily="18" charset="2"/>
            </a:endParaRPr>
          </a:p>
          <a:p>
            <a:pPr eaLnBrk="1" hangingPunct="1">
              <a:lnSpc>
                <a:spcPct val="90000"/>
              </a:lnSpc>
              <a:buNone/>
            </a:pPr>
            <a:r>
              <a:rPr lang="zh-CN" altLang="en-US" sz="2000" b="1" dirty="0">
                <a:latin typeface="楷体_GB2312" pitchFamily="49" charset="-122"/>
                <a:ea typeface="楷体_GB2312" pitchFamily="49" charset="-122"/>
                <a:sym typeface="Symbol" panose="05050102010706020507" pitchFamily="18" charset="2"/>
              </a:rPr>
              <a:t>解：</a:t>
            </a:r>
            <a:endParaRPr lang="zh-CN" altLang="en-US" sz="2000" b="1" dirty="0">
              <a:latin typeface="楷体_GB2312" pitchFamily="49" charset="-122"/>
              <a:ea typeface="楷体_GB2312" pitchFamily="49" charset="-122"/>
              <a:sym typeface="Symbol" panose="05050102010706020507" pitchFamily="18" charset="2"/>
            </a:endParaRPr>
          </a:p>
          <a:p>
            <a:pPr eaLnBrk="1" hangingPunct="1">
              <a:lnSpc>
                <a:spcPct val="90000"/>
              </a:lnSpc>
              <a:buNone/>
            </a:pPr>
            <a:r>
              <a:rPr lang="en-US" altLang="zh-CN" sz="2000" b="1" dirty="0">
                <a:solidFill>
                  <a:schemeClr val="hlink"/>
                </a:solidFill>
                <a:latin typeface="楷体_GB2312" pitchFamily="49" charset="-122"/>
                <a:ea typeface="楷体_GB2312" pitchFamily="49" charset="-122"/>
                <a:sym typeface="Symbol" panose="05050102010706020507" pitchFamily="18" charset="2"/>
              </a:rPr>
              <a:t>1</a:t>
            </a:r>
            <a:r>
              <a:rPr lang="zh-CN" altLang="en-US" sz="2000" b="1" dirty="0">
                <a:solidFill>
                  <a:schemeClr val="hlink"/>
                </a:solidFill>
                <a:latin typeface="楷体_GB2312" pitchFamily="49" charset="-122"/>
                <a:ea typeface="楷体_GB2312" pitchFamily="49" charset="-122"/>
                <a:sym typeface="Symbol" panose="05050102010706020507" pitchFamily="18" charset="2"/>
              </a:rPr>
              <a:t>、</a:t>
            </a:r>
            <a:r>
              <a:rPr lang="zh-CN" altLang="en-US" sz="2000" b="1" dirty="0">
                <a:solidFill>
                  <a:schemeClr val="hlink"/>
                </a:solidFill>
                <a:latin typeface="楷体_GB2312" pitchFamily="49" charset="-122"/>
                <a:ea typeface="楷体_GB2312" pitchFamily="49" charset="-122"/>
              </a:rPr>
              <a:t>关系</a:t>
            </a:r>
            <a:r>
              <a:rPr lang="en-US" altLang="zh-CN" sz="2000" b="1" dirty="0">
                <a:solidFill>
                  <a:schemeClr val="hlink"/>
                </a:solidFill>
                <a:latin typeface="楷体_GB2312" pitchFamily="49" charset="-122"/>
                <a:ea typeface="楷体_GB2312" pitchFamily="49" charset="-122"/>
              </a:rPr>
              <a:t>R</a:t>
            </a:r>
            <a:r>
              <a:rPr lang="zh-CN" altLang="en-US" sz="2000" b="1" dirty="0">
                <a:solidFill>
                  <a:schemeClr val="hlink"/>
                </a:solidFill>
                <a:latin typeface="楷体_GB2312" pitchFamily="49" charset="-122"/>
                <a:ea typeface="楷体_GB2312" pitchFamily="49" charset="-122"/>
              </a:rPr>
              <a:t>的候选键为：</a:t>
            </a:r>
            <a:r>
              <a:rPr lang="en-US" altLang="zh-CN" sz="2000" b="1" dirty="0">
                <a:solidFill>
                  <a:schemeClr val="hlink"/>
                </a:solidFill>
                <a:latin typeface="楷体_GB2312" pitchFamily="49" charset="-122"/>
                <a:ea typeface="楷体_GB2312" pitchFamily="49" charset="-122"/>
              </a:rPr>
              <a:t>AB</a:t>
            </a:r>
            <a:r>
              <a:rPr lang="zh-CN" altLang="en-US" sz="2000" b="1" dirty="0">
                <a:solidFill>
                  <a:schemeClr val="hlink"/>
                </a:solidFill>
                <a:latin typeface="楷体_GB2312" pitchFamily="49" charset="-122"/>
                <a:ea typeface="楷体_GB2312" pitchFamily="49" charset="-122"/>
              </a:rPr>
              <a:t>和</a:t>
            </a:r>
            <a:r>
              <a:rPr lang="en-US" altLang="zh-CN" sz="2000" b="1" dirty="0">
                <a:solidFill>
                  <a:schemeClr val="hlink"/>
                </a:solidFill>
                <a:latin typeface="楷体_GB2312" pitchFamily="49" charset="-122"/>
                <a:ea typeface="楷体_GB2312" pitchFamily="49" charset="-122"/>
              </a:rPr>
              <a:t>E</a:t>
            </a:r>
            <a:r>
              <a:rPr lang="zh-CN" altLang="en-US" sz="2000" b="1" dirty="0">
                <a:solidFill>
                  <a:schemeClr val="hlink"/>
                </a:solidFill>
                <a:latin typeface="楷体_GB2312" pitchFamily="49" charset="-122"/>
                <a:ea typeface="楷体_GB2312" pitchFamily="49" charset="-122"/>
              </a:rPr>
              <a:t>。</a:t>
            </a:r>
            <a:endParaRPr lang="zh-CN" altLang="en-US" sz="2000" b="1" dirty="0">
              <a:solidFill>
                <a:schemeClr val="hlink"/>
              </a:solidFill>
              <a:latin typeface="楷体_GB2312" pitchFamily="49" charset="-122"/>
              <a:ea typeface="楷体_GB2312" pitchFamily="49" charset="-122"/>
            </a:endParaRPr>
          </a:p>
          <a:p>
            <a:pPr eaLnBrk="1" hangingPunct="1">
              <a:lnSpc>
                <a:spcPct val="90000"/>
              </a:lnSpc>
              <a:buNone/>
            </a:pPr>
            <a:r>
              <a:rPr lang="zh-CN" altLang="en-US" sz="2000" b="1" dirty="0">
                <a:latin typeface="楷体_GB2312" pitchFamily="49" charset="-122"/>
                <a:ea typeface="楷体_GB2312" pitchFamily="49" charset="-122"/>
              </a:rPr>
              <a:t>  因为</a:t>
            </a:r>
            <a:r>
              <a:rPr lang="en-US" altLang="zh-CN" sz="2000" b="1" dirty="0">
                <a:latin typeface="楷体_GB2312" pitchFamily="49" charset="-122"/>
                <a:ea typeface="楷体_GB2312" pitchFamily="49" charset="-122"/>
              </a:rPr>
              <a:t>:(AB)</a:t>
            </a:r>
            <a:r>
              <a:rPr lang="en-US" altLang="zh-CN" sz="2000" b="1" baseline="30000"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={ABCED}</a:t>
            </a:r>
            <a:endParaRPr lang="en-US" altLang="zh-CN" sz="2000" b="1" dirty="0">
              <a:latin typeface="楷体_GB2312" pitchFamily="49" charset="-122"/>
              <a:ea typeface="楷体_GB2312" pitchFamily="49" charset="-122"/>
            </a:endParaRPr>
          </a:p>
          <a:p>
            <a:pPr eaLnBrk="1" hangingPunct="1">
              <a:lnSpc>
                <a:spcPct val="90000"/>
              </a:lnSpc>
              <a:buNone/>
            </a:pPr>
            <a:r>
              <a:rPr lang="en-US" altLang="zh-CN" sz="2000" b="1" dirty="0">
                <a:latin typeface="楷体_GB2312" pitchFamily="49" charset="-122"/>
                <a:ea typeface="楷体_GB2312" pitchFamily="49" charset="-122"/>
              </a:rPr>
              <a:t>        (E)</a:t>
            </a:r>
            <a:r>
              <a:rPr lang="en-US" altLang="zh-CN" sz="2000" b="1" baseline="30000"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={EABCD}</a:t>
            </a:r>
            <a:endParaRPr lang="en-US" altLang="zh-CN" sz="2000" b="1" dirty="0">
              <a:latin typeface="楷体_GB2312" pitchFamily="49" charset="-122"/>
              <a:ea typeface="楷体_GB2312" pitchFamily="49" charset="-122"/>
            </a:endParaRPr>
          </a:p>
          <a:p>
            <a:pPr eaLnBrk="1" hangingPunct="1">
              <a:lnSpc>
                <a:spcPct val="90000"/>
              </a:lnSpc>
              <a:buNone/>
            </a:pPr>
            <a:r>
              <a:rPr lang="en-US" altLang="zh-CN" sz="2000" b="1" dirty="0">
                <a:latin typeface="楷体_GB2312" pitchFamily="49" charset="-122"/>
                <a:ea typeface="楷体_GB2312" pitchFamily="49" charset="-122"/>
              </a:rPr>
              <a:t>  AB</a:t>
            </a:r>
            <a:r>
              <a:rPr lang="zh-CN" altLang="en-US" sz="2000" b="1" dirty="0">
                <a:latin typeface="楷体_GB2312" pitchFamily="49" charset="-122"/>
                <a:ea typeface="楷体_GB2312" pitchFamily="49" charset="-122"/>
              </a:rPr>
              <a:t>可以决定关系的所有属性，</a:t>
            </a:r>
            <a:r>
              <a:rPr lang="en-US" altLang="zh-CN" sz="2000" b="1" dirty="0">
                <a:latin typeface="楷体_GB2312" pitchFamily="49" charset="-122"/>
                <a:ea typeface="楷体_GB2312" pitchFamily="49" charset="-122"/>
              </a:rPr>
              <a:t>E</a:t>
            </a:r>
            <a:r>
              <a:rPr lang="zh-CN" altLang="en-US" sz="2000" b="1" dirty="0">
                <a:latin typeface="楷体_GB2312" pitchFamily="49" charset="-122"/>
                <a:ea typeface="楷体_GB2312" pitchFamily="49" charset="-122"/>
              </a:rPr>
              <a:t>可以决定关系的所有属性，所以</a:t>
            </a:r>
            <a:r>
              <a:rPr lang="en-US" altLang="zh-CN" sz="2000" b="1" dirty="0">
                <a:latin typeface="楷体_GB2312" pitchFamily="49" charset="-122"/>
                <a:ea typeface="楷体_GB2312" pitchFamily="49" charset="-122"/>
              </a:rPr>
              <a:t>AB </a:t>
            </a:r>
            <a:r>
              <a:rPr lang="zh-CN" altLang="en-US" sz="2000" b="1" dirty="0">
                <a:latin typeface="楷体_GB2312" pitchFamily="49" charset="-122"/>
                <a:ea typeface="楷体_GB2312" pitchFamily="49" charset="-122"/>
              </a:rPr>
              <a:t>和</a:t>
            </a:r>
            <a:r>
              <a:rPr lang="en-US" altLang="zh-CN" sz="2000" b="1" dirty="0">
                <a:latin typeface="楷体_GB2312" pitchFamily="49" charset="-122"/>
                <a:ea typeface="楷体_GB2312" pitchFamily="49" charset="-122"/>
              </a:rPr>
              <a:t>E</a:t>
            </a:r>
            <a:r>
              <a:rPr lang="zh-CN" altLang="en-US" sz="2000" b="1" dirty="0">
                <a:latin typeface="楷体_GB2312" pitchFamily="49" charset="-122"/>
                <a:ea typeface="楷体_GB2312" pitchFamily="49" charset="-122"/>
              </a:rPr>
              <a:t>是关系的候选键</a:t>
            </a:r>
            <a:endParaRPr lang="zh-CN" altLang="en-US" sz="2000" b="1" dirty="0">
              <a:latin typeface="楷体_GB2312" pitchFamily="49" charset="-122"/>
              <a:ea typeface="楷体_GB2312" pitchFamily="49" charset="-122"/>
            </a:endParaRPr>
          </a:p>
          <a:p>
            <a:pPr eaLnBrk="1" hangingPunct="1">
              <a:lnSpc>
                <a:spcPct val="90000"/>
              </a:lnSpc>
              <a:buNone/>
            </a:pPr>
            <a:r>
              <a:rPr lang="en-US" altLang="zh-CN" sz="2000" b="1" dirty="0">
                <a:latin typeface="楷体_GB2312" pitchFamily="49" charset="-122"/>
                <a:ea typeface="楷体_GB2312" pitchFamily="49" charset="-122"/>
                <a:sym typeface="Symbol" panose="05050102010706020507" pitchFamily="18" charset="2"/>
              </a:rPr>
              <a:t>2</a:t>
            </a:r>
            <a:r>
              <a:rPr lang="zh-CN" altLang="en-US" sz="2000" b="1" dirty="0">
                <a:latin typeface="楷体_GB2312" pitchFamily="49" charset="-122"/>
                <a:ea typeface="楷体_GB2312" pitchFamily="49" charset="-122"/>
                <a:sym typeface="Symbol" panose="05050102010706020507" pitchFamily="18" charset="2"/>
              </a:rPr>
              <a:t>、主属性为：</a:t>
            </a:r>
            <a:r>
              <a:rPr lang="en-US" altLang="zh-CN" sz="2000" b="1" dirty="0">
                <a:latin typeface="楷体_GB2312" pitchFamily="49" charset="-122"/>
                <a:ea typeface="楷体_GB2312" pitchFamily="49" charset="-122"/>
                <a:sym typeface="Symbol" panose="05050102010706020507" pitchFamily="18" charset="2"/>
              </a:rPr>
              <a:t>A</a:t>
            </a:r>
            <a:r>
              <a:rPr lang="zh-CN" altLang="en-US" sz="2000" b="1" dirty="0">
                <a:latin typeface="楷体_GB2312" pitchFamily="49" charset="-122"/>
                <a:ea typeface="楷体_GB2312" pitchFamily="49" charset="-122"/>
                <a:sym typeface="Symbol" panose="05050102010706020507" pitchFamily="18" charset="2"/>
              </a:rPr>
              <a:t>、</a:t>
            </a:r>
            <a:r>
              <a:rPr lang="en-US" altLang="zh-CN" sz="2000" b="1" dirty="0">
                <a:latin typeface="楷体_GB2312" pitchFamily="49" charset="-122"/>
                <a:ea typeface="楷体_GB2312" pitchFamily="49" charset="-122"/>
                <a:sym typeface="Symbol" panose="05050102010706020507" pitchFamily="18" charset="2"/>
              </a:rPr>
              <a:t>B</a:t>
            </a:r>
            <a:r>
              <a:rPr lang="zh-CN" altLang="en-US" sz="2000" b="1" dirty="0">
                <a:latin typeface="楷体_GB2312" pitchFamily="49" charset="-122"/>
                <a:ea typeface="楷体_GB2312" pitchFamily="49" charset="-122"/>
                <a:sym typeface="Symbol" panose="05050102010706020507" pitchFamily="18" charset="2"/>
              </a:rPr>
              <a:t>、</a:t>
            </a:r>
            <a:r>
              <a:rPr lang="en-US" altLang="zh-CN" sz="2000" b="1" dirty="0">
                <a:latin typeface="楷体_GB2312" pitchFamily="49" charset="-122"/>
                <a:ea typeface="楷体_GB2312" pitchFamily="49" charset="-122"/>
                <a:sym typeface="Symbol" panose="05050102010706020507" pitchFamily="18" charset="2"/>
              </a:rPr>
              <a:t>E</a:t>
            </a:r>
            <a:r>
              <a:rPr lang="zh-CN" altLang="en-US" sz="2000" b="1" dirty="0">
                <a:latin typeface="楷体_GB2312" pitchFamily="49" charset="-122"/>
                <a:ea typeface="楷体_GB2312" pitchFamily="49" charset="-122"/>
                <a:sym typeface="Symbol" panose="05050102010706020507" pitchFamily="18" charset="2"/>
              </a:rPr>
              <a:t>，</a:t>
            </a:r>
            <a:r>
              <a:rPr lang="zh-CN" altLang="en-US" sz="2400" b="1" dirty="0">
                <a:latin typeface="楷体_GB2312" pitchFamily="49" charset="-122"/>
                <a:ea typeface="楷体_GB2312" pitchFamily="49" charset="-122"/>
                <a:sym typeface="Symbol" panose="05050102010706020507" pitchFamily="18" charset="2"/>
              </a:rPr>
              <a:t>非主属性为：</a:t>
            </a:r>
            <a:r>
              <a:rPr lang="en-US" altLang="zh-CN" sz="2400" b="1" dirty="0">
                <a:latin typeface="楷体_GB2312" pitchFamily="49" charset="-122"/>
                <a:ea typeface="楷体_GB2312" pitchFamily="49" charset="-122"/>
                <a:sym typeface="Symbol" panose="05050102010706020507" pitchFamily="18" charset="2"/>
              </a:rPr>
              <a:t>C</a:t>
            </a:r>
            <a:r>
              <a:rPr lang="zh-CN" altLang="en-US" sz="2400" b="1" dirty="0">
                <a:latin typeface="楷体_GB2312" pitchFamily="49" charset="-122"/>
                <a:ea typeface="楷体_GB2312" pitchFamily="49" charset="-122"/>
                <a:sym typeface="Symbol" panose="05050102010706020507" pitchFamily="18" charset="2"/>
              </a:rPr>
              <a:t>、</a:t>
            </a:r>
            <a:r>
              <a:rPr lang="en-US" altLang="zh-CN" sz="2400" b="1" dirty="0">
                <a:latin typeface="楷体_GB2312" pitchFamily="49" charset="-122"/>
                <a:ea typeface="楷体_GB2312" pitchFamily="49" charset="-122"/>
                <a:sym typeface="Symbol" panose="05050102010706020507" pitchFamily="18" charset="2"/>
              </a:rPr>
              <a:t>D</a:t>
            </a:r>
            <a:endParaRPr lang="en-US" altLang="zh-CN" sz="2400" b="1" dirty="0">
              <a:latin typeface="楷体_GB2312" pitchFamily="49" charset="-122"/>
              <a:ea typeface="楷体_GB2312" pitchFamily="49" charset="-122"/>
              <a:sym typeface="Symbol" panose="05050102010706020507" pitchFamily="18" charset="2"/>
            </a:endParaRPr>
          </a:p>
          <a:p>
            <a:pPr eaLnBrk="1" hangingPunct="1">
              <a:lnSpc>
                <a:spcPct val="90000"/>
              </a:lnSpc>
              <a:buNone/>
            </a:pPr>
            <a:r>
              <a:rPr lang="en-US" altLang="zh-CN" sz="2000" b="1" dirty="0">
                <a:latin typeface="楷体_GB2312" pitchFamily="49" charset="-122"/>
                <a:ea typeface="楷体_GB2312" pitchFamily="49" charset="-122"/>
                <a:sym typeface="Symbol" panose="05050102010706020507" pitchFamily="18" charset="2"/>
              </a:rPr>
              <a:t>3</a:t>
            </a:r>
            <a:r>
              <a:rPr lang="zh-CN" altLang="en-US" sz="2000" b="1" dirty="0">
                <a:latin typeface="楷体_GB2312" pitchFamily="49" charset="-122"/>
                <a:ea typeface="楷体_GB2312" pitchFamily="49" charset="-122"/>
                <a:sym typeface="Symbol" panose="05050102010706020507" pitchFamily="18" charset="2"/>
              </a:rPr>
              <a:t>、判断是否满足各个范式的要求：</a:t>
            </a:r>
            <a:endParaRPr lang="zh-CN" altLang="en-US" sz="2000" b="1" dirty="0">
              <a:latin typeface="楷体_GB2312" pitchFamily="49" charset="-122"/>
              <a:ea typeface="楷体_GB2312" pitchFamily="49" charset="-122"/>
              <a:sym typeface="Symbol" panose="05050102010706020507" pitchFamily="18" charset="2"/>
            </a:endParaRPr>
          </a:p>
          <a:p>
            <a:pPr lvl="1" eaLnBrk="1" hangingPunct="1">
              <a:lnSpc>
                <a:spcPct val="90000"/>
              </a:lnSpc>
            </a:pPr>
            <a:r>
              <a:rPr lang="zh-CN" altLang="en-US" sz="2000" b="1" dirty="0">
                <a:latin typeface="楷体_GB2312" pitchFamily="49" charset="-122"/>
                <a:ea typeface="楷体_GB2312" pitchFamily="49" charset="-122"/>
                <a:sym typeface="Symbol" panose="05050102010706020507" pitchFamily="18" charset="2"/>
              </a:rPr>
              <a:t>因为</a:t>
            </a:r>
            <a:r>
              <a:rPr lang="en-US" altLang="zh-CN" sz="2000" b="1" dirty="0">
                <a:latin typeface="楷体_GB2312" pitchFamily="49" charset="-122"/>
                <a:ea typeface="楷体_GB2312" pitchFamily="49" charset="-122"/>
                <a:sym typeface="Symbol" panose="05050102010706020507" pitchFamily="18" charset="2"/>
              </a:rPr>
              <a:t>R</a:t>
            </a:r>
            <a:r>
              <a:rPr lang="zh-CN" altLang="en-US" sz="2000" b="1" dirty="0">
                <a:latin typeface="楷体_GB2312" pitchFamily="49" charset="-122"/>
                <a:ea typeface="楷体_GB2312" pitchFamily="49" charset="-122"/>
                <a:sym typeface="Symbol" panose="05050102010706020507" pitchFamily="18" charset="2"/>
              </a:rPr>
              <a:t>的</a:t>
            </a:r>
            <a:r>
              <a:rPr lang="zh-CN" altLang="en-US" sz="2000" b="1" dirty="0">
                <a:latin typeface="楷体_GB2312" pitchFamily="49" charset="-122"/>
                <a:ea typeface="楷体_GB2312" pitchFamily="49" charset="-122"/>
              </a:rPr>
              <a:t>所有的属性值域都是不可再分，所以</a:t>
            </a:r>
            <a:r>
              <a:rPr lang="en-US" altLang="zh-CN" sz="2000" b="1" dirty="0">
                <a:latin typeface="楷体_GB2312" pitchFamily="49" charset="-122"/>
                <a:ea typeface="楷体_GB2312" pitchFamily="49" charset="-122"/>
              </a:rPr>
              <a:t>R</a:t>
            </a:r>
            <a:r>
              <a:rPr lang="zh-CN" altLang="en-US" sz="2000" b="1" dirty="0">
                <a:latin typeface="楷体_GB2312" pitchFamily="49" charset="-122"/>
                <a:ea typeface="楷体_GB2312" pitchFamily="49" charset="-122"/>
              </a:rPr>
              <a:t>已经在</a:t>
            </a:r>
            <a:r>
              <a:rPr lang="en-US" altLang="zh-CN" sz="2000" b="1" dirty="0">
                <a:latin typeface="楷体_GB2312" pitchFamily="49" charset="-122"/>
                <a:ea typeface="楷体_GB2312" pitchFamily="49" charset="-122"/>
              </a:rPr>
              <a:t>1NF</a:t>
            </a:r>
            <a:r>
              <a:rPr lang="zh-CN" altLang="en-US" sz="2000" b="1" dirty="0">
                <a:latin typeface="楷体_GB2312" pitchFamily="49" charset="-122"/>
                <a:ea typeface="楷体_GB2312" pitchFamily="49" charset="-122"/>
              </a:rPr>
              <a:t>中了</a:t>
            </a:r>
            <a:endParaRPr lang="zh-CN" altLang="en-US" sz="2000" b="1" dirty="0">
              <a:latin typeface="楷体_GB2312" pitchFamily="49" charset="-122"/>
              <a:ea typeface="楷体_GB2312" pitchFamily="49" charset="-122"/>
            </a:endParaRPr>
          </a:p>
          <a:p>
            <a:pPr lvl="1" eaLnBrk="1" hangingPunct="1">
              <a:lnSpc>
                <a:spcPct val="90000"/>
              </a:lnSpc>
            </a:pPr>
            <a:r>
              <a:rPr lang="zh-CN" altLang="en-US" sz="2000" b="1" dirty="0">
                <a:latin typeface="楷体_GB2312" pitchFamily="49" charset="-122"/>
                <a:ea typeface="楷体_GB2312" pitchFamily="49" charset="-122"/>
              </a:rPr>
              <a:t>该关系为</a:t>
            </a:r>
            <a:r>
              <a:rPr lang="en-US" altLang="zh-CN" sz="2000" b="1" dirty="0">
                <a:latin typeface="楷体_GB2312" pitchFamily="49" charset="-122"/>
                <a:ea typeface="楷体_GB2312" pitchFamily="49" charset="-122"/>
              </a:rPr>
              <a:t>2NF</a:t>
            </a:r>
            <a:r>
              <a:rPr lang="zh-CN" altLang="en-US" sz="2000" b="1" dirty="0">
                <a:latin typeface="楷体_GB2312" pitchFamily="49" charset="-122"/>
                <a:ea typeface="楷体_GB2312" pitchFamily="49" charset="-122"/>
              </a:rPr>
              <a:t>，因为</a:t>
            </a:r>
            <a:r>
              <a:rPr lang="en-US" altLang="zh-CN" sz="2000" b="1" dirty="0">
                <a:latin typeface="楷体_GB2312" pitchFamily="49" charset="-122"/>
                <a:ea typeface="楷体_GB2312" pitchFamily="49" charset="-122"/>
              </a:rPr>
              <a:t>C</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D</a:t>
            </a:r>
            <a:r>
              <a:rPr lang="zh-CN" altLang="en-US" sz="2000" b="1" dirty="0">
                <a:latin typeface="楷体_GB2312" pitchFamily="49" charset="-122"/>
                <a:ea typeface="楷体_GB2312" pitchFamily="49" charset="-122"/>
              </a:rPr>
              <a:t>不存在对任何键的部分依赖</a:t>
            </a:r>
            <a:endParaRPr lang="zh-CN" altLang="en-US" sz="2000" b="1" dirty="0">
              <a:latin typeface="楷体_GB2312" pitchFamily="49" charset="-122"/>
              <a:ea typeface="楷体_GB2312" pitchFamily="49" charset="-122"/>
            </a:endParaRPr>
          </a:p>
          <a:p>
            <a:pPr lvl="1" eaLnBrk="1" hangingPunct="1">
              <a:lnSpc>
                <a:spcPct val="90000"/>
              </a:lnSpc>
            </a:pPr>
            <a:r>
              <a:rPr lang="zh-CN" altLang="en-US" sz="2000" b="1" dirty="0">
                <a:latin typeface="楷体_GB2312" pitchFamily="49" charset="-122"/>
                <a:ea typeface="楷体_GB2312" pitchFamily="49" charset="-122"/>
              </a:rPr>
              <a:t>该关系不是</a:t>
            </a:r>
            <a:r>
              <a:rPr lang="en-US" altLang="zh-CN" sz="2000" b="1" dirty="0">
                <a:latin typeface="楷体_GB2312" pitchFamily="49" charset="-122"/>
                <a:ea typeface="楷体_GB2312" pitchFamily="49" charset="-122"/>
              </a:rPr>
              <a:t>3NF</a:t>
            </a:r>
            <a:r>
              <a:rPr lang="zh-CN" altLang="en-US" sz="2000" b="1" dirty="0">
                <a:latin typeface="楷体_GB2312" pitchFamily="49" charset="-122"/>
                <a:ea typeface="楷体_GB2312" pitchFamily="49" charset="-122"/>
              </a:rPr>
              <a:t>，因为存在非主属性对键的传递依赖</a:t>
            </a:r>
            <a:r>
              <a:rPr lang="en-US" altLang="zh-CN" sz="2000" b="1" dirty="0">
                <a:latin typeface="楷体_GB2312" pitchFamily="49" charset="-122"/>
                <a:ea typeface="楷体_GB2312" pitchFamily="49" charset="-122"/>
              </a:rPr>
              <a:t>C</a:t>
            </a:r>
            <a:r>
              <a:rPr lang="en-US" altLang="zh-CN" sz="2000" b="1" dirty="0">
                <a:latin typeface="楷体_GB2312" pitchFamily="49" charset="-122"/>
                <a:ea typeface="楷体_GB2312" pitchFamily="49" charset="-122"/>
                <a:sym typeface="Symbol" panose="05050102010706020507" pitchFamily="18" charset="2"/>
              </a:rPr>
              <a:t>D</a:t>
            </a:r>
            <a:endParaRPr lang="zh-CN" altLang="en-US" sz="18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3939">
                                            <p:txEl>
                                              <p:charRg st="57" end="74"/>
                                            </p:txEl>
                                          </p:spTgt>
                                        </p:tgtEl>
                                        <p:attrNameLst>
                                          <p:attrName>style.visibility</p:attrName>
                                        </p:attrNameLst>
                                      </p:cBhvr>
                                      <p:to>
                                        <p:strVal val="visible"/>
                                      </p:to>
                                    </p:set>
                                    <p:anim calcmode="lin" valueType="num">
                                      <p:cBhvr additive="base">
                                        <p:cTn id="7" dur="500" fill="hold"/>
                                        <p:tgtEl>
                                          <p:spTgt spid="423939">
                                            <p:txEl>
                                              <p:charRg st="57" end="7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3939">
                                            <p:txEl>
                                              <p:charRg st="57" end="7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3939">
                                            <p:txEl>
                                              <p:charRg st="74" end="93"/>
                                            </p:txEl>
                                          </p:spTgt>
                                        </p:tgtEl>
                                        <p:attrNameLst>
                                          <p:attrName>style.visibility</p:attrName>
                                        </p:attrNameLst>
                                      </p:cBhvr>
                                      <p:to>
                                        <p:strVal val="visible"/>
                                      </p:to>
                                    </p:set>
                                    <p:anim calcmode="lin" valueType="num">
                                      <p:cBhvr additive="base">
                                        <p:cTn id="11" dur="500" fill="hold"/>
                                        <p:tgtEl>
                                          <p:spTgt spid="423939">
                                            <p:txEl>
                                              <p:charRg st="74" end="9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23939">
                                            <p:txEl>
                                              <p:charRg st="74" end="9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23939">
                                            <p:txEl>
                                              <p:charRg st="93" end="114"/>
                                            </p:txEl>
                                          </p:spTgt>
                                        </p:tgtEl>
                                        <p:attrNameLst>
                                          <p:attrName>style.visibility</p:attrName>
                                        </p:attrNameLst>
                                      </p:cBhvr>
                                      <p:to>
                                        <p:strVal val="visible"/>
                                      </p:to>
                                    </p:set>
                                    <p:anim calcmode="lin" valueType="num">
                                      <p:cBhvr additive="base">
                                        <p:cTn id="15" dur="500" fill="hold"/>
                                        <p:tgtEl>
                                          <p:spTgt spid="423939">
                                            <p:txEl>
                                              <p:charRg st="93" end="11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23939">
                                            <p:txEl>
                                              <p:charRg st="93" end="11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23939">
                                            <p:txEl>
                                              <p:charRg st="114" end="158"/>
                                            </p:txEl>
                                          </p:spTgt>
                                        </p:tgtEl>
                                        <p:attrNameLst>
                                          <p:attrName>style.visibility</p:attrName>
                                        </p:attrNameLst>
                                      </p:cBhvr>
                                      <p:to>
                                        <p:strVal val="visible"/>
                                      </p:to>
                                    </p:set>
                                    <p:anim calcmode="lin" valueType="num">
                                      <p:cBhvr additive="base">
                                        <p:cTn id="19" dur="500" fill="hold"/>
                                        <p:tgtEl>
                                          <p:spTgt spid="423939">
                                            <p:txEl>
                                              <p:charRg st="114" end="15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3939">
                                            <p:txEl>
                                              <p:charRg st="114" end="15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23939">
                                            <p:txEl>
                                              <p:charRg st="158" end="181"/>
                                            </p:txEl>
                                          </p:spTgt>
                                        </p:tgtEl>
                                        <p:attrNameLst>
                                          <p:attrName>style.visibility</p:attrName>
                                        </p:attrNameLst>
                                      </p:cBhvr>
                                      <p:to>
                                        <p:strVal val="visible"/>
                                      </p:to>
                                    </p:set>
                                    <p:anim calcmode="lin" valueType="num">
                                      <p:cBhvr additive="base">
                                        <p:cTn id="23" dur="500" fill="hold"/>
                                        <p:tgtEl>
                                          <p:spTgt spid="423939">
                                            <p:txEl>
                                              <p:charRg st="158" end="18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23939">
                                            <p:txEl>
                                              <p:charRg st="158" end="18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23939">
                                            <p:txEl>
                                              <p:charRg st="181" end="198"/>
                                            </p:txEl>
                                          </p:spTgt>
                                        </p:tgtEl>
                                        <p:attrNameLst>
                                          <p:attrName>style.visibility</p:attrName>
                                        </p:attrNameLst>
                                      </p:cBhvr>
                                      <p:to>
                                        <p:strVal val="visible"/>
                                      </p:to>
                                    </p:set>
                                    <p:anim calcmode="lin" valueType="num">
                                      <p:cBhvr additive="base">
                                        <p:cTn id="27" dur="500" fill="hold"/>
                                        <p:tgtEl>
                                          <p:spTgt spid="423939">
                                            <p:txEl>
                                              <p:charRg st="181" end="19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23939">
                                            <p:txEl>
                                              <p:charRg st="181" end="19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23939">
                                            <p:txEl>
                                              <p:charRg st="198" end="228"/>
                                            </p:txEl>
                                          </p:spTgt>
                                        </p:tgtEl>
                                        <p:attrNameLst>
                                          <p:attrName>style.visibility</p:attrName>
                                        </p:attrNameLst>
                                      </p:cBhvr>
                                      <p:to>
                                        <p:strVal val="visible"/>
                                      </p:to>
                                    </p:set>
                                    <p:anim calcmode="lin" valueType="num">
                                      <p:cBhvr additive="base">
                                        <p:cTn id="31" dur="500" fill="hold"/>
                                        <p:tgtEl>
                                          <p:spTgt spid="423939">
                                            <p:txEl>
                                              <p:charRg st="198" end="22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23939">
                                            <p:txEl>
                                              <p:charRg st="198" end="22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23939">
                                            <p:txEl>
                                              <p:charRg st="228" end="254"/>
                                            </p:txEl>
                                          </p:spTgt>
                                        </p:tgtEl>
                                        <p:attrNameLst>
                                          <p:attrName>style.visibility</p:attrName>
                                        </p:attrNameLst>
                                      </p:cBhvr>
                                      <p:to>
                                        <p:strVal val="visible"/>
                                      </p:to>
                                    </p:set>
                                    <p:anim calcmode="lin" valueType="num">
                                      <p:cBhvr additive="base">
                                        <p:cTn id="35" dur="500" fill="hold"/>
                                        <p:tgtEl>
                                          <p:spTgt spid="423939">
                                            <p:txEl>
                                              <p:charRg st="228" end="25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23939">
                                            <p:txEl>
                                              <p:charRg st="228" end="25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23939">
                                            <p:txEl>
                                              <p:charRg st="254" end="282"/>
                                            </p:txEl>
                                          </p:spTgt>
                                        </p:tgtEl>
                                        <p:attrNameLst>
                                          <p:attrName>style.visibility</p:attrName>
                                        </p:attrNameLst>
                                      </p:cBhvr>
                                      <p:to>
                                        <p:strVal val="visible"/>
                                      </p:to>
                                    </p:set>
                                    <p:anim calcmode="lin" valueType="num">
                                      <p:cBhvr additive="base">
                                        <p:cTn id="39" dur="500" fill="hold"/>
                                        <p:tgtEl>
                                          <p:spTgt spid="423939">
                                            <p:txEl>
                                              <p:charRg st="254" end="28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23939">
                                            <p:txEl>
                                              <p:charRg st="254" end="28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4802" name="Rectangle 2"/>
          <p:cNvSpPr>
            <a:spLocks noGrp="1"/>
          </p:cNvSpPr>
          <p:nvPr>
            <p:ph idx="1"/>
          </p:nvPr>
        </p:nvSpPr>
        <p:spPr>
          <a:xfrm>
            <a:off x="468313" y="1700213"/>
            <a:ext cx="7772400" cy="1524000"/>
          </a:xfrm>
          <a:ln/>
        </p:spPr>
        <p:txBody>
          <a:bodyPr vert="horz" wrap="square" lIns="91440" tIns="45720" rIns="91440" bIns="45720" anchor="t" anchorCtr="0"/>
          <a:p>
            <a:pPr eaLnBrk="1" hangingPunct="1">
              <a:lnSpc>
                <a:spcPct val="90000"/>
              </a:lnSpc>
              <a:buNone/>
            </a:pPr>
            <a:r>
              <a:rPr lang="zh-CN" altLang="en-US" dirty="0">
                <a:latin typeface="楷体_GB2312" pitchFamily="49" charset="-122"/>
                <a:ea typeface="楷体_GB2312" pitchFamily="49" charset="-122"/>
              </a:rPr>
              <a:t>例</a:t>
            </a:r>
            <a:r>
              <a:rPr lang="en-US" altLang="zh-CN" dirty="0">
                <a:latin typeface="楷体_GB2312" pitchFamily="49" charset="-122"/>
                <a:ea typeface="楷体_GB2312" pitchFamily="49" charset="-122"/>
              </a:rPr>
              <a:t>2:</a:t>
            </a:r>
            <a:r>
              <a:rPr lang="zh-CN" altLang="en-US" dirty="0">
                <a:latin typeface="楷体_GB2312" pitchFamily="49" charset="-122"/>
                <a:ea typeface="楷体_GB2312" pitchFamily="49" charset="-122"/>
              </a:rPr>
              <a:t>已知关系</a:t>
            </a:r>
            <a:r>
              <a:rPr lang="en-US" altLang="zh-CN" dirty="0">
                <a:latin typeface="楷体_GB2312" pitchFamily="49" charset="-122"/>
                <a:ea typeface="楷体_GB2312" pitchFamily="49" charset="-122"/>
              </a:rPr>
              <a:t>R</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A,B,C,D,E,G</a:t>
            </a:r>
            <a:r>
              <a:rPr lang="zh-CN" altLang="en-US" dirty="0">
                <a:latin typeface="楷体_GB2312" pitchFamily="49" charset="-122"/>
                <a:ea typeface="楷体_GB2312" pitchFamily="49" charset="-122"/>
              </a:rPr>
              <a:t>）和</a:t>
            </a:r>
            <a:r>
              <a:rPr lang="en-US" altLang="zh-CN" dirty="0">
                <a:latin typeface="楷体_GB2312" pitchFamily="49" charset="-122"/>
                <a:ea typeface="楷体_GB2312" pitchFamily="49" charset="-122"/>
              </a:rPr>
              <a:t>F={A</a:t>
            </a:r>
            <a:r>
              <a:rPr lang="en-US" altLang="zh-CN" dirty="0">
                <a:latin typeface="楷体_GB2312" pitchFamily="49" charset="-122"/>
                <a:ea typeface="楷体_GB2312" pitchFamily="49" charset="-122"/>
                <a:sym typeface="Symbol" panose="05050102010706020507" pitchFamily="18" charset="2"/>
              </a:rPr>
              <a:t>B,C DG,ACE,DG},</a:t>
            </a:r>
            <a:r>
              <a:rPr lang="zh-CN" altLang="en-US" dirty="0">
                <a:latin typeface="楷体_GB2312" pitchFamily="49" charset="-122"/>
                <a:ea typeface="楷体_GB2312" pitchFamily="49" charset="-122"/>
                <a:sym typeface="Symbol" panose="05050102010706020507" pitchFamily="18" charset="2"/>
              </a:rPr>
              <a:t>该关系最高为第几范式？</a:t>
            </a:r>
            <a:endParaRPr lang="zh-CN" altLang="en-US" dirty="0">
              <a:latin typeface="楷体_GB2312" pitchFamily="49" charset="-122"/>
              <a:ea typeface="楷体_GB2312" pitchFamily="49" charset="-122"/>
              <a:sym typeface="Symbol" panose="05050102010706020507" pitchFamily="18" charset="2"/>
            </a:endParaRPr>
          </a:p>
        </p:txBody>
      </p:sp>
      <p:sp>
        <p:nvSpPr>
          <p:cNvPr id="428035" name="Text Box 3"/>
          <p:cNvSpPr txBox="1"/>
          <p:nvPr/>
        </p:nvSpPr>
        <p:spPr>
          <a:xfrm>
            <a:off x="152400" y="2795588"/>
            <a:ext cx="8837613" cy="3213100"/>
          </a:xfrm>
          <a:prstGeom prst="rect">
            <a:avLst/>
          </a:prstGeom>
          <a:solidFill>
            <a:srgbClr val="FFFF00"/>
          </a:solid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spcBef>
                <a:spcPct val="0"/>
              </a:spcBef>
              <a:buNone/>
            </a:pPr>
            <a:r>
              <a:rPr lang="zh-CN" altLang="en-US" sz="3600" dirty="0">
                <a:solidFill>
                  <a:srgbClr val="000000"/>
                </a:solidFill>
                <a:latin typeface="楷体_GB2312" pitchFamily="49" charset="-122"/>
                <a:ea typeface="楷体_GB2312" pitchFamily="49" charset="-122"/>
              </a:rPr>
              <a:t>解：</a:t>
            </a:r>
            <a:endParaRPr lang="zh-CN" altLang="en-US" sz="3600" dirty="0">
              <a:solidFill>
                <a:srgbClr val="000000"/>
              </a:solidFill>
              <a:latin typeface="楷体_GB2312" pitchFamily="49" charset="-122"/>
              <a:ea typeface="楷体_GB2312" pitchFamily="49" charset="-122"/>
            </a:endParaRPr>
          </a:p>
          <a:p>
            <a:pPr marL="273050" lvl="0" indent="-273050" eaLnBrk="1" hangingPunct="1">
              <a:spcBef>
                <a:spcPct val="0"/>
              </a:spcBef>
            </a:pPr>
            <a:r>
              <a:rPr lang="zh-CN" altLang="en-US" dirty="0">
                <a:solidFill>
                  <a:srgbClr val="000000"/>
                </a:solidFill>
                <a:latin typeface="楷体_GB2312" pitchFamily="49" charset="-122"/>
                <a:ea typeface="楷体_GB2312" pitchFamily="49" charset="-122"/>
              </a:rPr>
              <a:t>该关系的键为</a:t>
            </a:r>
            <a:r>
              <a:rPr lang="en-US" altLang="zh-CN" dirty="0">
                <a:solidFill>
                  <a:srgbClr val="000000"/>
                </a:solidFill>
                <a:latin typeface="楷体_GB2312" pitchFamily="49" charset="-122"/>
                <a:ea typeface="楷体_GB2312" pitchFamily="49" charset="-122"/>
              </a:rPr>
              <a:t>AC</a:t>
            </a:r>
            <a:r>
              <a:rPr lang="zh-CN" altLang="en-US" dirty="0">
                <a:solidFill>
                  <a:srgbClr val="000000"/>
                </a:solidFill>
                <a:latin typeface="楷体_GB2312" pitchFamily="49" charset="-122"/>
                <a:ea typeface="楷体_GB2312" pitchFamily="49" charset="-122"/>
              </a:rPr>
              <a:t>，因为</a:t>
            </a:r>
            <a:r>
              <a:rPr lang="en-US" altLang="zh-CN" dirty="0">
                <a:solidFill>
                  <a:srgbClr val="000000"/>
                </a:solidFill>
                <a:latin typeface="楷体_GB2312" pitchFamily="49" charset="-122"/>
                <a:ea typeface="楷体_GB2312" pitchFamily="49" charset="-122"/>
              </a:rPr>
              <a:t>(AC)</a:t>
            </a:r>
            <a:r>
              <a:rPr lang="en-US" altLang="zh-CN" baseline="30000" dirty="0">
                <a:solidFill>
                  <a:srgbClr val="000000"/>
                </a:solidFill>
                <a:latin typeface="楷体_GB2312" pitchFamily="49" charset="-122"/>
                <a:ea typeface="楷体_GB2312" pitchFamily="49" charset="-122"/>
              </a:rPr>
              <a:t>+</a:t>
            </a:r>
            <a:r>
              <a:rPr lang="en-US" altLang="zh-CN" dirty="0">
                <a:solidFill>
                  <a:srgbClr val="000000"/>
                </a:solidFill>
                <a:latin typeface="楷体_GB2312" pitchFamily="49" charset="-122"/>
                <a:ea typeface="楷体_GB2312" pitchFamily="49" charset="-122"/>
              </a:rPr>
              <a:t>={ACBDGE}</a:t>
            </a:r>
            <a:endParaRPr lang="en-US" altLang="zh-CN" dirty="0">
              <a:solidFill>
                <a:srgbClr val="000000"/>
              </a:solidFill>
              <a:latin typeface="楷体_GB2312" pitchFamily="49" charset="-122"/>
              <a:ea typeface="楷体_GB2312" pitchFamily="49" charset="-122"/>
            </a:endParaRPr>
          </a:p>
          <a:p>
            <a:pPr marL="273050" lvl="0" indent="-273050" eaLnBrk="1" hangingPunct="1">
              <a:spcBef>
                <a:spcPct val="0"/>
              </a:spcBef>
            </a:pPr>
            <a:r>
              <a:rPr lang="zh-CN" altLang="en-US" dirty="0">
                <a:solidFill>
                  <a:srgbClr val="000000"/>
                </a:solidFill>
                <a:latin typeface="楷体_GB2312" pitchFamily="49" charset="-122"/>
                <a:ea typeface="楷体_GB2312" pitchFamily="49" charset="-122"/>
              </a:rPr>
              <a:t>主属性为：</a:t>
            </a:r>
            <a:r>
              <a:rPr lang="en-US" altLang="zh-CN" dirty="0">
                <a:solidFill>
                  <a:srgbClr val="000000"/>
                </a:solidFill>
                <a:latin typeface="楷体_GB2312" pitchFamily="49" charset="-122"/>
                <a:ea typeface="楷体_GB2312" pitchFamily="49" charset="-122"/>
              </a:rPr>
              <a:t>A</a:t>
            </a:r>
            <a:r>
              <a:rPr lang="zh-CN" altLang="en-US" dirty="0">
                <a:solidFill>
                  <a:srgbClr val="000000"/>
                </a:solidFill>
                <a:latin typeface="楷体_GB2312" pitchFamily="49" charset="-122"/>
                <a:ea typeface="楷体_GB2312" pitchFamily="49" charset="-122"/>
              </a:rPr>
              <a:t>、</a:t>
            </a:r>
            <a:r>
              <a:rPr lang="en-US" altLang="zh-CN" dirty="0">
                <a:solidFill>
                  <a:srgbClr val="000000"/>
                </a:solidFill>
                <a:latin typeface="楷体_GB2312" pitchFamily="49" charset="-122"/>
                <a:ea typeface="楷体_GB2312" pitchFamily="49" charset="-122"/>
              </a:rPr>
              <a:t>C</a:t>
            </a:r>
            <a:endParaRPr lang="en-US" altLang="zh-CN" dirty="0">
              <a:solidFill>
                <a:srgbClr val="000000"/>
              </a:solidFill>
              <a:latin typeface="楷体_GB2312" pitchFamily="49" charset="-122"/>
              <a:ea typeface="楷体_GB2312" pitchFamily="49" charset="-122"/>
            </a:endParaRPr>
          </a:p>
          <a:p>
            <a:pPr marL="273050" lvl="0" indent="-273050" eaLnBrk="1" hangingPunct="1">
              <a:spcBef>
                <a:spcPct val="0"/>
              </a:spcBef>
            </a:pPr>
            <a:r>
              <a:rPr lang="zh-CN" altLang="en-US" dirty="0">
                <a:solidFill>
                  <a:srgbClr val="000000"/>
                </a:solidFill>
                <a:latin typeface="楷体_GB2312" pitchFamily="49" charset="-122"/>
                <a:ea typeface="楷体_GB2312" pitchFamily="49" charset="-122"/>
              </a:rPr>
              <a:t>非主属性为：</a:t>
            </a:r>
            <a:r>
              <a:rPr lang="en-US" altLang="zh-CN" dirty="0">
                <a:solidFill>
                  <a:srgbClr val="000000"/>
                </a:solidFill>
                <a:latin typeface="楷体_GB2312" pitchFamily="49" charset="-122"/>
                <a:ea typeface="楷体_GB2312" pitchFamily="49" charset="-122"/>
              </a:rPr>
              <a:t>B,D,E,G</a:t>
            </a:r>
            <a:endParaRPr lang="en-US" altLang="zh-CN" dirty="0">
              <a:solidFill>
                <a:srgbClr val="000000"/>
              </a:solidFill>
              <a:latin typeface="楷体_GB2312" pitchFamily="49" charset="-122"/>
              <a:ea typeface="楷体_GB2312" pitchFamily="49" charset="-122"/>
            </a:endParaRPr>
          </a:p>
          <a:p>
            <a:pPr marL="273050" lvl="0" indent="-273050" eaLnBrk="1" hangingPunct="1">
              <a:spcBef>
                <a:spcPct val="0"/>
              </a:spcBef>
            </a:pPr>
            <a:r>
              <a:rPr lang="zh-CN" altLang="en-US" dirty="0">
                <a:solidFill>
                  <a:srgbClr val="000000"/>
                </a:solidFill>
                <a:latin typeface="楷体_GB2312" pitchFamily="49" charset="-122"/>
                <a:ea typeface="楷体_GB2312" pitchFamily="49" charset="-122"/>
              </a:rPr>
              <a:t>该关系明显满足</a:t>
            </a:r>
            <a:r>
              <a:rPr lang="en-US" altLang="zh-CN" dirty="0">
                <a:solidFill>
                  <a:srgbClr val="000000"/>
                </a:solidFill>
                <a:latin typeface="楷体_GB2312" pitchFamily="49" charset="-122"/>
                <a:ea typeface="楷体_GB2312" pitchFamily="49" charset="-122"/>
              </a:rPr>
              <a:t>1NF</a:t>
            </a:r>
            <a:r>
              <a:rPr lang="zh-CN" altLang="en-US" dirty="0">
                <a:solidFill>
                  <a:srgbClr val="000000"/>
                </a:solidFill>
                <a:latin typeface="楷体_GB2312" pitchFamily="49" charset="-122"/>
                <a:ea typeface="楷体_GB2312" pitchFamily="49" charset="-122"/>
              </a:rPr>
              <a:t>，但是由于</a:t>
            </a:r>
            <a:r>
              <a:rPr lang="en-US" altLang="zh-CN" dirty="0">
                <a:solidFill>
                  <a:srgbClr val="000000"/>
                </a:solidFill>
                <a:latin typeface="楷体_GB2312" pitchFamily="49" charset="-122"/>
                <a:ea typeface="楷体_GB2312" pitchFamily="49" charset="-122"/>
              </a:rPr>
              <a:t>A</a:t>
            </a:r>
            <a:r>
              <a:rPr lang="en-US" altLang="zh-CN" dirty="0">
                <a:solidFill>
                  <a:srgbClr val="000000"/>
                </a:solidFill>
                <a:latin typeface="楷体_GB2312" pitchFamily="49" charset="-122"/>
                <a:ea typeface="楷体_GB2312" pitchFamily="49" charset="-122"/>
                <a:sym typeface="Symbol" panose="05050102010706020507" pitchFamily="18" charset="2"/>
              </a:rPr>
              <a:t>B,C DG</a:t>
            </a:r>
            <a:r>
              <a:rPr lang="zh-CN" altLang="en-US" dirty="0">
                <a:solidFill>
                  <a:srgbClr val="000000"/>
                </a:solidFill>
                <a:latin typeface="楷体_GB2312" pitchFamily="49" charset="-122"/>
                <a:ea typeface="楷体_GB2312" pitchFamily="49" charset="-122"/>
                <a:sym typeface="Symbol" panose="05050102010706020507" pitchFamily="18" charset="2"/>
              </a:rPr>
              <a:t>存在非主属性对键的部分函数依赖，所以该关系不是</a:t>
            </a:r>
            <a:r>
              <a:rPr lang="en-US" altLang="zh-CN" dirty="0">
                <a:solidFill>
                  <a:srgbClr val="000000"/>
                </a:solidFill>
                <a:latin typeface="楷体_GB2312" pitchFamily="49" charset="-122"/>
                <a:ea typeface="楷体_GB2312" pitchFamily="49" charset="-122"/>
                <a:sym typeface="Symbol" panose="05050102010706020507" pitchFamily="18" charset="2"/>
              </a:rPr>
              <a:t>2NF</a:t>
            </a:r>
            <a:endParaRPr lang="en-US" altLang="zh-CN" dirty="0">
              <a:solidFill>
                <a:srgbClr val="000000"/>
              </a:solidFill>
              <a:latin typeface="楷体_GB2312" pitchFamily="49" charset="-122"/>
              <a:ea typeface="楷体_GB2312" pitchFamily="49" charset="-122"/>
              <a:sym typeface="Symbol" panose="05050102010706020507" pitchFamily="18" charset="2"/>
            </a:endParaRPr>
          </a:p>
          <a:p>
            <a:pPr marL="273050" lvl="0" indent="-273050" eaLnBrk="1" hangingPunct="1">
              <a:spcBef>
                <a:spcPct val="0"/>
              </a:spcBef>
            </a:pPr>
            <a:r>
              <a:rPr lang="zh-CN" altLang="en-US" dirty="0">
                <a:solidFill>
                  <a:srgbClr val="000000"/>
                </a:solidFill>
                <a:latin typeface="楷体_GB2312" pitchFamily="49" charset="-122"/>
                <a:ea typeface="楷体_GB2312" pitchFamily="49" charset="-122"/>
                <a:sym typeface="Symbol" panose="05050102010706020507" pitchFamily="18" charset="2"/>
              </a:rPr>
              <a:t>所以</a:t>
            </a:r>
            <a:r>
              <a:rPr lang="en-US" altLang="zh-CN" dirty="0">
                <a:solidFill>
                  <a:srgbClr val="000000"/>
                </a:solidFill>
                <a:latin typeface="楷体_GB2312" pitchFamily="49" charset="-122"/>
                <a:ea typeface="楷体_GB2312" pitchFamily="49" charset="-122"/>
                <a:sym typeface="Symbol" panose="05050102010706020507" pitchFamily="18" charset="2"/>
              </a:rPr>
              <a:t>R</a:t>
            </a:r>
            <a:r>
              <a:rPr lang="zh-CN" altLang="en-US" dirty="0">
                <a:solidFill>
                  <a:srgbClr val="000000"/>
                </a:solidFill>
                <a:latin typeface="楷体_GB2312" pitchFamily="49" charset="-122"/>
                <a:ea typeface="楷体_GB2312" pitchFamily="49" charset="-122"/>
                <a:sym typeface="Symbol" panose="05050102010706020507" pitchFamily="18" charset="2"/>
              </a:rPr>
              <a:t>满足的最高范式是</a:t>
            </a:r>
            <a:r>
              <a:rPr lang="en-US" altLang="zh-CN" dirty="0">
                <a:solidFill>
                  <a:srgbClr val="000000"/>
                </a:solidFill>
                <a:latin typeface="楷体_GB2312" pitchFamily="49" charset="-122"/>
                <a:ea typeface="楷体_GB2312" pitchFamily="49" charset="-122"/>
                <a:sym typeface="Symbol" panose="05050102010706020507" pitchFamily="18" charset="2"/>
              </a:rPr>
              <a:t>1NF</a:t>
            </a:r>
            <a:r>
              <a:rPr lang="zh-CN" altLang="en-US" dirty="0">
                <a:solidFill>
                  <a:srgbClr val="000000"/>
                </a:solidFill>
                <a:latin typeface="楷体_GB2312" pitchFamily="49" charset="-122"/>
                <a:ea typeface="楷体_GB2312" pitchFamily="49" charset="-122"/>
                <a:sym typeface="Symbol" panose="05050102010706020507" pitchFamily="18" charset="2"/>
              </a:rPr>
              <a:t>。</a:t>
            </a:r>
            <a:endParaRPr lang="zh-CN" altLang="en-US" dirty="0">
              <a:solidFill>
                <a:srgbClr val="000000"/>
              </a:solidFill>
              <a:latin typeface="楷体_GB2312" pitchFamily="49" charset="-122"/>
              <a:ea typeface="楷体_GB2312" pitchFamily="49" charset="-122"/>
            </a:endParaRPr>
          </a:p>
        </p:txBody>
      </p:sp>
      <p:sp>
        <p:nvSpPr>
          <p:cNvPr id="204804" name="Rectangle 4"/>
          <p:cNvSpPr>
            <a:spLocks noGrp="1"/>
          </p:cNvSpPr>
          <p:nvPr>
            <p:ph type="title"/>
          </p:nvPr>
        </p:nvSpPr>
        <p:spPr>
          <a:xfrm>
            <a:off x="1116013" y="333375"/>
            <a:ext cx="7086600" cy="731838"/>
          </a:xfrm>
          <a:ln/>
        </p:spPr>
        <p:txBody>
          <a:bodyPr vert="horz" wrap="square" lIns="91440" tIns="45720" rIns="91440" bIns="45720" anchor="ctr" anchorCtr="0"/>
          <a:p>
            <a:pPr eaLnBrk="1" hangingPunct="1"/>
            <a:r>
              <a:rPr lang="zh-CN" altLang="en-US" b="1" dirty="0"/>
              <a:t>判断范式级别：</a:t>
            </a:r>
            <a:r>
              <a:rPr lang="zh-CN" altLang="en-US" dirty="0"/>
              <a:t>举例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8035"/>
                                        </p:tgtEl>
                                        <p:attrNameLst>
                                          <p:attrName>style.visibility</p:attrName>
                                        </p:attrNameLst>
                                      </p:cBhvr>
                                      <p:to>
                                        <p:strVal val="visible"/>
                                      </p:to>
                                    </p:set>
                                    <p:animEffect transition="in" filter="wipe(down)">
                                      <p:cBhvr>
                                        <p:cTn id="7" dur="500"/>
                                        <p:tgtEl>
                                          <p:spTgt spid="428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animBg="1"/>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6850" name="Rectangle 2"/>
          <p:cNvSpPr>
            <a:spLocks noGrp="1"/>
          </p:cNvSpPr>
          <p:nvPr>
            <p:ph idx="1"/>
          </p:nvPr>
        </p:nvSpPr>
        <p:spPr>
          <a:xfrm>
            <a:off x="539750" y="2708275"/>
            <a:ext cx="7772400" cy="3889375"/>
          </a:xfrm>
          <a:ln/>
        </p:spPr>
        <p:txBody>
          <a:bodyPr vert="horz" wrap="square" lIns="91440" tIns="45720" rIns="91440" bIns="45720" anchor="t" anchorCtr="0"/>
          <a:p>
            <a:pPr eaLnBrk="1" hangingPunct="1">
              <a:buNone/>
            </a:pPr>
            <a:r>
              <a:rPr lang="zh-CN" altLang="en-US" b="1" dirty="0">
                <a:latin typeface="楷体_GB2312" pitchFamily="49" charset="-122"/>
                <a:ea typeface="楷体_GB2312" pitchFamily="49" charset="-122"/>
              </a:rPr>
              <a:t>解：该关系的键是：</a:t>
            </a:r>
            <a:r>
              <a:rPr lang="en-US" altLang="zh-CN" b="1" dirty="0">
                <a:latin typeface="楷体_GB2312" pitchFamily="49" charset="-122"/>
                <a:ea typeface="楷体_GB2312" pitchFamily="49" charset="-122"/>
              </a:rPr>
              <a:t>AB</a:t>
            </a:r>
            <a:r>
              <a:rPr lang="zh-CN" altLang="en-US" b="1" dirty="0">
                <a:latin typeface="楷体_GB2312" pitchFamily="49" charset="-122"/>
                <a:ea typeface="楷体_GB2312" pitchFamily="49" charset="-122"/>
              </a:rPr>
              <a:t>和</a:t>
            </a:r>
            <a:r>
              <a:rPr lang="en-US" altLang="zh-CN" b="1" dirty="0">
                <a:latin typeface="楷体_GB2312" pitchFamily="49" charset="-122"/>
                <a:ea typeface="楷体_GB2312" pitchFamily="49" charset="-122"/>
              </a:rPr>
              <a:t>AC</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eaLnBrk="1" hangingPunct="1"/>
            <a:r>
              <a:rPr lang="zh-CN" altLang="en-US" b="1" dirty="0">
                <a:latin typeface="楷体_GB2312" pitchFamily="49" charset="-122"/>
                <a:ea typeface="楷体_GB2312" pitchFamily="49" charset="-122"/>
              </a:rPr>
              <a:t>主属性是</a:t>
            </a:r>
            <a:r>
              <a:rPr lang="en-US" altLang="zh-CN" b="1" dirty="0">
                <a:latin typeface="楷体_GB2312" pitchFamily="49" charset="-122"/>
                <a:ea typeface="楷体_GB2312" pitchFamily="49" charset="-122"/>
              </a:rPr>
              <a:t>{ABC},</a:t>
            </a:r>
            <a:r>
              <a:rPr lang="zh-CN" altLang="en-US" b="1" dirty="0">
                <a:latin typeface="楷体_GB2312" pitchFamily="49" charset="-122"/>
                <a:ea typeface="楷体_GB2312" pitchFamily="49" charset="-122"/>
              </a:rPr>
              <a:t>非主属性是</a:t>
            </a:r>
            <a:r>
              <a:rPr lang="en-US" altLang="zh-CN" b="1" dirty="0">
                <a:latin typeface="楷体_GB2312" pitchFamily="49" charset="-122"/>
                <a:ea typeface="楷体_GB2312" pitchFamily="49" charset="-122"/>
              </a:rPr>
              <a:t>{D}</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eaLnBrk="1" hangingPunct="1"/>
            <a:r>
              <a:rPr lang="en-US" altLang="zh-CN" b="1" dirty="0">
                <a:latin typeface="楷体_GB2312" pitchFamily="49" charset="-122"/>
                <a:ea typeface="楷体_GB2312" pitchFamily="49" charset="-122"/>
              </a:rPr>
              <a:t>D</a:t>
            </a:r>
            <a:r>
              <a:rPr lang="zh-CN" altLang="en-US" b="1" dirty="0">
                <a:latin typeface="楷体_GB2312" pitchFamily="49" charset="-122"/>
                <a:ea typeface="楷体_GB2312" pitchFamily="49" charset="-122"/>
              </a:rPr>
              <a:t>不部分依赖于任何键，所以该关系在</a:t>
            </a:r>
            <a:r>
              <a:rPr lang="en-US" altLang="zh-CN" b="1" dirty="0">
                <a:latin typeface="楷体_GB2312" pitchFamily="49" charset="-122"/>
                <a:ea typeface="楷体_GB2312" pitchFamily="49" charset="-122"/>
              </a:rPr>
              <a:t>2NF</a:t>
            </a:r>
            <a:r>
              <a:rPr lang="zh-CN" altLang="en-US" b="1" dirty="0">
                <a:latin typeface="楷体_GB2312" pitchFamily="49" charset="-122"/>
                <a:ea typeface="楷体_GB2312" pitchFamily="49" charset="-122"/>
              </a:rPr>
              <a:t>中。</a:t>
            </a:r>
            <a:endParaRPr lang="zh-CN" altLang="en-US" b="1" dirty="0">
              <a:latin typeface="楷体_GB2312" pitchFamily="49" charset="-122"/>
              <a:ea typeface="楷体_GB2312" pitchFamily="49" charset="-122"/>
            </a:endParaRPr>
          </a:p>
          <a:p>
            <a:pPr eaLnBrk="1" hangingPunct="1"/>
            <a:r>
              <a:rPr lang="zh-CN" altLang="en-US" b="1" dirty="0">
                <a:latin typeface="楷体_GB2312" pitchFamily="49" charset="-122"/>
                <a:ea typeface="楷体_GB2312" pitchFamily="49" charset="-122"/>
              </a:rPr>
              <a:t>该关系也在</a:t>
            </a:r>
            <a:r>
              <a:rPr lang="en-US" altLang="zh-CN" b="1" dirty="0">
                <a:latin typeface="楷体_GB2312" pitchFamily="49" charset="-122"/>
                <a:ea typeface="楷体_GB2312" pitchFamily="49" charset="-122"/>
              </a:rPr>
              <a:t>3NF</a:t>
            </a:r>
            <a:r>
              <a:rPr lang="zh-CN" altLang="en-US" b="1" dirty="0">
                <a:latin typeface="楷体_GB2312" pitchFamily="49" charset="-122"/>
                <a:ea typeface="楷体_GB2312" pitchFamily="49" charset="-122"/>
              </a:rPr>
              <a:t>中，因为只有一个非主属性，从而不可能存在两个不同非主属性间的传递依赖</a:t>
            </a:r>
            <a:r>
              <a:rPr lang="en-US" altLang="zh-CN" b="1" dirty="0">
                <a:solidFill>
                  <a:srgbClr val="FF9933"/>
                </a:solidFill>
                <a:latin typeface="楷体_GB2312" pitchFamily="49" charset="-122"/>
                <a:ea typeface="楷体_GB2312" pitchFamily="49" charset="-122"/>
              </a:rPr>
              <a:t>???</a:t>
            </a:r>
            <a:endParaRPr lang="en-US" altLang="zh-CN" b="1" dirty="0">
              <a:solidFill>
                <a:srgbClr val="FF9933"/>
              </a:solidFill>
              <a:latin typeface="楷体_GB2312" pitchFamily="49" charset="-122"/>
              <a:ea typeface="楷体_GB2312" pitchFamily="49" charset="-122"/>
            </a:endParaRPr>
          </a:p>
          <a:p>
            <a:pPr eaLnBrk="1" hangingPunct="1"/>
            <a:r>
              <a:rPr lang="zh-CN" altLang="en-US" b="1" dirty="0">
                <a:latin typeface="楷体_GB2312" pitchFamily="49" charset="-122"/>
                <a:ea typeface="楷体_GB2312" pitchFamily="49" charset="-122"/>
              </a:rPr>
              <a:t>该关系不在</a:t>
            </a:r>
            <a:r>
              <a:rPr lang="en-US" altLang="zh-CN" b="1" dirty="0">
                <a:latin typeface="楷体_GB2312" pitchFamily="49" charset="-122"/>
                <a:ea typeface="楷体_GB2312" pitchFamily="49" charset="-122"/>
              </a:rPr>
              <a:t>BCNF</a:t>
            </a:r>
            <a:r>
              <a:rPr lang="zh-CN" altLang="en-US" b="1" dirty="0">
                <a:latin typeface="楷体_GB2312" pitchFamily="49" charset="-122"/>
                <a:ea typeface="楷体_GB2312" pitchFamily="49" charset="-122"/>
              </a:rPr>
              <a:t>中，因为有</a:t>
            </a:r>
            <a:r>
              <a:rPr lang="en-US" altLang="zh-CN" b="1" dirty="0">
                <a:solidFill>
                  <a:schemeClr val="folHlink"/>
                </a:solidFill>
                <a:latin typeface="楷体_GB2312" pitchFamily="49" charset="-122"/>
                <a:ea typeface="楷体_GB2312" pitchFamily="49" charset="-122"/>
                <a:sym typeface="Symbol" panose="05050102010706020507" pitchFamily="18" charset="2"/>
              </a:rPr>
              <a:t>BC</a:t>
            </a:r>
            <a:r>
              <a:rPr lang="zh-CN" altLang="en-US" b="1" dirty="0">
                <a:solidFill>
                  <a:schemeClr val="folHlink"/>
                </a:solidFill>
                <a:latin typeface="楷体_GB2312" pitchFamily="49" charset="-122"/>
                <a:ea typeface="楷体_GB2312" pitchFamily="49" charset="-122"/>
                <a:sym typeface="Symbol" panose="05050102010706020507" pitchFamily="18" charset="2"/>
              </a:rPr>
              <a:t>，</a:t>
            </a:r>
            <a:r>
              <a:rPr lang="zh-CN" altLang="en-US" b="1" dirty="0">
                <a:latin typeface="楷体_GB2312" pitchFamily="49" charset="-122"/>
                <a:ea typeface="楷体_GB2312" pitchFamily="49" charset="-122"/>
                <a:sym typeface="Symbol" panose="05050102010706020507" pitchFamily="18" charset="2"/>
              </a:rPr>
              <a:t>而</a:t>
            </a:r>
            <a:r>
              <a:rPr lang="en-US" altLang="zh-CN" b="1" dirty="0">
                <a:latin typeface="楷体_GB2312" pitchFamily="49" charset="-122"/>
                <a:ea typeface="楷体_GB2312" pitchFamily="49" charset="-122"/>
                <a:sym typeface="Symbol" panose="05050102010706020507" pitchFamily="18" charset="2"/>
              </a:rPr>
              <a:t>B</a:t>
            </a:r>
            <a:r>
              <a:rPr lang="zh-CN" altLang="en-US" b="1" dirty="0">
                <a:latin typeface="楷体_GB2312" pitchFamily="49" charset="-122"/>
                <a:ea typeface="楷体_GB2312" pitchFamily="49" charset="-122"/>
                <a:sym typeface="Symbol" panose="05050102010706020507" pitchFamily="18" charset="2"/>
              </a:rPr>
              <a:t>不是</a:t>
            </a:r>
            <a:r>
              <a:rPr lang="en-US" altLang="zh-CN" b="1" dirty="0">
                <a:latin typeface="楷体_GB2312" pitchFamily="49" charset="-122"/>
                <a:ea typeface="楷体_GB2312" pitchFamily="49" charset="-122"/>
                <a:sym typeface="Symbol" panose="05050102010706020507" pitchFamily="18" charset="2"/>
              </a:rPr>
              <a:t>R</a:t>
            </a:r>
            <a:r>
              <a:rPr lang="zh-CN" altLang="en-US" b="1" dirty="0">
                <a:latin typeface="楷体_GB2312" pitchFamily="49" charset="-122"/>
                <a:ea typeface="楷体_GB2312" pitchFamily="49" charset="-122"/>
                <a:sym typeface="Symbol" panose="05050102010706020507" pitchFamily="18" charset="2"/>
              </a:rPr>
              <a:t>的键</a:t>
            </a:r>
            <a:endParaRPr lang="zh-CN" altLang="en-US" b="1" dirty="0">
              <a:latin typeface="楷体_GB2312" pitchFamily="49" charset="-122"/>
              <a:ea typeface="楷体_GB2312" pitchFamily="49" charset="-122"/>
              <a:sym typeface="Symbol" panose="05050102010706020507" pitchFamily="18" charset="2"/>
            </a:endParaRPr>
          </a:p>
        </p:txBody>
      </p:sp>
      <p:sp>
        <p:nvSpPr>
          <p:cNvPr id="206851" name="Rectangle 3"/>
          <p:cNvSpPr/>
          <p:nvPr/>
        </p:nvSpPr>
        <p:spPr>
          <a:xfrm>
            <a:off x="539750" y="1412875"/>
            <a:ext cx="8135938" cy="10668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42900" lvl="0" indent="-342900" eaLnBrk="1" hangingPunct="1">
              <a:lnSpc>
                <a:spcPct val="90000"/>
              </a:lnSpc>
              <a:buClr>
                <a:schemeClr val="folHlink"/>
              </a:buClr>
              <a:buSzPct val="60000"/>
              <a:buFont typeface="Wingdings" panose="05000000000000000000" pitchFamily="2" charset="2"/>
              <a:buNone/>
            </a:pPr>
            <a:r>
              <a:rPr lang="zh-CN" altLang="en-US" sz="3200" dirty="0">
                <a:latin typeface="楷体_GB2312" pitchFamily="49" charset="-122"/>
                <a:ea typeface="楷体_GB2312" pitchFamily="49" charset="-122"/>
              </a:rPr>
              <a:t>例</a:t>
            </a:r>
            <a:r>
              <a:rPr lang="en-US" altLang="zh-CN" sz="3200" dirty="0">
                <a:latin typeface="楷体_GB2312" pitchFamily="49" charset="-122"/>
                <a:ea typeface="楷体_GB2312" pitchFamily="49" charset="-122"/>
              </a:rPr>
              <a:t>3</a:t>
            </a:r>
            <a:r>
              <a:rPr lang="zh-CN" altLang="en-US" sz="3200" dirty="0">
                <a:latin typeface="楷体_GB2312" pitchFamily="49" charset="-122"/>
                <a:ea typeface="楷体_GB2312" pitchFamily="49" charset="-122"/>
              </a:rPr>
              <a:t>：已知关系</a:t>
            </a:r>
            <a:r>
              <a:rPr lang="en-US" altLang="zh-CN" sz="3200" dirty="0">
                <a:latin typeface="楷体_GB2312" pitchFamily="49" charset="-122"/>
                <a:ea typeface="楷体_GB2312" pitchFamily="49" charset="-122"/>
              </a:rPr>
              <a:t>R</a:t>
            </a:r>
            <a:r>
              <a:rPr lang="zh-CN" altLang="en-US" sz="3200" dirty="0">
                <a:latin typeface="楷体_GB2312" pitchFamily="49" charset="-122"/>
                <a:ea typeface="楷体_GB2312" pitchFamily="49" charset="-122"/>
              </a:rPr>
              <a:t>（</a:t>
            </a:r>
            <a:r>
              <a:rPr lang="en-US" altLang="zh-CN" sz="3200" dirty="0">
                <a:latin typeface="楷体_GB2312" pitchFamily="49" charset="-122"/>
                <a:ea typeface="楷体_GB2312" pitchFamily="49" charset="-122"/>
              </a:rPr>
              <a:t>A,B,C,D</a:t>
            </a:r>
            <a:r>
              <a:rPr lang="zh-CN" altLang="en-US" sz="3200" dirty="0">
                <a:latin typeface="楷体_GB2312" pitchFamily="49" charset="-122"/>
                <a:ea typeface="楷体_GB2312" pitchFamily="49" charset="-122"/>
              </a:rPr>
              <a:t>）和</a:t>
            </a:r>
            <a:r>
              <a:rPr lang="en-US" altLang="zh-CN" sz="3200" dirty="0">
                <a:latin typeface="楷体_GB2312" pitchFamily="49" charset="-122"/>
                <a:ea typeface="楷体_GB2312" pitchFamily="49" charset="-122"/>
              </a:rPr>
              <a:t>F={AB</a:t>
            </a:r>
            <a:r>
              <a:rPr lang="en-US" altLang="zh-CN" sz="3200" dirty="0">
                <a:latin typeface="楷体_GB2312" pitchFamily="49" charset="-122"/>
                <a:ea typeface="楷体_GB2312" pitchFamily="49" charset="-122"/>
                <a:sym typeface="Symbol" panose="05050102010706020507" pitchFamily="18" charset="2"/>
              </a:rPr>
              <a:t>D,AC BD,BC},</a:t>
            </a:r>
            <a:r>
              <a:rPr lang="zh-CN" altLang="en-US" sz="3200" dirty="0">
                <a:latin typeface="楷体_GB2312" pitchFamily="49" charset="-122"/>
                <a:ea typeface="楷体_GB2312" pitchFamily="49" charset="-122"/>
                <a:sym typeface="Symbol" panose="05050102010706020507" pitchFamily="18" charset="2"/>
              </a:rPr>
              <a:t>试求出其最高范式？</a:t>
            </a:r>
            <a:endParaRPr lang="zh-CN" altLang="en-US" sz="3200" dirty="0">
              <a:latin typeface="楷体_GB2312" pitchFamily="49" charset="-122"/>
              <a:ea typeface="楷体_GB2312" pitchFamily="49" charset="-122"/>
              <a:sym typeface="Symbol" panose="05050102010706020507" pitchFamily="18" charset="2"/>
            </a:endParaRPr>
          </a:p>
        </p:txBody>
      </p:sp>
      <p:sp>
        <p:nvSpPr>
          <p:cNvPr id="206852" name="Rectangle 4"/>
          <p:cNvSpPr>
            <a:spLocks noGrp="1"/>
          </p:cNvSpPr>
          <p:nvPr>
            <p:ph type="title"/>
          </p:nvPr>
        </p:nvSpPr>
        <p:spPr>
          <a:xfrm>
            <a:off x="1116013" y="333375"/>
            <a:ext cx="7086600" cy="731838"/>
          </a:xfrm>
          <a:ln/>
        </p:spPr>
        <p:txBody>
          <a:bodyPr vert="horz" wrap="square" lIns="91440" tIns="45720" rIns="91440" bIns="45720" anchor="ctr" anchorCtr="0"/>
          <a:p>
            <a:pPr eaLnBrk="1" hangingPunct="1"/>
            <a:r>
              <a:rPr lang="zh-CN" altLang="en-US" b="1" dirty="0"/>
              <a:t>判断范式级别：</a:t>
            </a:r>
            <a:r>
              <a:rPr lang="zh-CN" altLang="en-US" dirty="0"/>
              <a:t>举例</a:t>
            </a: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8898" name="Rectangle 5"/>
          <p:cNvSpPr/>
          <p:nvPr/>
        </p:nvSpPr>
        <p:spPr>
          <a:xfrm>
            <a:off x="827088" y="1773238"/>
            <a:ext cx="7993062"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lnSpc>
                <a:spcPct val="125000"/>
              </a:lnSpc>
              <a:buClr>
                <a:srgbClr val="E40000"/>
              </a:buClr>
              <a:buFont typeface="Wingdings" panose="05000000000000000000" pitchFamily="2" charset="2"/>
              <a:buChar char="n"/>
            </a:pPr>
            <a:r>
              <a:rPr lang="zh-CN" altLang="zh-CN" b="1" dirty="0"/>
              <a:t>算法4</a:t>
            </a:r>
            <a:r>
              <a:rPr lang="zh-CN" altLang="en-US" b="1" dirty="0"/>
              <a:t>.</a:t>
            </a:r>
            <a:r>
              <a:rPr lang="zh-CN" altLang="zh-CN" b="1" dirty="0"/>
              <a:t>4：既无损连接又保持函数依赖的3NF分解算法</a:t>
            </a:r>
            <a:endParaRPr lang="zh-CN" altLang="zh-CN" b="1" dirty="0"/>
          </a:p>
          <a:p>
            <a:pPr marL="273050" lvl="0" indent="-273050" eaLnBrk="1" hangingPunct="1">
              <a:lnSpc>
                <a:spcPct val="125000"/>
              </a:lnSpc>
              <a:buFont typeface="Wingdings" panose="05000000000000000000" pitchFamily="2" charset="2"/>
              <a:buChar char="n"/>
            </a:pPr>
            <a:r>
              <a:rPr lang="zh-CN" altLang="zh-CN" b="1" dirty="0"/>
              <a:t>输入：关系模式R</a:t>
            </a:r>
            <a:r>
              <a:rPr lang="zh-CN" altLang="zh-CN" b="1" baseline="-25000" dirty="0"/>
              <a:t>R</a:t>
            </a:r>
            <a:r>
              <a:rPr lang="zh-CN" altLang="zh-CN" b="1" dirty="0"/>
              <a:t>(U</a:t>
            </a:r>
            <a:r>
              <a:rPr lang="zh-CN" altLang="zh-CN" b="1" baseline="-25000" dirty="0"/>
              <a:t>R</a:t>
            </a:r>
            <a:r>
              <a:rPr lang="zh-CN" altLang="zh-CN" b="1" dirty="0"/>
              <a:t>，F</a:t>
            </a:r>
            <a:r>
              <a:rPr lang="zh-CN" altLang="zh-CN" b="1" baseline="-25000" dirty="0"/>
              <a:t>R</a:t>
            </a:r>
            <a:r>
              <a:rPr lang="zh-CN" altLang="zh-CN" b="1" dirty="0"/>
              <a:t>) </a:t>
            </a:r>
            <a:endParaRPr lang="zh-CN" altLang="zh-CN" b="1" dirty="0"/>
          </a:p>
          <a:p>
            <a:pPr marL="273050" lvl="0" indent="-273050" eaLnBrk="1" hangingPunct="1">
              <a:lnSpc>
                <a:spcPct val="125000"/>
              </a:lnSpc>
              <a:buFont typeface="Wingdings" panose="05000000000000000000" pitchFamily="2" charset="2"/>
              <a:buChar char="n"/>
            </a:pPr>
            <a:r>
              <a:rPr lang="zh-CN" altLang="zh-CN" b="1" dirty="0"/>
              <a:t>输出：</a:t>
            </a:r>
            <a:r>
              <a:rPr lang="zh-CN" altLang="en-US" b="1" dirty="0"/>
              <a:t>ρ</a:t>
            </a:r>
            <a:r>
              <a:rPr lang="zh-CN" altLang="zh-CN" b="1" dirty="0"/>
              <a:t>＝{ R</a:t>
            </a:r>
            <a:r>
              <a:rPr lang="zh-CN" altLang="zh-CN" b="1" baseline="-25000" dirty="0"/>
              <a:t>0</a:t>
            </a:r>
            <a:r>
              <a:rPr lang="zh-CN" altLang="zh-CN" b="1" dirty="0"/>
              <a:t>，R</a:t>
            </a:r>
            <a:r>
              <a:rPr lang="zh-CN" altLang="zh-CN" b="1" baseline="-25000" dirty="0"/>
              <a:t>1</a:t>
            </a:r>
            <a:r>
              <a:rPr lang="zh-CN" altLang="zh-CN" b="1" dirty="0"/>
              <a:t>，…，R</a:t>
            </a:r>
            <a:r>
              <a:rPr lang="zh-CN" altLang="zh-CN" b="1" baseline="-25000" dirty="0"/>
              <a:t>k</a:t>
            </a:r>
            <a:r>
              <a:rPr lang="zh-CN" altLang="zh-CN" b="1" dirty="0"/>
              <a:t>，R</a:t>
            </a:r>
            <a:r>
              <a:rPr lang="zh-CN" altLang="zh-CN" b="1" baseline="-25000" dirty="0"/>
              <a:t>ck</a:t>
            </a:r>
            <a:r>
              <a:rPr lang="zh-CN" altLang="zh-CN" b="1" dirty="0"/>
              <a:t>}</a:t>
            </a:r>
            <a:endParaRPr lang="zh-CN" altLang="zh-CN" b="1" dirty="0"/>
          </a:p>
        </p:txBody>
      </p:sp>
      <p:sp>
        <p:nvSpPr>
          <p:cNvPr id="208899" name="Rectangle 7"/>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0946" name="Rectangle 5"/>
          <p:cNvSpPr/>
          <p:nvPr/>
        </p:nvSpPr>
        <p:spPr>
          <a:xfrm>
            <a:off x="684213" y="1557338"/>
            <a:ext cx="8135937"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25000"/>
              </a:lnSpc>
            </a:pPr>
            <a:r>
              <a:rPr lang="zh-CN" altLang="zh-CN" b="1" dirty="0"/>
              <a:t>步骤：</a:t>
            </a:r>
            <a:endParaRPr lang="zh-CN" altLang="zh-CN" b="1" dirty="0"/>
          </a:p>
          <a:p>
            <a:pPr marL="0" lvl="0" indent="0" eaLnBrk="1" hangingPunct="1">
              <a:lnSpc>
                <a:spcPct val="125000"/>
              </a:lnSpc>
              <a:buNone/>
            </a:pPr>
            <a:r>
              <a:rPr lang="zh-CN" altLang="zh-CN" b="1" dirty="0"/>
              <a:t>(1)</a:t>
            </a:r>
            <a:r>
              <a:rPr lang="zh-CN" altLang="zh-CN" b="1" dirty="0">
                <a:solidFill>
                  <a:schemeClr val="accent2"/>
                </a:solidFill>
              </a:rPr>
              <a:t>首先将F</a:t>
            </a:r>
            <a:r>
              <a:rPr lang="zh-CN" altLang="zh-CN" b="1" baseline="-25000" dirty="0">
                <a:solidFill>
                  <a:schemeClr val="accent2"/>
                </a:solidFill>
              </a:rPr>
              <a:t>R</a:t>
            </a:r>
            <a:r>
              <a:rPr lang="zh-CN" altLang="zh-CN" b="1" dirty="0">
                <a:solidFill>
                  <a:schemeClr val="accent2"/>
                </a:solidFill>
              </a:rPr>
              <a:t>转换为等价的最小覆盖，记为F；</a:t>
            </a:r>
            <a:endParaRPr lang="zh-CN" altLang="en-US" b="1" dirty="0">
              <a:solidFill>
                <a:schemeClr val="accent2"/>
              </a:solidFill>
            </a:endParaRPr>
          </a:p>
          <a:p>
            <a:pPr marL="0" lvl="0" indent="0" eaLnBrk="1" hangingPunct="1">
              <a:lnSpc>
                <a:spcPct val="125000"/>
              </a:lnSpc>
              <a:buNone/>
            </a:pPr>
            <a:r>
              <a:rPr lang="zh-CN" altLang="zh-CN" b="1" dirty="0"/>
              <a:t>(2)将不在F中出现的属性单独构成关系模式R</a:t>
            </a:r>
            <a:r>
              <a:rPr lang="zh-CN" altLang="zh-CN" b="1" baseline="-25000" dirty="0"/>
              <a:t>0</a:t>
            </a:r>
            <a:r>
              <a:rPr lang="zh-CN" altLang="zh-CN" b="1" dirty="0"/>
              <a:t>(U</a:t>
            </a:r>
            <a:r>
              <a:rPr lang="zh-CN" altLang="zh-CN" b="1" baseline="-25000" dirty="0"/>
              <a:t>0</a:t>
            </a:r>
            <a:r>
              <a:rPr lang="zh-CN" altLang="zh-CN" b="1" dirty="0"/>
              <a:t>)，其余属性记为U＝U</a:t>
            </a:r>
            <a:r>
              <a:rPr lang="zh-CN" altLang="zh-CN" b="1" baseline="-25000" dirty="0"/>
              <a:t>R</a:t>
            </a:r>
            <a:r>
              <a:rPr lang="zh-CN" altLang="zh-CN" b="1" dirty="0"/>
              <a:t>－U</a:t>
            </a:r>
            <a:r>
              <a:rPr lang="zh-CN" altLang="zh-CN" b="1" baseline="-25000" dirty="0"/>
              <a:t>0</a:t>
            </a:r>
            <a:r>
              <a:rPr lang="zh-CN" altLang="zh-CN" b="1" dirty="0"/>
              <a:t>，于是得到第一个分解 ＝{R</a:t>
            </a:r>
            <a:r>
              <a:rPr lang="zh-CN" altLang="zh-CN" b="1" baseline="-25000" dirty="0"/>
              <a:t>0</a:t>
            </a:r>
            <a:r>
              <a:rPr lang="zh-CN" altLang="zh-CN" b="1" dirty="0"/>
              <a:t>，R}，其中R(U，F)；</a:t>
            </a:r>
            <a:endParaRPr lang="zh-CN" altLang="zh-CN" b="1" dirty="0"/>
          </a:p>
          <a:p>
            <a:pPr marL="0" lvl="0" indent="0" eaLnBrk="1" hangingPunct="1">
              <a:lnSpc>
                <a:spcPct val="170000"/>
              </a:lnSpc>
              <a:buNone/>
            </a:pPr>
            <a:r>
              <a:rPr lang="zh-CN" altLang="zh-CN" b="1" dirty="0"/>
              <a:t>(3)如果R中有某一个函数依赖包含U中的全部属性，则算法终止，输出即为</a:t>
            </a:r>
            <a:r>
              <a:rPr lang="zh-CN" altLang="en-US" b="1" dirty="0"/>
              <a:t>ρ</a:t>
            </a:r>
            <a:r>
              <a:rPr lang="zh-CN" altLang="zh-CN" b="1" dirty="0"/>
              <a:t>；</a:t>
            </a:r>
            <a:endParaRPr lang="zh-CN" altLang="zh-CN" b="1" dirty="0"/>
          </a:p>
        </p:txBody>
      </p:sp>
      <p:sp>
        <p:nvSpPr>
          <p:cNvPr id="210947" name="Rectangle 7"/>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2994" name="Rectangle 2"/>
          <p:cNvSpPr/>
          <p:nvPr/>
        </p:nvSpPr>
        <p:spPr>
          <a:xfrm>
            <a:off x="684213" y="1773238"/>
            <a:ext cx="8135937"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25000"/>
              </a:lnSpc>
              <a:buNone/>
            </a:pPr>
            <a:r>
              <a:rPr lang="zh-CN" altLang="zh-CN" b="1" dirty="0"/>
              <a:t>(4)否则，将F中的函数依赖按照</a:t>
            </a:r>
            <a:r>
              <a:rPr lang="zh-CN" altLang="en-US" b="1" dirty="0"/>
              <a:t>左部</a:t>
            </a:r>
            <a:r>
              <a:rPr lang="zh-CN" altLang="zh-CN" b="1" dirty="0"/>
              <a:t>相同原则进行分组，假设共分为k组，得到k个关系模式R</a:t>
            </a:r>
            <a:r>
              <a:rPr lang="zh-CN" altLang="zh-CN" b="1" baseline="-25000" dirty="0"/>
              <a:t>i</a:t>
            </a:r>
            <a:r>
              <a:rPr lang="zh-CN" altLang="zh-CN" b="1" dirty="0"/>
              <a:t>(U</a:t>
            </a:r>
            <a:r>
              <a:rPr lang="zh-CN" altLang="zh-CN" b="1" baseline="-25000" dirty="0"/>
              <a:t>i</a:t>
            </a:r>
            <a:r>
              <a:rPr lang="zh-CN" altLang="zh-CN" b="1" dirty="0"/>
              <a:t>，F</a:t>
            </a:r>
            <a:r>
              <a:rPr lang="zh-CN" altLang="zh-CN" b="1" baseline="-25000" dirty="0"/>
              <a:t>i</a:t>
            </a:r>
            <a:r>
              <a:rPr lang="zh-CN" altLang="zh-CN" b="1" dirty="0"/>
              <a:t>)，U</a:t>
            </a:r>
            <a:r>
              <a:rPr lang="zh-CN" altLang="zh-CN" b="1" baseline="-25000" dirty="0"/>
              <a:t>i</a:t>
            </a:r>
            <a:r>
              <a:rPr lang="zh-CN" altLang="zh-CN" b="1" dirty="0"/>
              <a:t>表示每组函数依赖所涉及的全部属性，F</a:t>
            </a:r>
            <a:r>
              <a:rPr lang="zh-CN" altLang="zh-CN" b="1" baseline="-25000" dirty="0"/>
              <a:t>i</a:t>
            </a:r>
            <a:r>
              <a:rPr lang="zh-CN" altLang="zh-CN" b="1" dirty="0"/>
              <a:t>是相应的函数依赖集，将这k个关系模式加入</a:t>
            </a:r>
            <a:r>
              <a:rPr lang="zh-CN" altLang="en-US" b="1" dirty="0"/>
              <a:t>ρ</a:t>
            </a:r>
            <a:r>
              <a:rPr lang="zh-CN" altLang="zh-CN" b="1" dirty="0"/>
              <a:t>中得到：</a:t>
            </a:r>
            <a:r>
              <a:rPr lang="zh-CN" altLang="en-US" b="1" dirty="0"/>
              <a:t>ρ</a:t>
            </a:r>
            <a:r>
              <a:rPr lang="zh-CN" altLang="zh-CN" b="1" dirty="0"/>
              <a:t>＝{ R</a:t>
            </a:r>
            <a:r>
              <a:rPr lang="zh-CN" altLang="zh-CN" b="1" baseline="-25000" dirty="0"/>
              <a:t>0</a:t>
            </a:r>
            <a:r>
              <a:rPr lang="zh-CN" altLang="zh-CN" b="1" dirty="0"/>
              <a:t>，R</a:t>
            </a:r>
            <a:r>
              <a:rPr lang="zh-CN" altLang="zh-CN" b="1" baseline="-25000" dirty="0"/>
              <a:t>1</a:t>
            </a:r>
            <a:r>
              <a:rPr lang="zh-CN" altLang="zh-CN" b="1" dirty="0"/>
              <a:t>，…，R</a:t>
            </a:r>
            <a:r>
              <a:rPr lang="zh-CN" altLang="zh-CN" b="1" baseline="-25000" dirty="0"/>
              <a:t>k</a:t>
            </a:r>
            <a:r>
              <a:rPr lang="zh-CN" altLang="zh-CN" b="1" dirty="0"/>
              <a:t>}；</a:t>
            </a:r>
            <a:endParaRPr lang="zh-CN" altLang="zh-CN" b="1" dirty="0"/>
          </a:p>
        </p:txBody>
      </p:sp>
      <p:sp>
        <p:nvSpPr>
          <p:cNvPr id="212995" name="Rectangle 3"/>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5042" name="Rectangle 5"/>
          <p:cNvSpPr/>
          <p:nvPr/>
        </p:nvSpPr>
        <p:spPr>
          <a:xfrm>
            <a:off x="755650" y="1557338"/>
            <a:ext cx="8064500"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lnSpc>
                <a:spcPct val="125000"/>
              </a:lnSpc>
              <a:buNone/>
            </a:pPr>
            <a:r>
              <a:rPr lang="zh-CN" altLang="zh-CN" b="1" dirty="0"/>
              <a:t>(5)经过上述步骤得到的每个R</a:t>
            </a:r>
            <a:r>
              <a:rPr lang="zh-CN" altLang="zh-CN" b="1" baseline="-25000" dirty="0"/>
              <a:t>i</a:t>
            </a:r>
            <a:r>
              <a:rPr lang="zh-CN" altLang="zh-CN" b="1" dirty="0"/>
              <a:t>均是</a:t>
            </a:r>
            <a:r>
              <a:rPr lang="zh-CN" altLang="zh-CN" b="1" dirty="0">
                <a:solidFill>
                  <a:srgbClr val="FF0000"/>
                </a:solidFill>
              </a:rPr>
              <a:t>3NF</a:t>
            </a:r>
            <a:r>
              <a:rPr lang="zh-CN" altLang="zh-CN" b="1" dirty="0"/>
              <a:t>，且因为分组是按照函数依赖进行的，不会丢失任何一个函数依赖，所以该过程是保持函数依赖的。为了保证该分解同时是无损连接的，需要再加入一个由任一候选键构成的关系模式R</a:t>
            </a:r>
            <a:r>
              <a:rPr lang="zh-CN" altLang="zh-CN" b="1" baseline="-25000" dirty="0"/>
              <a:t>ck</a:t>
            </a:r>
            <a:r>
              <a:rPr lang="zh-CN" altLang="zh-CN" b="1" dirty="0"/>
              <a:t>，如果该关系模式已在前面的某个R</a:t>
            </a:r>
            <a:r>
              <a:rPr lang="zh-CN" altLang="zh-CN" b="1" baseline="-25000" dirty="0"/>
              <a:t>i</a:t>
            </a:r>
            <a:r>
              <a:rPr lang="zh-CN" altLang="zh-CN" b="1" dirty="0"/>
              <a:t>中出现，则可以省略；</a:t>
            </a:r>
            <a:endParaRPr lang="zh-CN" altLang="zh-CN" b="1" dirty="0"/>
          </a:p>
          <a:p>
            <a:pPr marL="0" lvl="0" indent="0" eaLnBrk="1" hangingPunct="1">
              <a:lnSpc>
                <a:spcPct val="125000"/>
              </a:lnSpc>
              <a:buNone/>
            </a:pPr>
            <a:r>
              <a:rPr lang="zh-CN" altLang="zh-CN" b="1" dirty="0"/>
              <a:t>(6)输出 </a:t>
            </a:r>
            <a:r>
              <a:rPr lang="zh-CN" altLang="en-US" b="1" dirty="0"/>
              <a:t>ρ</a:t>
            </a:r>
            <a:r>
              <a:rPr lang="zh-CN" altLang="zh-CN" b="1" dirty="0"/>
              <a:t>＝{ R</a:t>
            </a:r>
            <a:r>
              <a:rPr lang="zh-CN" altLang="zh-CN" b="1" baseline="-25000" dirty="0"/>
              <a:t>0</a:t>
            </a:r>
            <a:r>
              <a:rPr lang="zh-CN" altLang="zh-CN" b="1" dirty="0"/>
              <a:t>，R</a:t>
            </a:r>
            <a:r>
              <a:rPr lang="zh-CN" altLang="zh-CN" b="1" baseline="-25000" dirty="0"/>
              <a:t>1</a:t>
            </a:r>
            <a:r>
              <a:rPr lang="zh-CN" altLang="zh-CN" b="1" dirty="0"/>
              <a:t>，…，R</a:t>
            </a:r>
            <a:r>
              <a:rPr lang="zh-CN" altLang="zh-CN" b="1" baseline="-25000" dirty="0"/>
              <a:t>k</a:t>
            </a:r>
            <a:r>
              <a:rPr lang="zh-CN" altLang="zh-CN" b="1" dirty="0"/>
              <a:t>，R</a:t>
            </a:r>
            <a:r>
              <a:rPr lang="zh-CN" altLang="zh-CN" b="1" baseline="-25000" dirty="0"/>
              <a:t>ck</a:t>
            </a:r>
            <a:r>
              <a:rPr lang="zh-CN" altLang="zh-CN" b="1" dirty="0"/>
              <a:t>}，算法结束。</a:t>
            </a:r>
            <a:endParaRPr lang="zh-CN" altLang="zh-CN" b="1" dirty="0"/>
          </a:p>
        </p:txBody>
      </p:sp>
      <p:sp>
        <p:nvSpPr>
          <p:cNvPr id="215043" name="Rectangle 7"/>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7090" name="Rectangle 5"/>
          <p:cNvSpPr/>
          <p:nvPr/>
        </p:nvSpPr>
        <p:spPr>
          <a:xfrm>
            <a:off x="611188" y="1398588"/>
            <a:ext cx="8208962" cy="4983162"/>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60000"/>
              </a:lnSpc>
              <a:buClr>
                <a:srgbClr val="E40000"/>
              </a:buClr>
              <a:buFont typeface="Wingdings" panose="05000000000000000000" pitchFamily="2" charset="2"/>
              <a:buChar char="ü"/>
            </a:pPr>
            <a:r>
              <a:rPr lang="zh-CN" altLang="zh-CN" sz="2400" b="1" dirty="0">
                <a:latin typeface="黑体" pitchFamily="49" charset="-122"/>
                <a:ea typeface="黑体" pitchFamily="49" charset="-122"/>
              </a:rPr>
              <a:t>例4</a:t>
            </a:r>
            <a:r>
              <a:rPr lang="zh-CN" altLang="en-US" sz="2400" b="1" dirty="0">
                <a:latin typeface="黑体" pitchFamily="49" charset="-122"/>
                <a:ea typeface="黑体" pitchFamily="49" charset="-122"/>
              </a:rPr>
              <a:t>.</a:t>
            </a:r>
            <a:r>
              <a:rPr lang="zh-CN" altLang="zh-CN" sz="2400" b="1" dirty="0">
                <a:latin typeface="黑体" pitchFamily="49" charset="-122"/>
                <a:ea typeface="黑体" pitchFamily="49" charset="-122"/>
              </a:rPr>
              <a:t>6</a:t>
            </a:r>
            <a:r>
              <a:rPr lang="zh-CN" altLang="en-US" sz="2400" b="1" dirty="0">
                <a:latin typeface="黑体" pitchFamily="49" charset="-122"/>
                <a:ea typeface="黑体" pitchFamily="49" charset="-122"/>
              </a:rPr>
              <a:t>：</a:t>
            </a:r>
            <a:r>
              <a:rPr lang="zh-CN" altLang="zh-CN" sz="2400" b="1" dirty="0">
                <a:latin typeface="黑体" pitchFamily="49" charset="-122"/>
                <a:ea typeface="黑体" pitchFamily="49" charset="-122"/>
              </a:rPr>
              <a:t>与学生有关的关系模式R(S#，Sname，Province，City，Street，Zipcode)，各属性分别表示学号、姓名、来自省份、城市、街道及邮政编码</a:t>
            </a:r>
            <a:endParaRPr lang="zh-CN" altLang="en-US" sz="2400" b="1" dirty="0">
              <a:latin typeface="黑体" pitchFamily="49" charset="-122"/>
              <a:ea typeface="黑体" pitchFamily="49" charset="-122"/>
            </a:endParaRPr>
          </a:p>
          <a:p>
            <a:pPr marL="355600" lvl="0" indent="-355600" eaLnBrk="1" hangingPunct="1">
              <a:lnSpc>
                <a:spcPct val="160000"/>
              </a:lnSpc>
              <a:buClr>
                <a:srgbClr val="E40000"/>
              </a:buClr>
              <a:buFont typeface="Wingdings" panose="05000000000000000000" pitchFamily="2" charset="2"/>
              <a:buChar char="ü"/>
            </a:pPr>
            <a:r>
              <a:rPr lang="zh-CN" altLang="zh-CN" sz="2400" b="1" dirty="0">
                <a:latin typeface="黑体" pitchFamily="49" charset="-122"/>
                <a:ea typeface="黑体" pitchFamily="49" charset="-122"/>
              </a:rPr>
              <a:t>R上有函数依赖集F＝{S#→Sname，S#→Province，S#→City，S#→Street，S#→Zipcode, (Province，City，Street)→Zipcode, Zipcode→Province，Zipcode→City}，试将其分解为3NF形式且保持无损连接及函数依赖</a:t>
            </a:r>
            <a:endParaRPr lang="zh-CN" altLang="zh-CN" sz="2400" b="1" dirty="0">
              <a:latin typeface="黑体" pitchFamily="49" charset="-122"/>
              <a:ea typeface="黑体" pitchFamily="49" charset="-122"/>
            </a:endParaRPr>
          </a:p>
        </p:txBody>
      </p:sp>
      <p:sp>
        <p:nvSpPr>
          <p:cNvPr id="217091" name="Rectangle 7"/>
          <p:cNvSpPr/>
          <p:nvPr/>
        </p:nvSpPr>
        <p:spPr>
          <a:xfrm>
            <a:off x="1042988" y="404813"/>
            <a:ext cx="7086600" cy="7318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9138" name="Rectangle 5"/>
          <p:cNvSpPr/>
          <p:nvPr/>
        </p:nvSpPr>
        <p:spPr>
          <a:xfrm>
            <a:off x="611188" y="1470025"/>
            <a:ext cx="8135937"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450850" lvl="0" indent="-450850" eaLnBrk="1" hangingPunct="1">
              <a:lnSpc>
                <a:spcPct val="160000"/>
              </a:lnSpc>
            </a:pPr>
            <a:r>
              <a:rPr lang="zh-CN" altLang="zh-CN" b="1" dirty="0">
                <a:latin typeface="黑体" pitchFamily="49" charset="-122"/>
                <a:ea typeface="黑体" pitchFamily="49" charset="-122"/>
              </a:rPr>
              <a:t>解：</a:t>
            </a:r>
            <a:endParaRPr lang="zh-CN" altLang="en-US" b="1" dirty="0">
              <a:latin typeface="黑体" pitchFamily="49" charset="-122"/>
              <a:ea typeface="黑体" pitchFamily="49" charset="-122"/>
            </a:endParaRPr>
          </a:p>
          <a:p>
            <a:pPr marL="450850" lvl="0" indent="-450850" eaLnBrk="1" hangingPunct="1">
              <a:lnSpc>
                <a:spcPct val="160000"/>
              </a:lnSpc>
            </a:pPr>
            <a:r>
              <a:rPr lang="zh-CN" altLang="zh-CN" b="1" dirty="0">
                <a:latin typeface="黑体" pitchFamily="49" charset="-122"/>
                <a:ea typeface="黑体" pitchFamily="49" charset="-122"/>
              </a:rPr>
              <a:t>(1)首先计算F的最小覆盖Fmin，因S#→Zipcode冗余，所以</a:t>
            </a:r>
            <a:r>
              <a:rPr lang="zh-CN" altLang="en-US" b="1" dirty="0">
                <a:latin typeface="黑体" pitchFamily="49" charset="-122"/>
                <a:ea typeface="黑体" pitchFamily="49" charset="-122"/>
              </a:rPr>
              <a:t>:</a:t>
            </a:r>
            <a:endParaRPr lang="en-US" altLang="zh-CN" b="1" dirty="0">
              <a:latin typeface="黑体" pitchFamily="49" charset="-122"/>
              <a:ea typeface="黑体" pitchFamily="49" charset="-122"/>
            </a:endParaRPr>
          </a:p>
          <a:p>
            <a:pPr marL="450850" lvl="0" indent="-450850" eaLnBrk="1" hangingPunct="1">
              <a:lnSpc>
                <a:spcPct val="160000"/>
              </a:lnSpc>
              <a:buNone/>
            </a:pPr>
            <a:r>
              <a:rPr lang="zh-CN" altLang="en-US" b="1" dirty="0">
                <a:latin typeface="黑体" pitchFamily="49" charset="-122"/>
                <a:ea typeface="黑体" pitchFamily="49" charset="-122"/>
              </a:rPr>
              <a:t>   </a:t>
            </a:r>
            <a:r>
              <a:rPr lang="zh-CN" altLang="zh-CN" b="1" dirty="0">
                <a:latin typeface="黑体" pitchFamily="49" charset="-122"/>
                <a:ea typeface="黑体" pitchFamily="49" charset="-122"/>
              </a:rPr>
              <a:t>F</a:t>
            </a:r>
            <a:r>
              <a:rPr lang="zh-CN" altLang="zh-CN" b="1" baseline="-25000" dirty="0">
                <a:latin typeface="黑体" pitchFamily="49" charset="-122"/>
                <a:ea typeface="黑体" pitchFamily="49" charset="-122"/>
              </a:rPr>
              <a:t>min</a:t>
            </a:r>
            <a:r>
              <a:rPr lang="zh-CN" altLang="zh-CN" b="1" dirty="0">
                <a:latin typeface="黑体" pitchFamily="49" charset="-122"/>
                <a:ea typeface="黑体" pitchFamily="49" charset="-122"/>
              </a:rPr>
              <a:t>＝{</a:t>
            </a:r>
            <a:r>
              <a:rPr lang="zh-CN" altLang="zh-CN" b="1" dirty="0">
                <a:solidFill>
                  <a:srgbClr val="FF9933"/>
                </a:solidFill>
                <a:latin typeface="黑体" pitchFamily="49" charset="-122"/>
                <a:ea typeface="黑体" pitchFamily="49" charset="-122"/>
              </a:rPr>
              <a:t>S#</a:t>
            </a:r>
            <a:r>
              <a:rPr lang="zh-CN" altLang="zh-CN" b="1" dirty="0">
                <a:latin typeface="黑体" pitchFamily="49" charset="-122"/>
                <a:ea typeface="黑体" pitchFamily="49" charset="-122"/>
              </a:rPr>
              <a:t>→Sname，</a:t>
            </a:r>
            <a:r>
              <a:rPr lang="zh-CN" altLang="zh-CN" b="1" dirty="0">
                <a:solidFill>
                  <a:srgbClr val="FF9933"/>
                </a:solidFill>
                <a:latin typeface="黑体" pitchFamily="49" charset="-122"/>
                <a:ea typeface="黑体" pitchFamily="49" charset="-122"/>
              </a:rPr>
              <a:t>S#</a:t>
            </a:r>
            <a:r>
              <a:rPr lang="zh-CN" altLang="zh-CN" b="1" dirty="0">
                <a:latin typeface="黑体" pitchFamily="49" charset="-122"/>
                <a:ea typeface="黑体" pitchFamily="49" charset="-122"/>
              </a:rPr>
              <a:t>→Province，</a:t>
            </a:r>
            <a:r>
              <a:rPr lang="zh-CN" altLang="zh-CN" b="1" dirty="0">
                <a:solidFill>
                  <a:srgbClr val="FF9933"/>
                </a:solidFill>
                <a:latin typeface="黑体" pitchFamily="49" charset="-122"/>
                <a:ea typeface="黑体" pitchFamily="49" charset="-122"/>
              </a:rPr>
              <a:t>S#</a:t>
            </a:r>
            <a:r>
              <a:rPr lang="zh-CN" altLang="zh-CN" b="1" dirty="0">
                <a:latin typeface="黑体" pitchFamily="49" charset="-122"/>
                <a:ea typeface="黑体" pitchFamily="49" charset="-122"/>
              </a:rPr>
              <a:t>→City，</a:t>
            </a:r>
            <a:r>
              <a:rPr lang="zh-CN" altLang="zh-CN" b="1" dirty="0">
                <a:solidFill>
                  <a:srgbClr val="FF9933"/>
                </a:solidFill>
                <a:latin typeface="黑体" pitchFamily="49" charset="-122"/>
                <a:ea typeface="黑体" pitchFamily="49" charset="-122"/>
              </a:rPr>
              <a:t>S#</a:t>
            </a:r>
            <a:r>
              <a:rPr lang="zh-CN" altLang="zh-CN" b="1" dirty="0">
                <a:latin typeface="黑体" pitchFamily="49" charset="-122"/>
                <a:ea typeface="黑体" pitchFamily="49" charset="-122"/>
              </a:rPr>
              <a:t>→Street，(</a:t>
            </a:r>
            <a:r>
              <a:rPr lang="zh-CN" altLang="zh-CN" b="1" dirty="0">
                <a:solidFill>
                  <a:srgbClr val="3366FF"/>
                </a:solidFill>
                <a:latin typeface="黑体" pitchFamily="49" charset="-122"/>
                <a:ea typeface="黑体" pitchFamily="49" charset="-122"/>
              </a:rPr>
              <a:t>Province</a:t>
            </a:r>
            <a:r>
              <a:rPr lang="zh-CN" altLang="zh-CN" b="1" dirty="0">
                <a:latin typeface="黑体" pitchFamily="49" charset="-122"/>
                <a:ea typeface="黑体" pitchFamily="49" charset="-122"/>
              </a:rPr>
              <a:t>，</a:t>
            </a:r>
            <a:r>
              <a:rPr lang="zh-CN" altLang="zh-CN" b="1" dirty="0">
                <a:solidFill>
                  <a:srgbClr val="3366FF"/>
                </a:solidFill>
                <a:latin typeface="黑体" pitchFamily="49" charset="-122"/>
                <a:ea typeface="黑体" pitchFamily="49" charset="-122"/>
              </a:rPr>
              <a:t>City</a:t>
            </a:r>
            <a:r>
              <a:rPr lang="zh-CN" altLang="zh-CN" b="1" dirty="0">
                <a:latin typeface="黑体" pitchFamily="49" charset="-122"/>
                <a:ea typeface="黑体" pitchFamily="49" charset="-122"/>
              </a:rPr>
              <a:t>，</a:t>
            </a:r>
            <a:r>
              <a:rPr lang="zh-CN" altLang="zh-CN" b="1" dirty="0">
                <a:solidFill>
                  <a:srgbClr val="3366FF"/>
                </a:solidFill>
                <a:latin typeface="黑体" pitchFamily="49" charset="-122"/>
                <a:ea typeface="黑体" pitchFamily="49" charset="-122"/>
              </a:rPr>
              <a:t>Street</a:t>
            </a:r>
            <a:r>
              <a:rPr lang="zh-CN" altLang="zh-CN" b="1" dirty="0">
                <a:latin typeface="黑体" pitchFamily="49" charset="-122"/>
                <a:ea typeface="黑体" pitchFamily="49" charset="-122"/>
              </a:rPr>
              <a:t>)→Zipcode, </a:t>
            </a:r>
            <a:r>
              <a:rPr lang="zh-CN" altLang="zh-CN" b="1" dirty="0">
                <a:solidFill>
                  <a:srgbClr val="339966"/>
                </a:solidFill>
                <a:latin typeface="黑体" pitchFamily="49" charset="-122"/>
                <a:ea typeface="黑体" pitchFamily="49" charset="-122"/>
              </a:rPr>
              <a:t>Zipcode</a:t>
            </a:r>
            <a:r>
              <a:rPr lang="zh-CN" altLang="zh-CN" b="1" dirty="0">
                <a:latin typeface="黑体" pitchFamily="49" charset="-122"/>
                <a:ea typeface="黑体" pitchFamily="49" charset="-122"/>
              </a:rPr>
              <a:t>→Province，</a:t>
            </a:r>
            <a:r>
              <a:rPr lang="zh-CN" altLang="zh-CN" b="1" dirty="0">
                <a:solidFill>
                  <a:srgbClr val="339966"/>
                </a:solidFill>
                <a:latin typeface="黑体" pitchFamily="49" charset="-122"/>
                <a:ea typeface="黑体" pitchFamily="49" charset="-122"/>
              </a:rPr>
              <a:t>Zipcode</a:t>
            </a:r>
            <a:r>
              <a:rPr lang="zh-CN" altLang="zh-CN" b="1" dirty="0">
                <a:latin typeface="黑体" pitchFamily="49" charset="-122"/>
                <a:ea typeface="黑体" pitchFamily="49" charset="-122"/>
              </a:rPr>
              <a:t>→City}；</a:t>
            </a:r>
            <a:endParaRPr lang="zh-CN" altLang="zh-CN" b="1" dirty="0">
              <a:latin typeface="黑体" pitchFamily="49" charset="-122"/>
              <a:ea typeface="黑体" pitchFamily="49" charset="-122"/>
            </a:endParaRPr>
          </a:p>
        </p:txBody>
      </p:sp>
      <p:sp>
        <p:nvSpPr>
          <p:cNvPr id="219139" name="Rectangle 7"/>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1186" name="Rectangle 5"/>
          <p:cNvSpPr/>
          <p:nvPr/>
        </p:nvSpPr>
        <p:spPr>
          <a:xfrm>
            <a:off x="539750" y="1628775"/>
            <a:ext cx="8208963"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20000"/>
              </a:lnSpc>
            </a:pPr>
            <a:r>
              <a:rPr lang="zh-CN" altLang="zh-CN" b="1" dirty="0">
                <a:latin typeface="黑体" pitchFamily="49" charset="-122"/>
                <a:ea typeface="黑体" pitchFamily="49" charset="-122"/>
              </a:rPr>
              <a:t>(2)由于R的所有属性均在F</a:t>
            </a:r>
            <a:r>
              <a:rPr lang="zh-CN" altLang="zh-CN" b="1" baseline="-25000" dirty="0">
                <a:latin typeface="黑体" pitchFamily="49" charset="-122"/>
                <a:ea typeface="黑体" pitchFamily="49" charset="-122"/>
              </a:rPr>
              <a:t>min</a:t>
            </a:r>
            <a:r>
              <a:rPr lang="zh-CN" altLang="zh-CN" b="1" dirty="0">
                <a:latin typeface="黑体" pitchFamily="49" charset="-122"/>
                <a:ea typeface="黑体" pitchFamily="49" charset="-122"/>
              </a:rPr>
              <a:t>中出现，所以直接将函数依赖分组构成新的关系模式，</a:t>
            </a:r>
            <a:r>
              <a:rPr lang="zh-CN" altLang="en-US" b="1" dirty="0">
                <a:latin typeface="黑体" pitchFamily="49" charset="-122"/>
                <a:ea typeface="黑体" pitchFamily="49" charset="-122"/>
              </a:rPr>
              <a:t>ρ</a:t>
            </a:r>
            <a:r>
              <a:rPr lang="zh-CN" altLang="zh-CN" b="1" dirty="0">
                <a:latin typeface="黑体" pitchFamily="49" charset="-122"/>
                <a:ea typeface="黑体" pitchFamily="49" charset="-122"/>
              </a:rPr>
              <a:t>＝{R1(</a:t>
            </a:r>
            <a:r>
              <a:rPr lang="zh-CN" altLang="zh-CN" b="1" dirty="0">
                <a:solidFill>
                  <a:srgbClr val="FF9933"/>
                </a:solidFill>
                <a:latin typeface="黑体" pitchFamily="49" charset="-122"/>
                <a:ea typeface="黑体" pitchFamily="49" charset="-122"/>
              </a:rPr>
              <a:t>S#</a:t>
            </a:r>
            <a:r>
              <a:rPr lang="zh-CN" altLang="zh-CN" b="1" dirty="0">
                <a:latin typeface="黑体" pitchFamily="49" charset="-122"/>
                <a:ea typeface="黑体" pitchFamily="49" charset="-122"/>
              </a:rPr>
              <a:t>，Sname，Province，City，Street)，R2(</a:t>
            </a:r>
            <a:r>
              <a:rPr lang="zh-CN" altLang="zh-CN" b="1" dirty="0">
                <a:solidFill>
                  <a:srgbClr val="3366FF"/>
                </a:solidFill>
                <a:latin typeface="黑体" pitchFamily="49" charset="-122"/>
                <a:ea typeface="黑体" pitchFamily="49" charset="-122"/>
              </a:rPr>
              <a:t>Province，City，Street</a:t>
            </a:r>
            <a:r>
              <a:rPr lang="zh-CN" altLang="zh-CN" b="1" dirty="0">
                <a:latin typeface="黑体" pitchFamily="49" charset="-122"/>
                <a:ea typeface="黑体" pitchFamily="49" charset="-122"/>
              </a:rPr>
              <a:t>，Zipcode)，R3(</a:t>
            </a:r>
            <a:r>
              <a:rPr lang="zh-CN" altLang="zh-CN" b="1" dirty="0">
                <a:solidFill>
                  <a:srgbClr val="339966"/>
                </a:solidFill>
                <a:latin typeface="黑体" pitchFamily="49" charset="-122"/>
                <a:ea typeface="黑体" pitchFamily="49" charset="-122"/>
              </a:rPr>
              <a:t>Zipcode</a:t>
            </a:r>
            <a:r>
              <a:rPr lang="zh-CN" altLang="zh-CN" b="1" dirty="0">
                <a:latin typeface="黑体" pitchFamily="49" charset="-122"/>
                <a:ea typeface="黑体" pitchFamily="49" charset="-122"/>
              </a:rPr>
              <a:t>，Province，City)}，因R3是R2的子集，故将其略去，得到 </a:t>
            </a:r>
            <a:r>
              <a:rPr lang="zh-CN" altLang="en-US" b="1" dirty="0">
                <a:latin typeface="黑体" pitchFamily="49" charset="-122"/>
                <a:ea typeface="黑体" pitchFamily="49" charset="-122"/>
              </a:rPr>
              <a:t>ρ</a:t>
            </a:r>
            <a:r>
              <a:rPr lang="zh-CN" altLang="zh-CN" b="1" dirty="0">
                <a:latin typeface="黑体" pitchFamily="49" charset="-122"/>
                <a:ea typeface="黑体" pitchFamily="49" charset="-122"/>
              </a:rPr>
              <a:t>＝{R1(S#，Sname，Province，City，Street)，R2(Province，City，Street，Zipcode)}；</a:t>
            </a:r>
            <a:endParaRPr lang="zh-CN" altLang="zh-CN" b="1" dirty="0">
              <a:latin typeface="黑体" pitchFamily="49" charset="-122"/>
              <a:ea typeface="黑体" pitchFamily="49" charset="-122"/>
            </a:endParaRPr>
          </a:p>
        </p:txBody>
      </p:sp>
      <p:sp>
        <p:nvSpPr>
          <p:cNvPr id="221187" name="Rectangle 7"/>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3234" name="Rectangle 5"/>
          <p:cNvSpPr/>
          <p:nvPr/>
        </p:nvSpPr>
        <p:spPr>
          <a:xfrm>
            <a:off x="611188" y="1685925"/>
            <a:ext cx="8208962"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40000"/>
              </a:lnSpc>
            </a:pPr>
            <a:r>
              <a:rPr lang="zh-CN" altLang="zh-CN" b="1" dirty="0">
                <a:latin typeface="黑体" pitchFamily="49" charset="-122"/>
                <a:ea typeface="黑体" pitchFamily="49" charset="-122"/>
              </a:rPr>
              <a:t>(3)关系R上的候选键只有一个S#，因其也是R1的子集，所以不再加入</a:t>
            </a:r>
            <a:r>
              <a:rPr lang="zh-CN" altLang="en-US" b="1" dirty="0">
                <a:latin typeface="黑体" pitchFamily="49" charset="-122"/>
                <a:ea typeface="黑体" pitchFamily="49" charset="-122"/>
              </a:rPr>
              <a:t>ρ</a:t>
            </a:r>
            <a:r>
              <a:rPr lang="zh-CN" altLang="zh-CN" b="1" dirty="0">
                <a:latin typeface="黑体" pitchFamily="49" charset="-122"/>
                <a:ea typeface="黑体" pitchFamily="49" charset="-122"/>
              </a:rPr>
              <a:t>中，于是满足要求的最终关系模式集合仍为</a:t>
            </a:r>
            <a:r>
              <a:rPr lang="zh-CN" altLang="en-US" b="1" dirty="0">
                <a:latin typeface="黑体" pitchFamily="49" charset="-122"/>
                <a:ea typeface="黑体" pitchFamily="49" charset="-122"/>
              </a:rPr>
              <a:t>:</a:t>
            </a:r>
            <a:endParaRPr lang="en-US" altLang="zh-CN" b="1" dirty="0">
              <a:latin typeface="黑体" pitchFamily="49" charset="-122"/>
              <a:ea typeface="黑体" pitchFamily="49" charset="-122"/>
            </a:endParaRPr>
          </a:p>
          <a:p>
            <a:pPr marL="355600" lvl="0" indent="-355600" eaLnBrk="1" hangingPunct="1">
              <a:lnSpc>
                <a:spcPct val="140000"/>
              </a:lnSpc>
              <a:buNone/>
            </a:pPr>
            <a:r>
              <a:rPr lang="zh-CN" altLang="en-US" b="1" dirty="0">
                <a:latin typeface="黑体" pitchFamily="49" charset="-122"/>
                <a:ea typeface="黑体" pitchFamily="49" charset="-122"/>
              </a:rPr>
              <a:t>  ρ</a:t>
            </a:r>
            <a:r>
              <a:rPr lang="zh-CN" altLang="zh-CN" b="1" dirty="0">
                <a:latin typeface="黑体" pitchFamily="49" charset="-122"/>
                <a:ea typeface="黑体" pitchFamily="49" charset="-122"/>
              </a:rPr>
              <a:t>＝{</a:t>
            </a:r>
            <a:r>
              <a:rPr lang="zh-CN" altLang="zh-CN" sz="2400" b="1" dirty="0">
                <a:latin typeface="黑体" pitchFamily="49" charset="-122"/>
                <a:ea typeface="黑体" pitchFamily="49" charset="-122"/>
              </a:rPr>
              <a:t>R1(S#，Sname，Province，City，Street)，</a:t>
            </a:r>
            <a:endParaRPr lang="zh-CN" altLang="en-US" sz="2400" b="1" dirty="0">
              <a:latin typeface="黑体" pitchFamily="49" charset="-122"/>
              <a:ea typeface="黑体" pitchFamily="49" charset="-122"/>
            </a:endParaRPr>
          </a:p>
          <a:p>
            <a:pPr marL="355600" lvl="0" indent="-355600" eaLnBrk="1" hangingPunct="1">
              <a:lnSpc>
                <a:spcPct val="140000"/>
              </a:lnSpc>
              <a:buNone/>
            </a:pPr>
            <a:r>
              <a:rPr lang="zh-CN" altLang="en-US" sz="2400" b="1" dirty="0">
                <a:latin typeface="黑体" pitchFamily="49" charset="-122"/>
                <a:ea typeface="黑体" pitchFamily="49" charset="-122"/>
              </a:rPr>
              <a:t>        </a:t>
            </a:r>
            <a:r>
              <a:rPr lang="zh-CN" altLang="zh-CN" sz="2400" b="1" dirty="0">
                <a:latin typeface="黑体" pitchFamily="49" charset="-122"/>
                <a:ea typeface="黑体" pitchFamily="49" charset="-122"/>
              </a:rPr>
              <a:t>R2(Province，City，Street，Zipcode)}</a:t>
            </a:r>
            <a:endParaRPr lang="zh-CN" altLang="zh-CN" sz="2400" b="1" dirty="0">
              <a:latin typeface="黑体" pitchFamily="49" charset="-122"/>
              <a:ea typeface="黑体" pitchFamily="49" charset="-122"/>
            </a:endParaRPr>
          </a:p>
        </p:txBody>
      </p:sp>
      <p:sp>
        <p:nvSpPr>
          <p:cNvPr id="223235" name="Rectangle 7"/>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3NF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5282" name="Rectangle 2"/>
          <p:cNvSpPr/>
          <p:nvPr/>
        </p:nvSpPr>
        <p:spPr>
          <a:xfrm>
            <a:off x="611188" y="1327150"/>
            <a:ext cx="8208962"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273050" lvl="0" indent="-273050" eaLnBrk="1" hangingPunct="1">
              <a:lnSpc>
                <a:spcPct val="160000"/>
              </a:lnSpc>
              <a:buClr>
                <a:srgbClr val="E40000"/>
              </a:buClr>
              <a:buFont typeface="Wingdings" panose="05000000000000000000" pitchFamily="2" charset="2"/>
              <a:buChar char="n"/>
            </a:pPr>
            <a:r>
              <a:rPr lang="zh-CN" altLang="en-US" b="1" dirty="0">
                <a:latin typeface="黑体" pitchFamily="49" charset="-122"/>
                <a:ea typeface="黑体" pitchFamily="49" charset="-122"/>
              </a:rPr>
              <a:t>算法</a:t>
            </a:r>
            <a:r>
              <a:rPr lang="en-US" altLang="zh-CN" b="1" dirty="0">
                <a:latin typeface="黑体" pitchFamily="49" charset="-122"/>
                <a:ea typeface="黑体" pitchFamily="49" charset="-122"/>
              </a:rPr>
              <a:t>4.5</a:t>
            </a:r>
            <a:r>
              <a:rPr lang="zh-CN" altLang="en-US" b="1" dirty="0">
                <a:latin typeface="黑体" pitchFamily="49" charset="-122"/>
                <a:ea typeface="黑体" pitchFamily="49" charset="-122"/>
              </a:rPr>
              <a:t>：保证无损连接的</a:t>
            </a:r>
            <a:r>
              <a:rPr lang="en-US" altLang="zh-CN" b="1" dirty="0">
                <a:latin typeface="黑体" pitchFamily="49" charset="-122"/>
                <a:ea typeface="黑体" pitchFamily="49" charset="-122"/>
              </a:rPr>
              <a:t>BCNF</a:t>
            </a:r>
            <a:r>
              <a:rPr lang="zh-CN" altLang="en-US" b="1" dirty="0">
                <a:latin typeface="黑体" pitchFamily="49" charset="-122"/>
                <a:ea typeface="黑体" pitchFamily="49" charset="-122"/>
              </a:rPr>
              <a:t>分解算法</a:t>
            </a:r>
            <a:endParaRPr lang="zh-CN" altLang="en-US" b="1" dirty="0">
              <a:latin typeface="黑体" pitchFamily="49" charset="-122"/>
              <a:ea typeface="黑体" pitchFamily="49" charset="-122"/>
            </a:endParaRPr>
          </a:p>
          <a:p>
            <a:pPr marL="273050" lvl="0" indent="-273050" eaLnBrk="1" hangingPunct="1">
              <a:lnSpc>
                <a:spcPct val="110000"/>
              </a:lnSpc>
              <a:buFont typeface="Wingdings" panose="05000000000000000000" pitchFamily="2" charset="2"/>
              <a:buChar char="n"/>
            </a:pPr>
            <a:r>
              <a:rPr lang="zh-CN" altLang="en-US" b="1" dirty="0">
                <a:latin typeface="黑体" pitchFamily="49" charset="-122"/>
                <a:ea typeface="黑体" pitchFamily="49" charset="-122"/>
              </a:rPr>
              <a:t>输入：关系模式</a:t>
            </a:r>
            <a:r>
              <a:rPr lang="en-US" altLang="zh-CN" b="1" dirty="0">
                <a:latin typeface="黑体" pitchFamily="49" charset="-122"/>
                <a:ea typeface="黑体" pitchFamily="49" charset="-122"/>
              </a:rPr>
              <a:t>R(U</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F) </a:t>
            </a:r>
            <a:endParaRPr lang="en-US" altLang="zh-CN" b="1" dirty="0">
              <a:latin typeface="黑体" pitchFamily="49" charset="-122"/>
              <a:ea typeface="黑体" pitchFamily="49" charset="-122"/>
            </a:endParaRPr>
          </a:p>
          <a:p>
            <a:pPr marL="273050" lvl="0" indent="-273050" eaLnBrk="1" hangingPunct="1">
              <a:lnSpc>
                <a:spcPct val="110000"/>
              </a:lnSpc>
              <a:buFont typeface="Wingdings" panose="05000000000000000000" pitchFamily="2" charset="2"/>
              <a:buChar char="n"/>
            </a:pPr>
            <a:r>
              <a:rPr lang="zh-CN" altLang="en-US" b="1" dirty="0">
                <a:latin typeface="黑体" pitchFamily="49" charset="-122"/>
                <a:ea typeface="黑体" pitchFamily="49" charset="-122"/>
              </a:rPr>
              <a:t>输出： </a:t>
            </a:r>
            <a:r>
              <a:rPr lang="en-US" altLang="zh-CN" b="1" dirty="0">
                <a:latin typeface="黑体" pitchFamily="49" charset="-122"/>
                <a:ea typeface="黑体" pitchFamily="49" charset="-122"/>
              </a:rPr>
              <a:t>ρ</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 R1</a:t>
            </a:r>
            <a:r>
              <a:rPr lang="zh-CN" altLang="en-US" b="1" dirty="0">
                <a:latin typeface="黑体" pitchFamily="49" charset="-122"/>
                <a:ea typeface="黑体" pitchFamily="49" charset="-122"/>
              </a:rPr>
              <a:t>，</a:t>
            </a:r>
            <a:r>
              <a:rPr lang="en-US" altLang="zh-CN" b="1" dirty="0">
                <a:ea typeface="黑体" pitchFamily="49" charset="-122"/>
              </a:rPr>
              <a:t>…</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Rk}</a:t>
            </a:r>
            <a:endParaRPr lang="en-US" altLang="zh-CN" b="1" dirty="0">
              <a:latin typeface="黑体" pitchFamily="49" charset="-122"/>
              <a:ea typeface="黑体" pitchFamily="49" charset="-122"/>
            </a:endParaRPr>
          </a:p>
          <a:p>
            <a:pPr marL="273050" lvl="0" indent="-273050" eaLnBrk="1" hangingPunct="1">
              <a:lnSpc>
                <a:spcPct val="120000"/>
              </a:lnSpc>
              <a:buFont typeface="Wingdings" panose="05000000000000000000" pitchFamily="2" charset="2"/>
              <a:buChar char="n"/>
            </a:pPr>
            <a:r>
              <a:rPr lang="zh-CN" altLang="en-US" b="1" dirty="0">
                <a:latin typeface="黑体" pitchFamily="49" charset="-122"/>
                <a:ea typeface="黑体" pitchFamily="49" charset="-122"/>
              </a:rPr>
              <a:t>步骤：</a:t>
            </a:r>
            <a:endParaRPr lang="zh-CN" altLang="en-US" b="1" dirty="0">
              <a:latin typeface="黑体" pitchFamily="49" charset="-122"/>
              <a:ea typeface="黑体" pitchFamily="49" charset="-122"/>
            </a:endParaRPr>
          </a:p>
          <a:p>
            <a:pPr marL="273050" lvl="0" indent="-273050" eaLnBrk="1" hangingPunct="1">
              <a:lnSpc>
                <a:spcPct val="120000"/>
              </a:lnSpc>
              <a:buNone/>
            </a:pPr>
            <a:r>
              <a:rPr lang="en-US" altLang="zh-CN" b="1" dirty="0">
                <a:latin typeface="黑体" pitchFamily="49" charset="-122"/>
                <a:ea typeface="黑体" pitchFamily="49" charset="-122"/>
              </a:rPr>
              <a:t>(1)</a:t>
            </a:r>
            <a:r>
              <a:rPr lang="zh-CN" altLang="en-US" b="1" dirty="0">
                <a:latin typeface="黑体" pitchFamily="49" charset="-122"/>
                <a:ea typeface="黑体" pitchFamily="49" charset="-122"/>
              </a:rPr>
              <a:t>令</a:t>
            </a:r>
            <a:r>
              <a:rPr lang="en-US" altLang="zh-CN" b="1" dirty="0">
                <a:latin typeface="黑体" pitchFamily="49" charset="-122"/>
                <a:ea typeface="黑体" pitchFamily="49" charset="-122"/>
              </a:rPr>
              <a:t>ρ</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{R(U</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F)}</a:t>
            </a:r>
            <a:r>
              <a:rPr lang="zh-CN" altLang="en-US" b="1" dirty="0">
                <a:latin typeface="黑体" pitchFamily="49" charset="-122"/>
                <a:ea typeface="黑体" pitchFamily="49" charset="-122"/>
              </a:rPr>
              <a:t>；</a:t>
            </a:r>
            <a:endParaRPr lang="zh-CN" altLang="en-US" b="1" dirty="0">
              <a:latin typeface="黑体" pitchFamily="49" charset="-122"/>
              <a:ea typeface="黑体" pitchFamily="49" charset="-122"/>
            </a:endParaRPr>
          </a:p>
          <a:p>
            <a:pPr marL="273050" lvl="0" indent="-273050" eaLnBrk="1" hangingPunct="1">
              <a:lnSpc>
                <a:spcPct val="120000"/>
              </a:lnSpc>
              <a:buNone/>
            </a:pPr>
            <a:r>
              <a:rPr lang="en-US" altLang="zh-CN" b="1" dirty="0">
                <a:latin typeface="黑体" pitchFamily="49" charset="-122"/>
                <a:ea typeface="黑体" pitchFamily="49" charset="-122"/>
              </a:rPr>
              <a:t>(2)</a:t>
            </a:r>
            <a:r>
              <a:rPr lang="zh-CN" altLang="en-US" b="1" dirty="0">
                <a:latin typeface="黑体" pitchFamily="49" charset="-122"/>
                <a:ea typeface="黑体" pitchFamily="49" charset="-122"/>
              </a:rPr>
              <a:t>如果</a:t>
            </a:r>
            <a:r>
              <a:rPr lang="en-US" altLang="zh-CN" b="1" dirty="0">
                <a:latin typeface="黑体" pitchFamily="49" charset="-122"/>
                <a:ea typeface="黑体" pitchFamily="49" charset="-122"/>
              </a:rPr>
              <a:t>ρ</a:t>
            </a:r>
            <a:r>
              <a:rPr lang="zh-CN" altLang="en-US" b="1" dirty="0">
                <a:latin typeface="黑体" pitchFamily="49" charset="-122"/>
                <a:ea typeface="黑体" pitchFamily="49" charset="-122"/>
              </a:rPr>
              <a:t>中的每个子关系模式均是</a:t>
            </a:r>
            <a:r>
              <a:rPr lang="en-US" altLang="zh-CN" b="1" dirty="0">
                <a:latin typeface="黑体" pitchFamily="49" charset="-122"/>
                <a:ea typeface="黑体" pitchFamily="49" charset="-122"/>
              </a:rPr>
              <a:t>BCNF</a:t>
            </a:r>
            <a:r>
              <a:rPr lang="zh-CN" altLang="en-US" b="1" dirty="0">
                <a:latin typeface="黑体" pitchFamily="49" charset="-122"/>
                <a:ea typeface="黑体" pitchFamily="49" charset="-122"/>
              </a:rPr>
              <a:t>，则算法终止，输出即为 </a:t>
            </a:r>
            <a:r>
              <a:rPr lang="en-US" altLang="zh-CN" b="1" dirty="0">
                <a:latin typeface="黑体" pitchFamily="49" charset="-122"/>
                <a:ea typeface="黑体" pitchFamily="49" charset="-122"/>
              </a:rPr>
              <a:t>ρ</a:t>
            </a:r>
            <a:r>
              <a:rPr lang="zh-CN" altLang="en-US" b="1" dirty="0">
                <a:latin typeface="黑体" pitchFamily="49" charset="-122"/>
                <a:ea typeface="黑体" pitchFamily="49" charset="-122"/>
              </a:rPr>
              <a:t>；</a:t>
            </a:r>
            <a:endParaRPr lang="zh-CN" altLang="en-US" b="1" dirty="0">
              <a:latin typeface="黑体" pitchFamily="49" charset="-122"/>
              <a:ea typeface="黑体" pitchFamily="49" charset="-122"/>
            </a:endParaRPr>
          </a:p>
        </p:txBody>
      </p:sp>
      <p:sp>
        <p:nvSpPr>
          <p:cNvPr id="225283" name="Rectangle 3"/>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BCNF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7330" name="Rectangle 5"/>
          <p:cNvSpPr/>
          <p:nvPr/>
        </p:nvSpPr>
        <p:spPr>
          <a:xfrm>
            <a:off x="611188" y="1758950"/>
            <a:ext cx="8208962" cy="4406900"/>
          </a:xfrm>
          <a:prstGeom prst="rect">
            <a:avLst/>
          </a:prstGeom>
          <a:noFill/>
          <a:ln w="9525">
            <a:noFill/>
          </a:ln>
        </p:spPr>
        <p:txBody>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355600" lvl="0" indent="-355600" eaLnBrk="1" hangingPunct="1">
              <a:lnSpc>
                <a:spcPct val="120000"/>
              </a:lnSpc>
              <a:buNone/>
            </a:pPr>
            <a:r>
              <a:rPr lang="en-US" altLang="zh-CN" b="1" dirty="0">
                <a:latin typeface="黑体" pitchFamily="49" charset="-122"/>
                <a:ea typeface="黑体" pitchFamily="49" charset="-122"/>
              </a:rPr>
              <a:t>(3)</a:t>
            </a:r>
            <a:r>
              <a:rPr lang="zh-CN" altLang="en-US" b="1" dirty="0">
                <a:latin typeface="黑体" pitchFamily="49" charset="-122"/>
                <a:ea typeface="黑体" pitchFamily="49" charset="-122"/>
              </a:rPr>
              <a:t>否则，</a:t>
            </a:r>
            <a:r>
              <a:rPr lang="en-US" altLang="zh-CN" b="1" dirty="0">
                <a:latin typeface="黑体" pitchFamily="49" charset="-122"/>
                <a:ea typeface="黑体" pitchFamily="49" charset="-122"/>
              </a:rPr>
              <a:t>ρ</a:t>
            </a:r>
            <a:r>
              <a:rPr lang="zh-CN" altLang="en-US" b="1" dirty="0">
                <a:latin typeface="黑体" pitchFamily="49" charset="-122"/>
                <a:ea typeface="黑体" pitchFamily="49" charset="-122"/>
              </a:rPr>
              <a:t>中必有某个子关系模式</a:t>
            </a:r>
            <a:r>
              <a:rPr lang="en-US" altLang="zh-CN" b="1" dirty="0">
                <a:latin typeface="黑体" pitchFamily="49" charset="-122"/>
                <a:ea typeface="黑体" pitchFamily="49" charset="-122"/>
              </a:rPr>
              <a:t>Ri(Ui</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Fi)</a:t>
            </a:r>
            <a:r>
              <a:rPr lang="zh-CN" altLang="en-US" b="1" dirty="0">
                <a:latin typeface="黑体" pitchFamily="49" charset="-122"/>
                <a:ea typeface="黑体" pitchFamily="49" charset="-122"/>
              </a:rPr>
              <a:t>不满足</a:t>
            </a:r>
            <a:r>
              <a:rPr lang="en-US" altLang="zh-CN" b="1" dirty="0">
                <a:latin typeface="黑体" pitchFamily="49" charset="-122"/>
                <a:ea typeface="黑体" pitchFamily="49" charset="-122"/>
              </a:rPr>
              <a:t>BCNF</a:t>
            </a:r>
            <a:r>
              <a:rPr lang="zh-CN" altLang="en-US" b="1" dirty="0">
                <a:latin typeface="黑体" pitchFamily="49" charset="-122"/>
                <a:ea typeface="黑体" pitchFamily="49" charset="-122"/>
              </a:rPr>
              <a:t>，根据</a:t>
            </a:r>
            <a:r>
              <a:rPr lang="en-US" altLang="zh-CN" b="1" dirty="0">
                <a:latin typeface="黑体" pitchFamily="49" charset="-122"/>
                <a:ea typeface="黑体" pitchFamily="49" charset="-122"/>
              </a:rPr>
              <a:t>BCNF</a:t>
            </a:r>
            <a:r>
              <a:rPr lang="zh-CN" altLang="en-US" b="1" dirty="0">
                <a:latin typeface="黑体" pitchFamily="49" charset="-122"/>
                <a:ea typeface="黑体" pitchFamily="49" charset="-122"/>
              </a:rPr>
              <a:t>的定义，至少有一个</a:t>
            </a:r>
            <a:r>
              <a:rPr lang="en-US" altLang="zh-CN" b="1" dirty="0">
                <a:latin typeface="黑体" pitchFamily="49" charset="-122"/>
                <a:ea typeface="黑体" pitchFamily="49" charset="-122"/>
              </a:rPr>
              <a:t>X→A∈F</a:t>
            </a:r>
            <a:r>
              <a:rPr lang="zh-CN" altLang="en-US" b="1" baseline="30000" dirty="0">
                <a:latin typeface="黑体" pitchFamily="49" charset="-122"/>
                <a:ea typeface="黑体" pitchFamily="49" charset="-122"/>
              </a:rPr>
              <a:t>＋</a:t>
            </a:r>
            <a:r>
              <a:rPr lang="en-US" altLang="zh-CN" b="1" baseline="-25000" dirty="0">
                <a:latin typeface="黑体" pitchFamily="49" charset="-122"/>
                <a:ea typeface="黑体" pitchFamily="49" charset="-122"/>
              </a:rPr>
              <a:t>i</a:t>
            </a:r>
            <a:r>
              <a:rPr lang="zh-CN" altLang="en-US" b="1" dirty="0">
                <a:latin typeface="黑体" pitchFamily="49" charset="-122"/>
                <a:ea typeface="黑体" pitchFamily="49" charset="-122"/>
              </a:rPr>
              <a:t>，且</a:t>
            </a:r>
            <a:r>
              <a:rPr lang="en-US" altLang="zh-CN" b="1" dirty="0">
                <a:latin typeface="黑体" pitchFamily="49" charset="-122"/>
                <a:ea typeface="黑体" pitchFamily="49" charset="-122"/>
              </a:rPr>
              <a:t>X</a:t>
            </a:r>
            <a:r>
              <a:rPr lang="zh-CN" altLang="en-US" b="1" dirty="0">
                <a:latin typeface="黑体" pitchFamily="49" charset="-122"/>
                <a:ea typeface="黑体" pitchFamily="49" charset="-122"/>
              </a:rPr>
              <a:t>不包含</a:t>
            </a:r>
            <a:r>
              <a:rPr lang="en-US" altLang="zh-CN" b="1" dirty="0">
                <a:latin typeface="黑体" pitchFamily="49" charset="-122"/>
                <a:ea typeface="黑体" pitchFamily="49" charset="-122"/>
              </a:rPr>
              <a:t>Ri</a:t>
            </a:r>
            <a:r>
              <a:rPr lang="zh-CN" altLang="en-US" b="1" dirty="0">
                <a:latin typeface="黑体" pitchFamily="49" charset="-122"/>
                <a:ea typeface="黑体" pitchFamily="49" charset="-122"/>
              </a:rPr>
              <a:t>的任一候选键，将</a:t>
            </a:r>
            <a:r>
              <a:rPr lang="en-US" altLang="zh-CN" b="1" dirty="0">
                <a:latin typeface="黑体" pitchFamily="49" charset="-122"/>
                <a:ea typeface="黑体" pitchFamily="49" charset="-122"/>
              </a:rPr>
              <a:t>Ri</a:t>
            </a:r>
            <a:r>
              <a:rPr lang="zh-CN" altLang="en-US" b="1" dirty="0">
                <a:latin typeface="黑体" pitchFamily="49" charset="-122"/>
                <a:ea typeface="黑体" pitchFamily="49" charset="-122"/>
              </a:rPr>
              <a:t>分解为两个关系模式</a:t>
            </a:r>
            <a:r>
              <a:rPr lang="en-US" altLang="zh-CN" b="1" dirty="0">
                <a:latin typeface="黑体" pitchFamily="49" charset="-122"/>
                <a:ea typeface="黑体" pitchFamily="49" charset="-122"/>
              </a:rPr>
              <a:t>R</a:t>
            </a:r>
            <a:r>
              <a:rPr lang="en-US" altLang="zh-CN" b="1" baseline="-25000" dirty="0">
                <a:latin typeface="黑体" pitchFamily="49" charset="-122"/>
                <a:ea typeface="黑体" pitchFamily="49" charset="-122"/>
              </a:rPr>
              <a:t>i1</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R</a:t>
            </a:r>
            <a:r>
              <a:rPr lang="en-US" altLang="zh-CN" b="1" baseline="-25000" dirty="0">
                <a:latin typeface="黑体" pitchFamily="49" charset="-122"/>
                <a:ea typeface="黑体" pitchFamily="49" charset="-122"/>
              </a:rPr>
              <a:t>i2</a:t>
            </a:r>
            <a:r>
              <a:rPr lang="zh-CN" altLang="en-US" b="1" dirty="0">
                <a:latin typeface="黑体" pitchFamily="49" charset="-122"/>
                <a:ea typeface="黑体" pitchFamily="49" charset="-122"/>
              </a:rPr>
              <a:t>，且</a:t>
            </a:r>
            <a:r>
              <a:rPr lang="en-US" altLang="zh-CN" b="1" dirty="0">
                <a:latin typeface="黑体" pitchFamily="49" charset="-122"/>
                <a:ea typeface="黑体" pitchFamily="49" charset="-122"/>
              </a:rPr>
              <a:t>R</a:t>
            </a:r>
            <a:r>
              <a:rPr lang="en-US" altLang="zh-CN" b="1" baseline="-25000" dirty="0">
                <a:latin typeface="黑体" pitchFamily="49" charset="-122"/>
                <a:ea typeface="黑体" pitchFamily="49" charset="-122"/>
              </a:rPr>
              <a:t>i1</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{XA</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F</a:t>
            </a:r>
            <a:r>
              <a:rPr lang="en-US" altLang="zh-CN" b="1" baseline="-25000" dirty="0">
                <a:latin typeface="黑体" pitchFamily="49" charset="-122"/>
                <a:ea typeface="黑体" pitchFamily="49" charset="-122"/>
              </a:rPr>
              <a:t>i1</a:t>
            </a:r>
            <a:r>
              <a:rPr lang="en-US" altLang="zh-CN" b="1" dirty="0">
                <a:latin typeface="黑体" pitchFamily="49" charset="-122"/>
                <a:ea typeface="黑体" pitchFamily="49" charset="-122"/>
              </a:rPr>
              <a:t>}</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R</a:t>
            </a:r>
            <a:r>
              <a:rPr lang="en-US" altLang="zh-CN" b="1" baseline="-25000" dirty="0">
                <a:latin typeface="黑体" pitchFamily="49" charset="-122"/>
                <a:ea typeface="黑体" pitchFamily="49" charset="-122"/>
              </a:rPr>
              <a:t>i2</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{Ui</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A</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F</a:t>
            </a:r>
            <a:r>
              <a:rPr lang="en-US" altLang="zh-CN" b="1" baseline="-25000" dirty="0">
                <a:latin typeface="黑体" pitchFamily="49" charset="-122"/>
                <a:ea typeface="黑体" pitchFamily="49" charset="-122"/>
              </a:rPr>
              <a:t>i2</a:t>
            </a:r>
            <a:r>
              <a:rPr lang="en-US" altLang="zh-CN" b="1" dirty="0">
                <a:latin typeface="黑体" pitchFamily="49" charset="-122"/>
                <a:ea typeface="黑体" pitchFamily="49" charset="-122"/>
              </a:rPr>
              <a:t>}</a:t>
            </a:r>
            <a:r>
              <a:rPr lang="zh-CN" altLang="en-US" b="1" dirty="0">
                <a:latin typeface="黑体" pitchFamily="49" charset="-122"/>
                <a:ea typeface="黑体" pitchFamily="49" charset="-122"/>
              </a:rPr>
              <a:t>，用</a:t>
            </a:r>
            <a:r>
              <a:rPr lang="en-US" altLang="zh-CN" b="1" dirty="0">
                <a:latin typeface="黑体" pitchFamily="49" charset="-122"/>
                <a:ea typeface="黑体" pitchFamily="49" charset="-122"/>
              </a:rPr>
              <a:t>R</a:t>
            </a:r>
            <a:r>
              <a:rPr lang="en-US" altLang="zh-CN" b="1" baseline="-25000" dirty="0">
                <a:latin typeface="黑体" pitchFamily="49" charset="-122"/>
                <a:ea typeface="黑体" pitchFamily="49" charset="-122"/>
              </a:rPr>
              <a:t>i1</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R</a:t>
            </a:r>
            <a:r>
              <a:rPr lang="en-US" altLang="zh-CN" b="1" baseline="-25000" dirty="0">
                <a:latin typeface="黑体" pitchFamily="49" charset="-122"/>
                <a:ea typeface="黑体" pitchFamily="49" charset="-122"/>
              </a:rPr>
              <a:t>i2</a:t>
            </a:r>
            <a:r>
              <a:rPr lang="zh-CN" altLang="en-US" b="1" dirty="0">
                <a:latin typeface="黑体" pitchFamily="49" charset="-122"/>
                <a:ea typeface="黑体" pitchFamily="49" charset="-122"/>
              </a:rPr>
              <a:t>取代</a:t>
            </a:r>
            <a:r>
              <a:rPr lang="en-US" altLang="zh-CN" b="1" dirty="0">
                <a:latin typeface="黑体" pitchFamily="49" charset="-122"/>
                <a:ea typeface="黑体" pitchFamily="49" charset="-122"/>
              </a:rPr>
              <a:t>Ri</a:t>
            </a:r>
            <a:r>
              <a:rPr lang="zh-CN" altLang="en-US" b="1" dirty="0">
                <a:latin typeface="黑体" pitchFamily="49" charset="-122"/>
                <a:ea typeface="黑体" pitchFamily="49" charset="-122"/>
              </a:rPr>
              <a:t>，返回</a:t>
            </a:r>
            <a:r>
              <a:rPr lang="en-US" altLang="zh-CN" b="1" dirty="0">
                <a:latin typeface="黑体" pitchFamily="49" charset="-122"/>
                <a:ea typeface="黑体" pitchFamily="49" charset="-122"/>
              </a:rPr>
              <a:t>(2)</a:t>
            </a:r>
            <a:r>
              <a:rPr lang="zh-CN" altLang="en-US" b="1" dirty="0">
                <a:latin typeface="黑体" pitchFamily="49" charset="-122"/>
                <a:ea typeface="黑体" pitchFamily="49" charset="-122"/>
              </a:rPr>
              <a:t>继续执行</a:t>
            </a:r>
            <a:endParaRPr lang="zh-CN" altLang="en-US" b="1" dirty="0">
              <a:latin typeface="黑体" pitchFamily="49" charset="-122"/>
              <a:ea typeface="黑体" pitchFamily="49" charset="-122"/>
            </a:endParaRPr>
          </a:p>
        </p:txBody>
      </p:sp>
      <p:sp>
        <p:nvSpPr>
          <p:cNvPr id="227331" name="Rectangle 7"/>
          <p:cNvSpPr/>
          <p:nvPr/>
        </p:nvSpPr>
        <p:spPr>
          <a:xfrm>
            <a:off x="1042988" y="685800"/>
            <a:ext cx="7086600" cy="7318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BCNF</a:t>
            </a:r>
            <a:r>
              <a:rPr lang="zh-CN" altLang="en-US" sz="4000" b="1" dirty="0">
                <a:solidFill>
                  <a:srgbClr val="E40000"/>
                </a:solidFill>
                <a:latin typeface="Arial" panose="020B0604020202020204" pitchFamily="34" charset="0"/>
              </a:rPr>
              <a:t>模式集的算法</a:t>
            </a:r>
            <a:endParaRPr lang="zh-CN" altLang="en-US" sz="4000" b="1" dirty="0">
              <a:solidFill>
                <a:srgbClr val="E40000"/>
              </a:solidFill>
              <a:latin typeface="Arial" panose="020B060402020202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9378" name="Rectangle 2"/>
          <p:cNvSpPr>
            <a:spLocks noGrp="1"/>
          </p:cNvSpPr>
          <p:nvPr>
            <p:ph type="title"/>
          </p:nvPr>
        </p:nvSpPr>
        <p:spPr>
          <a:xfrm>
            <a:off x="971550" y="692150"/>
            <a:ext cx="7488238" cy="731838"/>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BCNF</a:t>
            </a:r>
            <a:r>
              <a:rPr lang="zh-CN" altLang="en-US" sz="4000" b="1" dirty="0">
                <a:solidFill>
                  <a:srgbClr val="E40000"/>
                </a:solidFill>
                <a:latin typeface="Arial" panose="020B0604020202020204" pitchFamily="34" charset="0"/>
              </a:rPr>
              <a:t>模式集的算法</a:t>
            </a:r>
            <a:r>
              <a:rPr lang="en-US" altLang="zh-CN" sz="4000" b="1" dirty="0">
                <a:solidFill>
                  <a:srgbClr val="E40000"/>
                </a:solidFill>
                <a:latin typeface="Arial" panose="020B0604020202020204" pitchFamily="34" charset="0"/>
              </a:rPr>
              <a:t>:</a:t>
            </a:r>
            <a:r>
              <a:rPr lang="zh-CN" altLang="en-US" sz="4000" b="1" dirty="0">
                <a:solidFill>
                  <a:srgbClr val="E40000"/>
                </a:solidFill>
                <a:latin typeface="Arial" panose="020B0604020202020204" pitchFamily="34" charset="0"/>
              </a:rPr>
              <a:t>举例</a:t>
            </a:r>
            <a:endParaRPr lang="zh-CN" altLang="en-US" sz="4000" b="1" dirty="0">
              <a:solidFill>
                <a:srgbClr val="E40000"/>
              </a:solidFill>
              <a:latin typeface="Arial" panose="020B0604020202020204" pitchFamily="34" charset="0"/>
            </a:endParaRPr>
          </a:p>
        </p:txBody>
      </p:sp>
      <p:sp>
        <p:nvSpPr>
          <p:cNvPr id="229379" name="Rectangle 3"/>
          <p:cNvSpPr>
            <a:spLocks noGrp="1"/>
          </p:cNvSpPr>
          <p:nvPr>
            <p:ph idx="1"/>
          </p:nvPr>
        </p:nvSpPr>
        <p:spPr>
          <a:xfrm>
            <a:off x="395288" y="1844675"/>
            <a:ext cx="8497887" cy="4303713"/>
          </a:xfrm>
          <a:ln/>
        </p:spPr>
        <p:txBody>
          <a:bodyPr vert="horz" wrap="square" lIns="91440" tIns="45720" rIns="91440" bIns="45720" anchor="t" anchorCtr="0"/>
          <a:p>
            <a:pPr eaLnBrk="1" hangingPunct="1"/>
            <a:r>
              <a:rPr lang="zh-CN" altLang="en-US" sz="2400" b="1" dirty="0">
                <a:latin typeface="黑体" pitchFamily="49" charset="-122"/>
                <a:ea typeface="黑体" pitchFamily="49" charset="-122"/>
              </a:rPr>
              <a:t>已知关系模式</a:t>
            </a:r>
            <a:r>
              <a:rPr lang="en-US" altLang="zh-CN" sz="2400" b="1" dirty="0">
                <a:latin typeface="黑体" pitchFamily="49" charset="-122"/>
                <a:ea typeface="黑体" pitchFamily="49" charset="-122"/>
              </a:rPr>
              <a:t>R(CTHRSG),</a:t>
            </a:r>
            <a:r>
              <a:rPr lang="zh-CN" altLang="en-US" sz="2400" b="1" dirty="0">
                <a:latin typeface="黑体" pitchFamily="49" charset="-122"/>
                <a:ea typeface="黑体" pitchFamily="49" charset="-122"/>
              </a:rPr>
              <a:t>其中</a:t>
            </a:r>
            <a:endParaRPr lang="zh-CN" altLang="en-US" sz="2400" b="1" dirty="0">
              <a:latin typeface="黑体" pitchFamily="49" charset="-122"/>
              <a:ea typeface="黑体" pitchFamily="49" charset="-122"/>
            </a:endParaRPr>
          </a:p>
          <a:p>
            <a:pPr eaLnBrk="1" hangingPunct="1"/>
            <a:r>
              <a:rPr lang="en-US" altLang="zh-CN" sz="2400" b="1" dirty="0">
                <a:latin typeface="黑体" pitchFamily="49" charset="-122"/>
                <a:ea typeface="黑体" pitchFamily="49" charset="-122"/>
              </a:rPr>
              <a:t>C:</a:t>
            </a:r>
            <a:r>
              <a:rPr lang="zh-CN" altLang="en-US" sz="2400" b="1" dirty="0">
                <a:latin typeface="黑体" pitchFamily="49" charset="-122"/>
                <a:ea typeface="黑体" pitchFamily="49" charset="-122"/>
              </a:rPr>
              <a:t>表示课程     </a:t>
            </a:r>
            <a:r>
              <a:rPr lang="en-US" altLang="zh-CN" sz="2400" b="1" dirty="0">
                <a:latin typeface="黑体" pitchFamily="49" charset="-122"/>
                <a:ea typeface="黑体" pitchFamily="49" charset="-122"/>
              </a:rPr>
              <a:t>T:</a:t>
            </a:r>
            <a:r>
              <a:rPr lang="zh-CN" altLang="en-US" sz="2400" b="1" dirty="0">
                <a:latin typeface="黑体" pitchFamily="49" charset="-122"/>
                <a:ea typeface="黑体" pitchFamily="49" charset="-122"/>
              </a:rPr>
              <a:t>表示教师   </a:t>
            </a:r>
            <a:r>
              <a:rPr lang="en-US" altLang="zh-CN" sz="2400" b="1" dirty="0">
                <a:latin typeface="黑体" pitchFamily="49" charset="-122"/>
                <a:ea typeface="黑体" pitchFamily="49" charset="-122"/>
              </a:rPr>
              <a:t>H:</a:t>
            </a:r>
            <a:r>
              <a:rPr lang="zh-CN" altLang="en-US" sz="2400" b="1" dirty="0">
                <a:latin typeface="黑体" pitchFamily="49" charset="-122"/>
                <a:ea typeface="黑体" pitchFamily="49" charset="-122"/>
              </a:rPr>
              <a:t>表示时间</a:t>
            </a:r>
            <a:endParaRPr lang="zh-CN" altLang="en-US" sz="2400" b="1" dirty="0">
              <a:latin typeface="黑体" pitchFamily="49" charset="-122"/>
              <a:ea typeface="黑体" pitchFamily="49" charset="-122"/>
            </a:endParaRPr>
          </a:p>
          <a:p>
            <a:pPr eaLnBrk="1" hangingPunct="1"/>
            <a:r>
              <a:rPr lang="en-US" altLang="zh-CN" sz="2400" b="1" dirty="0">
                <a:latin typeface="黑体" pitchFamily="49" charset="-122"/>
                <a:ea typeface="黑体" pitchFamily="49" charset="-122"/>
              </a:rPr>
              <a:t>R:</a:t>
            </a:r>
            <a:r>
              <a:rPr lang="zh-CN" altLang="en-US" sz="2400" b="1" dirty="0">
                <a:latin typeface="黑体" pitchFamily="49" charset="-122"/>
                <a:ea typeface="黑体" pitchFamily="49" charset="-122"/>
              </a:rPr>
              <a:t>表示教室     </a:t>
            </a:r>
            <a:r>
              <a:rPr lang="en-US" altLang="zh-CN" sz="2400" b="1" dirty="0">
                <a:latin typeface="黑体" pitchFamily="49" charset="-122"/>
                <a:ea typeface="黑体" pitchFamily="49" charset="-122"/>
              </a:rPr>
              <a:t>S:</a:t>
            </a:r>
            <a:r>
              <a:rPr lang="zh-CN" altLang="en-US" sz="2400" b="1" dirty="0">
                <a:latin typeface="黑体" pitchFamily="49" charset="-122"/>
                <a:ea typeface="黑体" pitchFamily="49" charset="-122"/>
              </a:rPr>
              <a:t>表示学生   </a:t>
            </a:r>
            <a:r>
              <a:rPr lang="en-US" altLang="zh-CN" sz="2400" b="1" dirty="0">
                <a:latin typeface="黑体" pitchFamily="49" charset="-122"/>
                <a:ea typeface="黑体" pitchFamily="49" charset="-122"/>
              </a:rPr>
              <a:t>G:</a:t>
            </a:r>
            <a:r>
              <a:rPr lang="zh-CN" altLang="en-US" sz="2400" b="1" dirty="0">
                <a:latin typeface="黑体" pitchFamily="49" charset="-122"/>
                <a:ea typeface="黑体" pitchFamily="49" charset="-122"/>
              </a:rPr>
              <a:t>表示成绩</a:t>
            </a:r>
            <a:endParaRPr lang="zh-CN" altLang="en-US" sz="2400" b="1" dirty="0">
              <a:latin typeface="黑体" pitchFamily="49" charset="-122"/>
              <a:ea typeface="黑体" pitchFamily="49" charset="-122"/>
            </a:endParaRPr>
          </a:p>
          <a:p>
            <a:pPr eaLnBrk="1" hangingPunct="1"/>
            <a:r>
              <a:rPr lang="en-US" altLang="zh-CN" sz="2400" b="1" dirty="0">
                <a:latin typeface="黑体" pitchFamily="49" charset="-122"/>
                <a:ea typeface="黑体" pitchFamily="49" charset="-122"/>
              </a:rPr>
              <a:t>C </a:t>
            </a:r>
            <a:r>
              <a:rPr lang="en-US" altLang="zh-CN" sz="2400" b="1" dirty="0">
                <a:latin typeface="黑体" pitchFamily="49" charset="-122"/>
                <a:ea typeface="黑体" pitchFamily="49" charset="-122"/>
                <a:sym typeface="Symbol" panose="05050102010706020507" pitchFamily="18" charset="2"/>
              </a:rPr>
              <a:t>T:</a:t>
            </a:r>
            <a:r>
              <a:rPr lang="zh-CN" altLang="en-US" sz="2400" b="1" dirty="0">
                <a:latin typeface="黑体" pitchFamily="49" charset="-122"/>
                <a:ea typeface="黑体" pitchFamily="49" charset="-122"/>
                <a:sym typeface="Symbol" panose="05050102010706020507" pitchFamily="18" charset="2"/>
              </a:rPr>
              <a:t>每门课程仅有一名教师讲授</a:t>
            </a:r>
            <a:endParaRPr lang="zh-CN" altLang="en-US" sz="2400" b="1" dirty="0">
              <a:latin typeface="黑体" pitchFamily="49" charset="-122"/>
              <a:ea typeface="黑体" pitchFamily="49" charset="-122"/>
              <a:sym typeface="Symbol" panose="05050102010706020507" pitchFamily="18" charset="2"/>
            </a:endParaRPr>
          </a:p>
          <a:p>
            <a:pPr eaLnBrk="1" hangingPunct="1"/>
            <a:r>
              <a:rPr lang="en-US" altLang="zh-CN" sz="2400" b="1" dirty="0">
                <a:latin typeface="黑体" pitchFamily="49" charset="-122"/>
                <a:ea typeface="黑体" pitchFamily="49" charset="-122"/>
                <a:sym typeface="Symbol" panose="05050102010706020507" pitchFamily="18" charset="2"/>
              </a:rPr>
              <a:t>HR C:</a:t>
            </a:r>
            <a:r>
              <a:rPr lang="zh-CN" altLang="en-US" sz="2400" b="1" dirty="0">
                <a:latin typeface="黑体" pitchFamily="49" charset="-122"/>
                <a:ea typeface="黑体" pitchFamily="49" charset="-122"/>
                <a:sym typeface="Symbol" panose="05050102010706020507" pitchFamily="18" charset="2"/>
              </a:rPr>
              <a:t>在任一时间，每个教室只能上一门课程</a:t>
            </a:r>
            <a:endParaRPr lang="zh-CN" altLang="en-US" sz="2400" b="1" dirty="0">
              <a:latin typeface="黑体" pitchFamily="49" charset="-122"/>
              <a:ea typeface="黑体" pitchFamily="49" charset="-122"/>
              <a:sym typeface="Symbol" panose="05050102010706020507" pitchFamily="18" charset="2"/>
            </a:endParaRPr>
          </a:p>
          <a:p>
            <a:pPr eaLnBrk="1" hangingPunct="1"/>
            <a:r>
              <a:rPr lang="en-US" altLang="zh-CN" sz="2400" b="1" dirty="0">
                <a:latin typeface="黑体" pitchFamily="49" charset="-122"/>
                <a:ea typeface="黑体" pitchFamily="49" charset="-122"/>
                <a:sym typeface="Symbol" panose="05050102010706020507" pitchFamily="18" charset="2"/>
              </a:rPr>
              <a:t>HT R:</a:t>
            </a:r>
            <a:r>
              <a:rPr lang="zh-CN" altLang="en-US" sz="2400" b="1" dirty="0">
                <a:latin typeface="黑体" pitchFamily="49" charset="-122"/>
                <a:ea typeface="黑体" pitchFamily="49" charset="-122"/>
                <a:sym typeface="Symbol" panose="05050102010706020507" pitchFamily="18" charset="2"/>
              </a:rPr>
              <a:t>在一个时间，一个教师只能在一个教室上课</a:t>
            </a:r>
            <a:endParaRPr lang="zh-CN" altLang="en-US" sz="2400" b="1" dirty="0">
              <a:latin typeface="黑体" pitchFamily="49" charset="-122"/>
              <a:ea typeface="黑体" pitchFamily="49" charset="-122"/>
              <a:sym typeface="Symbol" panose="05050102010706020507" pitchFamily="18" charset="2"/>
            </a:endParaRPr>
          </a:p>
          <a:p>
            <a:pPr eaLnBrk="1" hangingPunct="1"/>
            <a:r>
              <a:rPr lang="en-US" altLang="zh-CN" sz="2400" b="1" dirty="0">
                <a:latin typeface="黑体" pitchFamily="49" charset="-122"/>
                <a:ea typeface="黑体" pitchFamily="49" charset="-122"/>
              </a:rPr>
              <a:t>CS </a:t>
            </a:r>
            <a:r>
              <a:rPr lang="en-US" altLang="zh-CN" sz="2400" b="1" dirty="0">
                <a:latin typeface="黑体" pitchFamily="49" charset="-122"/>
                <a:ea typeface="黑体" pitchFamily="49" charset="-122"/>
                <a:sym typeface="Symbol" panose="05050102010706020507" pitchFamily="18" charset="2"/>
              </a:rPr>
              <a:t>G:</a:t>
            </a:r>
            <a:r>
              <a:rPr lang="zh-CN" altLang="en-US" sz="2400" b="1" dirty="0">
                <a:latin typeface="黑体" pitchFamily="49" charset="-122"/>
                <a:ea typeface="黑体" pitchFamily="49" charset="-122"/>
                <a:sym typeface="Symbol" panose="05050102010706020507" pitchFamily="18" charset="2"/>
              </a:rPr>
              <a:t>每个学生的每门课程只有一个成绩</a:t>
            </a:r>
            <a:endParaRPr lang="zh-CN" altLang="en-US" sz="2400" b="1" dirty="0">
              <a:latin typeface="黑体" pitchFamily="49" charset="-122"/>
              <a:ea typeface="黑体" pitchFamily="49" charset="-122"/>
              <a:sym typeface="Symbol" panose="05050102010706020507" pitchFamily="18" charset="2"/>
            </a:endParaRPr>
          </a:p>
          <a:p>
            <a:pPr eaLnBrk="1" hangingPunct="1"/>
            <a:r>
              <a:rPr lang="en-US" altLang="zh-CN" sz="2400" b="1" dirty="0">
                <a:latin typeface="黑体" pitchFamily="49" charset="-122"/>
                <a:ea typeface="黑体" pitchFamily="49" charset="-122"/>
              </a:rPr>
              <a:t>HS </a:t>
            </a:r>
            <a:r>
              <a:rPr lang="en-US" altLang="zh-CN" sz="2400" b="1" dirty="0">
                <a:latin typeface="黑体" pitchFamily="49" charset="-122"/>
                <a:ea typeface="黑体" pitchFamily="49" charset="-122"/>
                <a:sym typeface="Symbol" panose="05050102010706020507" pitchFamily="18" charset="2"/>
              </a:rPr>
              <a:t>R:</a:t>
            </a:r>
            <a:r>
              <a:rPr lang="zh-CN" altLang="en-US" sz="2400" b="1" dirty="0">
                <a:latin typeface="黑体" pitchFamily="49" charset="-122"/>
                <a:ea typeface="黑体" pitchFamily="49" charset="-122"/>
                <a:sym typeface="Symbol" panose="05050102010706020507" pitchFamily="18" charset="2"/>
              </a:rPr>
              <a:t>在一个时间，每个学生只能在一个教室内听课</a:t>
            </a:r>
            <a:endParaRPr lang="zh-CN" altLang="en-US" sz="2400" b="1" dirty="0">
              <a:latin typeface="黑体" pitchFamily="49" charset="-122"/>
              <a:ea typeface="黑体" pitchFamily="49" charset="-122"/>
            </a:endParaRPr>
          </a:p>
        </p:txBody>
      </p:sp>
      <p:sp>
        <p:nvSpPr>
          <p:cNvPr id="229380" name="Text Box 4"/>
          <p:cNvSpPr txBox="1"/>
          <p:nvPr/>
        </p:nvSpPr>
        <p:spPr>
          <a:xfrm>
            <a:off x="7154863" y="2492375"/>
            <a:ext cx="1233487" cy="466725"/>
          </a:xfrm>
          <a:prstGeom prst="rect">
            <a:avLst/>
          </a:prstGeom>
          <a:solidFill>
            <a:srgbClr val="FFFF00"/>
          </a:solidFill>
          <a:ln w="9525" cap="flat" cmpd="sng">
            <a:solidFill>
              <a:schemeClr val="hlink"/>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b="1" dirty="0">
                <a:latin typeface="Tahoma" panose="020B0604030504040204" pitchFamily="34" charset="0"/>
              </a:rPr>
              <a:t>键为</a:t>
            </a:r>
            <a:r>
              <a:rPr lang="en-US" altLang="zh-CN" sz="2400" b="1" dirty="0">
                <a:latin typeface="Tahoma" panose="020B0604030504040204" pitchFamily="34" charset="0"/>
              </a:rPr>
              <a:t>HS</a:t>
            </a:r>
            <a:endParaRPr lang="en-US" altLang="zh-CN" sz="2400" b="1" dirty="0">
              <a:latin typeface="Tahoma" panose="020B0604030504040204"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1426" name="Rectangle 2"/>
          <p:cNvSpPr>
            <a:spLocks noGrp="1"/>
          </p:cNvSpPr>
          <p:nvPr>
            <p:ph idx="1"/>
          </p:nvPr>
        </p:nvSpPr>
        <p:spPr>
          <a:xfrm>
            <a:off x="611188" y="1628775"/>
            <a:ext cx="8077200" cy="5029200"/>
          </a:xfrm>
          <a:ln/>
        </p:spPr>
        <p:txBody>
          <a:bodyPr vert="horz" wrap="square" lIns="91440" tIns="45720" rIns="91440" bIns="45720" anchor="t" anchorCtr="0"/>
          <a:p>
            <a:pPr eaLnBrk="1" hangingPunct="1">
              <a:lnSpc>
                <a:spcPct val="90000"/>
              </a:lnSpc>
            </a:pPr>
            <a:r>
              <a:rPr lang="en-US" altLang="zh-CN" sz="2400" b="1" dirty="0">
                <a:latin typeface="黑体" pitchFamily="49" charset="-122"/>
                <a:ea typeface="黑体" pitchFamily="49" charset="-122"/>
              </a:rPr>
              <a:t>CTHRSG</a:t>
            </a:r>
            <a:r>
              <a:rPr lang="zh-CN" altLang="en-US" sz="2400" b="1" dirty="0">
                <a:latin typeface="黑体" pitchFamily="49" charset="-122"/>
                <a:ea typeface="黑体" pitchFamily="49" charset="-122"/>
              </a:rPr>
              <a:t>经过三次分解，分解为</a:t>
            </a:r>
            <a:r>
              <a:rPr lang="en-US" altLang="zh-CN" sz="2400" b="1" dirty="0">
                <a:latin typeface="黑体" pitchFamily="49" charset="-122"/>
                <a:ea typeface="黑体" pitchFamily="49" charset="-122"/>
              </a:rPr>
              <a:t>CSG,CT,CHR,CHS</a:t>
            </a:r>
            <a:r>
              <a:rPr lang="zh-CN" altLang="en-US" sz="2400" b="1" dirty="0">
                <a:latin typeface="黑体" pitchFamily="49" charset="-122"/>
                <a:ea typeface="黑体" pitchFamily="49" charset="-122"/>
              </a:rPr>
              <a:t>模式。这四个关系模式分别描述了：</a:t>
            </a:r>
            <a:endParaRPr lang="zh-CN" altLang="en-US" sz="2400" b="1" dirty="0">
              <a:latin typeface="黑体" pitchFamily="49" charset="-122"/>
              <a:ea typeface="黑体" pitchFamily="49" charset="-122"/>
            </a:endParaRPr>
          </a:p>
          <a:p>
            <a:pPr lvl="1" eaLnBrk="1" hangingPunct="1">
              <a:lnSpc>
                <a:spcPct val="90000"/>
              </a:lnSpc>
            </a:pPr>
            <a:r>
              <a:rPr lang="en-US" altLang="zh-CN" b="1" dirty="0">
                <a:latin typeface="黑体" pitchFamily="49" charset="-122"/>
                <a:ea typeface="黑体" pitchFamily="49" charset="-122"/>
              </a:rPr>
              <a:t>CSG:</a:t>
            </a:r>
            <a:r>
              <a:rPr lang="zh-CN" altLang="en-US" b="1" dirty="0">
                <a:latin typeface="黑体" pitchFamily="49" charset="-122"/>
                <a:ea typeface="黑体" pitchFamily="49" charset="-122"/>
              </a:rPr>
              <a:t>学生的各门课程成绩</a:t>
            </a:r>
            <a:endParaRPr lang="zh-CN" altLang="en-US" b="1" dirty="0">
              <a:latin typeface="黑体" pitchFamily="49" charset="-122"/>
              <a:ea typeface="黑体" pitchFamily="49" charset="-122"/>
            </a:endParaRPr>
          </a:p>
          <a:p>
            <a:pPr lvl="1" eaLnBrk="1" hangingPunct="1">
              <a:lnSpc>
                <a:spcPct val="90000"/>
              </a:lnSpc>
            </a:pPr>
            <a:r>
              <a:rPr lang="en-US" altLang="zh-CN" b="1" dirty="0">
                <a:latin typeface="黑体" pitchFamily="49" charset="-122"/>
                <a:ea typeface="黑体" pitchFamily="49" charset="-122"/>
              </a:rPr>
              <a:t>CT:</a:t>
            </a:r>
            <a:r>
              <a:rPr lang="zh-CN" altLang="en-US" b="1" dirty="0">
                <a:latin typeface="黑体" pitchFamily="49" charset="-122"/>
                <a:ea typeface="黑体" pitchFamily="49" charset="-122"/>
              </a:rPr>
              <a:t>各门课的任课教师</a:t>
            </a:r>
            <a:endParaRPr lang="zh-CN" altLang="en-US" b="1" dirty="0">
              <a:latin typeface="黑体" pitchFamily="49" charset="-122"/>
              <a:ea typeface="黑体" pitchFamily="49" charset="-122"/>
            </a:endParaRPr>
          </a:p>
          <a:p>
            <a:pPr lvl="1" eaLnBrk="1" hangingPunct="1">
              <a:lnSpc>
                <a:spcPct val="90000"/>
              </a:lnSpc>
            </a:pPr>
            <a:r>
              <a:rPr lang="en-US" altLang="zh-CN" b="1" dirty="0">
                <a:latin typeface="黑体" pitchFamily="49" charset="-122"/>
                <a:ea typeface="黑体" pitchFamily="49" charset="-122"/>
              </a:rPr>
              <a:t>CHR:</a:t>
            </a:r>
            <a:r>
              <a:rPr lang="zh-CN" altLang="en-US" b="1" dirty="0">
                <a:latin typeface="黑体" pitchFamily="49" charset="-122"/>
                <a:ea typeface="黑体" pitchFamily="49" charset="-122"/>
              </a:rPr>
              <a:t>每门课程的上课时间和每个时间的上课教室</a:t>
            </a:r>
            <a:endParaRPr lang="zh-CN" altLang="en-US" b="1" dirty="0">
              <a:latin typeface="黑体" pitchFamily="49" charset="-122"/>
              <a:ea typeface="黑体" pitchFamily="49" charset="-122"/>
            </a:endParaRPr>
          </a:p>
          <a:p>
            <a:pPr lvl="1" eaLnBrk="1" hangingPunct="1">
              <a:lnSpc>
                <a:spcPct val="90000"/>
              </a:lnSpc>
            </a:pPr>
            <a:r>
              <a:rPr lang="en-US" altLang="zh-CN" b="1" dirty="0">
                <a:latin typeface="黑体" pitchFamily="49" charset="-122"/>
                <a:ea typeface="黑体" pitchFamily="49" charset="-122"/>
              </a:rPr>
              <a:t>CHS:</a:t>
            </a:r>
            <a:r>
              <a:rPr lang="zh-CN" altLang="en-US" b="1" dirty="0">
                <a:latin typeface="黑体" pitchFamily="49" charset="-122"/>
                <a:ea typeface="黑体" pitchFamily="49" charset="-122"/>
              </a:rPr>
              <a:t>每个学生的上课时间表</a:t>
            </a:r>
            <a:endParaRPr lang="zh-CN" altLang="en-US" b="1" dirty="0">
              <a:latin typeface="黑体" pitchFamily="49" charset="-122"/>
              <a:ea typeface="黑体" pitchFamily="49" charset="-122"/>
            </a:endParaRPr>
          </a:p>
          <a:p>
            <a:pPr eaLnBrk="1" hangingPunct="1">
              <a:lnSpc>
                <a:spcPct val="90000"/>
              </a:lnSpc>
            </a:pPr>
            <a:r>
              <a:rPr lang="zh-CN" altLang="en-US" sz="2400" b="1" dirty="0">
                <a:latin typeface="黑体" pitchFamily="49" charset="-122"/>
                <a:ea typeface="黑体" pitchFamily="49" charset="-122"/>
              </a:rPr>
              <a:t>这些模式都是</a:t>
            </a:r>
            <a:r>
              <a:rPr lang="en-US" altLang="zh-CN" sz="2400" b="1" dirty="0">
                <a:latin typeface="黑体" pitchFamily="49" charset="-122"/>
                <a:ea typeface="黑体" pitchFamily="49" charset="-122"/>
              </a:rPr>
              <a:t>BCNF</a:t>
            </a:r>
            <a:r>
              <a:rPr lang="zh-CN" altLang="en-US" sz="2400" b="1" dirty="0">
                <a:latin typeface="黑体" pitchFamily="49" charset="-122"/>
                <a:ea typeface="黑体" pitchFamily="49" charset="-122"/>
              </a:rPr>
              <a:t>，而且这些分解是无损分解。</a:t>
            </a:r>
            <a:endParaRPr lang="zh-CN" altLang="en-US" sz="2400" b="1" dirty="0">
              <a:latin typeface="黑体" pitchFamily="49" charset="-122"/>
              <a:ea typeface="黑体" pitchFamily="49" charset="-122"/>
            </a:endParaRPr>
          </a:p>
          <a:p>
            <a:pPr eaLnBrk="1" hangingPunct="1">
              <a:lnSpc>
                <a:spcPct val="90000"/>
              </a:lnSpc>
            </a:pPr>
            <a:r>
              <a:rPr lang="zh-CN" altLang="en-US" sz="2400" b="1" dirty="0">
                <a:latin typeface="黑体" pitchFamily="49" charset="-122"/>
                <a:ea typeface="黑体" pitchFamily="49" charset="-122"/>
              </a:rPr>
              <a:t>但是保持函数依赖吗？</a:t>
            </a:r>
            <a:endParaRPr lang="zh-CN" altLang="en-US" sz="2400" b="1" dirty="0">
              <a:latin typeface="黑体" pitchFamily="49" charset="-122"/>
              <a:ea typeface="黑体" pitchFamily="49" charset="-122"/>
            </a:endParaRPr>
          </a:p>
        </p:txBody>
      </p:sp>
      <p:sp>
        <p:nvSpPr>
          <p:cNvPr id="231427" name="Rectangle 3"/>
          <p:cNvSpPr>
            <a:spLocks noGrp="1"/>
          </p:cNvSpPr>
          <p:nvPr>
            <p:ph type="title"/>
          </p:nvPr>
        </p:nvSpPr>
        <p:spPr>
          <a:xfrm>
            <a:off x="900113" y="692150"/>
            <a:ext cx="7632700" cy="692150"/>
          </a:xfrm>
          <a:ln/>
        </p:spPr>
        <p:txBody>
          <a:bodyPr vert="horz" wrap="square" lIns="91440" tIns="45720" rIns="91440" bIns="45720" anchor="ctr" anchorCtr="0"/>
          <a:p>
            <a:pPr eaLnBrk="1" hangingPunct="1"/>
            <a:r>
              <a:rPr lang="zh-CN" altLang="en-US" sz="4000" b="1" dirty="0">
                <a:solidFill>
                  <a:srgbClr val="E40000"/>
                </a:solidFill>
                <a:latin typeface="Arial" panose="020B0604020202020204" pitchFamily="34" charset="0"/>
              </a:rPr>
              <a:t>分解成</a:t>
            </a:r>
            <a:r>
              <a:rPr lang="en-US" altLang="zh-CN" sz="4000" b="1" dirty="0">
                <a:solidFill>
                  <a:srgbClr val="E40000"/>
                </a:solidFill>
                <a:latin typeface="Arial" panose="020B0604020202020204" pitchFamily="34" charset="0"/>
              </a:rPr>
              <a:t>BCNF</a:t>
            </a:r>
            <a:r>
              <a:rPr lang="zh-CN" altLang="en-US" sz="4000" b="1" dirty="0">
                <a:solidFill>
                  <a:srgbClr val="E40000"/>
                </a:solidFill>
                <a:latin typeface="Arial" panose="020B0604020202020204" pitchFamily="34" charset="0"/>
              </a:rPr>
              <a:t>模式集的算法</a:t>
            </a:r>
            <a:r>
              <a:rPr lang="en-US" altLang="zh-CN" sz="4000" b="1" dirty="0">
                <a:solidFill>
                  <a:srgbClr val="E40000"/>
                </a:solidFill>
                <a:latin typeface="Arial" panose="020B0604020202020204" pitchFamily="34" charset="0"/>
              </a:rPr>
              <a:t>:</a:t>
            </a:r>
            <a:r>
              <a:rPr lang="zh-CN" altLang="en-US" sz="4000" b="1" dirty="0">
                <a:solidFill>
                  <a:srgbClr val="E40000"/>
                </a:solidFill>
                <a:latin typeface="Arial" panose="020B0604020202020204" pitchFamily="34" charset="0"/>
              </a:rPr>
              <a:t>举例</a:t>
            </a:r>
            <a:endParaRPr lang="zh-CN" altLang="en-US" sz="4000" b="1" dirty="0">
              <a:solidFill>
                <a:srgbClr val="E40000"/>
              </a:solidFill>
              <a:latin typeface="Arial" panose="020B0604020202020204" pitchFamily="34" charset="0"/>
            </a:endParaRPr>
          </a:p>
        </p:txBody>
      </p:sp>
      <p:sp>
        <p:nvSpPr>
          <p:cNvPr id="231428" name="Text Box 4"/>
          <p:cNvSpPr txBox="1"/>
          <p:nvPr/>
        </p:nvSpPr>
        <p:spPr>
          <a:xfrm>
            <a:off x="6627813" y="2276475"/>
            <a:ext cx="1233487" cy="466725"/>
          </a:xfrm>
          <a:prstGeom prst="rect">
            <a:avLst/>
          </a:prstGeom>
          <a:solidFill>
            <a:srgbClr val="FFFF00"/>
          </a:solidFill>
          <a:ln w="9525" cap="flat" cmpd="sng">
            <a:solidFill>
              <a:schemeClr val="hlink"/>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2400" b="1" dirty="0">
                <a:latin typeface="Tahoma" panose="020B0604030504040204" pitchFamily="34" charset="0"/>
              </a:rPr>
              <a:t>键为</a:t>
            </a:r>
            <a:r>
              <a:rPr lang="en-US" altLang="zh-CN" sz="2400" b="1" dirty="0">
                <a:latin typeface="Tahoma" panose="020B0604030504040204" pitchFamily="34" charset="0"/>
              </a:rPr>
              <a:t>HS</a:t>
            </a:r>
            <a:endParaRPr lang="en-US" altLang="zh-CN" sz="2400" b="1" dirty="0">
              <a:latin typeface="Tahoma" panose="020B0604030504040204" pitchFamily="3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33474" name="Picture 2"/>
          <p:cNvPicPr>
            <a:picLocks noChangeAspect="1"/>
          </p:cNvPicPr>
          <p:nvPr/>
        </p:nvPicPr>
        <p:blipFill>
          <a:blip r:embed="rId1"/>
          <a:stretch>
            <a:fillRect/>
          </a:stretch>
        </p:blipFill>
        <p:spPr>
          <a:xfrm>
            <a:off x="5765800" y="44450"/>
            <a:ext cx="3486150" cy="2382838"/>
          </a:xfrm>
          <a:prstGeom prst="rect">
            <a:avLst/>
          </a:prstGeom>
          <a:noFill/>
          <a:ln w="9525">
            <a:noFill/>
          </a:ln>
        </p:spPr>
      </p:pic>
      <p:sp>
        <p:nvSpPr>
          <p:cNvPr id="233475" name="Oval 2"/>
          <p:cNvSpPr/>
          <p:nvPr/>
        </p:nvSpPr>
        <p:spPr>
          <a:xfrm>
            <a:off x="0" y="76200"/>
            <a:ext cx="2438400" cy="1447800"/>
          </a:xfrm>
          <a:prstGeom prst="ellipse">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000" b="1" dirty="0">
                <a:solidFill>
                  <a:schemeClr val="folHlink"/>
                </a:solidFill>
                <a:latin typeface="Tahoma" panose="020B0604030504040204" pitchFamily="34" charset="0"/>
              </a:rPr>
              <a:t>CTHRSG</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Key</a:t>
            </a:r>
            <a:r>
              <a:rPr lang="zh-CN" altLang="en-US" sz="2000" b="1" dirty="0">
                <a:solidFill>
                  <a:schemeClr val="folHlink"/>
                </a:solidFill>
                <a:latin typeface="Tahoma" panose="020B0604030504040204" pitchFamily="34" charset="0"/>
              </a:rPr>
              <a:t>＝</a:t>
            </a:r>
            <a:r>
              <a:rPr lang="en-US" altLang="zh-CN" sz="2000" b="1" dirty="0">
                <a:solidFill>
                  <a:schemeClr val="folHlink"/>
                </a:solidFill>
                <a:latin typeface="Tahoma" panose="020B0604030504040204" pitchFamily="34" charset="0"/>
              </a:rPr>
              <a:t>HS</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C </a:t>
            </a:r>
            <a:r>
              <a:rPr lang="en-US" altLang="zh-CN" sz="2000" b="1" dirty="0">
                <a:solidFill>
                  <a:schemeClr val="folHlink"/>
                </a:solidFill>
                <a:latin typeface="Tahoma" panose="020B0604030504040204" pitchFamily="34" charset="0"/>
                <a:sym typeface="Symbol" panose="05050102010706020507" pitchFamily="18" charset="2"/>
              </a:rPr>
              <a:t>T, </a:t>
            </a:r>
            <a:r>
              <a:rPr lang="en-US" altLang="zh-CN" sz="2000" b="1" dirty="0">
                <a:solidFill>
                  <a:schemeClr val="hlink"/>
                </a:solidFill>
                <a:latin typeface="Times New Roman" panose="02020603050405020304" pitchFamily="18" charset="0"/>
                <a:ea typeface="楷体_GB2312" pitchFamily="49" charset="-122"/>
              </a:rPr>
              <a:t>CS</a:t>
            </a:r>
            <a:r>
              <a:rPr lang="en-US" altLang="zh-CN" sz="2000" b="1" dirty="0">
                <a:solidFill>
                  <a:schemeClr val="hlink"/>
                </a:solidFill>
                <a:latin typeface="Tahoma" panose="020B0604030504040204" pitchFamily="34" charset="0"/>
                <a:sym typeface="Symbol" panose="05050102010706020507" pitchFamily="18" charset="2"/>
              </a:rPr>
              <a:t>G</a:t>
            </a:r>
            <a:r>
              <a:rPr lang="en-US" altLang="zh-CN" sz="2000" b="1" dirty="0">
                <a:solidFill>
                  <a:schemeClr val="folHlink"/>
                </a:solidFill>
                <a:latin typeface="Tahoma" panose="020B0604030504040204" pitchFamily="34" charset="0"/>
                <a:sym typeface="Symbol" panose="05050102010706020507" pitchFamily="18" charset="2"/>
              </a:rPr>
              <a:t>,</a:t>
            </a:r>
            <a:endParaRPr lang="en-US" altLang="zh-CN" sz="2000" b="1" dirty="0">
              <a:solidFill>
                <a:schemeClr val="folHlink"/>
              </a:solidFill>
              <a:latin typeface="Tahoma" panose="020B0604030504040204" pitchFamily="34" charset="0"/>
              <a:sym typeface="Symbol" panose="05050102010706020507" pitchFamily="18" charset="2"/>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 </a:t>
            </a:r>
            <a:r>
              <a:rPr lang="en-US" altLang="zh-CN" sz="2000" b="1" dirty="0">
                <a:solidFill>
                  <a:schemeClr val="folHlink"/>
                </a:solidFill>
                <a:latin typeface="Times New Roman" panose="02020603050405020304" pitchFamily="18" charset="0"/>
                <a:ea typeface="楷体_GB2312" pitchFamily="49" charset="-122"/>
              </a:rPr>
              <a:t>H</a:t>
            </a:r>
            <a:r>
              <a:rPr lang="en-US" altLang="zh-CN" sz="2000" b="1" dirty="0">
                <a:solidFill>
                  <a:schemeClr val="folHlink"/>
                </a:solidFill>
                <a:latin typeface="Tahoma" panose="020B0604030504040204" pitchFamily="34" charset="0"/>
              </a:rPr>
              <a:t>R </a:t>
            </a:r>
            <a:r>
              <a:rPr lang="en-US" altLang="zh-CN" sz="2000" b="1" dirty="0">
                <a:solidFill>
                  <a:schemeClr val="folHlink"/>
                </a:solidFill>
                <a:latin typeface="Tahoma" panose="020B0604030504040204" pitchFamily="34" charset="0"/>
                <a:sym typeface="Symbol" panose="05050102010706020507" pitchFamily="18" charset="2"/>
              </a:rPr>
              <a:t>C,</a:t>
            </a:r>
            <a:r>
              <a:rPr lang="en-US" altLang="zh-CN" sz="2000" b="1" dirty="0">
                <a:solidFill>
                  <a:schemeClr val="folHlink"/>
                </a:solidFill>
                <a:latin typeface="Times New Roman" panose="02020603050405020304" pitchFamily="18" charset="0"/>
                <a:ea typeface="楷体_GB2312" pitchFamily="49" charset="-122"/>
              </a:rPr>
              <a:t>H</a:t>
            </a:r>
            <a:r>
              <a:rPr lang="en-US" altLang="zh-CN" sz="2000" b="1" dirty="0">
                <a:solidFill>
                  <a:schemeClr val="folHlink"/>
                </a:solidFill>
                <a:latin typeface="Tahoma" panose="020B0604030504040204" pitchFamily="34" charset="0"/>
              </a:rPr>
              <a:t>S</a:t>
            </a:r>
            <a:r>
              <a:rPr lang="en-US" altLang="zh-CN" sz="2000" b="1" dirty="0">
                <a:solidFill>
                  <a:schemeClr val="folHlink"/>
                </a:solidFill>
                <a:latin typeface="Tahoma" panose="020B0604030504040204" pitchFamily="34" charset="0"/>
                <a:sym typeface="Symbol" panose="05050102010706020507" pitchFamily="18" charset="2"/>
              </a:rPr>
              <a:t>R,</a:t>
            </a:r>
            <a:endParaRPr lang="en-US" altLang="zh-CN" sz="2000" b="1" dirty="0">
              <a:solidFill>
                <a:schemeClr val="folHlink"/>
              </a:solidFill>
              <a:latin typeface="Tahoma" panose="020B0604030504040204" pitchFamily="34" charset="0"/>
              <a:sym typeface="Symbol" panose="05050102010706020507" pitchFamily="18" charset="2"/>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sym typeface="Symbol" panose="05050102010706020507" pitchFamily="18" charset="2"/>
              </a:rPr>
              <a:t> </a:t>
            </a:r>
            <a:r>
              <a:rPr lang="en-US" altLang="zh-CN" sz="2000" b="1" dirty="0">
                <a:solidFill>
                  <a:schemeClr val="folHlink"/>
                </a:solidFill>
                <a:latin typeface="Times New Roman" panose="02020603050405020304" pitchFamily="18" charset="0"/>
                <a:ea typeface="楷体_GB2312" pitchFamily="49" charset="-122"/>
              </a:rPr>
              <a:t>H</a:t>
            </a:r>
            <a:r>
              <a:rPr lang="en-US" altLang="zh-CN" sz="2000" b="1" dirty="0">
                <a:solidFill>
                  <a:schemeClr val="folHlink"/>
                </a:solidFill>
                <a:latin typeface="Tahoma" panose="020B0604030504040204" pitchFamily="34" charset="0"/>
              </a:rPr>
              <a:t>T</a:t>
            </a:r>
            <a:r>
              <a:rPr lang="en-US" altLang="zh-CN" sz="2000" b="1" dirty="0">
                <a:solidFill>
                  <a:schemeClr val="folHlink"/>
                </a:solidFill>
                <a:latin typeface="Tahoma" panose="020B0604030504040204" pitchFamily="34" charset="0"/>
                <a:sym typeface="Symbol" panose="05050102010706020507" pitchFamily="18" charset="2"/>
              </a:rPr>
              <a:t>R</a:t>
            </a:r>
            <a:endParaRPr lang="en-US" altLang="zh-CN" sz="2000" b="1" dirty="0">
              <a:solidFill>
                <a:schemeClr val="folHlink"/>
              </a:solidFill>
              <a:latin typeface="Tahoma" panose="020B0604030504040204" pitchFamily="34" charset="0"/>
              <a:sym typeface="Symbol" panose="05050102010706020507" pitchFamily="18" charset="2"/>
            </a:endParaRPr>
          </a:p>
        </p:txBody>
      </p:sp>
      <p:grpSp>
        <p:nvGrpSpPr>
          <p:cNvPr id="411651" name="Group 3"/>
          <p:cNvGrpSpPr/>
          <p:nvPr/>
        </p:nvGrpSpPr>
        <p:grpSpPr>
          <a:xfrm>
            <a:off x="0" y="838200"/>
            <a:ext cx="5715000" cy="2819400"/>
            <a:chOff x="0" y="528"/>
            <a:chExt cx="3600" cy="1776"/>
          </a:xfrm>
        </p:grpSpPr>
        <p:grpSp>
          <p:nvGrpSpPr>
            <p:cNvPr id="233488" name="Group 4"/>
            <p:cNvGrpSpPr/>
            <p:nvPr/>
          </p:nvGrpSpPr>
          <p:grpSpPr>
            <a:xfrm>
              <a:off x="0" y="528"/>
              <a:ext cx="3600" cy="1776"/>
              <a:chOff x="0" y="528"/>
              <a:chExt cx="3600" cy="1776"/>
            </a:xfrm>
          </p:grpSpPr>
          <p:sp>
            <p:nvSpPr>
              <p:cNvPr id="233491" name="Oval 5"/>
              <p:cNvSpPr/>
              <p:nvPr/>
            </p:nvSpPr>
            <p:spPr>
              <a:xfrm>
                <a:off x="2064" y="528"/>
                <a:ext cx="1536" cy="912"/>
              </a:xfrm>
              <a:prstGeom prst="ellipse">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000" b="1" dirty="0">
                    <a:solidFill>
                      <a:schemeClr val="folHlink"/>
                    </a:solidFill>
                    <a:latin typeface="Tahoma" panose="020B0604030504040204" pitchFamily="34" charset="0"/>
                  </a:rPr>
                  <a:t>CTHRS</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Key</a:t>
                </a:r>
                <a:r>
                  <a:rPr lang="zh-CN" altLang="en-US" sz="2000" b="1" dirty="0">
                    <a:solidFill>
                      <a:schemeClr val="folHlink"/>
                    </a:solidFill>
                    <a:latin typeface="Tahoma" panose="020B0604030504040204" pitchFamily="34" charset="0"/>
                  </a:rPr>
                  <a:t>＝</a:t>
                </a:r>
                <a:r>
                  <a:rPr lang="en-US" altLang="zh-CN" sz="2000" b="1" dirty="0">
                    <a:solidFill>
                      <a:schemeClr val="folHlink"/>
                    </a:solidFill>
                    <a:latin typeface="Tahoma" panose="020B0604030504040204" pitchFamily="34" charset="0"/>
                  </a:rPr>
                  <a:t>HS</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hlink"/>
                    </a:solidFill>
                    <a:latin typeface="Tahoma" panose="020B0604030504040204" pitchFamily="34" charset="0"/>
                  </a:rPr>
                  <a:t>C </a:t>
                </a:r>
                <a:r>
                  <a:rPr lang="en-US" altLang="zh-CN" sz="2000" b="1" dirty="0">
                    <a:solidFill>
                      <a:schemeClr val="hlink"/>
                    </a:solidFill>
                    <a:latin typeface="Tahoma" panose="020B0604030504040204" pitchFamily="34" charset="0"/>
                    <a:sym typeface="Symbol" panose="05050102010706020507" pitchFamily="18" charset="2"/>
                  </a:rPr>
                  <a:t>T</a:t>
                </a:r>
                <a:r>
                  <a:rPr lang="en-US" altLang="zh-CN" sz="2000" b="1" dirty="0">
                    <a:solidFill>
                      <a:schemeClr val="folHlink"/>
                    </a:solidFill>
                    <a:latin typeface="Tahoma" panose="020B0604030504040204" pitchFamily="34" charset="0"/>
                  </a:rPr>
                  <a:t>,HR </a:t>
                </a:r>
                <a:r>
                  <a:rPr lang="en-US" altLang="zh-CN" sz="2000" b="1" dirty="0">
                    <a:solidFill>
                      <a:schemeClr val="folHlink"/>
                    </a:solidFill>
                    <a:latin typeface="Tahoma" panose="020B0604030504040204" pitchFamily="34" charset="0"/>
                    <a:sym typeface="Symbol" panose="05050102010706020507" pitchFamily="18" charset="2"/>
                  </a:rPr>
                  <a:t>C,</a:t>
                </a:r>
                <a:endParaRPr lang="en-US" altLang="zh-CN" sz="2000" b="1" dirty="0">
                  <a:solidFill>
                    <a:schemeClr val="folHlink"/>
                  </a:solidFill>
                  <a:latin typeface="Tahoma" panose="020B0604030504040204" pitchFamily="34" charset="0"/>
                  <a:sym typeface="Symbol" panose="05050102010706020507" pitchFamily="18" charset="2"/>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HS</a:t>
                </a:r>
                <a:r>
                  <a:rPr lang="en-US" altLang="zh-CN" sz="2000" b="1" dirty="0">
                    <a:solidFill>
                      <a:schemeClr val="folHlink"/>
                    </a:solidFill>
                    <a:latin typeface="Tahoma" panose="020B0604030504040204" pitchFamily="34" charset="0"/>
                    <a:sym typeface="Symbol" panose="05050102010706020507" pitchFamily="18" charset="2"/>
                  </a:rPr>
                  <a:t>R, </a:t>
                </a:r>
                <a:r>
                  <a:rPr lang="en-US" altLang="zh-CN" sz="2000" b="1" dirty="0">
                    <a:solidFill>
                      <a:schemeClr val="folHlink"/>
                    </a:solidFill>
                    <a:latin typeface="Tahoma" panose="020B0604030504040204" pitchFamily="34" charset="0"/>
                  </a:rPr>
                  <a:t>HT</a:t>
                </a:r>
                <a:r>
                  <a:rPr lang="en-US" altLang="zh-CN" sz="2000" b="1" dirty="0">
                    <a:solidFill>
                      <a:schemeClr val="folHlink"/>
                    </a:solidFill>
                    <a:latin typeface="Tahoma" panose="020B0604030504040204" pitchFamily="34" charset="0"/>
                    <a:sym typeface="Symbol" panose="05050102010706020507" pitchFamily="18" charset="2"/>
                  </a:rPr>
                  <a:t>R</a:t>
                </a:r>
                <a:endParaRPr lang="en-US" altLang="zh-CN" sz="2000" b="1" dirty="0">
                  <a:solidFill>
                    <a:schemeClr val="folHlink"/>
                  </a:solidFill>
                  <a:latin typeface="Tahoma" panose="020B0604030504040204" pitchFamily="34" charset="0"/>
                  <a:sym typeface="Symbol" panose="05050102010706020507" pitchFamily="18" charset="2"/>
                </a:endParaRPr>
              </a:p>
            </p:txBody>
          </p:sp>
          <p:sp>
            <p:nvSpPr>
              <p:cNvPr id="233492" name="Oval 6"/>
              <p:cNvSpPr/>
              <p:nvPr/>
            </p:nvSpPr>
            <p:spPr>
              <a:xfrm>
                <a:off x="0" y="1392"/>
                <a:ext cx="1536" cy="912"/>
              </a:xfrm>
              <a:prstGeom prst="ellipse">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000" b="1" dirty="0">
                    <a:solidFill>
                      <a:schemeClr val="folHlink"/>
                    </a:solidFill>
                    <a:latin typeface="Tahoma" panose="020B0604030504040204" pitchFamily="34" charset="0"/>
                  </a:rPr>
                  <a:t>CSG</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Key</a:t>
                </a:r>
                <a:r>
                  <a:rPr lang="zh-CN" altLang="en-US" sz="2000" b="1" dirty="0">
                    <a:solidFill>
                      <a:schemeClr val="folHlink"/>
                    </a:solidFill>
                    <a:latin typeface="Tahoma" panose="020B0604030504040204" pitchFamily="34" charset="0"/>
                  </a:rPr>
                  <a:t>＝</a:t>
                </a:r>
                <a:r>
                  <a:rPr lang="en-US" altLang="zh-CN" sz="2000" b="1" dirty="0">
                    <a:solidFill>
                      <a:schemeClr val="folHlink"/>
                    </a:solidFill>
                    <a:latin typeface="Tahoma" panose="020B0604030504040204" pitchFamily="34" charset="0"/>
                  </a:rPr>
                  <a:t>CS</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CS</a:t>
                </a:r>
                <a:r>
                  <a:rPr lang="en-US" altLang="zh-CN" sz="2000" b="1" dirty="0">
                    <a:solidFill>
                      <a:schemeClr val="folHlink"/>
                    </a:solidFill>
                    <a:latin typeface="Tahoma" panose="020B0604030504040204" pitchFamily="34" charset="0"/>
                    <a:sym typeface="Symbol" panose="05050102010706020507" pitchFamily="18" charset="2"/>
                  </a:rPr>
                  <a:t>G,</a:t>
                </a:r>
                <a:endParaRPr lang="en-US" altLang="zh-CN" sz="2000" b="1" dirty="0">
                  <a:solidFill>
                    <a:schemeClr val="folHlink"/>
                  </a:solidFill>
                  <a:latin typeface="Tahoma" panose="020B0604030504040204" pitchFamily="34" charset="0"/>
                  <a:sym typeface="Symbol" panose="05050102010706020507" pitchFamily="18" charset="2"/>
                </a:endParaRPr>
              </a:p>
              <a:p>
                <a:pPr marL="0" lvl="0" indent="0" algn="ctr" eaLnBrk="1" hangingPunct="1">
                  <a:spcBef>
                    <a:spcPct val="0"/>
                  </a:spcBef>
                  <a:buNone/>
                </a:pPr>
                <a:endParaRPr lang="zh-CN" altLang="en-US" sz="2000" b="1" dirty="0">
                  <a:solidFill>
                    <a:schemeClr val="folHlink"/>
                  </a:solidFill>
                  <a:latin typeface="Tahoma" panose="020B0604030504040204" pitchFamily="34" charset="0"/>
                  <a:sym typeface="Symbol" panose="05050102010706020507" pitchFamily="18" charset="2"/>
                </a:endParaRPr>
              </a:p>
            </p:txBody>
          </p:sp>
        </p:grpSp>
        <p:sp>
          <p:nvSpPr>
            <p:cNvPr id="233489" name="Line 7"/>
            <p:cNvSpPr/>
            <p:nvPr/>
          </p:nvSpPr>
          <p:spPr>
            <a:xfrm flipH="1">
              <a:off x="672" y="960"/>
              <a:ext cx="192" cy="432"/>
            </a:xfrm>
            <a:prstGeom prst="line">
              <a:avLst/>
            </a:prstGeom>
            <a:ln w="9525" cap="flat" cmpd="sng">
              <a:solidFill>
                <a:schemeClr val="tx1"/>
              </a:solidFill>
              <a:prstDash val="solid"/>
              <a:miter/>
              <a:headEnd type="none" w="med" len="med"/>
              <a:tailEnd type="triangle" w="med" len="med"/>
            </a:ln>
          </p:spPr>
        </p:sp>
        <p:sp>
          <p:nvSpPr>
            <p:cNvPr id="233490" name="Line 8"/>
            <p:cNvSpPr/>
            <p:nvPr/>
          </p:nvSpPr>
          <p:spPr>
            <a:xfrm>
              <a:off x="1488" y="624"/>
              <a:ext cx="768" cy="96"/>
            </a:xfrm>
            <a:prstGeom prst="line">
              <a:avLst/>
            </a:prstGeom>
            <a:ln w="9525" cap="flat" cmpd="sng">
              <a:solidFill>
                <a:schemeClr val="tx1"/>
              </a:solidFill>
              <a:prstDash val="solid"/>
              <a:miter/>
              <a:headEnd type="none" w="med" len="med"/>
              <a:tailEnd type="triangle" w="med" len="med"/>
            </a:ln>
          </p:spPr>
        </p:sp>
      </p:grpSp>
      <p:grpSp>
        <p:nvGrpSpPr>
          <p:cNvPr id="411657" name="Group 9"/>
          <p:cNvGrpSpPr/>
          <p:nvPr/>
        </p:nvGrpSpPr>
        <p:grpSpPr>
          <a:xfrm>
            <a:off x="1447800" y="2057400"/>
            <a:ext cx="6705600" cy="3124200"/>
            <a:chOff x="912" y="1296"/>
            <a:chExt cx="4224" cy="1968"/>
          </a:xfrm>
        </p:grpSpPr>
        <p:sp>
          <p:nvSpPr>
            <p:cNvPr id="233484" name="Oval 10"/>
            <p:cNvSpPr/>
            <p:nvPr/>
          </p:nvSpPr>
          <p:spPr>
            <a:xfrm>
              <a:off x="3600" y="1584"/>
              <a:ext cx="1536" cy="912"/>
            </a:xfrm>
            <a:prstGeom prst="ellipse">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000" b="1" dirty="0">
                  <a:solidFill>
                    <a:schemeClr val="folHlink"/>
                  </a:solidFill>
                  <a:latin typeface="Tahoma" panose="020B0604030504040204" pitchFamily="34" charset="0"/>
                </a:rPr>
                <a:t>CHRS</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Key</a:t>
              </a:r>
              <a:r>
                <a:rPr lang="zh-CN" altLang="en-US" sz="2000" b="1" dirty="0">
                  <a:solidFill>
                    <a:schemeClr val="folHlink"/>
                  </a:solidFill>
                  <a:latin typeface="Tahoma" panose="020B0604030504040204" pitchFamily="34" charset="0"/>
                </a:rPr>
                <a:t>＝</a:t>
              </a:r>
              <a:r>
                <a:rPr lang="en-US" altLang="zh-CN" sz="2000" b="1" dirty="0">
                  <a:solidFill>
                    <a:schemeClr val="folHlink"/>
                  </a:solidFill>
                  <a:latin typeface="Tahoma" panose="020B0604030504040204" pitchFamily="34" charset="0"/>
                </a:rPr>
                <a:t>HS</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hlink"/>
                  </a:solidFill>
                  <a:latin typeface="Tahoma" panose="020B0604030504040204" pitchFamily="34" charset="0"/>
                </a:rPr>
                <a:t>HC</a:t>
              </a:r>
              <a:r>
                <a:rPr lang="en-US" altLang="zh-CN" sz="2000" b="1" dirty="0">
                  <a:solidFill>
                    <a:schemeClr val="hlink"/>
                  </a:solidFill>
                  <a:latin typeface="Tahoma" panose="020B0604030504040204" pitchFamily="34" charset="0"/>
                  <a:sym typeface="Symbol" panose="05050102010706020507" pitchFamily="18" charset="2"/>
                </a:rPr>
                <a:t>R</a:t>
              </a:r>
              <a:r>
                <a:rPr lang="en-US" altLang="zh-CN" sz="2000" b="1" dirty="0">
                  <a:solidFill>
                    <a:schemeClr val="folHlink"/>
                  </a:solidFill>
                  <a:latin typeface="Tahoma" panose="020B0604030504040204" pitchFamily="34" charset="0"/>
                  <a:sym typeface="Symbol" panose="05050102010706020507" pitchFamily="18" charset="2"/>
                </a:rPr>
                <a:t>,</a:t>
              </a:r>
              <a:r>
                <a:rPr lang="en-US" altLang="zh-CN" sz="2000" b="1" dirty="0">
                  <a:solidFill>
                    <a:schemeClr val="folHlink"/>
                  </a:solidFill>
                  <a:latin typeface="Tahoma" panose="020B0604030504040204" pitchFamily="34" charset="0"/>
                </a:rPr>
                <a:t> </a:t>
              </a:r>
              <a:r>
                <a:rPr lang="en-US" altLang="zh-CN" sz="2000" b="1" dirty="0">
                  <a:solidFill>
                    <a:srgbClr val="00CC00"/>
                  </a:solidFill>
                  <a:latin typeface="Tahoma" panose="020B0604030504040204" pitchFamily="34" charset="0"/>
                </a:rPr>
                <a:t>HR </a:t>
              </a:r>
              <a:r>
                <a:rPr lang="en-US" altLang="zh-CN" sz="2000" b="1" dirty="0">
                  <a:solidFill>
                    <a:srgbClr val="00CC00"/>
                  </a:solidFill>
                  <a:latin typeface="Tahoma" panose="020B0604030504040204" pitchFamily="34" charset="0"/>
                  <a:sym typeface="Symbol" panose="05050102010706020507" pitchFamily="18" charset="2"/>
                </a:rPr>
                <a:t>C</a:t>
              </a:r>
              <a:r>
                <a:rPr lang="en-US" altLang="zh-CN" sz="2000" b="1" dirty="0">
                  <a:solidFill>
                    <a:schemeClr val="folHlink"/>
                  </a:solidFill>
                  <a:latin typeface="Tahoma" panose="020B0604030504040204" pitchFamily="34" charset="0"/>
                  <a:sym typeface="Symbol" panose="05050102010706020507" pitchFamily="18" charset="2"/>
                </a:rPr>
                <a:t>,</a:t>
              </a:r>
              <a:endParaRPr lang="en-US" altLang="zh-CN" sz="2000" b="1" dirty="0">
                <a:solidFill>
                  <a:schemeClr val="folHlink"/>
                </a:solidFill>
                <a:latin typeface="Tahoma" panose="020B0604030504040204" pitchFamily="34" charset="0"/>
                <a:sym typeface="Symbol" panose="05050102010706020507" pitchFamily="18" charset="2"/>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HS</a:t>
              </a:r>
              <a:r>
                <a:rPr lang="en-US" altLang="zh-CN" sz="2000" b="1" dirty="0">
                  <a:solidFill>
                    <a:schemeClr val="folHlink"/>
                  </a:solidFill>
                  <a:latin typeface="Tahoma" panose="020B0604030504040204" pitchFamily="34" charset="0"/>
                  <a:sym typeface="Symbol" panose="05050102010706020507" pitchFamily="18" charset="2"/>
                </a:rPr>
                <a:t>R</a:t>
              </a:r>
              <a:endParaRPr lang="en-US" altLang="zh-CN" sz="2000" b="1" dirty="0">
                <a:solidFill>
                  <a:schemeClr val="folHlink"/>
                </a:solidFill>
                <a:latin typeface="Tahoma" panose="020B0604030504040204" pitchFamily="34" charset="0"/>
                <a:sym typeface="Symbol" panose="05050102010706020507" pitchFamily="18" charset="2"/>
              </a:endParaRPr>
            </a:p>
          </p:txBody>
        </p:sp>
        <p:sp>
          <p:nvSpPr>
            <p:cNvPr id="233485" name="Oval 11"/>
            <p:cNvSpPr/>
            <p:nvPr/>
          </p:nvSpPr>
          <p:spPr>
            <a:xfrm>
              <a:off x="912" y="2352"/>
              <a:ext cx="1536" cy="912"/>
            </a:xfrm>
            <a:prstGeom prst="ellipse">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000" b="1" dirty="0">
                  <a:solidFill>
                    <a:schemeClr val="folHlink"/>
                  </a:solidFill>
                  <a:latin typeface="Tahoma" panose="020B0604030504040204" pitchFamily="34" charset="0"/>
                </a:rPr>
                <a:t>CT</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Key</a:t>
              </a:r>
              <a:r>
                <a:rPr lang="zh-CN" altLang="en-US" sz="2000" b="1" dirty="0">
                  <a:solidFill>
                    <a:schemeClr val="folHlink"/>
                  </a:solidFill>
                  <a:latin typeface="Tahoma" panose="020B0604030504040204" pitchFamily="34" charset="0"/>
                </a:rPr>
                <a:t>＝</a:t>
              </a:r>
              <a:r>
                <a:rPr lang="en-US" altLang="zh-CN" sz="2000" b="1" dirty="0">
                  <a:solidFill>
                    <a:schemeClr val="folHlink"/>
                  </a:solidFill>
                  <a:latin typeface="Tahoma" panose="020B0604030504040204" pitchFamily="34" charset="0"/>
                </a:rPr>
                <a:t>C</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C</a:t>
              </a:r>
              <a:r>
                <a:rPr lang="en-US" altLang="zh-CN" sz="2000" b="1" dirty="0">
                  <a:solidFill>
                    <a:schemeClr val="folHlink"/>
                  </a:solidFill>
                  <a:latin typeface="Tahoma" panose="020B0604030504040204" pitchFamily="34" charset="0"/>
                  <a:sym typeface="Symbol" panose="05050102010706020507" pitchFamily="18" charset="2"/>
                </a:rPr>
                <a:t>T,</a:t>
              </a:r>
              <a:endParaRPr lang="en-US" altLang="zh-CN" sz="2000" b="1" dirty="0">
                <a:solidFill>
                  <a:schemeClr val="folHlink"/>
                </a:solidFill>
                <a:latin typeface="Tahoma" panose="020B0604030504040204" pitchFamily="34" charset="0"/>
                <a:sym typeface="Symbol" panose="05050102010706020507" pitchFamily="18" charset="2"/>
              </a:endParaRPr>
            </a:p>
          </p:txBody>
        </p:sp>
        <p:sp>
          <p:nvSpPr>
            <p:cNvPr id="233486" name="Line 12"/>
            <p:cNvSpPr/>
            <p:nvPr/>
          </p:nvSpPr>
          <p:spPr>
            <a:xfrm flipH="1">
              <a:off x="2208" y="1440"/>
              <a:ext cx="528" cy="1056"/>
            </a:xfrm>
            <a:prstGeom prst="line">
              <a:avLst/>
            </a:prstGeom>
            <a:ln w="9525" cap="flat" cmpd="sng">
              <a:solidFill>
                <a:schemeClr val="tx1"/>
              </a:solidFill>
              <a:prstDash val="solid"/>
              <a:miter/>
              <a:headEnd type="none" w="med" len="med"/>
              <a:tailEnd type="triangle" w="med" len="med"/>
            </a:ln>
          </p:spPr>
        </p:sp>
        <p:sp>
          <p:nvSpPr>
            <p:cNvPr id="233487" name="Line 13"/>
            <p:cNvSpPr/>
            <p:nvPr/>
          </p:nvSpPr>
          <p:spPr>
            <a:xfrm>
              <a:off x="3408" y="1296"/>
              <a:ext cx="576" cy="384"/>
            </a:xfrm>
            <a:prstGeom prst="line">
              <a:avLst/>
            </a:prstGeom>
            <a:ln w="9525" cap="flat" cmpd="sng">
              <a:solidFill>
                <a:schemeClr val="tx1"/>
              </a:solidFill>
              <a:prstDash val="solid"/>
              <a:miter/>
              <a:headEnd type="none" w="med" len="med"/>
              <a:tailEnd type="triangle" w="med" len="med"/>
            </a:ln>
          </p:spPr>
        </p:sp>
      </p:grpSp>
      <p:grpSp>
        <p:nvGrpSpPr>
          <p:cNvPr id="411662" name="Group 14"/>
          <p:cNvGrpSpPr/>
          <p:nvPr/>
        </p:nvGrpSpPr>
        <p:grpSpPr>
          <a:xfrm>
            <a:off x="3657600" y="3962400"/>
            <a:ext cx="5486400" cy="2362200"/>
            <a:chOff x="2304" y="2496"/>
            <a:chExt cx="3456" cy="1488"/>
          </a:xfrm>
        </p:grpSpPr>
        <p:sp>
          <p:nvSpPr>
            <p:cNvPr id="233480" name="Oval 15"/>
            <p:cNvSpPr/>
            <p:nvPr/>
          </p:nvSpPr>
          <p:spPr>
            <a:xfrm>
              <a:off x="4224" y="2880"/>
              <a:ext cx="1536" cy="912"/>
            </a:xfrm>
            <a:prstGeom prst="ellipse">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000" b="1" dirty="0">
                  <a:solidFill>
                    <a:schemeClr val="folHlink"/>
                  </a:solidFill>
                  <a:latin typeface="Tahoma" panose="020B0604030504040204" pitchFamily="34" charset="0"/>
                </a:rPr>
                <a:t>CHS</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Key</a:t>
              </a:r>
              <a:r>
                <a:rPr lang="zh-CN" altLang="en-US" sz="2000" b="1" dirty="0">
                  <a:solidFill>
                    <a:schemeClr val="folHlink"/>
                  </a:solidFill>
                  <a:latin typeface="Tahoma" panose="020B0604030504040204" pitchFamily="34" charset="0"/>
                </a:rPr>
                <a:t>＝</a:t>
              </a:r>
              <a:r>
                <a:rPr lang="en-US" altLang="zh-CN" sz="2000" b="1" dirty="0">
                  <a:solidFill>
                    <a:schemeClr val="folHlink"/>
                  </a:solidFill>
                  <a:latin typeface="Tahoma" panose="020B0604030504040204" pitchFamily="34" charset="0"/>
                </a:rPr>
                <a:t>HS</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HS</a:t>
              </a:r>
              <a:r>
                <a:rPr lang="en-US" altLang="zh-CN" sz="2000" b="1" dirty="0">
                  <a:solidFill>
                    <a:schemeClr val="folHlink"/>
                  </a:solidFill>
                  <a:latin typeface="Tahoma" panose="020B0604030504040204" pitchFamily="34" charset="0"/>
                  <a:sym typeface="Symbol" panose="05050102010706020507" pitchFamily="18" charset="2"/>
                </a:rPr>
                <a:t>C</a:t>
              </a:r>
              <a:endParaRPr lang="en-US" altLang="zh-CN" sz="2000" b="1" dirty="0">
                <a:solidFill>
                  <a:schemeClr val="folHlink"/>
                </a:solidFill>
                <a:latin typeface="Tahoma" panose="020B0604030504040204" pitchFamily="34" charset="0"/>
                <a:sym typeface="Symbol" panose="05050102010706020507" pitchFamily="18" charset="2"/>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sym typeface="Symbol" panose="05050102010706020507" pitchFamily="18" charset="2"/>
                </a:rPr>
                <a:t> </a:t>
              </a:r>
              <a:endParaRPr lang="en-US" altLang="zh-CN" sz="2000" b="1" dirty="0">
                <a:solidFill>
                  <a:schemeClr val="folHlink"/>
                </a:solidFill>
                <a:latin typeface="Tahoma" panose="020B0604030504040204" pitchFamily="34" charset="0"/>
                <a:sym typeface="Symbol" panose="05050102010706020507" pitchFamily="18" charset="2"/>
              </a:endParaRPr>
            </a:p>
          </p:txBody>
        </p:sp>
        <p:sp>
          <p:nvSpPr>
            <p:cNvPr id="233481" name="Oval 16"/>
            <p:cNvSpPr/>
            <p:nvPr/>
          </p:nvSpPr>
          <p:spPr>
            <a:xfrm>
              <a:off x="2304" y="3072"/>
              <a:ext cx="1536" cy="912"/>
            </a:xfrm>
            <a:prstGeom prst="ellipse">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000" b="1" dirty="0">
                  <a:solidFill>
                    <a:schemeClr val="folHlink"/>
                  </a:solidFill>
                  <a:latin typeface="Tahoma" panose="020B0604030504040204" pitchFamily="34" charset="0"/>
                </a:rPr>
                <a:t>CHR</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Key</a:t>
              </a:r>
              <a:r>
                <a:rPr lang="zh-CN" altLang="en-US" sz="2000" b="1" dirty="0">
                  <a:solidFill>
                    <a:schemeClr val="folHlink"/>
                  </a:solidFill>
                  <a:latin typeface="Tahoma" panose="020B0604030504040204" pitchFamily="34" charset="0"/>
                </a:rPr>
                <a:t>＝</a:t>
              </a:r>
              <a:r>
                <a:rPr lang="en-US" altLang="zh-CN" sz="2000" b="1" dirty="0">
                  <a:solidFill>
                    <a:schemeClr val="folHlink"/>
                  </a:solidFill>
                  <a:latin typeface="Tahoma" panose="020B0604030504040204" pitchFamily="34" charset="0"/>
                </a:rPr>
                <a:t>HC,HR</a:t>
              </a:r>
              <a:endParaRPr lang="en-US" altLang="zh-CN" sz="2000" b="1" dirty="0">
                <a:solidFill>
                  <a:schemeClr val="folHlink"/>
                </a:solidFill>
                <a:latin typeface="Tahoma" panose="020B0604030504040204" pitchFamily="34" charset="0"/>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rPr>
                <a:t>HC</a:t>
              </a:r>
              <a:r>
                <a:rPr lang="en-US" altLang="zh-CN" sz="2000" b="1" dirty="0">
                  <a:solidFill>
                    <a:schemeClr val="folHlink"/>
                  </a:solidFill>
                  <a:latin typeface="Tahoma" panose="020B0604030504040204" pitchFamily="34" charset="0"/>
                  <a:sym typeface="Symbol" panose="05050102010706020507" pitchFamily="18" charset="2"/>
                </a:rPr>
                <a:t>R,</a:t>
              </a:r>
              <a:r>
                <a:rPr lang="en-US" altLang="zh-CN" sz="2000" b="1" dirty="0">
                  <a:solidFill>
                    <a:schemeClr val="folHlink"/>
                  </a:solidFill>
                  <a:latin typeface="Tahoma" panose="020B0604030504040204" pitchFamily="34" charset="0"/>
                </a:rPr>
                <a:t> HR </a:t>
              </a:r>
              <a:r>
                <a:rPr lang="en-US" altLang="zh-CN" sz="2000" b="1" dirty="0">
                  <a:solidFill>
                    <a:schemeClr val="folHlink"/>
                  </a:solidFill>
                  <a:latin typeface="Tahoma" panose="020B0604030504040204" pitchFamily="34" charset="0"/>
                  <a:sym typeface="Symbol" panose="05050102010706020507" pitchFamily="18" charset="2"/>
                </a:rPr>
                <a:t>C</a:t>
              </a:r>
              <a:endParaRPr lang="en-US" altLang="zh-CN" sz="2000" b="1" dirty="0">
                <a:solidFill>
                  <a:schemeClr val="folHlink"/>
                </a:solidFill>
                <a:latin typeface="Tahoma" panose="020B0604030504040204" pitchFamily="34" charset="0"/>
                <a:sym typeface="Symbol" panose="05050102010706020507" pitchFamily="18" charset="2"/>
              </a:endParaRPr>
            </a:p>
            <a:p>
              <a:pPr marL="0" lvl="0" indent="0" algn="ctr" eaLnBrk="1" hangingPunct="1">
                <a:spcBef>
                  <a:spcPct val="0"/>
                </a:spcBef>
                <a:buNone/>
              </a:pPr>
              <a:r>
                <a:rPr lang="en-US" altLang="zh-CN" sz="2000" b="1" dirty="0">
                  <a:solidFill>
                    <a:schemeClr val="folHlink"/>
                  </a:solidFill>
                  <a:latin typeface="Tahoma" panose="020B0604030504040204" pitchFamily="34" charset="0"/>
                  <a:sym typeface="Symbol" panose="05050102010706020507" pitchFamily="18" charset="2"/>
                </a:rPr>
                <a:t> </a:t>
              </a:r>
              <a:endParaRPr lang="en-US" altLang="zh-CN" sz="2000" b="1" dirty="0">
                <a:solidFill>
                  <a:schemeClr val="folHlink"/>
                </a:solidFill>
                <a:latin typeface="Tahoma" panose="020B0604030504040204" pitchFamily="34" charset="0"/>
                <a:sym typeface="Symbol" panose="05050102010706020507" pitchFamily="18" charset="2"/>
              </a:endParaRPr>
            </a:p>
          </p:txBody>
        </p:sp>
        <p:sp>
          <p:nvSpPr>
            <p:cNvPr id="233482" name="Line 17"/>
            <p:cNvSpPr/>
            <p:nvPr/>
          </p:nvSpPr>
          <p:spPr>
            <a:xfrm flipH="1">
              <a:off x="3408" y="2496"/>
              <a:ext cx="768" cy="576"/>
            </a:xfrm>
            <a:prstGeom prst="line">
              <a:avLst/>
            </a:prstGeom>
            <a:ln w="9525" cap="flat" cmpd="sng">
              <a:solidFill>
                <a:schemeClr val="tx1"/>
              </a:solidFill>
              <a:prstDash val="solid"/>
              <a:miter/>
              <a:headEnd type="none" w="med" len="med"/>
              <a:tailEnd type="triangle" w="med" len="med"/>
            </a:ln>
          </p:spPr>
        </p:sp>
        <p:sp>
          <p:nvSpPr>
            <p:cNvPr id="233483" name="Line 18"/>
            <p:cNvSpPr/>
            <p:nvPr/>
          </p:nvSpPr>
          <p:spPr>
            <a:xfrm>
              <a:off x="4656" y="2496"/>
              <a:ext cx="384" cy="336"/>
            </a:xfrm>
            <a:prstGeom prst="line">
              <a:avLst/>
            </a:prstGeom>
            <a:ln w="9525" cap="flat" cmpd="sng">
              <a:solidFill>
                <a:schemeClr val="tx1"/>
              </a:solidFill>
              <a:prstDash val="solid"/>
              <a:miter/>
              <a:headEnd type="none" w="med" len="med"/>
              <a:tailEnd type="triangle" w="med" len="med"/>
            </a:ln>
          </p:spPr>
        </p:sp>
      </p:grpSp>
      <p:sp>
        <p:nvSpPr>
          <p:cNvPr id="233479" name="Rectangle 19"/>
          <p:cNvSpPr>
            <a:spLocks noGrp="1"/>
          </p:cNvSpPr>
          <p:nvPr>
            <p:ph type="title"/>
          </p:nvPr>
        </p:nvSpPr>
        <p:spPr>
          <a:xfrm>
            <a:off x="4495800" y="0"/>
            <a:ext cx="1828800" cy="908050"/>
          </a:xfrm>
          <a:ln/>
        </p:spPr>
        <p:txBody>
          <a:bodyPr vert="horz" wrap="square" lIns="91440" tIns="45720" rIns="91440" bIns="45720" anchor="ctr" anchorCtr="0"/>
          <a:p>
            <a:pPr eaLnBrk="1" hangingPunct="1"/>
            <a:r>
              <a:rPr lang="zh-CN" altLang="en-US" dirty="0"/>
              <a:t>分解树</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nodeType="clickEffect">
                                  <p:stCondLst>
                                    <p:cond delay="0"/>
                                  </p:stCondLst>
                                  <p:childTnLst>
                                    <p:set>
                                      <p:cBhvr>
                                        <p:cTn id="6" dur="1" fill="hold">
                                          <p:stCondLst>
                                            <p:cond delay="0"/>
                                          </p:stCondLst>
                                        </p:cTn>
                                        <p:tgtEl>
                                          <p:spTgt spid="411651"/>
                                        </p:tgtEl>
                                        <p:attrNameLst>
                                          <p:attrName>style.visibility</p:attrName>
                                        </p:attrNameLst>
                                      </p:cBhvr>
                                      <p:to>
                                        <p:strVal val="visible"/>
                                      </p:to>
                                    </p:set>
                                    <p:animEffect transition="in" filter="checkerboard(down)">
                                      <p:cBhvr>
                                        <p:cTn id="7" dur="500"/>
                                        <p:tgtEl>
                                          <p:spTgt spid="4116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1657"/>
                                        </p:tgtEl>
                                        <p:attrNameLst>
                                          <p:attrName>style.visibility</p:attrName>
                                        </p:attrNameLst>
                                      </p:cBhvr>
                                      <p:to>
                                        <p:strVal val="visible"/>
                                      </p:to>
                                    </p:set>
                                    <p:animEffect transition="in" filter="blinds(horizontal)">
                                      <p:cBhvr>
                                        <p:cTn id="12" dur="500"/>
                                        <p:tgtEl>
                                          <p:spTgt spid="41165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1662"/>
                                        </p:tgtEl>
                                        <p:attrNameLst>
                                          <p:attrName>style.visibility</p:attrName>
                                        </p:attrNameLst>
                                      </p:cBhvr>
                                      <p:to>
                                        <p:strVal val="visible"/>
                                      </p:to>
                                    </p:set>
                                    <p:animEffect transition="in" filter="blinds(horizontal)">
                                      <p:cBhvr>
                                        <p:cTn id="17" dur="500"/>
                                        <p:tgtEl>
                                          <p:spTgt spid="411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5522" name="Rectangle 2"/>
          <p:cNvSpPr>
            <a:spLocks noGrp="1"/>
          </p:cNvSpPr>
          <p:nvPr>
            <p:ph type="title"/>
          </p:nvPr>
        </p:nvSpPr>
        <p:spPr>
          <a:xfrm>
            <a:off x="1258888" y="476250"/>
            <a:ext cx="7086600" cy="731838"/>
          </a:xfrm>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规范化过程总结</a:t>
            </a:r>
            <a:endParaRPr lang="zh-CN" altLang="en-US" sz="4000" b="1" dirty="0">
              <a:solidFill>
                <a:srgbClr val="E40000"/>
              </a:solidFill>
              <a:latin typeface="Arial" panose="020B0604020202020204" pitchFamily="34" charset="0"/>
            </a:endParaRPr>
          </a:p>
        </p:txBody>
      </p:sp>
      <p:sp>
        <p:nvSpPr>
          <p:cNvPr id="235523" name="Text Box 3"/>
          <p:cNvSpPr txBox="1"/>
          <p:nvPr/>
        </p:nvSpPr>
        <p:spPr>
          <a:xfrm>
            <a:off x="3492500" y="1752600"/>
            <a:ext cx="1008063" cy="466725"/>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ahoma" panose="020B0604030504040204" pitchFamily="34" charset="0"/>
              </a:rPr>
              <a:t>1NF</a:t>
            </a:r>
            <a:endParaRPr lang="en-US" altLang="zh-CN" sz="2400" dirty="0">
              <a:latin typeface="Tahoma" panose="020B0604030504040204" pitchFamily="34" charset="0"/>
            </a:endParaRPr>
          </a:p>
        </p:txBody>
      </p:sp>
      <p:sp>
        <p:nvSpPr>
          <p:cNvPr id="235524" name="Text Box 4"/>
          <p:cNvSpPr txBox="1"/>
          <p:nvPr/>
        </p:nvSpPr>
        <p:spPr>
          <a:xfrm>
            <a:off x="3492500" y="2760663"/>
            <a:ext cx="1008063" cy="466725"/>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ahoma" panose="020B0604030504040204" pitchFamily="34" charset="0"/>
              </a:rPr>
              <a:t>2NF</a:t>
            </a:r>
            <a:endParaRPr lang="en-US" altLang="zh-CN" sz="2400" dirty="0">
              <a:latin typeface="Tahoma" panose="020B0604030504040204" pitchFamily="34" charset="0"/>
            </a:endParaRPr>
          </a:p>
        </p:txBody>
      </p:sp>
      <p:sp>
        <p:nvSpPr>
          <p:cNvPr id="235525" name="Text Box 5"/>
          <p:cNvSpPr txBox="1"/>
          <p:nvPr/>
        </p:nvSpPr>
        <p:spPr>
          <a:xfrm>
            <a:off x="3492500" y="3768725"/>
            <a:ext cx="1009650" cy="466725"/>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ahoma" panose="020B0604030504040204" pitchFamily="34" charset="0"/>
              </a:rPr>
              <a:t>3NF</a:t>
            </a:r>
            <a:endParaRPr lang="en-US" altLang="zh-CN" sz="2400" dirty="0">
              <a:latin typeface="Tahoma" panose="020B0604030504040204" pitchFamily="34" charset="0"/>
            </a:endParaRPr>
          </a:p>
        </p:txBody>
      </p:sp>
      <p:sp>
        <p:nvSpPr>
          <p:cNvPr id="235526" name="Text Box 6"/>
          <p:cNvSpPr txBox="1"/>
          <p:nvPr/>
        </p:nvSpPr>
        <p:spPr>
          <a:xfrm>
            <a:off x="3419475" y="4814888"/>
            <a:ext cx="1223963" cy="466725"/>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ahoma" panose="020B0604030504040204" pitchFamily="34" charset="0"/>
              </a:rPr>
              <a:t>BCNF</a:t>
            </a:r>
            <a:endParaRPr lang="en-US" altLang="zh-CN" sz="2400" dirty="0">
              <a:latin typeface="Tahoma" panose="020B0604030504040204" pitchFamily="34" charset="0"/>
            </a:endParaRPr>
          </a:p>
        </p:txBody>
      </p:sp>
      <p:sp>
        <p:nvSpPr>
          <p:cNvPr id="235527" name="Line 7"/>
          <p:cNvSpPr/>
          <p:nvPr/>
        </p:nvSpPr>
        <p:spPr>
          <a:xfrm>
            <a:off x="4067175" y="2255838"/>
            <a:ext cx="0" cy="504825"/>
          </a:xfrm>
          <a:prstGeom prst="line">
            <a:avLst/>
          </a:prstGeom>
          <a:ln w="9525" cap="flat" cmpd="sng">
            <a:solidFill>
              <a:schemeClr val="tx1"/>
            </a:solidFill>
            <a:prstDash val="solid"/>
            <a:miter/>
            <a:headEnd type="none" w="med" len="med"/>
            <a:tailEnd type="triangle" w="med" len="med"/>
          </a:ln>
        </p:spPr>
      </p:sp>
      <p:sp>
        <p:nvSpPr>
          <p:cNvPr id="235528" name="Line 8"/>
          <p:cNvSpPr/>
          <p:nvPr/>
        </p:nvSpPr>
        <p:spPr>
          <a:xfrm>
            <a:off x="4067175" y="3263900"/>
            <a:ext cx="0" cy="504825"/>
          </a:xfrm>
          <a:prstGeom prst="line">
            <a:avLst/>
          </a:prstGeom>
          <a:ln w="9525" cap="flat" cmpd="sng">
            <a:solidFill>
              <a:schemeClr val="tx1"/>
            </a:solidFill>
            <a:prstDash val="solid"/>
            <a:miter/>
            <a:headEnd type="none" w="med" len="med"/>
            <a:tailEnd type="triangle" w="med" len="med"/>
          </a:ln>
        </p:spPr>
      </p:sp>
      <p:sp>
        <p:nvSpPr>
          <p:cNvPr id="235529" name="Line 9"/>
          <p:cNvSpPr/>
          <p:nvPr/>
        </p:nvSpPr>
        <p:spPr>
          <a:xfrm>
            <a:off x="4067175" y="4271963"/>
            <a:ext cx="0" cy="576262"/>
          </a:xfrm>
          <a:prstGeom prst="line">
            <a:avLst/>
          </a:prstGeom>
          <a:ln w="9525" cap="flat" cmpd="sng">
            <a:solidFill>
              <a:schemeClr val="tx1"/>
            </a:solidFill>
            <a:prstDash val="solid"/>
            <a:miter/>
            <a:headEnd type="none" w="med" len="med"/>
            <a:tailEnd type="triangle" w="med" len="med"/>
          </a:ln>
        </p:spPr>
      </p:sp>
      <p:sp>
        <p:nvSpPr>
          <p:cNvPr id="235530" name="Text Box 10"/>
          <p:cNvSpPr txBox="1"/>
          <p:nvPr/>
        </p:nvSpPr>
        <p:spPr>
          <a:xfrm>
            <a:off x="4335463" y="2343150"/>
            <a:ext cx="368458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800" dirty="0">
                <a:latin typeface="Tahoma" panose="020B0604030504040204" pitchFamily="34" charset="0"/>
              </a:rPr>
              <a:t>消去非主属性对键的部分函数依赖 </a:t>
            </a:r>
            <a:endParaRPr lang="zh-CN" altLang="en-US" sz="1800" dirty="0">
              <a:latin typeface="Tahoma" panose="020B0604030504040204" pitchFamily="34" charset="0"/>
            </a:endParaRPr>
          </a:p>
        </p:txBody>
      </p:sp>
      <p:sp>
        <p:nvSpPr>
          <p:cNvPr id="235531" name="Text Box 11"/>
          <p:cNvSpPr txBox="1"/>
          <p:nvPr/>
        </p:nvSpPr>
        <p:spPr>
          <a:xfrm>
            <a:off x="4356100" y="3263900"/>
            <a:ext cx="36845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800" dirty="0">
                <a:latin typeface="Tahoma" panose="020B0604030504040204" pitchFamily="34" charset="0"/>
              </a:rPr>
              <a:t>消去非主属性对键的传递函数依赖 </a:t>
            </a:r>
            <a:endParaRPr lang="zh-CN" altLang="en-US" sz="1800" dirty="0">
              <a:latin typeface="Tahoma" panose="020B0604030504040204" pitchFamily="34" charset="0"/>
            </a:endParaRPr>
          </a:p>
        </p:txBody>
      </p:sp>
      <p:sp>
        <p:nvSpPr>
          <p:cNvPr id="235532" name="Text Box 12"/>
          <p:cNvSpPr txBox="1"/>
          <p:nvPr/>
        </p:nvSpPr>
        <p:spPr>
          <a:xfrm>
            <a:off x="4356100" y="4265613"/>
            <a:ext cx="3455988"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800" dirty="0">
                <a:latin typeface="Tahoma" panose="020B0604030504040204" pitchFamily="34" charset="0"/>
              </a:rPr>
              <a:t>消去主属性对键的传递函数依赖 </a:t>
            </a:r>
            <a:endParaRPr lang="zh-CN" altLang="en-US" sz="1800" dirty="0">
              <a:latin typeface="Tahoma" panose="020B0604030504040204" pitchFamily="34" charset="0"/>
            </a:endParaRPr>
          </a:p>
        </p:txBody>
      </p:sp>
      <p:sp>
        <p:nvSpPr>
          <p:cNvPr id="235533" name="Text Box 13"/>
          <p:cNvSpPr txBox="1"/>
          <p:nvPr/>
        </p:nvSpPr>
        <p:spPr>
          <a:xfrm>
            <a:off x="3424238" y="5857875"/>
            <a:ext cx="1223962" cy="466725"/>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algn="ctr" eaLnBrk="1" hangingPunct="1">
              <a:spcBef>
                <a:spcPct val="0"/>
              </a:spcBef>
              <a:buNone/>
            </a:pPr>
            <a:r>
              <a:rPr lang="en-US" altLang="zh-CN" sz="2400" dirty="0">
                <a:latin typeface="Tahoma" panose="020B0604030504040204" pitchFamily="34" charset="0"/>
              </a:rPr>
              <a:t>4NF</a:t>
            </a:r>
            <a:endParaRPr lang="en-US" altLang="zh-CN" sz="2400" dirty="0">
              <a:latin typeface="Tahoma" panose="020B0604030504040204" pitchFamily="34" charset="0"/>
            </a:endParaRPr>
          </a:p>
        </p:txBody>
      </p:sp>
      <p:sp>
        <p:nvSpPr>
          <p:cNvPr id="235534" name="Line 14"/>
          <p:cNvSpPr/>
          <p:nvPr/>
        </p:nvSpPr>
        <p:spPr>
          <a:xfrm>
            <a:off x="4071938" y="5314950"/>
            <a:ext cx="0" cy="576263"/>
          </a:xfrm>
          <a:prstGeom prst="line">
            <a:avLst/>
          </a:prstGeom>
          <a:ln w="9525" cap="flat" cmpd="sng">
            <a:solidFill>
              <a:schemeClr val="tx1"/>
            </a:solidFill>
            <a:prstDash val="solid"/>
            <a:miter/>
            <a:headEnd type="none" w="med" len="med"/>
            <a:tailEnd type="triangle" w="med" len="med"/>
          </a:ln>
        </p:spPr>
      </p:sp>
      <p:sp>
        <p:nvSpPr>
          <p:cNvPr id="235535" name="Text Box 15"/>
          <p:cNvSpPr txBox="1"/>
          <p:nvPr/>
        </p:nvSpPr>
        <p:spPr>
          <a:xfrm>
            <a:off x="4343400" y="5424488"/>
            <a:ext cx="3913188"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stStyle>
          <a:p>
            <a:pPr marL="0" lvl="0" indent="0" eaLnBrk="1" hangingPunct="1">
              <a:spcBef>
                <a:spcPct val="0"/>
              </a:spcBef>
              <a:buNone/>
            </a:pPr>
            <a:r>
              <a:rPr lang="zh-CN" altLang="en-US" sz="1800" dirty="0">
                <a:latin typeface="Tahoma" panose="020B0604030504040204" pitchFamily="34" charset="0"/>
              </a:rPr>
              <a:t>消去非平凡且非函数依赖的多值依赖 </a:t>
            </a:r>
            <a:endParaRPr lang="zh-CN" altLang="en-US" sz="1800" dirty="0">
              <a:latin typeface="Tahoma" panose="020B0604030504040204" pitchFamily="3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7570" name="Rectangle 2"/>
          <p:cNvSpPr>
            <a:spLocks noGrp="1"/>
          </p:cNvSpPr>
          <p:nvPr>
            <p:ph type="title"/>
          </p:nvPr>
        </p:nvSpPr>
        <p:spPr>
          <a:ln/>
        </p:spPr>
        <p:txBody>
          <a:bodyPr vert="horz" wrap="square" lIns="91440" tIns="45720" rIns="91440" bIns="45720" anchor="ctr" anchorCtr="0"/>
          <a:p>
            <a:pPr algn="ctr" eaLnBrk="1" hangingPunct="1"/>
            <a:r>
              <a:rPr lang="zh-CN" altLang="en-US" sz="4000" b="1" dirty="0">
                <a:solidFill>
                  <a:srgbClr val="E40000"/>
                </a:solidFill>
                <a:latin typeface="Arial" panose="020B0604020202020204" pitchFamily="34" charset="0"/>
              </a:rPr>
              <a:t>关系模式设计的原则</a:t>
            </a:r>
            <a:endParaRPr lang="zh-CN" altLang="en-US" sz="4000" b="1" dirty="0">
              <a:solidFill>
                <a:srgbClr val="E40000"/>
              </a:solidFill>
              <a:latin typeface="Arial" panose="020B0604020202020204" pitchFamily="34" charset="0"/>
            </a:endParaRPr>
          </a:p>
        </p:txBody>
      </p:sp>
      <p:sp>
        <p:nvSpPr>
          <p:cNvPr id="237571" name="Rectangle 3"/>
          <p:cNvSpPr>
            <a:spLocks noGrp="1"/>
          </p:cNvSpPr>
          <p:nvPr>
            <p:ph idx="1"/>
          </p:nvPr>
        </p:nvSpPr>
        <p:spPr>
          <a:xfrm>
            <a:off x="611188" y="1600200"/>
            <a:ext cx="8064500" cy="4997450"/>
          </a:xfrm>
          <a:ln/>
        </p:spPr>
        <p:txBody>
          <a:bodyPr vert="horz" wrap="square" lIns="91440" tIns="45720" rIns="91440" bIns="45720" anchor="t" anchorCtr="0"/>
          <a:p>
            <a:pPr eaLnBrk="1" hangingPunct="1">
              <a:lnSpc>
                <a:spcPct val="90000"/>
              </a:lnSpc>
            </a:pPr>
            <a:r>
              <a:rPr lang="zh-CN" altLang="en-US" b="1" dirty="0"/>
              <a:t>我们在进行关系数据库设计时，应作权衡，尽可能使数据库模式保持最好的特性</a:t>
            </a:r>
            <a:endParaRPr lang="zh-CN" altLang="en-US" b="1" dirty="0"/>
          </a:p>
          <a:p>
            <a:pPr eaLnBrk="1" hangingPunct="1">
              <a:lnSpc>
                <a:spcPct val="90000"/>
              </a:lnSpc>
            </a:pPr>
            <a:r>
              <a:rPr lang="zh-CN" altLang="en-US" b="1" dirty="0"/>
              <a:t>一般尽可能设计成</a:t>
            </a:r>
            <a:r>
              <a:rPr lang="en-US" altLang="zh-CN" b="1" dirty="0"/>
              <a:t>BCNF</a:t>
            </a:r>
            <a:r>
              <a:rPr lang="zh-CN" altLang="en-US" b="1" dirty="0"/>
              <a:t>模式集，如果设计成</a:t>
            </a:r>
            <a:r>
              <a:rPr lang="en-US" altLang="zh-CN" b="1" dirty="0"/>
              <a:t>BCNF</a:t>
            </a:r>
            <a:r>
              <a:rPr lang="zh-CN" altLang="en-US" b="1" dirty="0"/>
              <a:t>模式集时达不到保持</a:t>
            </a:r>
            <a:r>
              <a:rPr lang="en-US" altLang="zh-CN" b="1" dirty="0"/>
              <a:t>FD</a:t>
            </a:r>
            <a:r>
              <a:rPr lang="zh-CN" altLang="en-US" b="1" dirty="0"/>
              <a:t>的特点，那么只能降低要求，设计成</a:t>
            </a:r>
            <a:r>
              <a:rPr lang="en-US" altLang="zh-CN" b="1" dirty="0"/>
              <a:t>3NF</a:t>
            </a:r>
            <a:r>
              <a:rPr lang="zh-CN" altLang="en-US" b="1" dirty="0"/>
              <a:t>模式集，以求达到保持</a:t>
            </a:r>
            <a:r>
              <a:rPr lang="en-US" altLang="zh-CN" b="1" dirty="0"/>
              <a:t>FD</a:t>
            </a:r>
            <a:r>
              <a:rPr lang="zh-CN" altLang="en-US" b="1" dirty="0"/>
              <a:t>和无损分解的特点</a:t>
            </a:r>
            <a:endParaRPr lang="zh-CN" altLang="en-US" b="1" dirty="0"/>
          </a:p>
          <a:p>
            <a:pPr eaLnBrk="1" hangingPunct="1">
              <a:lnSpc>
                <a:spcPct val="90000"/>
              </a:lnSpc>
            </a:pPr>
            <a:r>
              <a:rPr lang="zh-CN" altLang="en-US" b="1" dirty="0"/>
              <a:t>模式分解并不单指把泛关系模式分解成数据库模式，也可以把数据库模式转换成另一个数据库模式，分解和转换的关键是要“等价”地分解</a:t>
            </a:r>
            <a:endParaRPr lang="zh-CN" altLang="en-US" b="1" dirty="0"/>
          </a:p>
          <a:p>
            <a:pPr eaLnBrk="1" hangingPunct="1">
              <a:lnSpc>
                <a:spcPct val="90000"/>
              </a:lnSpc>
            </a:pPr>
            <a:r>
              <a:rPr lang="zh-CN" altLang="en-US" b="1" dirty="0"/>
              <a:t>一个好的模式设计应符合三条原则：表达性、分离性和最小冗余性 </a:t>
            </a:r>
            <a:endParaRPr lang="zh-CN" altLang="en-US" b="1" dirty="0"/>
          </a:p>
        </p:txBody>
      </p:sp>
    </p:spTree>
  </p:cSld>
  <p:clrMapOvr>
    <a:masterClrMapping/>
  </p:clrMapOvr>
</p:sld>
</file>

<file path=ppt/theme/theme1.xml><?xml version="1.0" encoding="utf-8"?>
<a:theme xmlns:a="http://schemas.openxmlformats.org/drawingml/2006/main" name="书堆型设计模板">
  <a:themeElements>
    <a:clrScheme name="书堆型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书堆型设计模板">
      <a:majorFont>
        <a:latin typeface="宋体"/>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609600" marR="0" indent="-609600" algn="l" defTabSz="914400" rtl="0" eaLnBrk="1" fontAlgn="base" latinLnBrk="0" hangingPunct="1">
          <a:lnSpc>
            <a:spcPct val="160000"/>
          </a:lnSpc>
          <a:spcBef>
            <a:spcPct val="20000"/>
          </a:spcBef>
          <a:spcAft>
            <a:spcPct val="0"/>
          </a:spcAft>
          <a:buClrTx/>
          <a:buSzTx/>
          <a:buFontTx/>
          <a:buNone/>
          <a:defRPr kumimoji="0" lang="en-US" sz="3600" b="1" i="0" u="none" strike="noStrike" cap="none" normalizeH="0" baseline="0" smtClean="0">
            <a:ln>
              <a:noFill/>
            </a:ln>
            <a:solidFill>
              <a:schemeClr val="tx1"/>
            </a:solidFill>
            <a:effectLst/>
            <a:latin typeface="Arial" panose="020B0604020202020204" pitchFamily="34" charset="0"/>
            <a:ea typeface="宋体"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609600" marR="0" indent="-609600" algn="l" defTabSz="914400" rtl="0" eaLnBrk="1" fontAlgn="base" latinLnBrk="0" hangingPunct="1">
          <a:lnSpc>
            <a:spcPct val="160000"/>
          </a:lnSpc>
          <a:spcBef>
            <a:spcPct val="20000"/>
          </a:spcBef>
          <a:spcAft>
            <a:spcPct val="0"/>
          </a:spcAft>
          <a:buClrTx/>
          <a:buSzTx/>
          <a:buFontTx/>
          <a:buNone/>
          <a:defRPr kumimoji="0" lang="en-US" sz="3600" b="1" i="0" u="none" strike="noStrike" cap="none" normalizeH="0" baseline="0" smtClean="0">
            <a:ln>
              <a:noFill/>
            </a:ln>
            <a:solidFill>
              <a:schemeClr val="tx1"/>
            </a:solidFill>
            <a:effectLst/>
            <a:latin typeface="Arial" panose="020B0604020202020204" pitchFamily="34" charset="0"/>
            <a:ea typeface="宋体" pitchFamily="2" charset="-122"/>
          </a:defRPr>
        </a:defPPr>
      </a:lstStyle>
    </a:lnDef>
  </a:objectDefaults>
  <a:extraClrSchemeLst>
    <a:extraClrScheme>
      <a:clrScheme name="书堆型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书堆型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书堆型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书堆型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书堆型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书堆型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书堆型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书堆型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书堆型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书堆型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书堆型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书堆型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书堆型设计模板</Template>
  <TotalTime>0</TotalTime>
  <Words>21029</Words>
  <Application>WPS Presentation</Application>
  <PresentationFormat>全屏显示(4:3)</PresentationFormat>
  <Paragraphs>1538</Paragraphs>
  <Slides>117</Slides>
  <Notes>112</Notes>
  <HiddenSlides>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19</vt:i4>
      </vt:variant>
      <vt:variant>
        <vt:lpstr>幻灯片标题</vt:lpstr>
      </vt:variant>
      <vt:variant>
        <vt:i4>117</vt:i4>
      </vt:variant>
    </vt:vector>
  </HeadingPairs>
  <TitlesOfParts>
    <vt:vector size="162" baseType="lpstr">
      <vt:lpstr>Arial</vt:lpstr>
      <vt:lpstr>宋体</vt:lpstr>
      <vt:lpstr>Wingdings</vt:lpstr>
      <vt:lpstr>方正书宋_GBK</vt:lpstr>
      <vt:lpstr>Century Gothic</vt:lpstr>
      <vt:lpstr>黑体</vt:lpstr>
      <vt:lpstr>方正黑体_GBK</vt:lpstr>
      <vt:lpstr>Times New Roman</vt:lpstr>
      <vt:lpstr>Symbol</vt:lpstr>
      <vt:lpstr>Arial Unicode MS</vt:lpstr>
      <vt:lpstr>Book Antiqua</vt:lpstr>
      <vt:lpstr>MS PMincho</vt:lpstr>
      <vt:lpstr>Bear Sans UI</vt:lpstr>
      <vt:lpstr>Lucida Sans Unicode</vt:lpstr>
      <vt:lpstr>楷体_GB2312</vt:lpstr>
      <vt:lpstr>方正楷体_GBK</vt:lpstr>
      <vt:lpstr>ËÎÌå</vt:lpstr>
      <vt:lpstr>Tahoma</vt:lpstr>
      <vt:lpstr>Helvetica</vt:lpstr>
      <vt:lpstr>Arial</vt:lpstr>
      <vt:lpstr>微软雅黑</vt:lpstr>
      <vt:lpstr>宋体</vt:lpstr>
      <vt:lpstr>Arial Unicode MS</vt:lpstr>
      <vt:lpstr>Adwaita Mono</vt:lpstr>
      <vt:lpstr>AdwaitaMono Nerd Font</vt:lpstr>
      <vt:lpstr>书堆型设计模板</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Visio.Drawing.6</vt:lpstr>
      <vt:lpstr>Equation.3</vt:lpstr>
      <vt:lpstr>Paint.Picture</vt:lpstr>
      <vt:lpstr>Equation.3</vt:lpstr>
      <vt:lpstr>Equation.3</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HEL</dc:creator>
  <cp:lastModifiedBy>ziyu</cp:lastModifiedBy>
  <cp:revision>758</cp:revision>
  <dcterms:created xsi:type="dcterms:W3CDTF">2026-06-23T06:20:03Z</dcterms:created>
  <dcterms:modified xsi:type="dcterms:W3CDTF">2026-06-23T06:20:03Z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TC011594402052</vt:lpwstr>
  </property>
  <property fmtid="{D5CDD505-2E9C-101B-9397-08002B2CF9AE}" pid="3" name="ICV">
    <vt:lpwstr/>
  </property>
  <property fmtid="{D5CDD505-2E9C-101B-9397-08002B2CF9AE}" pid="4" name="KSOProductBuildVer">
    <vt:lpwstr>1033-11.1.0.11723</vt:lpwstr>
  </property>
</Properties>
</file>
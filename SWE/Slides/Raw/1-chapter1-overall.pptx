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83"/>
  </p:notesMasterIdLst>
  <p:sldIdLst>
    <p:sldId id="348" r:id="rId2"/>
    <p:sldId id="356" r:id="rId3"/>
    <p:sldId id="314" r:id="rId4"/>
    <p:sldId id="315" r:id="rId5"/>
    <p:sldId id="355" r:id="rId6"/>
    <p:sldId id="262" r:id="rId7"/>
    <p:sldId id="350" r:id="rId8"/>
    <p:sldId id="318" r:id="rId9"/>
    <p:sldId id="351" r:id="rId10"/>
    <p:sldId id="319" r:id="rId11"/>
    <p:sldId id="260" r:id="rId12"/>
    <p:sldId id="264" r:id="rId13"/>
    <p:sldId id="323" r:id="rId14"/>
    <p:sldId id="324" r:id="rId15"/>
    <p:sldId id="326" r:id="rId16"/>
    <p:sldId id="328" r:id="rId17"/>
    <p:sldId id="352" r:id="rId18"/>
    <p:sldId id="261" r:id="rId19"/>
    <p:sldId id="330" r:id="rId20"/>
    <p:sldId id="331" r:id="rId21"/>
    <p:sldId id="333" r:id="rId22"/>
    <p:sldId id="353" r:id="rId23"/>
    <p:sldId id="357" r:id="rId24"/>
    <p:sldId id="266" r:id="rId25"/>
    <p:sldId id="335" r:id="rId26"/>
    <p:sldId id="336" r:id="rId27"/>
    <p:sldId id="258" r:id="rId28"/>
    <p:sldId id="338" r:id="rId29"/>
    <p:sldId id="340" r:id="rId30"/>
    <p:sldId id="343" r:id="rId31"/>
    <p:sldId id="344" r:id="rId32"/>
    <p:sldId id="354" r:id="rId33"/>
    <p:sldId id="358" r:id="rId34"/>
    <p:sldId id="269" r:id="rId35"/>
    <p:sldId id="359" r:id="rId36"/>
    <p:sldId id="271" r:id="rId37"/>
    <p:sldId id="272" r:id="rId38"/>
    <p:sldId id="273" r:id="rId39"/>
    <p:sldId id="277" r:id="rId40"/>
    <p:sldId id="278" r:id="rId41"/>
    <p:sldId id="279" r:id="rId42"/>
    <p:sldId id="360" r:id="rId43"/>
    <p:sldId id="281" r:id="rId44"/>
    <p:sldId id="280" r:id="rId45"/>
    <p:sldId id="283" r:id="rId46"/>
    <p:sldId id="361" r:id="rId47"/>
    <p:sldId id="282" r:id="rId48"/>
    <p:sldId id="362" r:id="rId49"/>
    <p:sldId id="363" r:id="rId50"/>
    <p:sldId id="285" r:id="rId51"/>
    <p:sldId id="364" r:id="rId52"/>
    <p:sldId id="284" r:id="rId53"/>
    <p:sldId id="286" r:id="rId54"/>
    <p:sldId id="288" r:id="rId55"/>
    <p:sldId id="365" r:id="rId56"/>
    <p:sldId id="289" r:id="rId57"/>
    <p:sldId id="290" r:id="rId58"/>
    <p:sldId id="291" r:id="rId59"/>
    <p:sldId id="366" r:id="rId60"/>
    <p:sldId id="292" r:id="rId61"/>
    <p:sldId id="293" r:id="rId62"/>
    <p:sldId id="296" r:id="rId63"/>
    <p:sldId id="370" r:id="rId64"/>
    <p:sldId id="294" r:id="rId65"/>
    <p:sldId id="295" r:id="rId66"/>
    <p:sldId id="297" r:id="rId67"/>
    <p:sldId id="301" r:id="rId68"/>
    <p:sldId id="298" r:id="rId69"/>
    <p:sldId id="299" r:id="rId70"/>
    <p:sldId id="302" r:id="rId71"/>
    <p:sldId id="300" r:id="rId72"/>
    <p:sldId id="303" r:id="rId73"/>
    <p:sldId id="304" r:id="rId74"/>
    <p:sldId id="305" r:id="rId75"/>
    <p:sldId id="368" r:id="rId76"/>
    <p:sldId id="306" r:id="rId77"/>
    <p:sldId id="307" r:id="rId78"/>
    <p:sldId id="308" r:id="rId79"/>
    <p:sldId id="309" r:id="rId80"/>
    <p:sldId id="311" r:id="rId81"/>
    <p:sldId id="312" r:id="rId8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FFCC"/>
    <a:srgbClr val="000099"/>
    <a:srgbClr val="000066"/>
    <a:srgbClr val="003399"/>
    <a:srgbClr val="0033CC"/>
    <a:srgbClr val="0000FF"/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74" autoAdjust="0"/>
    <p:restoredTop sz="75232" autoAdjust="0"/>
  </p:normalViewPr>
  <p:slideViewPr>
    <p:cSldViewPr>
      <p:cViewPr varScale="1">
        <p:scale>
          <a:sx n="83" d="100"/>
          <a:sy n="83" d="100"/>
        </p:scale>
        <p:origin x="1092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DB528D30-63A7-4CDF-ACF0-A9A913F677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31FE779-60E5-4641-BC9A-6AE6D978BCE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95B86B85-6719-4F0B-BFED-5915BF1975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ECD5F87A-1628-4874-B896-9D05FEAE58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5250DB47-34EB-4494-8A53-CB6B76E7D62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6237B6B4-3771-488D-80E6-EC60AE55F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76F14C-6CAB-43EF-ADD5-A906F6EBFA6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2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本章提纲：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软件开发和系统分析与设计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系统开发生命周期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迭代开发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Ridgeline Mountain Outfitters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简介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RMO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的贸易展示系统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你要往哪里去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书的其余部分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73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目标：</a:t>
            </a:r>
            <a:endParaRPr lang="en-US" altLang="zh-CN" dirty="0"/>
          </a:p>
          <a:p>
            <a:endParaRPr lang="en-US" altLang="zh-CN" dirty="0"/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描述信息系统开发中系统分析和设计的目的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描述迭代系统开发的特点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解释系统开发生命周期的六个核心过程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462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确定在计划项目时使用的关键文档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识别系统分析和系统设计中使用的关键图表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解释在系统开发中识别用例的效用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解释在系统开发中识别对象类的效用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5875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5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第一部分：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软件开发和系统分析与设计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00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计算机应用程序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(app) 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在计算设备上执行的计算机软件程序，以执行一组特定的功能</a:t>
            </a:r>
            <a:br>
              <a:rPr lang="zh-CN" altLang="en-US" dirty="0"/>
            </a:b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适度的功能范围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一组相互关联的组件，它们收集、处理、存储并提供完成业务任务所需的信息作为输出</a:t>
            </a: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范围比“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app”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更广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包括数据库和相关的手动过程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881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系统边界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自动化边界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790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一个有计划的任务，有开始和结束，并产生一些明确的结果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用于开发信息系统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需要系统分析和系统设计工具和技术的知识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9278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那些使人能够理解和指定信息系统应该完成什么的活动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系统设计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那些使人能够详细定义和描述解决需求的系统的活动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7327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这门课更多的是教大家称为分析师来解决业务问题：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具备计算机技术知识和编程专业知识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理解业务问题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用逻辑方法解决问题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有基本的好奇心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想让事情变得更好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更多的是业务问题解决者而不是技术程序员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315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分析师解决问题的方法：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研究并理解问题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验证收益大于成本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定义解决问题的所需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提出一系列可行方案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决定哪个方案最好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决定方案细节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实施方案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监督以获得想要的结果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0420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需要的技能：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技术技能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商业技能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管理技能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729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诚信与道德要求：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分析师可以访问机密信息，例如工资、组织计划的项目、安全系统等等。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必须保密信息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任何不当行为都可能毁掉分析师的职业生涯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分析人员在系统中规划安全以保护机密信息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2736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17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第二部分：系统开发生命周期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06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系统开发生命周期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(SDLC)——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由构建、启动和维护信息系统所需的所有活动组成的整个过程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578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系统开发生命周期的传统预测方法：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项目计划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启动，确保可行性，计划进度，获得项目批准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分析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了解业务需求和处理要求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基于需求和分析决策来定义解决方案系统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实施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构建，测试，培训用户，并安装新系统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支持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保持系统运行和改进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40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信息系统开发阶段阶段：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计划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实现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支持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06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瀑布式的系统开发生命周期：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计划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分析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实现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支持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212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23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第三部分：迭代式开发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220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敏捷开发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敏捷开发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一种信息系统开发过程，强调在开发过程中预测新需求的灵活性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反应敏捷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;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对变化作出反应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迭代开发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迭代开发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系统开发的一种方法，在这种方法中，系统通过多次迭代一点一点地“成长”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完成系统的一小部分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小项目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，然后重复这个过程来提炼和添加更多，然后重复提炼和添加更多，直到完成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076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螺旋生命周期模型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7389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系统开发活动的迭代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387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迭代和敏捷系统开发生命周期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(SDLC)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5587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系统开发的两种方法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传统的方法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  也称为结构化系统开发</a:t>
            </a:r>
            <a:br>
              <a:rPr lang="zh-CN" altLang="en-US" dirty="0"/>
            </a:br>
            <a:r>
              <a:rPr lang="zh-CN" altLang="en-US" dirty="0"/>
              <a:t>  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结构化分析与设计技术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(SADT)</a:t>
            </a:r>
            <a:br>
              <a:rPr lang="zh-CN" altLang="en-US" dirty="0"/>
            </a:br>
            <a:r>
              <a:rPr lang="zh-CN" altLang="en-US" dirty="0"/>
              <a:t>  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包括信息工程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(IE)</a:t>
            </a: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面向对象的方法</a:t>
            </a:r>
            <a:br>
              <a:rPr lang="zh-CN" altLang="en-US" dirty="0"/>
            </a:br>
            <a:r>
              <a:rPr lang="zh-CN" altLang="en-US" dirty="0"/>
              <a:t> 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将信息系统视为相互作用的对象的集合，这些对象一起工作以完成任务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490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三种结构化编程结构：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顺序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判断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dirty="0"/>
              <a:t>循环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5054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面向对象分析期间创建的类图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059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系统顺序图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(SSD)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表示法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86920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32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Ridgeline Mountain Outfitters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简介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548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41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0288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问题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采购代理参加世界各地的服装和面料贸易展，从供应商那里订购新产品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需求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——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在贸易展览过程中，信息系统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应用程序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收集和跟踪有关供应商和新产品的信息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贸易展项目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被提议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供应商信息子系统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产品信息子系统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9098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项目前期工作：</a:t>
            </a:r>
            <a:endParaRPr lang="en-US" altLang="zh-CN" dirty="0"/>
          </a:p>
          <a:p>
            <a:r>
              <a:rPr lang="en-US" altLang="zh-CN" dirty="0"/>
              <a:t> 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识别问题并记录系统的目标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1)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初步调查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系统愿景文档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获得项目启动批准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1) 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与主要利益相关者会面，包括执行管理层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作出决定，批准计划和预算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0489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问题描述（为什么要做）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系统功能（做什么）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业务收益（能带来什么收益）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4928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为什么要做？区域代理商能够更快速地与供应商和感兴趣的产品进行沟通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356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做什么？收集和记录信息（供应商关键信息，产品信息），通过网络来沟通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7830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能带来什么收益？维护客户关系，更好地管理订单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86034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计划项目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确定需要的主要组件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功能区域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 供应商信息子系统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 产品信息子系统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定义迭代并将每个功能分配给每个迭代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决定先做供应商子系统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计划一次迭代，因为它是小而直接的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确定团队成员和职责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226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工作分解结构（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基于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SDLC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中的后面四个核心过程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发现并理解问题各个方面的细节（与相关人员会谈）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设计问题解决方案的组成部分（界面，数据库，结构等）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代码实现各个组件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进行系统级测试和部署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6574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工作顺序草案（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详细阐述工作分解结构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6252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82828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发现和理解细节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进行初步的事实调查以了解需求</a:t>
            </a: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开发用例的初步列表和用例图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开发一个类的初步列表和类图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3604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其中，进行初步的事实调查以了解需求，包括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956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开发用例的初步列表和用例图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7600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开发一个类的初步列表和类图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1022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5103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发现和理解细节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进行深入的事实调查以了解需求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理解并记录每个用例的详细工作流程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设计系统组件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用屏幕展示和报告给出用户体验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5651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发现和理解细节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进行深入的事实调查以了解需求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理解并记录每个用例的详细工作流程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976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供应商信息子系统细节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查找供应商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输入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更新供应商信息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查找联系信息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输入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/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更新合同信息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07663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购买代理人    管理者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500246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4901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设计系统组件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8759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屏幕布局草稿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  查找供应商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6542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设计系统组件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设计数据库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表设计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键和索引标识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属性类型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参照完整性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设计系统的高层结构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浏览器、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Windows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或智能手机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体系结构配置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组件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设计类图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子系统体系结构设计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22138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8429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设计系统组件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设计数据库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模式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 表设计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键和索引标识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属性类型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参照完整性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设计系统的高层结构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浏览器、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Windows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或智能手机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体系结构配置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组件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设计类图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子系统体系结构设计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740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体系结构配置图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93414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初步设计类图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包括视图层类和域层类（业务层类）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还需要添加实用工具类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10710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子系统架构设计图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76063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一个代码例子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3029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项目管理须知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许多设计图表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设计具有多个层次的复杂活动</a:t>
            </a:r>
            <a:br>
              <a:rPr lang="zh-CN" altLang="en-US" dirty="0"/>
            </a:br>
            <a:r>
              <a:rPr lang="zh-CN" altLang="en-US" dirty="0"/>
              <a:t> 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高级架构</a:t>
            </a:r>
            <a:br>
              <a:rPr lang="zh-CN" altLang="en-US" dirty="0"/>
            </a:br>
            <a:r>
              <a:rPr lang="zh-CN" altLang="en-US" dirty="0"/>
              <a:t>  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低层详细设计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一个图表建立在另一个图表的基础上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并不是所有的东西都用图表表示，尤其是对于一个小项目。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编程也是并发完成的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你不需要设计所有的东西然后再编码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你做一些设计，一些编码，一些设计，一些编码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598715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设计系统组件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继续设计细节 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一个用例接一个用例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5: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构建、测试和集成系统组件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继续编程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逐个用例来构建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执行单元和集成测试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874382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测试任务流程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开始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创建测试数据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进行测试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如果有错误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-》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修复错误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6081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6: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完成系统测试和部署系统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 执行系统功能测试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执行用户验收测试</a:t>
            </a:r>
            <a:br>
              <a:rPr lang="zh-CN" altLang="en-US" dirty="0"/>
            </a:br>
            <a:r>
              <a:rPr lang="zh-CN" altLang="en-US" dirty="0"/>
              <a:t> 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可能部署系统的一部分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89920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查找供应商用例的屏幕截图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7035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第一次迭代回顾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这是一个为期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6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天的小项目迭代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大多数迭代都更长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到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周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这个项目可能有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个迭代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大多数项目都有更多的迭代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终端用户需要参与进来，特别是在第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、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6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天。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天和第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5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天同时涉及设计和编程。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很多时间都花在了编程和设计上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29273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这本书是关于系统开发生命周期中的活动和任务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876693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A61FE8A-C87B-4A56-90E3-E40FEA8FFD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A40A711-8F9E-46DC-90A4-B1580653FDF7}" type="slidenum">
              <a:rPr kumimoji="0" lang="en-US" altLang="zh-CN"/>
              <a:pPr eaLnBrk="1" hangingPunct="1">
                <a:spcBef>
                  <a:spcPct val="0"/>
                </a:spcBef>
              </a:pPr>
              <a:t>75</a:t>
            </a:fld>
            <a:endParaRPr kumimoji="0" lang="en-US" altLang="zh-CN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FEDD42C-246A-4CB6-8DB9-D5A181A9DC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EF29203-FDAE-4559-A7E9-71B6680B7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最后一部分：书的其余部分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0677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第一章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从开始到结束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小项目概述，强调分析、设计和迭代开发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完成了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!</a:t>
            </a: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第二章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调查系统需求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更多关于核心流程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系统分析活动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3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用例</a:t>
            </a: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为系统分析识别和建模用例的技术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629974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域建模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为系统分析识别和建模领域类的技术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5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扩展需求模型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为系统分析建模关于用例和领域类的更多细节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以上主要解决的是需求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441346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第六章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设计要点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更多关于核心流程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4: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系统设计活动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第七章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设计用户和系统接口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人机交互，用户界面设计原理，输出和报告，系统接口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以上主要是设计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8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系统开发方法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更多关于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SDLC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、模型、工具、技术和敏捷方法的内容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9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项目计划和项目管理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关于核心进程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和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的更多信息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以上更多是开发方法和项目管理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55833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10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面向对象设计原则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设计原则、设计模型和设计用例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面向对象设计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用例实现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三层设计和设计模式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12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数据库、控件和安全性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更多关于数据库的设计和保护系统的完整性。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1430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本章小结：</a:t>
            </a:r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endParaRPr lang="en-US" altLang="zh-CN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我们解决的是开发信息系统来解决一个组织的需求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章介绍一个小型信息系统的整个过程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系统开发涉及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6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个核心过程，称为系统开发生命周期（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SDLC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）</a:t>
            </a:r>
            <a:br>
              <a:rPr lang="zh-CN" altLang="en-US" dirty="0"/>
            </a:br>
            <a:endParaRPr lang="zh-CN" altLang="en-US" b="0" i="0" dirty="0">
              <a:solidFill>
                <a:srgbClr val="2A2B2E"/>
              </a:solidFill>
              <a:effectLst/>
              <a:latin typeface="PingFang SC"/>
            </a:endParaRPr>
          </a:p>
          <a:p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正文的其余部分详细阐述了第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章所示的基本过程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16490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需要复习和了解的术语包括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: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计算机应用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信息系统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系统分析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系统设计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系统开发生命周期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(SDLC)</a:t>
            </a:r>
          </a:p>
          <a:p>
            <a:pPr algn="l"/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信息系统开发过程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(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方法论</a:t>
            </a:r>
            <a:r>
              <a:rPr lang="en-US" altLang="zh-CN" b="0" i="0" dirty="0">
                <a:solidFill>
                  <a:srgbClr val="2A2B2E"/>
                </a:solidFill>
                <a:effectLst/>
                <a:latin typeface="PingFang SC"/>
              </a:rPr>
              <a:t>)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  敏捷开发</a:t>
            </a:r>
            <a:br>
              <a:rPr lang="zh-CN" altLang="en-US" dirty="0"/>
            </a:br>
            <a:r>
              <a:rPr lang="zh-CN" altLang="en-US" dirty="0"/>
              <a:t>  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迭代开发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6F14C-6CAB-43EF-ADD5-A906F6EBFA66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650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50C44FF8-3A82-4934-9C01-48224CA56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1532B8BF-3A02-4459-B07F-7E86BC6CE0C8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512C497D-F148-4B0F-AD9C-558075603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2C5002E0-547B-418D-83D0-FAF47F653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C94596FB-8EEB-4523-B4FB-B1ABAB4D7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076E273B-0CED-4EC0-A3FD-0DE557DF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8DC41579-4AE1-4816-A4CA-84FC59CA7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575AEC73-DDBF-4BB6-8B3D-487ACD4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2EDCC216-4EAD-4A24-ACEC-8CBB4B5E3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7FCF2406-3D71-4307-ABE0-9A26054BD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74E9975E-843E-476A-A50B-3922616E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70104001-63A9-410A-863E-AC0301A2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F61AE4BD-3CB8-4820-9D92-A19705454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D399EF3F-B68B-4C5C-A80D-7924E86F2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CE25368C-73D2-4372-9063-79367D1AD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CB54896F-16ED-40A3-A884-9C2DA6696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3164F9D3-AAE0-47E8-91E4-8E89DDD8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549924F3-B13E-46B6-9364-3D48E7B43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8601C418-57C5-40B7-99DD-E346EBE72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5FB15CC6-1B63-4B34-9A8C-AEE8C318F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8E6EDAE8-2297-4D62-9294-B6E06DF72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6F642D21-D85D-4B0A-93F5-26DA24FD0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B7D6D79F-A6D0-4CA5-9ECB-DAA433718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C1181F01-9722-4A82-8D9B-C4CBB7184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087BE7FE-C43E-4C1B-A734-71DF04DBD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630D077D-BB6D-448A-BC26-793759557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2019A4F7-7BA8-4E2E-99C7-F9EF65B6E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D65BEC8B-9044-48D0-B242-54597ED14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6CA906B5-D325-431C-B477-D94AEABCA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0F8371AA-5C79-45DB-98BC-9DB351063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B184F8D2-798D-493C-9410-54A2E313A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7D72159D-0121-4324-8A37-EC172CC08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2D7EFCD2-3F91-440E-BFE0-A148A9664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5B02ECE5-DBF0-4882-B1D1-3BBAED797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Rectangle 41">
            <a:extLst>
              <a:ext uri="{FF2B5EF4-FFF2-40B4-BE49-F238E27FC236}">
                <a16:creationId xmlns:a16="http://schemas.microsoft.com/office/drawing/2014/main" id="{B1BD83DF-3A14-4B4A-8302-01CCB21BB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67818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endParaRPr lang="en-US" altLang="en-US" sz="3200" b="1">
              <a:solidFill>
                <a:schemeClr val="tx2"/>
              </a:solidFill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800" y="304800"/>
            <a:ext cx="6781800" cy="1076325"/>
          </a:xfrm>
        </p:spPr>
        <p:txBody>
          <a:bodyPr/>
          <a:lstStyle>
            <a:lvl1pPr algn="r">
              <a:defRPr sz="3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DC9E41EE-2830-4FA6-BD6E-A484C84735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5698F1B2-A1F2-4BAE-A26B-105C434C69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981200" y="6248400"/>
            <a:ext cx="510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1" name="Rectangle 7">
            <a:extLst>
              <a:ext uri="{FF2B5EF4-FFF2-40B4-BE49-F238E27FC236}">
                <a16:creationId xmlns:a16="http://schemas.microsoft.com/office/drawing/2014/main" id="{3860A1E8-14F7-4833-BC6F-C28DEDF9F2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15200" y="6248400"/>
            <a:ext cx="1371600" cy="457200"/>
          </a:xfrm>
        </p:spPr>
        <p:txBody>
          <a:bodyPr/>
          <a:lstStyle>
            <a:lvl1pPr>
              <a:defRPr/>
            </a:lvl1pPr>
          </a:lstStyle>
          <a:p>
            <a:fld id="{1960F4D0-24FE-49F4-95A4-2246D65AAF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427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9F369F1-AA24-4072-A5A7-DF247AEA7A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AE8260-21EB-42F4-A1BD-31D47169F9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BBC7803-C5E5-4903-AF88-3EB3A3430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9FE49B-0E30-4D83-B2CF-78A19896DC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97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976E87-E848-46A6-AC87-7644826F71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A7A80D-FA10-4D13-A717-90285F75FE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96082E4-98A0-4695-9F32-38FF368DB9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A3C73-9CC9-4409-8267-B8A986A6C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00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017EAF-D649-481F-ADEF-E872B32F14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A1D9E9-E149-4DD8-926A-46EFB41482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B254F48-C0EF-4FBB-950D-8B2C0D26C3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4D10C6-97F9-4214-85FA-CD695C1C24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09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57DFECC-2ECB-4876-B6FA-8585C3C748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6C0D15E-C322-4266-924D-7EFB42A0E6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F043BD8-B921-4EFA-B7C7-122A599220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DB869-58A3-44C8-B706-6AA81B61C8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78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4ADF8C5-483B-4614-83B4-F9BB7E577E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0549E20-26F1-42F0-9141-6967DB3A5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51EEE57-E35B-433E-9F1B-CC9554F82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C87A2C-6E93-44F4-8BD5-E959C30F91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0516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826F4B1-23C6-4B97-BE89-D9B335512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457CF22-E2E9-4789-BE32-8BA08C6C0D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0547891-768C-47AC-9ACC-7AE19B29DA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02D9A0-F85B-4BDE-91D6-5E64CED659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67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AD43CA-8579-4A2C-886B-0716736D9D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FE4064-1205-4580-8A46-F23A20F25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C4816A9-77D9-47C2-B101-5A03E57A4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02701F-FA06-4A3A-BE7A-36A4C440B7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991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A3B0DE-4174-4BDF-B563-2D54FED75D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6100E-CE96-4C68-B7B7-9CEFDD6C9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747BB29-84BC-475E-95F6-61F96C36F5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213E20-B4EB-4315-9BD2-FA5CAC5362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0794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2EE5EB6-E45E-4AFF-AFD3-BE4683C2B8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670B77A-14D8-4659-AEB4-D68AE80F23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7E901CE-00BE-4A43-BA17-D854FF09D3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574B8-88BA-4E3A-8C06-66B4A18267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92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4B72FD-05E7-4981-8D89-40640D1113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5DFCED-2869-4BD8-A0DF-B275B87B81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7E342ED-9E66-4CBE-AB6C-6F859C275D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3AEC82-8E2C-44AE-8FF2-68FE278ABC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201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90A5707-F269-491C-AAC9-0F4060E7B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F2A6F16-9417-4687-AEC3-0D808D92BD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D232050-B7E4-4F9F-920B-C58A20CE78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E8B63-A87B-490E-9D3E-548FCBF60C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0974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767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371600"/>
            <a:ext cx="40767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A7625DB-C375-4418-8212-C5D02DE431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Systems Analysis and Design in a Changing World, 4th Edition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8EF82DA-32F6-4A28-ADD3-56EBC71B37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fld id="{E373FC80-DB29-4259-A23F-41AED4A637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345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1BF891A3-815C-4CE3-A56A-FC12FA43E6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876AFE-78A3-49B8-B1A0-B71F16774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DBD0B2-6CF2-44B0-BDF9-057A93F1C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9813" name="Rectangle 5">
            <a:extLst>
              <a:ext uri="{FF2B5EF4-FFF2-40B4-BE49-F238E27FC236}">
                <a16:creationId xmlns:a16="http://schemas.microsoft.com/office/drawing/2014/main" id="{B2474C3F-7E8D-4A03-B4E5-54C6371EB4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9814" name="Rectangle 6">
            <a:extLst>
              <a:ext uri="{FF2B5EF4-FFF2-40B4-BE49-F238E27FC236}">
                <a16:creationId xmlns:a16="http://schemas.microsoft.com/office/drawing/2014/main" id="{C617388C-5E41-4D20-8218-A3C9EF1562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2484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Systems Analysis and Design in a Changing World, 6th Edition</a:t>
            </a:r>
          </a:p>
        </p:txBody>
      </p:sp>
      <p:sp>
        <p:nvSpPr>
          <p:cNvPr id="119815" name="Rectangle 7">
            <a:extLst>
              <a:ext uri="{FF2B5EF4-FFF2-40B4-BE49-F238E27FC236}">
                <a16:creationId xmlns:a16="http://schemas.microsoft.com/office/drawing/2014/main" id="{F596A600-9324-4901-A09F-4F4F140F04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8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70AC4859-3903-4F6C-B079-7877F71030CE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EE9B8166-309B-43B3-9958-1E59DFD02650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19817" name="Oval 9">
              <a:extLst>
                <a:ext uri="{FF2B5EF4-FFF2-40B4-BE49-F238E27FC236}">
                  <a16:creationId xmlns:a16="http://schemas.microsoft.com/office/drawing/2014/main" id="{EF7DCE4F-268D-4AE3-BB6F-4F649853B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18" name="Oval 10">
              <a:extLst>
                <a:ext uri="{FF2B5EF4-FFF2-40B4-BE49-F238E27FC236}">
                  <a16:creationId xmlns:a16="http://schemas.microsoft.com/office/drawing/2014/main" id="{3FE5446E-0460-49F3-83E2-74370007F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19" name="Oval 11">
              <a:extLst>
                <a:ext uri="{FF2B5EF4-FFF2-40B4-BE49-F238E27FC236}">
                  <a16:creationId xmlns:a16="http://schemas.microsoft.com/office/drawing/2014/main" id="{F23EEBF0-5F2E-4578-A399-9AB777C49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0" name="Oval 12">
              <a:extLst>
                <a:ext uri="{FF2B5EF4-FFF2-40B4-BE49-F238E27FC236}">
                  <a16:creationId xmlns:a16="http://schemas.microsoft.com/office/drawing/2014/main" id="{08793B99-CB52-4FE2-88EE-E139873F3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1" name="Oval 13">
              <a:extLst>
                <a:ext uri="{FF2B5EF4-FFF2-40B4-BE49-F238E27FC236}">
                  <a16:creationId xmlns:a16="http://schemas.microsoft.com/office/drawing/2014/main" id="{8F0FD0F4-B077-4392-B6BA-C92177A4D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2" name="Oval 14">
              <a:extLst>
                <a:ext uri="{FF2B5EF4-FFF2-40B4-BE49-F238E27FC236}">
                  <a16:creationId xmlns:a16="http://schemas.microsoft.com/office/drawing/2014/main" id="{6063EF80-B22B-436E-8BD2-CF6862586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3" name="Oval 15">
              <a:extLst>
                <a:ext uri="{FF2B5EF4-FFF2-40B4-BE49-F238E27FC236}">
                  <a16:creationId xmlns:a16="http://schemas.microsoft.com/office/drawing/2014/main" id="{F4B9A448-B8FD-4086-BCE0-85A211277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4" name="Oval 16">
              <a:extLst>
                <a:ext uri="{FF2B5EF4-FFF2-40B4-BE49-F238E27FC236}">
                  <a16:creationId xmlns:a16="http://schemas.microsoft.com/office/drawing/2014/main" id="{7A75EC41-9732-4E88-9A0C-B6AF1B2FC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5" name="Oval 17">
              <a:extLst>
                <a:ext uri="{FF2B5EF4-FFF2-40B4-BE49-F238E27FC236}">
                  <a16:creationId xmlns:a16="http://schemas.microsoft.com/office/drawing/2014/main" id="{A212790F-CFD1-4679-9696-F9FA62670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6" name="Oval 18">
              <a:extLst>
                <a:ext uri="{FF2B5EF4-FFF2-40B4-BE49-F238E27FC236}">
                  <a16:creationId xmlns:a16="http://schemas.microsoft.com/office/drawing/2014/main" id="{21534236-CD01-41F7-B5FE-E08298118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7" name="Oval 19">
              <a:extLst>
                <a:ext uri="{FF2B5EF4-FFF2-40B4-BE49-F238E27FC236}">
                  <a16:creationId xmlns:a16="http://schemas.microsoft.com/office/drawing/2014/main" id="{3349C68F-DC8D-48C6-B9ED-8FD32A74D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8" name="Oval 20">
              <a:extLst>
                <a:ext uri="{FF2B5EF4-FFF2-40B4-BE49-F238E27FC236}">
                  <a16:creationId xmlns:a16="http://schemas.microsoft.com/office/drawing/2014/main" id="{885A275A-2BF7-4A0B-86DD-1D4CCFD9F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29" name="Oval 21">
              <a:extLst>
                <a:ext uri="{FF2B5EF4-FFF2-40B4-BE49-F238E27FC236}">
                  <a16:creationId xmlns:a16="http://schemas.microsoft.com/office/drawing/2014/main" id="{5583D64A-EE44-46FF-BB44-FFD2EC91F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0" name="Oval 22">
              <a:extLst>
                <a:ext uri="{FF2B5EF4-FFF2-40B4-BE49-F238E27FC236}">
                  <a16:creationId xmlns:a16="http://schemas.microsoft.com/office/drawing/2014/main" id="{2886F23D-C969-43C9-9868-A6DD4E86E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1" name="Oval 23">
              <a:extLst>
                <a:ext uri="{FF2B5EF4-FFF2-40B4-BE49-F238E27FC236}">
                  <a16:creationId xmlns:a16="http://schemas.microsoft.com/office/drawing/2014/main" id="{FB3D0646-1C6D-4068-B6B1-051642EA4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2" name="Oval 24">
              <a:extLst>
                <a:ext uri="{FF2B5EF4-FFF2-40B4-BE49-F238E27FC236}">
                  <a16:creationId xmlns:a16="http://schemas.microsoft.com/office/drawing/2014/main" id="{8D3CB53E-24BE-44B3-9CE9-15642C551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3" name="Oval 25">
              <a:extLst>
                <a:ext uri="{FF2B5EF4-FFF2-40B4-BE49-F238E27FC236}">
                  <a16:creationId xmlns:a16="http://schemas.microsoft.com/office/drawing/2014/main" id="{5910937E-99D9-4450-BB96-FF1BACF74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4" name="Oval 26">
              <a:extLst>
                <a:ext uri="{FF2B5EF4-FFF2-40B4-BE49-F238E27FC236}">
                  <a16:creationId xmlns:a16="http://schemas.microsoft.com/office/drawing/2014/main" id="{90CA1EE5-7FB4-486D-A785-2CEA3071D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5" name="Oval 27">
              <a:extLst>
                <a:ext uri="{FF2B5EF4-FFF2-40B4-BE49-F238E27FC236}">
                  <a16:creationId xmlns:a16="http://schemas.microsoft.com/office/drawing/2014/main" id="{F5F674E9-89E6-4055-B91C-F59321D0F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6" name="Oval 28">
              <a:extLst>
                <a:ext uri="{FF2B5EF4-FFF2-40B4-BE49-F238E27FC236}">
                  <a16:creationId xmlns:a16="http://schemas.microsoft.com/office/drawing/2014/main" id="{156E294B-7708-42C9-8A84-5AFBB2427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7" name="Oval 29">
              <a:extLst>
                <a:ext uri="{FF2B5EF4-FFF2-40B4-BE49-F238E27FC236}">
                  <a16:creationId xmlns:a16="http://schemas.microsoft.com/office/drawing/2014/main" id="{667333C1-83C4-4D6F-A2B6-DE742A3A4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8" name="Oval 30">
              <a:extLst>
                <a:ext uri="{FF2B5EF4-FFF2-40B4-BE49-F238E27FC236}">
                  <a16:creationId xmlns:a16="http://schemas.microsoft.com/office/drawing/2014/main" id="{84EAB595-A889-4B3A-A73F-671648AC7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39" name="Oval 31">
              <a:extLst>
                <a:ext uri="{FF2B5EF4-FFF2-40B4-BE49-F238E27FC236}">
                  <a16:creationId xmlns:a16="http://schemas.microsoft.com/office/drawing/2014/main" id="{0B5D9861-03A7-4A8D-8D59-CB0165F37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0" name="Oval 32">
              <a:extLst>
                <a:ext uri="{FF2B5EF4-FFF2-40B4-BE49-F238E27FC236}">
                  <a16:creationId xmlns:a16="http://schemas.microsoft.com/office/drawing/2014/main" id="{6E032C14-D892-49FA-82B7-3FFBFA9B5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1" name="Oval 33">
              <a:extLst>
                <a:ext uri="{FF2B5EF4-FFF2-40B4-BE49-F238E27FC236}">
                  <a16:creationId xmlns:a16="http://schemas.microsoft.com/office/drawing/2014/main" id="{E72B3BCC-D046-4716-B686-6104C99EB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2" name="Oval 34">
              <a:extLst>
                <a:ext uri="{FF2B5EF4-FFF2-40B4-BE49-F238E27FC236}">
                  <a16:creationId xmlns:a16="http://schemas.microsoft.com/office/drawing/2014/main" id="{E6D888AE-594C-4D31-92BA-F72E01F93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3" name="Oval 35">
              <a:extLst>
                <a:ext uri="{FF2B5EF4-FFF2-40B4-BE49-F238E27FC236}">
                  <a16:creationId xmlns:a16="http://schemas.microsoft.com/office/drawing/2014/main" id="{9BD23A17-B33D-4661-8197-529BF34B2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4" name="Oval 36">
              <a:extLst>
                <a:ext uri="{FF2B5EF4-FFF2-40B4-BE49-F238E27FC236}">
                  <a16:creationId xmlns:a16="http://schemas.microsoft.com/office/drawing/2014/main" id="{7802ABC9-C4A5-4DB0-9566-A096FAE24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5" name="Oval 37">
              <a:extLst>
                <a:ext uri="{FF2B5EF4-FFF2-40B4-BE49-F238E27FC236}">
                  <a16:creationId xmlns:a16="http://schemas.microsoft.com/office/drawing/2014/main" id="{354AA52D-F790-4EE5-9913-99473F3D5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6" name="Oval 38">
              <a:extLst>
                <a:ext uri="{FF2B5EF4-FFF2-40B4-BE49-F238E27FC236}">
                  <a16:creationId xmlns:a16="http://schemas.microsoft.com/office/drawing/2014/main" id="{D4D73FF1-468C-4ACB-8336-F8F9488AA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119847" name="Oval 39">
              <a:extLst>
                <a:ext uri="{FF2B5EF4-FFF2-40B4-BE49-F238E27FC236}">
                  <a16:creationId xmlns:a16="http://schemas.microsoft.com/office/drawing/2014/main" id="{09C8E172-224A-487E-8E3B-17FB38598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ea typeface="宋体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2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cs typeface="+mn-cs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cs typeface="+mn-cs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CBFEDFED-356F-46F4-8835-ABE5DBB6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731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3C131B-8087-4305-914A-5B3FC3AA1ADB}"/>
              </a:ext>
            </a:extLst>
          </p:cNvPr>
          <p:cNvSpPr/>
          <p:nvPr/>
        </p:nvSpPr>
        <p:spPr>
          <a:xfrm>
            <a:off x="615478" y="1239679"/>
            <a:ext cx="8122920" cy="4378643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2">
            <a:extLst>
              <a:ext uri="{FF2B5EF4-FFF2-40B4-BE49-F238E27FC236}">
                <a16:creationId xmlns:a16="http://schemas.microsoft.com/office/drawing/2014/main" id="{5BBA1AA5-6558-4E31-A033-1DCEC0F2EFB1}"/>
              </a:ext>
            </a:extLst>
          </p:cNvPr>
          <p:cNvSpPr txBox="1"/>
          <p:nvPr/>
        </p:nvSpPr>
        <p:spPr>
          <a:xfrm>
            <a:off x="864338" y="1952301"/>
            <a:ext cx="7604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 件 工 程 课 程</a:t>
            </a:r>
            <a:endParaRPr lang="en-US" altLang="zh-CN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77D0D77-0C63-4A35-9CFD-0B25FC4D114B}"/>
              </a:ext>
            </a:extLst>
          </p:cNvPr>
          <p:cNvCxnSpPr/>
          <p:nvPr/>
        </p:nvCxnSpPr>
        <p:spPr>
          <a:xfrm>
            <a:off x="2561977" y="4097572"/>
            <a:ext cx="10143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201B4F-6F44-4B9C-A209-EEEFECEC1192}"/>
              </a:ext>
            </a:extLst>
          </p:cNvPr>
          <p:cNvCxnSpPr/>
          <p:nvPr/>
        </p:nvCxnSpPr>
        <p:spPr>
          <a:xfrm flipV="1">
            <a:off x="5793428" y="4097572"/>
            <a:ext cx="1097517" cy="103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27">
            <a:extLst>
              <a:ext uri="{FF2B5EF4-FFF2-40B4-BE49-F238E27FC236}">
                <a16:creationId xmlns:a16="http://schemas.microsoft.com/office/drawing/2014/main" id="{86495957-9644-411E-829E-0F86A098C5DE}"/>
              </a:ext>
            </a:extLst>
          </p:cNvPr>
          <p:cNvSpPr txBox="1"/>
          <p:nvPr/>
        </p:nvSpPr>
        <p:spPr>
          <a:xfrm>
            <a:off x="3576354" y="3980949"/>
            <a:ext cx="2200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1200" dirty="0">
                <a:latin typeface="ITC Avant Garde Std Bk" panose="020B0502020202020204" pitchFamily="34" charset="0"/>
              </a:rPr>
              <a:t>Xi'an Jiaotong University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E312F2-095B-415C-93E9-2A54B21CC114}"/>
              </a:ext>
            </a:extLst>
          </p:cNvPr>
          <p:cNvSpPr txBox="1"/>
          <p:nvPr/>
        </p:nvSpPr>
        <p:spPr>
          <a:xfrm>
            <a:off x="1796976" y="4723794"/>
            <a:ext cx="57602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 计算机学院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gewang@xjtu.edu.cn</a:t>
            </a:r>
            <a:endParaRPr lang="zh-CN" altLang="en-US" sz="15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5BEF54-469B-43B6-A5C5-BD9FD0912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12" y="1291591"/>
            <a:ext cx="1790431" cy="62894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16E48DF-6885-4DCA-9492-E87BB2FCC491}"/>
              </a:ext>
            </a:extLst>
          </p:cNvPr>
          <p:cNvSpPr txBox="1"/>
          <p:nvPr/>
        </p:nvSpPr>
        <p:spPr>
          <a:xfrm>
            <a:off x="4341876" y="4319105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 鸽</a:t>
            </a:r>
          </a:p>
        </p:txBody>
      </p:sp>
      <p:sp>
        <p:nvSpPr>
          <p:cNvPr id="14" name="TextBox 42">
            <a:extLst>
              <a:ext uri="{FF2B5EF4-FFF2-40B4-BE49-F238E27FC236}">
                <a16:creationId xmlns:a16="http://schemas.microsoft.com/office/drawing/2014/main" id="{5461A976-AE69-4F4C-A112-C49E8CC9C259}"/>
              </a:ext>
            </a:extLst>
          </p:cNvPr>
          <p:cNvSpPr txBox="1"/>
          <p:nvPr/>
        </p:nvSpPr>
        <p:spPr>
          <a:xfrm>
            <a:off x="946472" y="3119914"/>
            <a:ext cx="7604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1: 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76508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  <a:r>
              <a:rPr lang="zh-CN" altLang="en-US" dirty="0">
                <a:ea typeface="宋体" panose="02010600030101010101" pitchFamily="2" charset="-122"/>
              </a:rPr>
              <a:t>（软件开发和系统分析与设计）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Systems Development Lifecycle</a:t>
            </a:r>
            <a:r>
              <a:rPr lang="zh-CN" altLang="en-US" dirty="0">
                <a:ea typeface="宋体" panose="02010600030101010101" pitchFamily="2" charset="-122"/>
              </a:rPr>
              <a:t>（系统开发生命周期）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Iterative Development</a:t>
            </a:r>
            <a:r>
              <a:rPr lang="zh-CN" altLang="en-US" dirty="0">
                <a:ea typeface="宋体" panose="02010600030101010101" pitchFamily="2" charset="-122"/>
              </a:rPr>
              <a:t>（迭代开发）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Where You are Headed—The Rest of the Book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8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04E8C9A7-4957-4DD1-8214-D51640DE0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4A97BE-5EB9-45C1-80CE-357B301A056C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31679DC-E25B-4893-AADB-D63A7D1D9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5E809782-EA28-4D14-B790-5CE5FCD4A2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After reading this chapter, you should be able to: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Describe the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purpose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（目的）</a:t>
            </a:r>
            <a:r>
              <a:rPr lang="en-US" altLang="zh-CN" dirty="0">
                <a:ea typeface="宋体" panose="02010600030101010101" pitchFamily="2" charset="-122"/>
              </a:rPr>
              <a:t> of systems analysis and design in the development of information systems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Describe the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characteristics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（特点）</a:t>
            </a:r>
            <a:r>
              <a:rPr lang="en-US" altLang="zh-CN" dirty="0">
                <a:ea typeface="宋体" panose="02010600030101010101" pitchFamily="2" charset="-122"/>
              </a:rPr>
              <a:t> of iterative systems development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Explain the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six core processes 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个核心过程）</a:t>
            </a:r>
            <a:r>
              <a:rPr lang="en-US" altLang="zh-CN" dirty="0">
                <a:ea typeface="宋体" panose="02010600030101010101" pitchFamily="2" charset="-122"/>
              </a:rPr>
              <a:t>of the Systems Development Life Cycle</a:t>
            </a:r>
          </a:p>
        </p:txBody>
      </p:sp>
      <p:sp>
        <p:nvSpPr>
          <p:cNvPr id="7173" name="Footer Placeholder 4">
            <a:extLst>
              <a:ext uri="{FF2B5EF4-FFF2-40B4-BE49-F238E27FC236}">
                <a16:creationId xmlns:a16="http://schemas.microsoft.com/office/drawing/2014/main" id="{45FCB9FF-6A1A-4924-9FAB-C4EDA4DA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174" name="Rectangle 4">
            <a:extLst>
              <a:ext uri="{FF2B5EF4-FFF2-40B4-BE49-F238E27FC236}">
                <a16:creationId xmlns:a16="http://schemas.microsoft.com/office/drawing/2014/main" id="{3E6E02E7-893D-49D5-8F0D-E0507B2D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FAB20910-6A5C-4CF7-B488-D86960661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9C09691-6B5E-4E59-BE71-A25F2D5BCA7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877B7FB-CDB3-4CC8-B18B-D0AB12762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Learning Objectives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5BBF03E-100F-4B0B-A14A-0749EDCE81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Identify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key documents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（关键文档）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that are used in planning a project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Identify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key diagrams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（关键图表）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used in systems analysis and systems design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Explain the utility of identifying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use cases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（用例）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 systems development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Explain the utility of identifying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object classes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（对象类）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 systems development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F2E16316-79BF-4E24-A83E-B707ACEE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8198" name="Rectangle 4">
            <a:extLst>
              <a:ext uri="{FF2B5EF4-FFF2-40B4-BE49-F238E27FC236}">
                <a16:creationId xmlns:a16="http://schemas.microsoft.com/office/drawing/2014/main" id="{4A400E02-8407-4F0B-B827-C6542747F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Software Development and Systems Analysis and Design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（软件开发和系统分析与设计）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Systems Development Lifecycle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Iterative Development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Where You are Headed—The Rest of the Book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98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83B3194D-A267-4BC6-81CC-45B6B85D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7315067-5752-4472-AC6B-55CDDB4231F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F75DE71-233C-47F8-88F7-5F3DA5764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FD1BC2E-CB42-4598-A5A7-D48CF1DD3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1637" y="1525721"/>
            <a:ext cx="822960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Computer application</a:t>
            </a:r>
            <a:r>
              <a:rPr lang="en-GB" altLang="zh-CN" sz="2800" dirty="0">
                <a:ea typeface="宋体" panose="02010600030101010101" pitchFamily="2" charset="-122"/>
              </a:rPr>
              <a:t> (app</a:t>
            </a:r>
            <a:r>
              <a:rPr lang="zh-CN" altLang="en-US" sz="2800" dirty="0">
                <a:ea typeface="宋体" panose="02010600030101010101" pitchFamily="2" charset="-122"/>
              </a:rPr>
              <a:t>，计算机应用程序</a:t>
            </a:r>
            <a:r>
              <a:rPr lang="en-GB" altLang="zh-CN" sz="2800" dirty="0">
                <a:ea typeface="宋体" panose="02010600030101010101" pitchFamily="2" charset="-122"/>
              </a:rPr>
              <a:t>) – a computer </a:t>
            </a:r>
            <a:r>
              <a:rPr lang="en-GB" altLang="zh-CN" sz="2800" u="sng" dirty="0">
                <a:ea typeface="宋体" panose="02010600030101010101" pitchFamily="2" charset="-122"/>
              </a:rPr>
              <a:t>software program</a:t>
            </a:r>
            <a:r>
              <a:rPr lang="zh-CN" altLang="en-US" sz="2800" u="sng" dirty="0">
                <a:ea typeface="宋体" panose="02010600030101010101" pitchFamily="2" charset="-122"/>
              </a:rPr>
              <a:t>（软件程序）</a:t>
            </a:r>
            <a:r>
              <a:rPr lang="en-GB" altLang="zh-CN" sz="2800" u="sng" dirty="0">
                <a:ea typeface="宋体" panose="02010600030101010101" pitchFamily="2" charset="-122"/>
              </a:rPr>
              <a:t> </a:t>
            </a:r>
            <a:r>
              <a:rPr lang="en-GB" altLang="zh-CN" sz="2800" dirty="0">
                <a:ea typeface="宋体" panose="02010600030101010101" pitchFamily="2" charset="-122"/>
              </a:rPr>
              <a:t>that executes on a computing device to carry out a specific set of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zh-CN" sz="2500" dirty="0">
                <a:ea typeface="宋体" panose="02010600030101010101" pitchFamily="2" charset="-122"/>
              </a:rPr>
              <a:t>Modest scope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Information system</a:t>
            </a:r>
            <a:r>
              <a:rPr lang="en-GB" altLang="zh-CN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ea typeface="宋体" panose="02010600030101010101" pitchFamily="2" charset="-122"/>
              </a:rPr>
              <a:t>（信息系统）</a:t>
            </a:r>
            <a:r>
              <a:rPr lang="en-GB" altLang="zh-CN" sz="2800" dirty="0">
                <a:ea typeface="宋体" panose="02010600030101010101" pitchFamily="2" charset="-122"/>
              </a:rPr>
              <a:t>– a set of interrelated </a:t>
            </a:r>
            <a:r>
              <a:rPr lang="en-GB" altLang="zh-CN" sz="2800" u="sng" dirty="0">
                <a:ea typeface="宋体" panose="02010600030101010101" pitchFamily="2" charset="-122"/>
              </a:rPr>
              <a:t>components</a:t>
            </a:r>
            <a:r>
              <a:rPr lang="zh-CN" altLang="en-US" sz="2800" u="sng" dirty="0">
                <a:ea typeface="宋体" panose="02010600030101010101" pitchFamily="2" charset="-122"/>
              </a:rPr>
              <a:t>（组件）</a:t>
            </a:r>
            <a:r>
              <a:rPr lang="en-GB" altLang="zh-CN" sz="2800" dirty="0">
                <a:ea typeface="宋体" panose="02010600030101010101" pitchFamily="2" charset="-122"/>
              </a:rPr>
              <a:t> that collects, processes, stores, and provides as output the information needed to complete business tasks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Broader in scope than “app”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（范围比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app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更广）</a:t>
            </a:r>
            <a:endParaRPr lang="en-US" altLang="zh-CN" sz="24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Includes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database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（数据库）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and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related manual processes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（手动过程）</a:t>
            </a:r>
            <a:endParaRPr lang="en-US" altLang="zh-CN" sz="24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10245" name="Footer Placeholder 4">
            <a:extLst>
              <a:ext uri="{FF2B5EF4-FFF2-40B4-BE49-F238E27FC236}">
                <a16:creationId xmlns:a16="http://schemas.microsoft.com/office/drawing/2014/main" id="{7E2F2D7B-9793-4390-B23F-2E526475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0246" name="Rectangle 4">
            <a:extLst>
              <a:ext uri="{FF2B5EF4-FFF2-40B4-BE49-F238E27FC236}">
                <a16:creationId xmlns:a16="http://schemas.microsoft.com/office/drawing/2014/main" id="{F2E63C51-9273-4DAF-8974-1AC7ED5A6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214795D9-303E-4B4C-8366-9E0BD4AF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1A1F7AF-804F-4486-90B8-18B5BF3D8018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D8C71F21-FEDA-4570-97CF-82A829A47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Information Systems and Component Parts</a:t>
            </a:r>
          </a:p>
        </p:txBody>
      </p:sp>
      <p:pic>
        <p:nvPicPr>
          <p:cNvPr id="11268" name="Picture 17">
            <a:extLst>
              <a:ext uri="{FF2B5EF4-FFF2-40B4-BE49-F238E27FC236}">
                <a16:creationId xmlns:a16="http://schemas.microsoft.com/office/drawing/2014/main" id="{EBD74371-17A1-4885-9C4C-3F6BC4BA12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79575"/>
            <a:ext cx="8839200" cy="37480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DF8E76E1-9F57-4CE5-9770-EC7F461A56DD}"/>
              </a:ext>
            </a:extLst>
          </p:cNvPr>
          <p:cNvSpPr/>
          <p:nvPr/>
        </p:nvSpPr>
        <p:spPr>
          <a:xfrm>
            <a:off x="4229100" y="342900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6340520-8D5B-4784-A898-559F319362E3}"/>
              </a:ext>
            </a:extLst>
          </p:cNvPr>
          <p:cNvSpPr/>
          <p:nvPr/>
        </p:nvSpPr>
        <p:spPr>
          <a:xfrm>
            <a:off x="6934200" y="3396343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85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214795D9-303E-4B4C-8366-9E0BD4AF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1A1F7AF-804F-4486-90B8-18B5BF3D8018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D8C71F21-FEDA-4570-97CF-82A829A47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Information Systems and Component Parts</a:t>
            </a:r>
          </a:p>
        </p:txBody>
      </p:sp>
      <p:pic>
        <p:nvPicPr>
          <p:cNvPr id="11268" name="Picture 17">
            <a:extLst>
              <a:ext uri="{FF2B5EF4-FFF2-40B4-BE49-F238E27FC236}">
                <a16:creationId xmlns:a16="http://schemas.microsoft.com/office/drawing/2014/main" id="{EBD74371-17A1-4885-9C4C-3F6BC4BA12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79575"/>
            <a:ext cx="8839200" cy="37480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77A7E66-2F72-4E9E-8F95-25F0722898E8}"/>
              </a:ext>
            </a:extLst>
          </p:cNvPr>
          <p:cNvGrpSpPr/>
          <p:nvPr/>
        </p:nvGrpSpPr>
        <p:grpSpPr>
          <a:xfrm>
            <a:off x="5791200" y="2838844"/>
            <a:ext cx="1219200" cy="1275956"/>
            <a:chOff x="5791200" y="2838844"/>
            <a:chExt cx="1219200" cy="127595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1DF0E84-4DCF-4551-92CB-533DF946E5B5}"/>
                </a:ext>
              </a:extLst>
            </p:cNvPr>
            <p:cNvSpPr/>
            <p:nvPr/>
          </p:nvSpPr>
          <p:spPr>
            <a:xfrm>
              <a:off x="5791200" y="3200400"/>
              <a:ext cx="1219200" cy="91440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586C456-929A-4ED3-BF7F-0FC934389EDB}"/>
                </a:ext>
              </a:extLst>
            </p:cNvPr>
            <p:cNvSpPr txBox="1"/>
            <p:nvPr/>
          </p:nvSpPr>
          <p:spPr>
            <a:xfrm>
              <a:off x="6415365" y="2838844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App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28D04862-4BD0-4D8B-ACE0-F2A69E7F35CE}"/>
              </a:ext>
            </a:extLst>
          </p:cNvPr>
          <p:cNvSpPr/>
          <p:nvPr/>
        </p:nvSpPr>
        <p:spPr>
          <a:xfrm>
            <a:off x="4229100" y="342900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FBC98DD-F729-4BAB-839B-EDA5B55554A6}"/>
              </a:ext>
            </a:extLst>
          </p:cNvPr>
          <p:cNvSpPr/>
          <p:nvPr/>
        </p:nvSpPr>
        <p:spPr>
          <a:xfrm>
            <a:off x="6934200" y="3396343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214795D9-303E-4B4C-8366-9E0BD4AF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51A1F7AF-804F-4486-90B8-18B5BF3D8018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D8C71F21-FEDA-4570-97CF-82A829A47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Information Systems and Component Parts</a:t>
            </a:r>
          </a:p>
        </p:txBody>
      </p:sp>
      <p:pic>
        <p:nvPicPr>
          <p:cNvPr id="11268" name="Picture 17">
            <a:extLst>
              <a:ext uri="{FF2B5EF4-FFF2-40B4-BE49-F238E27FC236}">
                <a16:creationId xmlns:a16="http://schemas.microsoft.com/office/drawing/2014/main" id="{EBD74371-17A1-4885-9C4C-3F6BC4BA12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79575"/>
            <a:ext cx="8839200" cy="37480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77A7E66-2F72-4E9E-8F95-25F0722898E8}"/>
              </a:ext>
            </a:extLst>
          </p:cNvPr>
          <p:cNvGrpSpPr/>
          <p:nvPr/>
        </p:nvGrpSpPr>
        <p:grpSpPr>
          <a:xfrm>
            <a:off x="4724082" y="1626670"/>
            <a:ext cx="3048636" cy="3631129"/>
            <a:chOff x="5638482" y="2252021"/>
            <a:chExt cx="3048636" cy="363112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1DF0E84-4DCF-4551-92CB-533DF946E5B5}"/>
                </a:ext>
              </a:extLst>
            </p:cNvPr>
            <p:cNvSpPr/>
            <p:nvPr/>
          </p:nvSpPr>
          <p:spPr>
            <a:xfrm>
              <a:off x="5638482" y="2606551"/>
              <a:ext cx="2133918" cy="3276599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586C456-929A-4ED3-BF7F-0FC934389EDB}"/>
                </a:ext>
              </a:extLst>
            </p:cNvPr>
            <p:cNvSpPr txBox="1"/>
            <p:nvPr/>
          </p:nvSpPr>
          <p:spPr>
            <a:xfrm>
              <a:off x="6553200" y="2252021"/>
              <a:ext cx="2133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Information system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8755F81A-32E0-48E1-80E0-0181BBB21BFD}"/>
              </a:ext>
            </a:extLst>
          </p:cNvPr>
          <p:cNvSpPr/>
          <p:nvPr/>
        </p:nvSpPr>
        <p:spPr>
          <a:xfrm>
            <a:off x="4229100" y="342900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7A8A074-43DF-471F-B63E-EABCA9B69351}"/>
              </a:ext>
            </a:extLst>
          </p:cNvPr>
          <p:cNvSpPr/>
          <p:nvPr/>
        </p:nvSpPr>
        <p:spPr>
          <a:xfrm>
            <a:off x="6934200" y="3396343"/>
            <a:ext cx="228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4">
            <a:extLst>
              <a:ext uri="{FF2B5EF4-FFF2-40B4-BE49-F238E27FC236}">
                <a16:creationId xmlns:a16="http://schemas.microsoft.com/office/drawing/2014/main" id="{515FE4C8-EEC6-4BF2-8943-45B20C89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13796533-B939-4CA3-95A1-30E187E9ACE7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Rectangle 6">
            <a:extLst>
              <a:ext uri="{FF2B5EF4-FFF2-40B4-BE49-F238E27FC236}">
                <a16:creationId xmlns:a16="http://schemas.microsoft.com/office/drawing/2014/main" id="{9974AA65-6EFA-4C34-96D6-CFCA75AFD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System Boundary vs. Automation Boundary</a:t>
            </a:r>
          </a:p>
        </p:txBody>
      </p:sp>
      <p:pic>
        <p:nvPicPr>
          <p:cNvPr id="12292" name="Picture 13">
            <a:extLst>
              <a:ext uri="{FF2B5EF4-FFF2-40B4-BE49-F238E27FC236}">
                <a16:creationId xmlns:a16="http://schemas.microsoft.com/office/drawing/2014/main" id="{815A2B2F-9163-4399-A974-C084E660C8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76400"/>
            <a:ext cx="8839200" cy="34544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B381EA5-0088-44BD-BB2E-6C90126125DA}"/>
              </a:ext>
            </a:extLst>
          </p:cNvPr>
          <p:cNvSpPr/>
          <p:nvPr/>
        </p:nvSpPr>
        <p:spPr>
          <a:xfrm>
            <a:off x="6248400" y="3962400"/>
            <a:ext cx="762000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BD01DE-F9FE-43D2-BE0B-8120CCBB7FB3}"/>
              </a:ext>
            </a:extLst>
          </p:cNvPr>
          <p:cNvSpPr/>
          <p:nvPr/>
        </p:nvSpPr>
        <p:spPr>
          <a:xfrm>
            <a:off x="6781800" y="2743200"/>
            <a:ext cx="457200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2A1A82CE-594B-4F73-B121-ECAAD576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F3D191-7FFB-437F-BE16-C033EA7411C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7A8D0A4-CDC4-403D-89C8-D03498B88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Project </a:t>
            </a:r>
            <a:r>
              <a:rPr lang="en-GB" altLang="zh-CN" sz="2800" dirty="0">
                <a:ea typeface="宋体" panose="02010600030101010101" pitchFamily="2" charset="-122"/>
              </a:rPr>
              <a:t>– a planned undertaking that has a beginning and end and that produces some definite result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zh-CN" sz="2700" dirty="0">
                <a:ea typeface="宋体" panose="02010600030101010101" pitchFamily="2" charset="-122"/>
              </a:rPr>
              <a:t>Used to develop an information system</a:t>
            </a:r>
            <a:r>
              <a:rPr lang="zh-CN" altLang="en-US" sz="2700" dirty="0">
                <a:ea typeface="宋体" panose="02010600030101010101" pitchFamily="2" charset="-122"/>
              </a:rPr>
              <a:t>（用于开发信息系统）</a:t>
            </a:r>
            <a:endParaRPr lang="en-GB" altLang="zh-CN" sz="27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zh-CN" sz="2700" dirty="0">
                <a:ea typeface="宋体" panose="02010600030101010101" pitchFamily="2" charset="-122"/>
              </a:rPr>
              <a:t>Requires knowledge of </a:t>
            </a:r>
            <a:r>
              <a:rPr lang="en-GB" altLang="zh-CN" sz="2700" dirty="0">
                <a:solidFill>
                  <a:srgbClr val="C00000"/>
                </a:solidFill>
                <a:ea typeface="宋体" panose="02010600030101010101" pitchFamily="2" charset="-122"/>
              </a:rPr>
              <a:t>systems analysis</a:t>
            </a:r>
            <a:r>
              <a:rPr lang="zh-CN" altLang="en-US" sz="2700" dirty="0">
                <a:solidFill>
                  <a:srgbClr val="C00000"/>
                </a:solidFill>
                <a:ea typeface="宋体" panose="02010600030101010101" pitchFamily="2" charset="-122"/>
              </a:rPr>
              <a:t>（系统分析）</a:t>
            </a:r>
            <a:r>
              <a:rPr lang="en-GB" altLang="zh-CN" sz="27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GB" altLang="zh-CN" sz="2700" dirty="0">
                <a:ea typeface="宋体" panose="02010600030101010101" pitchFamily="2" charset="-122"/>
              </a:rPr>
              <a:t>and </a:t>
            </a:r>
            <a:r>
              <a:rPr lang="en-GB" altLang="zh-CN" sz="2700" dirty="0">
                <a:solidFill>
                  <a:srgbClr val="C00000"/>
                </a:solidFill>
                <a:ea typeface="宋体" panose="02010600030101010101" pitchFamily="2" charset="-122"/>
              </a:rPr>
              <a:t>systems design</a:t>
            </a:r>
            <a:r>
              <a:rPr lang="zh-CN" altLang="en-US" sz="2700" dirty="0">
                <a:solidFill>
                  <a:srgbClr val="C00000"/>
                </a:solidFill>
                <a:ea typeface="宋体" panose="02010600030101010101" pitchFamily="2" charset="-122"/>
              </a:rPr>
              <a:t>（系统设计）</a:t>
            </a:r>
            <a:r>
              <a:rPr lang="en-GB" altLang="zh-CN" sz="2700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GB" altLang="zh-CN" sz="2700" dirty="0">
                <a:ea typeface="宋体" panose="02010600030101010101" pitchFamily="2" charset="-122"/>
              </a:rPr>
              <a:t>tools and techniques</a:t>
            </a:r>
            <a:endParaRPr lang="en-US" altLang="zh-CN" sz="2700" dirty="0">
              <a:ea typeface="宋体" panose="02010600030101010101" pitchFamily="2" charset="-122"/>
            </a:endParaRPr>
          </a:p>
        </p:txBody>
      </p:sp>
      <p:sp>
        <p:nvSpPr>
          <p:cNvPr id="14341" name="Footer Placeholder 4">
            <a:extLst>
              <a:ext uri="{FF2B5EF4-FFF2-40B4-BE49-F238E27FC236}">
                <a16:creationId xmlns:a16="http://schemas.microsoft.com/office/drawing/2014/main" id="{DE5669DC-EC54-4680-BBBD-4A0EED12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1239D900-CC43-4CC7-BFA8-3CDBA8DC6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311CDCC-E111-4AC1-99BC-5C9B03EA5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FDE581F9-238F-4E25-9B87-7BB7EB61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90B564-6589-4375-9FDD-009EB998238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D806DD1-A038-4D81-9D49-4B4B29AA0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Systems analysis </a:t>
            </a:r>
            <a:r>
              <a:rPr lang="en-GB" altLang="zh-CN" sz="2800" dirty="0">
                <a:ea typeface="宋体" panose="02010600030101010101" pitchFamily="2" charset="-122"/>
              </a:rPr>
              <a:t>– those activities that enable a person to </a:t>
            </a:r>
            <a:r>
              <a:rPr lang="en-GB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understand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（理解）</a:t>
            </a:r>
            <a:r>
              <a:rPr lang="en-GB" altLang="zh-CN" sz="2800" dirty="0">
                <a:ea typeface="宋体" panose="02010600030101010101" pitchFamily="2" charset="-122"/>
              </a:rPr>
              <a:t> and </a:t>
            </a:r>
            <a:r>
              <a:rPr lang="en-GB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specify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（指定）</a:t>
            </a:r>
            <a:r>
              <a:rPr lang="en-GB" altLang="zh-CN" sz="2800" dirty="0">
                <a:ea typeface="宋体" panose="02010600030101010101" pitchFamily="2" charset="-122"/>
              </a:rPr>
              <a:t> </a:t>
            </a:r>
            <a:r>
              <a:rPr lang="en-GB" altLang="zh-CN" sz="2800" u="sng" dirty="0">
                <a:ea typeface="宋体" panose="02010600030101010101" pitchFamily="2" charset="-122"/>
              </a:rPr>
              <a:t>what an information system should accomplish</a:t>
            </a:r>
            <a:endParaRPr lang="en-US" altLang="zh-CN" sz="2800" u="sng" dirty="0">
              <a:ea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zh-CN" sz="2900" dirty="0">
                <a:ea typeface="宋体" panose="02010600030101010101" pitchFamily="2" charset="-122"/>
              </a:rPr>
              <a:t>   </a:t>
            </a:r>
            <a:r>
              <a:rPr lang="zh-CN" altLang="en-US" sz="2900" dirty="0">
                <a:ea typeface="宋体" panose="02010600030101010101" pitchFamily="2" charset="-122"/>
              </a:rPr>
              <a:t>应该做什么？</a:t>
            </a:r>
            <a:endParaRPr lang="en-GB" altLang="zh-CN" sz="29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Systems design </a:t>
            </a:r>
            <a:r>
              <a:rPr lang="en-GB" altLang="zh-CN" sz="2800" dirty="0">
                <a:ea typeface="宋体" panose="02010600030101010101" pitchFamily="2" charset="-122"/>
              </a:rPr>
              <a:t>– those activities that enable a person to </a:t>
            </a:r>
            <a:r>
              <a:rPr lang="en-GB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define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（定义）</a:t>
            </a:r>
            <a:r>
              <a:rPr lang="en-GB" altLang="zh-CN" sz="2800" dirty="0">
                <a:ea typeface="宋体" panose="02010600030101010101" pitchFamily="2" charset="-122"/>
              </a:rPr>
              <a:t> and </a:t>
            </a:r>
            <a:r>
              <a:rPr lang="en-GB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describe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（描述）</a:t>
            </a:r>
            <a:r>
              <a:rPr lang="en-GB" altLang="zh-CN" sz="2800" dirty="0">
                <a:ea typeface="宋体" panose="02010600030101010101" pitchFamily="2" charset="-122"/>
              </a:rPr>
              <a:t> in detail </a:t>
            </a:r>
            <a:r>
              <a:rPr lang="en-GB" altLang="zh-CN" sz="2800" u="sng" dirty="0">
                <a:ea typeface="宋体" panose="02010600030101010101" pitchFamily="2" charset="-122"/>
              </a:rPr>
              <a:t>the system that solves the need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zh-CN" sz="2900" dirty="0">
                <a:ea typeface="宋体" panose="02010600030101010101" pitchFamily="2" charset="-122"/>
              </a:rPr>
              <a:t>   </a:t>
            </a:r>
            <a:r>
              <a:rPr lang="zh-CN" altLang="en-US" sz="2900" dirty="0">
                <a:ea typeface="宋体" panose="02010600030101010101" pitchFamily="2" charset="-122"/>
              </a:rPr>
              <a:t>应该如何做？</a:t>
            </a:r>
            <a:endParaRPr lang="en-US" altLang="zh-CN" sz="2900" dirty="0">
              <a:ea typeface="宋体" panose="02010600030101010101" pitchFamily="2" charset="-122"/>
            </a:endParaRPr>
          </a:p>
        </p:txBody>
      </p:sp>
      <p:sp>
        <p:nvSpPr>
          <p:cNvPr id="15365" name="Footer Placeholder 4">
            <a:extLst>
              <a:ext uri="{FF2B5EF4-FFF2-40B4-BE49-F238E27FC236}">
                <a16:creationId xmlns:a16="http://schemas.microsoft.com/office/drawing/2014/main" id="{BA37006E-8297-4DA7-BF28-DDB0BB3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15366" name="Rectangle 4">
            <a:extLst>
              <a:ext uri="{FF2B5EF4-FFF2-40B4-BE49-F238E27FC236}">
                <a16:creationId xmlns:a16="http://schemas.microsoft.com/office/drawing/2014/main" id="{A8E8081E-55CC-4A35-A419-1E5E089BB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392850-6416-4E87-95F4-ED371DB59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46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zh-CN" kern="0" dirty="0">
                <a:ea typeface="宋体" panose="02010600030101010101" pitchFamily="2" charset="-122"/>
              </a:rPr>
              <a:t>Software Development and Systems Analysis and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>
            <a:extLst>
              <a:ext uri="{FF2B5EF4-FFF2-40B4-BE49-F238E27FC236}">
                <a16:creationId xmlns:a16="http://schemas.microsoft.com/office/drawing/2014/main" id="{CA63F3ED-71FF-4D69-8E96-EE31B897C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Analyst as a Business Problem Solver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6507C3A-F574-49F4-8A08-2520C28AB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76400"/>
            <a:ext cx="8686800" cy="4986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ct val="6000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Has computer technology knowledge and programming expertise</a:t>
            </a:r>
            <a:r>
              <a:rPr lang="zh-CN" altLang="en-US" sz="2400" kern="0" dirty="0">
                <a:ea typeface="宋体" panose="02010600030101010101" pitchFamily="2" charset="-122"/>
              </a:rPr>
              <a:t>（编程知识）</a:t>
            </a:r>
            <a:endParaRPr lang="en-US" altLang="zh-CN" sz="2400" kern="0" dirty="0"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Understands </a:t>
            </a:r>
            <a:r>
              <a:rPr lang="en-US" altLang="zh-CN" sz="2400" kern="0" dirty="0">
                <a:solidFill>
                  <a:srgbClr val="C00000"/>
                </a:solidFill>
                <a:ea typeface="宋体" panose="02010600030101010101" pitchFamily="2" charset="-122"/>
              </a:rPr>
              <a:t>business</a:t>
            </a:r>
            <a:r>
              <a:rPr lang="en-US" altLang="zh-CN" sz="2400" kern="0" dirty="0">
                <a:ea typeface="宋体" panose="02010600030101010101" pitchFamily="2" charset="-122"/>
              </a:rPr>
              <a:t> problems</a:t>
            </a:r>
            <a:r>
              <a:rPr lang="zh-CN" altLang="en-US" sz="2400" kern="0" dirty="0">
                <a:ea typeface="宋体" panose="02010600030101010101" pitchFamily="2" charset="-122"/>
              </a:rPr>
              <a:t>（理解业务问题）</a:t>
            </a:r>
            <a:endParaRPr lang="en-US" altLang="zh-CN" sz="2400" kern="0" dirty="0"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Uses logical methods for solving problems</a:t>
            </a:r>
            <a:r>
              <a:rPr lang="zh-CN" altLang="en-US" sz="2400" kern="0" dirty="0">
                <a:ea typeface="宋体" panose="02010600030101010101" pitchFamily="2" charset="-122"/>
              </a:rPr>
              <a:t>（用逻辑方法解决问题）</a:t>
            </a:r>
            <a:endParaRPr lang="en-US" altLang="zh-CN" sz="2400" kern="0" dirty="0"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Has fundamental curiosity</a:t>
            </a:r>
            <a:r>
              <a:rPr lang="zh-CN" altLang="en-US" sz="2400" kern="0" dirty="0">
                <a:ea typeface="宋体" panose="02010600030101010101" pitchFamily="2" charset="-122"/>
              </a:rPr>
              <a:t>（好奇心）</a:t>
            </a:r>
            <a:endParaRPr lang="en-US" altLang="zh-CN" sz="2400" kern="0" dirty="0"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400" kern="0" dirty="0">
                <a:ea typeface="宋体" panose="02010600030101010101" pitchFamily="2" charset="-122"/>
              </a:rPr>
              <a:t>Wants to make things better</a:t>
            </a:r>
            <a:r>
              <a:rPr lang="zh-CN" altLang="en-US" sz="2400" kern="0" dirty="0">
                <a:ea typeface="宋体" panose="02010600030101010101" pitchFamily="2" charset="-122"/>
              </a:rPr>
              <a:t>（企图心）</a:t>
            </a:r>
            <a:endParaRPr lang="en-US" altLang="zh-CN" sz="2400" kern="0" dirty="0">
              <a:ea typeface="宋体" panose="02010600030101010101" pitchFamily="2" charset="-122"/>
            </a:endParaRPr>
          </a:p>
          <a:p>
            <a:pPr>
              <a:spcBef>
                <a:spcPct val="60000"/>
              </a:spcBef>
            </a:pPr>
            <a:r>
              <a:rPr lang="en-US" altLang="zh-CN" sz="2400" kern="0" dirty="0">
                <a:solidFill>
                  <a:srgbClr val="C00000"/>
                </a:solidFill>
                <a:ea typeface="宋体" panose="02010600030101010101" pitchFamily="2" charset="-122"/>
              </a:rPr>
              <a:t>Is more of a business problem solver than a technical programmer</a:t>
            </a:r>
            <a:r>
              <a:rPr lang="zh-CN" altLang="en-US" sz="2400" kern="0" dirty="0">
                <a:solidFill>
                  <a:srgbClr val="C00000"/>
                </a:solidFill>
                <a:ea typeface="宋体" panose="02010600030101010101" pitchFamily="2" charset="-122"/>
              </a:rPr>
              <a:t>（是业务问题解决者，而不是程序员）</a:t>
            </a:r>
            <a:endParaRPr lang="en-US" altLang="zh-CN" sz="2400" kern="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>
            <a:extLst>
              <a:ext uri="{FF2B5EF4-FFF2-40B4-BE49-F238E27FC236}">
                <a16:creationId xmlns:a16="http://schemas.microsoft.com/office/drawing/2014/main" id="{4A7E2C89-47D3-4B4F-817F-9BA8C82C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578477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367A12F6-D0E4-4BDB-8302-B086C06F2ED5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8A06156-E925-43A8-94FA-4630F3609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924800" cy="685800"/>
          </a:xfrm>
          <a:noFill/>
        </p:spPr>
        <p:txBody>
          <a:bodyPr/>
          <a:lstStyle/>
          <a:p>
            <a:r>
              <a:rPr lang="en-US" altLang="zh-CN" sz="3200" dirty="0">
                <a:ea typeface="宋体" panose="02010600030101010101" pitchFamily="2" charset="-122"/>
              </a:rPr>
              <a:t>Analyst’s Approach to Problem Solving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6ACA5C63-430F-476E-8CD6-D5876B6B0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1833192"/>
            <a:ext cx="7620000" cy="828432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2. Verify benefits of solving problem outweigh the costs</a:t>
            </a:r>
            <a:r>
              <a:rPr lang="zh-CN" altLang="en-US" sz="2400" dirty="0">
                <a:ea typeface="宋体" panose="02010600030101010101" pitchFamily="2" charset="-122"/>
              </a:rPr>
              <a:t>（验证收益大于成本）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3" name="Text Box 9">
            <a:extLst>
              <a:ext uri="{FF2B5EF4-FFF2-40B4-BE49-F238E27FC236}">
                <a16:creationId xmlns:a16="http://schemas.microsoft.com/office/drawing/2014/main" id="{35967FBC-C5AA-41DD-90EA-98048699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1299792"/>
            <a:ext cx="7620000" cy="466725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1. Research and understand the problem</a:t>
            </a:r>
            <a:r>
              <a:rPr lang="zh-CN" altLang="en-US" sz="2400" dirty="0">
                <a:ea typeface="宋体" panose="02010600030101010101" pitchFamily="2" charset="-122"/>
              </a:rPr>
              <a:t>（理解问题）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4" name="Text Box 10">
            <a:extLst>
              <a:ext uri="{FF2B5EF4-FFF2-40B4-BE49-F238E27FC236}">
                <a16:creationId xmlns:a16="http://schemas.microsoft.com/office/drawing/2014/main" id="{EC873E61-427C-474F-B056-8C3DEC6D4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2728299"/>
            <a:ext cx="7620000" cy="828432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3. Define the requirements for solving the problem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（定义解决问题的所需）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5" name="Text Box 15">
            <a:extLst>
              <a:ext uri="{FF2B5EF4-FFF2-40B4-BE49-F238E27FC236}">
                <a16:creationId xmlns:a16="http://schemas.microsoft.com/office/drawing/2014/main" id="{11D2849A-75A2-422D-B190-E8F3FC811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3614854"/>
            <a:ext cx="7620000" cy="466725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4. Develop a set of possible solutions (</a:t>
            </a:r>
            <a:r>
              <a:rPr lang="zh-CN" altLang="en-US" sz="2400" dirty="0">
                <a:ea typeface="宋体" panose="02010600030101010101" pitchFamily="2" charset="-122"/>
              </a:rPr>
              <a:t>提出可行方案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7416" name="Text Box 16">
            <a:extLst>
              <a:ext uri="{FF2B5EF4-FFF2-40B4-BE49-F238E27FC236}">
                <a16:creationId xmlns:a16="http://schemas.microsoft.com/office/drawing/2014/main" id="{45B5D918-9093-493A-B4CC-CDCB4166D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5047969"/>
            <a:ext cx="7620000" cy="459100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6. Define the details of the chosen solution</a:t>
            </a:r>
            <a:r>
              <a:rPr lang="zh-CN" altLang="en-US" sz="2400" dirty="0">
                <a:ea typeface="宋体" panose="02010600030101010101" pitchFamily="2" charset="-122"/>
              </a:rPr>
              <a:t>（决定细节）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7" name="Text Box 17">
            <a:extLst>
              <a:ext uri="{FF2B5EF4-FFF2-40B4-BE49-F238E27FC236}">
                <a16:creationId xmlns:a16="http://schemas.microsoft.com/office/drawing/2014/main" id="{4679AC0B-0D51-4862-A06C-2E6B80B03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111752"/>
            <a:ext cx="7620000" cy="466725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8. Monitor to ensure desired results</a:t>
            </a:r>
            <a:r>
              <a:rPr lang="zh-CN" altLang="en-US" sz="2400" dirty="0">
                <a:ea typeface="宋体" panose="02010600030101010101" pitchFamily="2" charset="-122"/>
              </a:rPr>
              <a:t>（过程监督）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8" name="Text Box 18">
            <a:extLst>
              <a:ext uri="{FF2B5EF4-FFF2-40B4-BE49-F238E27FC236}">
                <a16:creationId xmlns:a16="http://schemas.microsoft.com/office/drawing/2014/main" id="{272AD3AA-A277-4171-B733-BDB7851C9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4150558"/>
            <a:ext cx="7620000" cy="828432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5. Decide which solution is best and recommend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（决定哪个方案最好）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9" name="Text Box 19">
            <a:extLst>
              <a:ext uri="{FF2B5EF4-FFF2-40B4-BE49-F238E27FC236}">
                <a16:creationId xmlns:a16="http://schemas.microsoft.com/office/drawing/2014/main" id="{2B3CD253-41B4-4228-B294-DE82188E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229" y="5576048"/>
            <a:ext cx="7620000" cy="466725"/>
          </a:xfrm>
          <a:prstGeom prst="rect">
            <a:avLst/>
          </a:prstGeom>
          <a:solidFill>
            <a:srgbClr val="FCFEB9"/>
          </a:solidFill>
          <a:ln w="1270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7. Implement the solution</a:t>
            </a:r>
            <a:r>
              <a:rPr lang="zh-CN" altLang="en-US" sz="2400" dirty="0">
                <a:ea typeface="宋体" panose="02010600030101010101" pitchFamily="2" charset="-122"/>
              </a:rPr>
              <a:t>（实施方案）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17414" grpId="0" animBg="1"/>
      <p:bldP spid="17415" grpId="0" animBg="1"/>
      <p:bldP spid="17416" grpId="0" animBg="1"/>
      <p:bldP spid="17417" grpId="0" animBg="1"/>
      <p:bldP spid="17418" grpId="0" animBg="1"/>
      <p:bldP spid="174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B13EF976-30A1-41D9-9789-37CFEA09E2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BB1D38-F217-448D-8F8E-EC27CA3BD3EB}" type="slidenum">
              <a:rPr lang="en-US" altLang="zh-CN" sz="2000">
                <a:solidFill>
                  <a:srgbClr val="006699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2000">
              <a:solidFill>
                <a:srgbClr val="006699"/>
              </a:solidFill>
            </a:endParaRPr>
          </a:p>
        </p:txBody>
      </p:sp>
      <p:sp>
        <p:nvSpPr>
          <p:cNvPr id="18435" name="Rectangle 1032">
            <a:extLst>
              <a:ext uri="{FF2B5EF4-FFF2-40B4-BE49-F238E27FC236}">
                <a16:creationId xmlns:a16="http://schemas.microsoft.com/office/drawing/2014/main" id="{566FF8CB-15DC-40B7-93E8-ADE55EF30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Required Skills of the Systems Analyst</a:t>
            </a:r>
          </a:p>
        </p:txBody>
      </p:sp>
      <p:pic>
        <p:nvPicPr>
          <p:cNvPr id="18436" name="Picture 1039">
            <a:extLst>
              <a:ext uri="{FF2B5EF4-FFF2-40B4-BE49-F238E27FC236}">
                <a16:creationId xmlns:a16="http://schemas.microsoft.com/office/drawing/2014/main" id="{97FD074D-C491-472D-A6C4-E305BB403D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57542"/>
            <a:ext cx="8610600" cy="4133645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1BD81D-40EA-465B-A7BF-82494F8886BD}"/>
              </a:ext>
            </a:extLst>
          </p:cNvPr>
          <p:cNvSpPr txBox="1"/>
          <p:nvPr/>
        </p:nvSpPr>
        <p:spPr>
          <a:xfrm>
            <a:off x="6553200" y="25146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技术技能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02C91C-99B0-4BE7-A353-5D9F6FB83DF7}"/>
              </a:ext>
            </a:extLst>
          </p:cNvPr>
          <p:cNvSpPr txBox="1"/>
          <p:nvPr/>
        </p:nvSpPr>
        <p:spPr>
          <a:xfrm>
            <a:off x="7284303" y="37335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商业技能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B01BD81D-40EA-465B-A7BF-82494F8886BD}"/>
              </a:ext>
            </a:extLst>
          </p:cNvPr>
          <p:cNvSpPr txBox="1"/>
          <p:nvPr/>
        </p:nvSpPr>
        <p:spPr>
          <a:xfrm>
            <a:off x="7820158" y="49020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zh-CN" altLang="en-US" dirty="0"/>
              <a:t>管理技能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4">
            <a:extLst>
              <a:ext uri="{FF2B5EF4-FFF2-40B4-BE49-F238E27FC236}">
                <a16:creationId xmlns:a16="http://schemas.microsoft.com/office/drawing/2014/main" id="{E06C8769-FE8C-4B16-9136-EF269459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40BC365-1F24-410B-9B7C-06C4509D78D0}" type="slidenum">
              <a:rPr lang="en-US" altLang="zh-CN" sz="2000">
                <a:solidFill>
                  <a:srgbClr val="006699"/>
                </a:solidFill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2000">
              <a:solidFill>
                <a:srgbClr val="006699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Rectangle 1026">
            <a:extLst>
              <a:ext uri="{FF2B5EF4-FFF2-40B4-BE49-F238E27FC236}">
                <a16:creationId xmlns:a16="http://schemas.microsoft.com/office/drawing/2014/main" id="{37827CDC-5F45-40D8-9EBD-04B2B0610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Integrity and Ethics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（诚信与道德要求）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60" name="Rectangle 1027">
            <a:extLst>
              <a:ext uri="{FF2B5EF4-FFF2-40B4-BE49-F238E27FC236}">
                <a16:creationId xmlns:a16="http://schemas.microsoft.com/office/drawing/2014/main" id="{FD84C468-7C0A-4B72-AC06-998C11D82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Analyst has access to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confidential information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（机密信息）</a:t>
            </a:r>
            <a:r>
              <a:rPr lang="en-US" altLang="zh-CN" dirty="0">
                <a:ea typeface="宋体" panose="02010600030101010101" pitchFamily="2" charset="-122"/>
              </a:rPr>
              <a:t>, such as salary, an organization’s planned projects, security systems, and so on.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Must keep information private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Any impropriety can ruin an analyst’s career</a:t>
            </a:r>
          </a:p>
          <a:p>
            <a:pPr lvl="1"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Analyst plans security in systems to protect confidential information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Systems Development Lifecycle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（系统开发生命周期）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Iterative Development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Where You are Headed—The Rest of the Book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17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DD0BF2BC-3D83-473A-99B2-1158E076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7F68BC-4FCF-455E-898C-D10A8DA179D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BBCD266-B526-4F35-8601-4FCB23D13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" y="1185068"/>
            <a:ext cx="8763000" cy="4411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System development lifecycle (SDLC</a:t>
            </a:r>
            <a:r>
              <a:rPr lang="zh-CN" altLang="en-US" sz="2800" b="1" dirty="0">
                <a:ea typeface="宋体" panose="02010600030101010101" pitchFamily="2" charset="-122"/>
              </a:rPr>
              <a:t>，系统开发生命周期</a:t>
            </a:r>
            <a:r>
              <a:rPr lang="en-GB" altLang="zh-CN" sz="2800" b="1" dirty="0">
                <a:ea typeface="宋体" panose="02010600030101010101" pitchFamily="2" charset="-122"/>
              </a:rPr>
              <a:t>) </a:t>
            </a:r>
            <a:r>
              <a:rPr lang="en-GB" altLang="zh-CN" sz="2800" dirty="0">
                <a:ea typeface="宋体" panose="02010600030101010101" pitchFamily="2" charset="-122"/>
              </a:rPr>
              <a:t>– the entire process consisting of all activities required to build, launch, and maintain an information system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确定问题和需求：</a:t>
            </a:r>
            <a:r>
              <a:rPr lang="en-GB" altLang="zh-CN" sz="2000" dirty="0">
                <a:ea typeface="宋体" panose="02010600030101010101" pitchFamily="2" charset="-122"/>
              </a:rPr>
              <a:t>Identify the problem or need and obtain approval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计划和监控项目（做什么、怎么做和谁来做）：</a:t>
            </a:r>
            <a:r>
              <a:rPr lang="en-GB" altLang="zh-CN" sz="2000" dirty="0">
                <a:ea typeface="宋体" panose="02010600030101010101" pitchFamily="2" charset="-122"/>
              </a:rPr>
              <a:t>Plan and monitor the project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发现和理解问题：</a:t>
            </a:r>
            <a:r>
              <a:rPr lang="en-GB" altLang="zh-CN" sz="2000" dirty="0">
                <a:ea typeface="宋体" panose="02010600030101010101" pitchFamily="2" charset="-122"/>
              </a:rPr>
              <a:t>Discover and understand the details of the problem or need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设计能解决问题的系统组件：</a:t>
            </a:r>
            <a:r>
              <a:rPr lang="en-GB" altLang="zh-CN" sz="2000" dirty="0">
                <a:ea typeface="宋体" panose="02010600030101010101" pitchFamily="2" charset="-122"/>
              </a:rPr>
              <a:t>Design the system components that solve the problem or satisfy the need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建立、测试和整合系统组件：</a:t>
            </a:r>
            <a:r>
              <a:rPr lang="en-GB" altLang="zh-CN" sz="2000" dirty="0">
                <a:ea typeface="宋体" panose="02010600030101010101" pitchFamily="2" charset="-122"/>
              </a:rPr>
              <a:t>Build, test, and integrate system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 dirty="0">
                <a:ea typeface="宋体" panose="02010600030101010101" pitchFamily="2" charset="-122"/>
              </a:rPr>
              <a:t>完成系统测试与部署：</a:t>
            </a:r>
            <a:r>
              <a:rPr lang="en-GB" altLang="zh-CN" sz="2000" dirty="0">
                <a:ea typeface="宋体" panose="02010600030101010101" pitchFamily="2" charset="-122"/>
              </a:rPr>
              <a:t>Complete system tests and then deploy the solution</a:t>
            </a:r>
          </a:p>
          <a:p>
            <a:pPr marL="344487" lvl="1" indent="0" eaLnBrk="1" hangingPunct="1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以上为实施系统开发生命周期（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SDLC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）的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个核心过程</a:t>
            </a:r>
            <a:endParaRPr lang="en-GB" altLang="zh-CN" sz="24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20486" name="Rectangle 4">
            <a:extLst>
              <a:ext uri="{FF2B5EF4-FFF2-40B4-BE49-F238E27FC236}">
                <a16:creationId xmlns:a16="http://schemas.microsoft.com/office/drawing/2014/main" id="{166DB8CB-B8ED-4219-8867-CABA0919E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1026">
            <a:extLst>
              <a:ext uri="{FF2B5EF4-FFF2-40B4-BE49-F238E27FC236}">
                <a16:creationId xmlns:a16="http://schemas.microsoft.com/office/drawing/2014/main" id="{445E6F69-B5DA-4BC1-A657-D68CEC733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-373063"/>
            <a:ext cx="8991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9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zh-CN" kern="0" dirty="0">
                <a:ea typeface="宋体" panose="02010600030101010101" pitchFamily="2" charset="-122"/>
              </a:rPr>
              <a:t>Systems Development Lifecycle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>
            <a:extLst>
              <a:ext uri="{FF2B5EF4-FFF2-40B4-BE49-F238E27FC236}">
                <a16:creationId xmlns:a16="http://schemas.microsoft.com/office/drawing/2014/main" id="{7AA84BFD-0CD9-4A86-A559-C2E86FFE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821D1D5-78FF-4DB3-A5E4-F1108D8A4107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58D2BFE-0D03-4687-9961-EA34FE549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Traditional Predictive Approach to the SDLC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3B35834-FAFC-4DAE-B05C-C19105221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Project planning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（项目计划）</a:t>
            </a: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– initiate, ensure feasibility, plan schedule, obtain approval for project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Analysis 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（分析）</a:t>
            </a:r>
            <a:r>
              <a:rPr lang="en-US" altLang="zh-CN" dirty="0">
                <a:ea typeface="宋体" panose="02010600030101010101" pitchFamily="2" charset="-122"/>
              </a:rPr>
              <a:t>– understand business needs and processing requirements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Design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（设计）</a:t>
            </a: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– define solution system based on requirements and analysis decisions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Implementation 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（实施）</a:t>
            </a:r>
            <a:r>
              <a:rPr lang="en-US" altLang="zh-CN" dirty="0">
                <a:ea typeface="宋体" panose="02010600030101010101" pitchFamily="2" charset="-122"/>
              </a:rPr>
              <a:t>– construct, test, train users, and install new system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Support 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（支持）</a:t>
            </a:r>
            <a:r>
              <a:rPr lang="en-US" altLang="zh-CN" dirty="0">
                <a:ea typeface="宋体" panose="02010600030101010101" pitchFamily="2" charset="-122"/>
              </a:rPr>
              <a:t>– keep system running and improve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2955DFC5-24EE-4A07-824A-7124F129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D6966540-3F4B-47B8-BDDF-348D40F6EDA3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6AB0C55-8593-4DB8-A252-DEA9A623A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Information System Development Phases</a:t>
            </a:r>
          </a:p>
        </p:txBody>
      </p:sp>
      <p:pic>
        <p:nvPicPr>
          <p:cNvPr id="22532" name="Picture 11">
            <a:extLst>
              <a:ext uri="{FF2B5EF4-FFF2-40B4-BE49-F238E27FC236}">
                <a16:creationId xmlns:a16="http://schemas.microsoft.com/office/drawing/2014/main" id="{F09C9D91-FBD2-48B7-B77F-1D7D2592B97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600200"/>
            <a:ext cx="8686800" cy="323373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>
            <a:extLst>
              <a:ext uri="{FF2B5EF4-FFF2-40B4-BE49-F238E27FC236}">
                <a16:creationId xmlns:a16="http://schemas.microsoft.com/office/drawing/2014/main" id="{55203E74-7690-4DFD-848D-0A7E88DF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DEA39D2-ED51-455E-9D5A-A0FEC5A426C4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97914C8E-5BAF-43C9-8D11-33C0661AB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“Waterfall” Approach to the SDLC</a:t>
            </a:r>
            <a:r>
              <a:rPr lang="zh-CN" altLang="en-US" dirty="0">
                <a:ea typeface="宋体" panose="02010600030101010101" pitchFamily="2" charset="-122"/>
              </a:rPr>
              <a:t>：瀑布式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3E1A34EB-2A86-48F4-9F48-616E39D23A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573213"/>
            <a:ext cx="8763000" cy="4675187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>
            <a:extLst>
              <a:ext uri="{FF2B5EF4-FFF2-40B4-BE49-F238E27FC236}">
                <a16:creationId xmlns:a16="http://schemas.microsoft.com/office/drawing/2014/main" id="{55203E74-7690-4DFD-848D-0A7E88DF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DEA39D2-ED51-455E-9D5A-A0FEC5A426C4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97914C8E-5BAF-43C9-8D11-33C0661AB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“Waterfall” Approach to the SDLC</a:t>
            </a:r>
            <a:r>
              <a:rPr lang="zh-CN" altLang="en-US" dirty="0">
                <a:ea typeface="宋体" panose="02010600030101010101" pitchFamily="2" charset="-122"/>
              </a:rPr>
              <a:t>：瀑布式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3E1A34EB-2A86-48F4-9F48-616E39D23A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09"/>
          <a:stretch/>
        </p:blipFill>
        <p:spPr>
          <a:xfrm>
            <a:off x="4229100" y="2019816"/>
            <a:ext cx="4724012" cy="2056367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2906642-CC87-47A2-8B5D-433208954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2400" y="2133600"/>
            <a:ext cx="4267201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“瀑布式”开发方法好不好？可能存在哪些问题？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059330-8E8C-49D5-8E0B-417FE75A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00" y="4514591"/>
            <a:ext cx="7924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4487" lvl="1" indent="0" eaLnBrk="1" hangingPunct="1">
              <a:lnSpc>
                <a:spcPct val="90000"/>
              </a:lnSpc>
              <a:buNone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）“一蹴而就”：难以适应复杂项目与变化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4487" lvl="1" indent="0" eaLnBrk="1" hangingPunct="1">
              <a:lnSpc>
                <a:spcPct val="90000"/>
              </a:lnSpc>
              <a:buNone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）项目进行缓慢，难以快速看到成效 </a:t>
            </a:r>
            <a:endParaRPr lang="en-US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088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Systems Development Lifecycle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Iterative Development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（迭代式开发）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Where You are Headed—The Rest of the Book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803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4F6D01ED-99D9-480D-A5D5-90068CA4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95DDC49-F91F-4147-B40C-9F827A033376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823CFC0-DC66-47EB-9F12-5AF183929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Overview </a:t>
            </a:r>
            <a:r>
              <a:rPr lang="en-US" altLang="zh-CN" sz="1800">
                <a:ea typeface="宋体" panose="02010600030101010101" pitchFamily="2" charset="-122"/>
              </a:rPr>
              <a:t>(continued)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3191897-3F3D-45EF-95B9-E5FDBB223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Agile development </a:t>
            </a:r>
            <a:r>
              <a:rPr lang="zh-CN" altLang="en-US" sz="2800" b="1" dirty="0">
                <a:ea typeface="宋体" panose="02010600030101010101" pitchFamily="2" charset="-122"/>
              </a:rPr>
              <a:t>（敏捷开发）</a:t>
            </a:r>
            <a:r>
              <a:rPr lang="en-GB" altLang="zh-CN" sz="2800" dirty="0">
                <a:ea typeface="宋体" panose="02010600030101010101" pitchFamily="2" charset="-122"/>
              </a:rPr>
              <a:t>– an information system development process that emphasizes flexibility to anticipate new requirements during development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Fast on feet; responsive to change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Iterative development</a:t>
            </a:r>
            <a:r>
              <a:rPr lang="zh-CN" altLang="en-US" sz="2800" b="1" dirty="0">
                <a:ea typeface="宋体" panose="02010600030101010101" pitchFamily="2" charset="-122"/>
              </a:rPr>
              <a:t>（迭代开发）</a:t>
            </a:r>
            <a:r>
              <a:rPr lang="en-GB" altLang="zh-CN" sz="2800" dirty="0">
                <a:ea typeface="宋体" panose="02010600030101010101" pitchFamily="2" charset="-122"/>
              </a:rPr>
              <a:t> -- an approach to system development in which the system is “grown” piece by piece through multiple iterations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zh-CN" sz="2400" dirty="0">
                <a:ea typeface="宋体" panose="02010600030101010101" pitchFamily="2" charset="-122"/>
              </a:rPr>
              <a:t>Complete small part of system (mini-project), then repeat processes to refine and add more, then repeat to refine and add more, until done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48A5EB9D-735F-400D-827B-91B8B5862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5">
            <a:extLst>
              <a:ext uri="{FF2B5EF4-FFF2-40B4-BE49-F238E27FC236}">
                <a16:creationId xmlns:a16="http://schemas.microsoft.com/office/drawing/2014/main" id="{B1F279D2-9471-49F6-8E39-475DD18F2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7543800" cy="96043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The Spiral Life Cycle Model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（螺旋生命周期模型）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26628" name="Picture 7">
            <a:extLst>
              <a:ext uri="{FF2B5EF4-FFF2-40B4-BE49-F238E27FC236}">
                <a16:creationId xmlns:a16="http://schemas.microsoft.com/office/drawing/2014/main" id="{7DC6C43A-67F6-4AED-A49C-8527DF889A8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524000"/>
            <a:ext cx="6553200" cy="5208588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4">
            <a:extLst>
              <a:ext uri="{FF2B5EF4-FFF2-40B4-BE49-F238E27FC236}">
                <a16:creationId xmlns:a16="http://schemas.microsoft.com/office/drawing/2014/main" id="{E0C91214-8FDF-462F-8947-6AFFBFBB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F6C62D11-D2B5-482B-9CFF-A784784F7476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00B71D25-0E12-41EA-92A1-2796874E1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" y="762000"/>
            <a:ext cx="3276600" cy="3429000"/>
          </a:xfrm>
        </p:spPr>
        <p:txBody>
          <a:bodyPr/>
          <a:lstStyle/>
          <a:p>
            <a:r>
              <a:rPr lang="en-US" altLang="zh-CN" sz="3600" dirty="0">
                <a:ea typeface="宋体" panose="02010600030101010101" pitchFamily="2" charset="-122"/>
              </a:rPr>
              <a:t>Iteration of System Development Activities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系统开发活动的迭代</a:t>
            </a:r>
            <a:br>
              <a:rPr lang="en-US" altLang="zh-CN" sz="3600" dirty="0">
                <a:ea typeface="宋体" panose="02010600030101010101" pitchFamily="2" charset="-122"/>
              </a:rPr>
            </a:b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9A9237DB-FA1C-4FBE-B04A-24BEF25515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08363" y="685800"/>
            <a:ext cx="5430837" cy="6096000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F697AF81-7972-42A8-A35F-7789DA66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9A2BECC-1BBE-4CAE-B565-0723B0DE3A4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A634EBA-FCD0-4A62-907B-98E1C1034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Iterative and Agile Systems Development Lifecycle (SDLC)</a:t>
            </a:r>
          </a:p>
        </p:txBody>
      </p:sp>
      <p:pic>
        <p:nvPicPr>
          <p:cNvPr id="28676" name="Picture 8">
            <a:extLst>
              <a:ext uri="{FF2B5EF4-FFF2-40B4-BE49-F238E27FC236}">
                <a16:creationId xmlns:a16="http://schemas.microsoft.com/office/drawing/2014/main" id="{4BEFF570-EB6B-4DFB-A245-44245203E6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736725"/>
            <a:ext cx="8229600" cy="4375150"/>
          </a:xfrm>
          <a:noFill/>
        </p:spPr>
      </p:pic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97F42828-8186-48FD-91B3-90E5DF5E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C162A013-5AD7-45C4-86B0-9C7225577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4">
            <a:extLst>
              <a:ext uri="{FF2B5EF4-FFF2-40B4-BE49-F238E27FC236}">
                <a16:creationId xmlns:a16="http://schemas.microsoft.com/office/drawing/2014/main" id="{3A51CB4A-AB5E-4306-BDBB-0970340D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ED6346A1-1EDB-437C-8BBA-3BFC1B688A05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8076DE68-1AAB-44AE-9A49-715241335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Two Approaches to System Development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725237EF-D170-4EE4-A347-467D427F4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534400" cy="4411662"/>
          </a:xfrm>
        </p:spPr>
        <p:txBody>
          <a:bodyPr/>
          <a:lstStyle/>
          <a:p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Traditional approach</a:t>
            </a:r>
            <a:r>
              <a:rPr lang="en-US" altLang="zh-CN" sz="2400" dirty="0">
                <a:solidFill>
                  <a:srgbClr val="0099CC"/>
                </a:solidFill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（传统方法）</a:t>
            </a:r>
            <a:endParaRPr lang="en-US" altLang="zh-CN" dirty="0">
              <a:solidFill>
                <a:srgbClr val="0099CC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Also called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structured system development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（结构化系统开发）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Structured analysis and design technique (SADT</a:t>
            </a:r>
            <a:r>
              <a:rPr lang="zh-CN" altLang="en-US" dirty="0">
                <a:ea typeface="宋体" panose="02010600030101010101" pitchFamily="2" charset="-122"/>
              </a:rPr>
              <a:t>，结构化分析与设计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>
                <a:solidFill>
                  <a:srgbClr val="0099CC"/>
                </a:solidFill>
                <a:ea typeface="宋体" panose="02010600030101010101" pitchFamily="2" charset="-122"/>
              </a:rPr>
              <a:t>Object-oriented approach</a:t>
            </a:r>
            <a:r>
              <a:rPr lang="zh-CN" altLang="en-US" dirty="0">
                <a:solidFill>
                  <a:srgbClr val="0099CC"/>
                </a:solidFill>
                <a:ea typeface="宋体" panose="02010600030101010101" pitchFamily="2" charset="-122"/>
              </a:rPr>
              <a:t>（面向对象的方法）</a:t>
            </a:r>
            <a:endParaRPr lang="en-US" altLang="zh-CN" dirty="0">
              <a:solidFill>
                <a:srgbClr val="0099CC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Views information system as collection of interacting objects that work together to accomplish tasks</a:t>
            </a:r>
            <a:r>
              <a:rPr lang="zh-CN" altLang="en-US" dirty="0">
                <a:ea typeface="宋体" panose="02010600030101010101" pitchFamily="2" charset="-122"/>
              </a:rPr>
              <a:t>（将信息系统视为互相作用的对象的集合）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7">
            <a:extLst>
              <a:ext uri="{FF2B5EF4-FFF2-40B4-BE49-F238E27FC236}">
                <a16:creationId xmlns:a16="http://schemas.microsoft.com/office/drawing/2014/main" id="{7D2E504E-F174-4E40-A182-E0BB411F8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Three Structured Programming Constructs</a:t>
            </a:r>
            <a:r>
              <a:rPr lang="zh-CN" altLang="en-US" dirty="0">
                <a:ea typeface="宋体" panose="02010600030101010101" pitchFamily="2" charset="-122"/>
              </a:rPr>
              <a:t>（结构化编程）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1749" name="Picture 13">
            <a:extLst>
              <a:ext uri="{FF2B5EF4-FFF2-40B4-BE49-F238E27FC236}">
                <a16:creationId xmlns:a16="http://schemas.microsoft.com/office/drawing/2014/main" id="{A09D299B-9D23-4BBA-8889-AF7809D4380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9000" y="1492056"/>
            <a:ext cx="7391400" cy="4756344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60EC0A7-39EA-4FE9-9EE4-8C3B0E87E547}"/>
              </a:ext>
            </a:extLst>
          </p:cNvPr>
          <p:cNvSpPr txBox="1"/>
          <p:nvPr/>
        </p:nvSpPr>
        <p:spPr>
          <a:xfrm>
            <a:off x="3886200" y="5542558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n w="0">
                  <a:solidFill>
                    <a:srgbClr val="FF0000"/>
                  </a:solidFill>
                </a:ln>
                <a:solidFill>
                  <a:srgbClr val="0066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结构化流程图要注意：</a:t>
            </a:r>
            <a:endParaRPr lang="en-US" altLang="zh-CN" dirty="0">
              <a:ln w="0">
                <a:solidFill>
                  <a:srgbClr val="FF0000"/>
                </a:solidFill>
              </a:ln>
              <a:solidFill>
                <a:srgbClr val="0066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dirty="0">
                <a:ln w="0">
                  <a:solidFill>
                    <a:srgbClr val="FF0000"/>
                  </a:solidFill>
                </a:ln>
                <a:solidFill>
                  <a:srgbClr val="0066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dirty="0">
                <a:ln w="0">
                  <a:solidFill>
                    <a:srgbClr val="FF0000"/>
                  </a:solidFill>
                </a:ln>
                <a:solidFill>
                  <a:srgbClr val="0066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、有始有终</a:t>
            </a:r>
            <a:endParaRPr lang="en-US" altLang="zh-CN" dirty="0">
              <a:ln w="0">
                <a:solidFill>
                  <a:srgbClr val="FF0000"/>
                </a:solidFill>
              </a:ln>
              <a:solidFill>
                <a:srgbClr val="0066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dirty="0">
                <a:ln w="0">
                  <a:solidFill>
                    <a:srgbClr val="FF0000"/>
                  </a:solidFill>
                </a:ln>
                <a:solidFill>
                  <a:srgbClr val="0066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dirty="0">
                <a:ln w="0">
                  <a:solidFill>
                    <a:srgbClr val="FF0000"/>
                  </a:solidFill>
                </a:ln>
                <a:solidFill>
                  <a:srgbClr val="0066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、单入单出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DFAFAD-3682-422B-99CB-B51D9AF1BE77}"/>
              </a:ext>
            </a:extLst>
          </p:cNvPr>
          <p:cNvSpPr txBox="1"/>
          <p:nvPr/>
        </p:nvSpPr>
        <p:spPr>
          <a:xfrm>
            <a:off x="940434" y="1905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顺序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3F6008-31F2-4F59-9B37-C9017894D270}"/>
              </a:ext>
            </a:extLst>
          </p:cNvPr>
          <p:cNvSpPr txBox="1"/>
          <p:nvPr/>
        </p:nvSpPr>
        <p:spPr>
          <a:xfrm>
            <a:off x="3048000" y="1905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判断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30DFAFAD-3682-422B-99CB-B51D9AF1BE77}"/>
              </a:ext>
            </a:extLst>
          </p:cNvPr>
          <p:cNvSpPr txBox="1"/>
          <p:nvPr/>
        </p:nvSpPr>
        <p:spPr>
          <a:xfrm>
            <a:off x="6781800" y="10337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zh-CN" altLang="en-US" dirty="0"/>
              <a:t>循环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4">
            <a:extLst>
              <a:ext uri="{FF2B5EF4-FFF2-40B4-BE49-F238E27FC236}">
                <a16:creationId xmlns:a16="http://schemas.microsoft.com/office/drawing/2014/main" id="{5C284AD7-9323-4937-8216-E545A195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A2937248-46DB-4085-BE14-12E5E81DF321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3CA3214D-2070-4337-A3FE-FFB109205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Class Diagram Created During OO Analysis</a:t>
            </a:r>
            <a:r>
              <a:rPr lang="zh-CN" altLang="en-US" dirty="0">
                <a:ea typeface="宋体" panose="02010600030101010101" pitchFamily="2" charset="-122"/>
              </a:rPr>
              <a:t>（面向对象）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2772" name="Picture 11">
            <a:extLst>
              <a:ext uri="{FF2B5EF4-FFF2-40B4-BE49-F238E27FC236}">
                <a16:creationId xmlns:a16="http://schemas.microsoft.com/office/drawing/2014/main" id="{EA3F8526-89E9-4D31-818C-0880C9724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414463"/>
            <a:ext cx="8839200" cy="4783137"/>
          </a:xfrm>
          <a:noFill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2">
            <a:extLst>
              <a:ext uri="{FF2B5EF4-FFF2-40B4-BE49-F238E27FC236}">
                <a16:creationId xmlns:a16="http://schemas.microsoft.com/office/drawing/2014/main" id="{9691BAAA-21A8-4E12-BA7E-B9F610D7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28800" y="6248400"/>
            <a:ext cx="5486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67FC30C-026C-4581-8698-0A9E7AEC62E6}" type="slidenum">
              <a:rPr lang="en-US" altLang="zh-CN" sz="1400">
                <a:ea typeface="宋体" panose="02010600030101010101" pitchFamily="2" charset="-122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62083C2-B407-463B-BDDC-C117A0256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"/>
            <a:ext cx="7924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System Sequence Diagram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(SSD</a:t>
            </a:r>
            <a:r>
              <a:rPr lang="zh-CN" altLang="en-US" sz="3200" dirty="0">
                <a:ea typeface="宋体" panose="02010600030101010101" pitchFamily="2" charset="-122"/>
              </a:rPr>
              <a:t>，系统顺序图</a:t>
            </a:r>
            <a:r>
              <a:rPr lang="en-US" altLang="zh-CN" sz="3200" dirty="0">
                <a:ea typeface="宋体" panose="02010600030101010101" pitchFamily="2" charset="-122"/>
              </a:rPr>
              <a:t>)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33796" name="Picture 10">
            <a:extLst>
              <a:ext uri="{FF2B5EF4-FFF2-40B4-BE49-F238E27FC236}">
                <a16:creationId xmlns:a16="http://schemas.microsoft.com/office/drawing/2014/main" id="{5161A3C7-A294-439D-A543-5E0826C87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22388"/>
            <a:ext cx="7924800" cy="517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Systems Development Lifecycle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Iterative Development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Where You are Headed—The Rest of the Book</a:t>
            </a: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15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>
            <a:extLst>
              <a:ext uri="{FF2B5EF4-FFF2-40B4-BE49-F238E27FC236}">
                <a16:creationId xmlns:a16="http://schemas.microsoft.com/office/drawing/2014/main" id="{BB134E3A-A097-4903-9F73-5EF71C62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2B17DC89-E0FA-4747-9DDF-3A6D8247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9CC74-F857-47AF-8505-782C4E358A5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031FE67D-46F2-4420-A18D-2BC513621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Ridgeline Mountain Outfitters (RMO) </a:t>
            </a:r>
          </a:p>
        </p:txBody>
      </p:sp>
      <p:sp>
        <p:nvSpPr>
          <p:cNvPr id="37894" name="Rectangle 4">
            <a:extLst>
              <a:ext uri="{FF2B5EF4-FFF2-40B4-BE49-F238E27FC236}">
                <a16:creationId xmlns:a16="http://schemas.microsoft.com/office/drawing/2014/main" id="{9E306A13-1E2E-4B41-8C61-7D925B8A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D5A865-B7F2-4748-ACCC-F4F87B39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RMO</a:t>
            </a:r>
            <a:r>
              <a:rPr lang="zh-CN" altLang="en-US" dirty="0"/>
              <a:t>是一家大型零售公司，专门生产不同种类的户外运动服装和相关配饰。</a:t>
            </a:r>
            <a:endParaRPr lang="en-US" altLang="zh-CN" dirty="0"/>
          </a:p>
          <a:p>
            <a:pPr lvl="1"/>
            <a:r>
              <a:rPr lang="zh-CN" altLang="en-US" dirty="0"/>
              <a:t>最初，</a:t>
            </a:r>
            <a:r>
              <a:rPr lang="en-US" altLang="zh-CN" dirty="0"/>
              <a:t>RMO</a:t>
            </a:r>
            <a:r>
              <a:rPr lang="zh-CN" altLang="en-US" dirty="0"/>
              <a:t>在犹他州等地区把衣服卖给</a:t>
            </a:r>
            <a:r>
              <a:rPr lang="zh-CN" altLang="en-US" u="sng" dirty="0"/>
              <a:t>当地的服装店</a:t>
            </a:r>
            <a:endParaRPr lang="en-US" altLang="zh-CN" u="sng" dirty="0"/>
          </a:p>
          <a:p>
            <a:pPr lvl="1"/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80</a:t>
            </a:r>
            <a:r>
              <a:rPr lang="zh-CN" altLang="en-US" dirty="0"/>
              <a:t>年代后期到</a:t>
            </a:r>
            <a:r>
              <a:rPr lang="en-US" altLang="zh-CN" dirty="0"/>
              <a:t>90</a:t>
            </a:r>
            <a:r>
              <a:rPr lang="zh-CN" altLang="en-US" dirty="0"/>
              <a:t>年代早期，它通过</a:t>
            </a:r>
            <a:r>
              <a:rPr lang="zh-CN" altLang="en-US" u="sng" dirty="0"/>
              <a:t>邮寄和电话订购</a:t>
            </a:r>
            <a:r>
              <a:rPr lang="zh-CN" altLang="en-US" dirty="0"/>
              <a:t>直接向顾客销售服装</a:t>
            </a:r>
            <a:endParaRPr lang="en-US" altLang="zh-CN" dirty="0"/>
          </a:p>
          <a:p>
            <a:pPr lvl="1"/>
            <a:r>
              <a:rPr lang="en-US" altLang="zh-CN" dirty="0"/>
              <a:t>2018</a:t>
            </a:r>
            <a:r>
              <a:rPr lang="zh-CN" altLang="en-US" dirty="0"/>
              <a:t>年，它零售商店收入为</a:t>
            </a:r>
            <a:r>
              <a:rPr lang="en-US" altLang="zh-CN" dirty="0"/>
              <a:t>6700</a:t>
            </a:r>
            <a:r>
              <a:rPr lang="zh-CN" altLang="en-US" dirty="0"/>
              <a:t>万美元，电话订购和邮购达到</a:t>
            </a:r>
            <a:r>
              <a:rPr lang="en-US" altLang="zh-CN" dirty="0"/>
              <a:t>1000</a:t>
            </a:r>
            <a:r>
              <a:rPr lang="zh-CN" altLang="en-US" dirty="0"/>
              <a:t>万美元，</a:t>
            </a:r>
            <a:r>
              <a:rPr lang="zh-CN" altLang="en-US" u="sng" dirty="0"/>
              <a:t>网购</a:t>
            </a:r>
            <a:r>
              <a:rPr lang="zh-CN" altLang="en-US" dirty="0"/>
              <a:t>销售额达到了</a:t>
            </a:r>
            <a:r>
              <a:rPr lang="en-US" altLang="zh-CN" dirty="0"/>
              <a:t>2</a:t>
            </a:r>
            <a:r>
              <a:rPr lang="zh-CN" altLang="en-US" dirty="0"/>
              <a:t>亿美元</a:t>
            </a:r>
          </a:p>
        </p:txBody>
      </p:sp>
    </p:spTree>
    <p:extLst>
      <p:ext uri="{BB962C8B-B14F-4D97-AF65-F5344CB8AC3E}">
        <p14:creationId xmlns:p14="http://schemas.microsoft.com/office/powerpoint/2010/main" val="2750555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>
            <a:extLst>
              <a:ext uri="{FF2B5EF4-FFF2-40B4-BE49-F238E27FC236}">
                <a16:creationId xmlns:a16="http://schemas.microsoft.com/office/drawing/2014/main" id="{BB134E3A-A097-4903-9F73-5EF71C62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2B17DC89-E0FA-4747-9DDF-3A6D8247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9CC74-F857-47AF-8505-782C4E358A5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031FE67D-46F2-4420-A18D-2BC513621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Ridgeline Mountain Outfitters (RMO) </a:t>
            </a:r>
          </a:p>
        </p:txBody>
      </p:sp>
      <p:pic>
        <p:nvPicPr>
          <p:cNvPr id="37893" name="Picture 7">
            <a:extLst>
              <a:ext uri="{FF2B5EF4-FFF2-40B4-BE49-F238E27FC236}">
                <a16:creationId xmlns:a16="http://schemas.microsoft.com/office/drawing/2014/main" id="{FFB79ECB-2114-4374-8751-10AC4139F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35100"/>
            <a:ext cx="8153400" cy="5122863"/>
          </a:xfrm>
          <a:noFill/>
        </p:spPr>
      </p:pic>
      <p:sp>
        <p:nvSpPr>
          <p:cNvPr id="37894" name="Rectangle 4">
            <a:extLst>
              <a:ext uri="{FF2B5EF4-FFF2-40B4-BE49-F238E27FC236}">
                <a16:creationId xmlns:a16="http://schemas.microsoft.com/office/drawing/2014/main" id="{9E306A13-1E2E-4B41-8C61-7D925B8A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>
            <a:extLst>
              <a:ext uri="{FF2B5EF4-FFF2-40B4-BE49-F238E27FC236}">
                <a16:creationId xmlns:a16="http://schemas.microsoft.com/office/drawing/2014/main" id="{BB134E3A-A097-4903-9F73-5EF71C62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2B17DC89-E0FA-4747-9DDF-3A6D8247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9CC74-F857-47AF-8505-782C4E358A5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031FE67D-46F2-4420-A18D-2BC513621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Ridgeline Mountain Outfitters (RMO) </a:t>
            </a:r>
          </a:p>
        </p:txBody>
      </p:sp>
      <p:pic>
        <p:nvPicPr>
          <p:cNvPr id="37893" name="Picture 7">
            <a:extLst>
              <a:ext uri="{FF2B5EF4-FFF2-40B4-BE49-F238E27FC236}">
                <a16:creationId xmlns:a16="http://schemas.microsoft.com/office/drawing/2014/main" id="{FFB79ECB-2114-4374-8751-10AC4139F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1875" y="1417638"/>
            <a:ext cx="3429000" cy="2154475"/>
          </a:xfrm>
          <a:noFill/>
        </p:spPr>
      </p:pic>
      <p:sp>
        <p:nvSpPr>
          <p:cNvPr id="37894" name="Rectangle 4">
            <a:extLst>
              <a:ext uri="{FF2B5EF4-FFF2-40B4-BE49-F238E27FC236}">
                <a16:creationId xmlns:a16="http://schemas.microsoft.com/office/drawing/2014/main" id="{9E306A13-1E2E-4B41-8C61-7D925B8A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F47E13A4-EBE0-4A28-9117-AF839F5EF162}"/>
              </a:ext>
            </a:extLst>
          </p:cNvPr>
          <p:cNvSpPr txBox="1">
            <a:spLocks/>
          </p:cNvSpPr>
          <p:nvPr/>
        </p:nvSpPr>
        <p:spPr bwMode="auto">
          <a:xfrm>
            <a:off x="457200" y="1410665"/>
            <a:ext cx="4384675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zh-CN" altLang="en-US" kern="0" dirty="0"/>
              <a:t>背景：</a:t>
            </a:r>
            <a:endParaRPr lang="en-US" altLang="zh-CN" kern="0" dirty="0"/>
          </a:p>
          <a:p>
            <a:pPr lvl="1"/>
            <a:r>
              <a:rPr lang="zh-CN" altLang="en-US" sz="2400" kern="0" dirty="0"/>
              <a:t>为了保证生产线的现代化，</a:t>
            </a:r>
            <a:r>
              <a:rPr lang="en-US" altLang="zh-CN" sz="2400" kern="0" dirty="0"/>
              <a:t>RMO</a:t>
            </a:r>
            <a:r>
              <a:rPr lang="zh-CN" altLang="en-US" sz="2400" kern="0" dirty="0"/>
              <a:t>的采购代理人会参加世界各地的服装展和面料展。</a:t>
            </a:r>
            <a:endParaRPr lang="en-US" altLang="zh-CN" sz="2400" kern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3349AD-ED78-4839-A63C-41E770361847}"/>
              </a:ext>
            </a:extLst>
          </p:cNvPr>
          <p:cNvSpPr txBox="1"/>
          <p:nvPr/>
        </p:nvSpPr>
        <p:spPr>
          <a:xfrm>
            <a:off x="457200" y="3632610"/>
            <a:ext cx="7585075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2150" lvl="1" indent="-3476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+mn-lt"/>
                <a:cs typeface="+mn-cs"/>
              </a:rPr>
              <a:t>过去，这些代理人想要订购</a:t>
            </a:r>
            <a:r>
              <a:rPr lang="en-US" altLang="zh-CN" sz="2400" kern="0" dirty="0">
                <a:latin typeface="+mn-lt"/>
                <a:cs typeface="+mn-cs"/>
              </a:rPr>
              <a:t>RMO</a:t>
            </a:r>
            <a:r>
              <a:rPr lang="zh-CN" altLang="en-US" sz="2400" kern="0" dirty="0">
                <a:latin typeface="+mn-lt"/>
                <a:cs typeface="+mn-cs"/>
              </a:rPr>
              <a:t>的商品时，需要在展览中与销售人员交换联系信息，等回到办公室后在通过电子邮件和电话进一步制定合同和购买订单。</a:t>
            </a:r>
            <a:endParaRPr lang="en-US" altLang="zh-CN" sz="2400" kern="0" dirty="0">
              <a:latin typeface="+mn-lt"/>
              <a:cs typeface="+mn-cs"/>
            </a:endParaRPr>
          </a:p>
          <a:p>
            <a:pPr marL="692150" lvl="1" indent="-3476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+mn-lt"/>
                <a:cs typeface="+mn-cs"/>
              </a:rPr>
              <a:t>为了迅速完成订单，</a:t>
            </a:r>
            <a:r>
              <a:rPr lang="en-US" altLang="zh-CN" sz="2400" kern="0" dirty="0">
                <a:latin typeface="+mn-lt"/>
                <a:cs typeface="+mn-cs"/>
              </a:rPr>
              <a:t>RMO</a:t>
            </a:r>
            <a:r>
              <a:rPr lang="zh-CN" altLang="en-US" sz="2400" kern="0" dirty="0">
                <a:latin typeface="+mn-lt"/>
                <a:cs typeface="+mn-cs"/>
              </a:rPr>
              <a:t>启动了一个项目：</a:t>
            </a:r>
            <a:r>
              <a:rPr lang="zh-CN" altLang="en-US" sz="2400" kern="0" dirty="0">
                <a:solidFill>
                  <a:srgbClr val="C00000"/>
                </a:solidFill>
                <a:latin typeface="+mn-lt"/>
                <a:cs typeface="+mn-cs"/>
              </a:rPr>
              <a:t>开发一个系统来收集和跟进它的代理人信息和待销售商品</a:t>
            </a:r>
            <a:endParaRPr lang="en-US" altLang="zh-CN" sz="2400" kern="0" dirty="0">
              <a:solidFill>
                <a:srgbClr val="C00000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865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E6242E48-9975-4CBD-8FDE-1E57419F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742390-EB7A-4084-A9B6-7118B19CF30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8903C04-61EF-46EC-974F-1EC43138B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RMO Tradeshow System 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D16C53D-A684-4E98-A307-B7B19EDDC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ea typeface="宋体" panose="02010600030101010101" pitchFamily="2" charset="-122"/>
              </a:rPr>
              <a:t>Problem</a:t>
            </a:r>
            <a:r>
              <a:rPr lang="en-US" altLang="zh-CN" sz="2800" dirty="0">
                <a:ea typeface="宋体" panose="02010600030101010101" pitchFamily="2" charset="-122"/>
              </a:rPr>
              <a:t>-- </a:t>
            </a:r>
            <a:r>
              <a:rPr lang="en-GB" altLang="zh-CN" sz="2800" dirty="0">
                <a:ea typeface="宋体" panose="02010600030101010101" pitchFamily="2" charset="-122"/>
              </a:rPr>
              <a:t>purchasing agents attend apparel and fabric trade shows around the world to order new products from suppliers</a:t>
            </a:r>
            <a:r>
              <a:rPr lang="zh-CN" altLang="en-US" sz="2800" dirty="0">
                <a:ea typeface="宋体" panose="02010600030101010101" pitchFamily="2" charset="-122"/>
              </a:rPr>
              <a:t>（采购代理从供应商处订购新产品）</a:t>
            </a:r>
            <a:endParaRPr lang="en-GB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Need</a:t>
            </a:r>
            <a:r>
              <a:rPr lang="en-GB" altLang="zh-CN" sz="2800" dirty="0">
                <a:ea typeface="宋体" panose="02010600030101010101" pitchFamily="2" charset="-122"/>
              </a:rPr>
              <a:t>– information system (app) to </a:t>
            </a:r>
            <a:r>
              <a:rPr lang="en-GB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collect and track information about suppliers and new products </a:t>
            </a:r>
            <a:r>
              <a:rPr lang="en-GB" altLang="zh-CN" sz="2800" dirty="0">
                <a:ea typeface="宋体" panose="02010600030101010101" pitchFamily="2" charset="-122"/>
              </a:rPr>
              <a:t>while at tradeshows</a:t>
            </a:r>
            <a:r>
              <a:rPr lang="zh-CN" altLang="en-US" sz="2800" dirty="0">
                <a:ea typeface="宋体" panose="02010600030101010101" pitchFamily="2" charset="-122"/>
              </a:rPr>
              <a:t>（收集供应商和产品信息）</a:t>
            </a:r>
            <a:endParaRPr lang="en-GB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zh-CN" sz="2800" b="1" dirty="0">
                <a:ea typeface="宋体" panose="02010600030101010101" pitchFamily="2" charset="-122"/>
              </a:rPr>
              <a:t>Tradeshow Project</a:t>
            </a:r>
            <a:r>
              <a:rPr lang="en-GB" altLang="zh-CN" sz="2800" dirty="0">
                <a:ea typeface="宋体" panose="02010600030101010101" pitchFamily="2" charset="-122"/>
              </a:rPr>
              <a:t>– is proposed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Supplier information subsystem</a:t>
            </a:r>
            <a:r>
              <a:rPr lang="zh-CN" altLang="en-US" sz="2400" dirty="0">
                <a:ea typeface="宋体" panose="02010600030101010101" pitchFamily="2" charset="-122"/>
              </a:rPr>
              <a:t>（供应商信息子系统）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Product information subsystem</a:t>
            </a:r>
            <a:r>
              <a:rPr lang="zh-CN" altLang="en-US" sz="2400" dirty="0">
                <a:ea typeface="宋体" panose="02010600030101010101" pitchFamily="2" charset="-122"/>
              </a:rPr>
              <a:t>（产品信息子系统）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39941" name="Footer Placeholder 4">
            <a:extLst>
              <a:ext uri="{FF2B5EF4-FFF2-40B4-BE49-F238E27FC236}">
                <a16:creationId xmlns:a16="http://schemas.microsoft.com/office/drawing/2014/main" id="{71D5935E-7619-4C66-926A-11199196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39942" name="Rectangle 4">
            <a:extLst>
              <a:ext uri="{FF2B5EF4-FFF2-40B4-BE49-F238E27FC236}">
                <a16:creationId xmlns:a16="http://schemas.microsoft.com/office/drawing/2014/main" id="{935F621C-1E93-4E64-B203-2D95B526C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65297902-8B41-49E4-95AE-9078D113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A6060A-E22E-49A3-9A65-B7A50466438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60ABE37-3429-4674-980F-AD00973B5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Pre-Project Activities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4B754A4-3FC8-425F-99F1-DED69E439C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Identify the problem and document the objective of the system (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core process 1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Preliminary investigation</a:t>
            </a:r>
            <a:r>
              <a:rPr lang="zh-CN" altLang="en-US" sz="2400" dirty="0">
                <a:ea typeface="宋体" panose="02010600030101010101" pitchFamily="2" charset="-122"/>
              </a:rPr>
              <a:t>（初步调查）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System Vision Document</a:t>
            </a:r>
            <a:r>
              <a:rPr lang="zh-CN" altLang="en-US" sz="2400" dirty="0">
                <a:ea typeface="宋体" panose="02010600030101010101" pitchFamily="2" charset="-122"/>
              </a:rPr>
              <a:t>（系统愿景文档）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Obtain approval to commence the project (</a:t>
            </a: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core process 1</a:t>
            </a:r>
            <a:r>
              <a:rPr lang="en-US" altLang="zh-CN" sz="2800" dirty="0"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Meet with key stakeholders, including executive management</a:t>
            </a:r>
            <a:r>
              <a:rPr lang="zh-CN" altLang="en-US" sz="2400" dirty="0">
                <a:ea typeface="宋体" panose="02010600030101010101" pitchFamily="2" charset="-122"/>
              </a:rPr>
              <a:t>（与利益相关者会面）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Decision reached, approve plan and budget</a:t>
            </a:r>
            <a:r>
              <a:rPr lang="zh-CN" altLang="en-US" sz="2400" dirty="0">
                <a:ea typeface="宋体" panose="02010600030101010101" pitchFamily="2" charset="-122"/>
              </a:rPr>
              <a:t>（做出计划与预算决定）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40965" name="Footer Placeholder 4">
            <a:extLst>
              <a:ext uri="{FF2B5EF4-FFF2-40B4-BE49-F238E27FC236}">
                <a16:creationId xmlns:a16="http://schemas.microsoft.com/office/drawing/2014/main" id="{95217C78-3DF0-4C16-A45D-C7C0BAC9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799" y="6248400"/>
            <a:ext cx="75088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</a:pPr>
            <a:r>
              <a:rPr lang="en-US" altLang="zh-CN" sz="1400" dirty="0">
                <a:solidFill>
                  <a:srgbClr val="C00000"/>
                </a:solidFill>
                <a:ea typeface="宋体" panose="02010600030101010101" pitchFamily="2" charset="-122"/>
              </a:rPr>
              <a:t>Core process 1: </a:t>
            </a:r>
            <a:r>
              <a:rPr lang="zh-CN" altLang="en-US" sz="1400" dirty="0">
                <a:solidFill>
                  <a:srgbClr val="C00000"/>
                </a:solidFill>
                <a:ea typeface="宋体" panose="02010600030101010101" pitchFamily="2" charset="-122"/>
              </a:rPr>
              <a:t>确定问题和需求：</a:t>
            </a:r>
            <a:r>
              <a:rPr lang="en-GB" altLang="zh-CN" sz="1400" dirty="0">
                <a:solidFill>
                  <a:srgbClr val="C00000"/>
                </a:solidFill>
                <a:ea typeface="宋体" panose="02010600030101010101" pitchFamily="2" charset="-122"/>
              </a:rPr>
              <a:t>Identify the problem or need and obtain approval</a:t>
            </a:r>
          </a:p>
        </p:txBody>
      </p:sp>
      <p:sp>
        <p:nvSpPr>
          <p:cNvPr id="40966" name="Rectangle 4">
            <a:extLst>
              <a:ext uri="{FF2B5EF4-FFF2-40B4-BE49-F238E27FC236}">
                <a16:creationId xmlns:a16="http://schemas.microsoft.com/office/drawing/2014/main" id="{40F1118E-2B76-4DC5-87F4-B2757B324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0EB7FB35-E34F-40E7-BAB1-B3DF4B9E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4FDE78-1894-4907-9D28-D02691A5CCE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7F5792A-7B88-4D0E-8A6C-734755115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295400"/>
            <a:ext cx="3352800" cy="41148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System Vision Document</a:t>
            </a:r>
            <a:br>
              <a:rPr lang="en-US" altLang="zh-CN" sz="3200" dirty="0">
                <a:ea typeface="宋体" panose="02010600030101010101" pitchFamily="2" charset="-122"/>
              </a:rPr>
            </a:b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Problem description</a:t>
            </a:r>
            <a:r>
              <a:rPr lang="zh-CN" altLang="en-US" sz="2400" dirty="0">
                <a:ea typeface="宋体" panose="02010600030101010101" pitchFamily="2" charset="-122"/>
              </a:rPr>
              <a:t>：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zh-CN" altLang="en-US" sz="2400" dirty="0">
                <a:ea typeface="宋体" panose="02010600030101010101" pitchFamily="2" charset="-122"/>
              </a:rPr>
              <a:t>为什么要做？</a:t>
            </a:r>
            <a:br>
              <a:rPr lang="en-US" altLang="zh-CN" sz="2400" dirty="0">
                <a:ea typeface="宋体" panose="02010600030101010101" pitchFamily="2" charset="-122"/>
              </a:rPr>
            </a:b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System capabilities</a:t>
            </a:r>
            <a:r>
              <a:rPr lang="zh-CN" altLang="en-US" sz="2400" dirty="0">
                <a:ea typeface="宋体" panose="02010600030101010101" pitchFamily="2" charset="-122"/>
              </a:rPr>
              <a:t>：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zh-CN" altLang="en-US" sz="2400" dirty="0">
                <a:ea typeface="宋体" panose="02010600030101010101" pitchFamily="2" charset="-122"/>
              </a:rPr>
              <a:t>做什么？</a:t>
            </a:r>
            <a:br>
              <a:rPr lang="en-US" altLang="zh-CN" sz="2400" dirty="0">
                <a:ea typeface="宋体" panose="02010600030101010101" pitchFamily="2" charset="-122"/>
              </a:rPr>
            </a:b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Business benefits</a:t>
            </a:r>
            <a:r>
              <a:rPr lang="zh-CN" altLang="en-US" sz="2400" dirty="0">
                <a:ea typeface="宋体" panose="02010600030101010101" pitchFamily="2" charset="-122"/>
              </a:rPr>
              <a:t>：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zh-CN" altLang="en-US" sz="2400" dirty="0">
                <a:ea typeface="宋体" panose="02010600030101010101" pitchFamily="2" charset="-122"/>
              </a:rPr>
              <a:t>能带来什么收益？</a:t>
            </a:r>
            <a:br>
              <a:rPr lang="en-US" altLang="zh-CN" sz="2400" dirty="0">
                <a:ea typeface="宋体" panose="02010600030101010101" pitchFamily="2" charset="-122"/>
              </a:rPr>
            </a:b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41988" name="Picture 10">
            <a:extLst>
              <a:ext uri="{FF2B5EF4-FFF2-40B4-BE49-F238E27FC236}">
                <a16:creationId xmlns:a16="http://schemas.microsoft.com/office/drawing/2014/main" id="{F4103424-F15A-4C11-A402-B308460D2B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14775" y="152400"/>
            <a:ext cx="4222750" cy="6172200"/>
          </a:xfrm>
          <a:noFill/>
        </p:spPr>
      </p:pic>
      <p:sp>
        <p:nvSpPr>
          <p:cNvPr id="41989" name="Footer Placeholder 4">
            <a:extLst>
              <a:ext uri="{FF2B5EF4-FFF2-40B4-BE49-F238E27FC236}">
                <a16:creationId xmlns:a16="http://schemas.microsoft.com/office/drawing/2014/main" id="{C575C30A-C1AD-47EA-B3A3-5693615F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1990" name="Rectangle 4">
            <a:extLst>
              <a:ext uri="{FF2B5EF4-FFF2-40B4-BE49-F238E27FC236}">
                <a16:creationId xmlns:a16="http://schemas.microsoft.com/office/drawing/2014/main" id="{DC548C0C-FEBC-45ED-84C1-498278F97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EC4FB6-07D4-46B9-AC8A-1A7C6FCC6625}"/>
              </a:ext>
            </a:extLst>
          </p:cNvPr>
          <p:cNvSpPr/>
          <p:nvPr/>
        </p:nvSpPr>
        <p:spPr>
          <a:xfrm>
            <a:off x="3976687" y="617220"/>
            <a:ext cx="1204913" cy="220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8076FE-AFE6-41F8-99DE-C30EF2B0695C}"/>
              </a:ext>
            </a:extLst>
          </p:cNvPr>
          <p:cNvSpPr/>
          <p:nvPr/>
        </p:nvSpPr>
        <p:spPr>
          <a:xfrm>
            <a:off x="3976687" y="2523173"/>
            <a:ext cx="1204913" cy="220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15AE4E-2BD9-47EE-A098-40CD54439045}"/>
              </a:ext>
            </a:extLst>
          </p:cNvPr>
          <p:cNvSpPr/>
          <p:nvPr/>
        </p:nvSpPr>
        <p:spPr>
          <a:xfrm>
            <a:off x="3976687" y="4164806"/>
            <a:ext cx="1204913" cy="220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7CB7E71D-F408-4305-95D6-A6666586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ADAB32-30C3-4805-90A4-083C7B57C40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C48FD21A-5ED8-482B-B205-8711A17AF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Problem Description </a:t>
            </a:r>
          </a:p>
        </p:txBody>
      </p:sp>
      <p:pic>
        <p:nvPicPr>
          <p:cNvPr id="43012" name="Picture 11">
            <a:extLst>
              <a:ext uri="{FF2B5EF4-FFF2-40B4-BE49-F238E27FC236}">
                <a16:creationId xmlns:a16="http://schemas.microsoft.com/office/drawing/2014/main" id="{42A7FDC1-85D4-4D68-9935-53971A8D53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763713"/>
            <a:ext cx="8382000" cy="3613150"/>
          </a:xfrm>
          <a:noFill/>
        </p:spPr>
      </p:pic>
      <p:sp>
        <p:nvSpPr>
          <p:cNvPr id="43013" name="Footer Placeholder 4">
            <a:extLst>
              <a:ext uri="{FF2B5EF4-FFF2-40B4-BE49-F238E27FC236}">
                <a16:creationId xmlns:a16="http://schemas.microsoft.com/office/drawing/2014/main" id="{884B453F-4CA8-48F7-81DC-9694A96D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3014" name="Rectangle 4">
            <a:extLst>
              <a:ext uri="{FF2B5EF4-FFF2-40B4-BE49-F238E27FC236}">
                <a16:creationId xmlns:a16="http://schemas.microsoft.com/office/drawing/2014/main" id="{14B61831-F622-4651-9D47-0E7916C07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D9096F-47A2-4653-BFBA-79B3A7047977}"/>
              </a:ext>
            </a:extLst>
          </p:cNvPr>
          <p:cNvSpPr/>
          <p:nvPr/>
        </p:nvSpPr>
        <p:spPr>
          <a:xfrm>
            <a:off x="304800" y="4270057"/>
            <a:ext cx="8382000" cy="10334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75FB27-BD88-479B-B09B-14E1343DF4E4}"/>
              </a:ext>
            </a:extLst>
          </p:cNvPr>
          <p:cNvSpPr txBox="1"/>
          <p:nvPr/>
        </p:nvSpPr>
        <p:spPr>
          <a:xfrm>
            <a:off x="304800" y="5467900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为什么要做？</a:t>
            </a:r>
            <a:endParaRPr lang="en-US" altLang="zh-CN" dirty="0"/>
          </a:p>
          <a:p>
            <a:r>
              <a:rPr lang="zh-CN" altLang="en-US" dirty="0"/>
              <a:t>区域代理商能够更快速地与供应商和感兴趣的产品进行沟通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FFAF7E15-5FA4-4A39-B179-F0F97FCF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3027D33-2698-44EA-923F-7DA5CF21A82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0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F521431-8F21-441C-AE8B-68423BFE6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System Capabilities</a:t>
            </a:r>
          </a:p>
        </p:txBody>
      </p:sp>
      <p:pic>
        <p:nvPicPr>
          <p:cNvPr id="44036" name="Picture 8">
            <a:extLst>
              <a:ext uri="{FF2B5EF4-FFF2-40B4-BE49-F238E27FC236}">
                <a16:creationId xmlns:a16="http://schemas.microsoft.com/office/drawing/2014/main" id="{46297250-37EE-4D69-8F69-8BF49E3465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828800"/>
            <a:ext cx="8991600" cy="3381375"/>
          </a:xfrm>
          <a:noFill/>
        </p:spPr>
      </p:pic>
      <p:sp>
        <p:nvSpPr>
          <p:cNvPr id="44037" name="Footer Placeholder 4">
            <a:extLst>
              <a:ext uri="{FF2B5EF4-FFF2-40B4-BE49-F238E27FC236}">
                <a16:creationId xmlns:a16="http://schemas.microsoft.com/office/drawing/2014/main" id="{B72967ED-0176-4319-9F92-48CFB0F2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4038" name="Rectangle 4">
            <a:extLst>
              <a:ext uri="{FF2B5EF4-FFF2-40B4-BE49-F238E27FC236}">
                <a16:creationId xmlns:a16="http://schemas.microsoft.com/office/drawing/2014/main" id="{6BECF54B-78D1-4BC3-8EEA-263C3A659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FCD252-3020-4985-8893-FFC08597A1E0}"/>
              </a:ext>
            </a:extLst>
          </p:cNvPr>
          <p:cNvSpPr txBox="1"/>
          <p:nvPr/>
        </p:nvSpPr>
        <p:spPr>
          <a:xfrm>
            <a:off x="304800" y="5467900"/>
            <a:ext cx="6878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做什么？</a:t>
            </a:r>
            <a:endParaRPr lang="en-US" altLang="zh-CN" dirty="0"/>
          </a:p>
          <a:p>
            <a:r>
              <a:rPr lang="zh-CN" altLang="en-US" dirty="0"/>
              <a:t>收集和记录信息（供应商关键信息，产品信息），通过平台来沟通</a:t>
            </a: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9C5CE131-B995-4515-8207-062FA105D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45FDFE0-6C29-4347-B40C-BC644BF6941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0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B53999A3-C14F-400D-A651-F5DCA963A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Business Benefits</a:t>
            </a:r>
          </a:p>
        </p:txBody>
      </p:sp>
      <p:pic>
        <p:nvPicPr>
          <p:cNvPr id="45060" name="Picture 7">
            <a:extLst>
              <a:ext uri="{FF2B5EF4-FFF2-40B4-BE49-F238E27FC236}">
                <a16:creationId xmlns:a16="http://schemas.microsoft.com/office/drawing/2014/main" id="{39C76FB2-CC7E-4EBA-B991-202EAC6463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752600"/>
            <a:ext cx="8763000" cy="3717925"/>
          </a:xfrm>
          <a:noFill/>
        </p:spPr>
      </p:pic>
      <p:sp>
        <p:nvSpPr>
          <p:cNvPr id="45061" name="Footer Placeholder 4">
            <a:extLst>
              <a:ext uri="{FF2B5EF4-FFF2-40B4-BE49-F238E27FC236}">
                <a16:creationId xmlns:a16="http://schemas.microsoft.com/office/drawing/2014/main" id="{98FF62F3-ED98-41D7-9036-9E2A3A7B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5062" name="Rectangle 4">
            <a:extLst>
              <a:ext uri="{FF2B5EF4-FFF2-40B4-BE49-F238E27FC236}">
                <a16:creationId xmlns:a16="http://schemas.microsoft.com/office/drawing/2014/main" id="{3272DC2E-6CAD-4ACA-8A59-D7842D3A1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1CF35D-E2F1-463E-81C7-15251F08E023}"/>
              </a:ext>
            </a:extLst>
          </p:cNvPr>
          <p:cNvSpPr txBox="1"/>
          <p:nvPr/>
        </p:nvSpPr>
        <p:spPr>
          <a:xfrm>
            <a:off x="228600" y="560206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能带来什么收益？</a:t>
            </a:r>
            <a:endParaRPr lang="en-US" altLang="zh-CN" dirty="0"/>
          </a:p>
          <a:p>
            <a:r>
              <a:rPr lang="zh-CN" altLang="en-US" dirty="0"/>
              <a:t>维护客户关系，更好地管理订单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>
            <a:extLst>
              <a:ext uri="{FF2B5EF4-FFF2-40B4-BE49-F238E27FC236}">
                <a16:creationId xmlns:a16="http://schemas.microsoft.com/office/drawing/2014/main" id="{BB134E3A-A097-4903-9F73-5EF71C62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Systems Analysis and Design in a Changing World, 6th Edition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2B17DC89-E0FA-4747-9DDF-3A6D8247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919CC74-F857-47AF-8505-782C4E358A5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000"/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031FE67D-46F2-4420-A18D-2BC513621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Ridgeline Mountain Outfitters (RMO) </a:t>
            </a:r>
          </a:p>
        </p:txBody>
      </p:sp>
      <p:pic>
        <p:nvPicPr>
          <p:cNvPr id="37893" name="Picture 7">
            <a:extLst>
              <a:ext uri="{FF2B5EF4-FFF2-40B4-BE49-F238E27FC236}">
                <a16:creationId xmlns:a16="http://schemas.microsoft.com/office/drawing/2014/main" id="{FFB79ECB-2114-4374-8751-10AC4139F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1875" y="1417638"/>
            <a:ext cx="3429000" cy="2154475"/>
          </a:xfrm>
          <a:noFill/>
        </p:spPr>
      </p:pic>
      <p:sp>
        <p:nvSpPr>
          <p:cNvPr id="37894" name="Rectangle 4">
            <a:extLst>
              <a:ext uri="{FF2B5EF4-FFF2-40B4-BE49-F238E27FC236}">
                <a16:creationId xmlns:a16="http://schemas.microsoft.com/office/drawing/2014/main" id="{9E306A13-1E2E-4B41-8C61-7D925B8A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F47E13A4-EBE0-4A28-9117-AF839F5EF162}"/>
              </a:ext>
            </a:extLst>
          </p:cNvPr>
          <p:cNvSpPr txBox="1">
            <a:spLocks/>
          </p:cNvSpPr>
          <p:nvPr/>
        </p:nvSpPr>
        <p:spPr bwMode="auto">
          <a:xfrm>
            <a:off x="609600" y="1698851"/>
            <a:ext cx="4114800" cy="133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zh-CN" altLang="en-US" kern="0" dirty="0"/>
              <a:t>“</a:t>
            </a:r>
            <a:r>
              <a:rPr lang="en-US" altLang="zh-CN" kern="0" dirty="0"/>
              <a:t>RMO</a:t>
            </a:r>
            <a:r>
              <a:rPr lang="zh-CN" altLang="en-US" kern="0" dirty="0"/>
              <a:t>贸易展览系统”立项了！</a:t>
            </a:r>
            <a:endParaRPr lang="en-US" altLang="zh-CN" kern="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3349AD-ED78-4839-A63C-41E770361847}"/>
              </a:ext>
            </a:extLst>
          </p:cNvPr>
          <p:cNvSpPr txBox="1"/>
          <p:nvPr/>
        </p:nvSpPr>
        <p:spPr>
          <a:xfrm>
            <a:off x="228600" y="3645700"/>
            <a:ext cx="7585075" cy="1717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2150" lvl="1" indent="-3476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+mn-lt"/>
                <a:cs typeface="+mn-cs"/>
              </a:rPr>
              <a:t>开启第</a:t>
            </a:r>
            <a:r>
              <a:rPr lang="en-US" altLang="zh-CN" sz="2400" kern="0" dirty="0">
                <a:latin typeface="+mn-lt"/>
                <a:cs typeface="+mn-cs"/>
              </a:rPr>
              <a:t>1</a:t>
            </a:r>
            <a:r>
              <a:rPr lang="zh-CN" altLang="en-US" sz="2400" kern="0" dirty="0">
                <a:latin typeface="+mn-lt"/>
                <a:cs typeface="+mn-cs"/>
              </a:rPr>
              <a:t>个迭代：</a:t>
            </a:r>
            <a:endParaRPr lang="en-US" altLang="zh-CN" sz="2400" kern="0" dirty="0">
              <a:latin typeface="+mn-lt"/>
              <a:cs typeface="+mn-cs"/>
            </a:endParaRPr>
          </a:p>
          <a:p>
            <a:pPr marL="1149350" lvl="2" indent="-3476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kern="0" dirty="0">
                <a:latin typeface="+mn-lt"/>
                <a:cs typeface="+mn-cs"/>
              </a:rPr>
              <a:t>我们计划用</a:t>
            </a:r>
            <a:r>
              <a:rPr lang="en-US" altLang="zh-CN" sz="2400" kern="0" dirty="0">
                <a:latin typeface="+mn-lt"/>
                <a:cs typeface="+mn-cs"/>
              </a:rPr>
              <a:t>6</a:t>
            </a:r>
            <a:r>
              <a:rPr lang="zh-CN" altLang="en-US" sz="2400" kern="0" dirty="0">
                <a:latin typeface="+mn-lt"/>
                <a:cs typeface="+mn-cs"/>
              </a:rPr>
              <a:t>天时间完成本次迭代，来展示</a:t>
            </a:r>
            <a:r>
              <a:rPr lang="en-US" altLang="zh-CN" sz="2400" kern="0" dirty="0">
                <a:latin typeface="+mn-lt"/>
                <a:cs typeface="+mn-cs"/>
              </a:rPr>
              <a:t>SDLC</a:t>
            </a:r>
            <a:r>
              <a:rPr lang="zh-CN" altLang="en-US" sz="2400" kern="0" dirty="0">
                <a:latin typeface="+mn-lt"/>
                <a:cs typeface="+mn-cs"/>
              </a:rPr>
              <a:t>的所有核心过程</a:t>
            </a:r>
            <a:endParaRPr lang="en-US" altLang="zh-CN" sz="2400" kern="0" dirty="0">
              <a:latin typeface="+mn-lt"/>
              <a:cs typeface="+mn-cs"/>
            </a:endParaRPr>
          </a:p>
          <a:p>
            <a:pPr marL="692150" lvl="1" indent="-3476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</a:pPr>
            <a:endParaRPr lang="en-US" altLang="zh-CN" sz="2400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200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0787389F-DE62-485B-BABB-562CE336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EA5BBCC-6870-4FBF-AD6F-917285E0C0E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0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F278FEC-913F-4C3A-A4FA-E50B0CE3E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1 Activities 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982B3BF-8266-4AE3-AB36-6D82E87F4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Core Process 2: Plan the Project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（计划项目）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Determine the major components (functional areas) that are needed</a:t>
            </a:r>
            <a:r>
              <a:rPr lang="zh-CN" altLang="en-US" sz="2400" dirty="0">
                <a:ea typeface="宋体" panose="02010600030101010101" pitchFamily="2" charset="-122"/>
              </a:rPr>
              <a:t>（确定主要组件）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Supplier information subsystem</a:t>
            </a:r>
            <a:r>
              <a:rPr lang="zh-CN" altLang="en-US" sz="2000" dirty="0">
                <a:ea typeface="宋体" panose="02010600030101010101" pitchFamily="2" charset="-122"/>
              </a:rPr>
              <a:t>（供应商信息子系统）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Product information subsystem</a:t>
            </a:r>
            <a:r>
              <a:rPr lang="zh-CN" altLang="en-US" sz="2000" dirty="0">
                <a:ea typeface="宋体" panose="02010600030101010101" pitchFamily="2" charset="-122"/>
              </a:rPr>
              <a:t>（产品信息子系统）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Define the iterations and assign each function to an iteration</a:t>
            </a:r>
            <a:r>
              <a:rPr lang="zh-CN" altLang="en-US" sz="2400" dirty="0">
                <a:ea typeface="宋体" panose="02010600030101010101" pitchFamily="2" charset="-122"/>
              </a:rPr>
              <a:t>（将每个功能分配给每个迭代）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Decide to do Supplier subsystem first</a:t>
            </a:r>
            <a:r>
              <a:rPr lang="zh-CN" altLang="en-US" sz="2000" dirty="0">
                <a:ea typeface="宋体" panose="02010600030101010101" pitchFamily="2" charset="-122"/>
              </a:rPr>
              <a:t>（先做供应商子系统）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Plan one iteration as it is small and straight forward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Determine team members and responsibilities</a:t>
            </a:r>
            <a:r>
              <a:rPr lang="zh-CN" altLang="en-US" sz="2400" dirty="0">
                <a:ea typeface="宋体" panose="02010600030101010101" pitchFamily="2" charset="-122"/>
              </a:rPr>
              <a:t>（确定团队成员和职责）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46085" name="Footer Placeholder 4">
            <a:extLst>
              <a:ext uri="{FF2B5EF4-FFF2-40B4-BE49-F238E27FC236}">
                <a16:creationId xmlns:a16="http://schemas.microsoft.com/office/drawing/2014/main" id="{FED0C599-9DE1-4677-8347-D75BF7F5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6086" name="Rectangle 4">
            <a:extLst>
              <a:ext uri="{FF2B5EF4-FFF2-40B4-BE49-F238E27FC236}">
                <a16:creationId xmlns:a16="http://schemas.microsoft.com/office/drawing/2014/main" id="{C2ED0141-7603-4BD3-8420-F12E91399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>
            <a:extLst>
              <a:ext uri="{FF2B5EF4-FFF2-40B4-BE49-F238E27FC236}">
                <a16:creationId xmlns:a16="http://schemas.microsoft.com/office/drawing/2014/main" id="{32E97C49-F90D-4B39-85E0-584DAA66B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F8B77D7-2150-4D71-AA00-2EE5F054EDF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0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829557-E4C1-48AE-8F0C-8384CBBEF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574" y="2057400"/>
            <a:ext cx="3276600" cy="35814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Work Breakdown Structure for Iteration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（工作分解结构，基于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SDLC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后四个核心过程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1. </a:t>
            </a:r>
            <a:r>
              <a:rPr lang="zh-CN" altLang="en-US" sz="2000" dirty="0">
                <a:ea typeface="宋体" panose="02010600030101010101" pitchFamily="2" charset="-122"/>
              </a:rPr>
              <a:t>发现并理解问题各个方面的细节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ea typeface="宋体" panose="02010600030101010101" pitchFamily="2" charset="-122"/>
              </a:rPr>
              <a:t>设计问题解决方案的组成部分（界面，数据库，结构等）</a:t>
            </a:r>
            <a:br>
              <a:rPr lang="zh-CN" altLang="en-US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3. </a:t>
            </a:r>
            <a:r>
              <a:rPr lang="zh-CN" altLang="en-US" sz="2000" dirty="0">
                <a:ea typeface="宋体" panose="02010600030101010101" pitchFamily="2" charset="-122"/>
              </a:rPr>
              <a:t>代码实现各个组件</a:t>
            </a:r>
            <a:br>
              <a:rPr lang="zh-CN" altLang="en-US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4. </a:t>
            </a:r>
            <a:r>
              <a:rPr lang="zh-CN" altLang="en-US" sz="2000" dirty="0">
                <a:ea typeface="宋体" panose="02010600030101010101" pitchFamily="2" charset="-122"/>
              </a:rPr>
              <a:t>进行系统级测试和部署</a:t>
            </a:r>
            <a:br>
              <a:rPr lang="zh-CN" altLang="en-US" sz="2000" dirty="0">
                <a:ea typeface="宋体" panose="02010600030101010101" pitchFamily="2" charset="-122"/>
              </a:rPr>
            </a:b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47108" name="Picture 8">
            <a:extLst>
              <a:ext uri="{FF2B5EF4-FFF2-40B4-BE49-F238E27FC236}">
                <a16:creationId xmlns:a16="http://schemas.microsoft.com/office/drawing/2014/main" id="{8609D33B-7CA6-4B6A-9B4A-019A803B14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3917" y="338931"/>
            <a:ext cx="5791200" cy="5468938"/>
          </a:xfrm>
          <a:noFill/>
        </p:spPr>
      </p:pic>
      <p:sp>
        <p:nvSpPr>
          <p:cNvPr id="47109" name="Footer Placeholder 4">
            <a:extLst>
              <a:ext uri="{FF2B5EF4-FFF2-40B4-BE49-F238E27FC236}">
                <a16:creationId xmlns:a16="http://schemas.microsoft.com/office/drawing/2014/main" id="{D59857F1-C663-4AA8-A52D-6AFC386D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7110" name="Rectangle 4">
            <a:extLst>
              <a:ext uri="{FF2B5EF4-FFF2-40B4-BE49-F238E27FC236}">
                <a16:creationId xmlns:a16="http://schemas.microsoft.com/office/drawing/2014/main" id="{5D771CE8-AF85-432D-8B8C-8F342732A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C2EF5906-8685-41A0-BD7A-9EFFCE91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FD66B8-249C-4733-A017-6B8B26A185A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0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04506F6-1B24-4406-BFA7-2838D3333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828800"/>
            <a:ext cx="2590800" cy="35814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Work Sequence Draft for Iteration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（工作顺序草案）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2800" dirty="0">
                <a:ea typeface="宋体" panose="02010600030101010101" pitchFamily="2" charset="-122"/>
              </a:rPr>
            </a:br>
            <a:br>
              <a:rPr lang="en-US" altLang="zh-CN" sz="2800" dirty="0">
                <a:ea typeface="宋体" panose="02010600030101010101" pitchFamily="2" charset="-122"/>
              </a:rPr>
            </a:b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Elaborates on Work Breakdown Structure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zh-CN" altLang="en-US" sz="2000" dirty="0">
                <a:ea typeface="宋体" panose="02010600030101010101" pitchFamily="2" charset="-122"/>
              </a:rPr>
              <a:t>（详细阐述工作分解结构）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pic>
        <p:nvPicPr>
          <p:cNvPr id="48132" name="Picture 7">
            <a:extLst>
              <a:ext uri="{FF2B5EF4-FFF2-40B4-BE49-F238E27FC236}">
                <a16:creationId xmlns:a16="http://schemas.microsoft.com/office/drawing/2014/main" id="{3F2B0998-FA15-4DBC-AF6E-5377BF8FC9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0"/>
            <a:ext cx="4748213" cy="6248400"/>
          </a:xfrm>
          <a:noFill/>
        </p:spPr>
      </p:pic>
      <p:sp>
        <p:nvSpPr>
          <p:cNvPr id="48133" name="Footer Placeholder 4">
            <a:extLst>
              <a:ext uri="{FF2B5EF4-FFF2-40B4-BE49-F238E27FC236}">
                <a16:creationId xmlns:a16="http://schemas.microsoft.com/office/drawing/2014/main" id="{38B1778B-47CB-4294-B682-3D39FD25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8134" name="Rectangle 4">
            <a:extLst>
              <a:ext uri="{FF2B5EF4-FFF2-40B4-BE49-F238E27FC236}">
                <a16:creationId xmlns:a16="http://schemas.microsoft.com/office/drawing/2014/main" id="{63BCBBE4-7D60-4C48-99B9-4B198D141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>
            <a:extLst>
              <a:ext uri="{FF2B5EF4-FFF2-40B4-BE49-F238E27FC236}">
                <a16:creationId xmlns:a16="http://schemas.microsoft.com/office/drawing/2014/main" id="{C2EF5906-8685-41A0-BD7A-9EFFCE91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FD66B8-249C-4733-A017-6B8B26A185A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0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04506F6-1B24-4406-BFA7-2838D3333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086600" cy="1143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Work Sequence Draft for Iteration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（工作顺序草案）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8133" name="Footer Placeholder 4">
            <a:extLst>
              <a:ext uri="{FF2B5EF4-FFF2-40B4-BE49-F238E27FC236}">
                <a16:creationId xmlns:a16="http://schemas.microsoft.com/office/drawing/2014/main" id="{38B1778B-47CB-4294-B682-3D39FD25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8134" name="Rectangle 4">
            <a:extLst>
              <a:ext uri="{FF2B5EF4-FFF2-40B4-BE49-F238E27FC236}">
                <a16:creationId xmlns:a16="http://schemas.microsoft.com/office/drawing/2014/main" id="{63BCBBE4-7D60-4C48-99B9-4B198D141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5944E993-F273-4C16-AF84-6EF5E022FBAD}"/>
              </a:ext>
            </a:extLst>
          </p:cNvPr>
          <p:cNvSpPr txBox="1">
            <a:spLocks/>
          </p:cNvSpPr>
          <p:nvPr/>
        </p:nvSpPr>
        <p:spPr bwMode="auto">
          <a:xfrm>
            <a:off x="533400" y="1829118"/>
            <a:ext cx="79248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cs typeface="+mn-cs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zh-CN" altLang="en-US" kern="0" dirty="0"/>
              <a:t>三重优点：</a:t>
            </a:r>
            <a:endParaRPr lang="en-US" altLang="zh-CN" kern="0" dirty="0"/>
          </a:p>
          <a:p>
            <a:pPr lvl="1"/>
            <a:r>
              <a:rPr lang="zh-CN" altLang="en-US" sz="2400" kern="0" dirty="0"/>
              <a:t>它帮助团队组织工作，在编程开始之前就有足够的时间来</a:t>
            </a:r>
            <a:r>
              <a:rPr lang="zh-CN" altLang="en-US" sz="2400" kern="0" dirty="0">
                <a:solidFill>
                  <a:srgbClr val="C00000"/>
                </a:solidFill>
              </a:rPr>
              <a:t>考虑如何设计。</a:t>
            </a:r>
            <a:endParaRPr lang="en-US" altLang="zh-CN" sz="2400" kern="0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kern="0" dirty="0"/>
              <a:t>它提供了一个衡量标准来看这个迭代</a:t>
            </a:r>
            <a:r>
              <a:rPr lang="zh-CN" altLang="en-US" sz="2400" kern="0" dirty="0">
                <a:solidFill>
                  <a:srgbClr val="C00000"/>
                </a:solidFill>
              </a:rPr>
              <a:t>是否符合日程要求。</a:t>
            </a:r>
            <a:endParaRPr lang="en-US" altLang="zh-CN" sz="2400" kern="0" dirty="0"/>
          </a:p>
          <a:p>
            <a:pPr lvl="1"/>
            <a:r>
              <a:rPr lang="zh-CN" altLang="en-US" sz="2400" kern="0" dirty="0"/>
              <a:t>如果项目可能会延误，那么项目的领导者能够</a:t>
            </a:r>
            <a:r>
              <a:rPr lang="zh-CN" altLang="en-US" sz="2400" kern="0" dirty="0">
                <a:solidFill>
                  <a:srgbClr val="C00000"/>
                </a:solidFill>
              </a:rPr>
              <a:t>提早开始组织资源</a:t>
            </a:r>
            <a:r>
              <a:rPr lang="zh-CN" altLang="en-US" sz="2400" kern="0" dirty="0"/>
              <a:t>来帮助完成项目。</a:t>
            </a:r>
            <a:endParaRPr lang="en-US" altLang="zh-CN" sz="2400" kern="0" dirty="0"/>
          </a:p>
        </p:txBody>
      </p:sp>
    </p:spTree>
    <p:extLst>
      <p:ext uri="{BB962C8B-B14F-4D97-AF65-F5344CB8AC3E}">
        <p14:creationId xmlns:p14="http://schemas.microsoft.com/office/powerpoint/2010/main" val="3442515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31491ECD-8049-4727-95CD-E75C9E15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181563-51E1-4D9E-ACB0-484153F5860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0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586B2CC-81C7-43C2-8022-7A1D3482A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2 Activities 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05A646A-6308-4186-B53E-A577D4DCA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（发现和理解细节）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 preliminary fact-finding to understand requirements</a:t>
            </a:r>
            <a:r>
              <a:rPr lang="zh-CN" altLang="en-US" dirty="0">
                <a:ea typeface="宋体" panose="02010600030101010101" pitchFamily="2" charset="-122"/>
              </a:rPr>
              <a:t>（了解需求）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Develop a preliminary list of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use cases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（用例）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 a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use case diagram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（用例图）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Develop a preliminary list of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classes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（类）</a:t>
            </a:r>
            <a:r>
              <a:rPr lang="en-US" altLang="zh-CN" dirty="0">
                <a:ea typeface="宋体" panose="02010600030101010101" pitchFamily="2" charset="-122"/>
              </a:rPr>
              <a:t> and a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class diagram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（类图）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4E7A0B1A-C156-400B-8D78-967ED322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C8A3F69E-BB78-4993-8B7C-7ACA57C4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31491ECD-8049-4727-95CD-E75C9E15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181563-51E1-4D9E-ACB0-484153F5860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0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586B2CC-81C7-43C2-8022-7A1D3482A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2 Activities 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05A646A-6308-4186-B53E-A577D4DCA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（发现和理解细节）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 preliminary fact-finding to understand requirements</a:t>
            </a:r>
            <a:r>
              <a:rPr lang="zh-CN" altLang="en-US" dirty="0">
                <a:ea typeface="宋体" panose="02010600030101010101" pitchFamily="2" charset="-122"/>
              </a:rPr>
              <a:t>（了解需求）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采访核心用户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观察工作过程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回顾现存的文件和系统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调查其他公司和其他系统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4E7A0B1A-C156-400B-8D78-967ED322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C8A3F69E-BB78-4993-8B7C-7ACA57C4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221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31491ECD-8049-4727-95CD-E75C9E15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181563-51E1-4D9E-ACB0-484153F5860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0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586B2CC-81C7-43C2-8022-7A1D3482A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2 Activities 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05A646A-6308-4186-B53E-A577D4DCA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Do preliminary fact-finding to understand requirements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Develop a preliminary list of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use cases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（用例）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and a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use case diagram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（用例图）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用例记录了一个简单的用户触发商业</a:t>
            </a:r>
            <a:r>
              <a:rPr lang="zh-CN" altLang="en-US" u="sng" dirty="0">
                <a:ea typeface="宋体" panose="02010600030101010101" pitchFamily="2" charset="-122"/>
              </a:rPr>
              <a:t>活动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zh-CN" altLang="en-US" u="sng" dirty="0">
                <a:ea typeface="宋体" panose="02010600030101010101" pitchFamily="2" charset="-122"/>
              </a:rPr>
              <a:t>系统对这个活动的回应</a:t>
            </a:r>
            <a:endParaRPr lang="en-US" altLang="zh-CN" u="sng" dirty="0">
              <a:ea typeface="宋体" panose="02010600030101010101" pitchFamily="2" charset="-122"/>
            </a:endParaRP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4E7A0B1A-C156-400B-8D78-967ED322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C8A3F69E-BB78-4993-8B7C-7ACA57C4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915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0849B625-B123-4CD3-8D64-797F7DA5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82C789-A4AA-4A91-A08F-7063A054D44C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0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EE620431-D058-4927-A69A-3865652B4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Identify Use Cases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Both subsystems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50180" name="Picture 7">
            <a:extLst>
              <a:ext uri="{FF2B5EF4-FFF2-40B4-BE49-F238E27FC236}">
                <a16:creationId xmlns:a16="http://schemas.microsoft.com/office/drawing/2014/main" id="{39FBF243-2710-4294-8A8E-21D92F970B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439863"/>
            <a:ext cx="7772400" cy="4691062"/>
          </a:xfrm>
          <a:noFill/>
        </p:spPr>
      </p:pic>
      <p:sp>
        <p:nvSpPr>
          <p:cNvPr id="50181" name="Footer Placeholder 4">
            <a:extLst>
              <a:ext uri="{FF2B5EF4-FFF2-40B4-BE49-F238E27FC236}">
                <a16:creationId xmlns:a16="http://schemas.microsoft.com/office/drawing/2014/main" id="{A3C9ACAF-C811-47DC-85CF-CCB8440F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id="{C2AC70F4-42A0-48E6-9E36-53A5C221D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C52475E-A3BF-4798-9686-D37C69FB2ACB}"/>
              </a:ext>
            </a:extLst>
          </p:cNvPr>
          <p:cNvCxnSpPr/>
          <p:nvPr/>
        </p:nvCxnSpPr>
        <p:spPr>
          <a:xfrm>
            <a:off x="914400" y="22860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4D977BB-13D7-4ED6-8D32-CEF42EDA3667}"/>
              </a:ext>
            </a:extLst>
          </p:cNvPr>
          <p:cNvCxnSpPr>
            <a:cxnSpLocks/>
          </p:cNvCxnSpPr>
          <p:nvPr/>
        </p:nvCxnSpPr>
        <p:spPr>
          <a:xfrm>
            <a:off x="914400" y="2895600"/>
            <a:ext cx="1143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6613BB1-BB36-4985-BF75-CB21CDE18669}"/>
              </a:ext>
            </a:extLst>
          </p:cNvPr>
          <p:cNvCxnSpPr/>
          <p:nvPr/>
        </p:nvCxnSpPr>
        <p:spPr>
          <a:xfrm>
            <a:off x="914400" y="35814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2D1FF68-CEBE-42F8-9E1B-AB09F603E953}"/>
              </a:ext>
            </a:extLst>
          </p:cNvPr>
          <p:cNvCxnSpPr>
            <a:cxnSpLocks/>
          </p:cNvCxnSpPr>
          <p:nvPr/>
        </p:nvCxnSpPr>
        <p:spPr>
          <a:xfrm>
            <a:off x="914400" y="3962400"/>
            <a:ext cx="1143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C52475E-A3BF-4798-9686-D37C69FB2ACB}"/>
              </a:ext>
            </a:extLst>
          </p:cNvPr>
          <p:cNvCxnSpPr/>
          <p:nvPr/>
        </p:nvCxnSpPr>
        <p:spPr>
          <a:xfrm>
            <a:off x="914400" y="4648200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C52475E-A3BF-4798-9686-D37C69FB2ACB}"/>
              </a:ext>
            </a:extLst>
          </p:cNvPr>
          <p:cNvCxnSpPr>
            <a:cxnSpLocks/>
          </p:cNvCxnSpPr>
          <p:nvPr/>
        </p:nvCxnSpPr>
        <p:spPr>
          <a:xfrm>
            <a:off x="914400" y="6019800"/>
            <a:ext cx="609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0D1A156-C866-4DB6-858B-C87E01EFF213}"/>
              </a:ext>
            </a:extLst>
          </p:cNvPr>
          <p:cNvCxnSpPr>
            <a:cxnSpLocks/>
          </p:cNvCxnSpPr>
          <p:nvPr/>
        </p:nvCxnSpPr>
        <p:spPr>
          <a:xfrm>
            <a:off x="899160" y="5334000"/>
            <a:ext cx="1143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CEC4A5F7-BB3F-45DE-9BA5-129FD2B27A6D}"/>
              </a:ext>
            </a:extLst>
          </p:cNvPr>
          <p:cNvSpPr/>
          <p:nvPr/>
        </p:nvSpPr>
        <p:spPr>
          <a:xfrm>
            <a:off x="1981200" y="1348958"/>
            <a:ext cx="1447800" cy="582612"/>
          </a:xfrm>
          <a:prstGeom prst="wedgeRoundRectCallout">
            <a:avLst>
              <a:gd name="adj1" fmla="val -66817"/>
              <a:gd name="adj2" fmla="val 71851"/>
              <a:gd name="adj3" fmla="val 16667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动词短语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31491ECD-8049-4727-95CD-E75C9E15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181563-51E1-4D9E-ACB0-484153F5860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0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586B2CC-81C7-43C2-8022-7A1D3482A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2 Activities 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05A646A-6308-4186-B53E-A577D4DCA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Do preliminary fact-finding to understand requirements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Develop a preliminary list of use cases and a use case diagram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Develop a preliminary list of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classes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（类）</a:t>
            </a:r>
            <a:r>
              <a:rPr lang="en-US" altLang="zh-CN" dirty="0">
                <a:ea typeface="宋体" panose="02010600030101010101" pitchFamily="2" charset="-122"/>
              </a:rPr>
              <a:t> and a 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class diagram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（类图）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zh-CN" altLang="en-US" dirty="0">
                <a:ea typeface="宋体" panose="02010600030101010101" pitchFamily="2" charset="-122"/>
              </a:rPr>
              <a:t>寻找能描述事物类别的</a:t>
            </a:r>
            <a:r>
              <a:rPr lang="zh-CN" altLang="en-US" u="sng" dirty="0">
                <a:ea typeface="宋体" panose="02010600030101010101" pitchFamily="2" charset="-122"/>
              </a:rPr>
              <a:t>名词</a:t>
            </a:r>
            <a:endParaRPr lang="en-US" altLang="zh-CN" u="sng" dirty="0">
              <a:ea typeface="宋体" panose="02010600030101010101" pitchFamily="2" charset="-122"/>
            </a:endParaRP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4E7A0B1A-C156-400B-8D78-967ED322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49158" name="Rectangle 4">
            <a:extLst>
              <a:ext uri="{FF2B5EF4-FFF2-40B4-BE49-F238E27FC236}">
                <a16:creationId xmlns:a16="http://schemas.microsoft.com/office/drawing/2014/main" id="{C8A3F69E-BB78-4993-8B7C-7ACA57C47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909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D006AE44-43B4-41DD-91E5-A89426F4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BF628FA-40CB-47FA-883C-01A1E9EA663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0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D9DCB46-5245-4452-A852-49823028D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Identify Object Classes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Both subsystems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51204" name="Picture 10">
            <a:extLst>
              <a:ext uri="{FF2B5EF4-FFF2-40B4-BE49-F238E27FC236}">
                <a16:creationId xmlns:a16="http://schemas.microsoft.com/office/drawing/2014/main" id="{30061DD7-7667-4B44-9D74-770FB83E97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05000"/>
            <a:ext cx="8534400" cy="2908300"/>
          </a:xfrm>
          <a:noFill/>
        </p:spPr>
      </p:pic>
      <p:sp>
        <p:nvSpPr>
          <p:cNvPr id="51205" name="Footer Placeholder 4">
            <a:extLst>
              <a:ext uri="{FF2B5EF4-FFF2-40B4-BE49-F238E27FC236}">
                <a16:creationId xmlns:a16="http://schemas.microsoft.com/office/drawing/2014/main" id="{B59078BA-A4A1-4588-99B7-89111364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1206" name="Rectangle 4">
            <a:extLst>
              <a:ext uri="{FF2B5EF4-FFF2-40B4-BE49-F238E27FC236}">
                <a16:creationId xmlns:a16="http://schemas.microsoft.com/office/drawing/2014/main" id="{01D12161-635A-4850-8410-6BE3F21CC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9EC9B4A-2291-4381-ABE5-5EB89423D4CB}"/>
              </a:ext>
            </a:extLst>
          </p:cNvPr>
          <p:cNvSpPr/>
          <p:nvPr/>
        </p:nvSpPr>
        <p:spPr>
          <a:xfrm>
            <a:off x="1752600" y="2541589"/>
            <a:ext cx="914400" cy="582612"/>
          </a:xfrm>
          <a:prstGeom prst="wedgeRoundRectCallout">
            <a:avLst>
              <a:gd name="adj1" fmla="val -66817"/>
              <a:gd name="adj2" fmla="val 71851"/>
              <a:gd name="adj3" fmla="val 16667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名词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E59FC120-D5C3-4E23-9FDE-649A0162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C798E0-4C40-4481-A861-48E30B2BFF5C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0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1BEBEBB-2A41-41CA-AC5C-E86CD5205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Preliminary Class Diagram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Both subsystems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52228" name="Picture 7">
            <a:extLst>
              <a:ext uri="{FF2B5EF4-FFF2-40B4-BE49-F238E27FC236}">
                <a16:creationId xmlns:a16="http://schemas.microsoft.com/office/drawing/2014/main" id="{DFBA3BAA-5396-4BA7-B8A5-04EADB4B97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0441" y="2337000"/>
            <a:ext cx="6063117" cy="3886200"/>
          </a:xfrm>
          <a:noFill/>
        </p:spPr>
      </p:pic>
      <p:sp>
        <p:nvSpPr>
          <p:cNvPr id="52229" name="Footer Placeholder 4">
            <a:extLst>
              <a:ext uri="{FF2B5EF4-FFF2-40B4-BE49-F238E27FC236}">
                <a16:creationId xmlns:a16="http://schemas.microsoft.com/office/drawing/2014/main" id="{2AA4E09E-0701-42B6-9B0D-1BDD2240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C573D7E2-B426-440B-9F5B-37BFD8691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E326C1-5A2B-4D05-BBD5-F47E5A740736}"/>
              </a:ext>
            </a:extLst>
          </p:cNvPr>
          <p:cNvSpPr txBox="1"/>
          <p:nvPr/>
        </p:nvSpPr>
        <p:spPr>
          <a:xfrm>
            <a:off x="457199" y="1534069"/>
            <a:ext cx="7508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除了提供对象类列表外，分析员经常会绘制一个</a:t>
            </a:r>
            <a:r>
              <a:rPr lang="zh-CN" altLang="en-US" u="sng" dirty="0"/>
              <a:t>类、属性和它们与另外的类之间的关系图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C00000"/>
                </a:solidFill>
              </a:rPr>
              <a:t>类图：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AC7CC234-923D-49EE-82A4-F3A14132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B35659-97C5-43E1-95D3-A39E9569761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0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6F8A5CC-38EB-4056-84A7-5656FCED9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3 Activities 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17D6412-16E8-4ADA-AE64-52C12C74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（发现和理解细节）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 in-depth fact-finding to understand requirements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Understand and document the detailed workflow of each use case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4: Design System Components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（设计系统组件）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Define the user experience with screens and reports</a:t>
            </a:r>
            <a:r>
              <a:rPr lang="zh-CN" altLang="en-US" dirty="0">
                <a:ea typeface="宋体" panose="02010600030101010101" pitchFamily="2" charset="-122"/>
              </a:rPr>
              <a:t>（用屏幕展示和报告给用户直观体验）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3" name="Footer Placeholder 4">
            <a:extLst>
              <a:ext uri="{FF2B5EF4-FFF2-40B4-BE49-F238E27FC236}">
                <a16:creationId xmlns:a16="http://schemas.microsoft.com/office/drawing/2014/main" id="{B850AD56-BC71-49BC-A7FC-BE92375A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id="{8E25DD2B-0FBD-4C96-A9B7-05CB0537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AC7CC234-923D-49EE-82A4-F3A14132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B35659-97C5-43E1-95D3-A39E9569761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0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6F8A5CC-38EB-4056-84A7-5656FCED9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3 Activities 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17D6412-16E8-4ADA-AE64-52C12C74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3: Discover and Understand Details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 （发现和理解细节）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Do in-depth fact-finding to understand requirements</a:t>
            </a:r>
            <a:r>
              <a:rPr lang="zh-CN" altLang="en-US" dirty="0">
                <a:ea typeface="宋体" panose="02010600030101010101" pitchFamily="2" charset="-122"/>
              </a:rPr>
              <a:t>（事实调查）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Understand and document the detailed workflow of each use case</a:t>
            </a:r>
            <a:r>
              <a:rPr lang="zh-CN" altLang="en-US" dirty="0">
                <a:ea typeface="宋体" panose="02010600030101010101" pitchFamily="2" charset="-122"/>
              </a:rPr>
              <a:t>（了解用例工作流程）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Core Process 4: Design System Components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Define the user experience with screens and reports</a:t>
            </a:r>
          </a:p>
        </p:txBody>
      </p:sp>
      <p:sp>
        <p:nvSpPr>
          <p:cNvPr id="53253" name="Footer Placeholder 4">
            <a:extLst>
              <a:ext uri="{FF2B5EF4-FFF2-40B4-BE49-F238E27FC236}">
                <a16:creationId xmlns:a16="http://schemas.microsoft.com/office/drawing/2014/main" id="{B850AD56-BC71-49BC-A7FC-BE92375A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id="{8E25DD2B-0FBD-4C96-A9B7-05CB0537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7882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CAB6BD7E-478E-4977-BDB4-5AB0839C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942E7D-AACF-4CBC-9F49-F7E08C4693D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0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9F5C0EF-FE9F-43D3-B224-72E0C8A09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Details Focus on Supplier Information Subsystem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（供应商信息子系统细节）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07142EC-C24F-4647-BFB9-F3FE7306C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762" y="2086695"/>
            <a:ext cx="8229600" cy="4411662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Use cases:</a:t>
            </a: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Look up supplier</a:t>
            </a:r>
            <a:r>
              <a:rPr lang="zh-CN" altLang="en-US" sz="2800" dirty="0">
                <a:ea typeface="宋体" panose="02010600030101010101" pitchFamily="2" charset="-122"/>
              </a:rPr>
              <a:t>（查找供应商）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Enter/update supplier information</a:t>
            </a:r>
            <a:r>
              <a:rPr lang="zh-CN" altLang="en-US" sz="2800" dirty="0">
                <a:ea typeface="宋体" panose="02010600030101010101" pitchFamily="2" charset="-122"/>
              </a:rPr>
              <a:t>（输入</a:t>
            </a:r>
            <a:r>
              <a:rPr lang="en-US" altLang="zh-CN" sz="2800" dirty="0"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ea typeface="宋体" panose="02010600030101010101" pitchFamily="2" charset="-122"/>
              </a:rPr>
              <a:t>更新供应商信息）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Lookup contact information</a:t>
            </a:r>
            <a:r>
              <a:rPr lang="zh-CN" altLang="en-US" sz="2800" dirty="0">
                <a:ea typeface="宋体" panose="02010600030101010101" pitchFamily="2" charset="-122"/>
              </a:rPr>
              <a:t>（查找联系信息）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800" dirty="0">
                <a:ea typeface="宋体" panose="02010600030101010101" pitchFamily="2" charset="-122"/>
              </a:rPr>
              <a:t>Enter/update contract information</a:t>
            </a:r>
            <a:r>
              <a:rPr lang="zh-CN" altLang="en-US" sz="2800" dirty="0">
                <a:ea typeface="宋体" panose="02010600030101010101" pitchFamily="2" charset="-122"/>
              </a:rPr>
              <a:t>（输入</a:t>
            </a:r>
            <a:r>
              <a:rPr lang="en-US" altLang="zh-CN" sz="2800" dirty="0">
                <a:ea typeface="宋体" panose="02010600030101010101" pitchFamily="2" charset="-122"/>
              </a:rPr>
              <a:t>/</a:t>
            </a:r>
            <a:r>
              <a:rPr lang="zh-CN" altLang="en-US" sz="2800" dirty="0">
                <a:ea typeface="宋体" panose="02010600030101010101" pitchFamily="2" charset="-122"/>
              </a:rPr>
              <a:t>更新合同信息）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77" name="Footer Placeholder 4">
            <a:extLst>
              <a:ext uri="{FF2B5EF4-FFF2-40B4-BE49-F238E27FC236}">
                <a16:creationId xmlns:a16="http://schemas.microsoft.com/office/drawing/2014/main" id="{7C4F0E35-1873-43B4-9026-95CB48B2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4278" name="Rectangle 4">
            <a:extLst>
              <a:ext uri="{FF2B5EF4-FFF2-40B4-BE49-F238E27FC236}">
                <a16:creationId xmlns:a16="http://schemas.microsoft.com/office/drawing/2014/main" id="{E59EAEDE-1E74-46B8-BAC4-E26D42D07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78E11D48-48D8-4A77-A07F-C08A66D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5CC9B45-77AA-406A-A534-81DD5FF27AC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0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3F2CC211-BC5F-4AB7-B951-03EEFF449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Use Case Diagram</a:t>
            </a:r>
            <a:r>
              <a:rPr lang="zh-CN" altLang="en-US" dirty="0">
                <a:ea typeface="宋体" panose="02010600030101010101" pitchFamily="2" charset="-122"/>
              </a:rPr>
              <a:t>（用例图）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Supplier information subsystem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55300" name="Picture 7">
            <a:extLst>
              <a:ext uri="{FF2B5EF4-FFF2-40B4-BE49-F238E27FC236}">
                <a16:creationId xmlns:a16="http://schemas.microsoft.com/office/drawing/2014/main" id="{6BBE324B-AF65-4813-A65A-F8E95CBCDB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568450"/>
            <a:ext cx="6477000" cy="4595813"/>
          </a:xfrm>
          <a:noFill/>
        </p:spPr>
      </p:pic>
      <p:sp>
        <p:nvSpPr>
          <p:cNvPr id="55301" name="Footer Placeholder 4">
            <a:extLst>
              <a:ext uri="{FF2B5EF4-FFF2-40B4-BE49-F238E27FC236}">
                <a16:creationId xmlns:a16="http://schemas.microsoft.com/office/drawing/2014/main" id="{7F347AE9-35C1-41B2-8308-BADE37C5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5302" name="Rectangle 4">
            <a:extLst>
              <a:ext uri="{FF2B5EF4-FFF2-40B4-BE49-F238E27FC236}">
                <a16:creationId xmlns:a16="http://schemas.microsoft.com/office/drawing/2014/main" id="{8E861089-F347-41FE-AAF1-A40162D3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1411D9AF-81DF-4822-96A3-782E2D77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3B019E2-0448-43F4-BE0A-9F7D8BDFA530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0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536E306-353D-41D9-9CA1-59EFEFC53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1181100"/>
            <a:ext cx="2438400" cy="44958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Activity Diagram </a:t>
            </a:r>
            <a:r>
              <a:rPr lang="en-US" altLang="zh-CN" sz="2800" dirty="0">
                <a:ea typeface="宋体" panose="02010600030101010101" pitchFamily="2" charset="-122"/>
              </a:rPr>
              <a:t>(Workflow)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zh-CN" altLang="en-US" sz="1800" dirty="0">
                <a:ea typeface="宋体" panose="02010600030101010101" pitchFamily="2" charset="-122"/>
              </a:rPr>
              <a:t>开发工作流图：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zh-CN" altLang="en-US" sz="1800" dirty="0">
                <a:ea typeface="宋体" panose="02010600030101010101" pitchFamily="2" charset="-122"/>
              </a:rPr>
              <a:t>记录一个用例的细节</a:t>
            </a:r>
            <a:br>
              <a:rPr lang="en-US" altLang="zh-CN" sz="1800" dirty="0">
                <a:ea typeface="宋体" panose="02010600030101010101" pitchFamily="2" charset="-122"/>
              </a:rPr>
            </a:b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Look up supplier use case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1. </a:t>
            </a:r>
            <a:r>
              <a:rPr lang="zh-CN" altLang="en-US" sz="2000" dirty="0">
                <a:ea typeface="宋体" panose="02010600030101010101" pitchFamily="2" charset="-122"/>
              </a:rPr>
              <a:t>椭圆代表任务，菱形代表决策点</a:t>
            </a: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2. </a:t>
            </a:r>
            <a:r>
              <a:rPr lang="zh-CN" altLang="en-US" sz="2000" dirty="0">
                <a:ea typeface="宋体" panose="02010600030101010101" pitchFamily="2" charset="-122"/>
              </a:rPr>
              <a:t>穿越中心线的箭头代表了系统和用户之间的相互作用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56324" name="Picture 5">
            <a:extLst>
              <a:ext uri="{FF2B5EF4-FFF2-40B4-BE49-F238E27FC236}">
                <a16:creationId xmlns:a16="http://schemas.microsoft.com/office/drawing/2014/main" id="{D8744D53-34BE-4909-BFF7-BEDBB5D056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0400" y="228600"/>
            <a:ext cx="5219700" cy="6019800"/>
          </a:xfrm>
          <a:noFill/>
        </p:spPr>
      </p:pic>
      <p:sp>
        <p:nvSpPr>
          <p:cNvPr id="56325" name="Footer Placeholder 4">
            <a:extLst>
              <a:ext uri="{FF2B5EF4-FFF2-40B4-BE49-F238E27FC236}">
                <a16:creationId xmlns:a16="http://schemas.microsoft.com/office/drawing/2014/main" id="{32C5AB99-F07A-45B3-89E7-27AA23F7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FF715E88-271F-4824-9EFC-4D3C6BC59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AC7CC234-923D-49EE-82A4-F3A14132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9B35659-97C5-43E1-95D3-A39E95697611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0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6F8A5CC-38EB-4056-84A7-5656FCED9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3 Activities 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D17D6412-16E8-4ADA-AE64-52C12C74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63222"/>
            <a:ext cx="8229600" cy="44116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Core Process 3: Discover and Understand Details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Do in-depth fact-finding to understand requirements</a:t>
            </a:r>
          </a:p>
          <a:p>
            <a:pPr lvl="1" eaLnBrk="1" hangingPunct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Understand and document the detailed workflow of each use case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4: Design System Components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（设计系统组件）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Define the user experience with screens and reports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zh-CN" altLang="en-US" b="0" i="0" dirty="0">
                <a:solidFill>
                  <a:srgbClr val="2A2B2E"/>
                </a:solidFill>
                <a:effectLst/>
                <a:latin typeface="PingFang SC"/>
              </a:rPr>
              <a:t>用屏幕和报告定义用户体验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3" name="Footer Placeholder 4">
            <a:extLst>
              <a:ext uri="{FF2B5EF4-FFF2-40B4-BE49-F238E27FC236}">
                <a16:creationId xmlns:a16="http://schemas.microsoft.com/office/drawing/2014/main" id="{B850AD56-BC71-49BC-A7FC-BE92375AF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id="{8E25DD2B-0FBD-4C96-A9B7-05CB05374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745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5AC301E8-6E72-45CB-B9DA-DC931E39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2D0CE4-A6AC-466C-B0CF-34058A78239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0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5A4170B-27D5-4A8D-B68E-A1C129363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Draft Screen Layout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2400" dirty="0">
                <a:ea typeface="宋体" panose="02010600030101010101" pitchFamily="2" charset="-122"/>
              </a:rPr>
              <a:t>Look up supplier use case</a:t>
            </a:r>
          </a:p>
        </p:txBody>
      </p:sp>
      <p:pic>
        <p:nvPicPr>
          <p:cNvPr id="57348" name="Picture 5">
            <a:extLst>
              <a:ext uri="{FF2B5EF4-FFF2-40B4-BE49-F238E27FC236}">
                <a16:creationId xmlns:a16="http://schemas.microsoft.com/office/drawing/2014/main" id="{8EDDF58B-A809-4320-BBB0-29E7DDADAE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431925"/>
            <a:ext cx="6400800" cy="4813300"/>
          </a:xfrm>
          <a:noFill/>
        </p:spPr>
      </p:pic>
      <p:sp>
        <p:nvSpPr>
          <p:cNvPr id="57349" name="Footer Placeholder 4">
            <a:extLst>
              <a:ext uri="{FF2B5EF4-FFF2-40B4-BE49-F238E27FC236}">
                <a16:creationId xmlns:a16="http://schemas.microsoft.com/office/drawing/2014/main" id="{D03AB720-B1A9-4F9D-B8E7-71A58D33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7350" name="Rectangle 4">
            <a:extLst>
              <a:ext uri="{FF2B5EF4-FFF2-40B4-BE49-F238E27FC236}">
                <a16:creationId xmlns:a16="http://schemas.microsoft.com/office/drawing/2014/main" id="{4DF436E5-788D-4ADE-8036-616BEAB90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00A01E8A-12CD-4F77-B7CB-7AF90305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0DE5DB-4A99-4A16-A1D4-87A08796FD0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0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8975CC9-98D8-40A6-BC1D-0904955A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4 Activities 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70BE1E99-B256-4C95-8761-759C15A53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991600" cy="49117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4: Design System Components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Design the database (</a:t>
            </a:r>
            <a:r>
              <a:rPr lang="zh-CN" altLang="en-US" dirty="0">
                <a:ea typeface="宋体" panose="02010600030101010101" pitchFamily="2" charset="-122"/>
              </a:rPr>
              <a:t>设计数据库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Table design</a:t>
            </a:r>
            <a:r>
              <a:rPr lang="zh-CN" altLang="en-US" dirty="0">
                <a:ea typeface="宋体" panose="02010600030101010101" pitchFamily="2" charset="-122"/>
              </a:rPr>
              <a:t>（表）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Key and index identification</a:t>
            </a:r>
            <a:r>
              <a:rPr lang="zh-CN" altLang="en-US" dirty="0">
                <a:ea typeface="宋体" panose="02010600030101010101" pitchFamily="2" charset="-122"/>
              </a:rPr>
              <a:t>（主键、索引）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Attribute types</a:t>
            </a:r>
            <a:r>
              <a:rPr lang="zh-CN" altLang="en-US" dirty="0">
                <a:ea typeface="宋体" panose="02010600030101010101" pitchFamily="2" charset="-122"/>
              </a:rPr>
              <a:t>（属性）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Referential integrity</a:t>
            </a:r>
            <a:r>
              <a:rPr lang="zh-CN" altLang="en-US" dirty="0">
                <a:ea typeface="宋体" panose="02010600030101010101" pitchFamily="2" charset="-122"/>
              </a:rPr>
              <a:t>（参照完整性）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Design the system’s high level structure</a:t>
            </a:r>
            <a:r>
              <a:rPr lang="zh-CN" altLang="en-US" dirty="0">
                <a:ea typeface="宋体" panose="02010600030101010101" pitchFamily="2" charset="-122"/>
              </a:rPr>
              <a:t>（高层结构）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Browser, Windows, or Smart phone</a:t>
            </a:r>
            <a:r>
              <a:rPr lang="zh-CN" altLang="en-US" dirty="0">
                <a:ea typeface="宋体" panose="02010600030101010101" pitchFamily="2" charset="-122"/>
              </a:rPr>
              <a:t>（网页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单机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移动环境）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Architectural configuration (</a:t>
            </a:r>
            <a:r>
              <a:rPr lang="zh-CN" altLang="en-US" dirty="0">
                <a:ea typeface="宋体" panose="02010600030101010101" pitchFamily="2" charset="-122"/>
              </a:rPr>
              <a:t>组件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Design class diagram </a:t>
            </a:r>
            <a:r>
              <a:rPr lang="zh-CN" altLang="en-US" dirty="0">
                <a:ea typeface="宋体" panose="02010600030101010101" pitchFamily="2" charset="-122"/>
              </a:rPr>
              <a:t>（设计类图）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Subsystem architectural design</a:t>
            </a:r>
            <a:r>
              <a:rPr lang="zh-CN" altLang="en-US" dirty="0">
                <a:ea typeface="宋体" panose="02010600030101010101" pitchFamily="2" charset="-122"/>
              </a:rPr>
              <a:t>（系统结构）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3" name="Footer Placeholder 4">
            <a:extLst>
              <a:ext uri="{FF2B5EF4-FFF2-40B4-BE49-F238E27FC236}">
                <a16:creationId xmlns:a16="http://schemas.microsoft.com/office/drawing/2014/main" id="{47EF0F0D-AA36-433F-9FD8-B2F9FEC8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8374" name="Rectangle 4">
            <a:extLst>
              <a:ext uri="{FF2B5EF4-FFF2-40B4-BE49-F238E27FC236}">
                <a16:creationId xmlns:a16="http://schemas.microsoft.com/office/drawing/2014/main" id="{5D2C2E80-7CFE-4674-9F61-FCEDA0CE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7" dur="1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8" dur="1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1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58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" fill="hold"/>
                                        <p:tgtEl>
                                          <p:spTgt spid="58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17" dur="10" fill="hold"/>
                                        <p:tgtEl>
                                          <p:spTgt spid="58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18" dur="10" fill="hold"/>
                                        <p:tgtEl>
                                          <p:spTgt spid="58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10" fill="hold"/>
                                        <p:tgtEl>
                                          <p:spTgt spid="58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58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22" dur="10" fill="hold"/>
                                        <p:tgtEl>
                                          <p:spTgt spid="58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3" dur="10" fill="hold"/>
                                        <p:tgtEl>
                                          <p:spTgt spid="58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10" fill="hold"/>
                                        <p:tgtEl>
                                          <p:spTgt spid="58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58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27" dur="10" fill="hold"/>
                                        <p:tgtEl>
                                          <p:spTgt spid="58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28" dur="10" fill="hold"/>
                                        <p:tgtEl>
                                          <p:spTgt spid="58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" fill="hold"/>
                                        <p:tgtEl>
                                          <p:spTgt spid="583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A5C95379-FF9A-4DCA-B1F9-EEE9CE6C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529A99-3224-4CF2-98BE-DEDD037EE07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0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7F9363-B7DF-48B3-B5C2-265CBEAB3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Database Schema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59396" name="Picture 5">
            <a:extLst>
              <a:ext uri="{FF2B5EF4-FFF2-40B4-BE49-F238E27FC236}">
                <a16:creationId xmlns:a16="http://schemas.microsoft.com/office/drawing/2014/main" id="{039EDEAA-A8DC-4FE7-B2BB-1B9DC8A878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409700"/>
            <a:ext cx="6248400" cy="4838700"/>
          </a:xfrm>
          <a:noFill/>
        </p:spPr>
      </p:pic>
      <p:sp>
        <p:nvSpPr>
          <p:cNvPr id="59397" name="Footer Placeholder 4">
            <a:extLst>
              <a:ext uri="{FF2B5EF4-FFF2-40B4-BE49-F238E27FC236}">
                <a16:creationId xmlns:a16="http://schemas.microsoft.com/office/drawing/2014/main" id="{912F4335-9DD4-4162-BCCD-BBC4411C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9398" name="Rectangle 4">
            <a:extLst>
              <a:ext uri="{FF2B5EF4-FFF2-40B4-BE49-F238E27FC236}">
                <a16:creationId xmlns:a16="http://schemas.microsoft.com/office/drawing/2014/main" id="{3FDC4D51-3D1F-4DBB-B3BA-B7BF7A0E6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00A01E8A-12CD-4F77-B7CB-7AF90305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10DE5DB-4A99-4A16-A1D4-87A08796FD0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0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38975CC9-98D8-40A6-BC1D-0904955A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4 Activities 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70BE1E99-B256-4C95-8761-759C15A53A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991600" cy="49117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4: Design System Components</a:t>
            </a:r>
          </a:p>
          <a:p>
            <a:pPr lvl="1" eaLnBrk="1" hangingPunct="1"/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Design the database (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设计数据库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)</a:t>
            </a:r>
          </a:p>
          <a:p>
            <a:pPr lvl="2" eaLnBrk="1" hangingPunct="1"/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Table design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（表）</a:t>
            </a:r>
            <a:endParaRPr lang="en-US" altLang="zh-CN" dirty="0">
              <a:solidFill>
                <a:schemeClr val="bg1">
                  <a:lumMod val="85000"/>
                </a:schemeClr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Key and index identification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（主键、索引）</a:t>
            </a:r>
            <a:endParaRPr lang="en-US" altLang="zh-CN" dirty="0">
              <a:solidFill>
                <a:schemeClr val="bg1">
                  <a:lumMod val="85000"/>
                </a:schemeClr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Attribute types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（属性）</a:t>
            </a:r>
            <a:endParaRPr lang="en-US" altLang="zh-CN" dirty="0">
              <a:solidFill>
                <a:schemeClr val="bg1">
                  <a:lumMod val="85000"/>
                </a:schemeClr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Referential integrity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ea typeface="宋体" panose="02010600030101010101" pitchFamily="2" charset="-122"/>
              </a:rPr>
              <a:t>（参照完整性）</a:t>
            </a:r>
            <a:endParaRPr lang="en-US" altLang="zh-CN" dirty="0">
              <a:solidFill>
                <a:schemeClr val="bg1">
                  <a:lumMod val="85000"/>
                </a:schemeClr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Design the system’s high level structure</a:t>
            </a:r>
            <a:r>
              <a:rPr lang="zh-CN" altLang="en-US" dirty="0">
                <a:ea typeface="宋体" panose="02010600030101010101" pitchFamily="2" charset="-122"/>
              </a:rPr>
              <a:t>（高层结构）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Browser, Windows, or Smart phone</a:t>
            </a:r>
            <a:r>
              <a:rPr lang="zh-CN" altLang="en-US" dirty="0">
                <a:ea typeface="宋体" panose="02010600030101010101" pitchFamily="2" charset="-122"/>
              </a:rPr>
              <a:t>（网页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单机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  <a:r>
              <a:rPr lang="zh-CN" altLang="en-US" dirty="0">
                <a:ea typeface="宋体" panose="02010600030101010101" pitchFamily="2" charset="-122"/>
              </a:rPr>
              <a:t>移动环境）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Architectural configuration (</a:t>
            </a:r>
            <a:r>
              <a:rPr lang="zh-CN" altLang="en-US" dirty="0">
                <a:ea typeface="宋体" panose="02010600030101010101" pitchFamily="2" charset="-122"/>
              </a:rPr>
              <a:t>组件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Design class diagram </a:t>
            </a:r>
            <a:r>
              <a:rPr lang="zh-CN" altLang="en-US" dirty="0">
                <a:ea typeface="宋体" panose="02010600030101010101" pitchFamily="2" charset="-122"/>
              </a:rPr>
              <a:t>（设计类图）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Subsystem architectural design</a:t>
            </a:r>
            <a:r>
              <a:rPr lang="zh-CN" altLang="en-US" dirty="0">
                <a:ea typeface="宋体" panose="02010600030101010101" pitchFamily="2" charset="-122"/>
              </a:rPr>
              <a:t>（系统结构）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3" name="Footer Placeholder 4">
            <a:extLst>
              <a:ext uri="{FF2B5EF4-FFF2-40B4-BE49-F238E27FC236}">
                <a16:creationId xmlns:a16="http://schemas.microsoft.com/office/drawing/2014/main" id="{47EF0F0D-AA36-433F-9FD8-B2F9FEC8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58374" name="Rectangle 4">
            <a:extLst>
              <a:ext uri="{FF2B5EF4-FFF2-40B4-BE49-F238E27FC236}">
                <a16:creationId xmlns:a16="http://schemas.microsoft.com/office/drawing/2014/main" id="{5D2C2E80-7CFE-4674-9F61-FCEDA0CE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773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7C2BDA56-B9E4-4BD6-A23E-A720979D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27353D1-5670-405F-9F75-9225B537A1A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0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05E14A6-84EA-42ED-A519-76B2D32AB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10969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Architectural Configuration Diagram</a:t>
            </a:r>
          </a:p>
        </p:txBody>
      </p:sp>
      <p:pic>
        <p:nvPicPr>
          <p:cNvPr id="60420" name="Picture 7">
            <a:extLst>
              <a:ext uri="{FF2B5EF4-FFF2-40B4-BE49-F238E27FC236}">
                <a16:creationId xmlns:a16="http://schemas.microsoft.com/office/drawing/2014/main" id="{9838B84D-D07C-44C5-9050-1DDBDD33AA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295400"/>
            <a:ext cx="6858000" cy="4799013"/>
          </a:xfrm>
          <a:noFill/>
        </p:spPr>
      </p:pic>
      <p:sp>
        <p:nvSpPr>
          <p:cNvPr id="60421" name="Footer Placeholder 4">
            <a:extLst>
              <a:ext uri="{FF2B5EF4-FFF2-40B4-BE49-F238E27FC236}">
                <a16:creationId xmlns:a16="http://schemas.microsoft.com/office/drawing/2014/main" id="{985B8E37-6228-44B9-9BA4-4DC907E3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0422" name="Rectangle 4">
            <a:extLst>
              <a:ext uri="{FF2B5EF4-FFF2-40B4-BE49-F238E27FC236}">
                <a16:creationId xmlns:a16="http://schemas.microsoft.com/office/drawing/2014/main" id="{8BC7F2BD-5BEF-4B50-AB80-EF0E14A5E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CCB33A93-4D58-40A0-8058-3C437746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59710B-E77E-42CB-B419-B8985A5861A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0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805EE22-FFDF-415A-847D-C85EFDBD3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2514600" cy="37338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Preliminary Design Class Diagram</a:t>
            </a:r>
            <a:br>
              <a:rPr lang="en-US" altLang="zh-CN" sz="2800" dirty="0">
                <a:ea typeface="宋体" panose="02010600030101010101" pitchFamily="2" charset="-122"/>
              </a:rPr>
            </a:b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Includes </a:t>
            </a:r>
            <a:r>
              <a:rPr lang="en-US" altLang="zh-CN" sz="2000" u="sng" dirty="0">
                <a:ea typeface="宋体" panose="02010600030101010101" pitchFamily="2" charset="-122"/>
              </a:rPr>
              <a:t>View Layer</a:t>
            </a:r>
            <a:r>
              <a:rPr lang="zh-CN" altLang="en-US" sz="2000" u="sng" dirty="0">
                <a:ea typeface="宋体" panose="02010600030101010101" pitchFamily="2" charset="-122"/>
              </a:rPr>
              <a:t>（视图层）</a:t>
            </a:r>
            <a:r>
              <a:rPr lang="en-US" altLang="zh-CN" sz="2000" u="sng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Classes and </a:t>
            </a:r>
            <a:r>
              <a:rPr lang="en-US" altLang="zh-CN" sz="2000" u="sng" dirty="0">
                <a:ea typeface="宋体" panose="02010600030101010101" pitchFamily="2" charset="-122"/>
              </a:rPr>
              <a:t>Domain Layer</a:t>
            </a:r>
            <a:r>
              <a:rPr lang="zh-CN" altLang="en-US" sz="2000" u="sng" dirty="0">
                <a:ea typeface="宋体" panose="02010600030101010101" pitchFamily="2" charset="-122"/>
              </a:rPr>
              <a:t>（域层）</a:t>
            </a:r>
            <a:r>
              <a:rPr lang="en-US" altLang="zh-CN" sz="2000" u="sng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Classes</a:t>
            </a:r>
            <a:br>
              <a:rPr lang="en-US" altLang="zh-CN" sz="2000" dirty="0">
                <a:ea typeface="宋体" panose="02010600030101010101" pitchFamily="2" charset="-122"/>
              </a:rPr>
            </a:br>
            <a:br>
              <a:rPr lang="en-US" altLang="zh-CN" sz="2000" dirty="0">
                <a:ea typeface="宋体" panose="02010600030101010101" pitchFamily="2" charset="-122"/>
              </a:rPr>
            </a:br>
            <a:r>
              <a:rPr lang="en-US" altLang="zh-CN" sz="2000" dirty="0">
                <a:ea typeface="宋体" panose="02010600030101010101" pitchFamily="2" charset="-122"/>
              </a:rPr>
              <a:t>Need to add </a:t>
            </a:r>
            <a:r>
              <a:rPr lang="en-US" altLang="zh-CN" sz="2000" u="sng" dirty="0">
                <a:ea typeface="宋体" panose="02010600030101010101" pitchFamily="2" charset="-122"/>
              </a:rPr>
              <a:t>Utility Classes</a:t>
            </a:r>
            <a:r>
              <a:rPr lang="zh-CN" altLang="en-US" sz="2000" u="sng" dirty="0">
                <a:ea typeface="宋体" panose="02010600030101010101" pitchFamily="2" charset="-122"/>
              </a:rPr>
              <a:t>（工具类）</a:t>
            </a:r>
            <a:r>
              <a:rPr lang="en-US" altLang="zh-CN" sz="2000" dirty="0">
                <a:ea typeface="宋体" panose="02010600030101010101" pitchFamily="2" charset="-122"/>
              </a:rPr>
              <a:t> as well</a:t>
            </a:r>
          </a:p>
        </p:txBody>
      </p:sp>
      <p:pic>
        <p:nvPicPr>
          <p:cNvPr id="61444" name="Picture 7">
            <a:extLst>
              <a:ext uri="{FF2B5EF4-FFF2-40B4-BE49-F238E27FC236}">
                <a16:creationId xmlns:a16="http://schemas.microsoft.com/office/drawing/2014/main" id="{4B6E3107-0FAD-48AB-9A77-53C3BD5E5C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0025" y="533400"/>
            <a:ext cx="5224463" cy="5410200"/>
          </a:xfrm>
          <a:noFill/>
        </p:spPr>
      </p:pic>
      <p:sp>
        <p:nvSpPr>
          <p:cNvPr id="61445" name="Footer Placeholder 4">
            <a:extLst>
              <a:ext uri="{FF2B5EF4-FFF2-40B4-BE49-F238E27FC236}">
                <a16:creationId xmlns:a16="http://schemas.microsoft.com/office/drawing/2014/main" id="{8F02C41C-6B18-4EBA-9FA0-3C6E7125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46" name="Rectangle 4">
            <a:extLst>
              <a:ext uri="{FF2B5EF4-FFF2-40B4-BE49-F238E27FC236}">
                <a16:creationId xmlns:a16="http://schemas.microsoft.com/office/drawing/2014/main" id="{B1DB69BF-2FAA-4F3E-953B-0C61A4C54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003CC9B5-8184-4E97-8AB5-8628FE1D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CABE2E-2920-40A1-A465-C3DB17C4107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0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D2021DD-0396-4A20-85D5-66BDDC4E1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2743200" cy="24384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Subsystem Architectural Design Diagram</a:t>
            </a:r>
            <a:br>
              <a:rPr lang="en-US" altLang="zh-CN" sz="3200" dirty="0">
                <a:ea typeface="宋体" panose="02010600030101010101" pitchFamily="2" charset="-122"/>
              </a:rPr>
            </a:br>
            <a:r>
              <a:rPr lang="zh-CN" altLang="en-US" sz="3200" dirty="0">
                <a:ea typeface="宋体" panose="02010600030101010101" pitchFamily="2" charset="-122"/>
              </a:rPr>
              <a:t>（子系统架构设计图）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EF9ABE97-CA7E-41A5-A56B-FD4CA6D60C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676275"/>
            <a:ext cx="5867400" cy="5500688"/>
          </a:xfrm>
          <a:noFill/>
        </p:spPr>
      </p:pic>
      <p:sp>
        <p:nvSpPr>
          <p:cNvPr id="62469" name="Footer Placeholder 4">
            <a:extLst>
              <a:ext uri="{FF2B5EF4-FFF2-40B4-BE49-F238E27FC236}">
                <a16:creationId xmlns:a16="http://schemas.microsoft.com/office/drawing/2014/main" id="{3ECC80A1-FFFE-4265-B1D4-012237B6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2470" name="Rectangle 4">
            <a:extLst>
              <a:ext uri="{FF2B5EF4-FFF2-40B4-BE49-F238E27FC236}">
                <a16:creationId xmlns:a16="http://schemas.microsoft.com/office/drawing/2014/main" id="{4F135508-02FE-422A-830A-93CC8394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>
            <a:extLst>
              <a:ext uri="{FF2B5EF4-FFF2-40B4-BE49-F238E27FC236}">
                <a16:creationId xmlns:a16="http://schemas.microsoft.com/office/drawing/2014/main" id="{C32EF799-CDCA-45E9-8896-9ED6BEFC6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6C5AF1-53CC-4CEB-8B47-48417DD3E1A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0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C07E1F3A-69DE-4892-B4F4-7CF3B433D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838200"/>
            <a:ext cx="2743200" cy="24384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Code Example for One Class</a:t>
            </a:r>
          </a:p>
        </p:txBody>
      </p:sp>
      <p:pic>
        <p:nvPicPr>
          <p:cNvPr id="65540" name="Picture 7">
            <a:extLst>
              <a:ext uri="{FF2B5EF4-FFF2-40B4-BE49-F238E27FC236}">
                <a16:creationId xmlns:a16="http://schemas.microsoft.com/office/drawing/2014/main" id="{4CDD81DF-DFE7-417C-9E6A-0C4D119C59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360363"/>
            <a:ext cx="5943600" cy="5622925"/>
          </a:xfrm>
          <a:noFill/>
        </p:spPr>
      </p:pic>
      <p:sp>
        <p:nvSpPr>
          <p:cNvPr id="65541" name="Footer Placeholder 4">
            <a:extLst>
              <a:ext uri="{FF2B5EF4-FFF2-40B4-BE49-F238E27FC236}">
                <a16:creationId xmlns:a16="http://schemas.microsoft.com/office/drawing/2014/main" id="{8F18AFD4-26A2-4A25-A351-CCAB4945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5542" name="Rectangle 4">
            <a:extLst>
              <a:ext uri="{FF2B5EF4-FFF2-40B4-BE49-F238E27FC236}">
                <a16:creationId xmlns:a16="http://schemas.microsoft.com/office/drawing/2014/main" id="{5EF060B6-0600-4192-829A-1406ABC27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F6A063C4-609A-4DD3-A27A-749642638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" t="6319" r="50002" b="1473"/>
          <a:stretch/>
        </p:blipFill>
        <p:spPr bwMode="auto">
          <a:xfrm>
            <a:off x="38100" y="838200"/>
            <a:ext cx="274320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A506CD2-4571-413C-B02F-02DF2D28A355}"/>
              </a:ext>
            </a:extLst>
          </p:cNvPr>
          <p:cNvSpPr/>
          <p:nvPr/>
        </p:nvSpPr>
        <p:spPr>
          <a:xfrm>
            <a:off x="3429000" y="1904999"/>
            <a:ext cx="2133600" cy="2254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5DD3E2-FFA2-4C05-89FE-095A99C4B3ED}"/>
              </a:ext>
            </a:extLst>
          </p:cNvPr>
          <p:cNvSpPr/>
          <p:nvPr/>
        </p:nvSpPr>
        <p:spPr>
          <a:xfrm>
            <a:off x="3429000" y="2593974"/>
            <a:ext cx="2133600" cy="2254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FBA700-87C6-42CB-8916-F6D0A299C203}"/>
              </a:ext>
            </a:extLst>
          </p:cNvPr>
          <p:cNvSpPr/>
          <p:nvPr/>
        </p:nvSpPr>
        <p:spPr>
          <a:xfrm>
            <a:off x="757687" y="1139825"/>
            <a:ext cx="1822330" cy="137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721DE1-242E-46B5-BA5F-62690E9C0397}"/>
              </a:ext>
            </a:extLst>
          </p:cNvPr>
          <p:cNvSpPr/>
          <p:nvPr/>
        </p:nvSpPr>
        <p:spPr>
          <a:xfrm>
            <a:off x="768470" y="2593973"/>
            <a:ext cx="1822330" cy="14446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99C91B4-A9BD-4AC9-ACD2-06FD6CEA671F}"/>
              </a:ext>
            </a:extLst>
          </p:cNvPr>
          <p:cNvCxnSpPr>
            <a:endCxn id="2" idx="1"/>
          </p:cNvCxnSpPr>
          <p:nvPr/>
        </p:nvCxnSpPr>
        <p:spPr>
          <a:xfrm>
            <a:off x="2590800" y="1831973"/>
            <a:ext cx="838200" cy="1857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FEE7C71-AF4B-4936-AD04-BC23D9E98FC0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2590800" y="2706687"/>
            <a:ext cx="838200" cy="6096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00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2671E019-C0DC-4F1F-B077-02CA7943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B179B3-BB47-435F-AD98-313DD5A4156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0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22FA59B-6326-4D42-AEAB-6B58796CE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4581" y="457200"/>
            <a:ext cx="7543800" cy="8683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Notes on Managing the Project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（项目管理须知）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6DD46E3-F47B-48E2-BAFA-5F9F8AE52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Lots of design diagrams shown</a:t>
            </a:r>
            <a:r>
              <a:rPr lang="zh-CN" altLang="en-US" sz="2800" dirty="0">
                <a:ea typeface="宋体" panose="02010600030101010101" pitchFamily="2" charset="-122"/>
              </a:rPr>
              <a:t>（设计图表展示了）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Design in a complex activity with multiple levels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High level architectural</a:t>
            </a:r>
            <a:r>
              <a:rPr lang="zh-CN" altLang="en-US" sz="2000" dirty="0">
                <a:ea typeface="宋体" panose="02010600030101010101" pitchFamily="2" charset="-122"/>
              </a:rPr>
              <a:t>（高级架构）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Low level detailed design</a:t>
            </a:r>
            <a:r>
              <a:rPr lang="zh-CN" altLang="en-US" sz="2000" dirty="0">
                <a:ea typeface="宋体" panose="02010600030101010101" pitchFamily="2" charset="-122"/>
              </a:rPr>
              <a:t>（底层详细设计）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One diagram builds on/complements another</a:t>
            </a:r>
            <a:r>
              <a:rPr lang="zh-CN" altLang="en-US" sz="2400" dirty="0">
                <a:ea typeface="宋体" panose="02010600030101010101" pitchFamily="2" charset="-122"/>
              </a:rPr>
              <a:t>（一个图表建立在另一个图表的基础上）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Programming is also done concurrently</a:t>
            </a:r>
            <a:r>
              <a:rPr lang="zh-CN" altLang="en-US" sz="2800" dirty="0">
                <a:ea typeface="宋体" panose="02010600030101010101" pitchFamily="2" charset="-122"/>
              </a:rPr>
              <a:t>（编程是并发完成的）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</a:rPr>
              <a:t>You don’t design everything then code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</a:rPr>
              <a:t>（不需要设计所有东西再编码）</a:t>
            </a:r>
            <a:endParaRPr lang="en-US" altLang="zh-CN" sz="24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You do some design, some coding, some design, some coding</a:t>
            </a:r>
            <a:r>
              <a:rPr lang="zh-CN" altLang="en-US" sz="2400" dirty="0">
                <a:ea typeface="宋体" panose="02010600030101010101" pitchFamily="2" charset="-122"/>
              </a:rPr>
              <a:t>（设计，编码，设计，编码迭代循环）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63493" name="Footer Placeholder 4">
            <a:extLst>
              <a:ext uri="{FF2B5EF4-FFF2-40B4-BE49-F238E27FC236}">
                <a16:creationId xmlns:a16="http://schemas.microsoft.com/office/drawing/2014/main" id="{0D61A07D-7A11-42F2-A3F7-AD678DFF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3494" name="Rectangle 4">
            <a:extLst>
              <a:ext uri="{FF2B5EF4-FFF2-40B4-BE49-F238E27FC236}">
                <a16:creationId xmlns:a16="http://schemas.microsoft.com/office/drawing/2014/main" id="{ACA376F0-54E8-425D-8F48-2DBF79E09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40D30387-404D-4C84-BD59-E91C0EF2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38C9DD-159C-4038-BFB4-196A4AB2AC17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0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2582377-AA38-4D99-B203-2A53CF617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5 Activities 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6CA7379-E14E-48D1-857A-F58498C93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1637" y="1443218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Core Process 4: Design System Components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（设计系统组件）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Continue with design details</a:t>
            </a:r>
            <a:r>
              <a:rPr lang="zh-CN" altLang="en-US" sz="2400" dirty="0">
                <a:ea typeface="宋体" panose="02010600030101010101" pitchFamily="2" charset="-122"/>
              </a:rPr>
              <a:t>（继续设计细节）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Proceed use case by use case</a:t>
            </a:r>
            <a:r>
              <a:rPr lang="zh-CN" altLang="en-US" sz="2400" dirty="0">
                <a:ea typeface="宋体" panose="02010600030101010101" pitchFamily="2" charset="-122"/>
              </a:rPr>
              <a:t>（推进用例）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</a:rPr>
              <a:t>Core Process 5: Build, Test, and Integrate System Components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</a:rPr>
              <a:t>（构建、测试和集成系统组件）</a:t>
            </a:r>
            <a:endParaRPr lang="en-US" altLang="zh-CN" sz="28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Continue programming (</a:t>
            </a:r>
            <a:r>
              <a:rPr lang="zh-CN" altLang="en-US" sz="2400" dirty="0">
                <a:ea typeface="宋体" panose="02010600030101010101" pitchFamily="2" charset="-122"/>
              </a:rPr>
              <a:t>继续编程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Build use case by use case</a:t>
            </a:r>
            <a:r>
              <a:rPr lang="zh-CN" altLang="en-US" sz="2400" dirty="0">
                <a:ea typeface="宋体" panose="02010600030101010101" pitchFamily="2" charset="-122"/>
              </a:rPr>
              <a:t>（逐个用例来构建）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Perform unit and integration tests</a:t>
            </a:r>
            <a:r>
              <a:rPr lang="zh-CN" altLang="en-US" sz="2400" dirty="0">
                <a:ea typeface="宋体" panose="02010600030101010101" pitchFamily="2" charset="-122"/>
              </a:rPr>
              <a:t>（执行单元和集成测试）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64517" name="Footer Placeholder 4">
            <a:extLst>
              <a:ext uri="{FF2B5EF4-FFF2-40B4-BE49-F238E27FC236}">
                <a16:creationId xmlns:a16="http://schemas.microsoft.com/office/drawing/2014/main" id="{1DDA8087-2C4E-417D-9C21-F2D28F64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4518" name="Rectangle 4">
            <a:extLst>
              <a:ext uri="{FF2B5EF4-FFF2-40B4-BE49-F238E27FC236}">
                <a16:creationId xmlns:a16="http://schemas.microsoft.com/office/drawing/2014/main" id="{36387E34-9193-4013-8139-FE594E84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1609D839-7A5F-4B14-A8E9-7E2A160F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875A7F-9430-4D3C-A9D9-B9514C5C589D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0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B2DFDAF-877C-49D4-A14E-88E4B7AE2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4017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Workflow of Testing Tasks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测试任务流程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66564" name="Picture 7">
            <a:extLst>
              <a:ext uri="{FF2B5EF4-FFF2-40B4-BE49-F238E27FC236}">
                <a16:creationId xmlns:a16="http://schemas.microsoft.com/office/drawing/2014/main" id="{AB064E15-1243-4DD7-862B-FFB6A6982A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209800"/>
            <a:ext cx="8763000" cy="2611438"/>
          </a:xfrm>
          <a:noFill/>
        </p:spPr>
      </p:pic>
      <p:sp>
        <p:nvSpPr>
          <p:cNvPr id="66565" name="Footer Placeholder 4">
            <a:extLst>
              <a:ext uri="{FF2B5EF4-FFF2-40B4-BE49-F238E27FC236}">
                <a16:creationId xmlns:a16="http://schemas.microsoft.com/office/drawing/2014/main" id="{7E0A6E91-B996-4173-8D0A-E7E784AC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6566" name="Rectangle 4">
            <a:extLst>
              <a:ext uri="{FF2B5EF4-FFF2-40B4-BE49-F238E27FC236}">
                <a16:creationId xmlns:a16="http://schemas.microsoft.com/office/drawing/2014/main" id="{15CBC7EE-3CFA-419A-8489-1D08ACDFB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037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9F9B11C4-9C4F-46F3-B77C-50AEE23B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39DB3A-5064-45A2-9053-3E86ED6044C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0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BE97A5A2-1FDD-4018-8D8B-293646547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Day 6 Activities 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DD73033-9CB0-40AD-9412-3EE952ACB9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Core Process 6: Complete System Testing and Deploy System 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（完成系统测试和部署系统）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Perform system functional testing</a:t>
            </a:r>
            <a:r>
              <a:rPr lang="zh-CN" altLang="en-US" dirty="0">
                <a:ea typeface="宋体" panose="02010600030101010101" pitchFamily="2" charset="-122"/>
              </a:rPr>
              <a:t>（执行系统功能测试）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Perform user acceptance testing</a:t>
            </a:r>
            <a:r>
              <a:rPr lang="zh-CN" altLang="en-US" dirty="0">
                <a:ea typeface="宋体" panose="02010600030101010101" pitchFamily="2" charset="-122"/>
              </a:rPr>
              <a:t>（执行用户验收测试）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Possibly deploy part of system</a:t>
            </a:r>
            <a:r>
              <a:rPr lang="zh-CN" altLang="en-US" dirty="0">
                <a:ea typeface="宋体" panose="02010600030101010101" pitchFamily="2" charset="-122"/>
              </a:rPr>
              <a:t>（可能部署系统的一部分进行测试）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8613" name="Footer Placeholder 4">
            <a:extLst>
              <a:ext uri="{FF2B5EF4-FFF2-40B4-BE49-F238E27FC236}">
                <a16:creationId xmlns:a16="http://schemas.microsoft.com/office/drawing/2014/main" id="{CEEA1276-2274-415F-BB81-908B793F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8614" name="Rectangle 4">
            <a:extLst>
              <a:ext uri="{FF2B5EF4-FFF2-40B4-BE49-F238E27FC236}">
                <a16:creationId xmlns:a16="http://schemas.microsoft.com/office/drawing/2014/main" id="{7D74A5D0-8802-4C0B-AF2C-A431BCBD5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>
            <a:extLst>
              <a:ext uri="{FF2B5EF4-FFF2-40B4-BE49-F238E27FC236}">
                <a16:creationId xmlns:a16="http://schemas.microsoft.com/office/drawing/2014/main" id="{55A0774B-11BB-41C7-8E35-7868896B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AC90F3-92C7-4D6B-AD20-314599FBEFA9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0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9FDDC0C-179A-4C31-9E4E-48B326F7D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8382000" cy="1401762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Screen Capture for Look up supplier use case</a:t>
            </a:r>
            <a:r>
              <a:rPr lang="zh-CN" altLang="en-US" dirty="0">
                <a:ea typeface="宋体" panose="02010600030101010101" pitchFamily="2" charset="-122"/>
              </a:rPr>
              <a:t>（查找供应商界面）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67588" name="Picture 7">
            <a:extLst>
              <a:ext uri="{FF2B5EF4-FFF2-40B4-BE49-F238E27FC236}">
                <a16:creationId xmlns:a16="http://schemas.microsoft.com/office/drawing/2014/main" id="{E1ADEF01-B0E1-4A32-875D-F1C61FB5F4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7738" y="1719263"/>
            <a:ext cx="7248525" cy="4411662"/>
          </a:xfrm>
          <a:noFill/>
        </p:spPr>
      </p:pic>
      <p:sp>
        <p:nvSpPr>
          <p:cNvPr id="67589" name="Footer Placeholder 4">
            <a:extLst>
              <a:ext uri="{FF2B5EF4-FFF2-40B4-BE49-F238E27FC236}">
                <a16:creationId xmlns:a16="http://schemas.microsoft.com/office/drawing/2014/main" id="{40C5BECB-6E1C-47F7-BC45-CC7544B02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7590" name="Rectangle 4">
            <a:extLst>
              <a:ext uri="{FF2B5EF4-FFF2-40B4-BE49-F238E27FC236}">
                <a16:creationId xmlns:a16="http://schemas.microsoft.com/office/drawing/2014/main" id="{A8446170-5B14-4378-8C25-EB34BD35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303706A4-69BA-4034-B21D-658F7091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DA4584-F9A7-41C6-8414-D1F6083A7782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0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62E5EA6-6425-45F6-9BE0-846C871667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First Iteration Recap</a:t>
            </a:r>
            <a:br>
              <a:rPr lang="en-US" altLang="zh-CN" sz="3600" dirty="0">
                <a:ea typeface="宋体" panose="02010600030101010101" pitchFamily="2" charset="-122"/>
              </a:rPr>
            </a:br>
            <a:r>
              <a:rPr lang="zh-CN" altLang="en-US" sz="3600" dirty="0">
                <a:ea typeface="宋体" panose="02010600030101010101" pitchFamily="2" charset="-122"/>
              </a:rPr>
              <a:t>（第一次迭代回顾）</a:t>
            </a:r>
            <a:r>
              <a:rPr lang="en-US" altLang="zh-CN" sz="36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9061C7B-91EF-4C51-8EF8-0EF5AAFC7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This was a 6 day iteration of small project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Most iterations are longer (2 to 4 weeks)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This project might be 2 iterations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Most projects have many more iterations </a:t>
            </a:r>
            <a:r>
              <a:rPr lang="zh-CN" altLang="en-US" sz="2400" dirty="0">
                <a:ea typeface="宋体" panose="02010600030101010101" pitchFamily="2" charset="-122"/>
              </a:rPr>
              <a:t>（大多数项目都有更多迭代）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End users need to be involved, particularly in day 1, 2, 3 and 6.</a:t>
            </a:r>
            <a:r>
              <a:rPr lang="zh-CN" altLang="en-US" sz="2800" dirty="0">
                <a:ea typeface="宋体" panose="02010600030101010101" pitchFamily="2" charset="-122"/>
              </a:rPr>
              <a:t>（终端用户需要参与进来）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Days 4 and 5 involved design and programming </a:t>
            </a:r>
            <a:r>
              <a:rPr lang="en-US" altLang="zh-CN" sz="2800" u="sng" dirty="0">
                <a:ea typeface="宋体" panose="02010600030101010101" pitchFamily="2" charset="-122"/>
              </a:rPr>
              <a:t>concurrently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r>
              <a:rPr lang="zh-CN" altLang="en-US" sz="2800" dirty="0">
                <a:ea typeface="宋体" panose="02010600030101010101" pitchFamily="2" charset="-122"/>
              </a:rPr>
              <a:t>（设计与编程同步进行）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Lots of time was spent programming along with design (not emphasized here) </a:t>
            </a:r>
          </a:p>
          <a:p>
            <a:pPr lvl="1"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69637" name="Footer Placeholder 4">
            <a:extLst>
              <a:ext uri="{FF2B5EF4-FFF2-40B4-BE49-F238E27FC236}">
                <a16:creationId xmlns:a16="http://schemas.microsoft.com/office/drawing/2014/main" id="{0C6B185E-3389-4C15-BC76-24567C19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9638" name="Rectangle 4">
            <a:extLst>
              <a:ext uri="{FF2B5EF4-FFF2-40B4-BE49-F238E27FC236}">
                <a16:creationId xmlns:a16="http://schemas.microsoft.com/office/drawing/2014/main" id="{42EED194-C519-4004-8653-1CDFAE01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>
            <a:extLst>
              <a:ext uri="{FF2B5EF4-FFF2-40B4-BE49-F238E27FC236}">
                <a16:creationId xmlns:a16="http://schemas.microsoft.com/office/drawing/2014/main" id="{2E0BA2EA-CDF8-42A1-A7AA-1AE2D128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92B25A1-17C7-4512-9521-AF5D855659AF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0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73F85B1-7CE6-4472-B014-A76D29567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This Book is about Activities and Tasks in the SDLC</a:t>
            </a:r>
          </a:p>
        </p:txBody>
      </p:sp>
      <p:pic>
        <p:nvPicPr>
          <p:cNvPr id="70660" name="Picture 3">
            <a:extLst>
              <a:ext uri="{FF2B5EF4-FFF2-40B4-BE49-F238E27FC236}">
                <a16:creationId xmlns:a16="http://schemas.microsoft.com/office/drawing/2014/main" id="{18A38BFC-4BC6-425B-ADC6-6C3E64D5D2E0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600200"/>
            <a:ext cx="8458200" cy="4532313"/>
          </a:xfrm>
        </p:spPr>
      </p:pic>
      <p:sp>
        <p:nvSpPr>
          <p:cNvPr id="70661" name="Footer Placeholder 4">
            <a:extLst>
              <a:ext uri="{FF2B5EF4-FFF2-40B4-BE49-F238E27FC236}">
                <a16:creationId xmlns:a16="http://schemas.microsoft.com/office/drawing/2014/main" id="{C30F8432-2A32-44B1-95B3-617EBDC8E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0662" name="Rectangle 4">
            <a:extLst>
              <a:ext uri="{FF2B5EF4-FFF2-40B4-BE49-F238E27FC236}">
                <a16:creationId xmlns:a16="http://schemas.microsoft.com/office/drawing/2014/main" id="{53CFF066-1026-4B3D-A6AE-5F8C8F2EE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>
            <a:extLst>
              <a:ext uri="{FF2B5EF4-FFF2-40B4-BE49-F238E27FC236}">
                <a16:creationId xmlns:a16="http://schemas.microsoft.com/office/drawing/2014/main" id="{DC0AD44A-C3BC-40EA-B62D-8143D04E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6147" name="Slide Number Placeholder 5">
            <a:extLst>
              <a:ext uri="{FF2B5EF4-FFF2-40B4-BE49-F238E27FC236}">
                <a16:creationId xmlns:a16="http://schemas.microsoft.com/office/drawing/2014/main" id="{11773EC1-5790-48E4-8935-6A120A71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C1C67DE-2FEC-4266-8387-B11D9CBF5533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000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4466E9C-66AC-493A-A6FB-8ABF41394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Chapter 1 Outline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C07195F-8B57-48EC-AC71-7D31A1A1D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Software Development and Systems Analysis and Design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Systems Development Lifecycle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Iterative Development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Introduction to Ridgeline Mountain Outfitters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Developing RMO’s Tradeshow Systems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Where You are Headed—The Rest of the Book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（书的其余章节）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6150" name="Rectangle 4">
            <a:extLst>
              <a:ext uri="{FF2B5EF4-FFF2-40B4-BE49-F238E27FC236}">
                <a16:creationId xmlns:a16="http://schemas.microsoft.com/office/drawing/2014/main" id="{19E1557B-432F-4DF7-A205-31CD8D5E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158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>
            <a:extLst>
              <a:ext uri="{FF2B5EF4-FFF2-40B4-BE49-F238E27FC236}">
                <a16:creationId xmlns:a16="http://schemas.microsoft.com/office/drawing/2014/main" id="{9380A340-5D78-4D37-9E1D-A4180E9E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6CD7F9-4141-4B3D-8E5B-1C75FE331204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0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E52D936F-6723-4A91-9EF6-C6761EE929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You Are Headed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561E52A-8B22-465D-881D-AC66B5E7F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Chapter 1: From Beginning to End</a:t>
            </a:r>
            <a:r>
              <a:rPr lang="zh-CN" altLang="en-US" sz="2600" dirty="0">
                <a:ea typeface="宋体" panose="02010600030101010101" pitchFamily="2" charset="-122"/>
              </a:rPr>
              <a:t>（从开始到结束）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Small project overview emphasizing analysis and design and iterative development</a:t>
            </a:r>
            <a:r>
              <a:rPr lang="zh-CN" altLang="en-US" sz="2200" dirty="0">
                <a:ea typeface="宋体" panose="02010600030101010101" pitchFamily="2" charset="-122"/>
              </a:rPr>
              <a:t>（系统开发生命周期）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Done!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Chapter 2: Investigating System Requirements</a:t>
            </a:r>
            <a:r>
              <a:rPr lang="zh-CN" altLang="en-US" sz="2600" dirty="0">
                <a:ea typeface="宋体" panose="02010600030101010101" pitchFamily="2" charset="-122"/>
              </a:rPr>
              <a:t>（需求）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More about core process 3: Systems analysis activities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Chapter 3: Use Cases</a:t>
            </a:r>
            <a:r>
              <a:rPr lang="zh-CN" altLang="en-US" sz="2600" dirty="0">
                <a:ea typeface="宋体" panose="02010600030101010101" pitchFamily="2" charset="-122"/>
              </a:rPr>
              <a:t>（用例）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Techniques for Identifying and modeling use cases for systems analysis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</p:txBody>
      </p:sp>
      <p:sp>
        <p:nvSpPr>
          <p:cNvPr id="71685" name="Footer Placeholder 4">
            <a:extLst>
              <a:ext uri="{FF2B5EF4-FFF2-40B4-BE49-F238E27FC236}">
                <a16:creationId xmlns:a16="http://schemas.microsoft.com/office/drawing/2014/main" id="{E3EAAB99-04EE-4C58-B094-56621308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1686" name="Rectangle 4">
            <a:extLst>
              <a:ext uri="{FF2B5EF4-FFF2-40B4-BE49-F238E27FC236}">
                <a16:creationId xmlns:a16="http://schemas.microsoft.com/office/drawing/2014/main" id="{5829C686-D616-4A67-8EA7-676A16F2A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>
            <a:extLst>
              <a:ext uri="{FF2B5EF4-FFF2-40B4-BE49-F238E27FC236}">
                <a16:creationId xmlns:a16="http://schemas.microsoft.com/office/drawing/2014/main" id="{0C1F05EA-7007-4135-AE6B-4ADC418F0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E4DFEA-49C9-44EE-86C8-56774761185B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0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876C7E5-A02D-4AF7-9FA5-8BD7B34AF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You Are Headed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1ED52B1-00A4-47D3-8F1A-C4296BBF4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Chapter 4: Domain Modeling</a:t>
            </a:r>
            <a:r>
              <a:rPr lang="zh-CN" altLang="en-US" sz="2600" dirty="0">
                <a:ea typeface="宋体" panose="02010600030101010101" pitchFamily="2" charset="-122"/>
              </a:rPr>
              <a:t>（域建模）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Techniques for Identifying and modeling domain classes for systems analysis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2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ea typeface="宋体" panose="02010600030101010101" pitchFamily="2" charset="-122"/>
              </a:rPr>
              <a:t>Chapter 5: Extending the Requirements Models</a:t>
            </a:r>
            <a:r>
              <a:rPr lang="zh-CN" altLang="en-US" sz="2600" dirty="0">
                <a:ea typeface="宋体" panose="02010600030101010101" pitchFamily="2" charset="-122"/>
              </a:rPr>
              <a:t>（扩展需求模型）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ea typeface="宋体" panose="02010600030101010101" pitchFamily="2" charset="-122"/>
              </a:rPr>
              <a:t>Modeling more details about use cases and domain classes for systems analysis</a:t>
            </a:r>
          </a:p>
        </p:txBody>
      </p:sp>
      <p:sp>
        <p:nvSpPr>
          <p:cNvPr id="72709" name="Footer Placeholder 4">
            <a:extLst>
              <a:ext uri="{FF2B5EF4-FFF2-40B4-BE49-F238E27FC236}">
                <a16:creationId xmlns:a16="http://schemas.microsoft.com/office/drawing/2014/main" id="{71EACB20-4F02-49F4-9974-D628FA5C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2710" name="Rectangle 4">
            <a:extLst>
              <a:ext uri="{FF2B5EF4-FFF2-40B4-BE49-F238E27FC236}">
                <a16:creationId xmlns:a16="http://schemas.microsoft.com/office/drawing/2014/main" id="{3C337791-19C2-4516-B5AF-9A5D9F4B6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BFFB9A0D-59B3-4194-BAEC-D55C8009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1153E3-8F08-4AAD-BCC7-BB9191885795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0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BD34843-6C38-42F5-8B59-C071411C2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You Are Headed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2745ED25-E83D-4272-9143-B9AA5A15D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250755"/>
            <a:ext cx="8610600" cy="4606925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6: Essentials of Design</a:t>
            </a:r>
            <a:r>
              <a:rPr lang="zh-CN" altLang="en-US" sz="2600" dirty="0">
                <a:ea typeface="宋体" panose="02010600030101010101" pitchFamily="2" charset="-122"/>
              </a:rPr>
              <a:t>（设计）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More about core process 4: system design activities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7: Designing User and System Interfaces</a:t>
            </a:r>
            <a:r>
              <a:rPr lang="zh-CN" altLang="en-US" sz="2600" dirty="0">
                <a:ea typeface="宋体" panose="02010600030101010101" pitchFamily="2" charset="-122"/>
              </a:rPr>
              <a:t>（接口）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Human computer interaction, user interface design principles, outputs and reports, system interfaces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8: Approaches to System Development</a:t>
            </a:r>
            <a:r>
              <a:rPr lang="zh-CN" altLang="en-US" sz="2600" dirty="0">
                <a:ea typeface="宋体" panose="02010600030101010101" pitchFamily="2" charset="-122"/>
              </a:rPr>
              <a:t>（系统开发）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More about the SDLC, models, tools, techniques, and agile methodologies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9: Project Planning and Project Management</a:t>
            </a:r>
            <a:r>
              <a:rPr lang="zh-CN" altLang="en-US" sz="2600" dirty="0">
                <a:ea typeface="宋体" panose="02010600030101010101" pitchFamily="2" charset="-122"/>
              </a:rPr>
              <a:t>（项目计划和项目管理）</a:t>
            </a: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73733" name="Footer Placeholder 4">
            <a:extLst>
              <a:ext uri="{FF2B5EF4-FFF2-40B4-BE49-F238E27FC236}">
                <a16:creationId xmlns:a16="http://schemas.microsoft.com/office/drawing/2014/main" id="{9959F83E-74B9-4612-AAEB-AD98A870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3734" name="Rectangle 4">
            <a:extLst>
              <a:ext uri="{FF2B5EF4-FFF2-40B4-BE49-F238E27FC236}">
                <a16:creationId xmlns:a16="http://schemas.microsoft.com/office/drawing/2014/main" id="{56938BFE-152F-45DE-A691-8152BC1D1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>
            <a:extLst>
              <a:ext uri="{FF2B5EF4-FFF2-40B4-BE49-F238E27FC236}">
                <a16:creationId xmlns:a16="http://schemas.microsoft.com/office/drawing/2014/main" id="{4CE496B3-3A4E-48C2-A3B1-8896C601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4C07DD-B9A7-4D15-92AF-EA79BB5A5046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0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6C5068F-287B-47F6-81F4-2C0CDB52F2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You Are Headed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F7BF998-54A9-49D0-993E-DDCE8632F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10: Object-Oriented Design: Principles</a:t>
            </a:r>
            <a:r>
              <a:rPr lang="zh-CN" altLang="en-US" sz="2600" dirty="0">
                <a:ea typeface="宋体" panose="02010600030101010101" pitchFamily="2" charset="-122"/>
              </a:rPr>
              <a:t>（面向对象设计原则）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Design principles, design models, and designing use cases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11: Object-Oriented Design: Use Case Realization</a:t>
            </a:r>
            <a:r>
              <a:rPr lang="zh-CN" altLang="en-US" sz="2600" dirty="0">
                <a:ea typeface="宋体" panose="02010600030101010101" pitchFamily="2" charset="-122"/>
              </a:rPr>
              <a:t>（面向对象设计）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Three layer design and design patterns</a:t>
            </a:r>
          </a:p>
          <a:p>
            <a:pPr eaLnBrk="1" hangingPunct="1"/>
            <a:r>
              <a:rPr lang="en-US" altLang="zh-CN" sz="2600" dirty="0">
                <a:ea typeface="宋体" panose="02010600030101010101" pitchFamily="2" charset="-122"/>
              </a:rPr>
              <a:t>Chapter 12: Databases, Controls, and Security</a:t>
            </a:r>
            <a:r>
              <a:rPr lang="zh-CN" altLang="en-US" sz="2600" dirty="0">
                <a:ea typeface="宋体" panose="02010600030101010101" pitchFamily="2" charset="-122"/>
              </a:rPr>
              <a:t>（数据库、控件和安全性）</a:t>
            </a:r>
            <a:endParaRPr lang="en-US" altLang="zh-CN" sz="2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200" dirty="0">
                <a:ea typeface="宋体" panose="02010600030101010101" pitchFamily="2" charset="-122"/>
              </a:rPr>
              <a:t>More about database design and protecting the integrity of the system. </a:t>
            </a:r>
          </a:p>
        </p:txBody>
      </p:sp>
      <p:sp>
        <p:nvSpPr>
          <p:cNvPr id="74757" name="Footer Placeholder 4">
            <a:extLst>
              <a:ext uri="{FF2B5EF4-FFF2-40B4-BE49-F238E27FC236}">
                <a16:creationId xmlns:a16="http://schemas.microsoft.com/office/drawing/2014/main" id="{77776079-63E4-447B-885B-0C04715E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4758" name="Rectangle 4">
            <a:extLst>
              <a:ext uri="{FF2B5EF4-FFF2-40B4-BE49-F238E27FC236}">
                <a16:creationId xmlns:a16="http://schemas.microsoft.com/office/drawing/2014/main" id="{B84E0BB9-F7AF-4C1D-84A9-5258EC7AE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>
            <a:extLst>
              <a:ext uri="{FF2B5EF4-FFF2-40B4-BE49-F238E27FC236}">
                <a16:creationId xmlns:a16="http://schemas.microsoft.com/office/drawing/2014/main" id="{2C56FB2E-B3EC-488C-B2DA-FDAF3511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6A8682-5110-49B4-B3B1-38374B1E00A8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0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FFEA57B-827F-456C-86D7-63C9BA556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52DAEEA4-6A15-4054-8649-685CF05CAB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This text is about developing information systems that solve an organization need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Chapter 1 takes you through the whole process for one small information system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System development involves 6 core processes, known as the SDLC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6</a:t>
            </a:r>
            <a:r>
              <a:rPr lang="zh-CN" altLang="en-US" dirty="0">
                <a:solidFill>
                  <a:srgbClr val="C00000"/>
                </a:solidFill>
                <a:ea typeface="宋体" panose="02010600030101010101" pitchFamily="2" charset="-122"/>
              </a:rPr>
              <a:t>个核心过程）</a:t>
            </a:r>
            <a:endParaRPr lang="en-US" altLang="zh-CN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rest of the text elaborates on the basic processes shown in chapter 1</a:t>
            </a:r>
          </a:p>
        </p:txBody>
      </p:sp>
      <p:sp>
        <p:nvSpPr>
          <p:cNvPr id="76805" name="Footer Placeholder 4">
            <a:extLst>
              <a:ext uri="{FF2B5EF4-FFF2-40B4-BE49-F238E27FC236}">
                <a16:creationId xmlns:a16="http://schemas.microsoft.com/office/drawing/2014/main" id="{9F3FFB6F-E372-4B2F-A9DB-8275F81D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6806" name="Rectangle 4">
            <a:extLst>
              <a:ext uri="{FF2B5EF4-FFF2-40B4-BE49-F238E27FC236}">
                <a16:creationId xmlns:a16="http://schemas.microsoft.com/office/drawing/2014/main" id="{AA0103BC-8604-4626-AD57-773A03748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AE59DF00-813B-4348-9757-86AC0F07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A04144-C625-4E30-8B16-5CA1648C5C7E}" type="slidenum">
              <a:rPr lang="en-US" altLang="en-US" sz="10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0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FD0F4EB-6269-4350-B5AC-1F9431049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Summary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F56CF2AA-7BAE-4A67-9BC6-12E33679B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Terms to review and know include: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Computer application</a:t>
            </a:r>
            <a:r>
              <a:rPr lang="zh-CN" altLang="en-US" dirty="0">
                <a:ea typeface="宋体" panose="02010600030101010101" pitchFamily="2" charset="-122"/>
              </a:rPr>
              <a:t>（计算机应用）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 system</a:t>
            </a:r>
            <a:r>
              <a:rPr lang="zh-CN" altLang="en-US" dirty="0">
                <a:ea typeface="宋体" panose="02010600030101010101" pitchFamily="2" charset="-122"/>
              </a:rPr>
              <a:t>（信息系统）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Systems analysis</a:t>
            </a:r>
            <a:r>
              <a:rPr lang="zh-CN" altLang="en-US" dirty="0">
                <a:ea typeface="宋体" panose="02010600030101010101" pitchFamily="2" charset="-122"/>
              </a:rPr>
              <a:t>（系统分析）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 design</a:t>
            </a:r>
            <a:r>
              <a:rPr lang="zh-CN" altLang="en-US" dirty="0">
                <a:ea typeface="宋体" panose="02010600030101010101" pitchFamily="2" charset="-122"/>
              </a:rPr>
              <a:t>（系统设计）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System development lifecycle (SDLC</a:t>
            </a:r>
            <a:r>
              <a:rPr lang="zh-CN" altLang="en-US" dirty="0">
                <a:ea typeface="宋体" panose="02010600030101010101" pitchFamily="2" charset="-122"/>
              </a:rPr>
              <a:t>，系统开发生命周期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Information system development process (methodology</a:t>
            </a:r>
            <a:r>
              <a:rPr lang="zh-CN" altLang="en-US" dirty="0">
                <a:ea typeface="宋体" panose="02010600030101010101" pitchFamily="2" charset="-122"/>
              </a:rPr>
              <a:t>，信息系统开发过程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Agile development</a:t>
            </a:r>
            <a:r>
              <a:rPr lang="zh-CN" altLang="en-US" dirty="0">
                <a:ea typeface="宋体" panose="02010600030101010101" pitchFamily="2" charset="-122"/>
              </a:rPr>
              <a:t>（敏捷开发）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Iterative development</a:t>
            </a:r>
            <a:r>
              <a:rPr lang="zh-CN" altLang="en-US" dirty="0">
                <a:ea typeface="宋体" panose="02010600030101010101" pitchFamily="2" charset="-122"/>
              </a:rPr>
              <a:t>（迭代开发）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29" name="Footer Placeholder 4">
            <a:extLst>
              <a:ext uri="{FF2B5EF4-FFF2-40B4-BE49-F238E27FC236}">
                <a16:creationId xmlns:a16="http://schemas.microsoft.com/office/drawing/2014/main" id="{D8D4382A-6D00-4FA1-A33B-41E2C392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Introduction to Systems Analysis and Design, 6th Edition</a:t>
            </a:r>
          </a:p>
        </p:txBody>
      </p:sp>
      <p:sp>
        <p:nvSpPr>
          <p:cNvPr id="77830" name="Rectangle 4">
            <a:extLst>
              <a:ext uri="{FF2B5EF4-FFF2-40B4-BE49-F238E27FC236}">
                <a16:creationId xmlns:a16="http://schemas.microsoft.com/office/drawing/2014/main" id="{F85D3387-E022-4808-A628-5CEE0D4A7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519863"/>
            <a:ext cx="7508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© 2012 Cengage Learning. All Rights Reserved. This edition is intended for use outside of the U.S. only, with content that may be different from the U.S. Edition.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800">
                <a:solidFill>
                  <a:srgbClr val="C0C0C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May not be scanned, copied, duplicated, or posted to a publicly accessible website, in whole or in part.</a:t>
            </a:r>
            <a:endParaRPr lang="en-US" altLang="zh-CN" sz="240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2532</TotalTime>
  <Words>10242</Words>
  <Application>Microsoft Office PowerPoint</Application>
  <PresentationFormat>全屏显示(4:3)</PresentationFormat>
  <Paragraphs>918</Paragraphs>
  <Slides>81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81</vt:i4>
      </vt:variant>
    </vt:vector>
  </HeadingPairs>
  <TitlesOfParts>
    <vt:vector size="87" baseType="lpstr">
      <vt:lpstr>ITC Avant Garde Std Bk</vt:lpstr>
      <vt:lpstr>PingFang SC</vt:lpstr>
      <vt:lpstr>微软雅黑</vt:lpstr>
      <vt:lpstr>Arial</vt:lpstr>
      <vt:lpstr>Wingdings</vt:lpstr>
      <vt:lpstr>Network</vt:lpstr>
      <vt:lpstr>PowerPoint 演示文稿</vt:lpstr>
      <vt:lpstr>Chapter 1 Outline</vt:lpstr>
      <vt:lpstr>Learning Objectives</vt:lpstr>
      <vt:lpstr>Learning Objectives</vt:lpstr>
      <vt:lpstr>Chapter 1 Outline</vt:lpstr>
      <vt:lpstr>Software Development and Systems Analysis and Design</vt:lpstr>
      <vt:lpstr>Information Systems and Component Parts</vt:lpstr>
      <vt:lpstr>Information Systems and Component Parts</vt:lpstr>
      <vt:lpstr>Information Systems and Component Parts</vt:lpstr>
      <vt:lpstr>System Boundary vs. Automation Boundary</vt:lpstr>
      <vt:lpstr>Software Development and Systems Analysis and Design</vt:lpstr>
      <vt:lpstr>PowerPoint 演示文稿</vt:lpstr>
      <vt:lpstr>The Analyst as a Business Problem Solver</vt:lpstr>
      <vt:lpstr>Analyst’s Approach to Problem Solving</vt:lpstr>
      <vt:lpstr>Required Skills of the Systems Analyst</vt:lpstr>
      <vt:lpstr>Integrity and Ethics  （诚信与道德要求）</vt:lpstr>
      <vt:lpstr>Chapter 1 Outline</vt:lpstr>
      <vt:lpstr>PowerPoint 演示文稿</vt:lpstr>
      <vt:lpstr>Traditional Predictive Approach to the SDLC</vt:lpstr>
      <vt:lpstr>Information System Development Phases</vt:lpstr>
      <vt:lpstr>“Waterfall” Approach to the SDLC：瀑布式</vt:lpstr>
      <vt:lpstr>“Waterfall” Approach to the SDLC：瀑布式</vt:lpstr>
      <vt:lpstr>Chapter 1 Outline</vt:lpstr>
      <vt:lpstr>Overview (continued)</vt:lpstr>
      <vt:lpstr>The Spiral Life Cycle Model （螺旋生命周期模型）</vt:lpstr>
      <vt:lpstr>Iteration of System Development Activities 系统开发活动的迭代 </vt:lpstr>
      <vt:lpstr>Iterative and Agile Systems Development Lifecycle (SDLC)</vt:lpstr>
      <vt:lpstr>Two Approaches to System Development</vt:lpstr>
      <vt:lpstr>Three Structured Programming Constructs（结构化编程）</vt:lpstr>
      <vt:lpstr>Class Diagram Created During OO Analysis（面向对象）</vt:lpstr>
      <vt:lpstr>PowerPoint 演示文稿</vt:lpstr>
      <vt:lpstr>Chapter 1 Outline</vt:lpstr>
      <vt:lpstr>Ridgeline Mountain Outfitters (RMO) </vt:lpstr>
      <vt:lpstr>Ridgeline Mountain Outfitters (RMO) </vt:lpstr>
      <vt:lpstr>Ridgeline Mountain Outfitters (RMO) </vt:lpstr>
      <vt:lpstr>RMO Tradeshow System </vt:lpstr>
      <vt:lpstr>Pre-Project Activities</vt:lpstr>
      <vt:lpstr>System Vision Document  Problem description： 为什么要做？  System capabilities： 做什么？  Business benefits： 能带来什么收益？ </vt:lpstr>
      <vt:lpstr>Problem Description </vt:lpstr>
      <vt:lpstr>System Capabilities</vt:lpstr>
      <vt:lpstr>Business Benefits</vt:lpstr>
      <vt:lpstr>Ridgeline Mountain Outfitters (RMO) </vt:lpstr>
      <vt:lpstr>Day 1 Activities </vt:lpstr>
      <vt:lpstr>Work Breakdown Structure for Iteration（工作分解结构，基于SDLC后四个核心过程）  1. 发现并理解问题各个方面的细节 2.设计问题解决方案的组成部分（界面，数据库，结构等） 3. 代码实现各个组件 4. 进行系统级测试和部署 </vt:lpstr>
      <vt:lpstr>Work Sequence Draft for Iteration （工作顺序草案）    Elaborates on Work Breakdown Structure （详细阐述工作分解结构）</vt:lpstr>
      <vt:lpstr>Work Sequence Draft for Iteration （工作顺序草案）</vt:lpstr>
      <vt:lpstr>Day 2 Activities </vt:lpstr>
      <vt:lpstr>Day 2 Activities </vt:lpstr>
      <vt:lpstr>Day 2 Activities </vt:lpstr>
      <vt:lpstr>Identify Use Cases Both subsystems </vt:lpstr>
      <vt:lpstr>Day 2 Activities </vt:lpstr>
      <vt:lpstr>Identify Object Classes Both subsystems </vt:lpstr>
      <vt:lpstr>Preliminary Class Diagram Both subsystems </vt:lpstr>
      <vt:lpstr>Day 3 Activities </vt:lpstr>
      <vt:lpstr>Day 3 Activities </vt:lpstr>
      <vt:lpstr>Details Focus on Supplier Information Subsystem （供应商信息子系统细节）</vt:lpstr>
      <vt:lpstr>Use Case Diagram（用例图） Supplier information subsystem</vt:lpstr>
      <vt:lpstr>Activity Diagram (Workflow) 开发工作流图： 记录一个用例的细节  Look up supplier use case 1. 椭圆代表任务，菱形代表决策点 2. 穿越中心线的箭头代表了系统和用户之间的相互作用</vt:lpstr>
      <vt:lpstr>Day 3 Activities </vt:lpstr>
      <vt:lpstr>Draft Screen Layout Look up supplier use case</vt:lpstr>
      <vt:lpstr>Day 4 Activities </vt:lpstr>
      <vt:lpstr>Database Schema</vt:lpstr>
      <vt:lpstr>Day 4 Activities </vt:lpstr>
      <vt:lpstr>Architectural Configuration Diagram</vt:lpstr>
      <vt:lpstr>Preliminary Design Class Diagram  Includes View Layer（视图层） Classes and Domain Layer（域层） Classes  Need to add Utility Classes（工具类） as well</vt:lpstr>
      <vt:lpstr>Subsystem Architectural Design Diagram （子系统架构设计图）</vt:lpstr>
      <vt:lpstr>Code Example for One Class</vt:lpstr>
      <vt:lpstr>Notes on Managing the Project （项目管理须知） </vt:lpstr>
      <vt:lpstr>Day 5 Activities </vt:lpstr>
      <vt:lpstr>Workflow of Testing Tasks 测试任务流程</vt:lpstr>
      <vt:lpstr>Day 6 Activities </vt:lpstr>
      <vt:lpstr>Screen Capture for Look up supplier use case（查找供应商界面）</vt:lpstr>
      <vt:lpstr>First Iteration Recap （第一次迭代回顾） </vt:lpstr>
      <vt:lpstr>This Book is about Activities and Tasks in the SDLC</vt:lpstr>
      <vt:lpstr>Chapter 1 Outline</vt:lpstr>
      <vt:lpstr>Where You Are Headed</vt:lpstr>
      <vt:lpstr>Where You Are Headed</vt:lpstr>
      <vt:lpstr>Where You Are Headed</vt:lpstr>
      <vt:lpstr>Where You Are Headed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From bla to bla</dc:title>
  <dc:creator>John</dc:creator>
  <cp:lastModifiedBy>鸽 王</cp:lastModifiedBy>
  <cp:revision>179</cp:revision>
  <cp:lastPrinted>1601-01-01T00:00:00Z</cp:lastPrinted>
  <dcterms:created xsi:type="dcterms:W3CDTF">2011-10-31T16:54:53Z</dcterms:created>
  <dcterms:modified xsi:type="dcterms:W3CDTF">2025-02-16T15:34:26Z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
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0" r:id="rId1"/>
  </p:sldMasterIdLst>
  <p:notesMasterIdLst>
    <p:notesMasterId r:id="rId64"/>
  </p:notesMasterIdLst>
  <p:sldIdLst>
    <p:sldId id="356" r:id="rId2"/>
    <p:sldId id="256" r:id="rId3"/>
    <p:sldId id="257" r:id="rId4"/>
    <p:sldId id="314" r:id="rId5"/>
    <p:sldId id="263" r:id="rId6"/>
    <p:sldId id="503" r:id="rId7"/>
    <p:sldId id="365" r:id="rId8"/>
    <p:sldId id="432" r:id="rId9"/>
    <p:sldId id="433" r:id="rId10"/>
    <p:sldId id="504" r:id="rId11"/>
    <p:sldId id="505" r:id="rId12"/>
    <p:sldId id="506" r:id="rId13"/>
    <p:sldId id="507" r:id="rId14"/>
    <p:sldId id="472" r:id="rId15"/>
    <p:sldId id="508" r:id="rId16"/>
    <p:sldId id="509" r:id="rId17"/>
    <p:sldId id="437" r:id="rId18"/>
    <p:sldId id="471" r:id="rId19"/>
    <p:sldId id="511" r:id="rId20"/>
    <p:sldId id="510" r:id="rId21"/>
    <p:sldId id="512" r:id="rId22"/>
    <p:sldId id="474" r:id="rId23"/>
    <p:sldId id="475" r:id="rId24"/>
    <p:sldId id="476" r:id="rId25"/>
    <p:sldId id="434" r:id="rId26"/>
    <p:sldId id="435" r:id="rId27"/>
    <p:sldId id="513" r:id="rId28"/>
    <p:sldId id="436" r:id="rId29"/>
    <p:sldId id="438" r:id="rId30"/>
    <p:sldId id="477" r:id="rId31"/>
    <p:sldId id="439" r:id="rId32"/>
    <p:sldId id="478" r:id="rId33"/>
    <p:sldId id="479" r:id="rId34"/>
    <p:sldId id="520" r:id="rId35"/>
    <p:sldId id="480" r:id="rId36"/>
    <p:sldId id="502" r:id="rId37"/>
    <p:sldId id="481" r:id="rId38"/>
    <p:sldId id="521" r:id="rId39"/>
    <p:sldId id="482" r:id="rId40"/>
    <p:sldId id="483" r:id="rId41"/>
    <p:sldId id="484" r:id="rId42"/>
    <p:sldId id="485" r:id="rId43"/>
    <p:sldId id="514" r:id="rId44"/>
    <p:sldId id="486" r:id="rId45"/>
    <p:sldId id="490" r:id="rId46"/>
    <p:sldId id="487" r:id="rId47"/>
    <p:sldId id="488" r:id="rId48"/>
    <p:sldId id="489" r:id="rId49"/>
    <p:sldId id="491" r:id="rId50"/>
    <p:sldId id="517" r:id="rId51"/>
    <p:sldId id="492" r:id="rId52"/>
    <p:sldId id="518" r:id="rId53"/>
    <p:sldId id="519" r:id="rId54"/>
    <p:sldId id="515" r:id="rId55"/>
    <p:sldId id="493" r:id="rId56"/>
    <p:sldId id="494" r:id="rId57"/>
    <p:sldId id="495" r:id="rId58"/>
    <p:sldId id="496" r:id="rId59"/>
    <p:sldId id="497" r:id="rId60"/>
    <p:sldId id="431" r:id="rId61"/>
    <p:sldId id="522" r:id="rId62"/>
    <p:sldId id="364" r:id="rId63"/>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67CB0"/>
    <a:srgbClr val="0000FF"/>
    <a:srgbClr val="0099CC"/>
    <a:srgbClr val="33CC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64" autoAdjust="0"/>
    <p:restoredTop sz="82891" autoAdjust="0"/>
  </p:normalViewPr>
  <p:slideViewPr>
    <p:cSldViewPr>
      <p:cViewPr varScale="1">
        <p:scale>
          <a:sx n="130" d="100"/>
          <a:sy n="130" d="100"/>
        </p:scale>
        <p:origin x="664" y="6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14C24D67-A439-4872-8CD8-BCDB1E1A1839}"/>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vl1pPr>
          </a:lstStyle>
          <a:p>
            <a:endParaRPr lang="en-US" altLang="zh-CN"/>
          </a:p>
        </p:txBody>
      </p:sp>
      <p:sp>
        <p:nvSpPr>
          <p:cNvPr id="75779" name="Rectangle 3">
            <a:extLst>
              <a:ext uri="{FF2B5EF4-FFF2-40B4-BE49-F238E27FC236}">
                <a16:creationId xmlns:a16="http://schemas.microsoft.com/office/drawing/2014/main" id="{3E822926-0222-41C1-8875-3994600ED48E}"/>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vl1pPr>
          </a:lstStyle>
          <a:p>
            <a:endParaRPr lang="en-US" altLang="zh-CN"/>
          </a:p>
        </p:txBody>
      </p:sp>
      <p:sp>
        <p:nvSpPr>
          <p:cNvPr id="3076" name="Rectangle 4">
            <a:extLst>
              <a:ext uri="{FF2B5EF4-FFF2-40B4-BE49-F238E27FC236}">
                <a16:creationId xmlns:a16="http://schemas.microsoft.com/office/drawing/2014/main" id="{06AAA94E-26B5-4F62-9D8B-5D08D76AD775}"/>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81" name="Rectangle 5">
            <a:extLst>
              <a:ext uri="{FF2B5EF4-FFF2-40B4-BE49-F238E27FC236}">
                <a16:creationId xmlns:a16="http://schemas.microsoft.com/office/drawing/2014/main" id="{7908063D-BBA7-47BA-830F-10BEAEC46964}"/>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5782" name="Rectangle 6">
            <a:extLst>
              <a:ext uri="{FF2B5EF4-FFF2-40B4-BE49-F238E27FC236}">
                <a16:creationId xmlns:a16="http://schemas.microsoft.com/office/drawing/2014/main" id="{55D8AD41-344A-4DB2-A007-DD98E101AE76}"/>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vl1pPr>
          </a:lstStyle>
          <a:p>
            <a:endParaRPr lang="en-US" altLang="zh-CN"/>
          </a:p>
        </p:txBody>
      </p:sp>
      <p:sp>
        <p:nvSpPr>
          <p:cNvPr id="75783" name="Rectangle 7">
            <a:extLst>
              <a:ext uri="{FF2B5EF4-FFF2-40B4-BE49-F238E27FC236}">
                <a16:creationId xmlns:a16="http://schemas.microsoft.com/office/drawing/2014/main" id="{67B698E0-E513-43A1-9800-35339ADBA53C}"/>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4F8F63B6-D3D6-41E2-9CA2-359A96C8D7DB}"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kumimoji="1"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kumimoji="1"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kumimoji="1"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kumimoji="1"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面向对象设计：设计原则</a:t>
            </a:r>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2</a:t>
            </a:fld>
            <a:endParaRPr lang="en-US" altLang="zh-CN"/>
          </a:p>
        </p:txBody>
      </p:sp>
    </p:spTree>
    <p:extLst>
      <p:ext uri="{BB962C8B-B14F-4D97-AF65-F5344CB8AC3E}">
        <p14:creationId xmlns:p14="http://schemas.microsoft.com/office/powerpoint/2010/main" val="1905642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C8FF8327-740B-448C-8BD0-3BF3255B51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cs typeface="Arial" panose="020B0604020202020204" pitchFamily="34" charset="0"/>
              </a:defRPr>
            </a:lvl1pPr>
            <a:lvl2pPr marL="742950" indent="-285750">
              <a:spcBef>
                <a:spcPct val="30000"/>
              </a:spcBef>
              <a:defRPr kumimoji="1" sz="1200">
                <a:solidFill>
                  <a:schemeClr val="tx1"/>
                </a:solidFill>
                <a:latin typeface="Arial" panose="020B0604020202020204" pitchFamily="34" charset="0"/>
                <a:cs typeface="Arial" panose="020B0604020202020204" pitchFamily="34" charset="0"/>
              </a:defRPr>
            </a:lvl2pPr>
            <a:lvl3pPr marL="1143000" indent="-228600">
              <a:spcBef>
                <a:spcPct val="30000"/>
              </a:spcBef>
              <a:defRPr kumimoji="1" sz="1200">
                <a:solidFill>
                  <a:schemeClr val="tx1"/>
                </a:solidFill>
                <a:latin typeface="Arial" panose="020B0604020202020204" pitchFamily="34" charset="0"/>
                <a:cs typeface="Arial" panose="020B0604020202020204" pitchFamily="34" charset="0"/>
              </a:defRPr>
            </a:lvl3pPr>
            <a:lvl4pPr marL="1600200" indent="-228600">
              <a:spcBef>
                <a:spcPct val="30000"/>
              </a:spcBef>
              <a:defRPr kumimoji="1" sz="1200">
                <a:solidFill>
                  <a:schemeClr val="tx1"/>
                </a:solidFill>
                <a:latin typeface="Arial" panose="020B0604020202020204" pitchFamily="34" charset="0"/>
                <a:cs typeface="Arial" panose="020B0604020202020204" pitchFamily="34" charset="0"/>
              </a:defRPr>
            </a:lvl4pPr>
            <a:lvl5pPr marL="2057400" indent="-228600">
              <a:spcBef>
                <a:spcPct val="30000"/>
              </a:spcBef>
              <a:defRPr kumimoji="1"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9pPr>
          </a:lstStyle>
          <a:p>
            <a:pPr>
              <a:spcBef>
                <a:spcPct val="0"/>
              </a:spcBef>
            </a:pPr>
            <a:fld id="{C279AD2A-D337-4409-84E4-9A08E4846619}" type="slidenum">
              <a:rPr kumimoji="0" lang="en-US" altLang="zh-CN"/>
              <a:pPr>
                <a:spcBef>
                  <a:spcPct val="0"/>
                </a:spcBef>
              </a:pPr>
              <a:t>3</a:t>
            </a:fld>
            <a:endParaRPr kumimoji="0" lang="en-US" altLang="zh-CN"/>
          </a:p>
        </p:txBody>
      </p:sp>
      <p:sp>
        <p:nvSpPr>
          <p:cNvPr id="9219" name="Rectangle 2">
            <a:extLst>
              <a:ext uri="{FF2B5EF4-FFF2-40B4-BE49-F238E27FC236}">
                <a16:creationId xmlns:a16="http://schemas.microsoft.com/office/drawing/2014/main" id="{FAB15351-6A13-4550-8707-87988220B3D2}"/>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75064ADA-DF5B-463B-B6AD-4AB0F4928B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cs typeface="Arial" panose="020B0604020202020204" pitchFamily="34" charset="0"/>
              </a:rPr>
              <a:t>面向对象设计：分析与实施的桥梁</a:t>
            </a:r>
            <a:endParaRPr lang="en-US" altLang="zh-CN" dirty="0">
              <a:latin typeface="Arial" panose="020B0604020202020204" pitchFamily="34" charset="0"/>
              <a:cs typeface="Arial" panose="020B0604020202020204" pitchFamily="34" charset="0"/>
            </a:endParaRPr>
          </a:p>
          <a:p>
            <a:pPr eaLnBrk="1" hangingPunct="1"/>
            <a:r>
              <a:rPr lang="zh-CN" altLang="en-US" dirty="0">
                <a:latin typeface="Arial" panose="020B0604020202020204" pitchFamily="34" charset="0"/>
                <a:cs typeface="Arial" panose="020B0604020202020204" pitchFamily="34" charset="0"/>
              </a:rPr>
              <a:t>面向对象结构化设计</a:t>
            </a:r>
            <a:endParaRPr lang="en-US" altLang="zh-CN" dirty="0">
              <a:latin typeface="Arial" panose="020B0604020202020204" pitchFamily="34" charset="0"/>
              <a:cs typeface="Arial" panose="020B0604020202020204" pitchFamily="34" charset="0"/>
            </a:endParaRPr>
          </a:p>
          <a:p>
            <a:pPr eaLnBrk="1" hangingPunct="1"/>
            <a:r>
              <a:rPr lang="zh-CN" altLang="en-US" dirty="0">
                <a:latin typeface="Arial" panose="020B0604020202020204" pitchFamily="34" charset="0"/>
                <a:cs typeface="Arial" panose="020B0604020202020204" pitchFamily="34" charset="0"/>
              </a:rPr>
              <a:t>面向对象细节设计的基本原则</a:t>
            </a:r>
            <a:endParaRPr lang="en-US" altLang="zh-CN" dirty="0">
              <a:latin typeface="Arial" panose="020B0604020202020204" pitchFamily="34" charset="0"/>
              <a:cs typeface="Arial" panose="020B0604020202020204" pitchFamily="34" charset="0"/>
            </a:endParaRPr>
          </a:p>
          <a:p>
            <a:pPr eaLnBrk="1" hangingPunct="1"/>
            <a:r>
              <a:rPr lang="zh-CN" altLang="en-US" dirty="0">
                <a:latin typeface="Arial" panose="020B0604020202020204" pitchFamily="34" charset="0"/>
                <a:cs typeface="Arial" panose="020B0604020202020204" pitchFamily="34" charset="0"/>
              </a:rPr>
              <a:t>设计类和设计类图</a:t>
            </a:r>
            <a:endParaRPr lang="en-US" altLang="zh-CN" dirty="0">
              <a:latin typeface="Arial" panose="020B0604020202020204" pitchFamily="34" charset="0"/>
              <a:cs typeface="Arial" panose="020B0604020202020204" pitchFamily="34" charset="0"/>
            </a:endParaRPr>
          </a:p>
          <a:p>
            <a:pPr eaLnBrk="1" hangingPunct="1"/>
            <a:r>
              <a:rPr lang="zh-CN" altLang="en-US" dirty="0">
                <a:latin typeface="Arial" panose="020B0604020202020204" pitchFamily="34" charset="0"/>
                <a:cs typeface="Arial" panose="020B0604020202020204" pitchFamily="34" charset="0"/>
              </a:rPr>
              <a:t>用</a:t>
            </a:r>
            <a:r>
              <a:rPr lang="en-US" altLang="zh-CN" dirty="0">
                <a:latin typeface="Arial" panose="020B0604020202020204" pitchFamily="34" charset="0"/>
                <a:cs typeface="Arial" panose="020B0604020202020204" pitchFamily="34" charset="0"/>
              </a:rPr>
              <a:t>CRC</a:t>
            </a:r>
            <a:r>
              <a:rPr lang="zh-CN" altLang="en-US" dirty="0">
                <a:latin typeface="Arial" panose="020B0604020202020204" pitchFamily="34" charset="0"/>
                <a:cs typeface="Arial" panose="020B0604020202020204" pitchFamily="34" charset="0"/>
              </a:rPr>
              <a:t>卡进行细节设计</a:t>
            </a:r>
            <a:endParaRPr lang="en-US" altLang="zh-CN" dirty="0">
              <a:latin typeface="Arial" panose="020B0604020202020204" pitchFamily="34" charset="0"/>
              <a:cs typeface="Arial" panose="020B0604020202020204" pitchFamily="34" charset="0"/>
            </a:endParaRPr>
          </a:p>
          <a:p>
            <a:pPr eaLnBrk="1" hangingPunct="1"/>
            <a:r>
              <a:rPr lang="zh-CN" altLang="en-US" dirty="0">
                <a:latin typeface="Arial" panose="020B0604020202020204" pitchFamily="34" charset="0"/>
                <a:cs typeface="Arial" panose="020B0604020202020204" pitchFamily="34" charset="0"/>
              </a:rPr>
              <a:t>细节设计的基本原则</a:t>
            </a:r>
            <a:endParaRPr lang="zh-CN" altLang="zh-CN" dirty="0">
              <a:latin typeface="Arial" panose="020B0604020202020204" pitchFamily="34" charset="0"/>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解释面向对象设计的目的和目标</a:t>
            </a:r>
            <a:endParaRPr lang="en-US" altLang="zh-CN" dirty="0"/>
          </a:p>
          <a:p>
            <a:r>
              <a:rPr lang="zh-CN" altLang="en-US" dirty="0"/>
              <a:t>开发</a:t>
            </a:r>
            <a:r>
              <a:rPr lang="en-US" altLang="zh-CN" dirty="0"/>
              <a:t>UML</a:t>
            </a:r>
            <a:r>
              <a:rPr lang="zh-CN" altLang="en-US" dirty="0"/>
              <a:t>组件图</a:t>
            </a:r>
            <a:endParaRPr lang="en-US" altLang="zh-CN" dirty="0"/>
          </a:p>
          <a:p>
            <a:r>
              <a:rPr lang="zh-CN" altLang="en-US" dirty="0"/>
              <a:t>开发设计类图</a:t>
            </a:r>
            <a:endParaRPr lang="en-US" altLang="zh-CN" dirty="0"/>
          </a:p>
          <a:p>
            <a:r>
              <a:rPr lang="zh-CN" altLang="en-US" dirty="0"/>
              <a:t>使用</a:t>
            </a:r>
            <a:r>
              <a:rPr lang="en-US" altLang="zh-CN" dirty="0"/>
              <a:t>CRC</a:t>
            </a:r>
            <a:r>
              <a:rPr lang="zh-CN" altLang="en-US" dirty="0"/>
              <a:t>卡来定义类的职责和合作</a:t>
            </a:r>
            <a:endParaRPr lang="en-US" altLang="zh-CN" dirty="0"/>
          </a:p>
          <a:p>
            <a:r>
              <a:rPr lang="zh-CN" altLang="en-US" dirty="0"/>
              <a:t>解释某些面向对象设计的基本原则</a:t>
            </a:r>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4</a:t>
            </a:fld>
            <a:endParaRPr lang="en-US" altLang="zh-CN"/>
          </a:p>
        </p:txBody>
      </p:sp>
    </p:spTree>
    <p:extLst>
      <p:ext uri="{BB962C8B-B14F-4D97-AF65-F5344CB8AC3E}">
        <p14:creationId xmlns:p14="http://schemas.microsoft.com/office/powerpoint/2010/main" val="41869750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本章和下一章的重点是为新系统设计软件，包括架构设计和详细设计</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对于架构设计，模型为</a:t>
            </a:r>
            <a:r>
              <a:rPr lang="en-US" altLang="zh-CN" b="0" i="0" dirty="0">
                <a:solidFill>
                  <a:srgbClr val="2A2B2E"/>
                </a:solidFill>
                <a:effectLst/>
                <a:latin typeface="PingFang SC"/>
              </a:rPr>
              <a:t>UML</a:t>
            </a:r>
            <a:r>
              <a:rPr lang="zh-CN" altLang="en-US" b="0" i="0" dirty="0">
                <a:solidFill>
                  <a:srgbClr val="2A2B2E"/>
                </a:solidFill>
                <a:effectLst/>
                <a:latin typeface="PingFang SC"/>
              </a:rPr>
              <a:t>组件图</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对于详细设计，主要的模型是设计类图和顺序图</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在本章中，使用</a:t>
            </a:r>
            <a:r>
              <a:rPr lang="en-US" altLang="zh-CN" b="0" i="0" dirty="0">
                <a:solidFill>
                  <a:srgbClr val="2A2B2E"/>
                </a:solidFill>
                <a:effectLst/>
                <a:latin typeface="PingFang SC"/>
              </a:rPr>
              <a:t>CRC</a:t>
            </a:r>
            <a:r>
              <a:rPr lang="zh-CN" altLang="en-US" b="0" i="0" dirty="0">
                <a:solidFill>
                  <a:srgbClr val="2A2B2E"/>
                </a:solidFill>
                <a:effectLst/>
                <a:latin typeface="PingFang SC"/>
              </a:rPr>
              <a:t>卡技术设计面向对象软件</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5</a:t>
            </a:fld>
            <a:endParaRPr lang="en-US" altLang="zh-CN"/>
          </a:p>
        </p:txBody>
      </p:sp>
    </p:spTree>
    <p:extLst>
      <p:ext uri="{BB962C8B-B14F-4D97-AF65-F5344CB8AC3E}">
        <p14:creationId xmlns:p14="http://schemas.microsoft.com/office/powerpoint/2010/main" val="708996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C8FF8327-740B-448C-8BD0-3BF3255B51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cs typeface="Arial" panose="020B0604020202020204" pitchFamily="34" charset="0"/>
              </a:defRPr>
            </a:lvl1pPr>
            <a:lvl2pPr marL="742950" indent="-285750">
              <a:spcBef>
                <a:spcPct val="30000"/>
              </a:spcBef>
              <a:defRPr kumimoji="1" sz="1200">
                <a:solidFill>
                  <a:schemeClr val="tx1"/>
                </a:solidFill>
                <a:latin typeface="Arial" panose="020B0604020202020204" pitchFamily="34" charset="0"/>
                <a:cs typeface="Arial" panose="020B0604020202020204" pitchFamily="34" charset="0"/>
              </a:defRPr>
            </a:lvl2pPr>
            <a:lvl3pPr marL="1143000" indent="-228600">
              <a:spcBef>
                <a:spcPct val="30000"/>
              </a:spcBef>
              <a:defRPr kumimoji="1" sz="1200">
                <a:solidFill>
                  <a:schemeClr val="tx1"/>
                </a:solidFill>
                <a:latin typeface="Arial" panose="020B0604020202020204" pitchFamily="34" charset="0"/>
                <a:cs typeface="Arial" panose="020B0604020202020204" pitchFamily="34" charset="0"/>
              </a:defRPr>
            </a:lvl3pPr>
            <a:lvl4pPr marL="1600200" indent="-228600">
              <a:spcBef>
                <a:spcPct val="30000"/>
              </a:spcBef>
              <a:defRPr kumimoji="1" sz="1200">
                <a:solidFill>
                  <a:schemeClr val="tx1"/>
                </a:solidFill>
                <a:latin typeface="Arial" panose="020B0604020202020204" pitchFamily="34" charset="0"/>
                <a:cs typeface="Arial" panose="020B0604020202020204" pitchFamily="34" charset="0"/>
              </a:defRPr>
            </a:lvl4pPr>
            <a:lvl5pPr marL="2057400" indent="-228600">
              <a:spcBef>
                <a:spcPct val="30000"/>
              </a:spcBef>
              <a:defRPr kumimoji="1"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9pPr>
          </a:lstStyle>
          <a:p>
            <a:pPr>
              <a:spcBef>
                <a:spcPct val="0"/>
              </a:spcBef>
            </a:pPr>
            <a:fld id="{C279AD2A-D337-4409-84E4-9A08E4846619}" type="slidenum">
              <a:rPr kumimoji="0" lang="en-US" altLang="zh-CN"/>
              <a:pPr>
                <a:spcBef>
                  <a:spcPct val="0"/>
                </a:spcBef>
              </a:pPr>
              <a:t>6</a:t>
            </a:fld>
            <a:endParaRPr kumimoji="0" lang="en-US" altLang="zh-CN"/>
          </a:p>
        </p:txBody>
      </p:sp>
      <p:sp>
        <p:nvSpPr>
          <p:cNvPr id="9219" name="Rectangle 2">
            <a:extLst>
              <a:ext uri="{FF2B5EF4-FFF2-40B4-BE49-F238E27FC236}">
                <a16:creationId xmlns:a16="http://schemas.microsoft.com/office/drawing/2014/main" id="{FAB15351-6A13-4550-8707-87988220B3D2}"/>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75064ADA-DF5B-463B-B6AD-4AB0F4928B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cs typeface="Arial" panose="020B0604020202020204" pitchFamily="34" charset="0"/>
              </a:rPr>
              <a:t>面向对象设计：分析与实施的桥梁</a:t>
            </a:r>
            <a:endParaRPr lang="en-US"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518664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2A2B2E"/>
                </a:solidFill>
                <a:effectLst/>
                <a:latin typeface="PingFang SC"/>
              </a:rPr>
              <a:t>OO</a:t>
            </a:r>
            <a:r>
              <a:rPr lang="zh-CN" altLang="en-US" b="0" i="0" dirty="0">
                <a:solidFill>
                  <a:srgbClr val="2A2B2E"/>
                </a:solidFill>
                <a:effectLst/>
                <a:latin typeface="PingFang SC"/>
              </a:rPr>
              <a:t>设计：从分析到设计的桥梁</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pPr algn="l"/>
            <a:r>
              <a:rPr lang="en-US" altLang="zh-CN" b="0" i="0" dirty="0">
                <a:solidFill>
                  <a:srgbClr val="2A2B2E"/>
                </a:solidFill>
                <a:effectLst/>
                <a:latin typeface="PingFang SC"/>
              </a:rPr>
              <a:t>OO</a:t>
            </a:r>
            <a:r>
              <a:rPr lang="zh-CN" altLang="en-US" b="0" i="0" dirty="0">
                <a:solidFill>
                  <a:srgbClr val="2A2B2E"/>
                </a:solidFill>
                <a:effectLst/>
                <a:latin typeface="PingFang SC"/>
              </a:rPr>
              <a:t>设计</a:t>
            </a:r>
            <a:r>
              <a:rPr lang="en-US" altLang="zh-CN" b="0" i="0" dirty="0">
                <a:solidFill>
                  <a:srgbClr val="2A2B2E"/>
                </a:solidFill>
                <a:effectLst/>
                <a:latin typeface="PingFang SC"/>
              </a:rPr>
              <a:t>:</a:t>
            </a:r>
            <a:r>
              <a:rPr lang="zh-CN" altLang="en-US" b="0" i="0" dirty="0">
                <a:solidFill>
                  <a:srgbClr val="2A2B2E"/>
                </a:solidFill>
                <a:effectLst/>
                <a:latin typeface="PingFang SC"/>
              </a:rPr>
              <a:t>构建一组详细的</a:t>
            </a:r>
            <a:r>
              <a:rPr lang="en-US" altLang="zh-CN" b="0" i="0" dirty="0">
                <a:solidFill>
                  <a:srgbClr val="2A2B2E"/>
                </a:solidFill>
                <a:effectLst/>
                <a:latin typeface="PingFang SC"/>
              </a:rPr>
              <a:t>OO</a:t>
            </a:r>
            <a:r>
              <a:rPr lang="zh-CN" altLang="en-US" b="0" i="0" dirty="0">
                <a:solidFill>
                  <a:srgbClr val="2A2B2E"/>
                </a:solidFill>
                <a:effectLst/>
                <a:latin typeface="PingFang SC"/>
              </a:rPr>
              <a:t>设计模型以用于编码的过程</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面向对象的优点是将第</a:t>
            </a:r>
            <a:r>
              <a:rPr lang="en-US" altLang="zh-CN" b="0" i="0" dirty="0">
                <a:solidFill>
                  <a:srgbClr val="2A2B2E"/>
                </a:solidFill>
                <a:effectLst/>
                <a:latin typeface="PingFang SC"/>
              </a:rPr>
              <a:t>3</a:t>
            </a:r>
            <a:r>
              <a:rPr lang="zh-CN" altLang="en-US" b="0" i="0" dirty="0">
                <a:solidFill>
                  <a:srgbClr val="2A2B2E"/>
                </a:solidFill>
                <a:effectLst/>
                <a:latin typeface="PingFang SC"/>
              </a:rPr>
              <a:t>、</a:t>
            </a:r>
            <a:r>
              <a:rPr lang="en-US" altLang="zh-CN" b="0" i="0" dirty="0">
                <a:solidFill>
                  <a:srgbClr val="2A2B2E"/>
                </a:solidFill>
                <a:effectLst/>
                <a:latin typeface="PingFang SC"/>
              </a:rPr>
              <a:t>4</a:t>
            </a:r>
            <a:r>
              <a:rPr lang="zh-CN" altLang="en-US" b="0" i="0" dirty="0">
                <a:solidFill>
                  <a:srgbClr val="2A2B2E"/>
                </a:solidFill>
                <a:effectLst/>
                <a:latin typeface="PingFang SC"/>
              </a:rPr>
              <a:t>和</a:t>
            </a:r>
            <a:r>
              <a:rPr lang="en-US" altLang="zh-CN" b="0" i="0" dirty="0">
                <a:solidFill>
                  <a:srgbClr val="2A2B2E"/>
                </a:solidFill>
                <a:effectLst/>
                <a:latin typeface="PingFang SC"/>
              </a:rPr>
              <a:t>5</a:t>
            </a:r>
            <a:r>
              <a:rPr lang="zh-CN" altLang="en-US" b="0" i="0" dirty="0">
                <a:solidFill>
                  <a:srgbClr val="2A2B2E"/>
                </a:solidFill>
                <a:effectLst/>
                <a:latin typeface="PingFang SC"/>
              </a:rPr>
              <a:t>章中的需求模型扩展到设计模型。没有重新发明轮子</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设计模型是通过迭代</a:t>
            </a:r>
            <a:r>
              <a:rPr lang="en-US" altLang="zh-CN" b="0" i="0" dirty="0">
                <a:solidFill>
                  <a:srgbClr val="2A2B2E"/>
                </a:solidFill>
                <a:effectLst/>
                <a:latin typeface="PingFang SC"/>
              </a:rPr>
              <a:t>SDLC</a:t>
            </a:r>
            <a:r>
              <a:rPr lang="zh-CN" altLang="en-US" b="0" i="0" dirty="0">
                <a:solidFill>
                  <a:srgbClr val="2A2B2E"/>
                </a:solidFill>
                <a:effectLst/>
                <a:latin typeface="PingFang SC"/>
              </a:rPr>
              <a:t>与实际编码</a:t>
            </a:r>
            <a:r>
              <a:rPr lang="en-US" altLang="zh-CN" b="0" i="0" dirty="0">
                <a:solidFill>
                  <a:srgbClr val="2A2B2E"/>
                </a:solidFill>
                <a:effectLst/>
                <a:latin typeface="PingFang SC"/>
              </a:rPr>
              <a:t>/</a:t>
            </a:r>
            <a:r>
              <a:rPr lang="zh-CN" altLang="en-US" b="0" i="0" dirty="0">
                <a:solidFill>
                  <a:srgbClr val="2A2B2E"/>
                </a:solidFill>
                <a:effectLst/>
                <a:latin typeface="PingFang SC"/>
              </a:rPr>
              <a:t>实现并行创建的</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敏捷方法认为，只有在必要时才创建模型。简单的细节方面在编码前不需要设计模型</a:t>
            </a:r>
            <a:endParaRPr lang="zh-CN" altLang="en-US" dirty="0"/>
          </a:p>
          <a:p>
            <a:pPr algn="l"/>
            <a:br>
              <a:rPr lang="zh-CN" altLang="en-US" dirty="0"/>
            </a:br>
            <a:endParaRPr lang="zh-CN" altLang="en-US" b="0" i="0" dirty="0">
              <a:solidFill>
                <a:srgbClr val="2A2B2E"/>
              </a:solidFill>
              <a:effectLst/>
              <a:latin typeface="PingFang SC"/>
            </a:endParaRPr>
          </a:p>
          <a:p>
            <a:pPr algn="l"/>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7</a:t>
            </a:fld>
            <a:endParaRPr lang="en-US" altLang="zh-CN"/>
          </a:p>
        </p:txBody>
      </p:sp>
    </p:spTree>
    <p:extLst>
      <p:ext uri="{BB962C8B-B14F-4D97-AF65-F5344CB8AC3E}">
        <p14:creationId xmlns:p14="http://schemas.microsoft.com/office/powerpoint/2010/main" val="35276148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面向对象事件驱动程序流</a:t>
            </a:r>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8</a:t>
            </a:fld>
            <a:endParaRPr lang="en-US" altLang="zh-CN"/>
          </a:p>
        </p:txBody>
      </p:sp>
    </p:spTree>
    <p:extLst>
      <p:ext uri="{BB962C8B-B14F-4D97-AF65-F5344CB8AC3E}">
        <p14:creationId xmlns:p14="http://schemas.microsoft.com/office/powerpoint/2010/main" val="9259737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设计模型及其代表性的输入需求模型</a:t>
            </a:r>
            <a:endParaRPr lang="en-US" altLang="zh-CN"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9</a:t>
            </a:fld>
            <a:endParaRPr lang="en-US" altLang="zh-CN"/>
          </a:p>
        </p:txBody>
      </p:sp>
    </p:spTree>
    <p:extLst>
      <p:ext uri="{BB962C8B-B14F-4D97-AF65-F5344CB8AC3E}">
        <p14:creationId xmlns:p14="http://schemas.microsoft.com/office/powerpoint/2010/main" val="29629059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 </a:t>
            </a:r>
            <a:r>
              <a:rPr lang="zh-CN" altLang="en-US" dirty="0"/>
              <a:t>域模型类图  </a:t>
            </a:r>
            <a:r>
              <a:rPr lang="en-US" altLang="zh-CN" dirty="0"/>
              <a:t>-&gt;  </a:t>
            </a:r>
            <a:r>
              <a:rPr lang="zh-CN" altLang="en-US" dirty="0"/>
              <a:t>设计类图  </a:t>
            </a:r>
            <a:r>
              <a:rPr lang="en-US" altLang="zh-CN" dirty="0"/>
              <a:t>-&gt; </a:t>
            </a:r>
            <a:r>
              <a:rPr lang="zh-CN" altLang="en-US" dirty="0"/>
              <a:t>包图</a:t>
            </a:r>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10</a:t>
            </a:fld>
            <a:endParaRPr lang="en-US" altLang="zh-CN"/>
          </a:p>
        </p:txBody>
      </p:sp>
    </p:spTree>
    <p:extLst>
      <p:ext uri="{BB962C8B-B14F-4D97-AF65-F5344CB8AC3E}">
        <p14:creationId xmlns:p14="http://schemas.microsoft.com/office/powerpoint/2010/main" val="41863914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用例图，活动图和用例描述，系统顺序图  </a:t>
            </a:r>
            <a:r>
              <a:rPr lang="en-US" altLang="zh-CN" dirty="0"/>
              <a:t>-&gt;  </a:t>
            </a:r>
            <a:r>
              <a:rPr lang="zh-CN" altLang="en-US" dirty="0"/>
              <a:t>交互图（顺序图）</a:t>
            </a:r>
            <a:endParaRPr lang="en-US" altLang="zh-CN"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11</a:t>
            </a:fld>
            <a:endParaRPr lang="en-US" altLang="zh-CN"/>
          </a:p>
        </p:txBody>
      </p:sp>
    </p:spTree>
    <p:extLst>
      <p:ext uri="{BB962C8B-B14F-4D97-AF65-F5344CB8AC3E}">
        <p14:creationId xmlns:p14="http://schemas.microsoft.com/office/powerpoint/2010/main" val="20936365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需求状态机图 </a:t>
            </a:r>
            <a:r>
              <a:rPr lang="en-US" altLang="zh-CN" dirty="0"/>
              <a:t>-&gt; </a:t>
            </a:r>
            <a:r>
              <a:rPr lang="zh-CN" altLang="en-US" dirty="0"/>
              <a:t>设计状态机图</a:t>
            </a:r>
            <a:endParaRPr lang="en-US" altLang="zh-CN"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12</a:t>
            </a:fld>
            <a:endParaRPr lang="en-US" altLang="zh-CN"/>
          </a:p>
        </p:txBody>
      </p:sp>
    </p:spTree>
    <p:extLst>
      <p:ext uri="{BB962C8B-B14F-4D97-AF65-F5344CB8AC3E}">
        <p14:creationId xmlns:p14="http://schemas.microsoft.com/office/powerpoint/2010/main" val="3302823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C8FF8327-740B-448C-8BD0-3BF3255B51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cs typeface="Arial" panose="020B0604020202020204" pitchFamily="34" charset="0"/>
              </a:defRPr>
            </a:lvl1pPr>
            <a:lvl2pPr marL="742950" indent="-285750">
              <a:spcBef>
                <a:spcPct val="30000"/>
              </a:spcBef>
              <a:defRPr kumimoji="1" sz="1200">
                <a:solidFill>
                  <a:schemeClr val="tx1"/>
                </a:solidFill>
                <a:latin typeface="Arial" panose="020B0604020202020204" pitchFamily="34" charset="0"/>
                <a:cs typeface="Arial" panose="020B0604020202020204" pitchFamily="34" charset="0"/>
              </a:defRPr>
            </a:lvl2pPr>
            <a:lvl3pPr marL="1143000" indent="-228600">
              <a:spcBef>
                <a:spcPct val="30000"/>
              </a:spcBef>
              <a:defRPr kumimoji="1" sz="1200">
                <a:solidFill>
                  <a:schemeClr val="tx1"/>
                </a:solidFill>
                <a:latin typeface="Arial" panose="020B0604020202020204" pitchFamily="34" charset="0"/>
                <a:cs typeface="Arial" panose="020B0604020202020204" pitchFamily="34" charset="0"/>
              </a:defRPr>
            </a:lvl3pPr>
            <a:lvl4pPr marL="1600200" indent="-228600">
              <a:spcBef>
                <a:spcPct val="30000"/>
              </a:spcBef>
              <a:defRPr kumimoji="1" sz="1200">
                <a:solidFill>
                  <a:schemeClr val="tx1"/>
                </a:solidFill>
                <a:latin typeface="Arial" panose="020B0604020202020204" pitchFamily="34" charset="0"/>
                <a:cs typeface="Arial" panose="020B0604020202020204" pitchFamily="34" charset="0"/>
              </a:defRPr>
            </a:lvl4pPr>
            <a:lvl5pPr marL="2057400" indent="-228600">
              <a:spcBef>
                <a:spcPct val="30000"/>
              </a:spcBef>
              <a:defRPr kumimoji="1"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9pPr>
          </a:lstStyle>
          <a:p>
            <a:pPr>
              <a:spcBef>
                <a:spcPct val="0"/>
              </a:spcBef>
            </a:pPr>
            <a:fld id="{C279AD2A-D337-4409-84E4-9A08E4846619}" type="slidenum">
              <a:rPr kumimoji="0" lang="en-US" altLang="zh-CN"/>
              <a:pPr>
                <a:spcBef>
                  <a:spcPct val="0"/>
                </a:spcBef>
              </a:pPr>
              <a:t>13</a:t>
            </a:fld>
            <a:endParaRPr kumimoji="0" lang="en-US" altLang="zh-CN"/>
          </a:p>
        </p:txBody>
      </p:sp>
      <p:sp>
        <p:nvSpPr>
          <p:cNvPr id="9219" name="Rectangle 2">
            <a:extLst>
              <a:ext uri="{FF2B5EF4-FFF2-40B4-BE49-F238E27FC236}">
                <a16:creationId xmlns:a16="http://schemas.microsoft.com/office/drawing/2014/main" id="{FAB15351-6A13-4550-8707-87988220B3D2}"/>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75064ADA-DF5B-463B-B6AD-4AB0F4928B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cs typeface="Arial" panose="020B0604020202020204" pitchFamily="34" charset="0"/>
              </a:rPr>
              <a:t>面向对象结构化设计</a:t>
            </a:r>
            <a:endParaRPr lang="en-US"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670966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架构设计：</a:t>
            </a:r>
            <a:endParaRPr lang="en-US" altLang="zh-CN" dirty="0"/>
          </a:p>
          <a:p>
            <a:endParaRPr lang="en-US" altLang="zh-CN" dirty="0"/>
          </a:p>
          <a:p>
            <a:r>
              <a:rPr lang="zh-CN" altLang="en-US" dirty="0"/>
              <a:t>软件系统一般会分成两类：单用户系统和企业级系统</a:t>
            </a:r>
            <a:endParaRPr lang="en-US" altLang="zh-CN" dirty="0"/>
          </a:p>
          <a:p>
            <a:endParaRPr lang="en-US" altLang="zh-CN" dirty="0"/>
          </a:p>
          <a:p>
            <a:r>
              <a:rPr lang="zh-CN" altLang="en-US" dirty="0"/>
              <a:t>企业级系统：</a:t>
            </a:r>
            <a:r>
              <a:rPr lang="zh-CN" altLang="en-US" b="0" i="0" dirty="0">
                <a:solidFill>
                  <a:srgbClr val="2A2B2E"/>
                </a:solidFill>
                <a:effectLst/>
                <a:latin typeface="PingFang SC"/>
              </a:rPr>
              <a:t>在组织中的多个人员或组之间共享资源的系统</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两种选择：基于</a:t>
            </a:r>
            <a:r>
              <a:rPr lang="en-US" altLang="zh-CN" b="0" i="0" dirty="0">
                <a:solidFill>
                  <a:srgbClr val="2A2B2E"/>
                </a:solidFill>
                <a:effectLst/>
                <a:latin typeface="PingFang SC"/>
              </a:rPr>
              <a:t>client-server  </a:t>
            </a:r>
            <a:r>
              <a:rPr lang="zh-CN" altLang="en-US" b="0" i="0" dirty="0">
                <a:solidFill>
                  <a:srgbClr val="2A2B2E"/>
                </a:solidFill>
                <a:effectLst/>
                <a:latin typeface="PingFang SC"/>
              </a:rPr>
              <a:t>和  基于互联网的</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对比：</a:t>
            </a:r>
            <a:r>
              <a:rPr lang="en-US" altLang="zh-CN" b="0" i="0" dirty="0">
                <a:solidFill>
                  <a:srgbClr val="2A2B2E"/>
                </a:solidFill>
                <a:effectLst/>
                <a:latin typeface="PingFang SC"/>
              </a:rPr>
              <a:t>C-S</a:t>
            </a:r>
            <a:r>
              <a:rPr lang="zh-CN" altLang="en-US" b="0" i="0" dirty="0">
                <a:solidFill>
                  <a:srgbClr val="2A2B2E"/>
                </a:solidFill>
                <a:effectLst/>
                <a:latin typeface="PingFang SC"/>
              </a:rPr>
              <a:t>的连接是长期的</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14</a:t>
            </a:fld>
            <a:endParaRPr lang="en-US" altLang="zh-CN"/>
          </a:p>
        </p:txBody>
      </p:sp>
    </p:spTree>
    <p:extLst>
      <p:ext uri="{BB962C8B-B14F-4D97-AF65-F5344CB8AC3E}">
        <p14:creationId xmlns:p14="http://schemas.microsoft.com/office/powerpoint/2010/main" val="9177546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C-S</a:t>
            </a:r>
            <a:r>
              <a:rPr lang="zh-CN" altLang="en-US" dirty="0"/>
              <a:t>：直接显示</a:t>
            </a:r>
            <a:endParaRPr lang="en-US" altLang="zh-CN" dirty="0"/>
          </a:p>
          <a:p>
            <a:r>
              <a:rPr lang="en-US" altLang="zh-CN" b="0" i="0" dirty="0">
                <a:solidFill>
                  <a:srgbClr val="2A2B2E"/>
                </a:solidFill>
                <a:effectLst/>
                <a:latin typeface="PingFang SC"/>
              </a:rPr>
              <a:t>Internet</a:t>
            </a:r>
            <a:r>
              <a:rPr lang="zh-CN" altLang="en-US" b="0" i="0" dirty="0">
                <a:solidFill>
                  <a:srgbClr val="2A2B2E"/>
                </a:solidFill>
                <a:effectLst/>
                <a:latin typeface="PingFang SC"/>
              </a:rPr>
              <a:t>：通过浏览器显示</a:t>
            </a:r>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15</a:t>
            </a:fld>
            <a:endParaRPr lang="en-US" altLang="zh-CN"/>
          </a:p>
        </p:txBody>
      </p:sp>
    </p:spTree>
    <p:extLst>
      <p:ext uri="{BB962C8B-B14F-4D97-AF65-F5344CB8AC3E}">
        <p14:creationId xmlns:p14="http://schemas.microsoft.com/office/powerpoint/2010/main" val="34901990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16</a:t>
            </a:fld>
            <a:endParaRPr lang="en-US" altLang="zh-CN"/>
          </a:p>
        </p:txBody>
      </p:sp>
    </p:spTree>
    <p:extLst>
      <p:ext uri="{BB962C8B-B14F-4D97-AF65-F5344CB8AC3E}">
        <p14:creationId xmlns:p14="http://schemas.microsoft.com/office/powerpoint/2010/main" val="17050165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组件图</a:t>
            </a:r>
            <a:endParaRPr lang="en-US" altLang="zh-CN" dirty="0"/>
          </a:p>
          <a:p>
            <a:r>
              <a:rPr lang="zh-CN" altLang="en-US" b="0" i="0" dirty="0">
                <a:solidFill>
                  <a:srgbClr val="2A2B2E"/>
                </a:solidFill>
                <a:effectLst/>
                <a:latin typeface="PingFang SC"/>
              </a:rPr>
              <a:t>  一种设计图，它显示了整个系统体系结构和其中的逻辑组件，用于如何实现系统</a:t>
            </a:r>
            <a:endParaRPr lang="en-US" altLang="zh-CN" b="0" i="0" dirty="0">
              <a:solidFill>
                <a:srgbClr val="2A2B2E"/>
              </a:solidFill>
              <a:effectLst/>
              <a:latin typeface="PingFang SC"/>
            </a:endParaRPr>
          </a:p>
          <a:p>
            <a:r>
              <a:rPr lang="zh-CN" altLang="en-US" b="0" i="0" dirty="0">
                <a:solidFill>
                  <a:srgbClr val="2A2B2E"/>
                </a:solidFill>
                <a:effectLst/>
                <a:latin typeface="PingFang SC"/>
              </a:rPr>
              <a:t>  标识定义系统体系结构的逻辑的、可重用的和可移植的系统组件</a:t>
            </a:r>
            <a:endParaRPr lang="en-US" altLang="zh-CN" b="0" i="0" dirty="0">
              <a:solidFill>
                <a:srgbClr val="2A2B2E"/>
              </a:solidFill>
              <a:effectLst/>
              <a:latin typeface="PingFang SC"/>
            </a:endParaRPr>
          </a:p>
          <a:p>
            <a:r>
              <a:rPr lang="zh-CN" altLang="en-US" b="0" i="0" dirty="0">
                <a:solidFill>
                  <a:srgbClr val="2A2B2E"/>
                </a:solidFill>
                <a:effectLst/>
                <a:latin typeface="PingFang SC"/>
              </a:rPr>
              <a:t>  组件图的基本元素是带有</a:t>
            </a:r>
            <a:r>
              <a:rPr lang="en-US" altLang="zh-CN" b="0" i="0" dirty="0">
                <a:solidFill>
                  <a:srgbClr val="2A2B2E"/>
                </a:solidFill>
                <a:effectLst/>
                <a:latin typeface="PingFang SC"/>
              </a:rPr>
              <a:t>API</a:t>
            </a:r>
            <a:r>
              <a:rPr lang="zh-CN" altLang="en-US" b="0" i="0" dirty="0">
                <a:solidFill>
                  <a:srgbClr val="2A2B2E"/>
                </a:solidFill>
                <a:effectLst/>
                <a:latin typeface="PingFang SC"/>
              </a:rPr>
              <a:t>的组件元素</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应用程序接口</a:t>
            </a:r>
            <a:endParaRPr lang="en-US" altLang="zh-CN" b="0" i="0" dirty="0">
              <a:solidFill>
                <a:srgbClr val="2A2B2E"/>
              </a:solidFill>
              <a:effectLst/>
              <a:latin typeface="PingFang SC"/>
            </a:endParaRPr>
          </a:p>
          <a:p>
            <a:r>
              <a:rPr lang="zh-CN" altLang="en-US" b="0" i="0" dirty="0">
                <a:solidFill>
                  <a:srgbClr val="2A2B2E"/>
                </a:solidFill>
                <a:effectLst/>
                <a:latin typeface="PingFang SC"/>
              </a:rPr>
              <a:t>  外部世界可用的一组公共方法</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17</a:t>
            </a:fld>
            <a:endParaRPr lang="en-US" altLang="zh-CN"/>
          </a:p>
        </p:txBody>
      </p:sp>
    </p:spTree>
    <p:extLst>
      <p:ext uri="{BB962C8B-B14F-4D97-AF65-F5344CB8AC3E}">
        <p14:creationId xmlns:p14="http://schemas.microsoft.com/office/powerpoint/2010/main" val="37641874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UML</a:t>
            </a:r>
            <a:r>
              <a:rPr lang="zh-CN" altLang="en-US" dirty="0"/>
              <a:t>组件图</a:t>
            </a:r>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18</a:t>
            </a:fld>
            <a:endParaRPr lang="en-US" altLang="zh-CN"/>
          </a:p>
        </p:txBody>
      </p:sp>
    </p:spTree>
    <p:extLst>
      <p:ext uri="{BB962C8B-B14F-4D97-AF65-F5344CB8AC3E}">
        <p14:creationId xmlns:p14="http://schemas.microsoft.com/office/powerpoint/2010/main" val="9023271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UML</a:t>
            </a:r>
            <a:r>
              <a:rPr lang="zh-CN" altLang="en-US" dirty="0"/>
              <a:t>组件图</a:t>
            </a:r>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19</a:t>
            </a:fld>
            <a:endParaRPr lang="en-US" altLang="zh-CN"/>
          </a:p>
        </p:txBody>
      </p:sp>
    </p:spTree>
    <p:extLst>
      <p:ext uri="{BB962C8B-B14F-4D97-AF65-F5344CB8AC3E}">
        <p14:creationId xmlns:p14="http://schemas.microsoft.com/office/powerpoint/2010/main" val="23472848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UML</a:t>
            </a:r>
            <a:r>
              <a:rPr lang="zh-CN" altLang="en-US" dirty="0"/>
              <a:t>组件图</a:t>
            </a:r>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20</a:t>
            </a:fld>
            <a:endParaRPr lang="en-US" altLang="zh-CN"/>
          </a:p>
        </p:txBody>
      </p:sp>
    </p:spTree>
    <p:extLst>
      <p:ext uri="{BB962C8B-B14F-4D97-AF65-F5344CB8AC3E}">
        <p14:creationId xmlns:p14="http://schemas.microsoft.com/office/powerpoint/2010/main" val="42649373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C8FF8327-740B-448C-8BD0-3BF3255B51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cs typeface="Arial" panose="020B0604020202020204" pitchFamily="34" charset="0"/>
              </a:defRPr>
            </a:lvl1pPr>
            <a:lvl2pPr marL="742950" indent="-285750">
              <a:spcBef>
                <a:spcPct val="30000"/>
              </a:spcBef>
              <a:defRPr kumimoji="1" sz="1200">
                <a:solidFill>
                  <a:schemeClr val="tx1"/>
                </a:solidFill>
                <a:latin typeface="Arial" panose="020B0604020202020204" pitchFamily="34" charset="0"/>
                <a:cs typeface="Arial" panose="020B0604020202020204" pitchFamily="34" charset="0"/>
              </a:defRPr>
            </a:lvl2pPr>
            <a:lvl3pPr marL="1143000" indent="-228600">
              <a:spcBef>
                <a:spcPct val="30000"/>
              </a:spcBef>
              <a:defRPr kumimoji="1" sz="1200">
                <a:solidFill>
                  <a:schemeClr val="tx1"/>
                </a:solidFill>
                <a:latin typeface="Arial" panose="020B0604020202020204" pitchFamily="34" charset="0"/>
                <a:cs typeface="Arial" panose="020B0604020202020204" pitchFamily="34" charset="0"/>
              </a:defRPr>
            </a:lvl3pPr>
            <a:lvl4pPr marL="1600200" indent="-228600">
              <a:spcBef>
                <a:spcPct val="30000"/>
              </a:spcBef>
              <a:defRPr kumimoji="1" sz="1200">
                <a:solidFill>
                  <a:schemeClr val="tx1"/>
                </a:solidFill>
                <a:latin typeface="Arial" panose="020B0604020202020204" pitchFamily="34" charset="0"/>
                <a:cs typeface="Arial" panose="020B0604020202020204" pitchFamily="34" charset="0"/>
              </a:defRPr>
            </a:lvl4pPr>
            <a:lvl5pPr marL="2057400" indent="-228600">
              <a:spcBef>
                <a:spcPct val="30000"/>
              </a:spcBef>
              <a:defRPr kumimoji="1"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9pPr>
          </a:lstStyle>
          <a:p>
            <a:pPr>
              <a:spcBef>
                <a:spcPct val="0"/>
              </a:spcBef>
            </a:pPr>
            <a:fld id="{C279AD2A-D337-4409-84E4-9A08E4846619}" type="slidenum">
              <a:rPr kumimoji="0" lang="en-US" altLang="zh-CN"/>
              <a:pPr>
                <a:spcBef>
                  <a:spcPct val="0"/>
                </a:spcBef>
              </a:pPr>
              <a:t>21</a:t>
            </a:fld>
            <a:endParaRPr kumimoji="0" lang="en-US" altLang="zh-CN"/>
          </a:p>
        </p:txBody>
      </p:sp>
      <p:sp>
        <p:nvSpPr>
          <p:cNvPr id="9219" name="Rectangle 2">
            <a:extLst>
              <a:ext uri="{FF2B5EF4-FFF2-40B4-BE49-F238E27FC236}">
                <a16:creationId xmlns:a16="http://schemas.microsoft.com/office/drawing/2014/main" id="{FAB15351-6A13-4550-8707-87988220B3D2}"/>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75064ADA-DF5B-463B-B6AD-4AB0F4928B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cs typeface="Arial" panose="020B0604020202020204" pitchFamily="34" charset="0"/>
              </a:rPr>
              <a:t>面向对象细节设计的基本原则</a:t>
            </a:r>
            <a:endParaRPr lang="en-US"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827348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详细设计</a:t>
            </a:r>
            <a:endParaRPr lang="en-US" altLang="zh-CN" b="0" i="0" dirty="0">
              <a:solidFill>
                <a:srgbClr val="2A2B2E"/>
              </a:solidFill>
              <a:effectLst/>
              <a:latin typeface="PingFang SC"/>
            </a:endParaRPr>
          </a:p>
          <a:p>
            <a:r>
              <a:rPr lang="en-US" altLang="zh-CN" b="0" i="0" dirty="0">
                <a:solidFill>
                  <a:srgbClr val="2A2B2E"/>
                </a:solidFill>
                <a:effectLst/>
                <a:latin typeface="PingFang SC"/>
              </a:rPr>
              <a:t>  </a:t>
            </a:r>
            <a:r>
              <a:rPr lang="zh-CN" altLang="en-US" b="0" i="0" dirty="0">
                <a:solidFill>
                  <a:srgbClr val="2A2B2E"/>
                </a:solidFill>
                <a:effectLst/>
                <a:latin typeface="PingFang SC"/>
              </a:rPr>
              <a:t>用例实现</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逐个用例设计和实现用例</a:t>
            </a:r>
            <a:endParaRPr lang="en-US" altLang="zh-CN" b="0" i="0" dirty="0">
              <a:solidFill>
                <a:srgbClr val="2A2B2E"/>
              </a:solidFill>
              <a:effectLst/>
              <a:latin typeface="PingFang SC"/>
            </a:endParaRPr>
          </a:p>
          <a:p>
            <a:r>
              <a:rPr lang="zh-CN" altLang="en-US" b="0" i="0" dirty="0">
                <a:solidFill>
                  <a:srgbClr val="2A2B2E"/>
                </a:solidFill>
                <a:effectLst/>
                <a:latin typeface="PingFang SC"/>
              </a:rPr>
              <a:t>  顺序图</a:t>
            </a:r>
            <a:r>
              <a:rPr lang="en-US" altLang="zh-CN" b="0" i="0" dirty="0">
                <a:solidFill>
                  <a:srgbClr val="2A2B2E"/>
                </a:solidFill>
                <a:effectLst/>
                <a:latin typeface="PingFang SC"/>
              </a:rPr>
              <a:t>——</a:t>
            </a:r>
            <a:r>
              <a:rPr lang="zh-CN" altLang="en-US" b="0" i="0" dirty="0">
                <a:solidFill>
                  <a:srgbClr val="2A2B2E"/>
                </a:solidFill>
                <a:effectLst/>
                <a:latin typeface="PingFang SC"/>
              </a:rPr>
              <a:t>由系统设计图扩展</a:t>
            </a:r>
            <a:endParaRPr lang="en-US" altLang="zh-CN" b="0" i="0" dirty="0">
              <a:solidFill>
                <a:srgbClr val="2A2B2E"/>
              </a:solidFill>
              <a:effectLst/>
              <a:latin typeface="PingFang SC"/>
            </a:endParaRPr>
          </a:p>
          <a:p>
            <a:r>
              <a:rPr lang="zh-CN" altLang="en-US" b="0" i="0" dirty="0">
                <a:solidFill>
                  <a:srgbClr val="2A2B2E"/>
                </a:solidFill>
                <a:effectLst/>
                <a:latin typeface="PingFang SC"/>
              </a:rPr>
              <a:t>  设计类图</a:t>
            </a:r>
            <a:r>
              <a:rPr lang="en-US" altLang="zh-CN" b="0" i="0" dirty="0">
                <a:solidFill>
                  <a:srgbClr val="2A2B2E"/>
                </a:solidFill>
                <a:effectLst/>
                <a:latin typeface="PingFang SC"/>
              </a:rPr>
              <a:t>——</a:t>
            </a:r>
            <a:r>
              <a:rPr lang="zh-CN" altLang="en-US" b="0" i="0" dirty="0">
                <a:solidFill>
                  <a:srgbClr val="2A2B2E"/>
                </a:solidFill>
                <a:effectLst/>
                <a:latin typeface="PingFang SC"/>
              </a:rPr>
              <a:t>由与模型类图扩展</a:t>
            </a:r>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22</a:t>
            </a:fld>
            <a:endParaRPr lang="en-US" altLang="zh-CN"/>
          </a:p>
        </p:txBody>
      </p:sp>
    </p:spTree>
    <p:extLst>
      <p:ext uri="{BB962C8B-B14F-4D97-AF65-F5344CB8AC3E}">
        <p14:creationId xmlns:p14="http://schemas.microsoft.com/office/powerpoint/2010/main" val="39645418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更新学生姓名的顺序图</a:t>
            </a:r>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23</a:t>
            </a:fld>
            <a:endParaRPr lang="en-US" altLang="zh-CN"/>
          </a:p>
        </p:txBody>
      </p:sp>
    </p:spTree>
    <p:extLst>
      <p:ext uri="{BB962C8B-B14F-4D97-AF65-F5344CB8AC3E}">
        <p14:creationId xmlns:p14="http://schemas.microsoft.com/office/powerpoint/2010/main" val="5251965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设计类图：</a:t>
            </a:r>
            <a:endParaRPr lang="en-US" altLang="zh-CN" dirty="0"/>
          </a:p>
          <a:p>
            <a:pPr algn="l"/>
            <a:r>
              <a:rPr lang="zh-CN" altLang="en-US" dirty="0"/>
              <a:t>描述属性：</a:t>
            </a:r>
            <a:r>
              <a:rPr lang="zh-CN" altLang="en-US" b="0" i="0" dirty="0">
                <a:solidFill>
                  <a:srgbClr val="2A2B2E"/>
                </a:solidFill>
                <a:effectLst/>
                <a:latin typeface="PingFang SC"/>
              </a:rPr>
              <a:t>可见性，类型，属性</a:t>
            </a:r>
          </a:p>
          <a:p>
            <a:br>
              <a:rPr lang="zh-CN" altLang="en-US" b="0" i="0" dirty="0">
                <a:solidFill>
                  <a:srgbClr val="939599"/>
                </a:solidFill>
                <a:effectLst/>
                <a:latin typeface="PingFang SC"/>
              </a:rPr>
            </a:br>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24</a:t>
            </a:fld>
            <a:endParaRPr lang="en-US" altLang="zh-CN"/>
          </a:p>
        </p:txBody>
      </p:sp>
    </p:spTree>
    <p:extLst>
      <p:ext uri="{BB962C8B-B14F-4D97-AF65-F5344CB8AC3E}">
        <p14:creationId xmlns:p14="http://schemas.microsoft.com/office/powerpoint/2010/main" val="15856668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lang="zh-CN" altLang="en-US" dirty="0"/>
              <a:t>开发初步设计类图，显示导航可见性（</a:t>
            </a:r>
            <a:r>
              <a:rPr lang="en-US" altLang="zh-CN" dirty="0"/>
              <a:t>10</a:t>
            </a:r>
            <a:r>
              <a:rPr lang="zh-CN" altLang="en-US" dirty="0"/>
              <a:t>）</a:t>
            </a:r>
            <a:endParaRPr lang="en-US" altLang="zh-CN" dirty="0"/>
          </a:p>
          <a:p>
            <a:pPr marL="228600" indent="-228600">
              <a:buAutoNum type="arabicPeriod"/>
            </a:pPr>
            <a:r>
              <a:rPr lang="zh-CN" altLang="en-US" dirty="0"/>
              <a:t>使用</a:t>
            </a:r>
            <a:r>
              <a:rPr lang="en-US" altLang="zh-CN" dirty="0"/>
              <a:t>CRC</a:t>
            </a:r>
            <a:r>
              <a:rPr lang="zh-CN" altLang="en-US" dirty="0"/>
              <a:t>卡位用例决定类的职责和合作（</a:t>
            </a:r>
            <a:r>
              <a:rPr lang="en-US" altLang="zh-CN" dirty="0"/>
              <a:t>10</a:t>
            </a:r>
            <a:r>
              <a:rPr lang="zh-CN" altLang="en-US" dirty="0"/>
              <a:t>）</a:t>
            </a:r>
            <a:endParaRPr lang="en-US" altLang="zh-CN" dirty="0"/>
          </a:p>
          <a:p>
            <a:pPr marL="228600" indent="-228600">
              <a:buAutoNum type="arabicPeriod"/>
            </a:pPr>
            <a:r>
              <a:rPr lang="zh-CN" altLang="en-US" dirty="0"/>
              <a:t>为每个用例开发详细的顺序图：</a:t>
            </a:r>
            <a:r>
              <a:rPr lang="en-US" altLang="zh-CN" dirty="0"/>
              <a:t>1</a:t>
            </a:r>
            <a:r>
              <a:rPr lang="zh-CN" altLang="en-US" dirty="0"/>
              <a:t>）开发初步顺序图；</a:t>
            </a:r>
            <a:r>
              <a:rPr lang="en-US" altLang="zh-CN" dirty="0"/>
              <a:t>2</a:t>
            </a:r>
            <a:r>
              <a:rPr lang="zh-CN" altLang="en-US" dirty="0"/>
              <a:t>）开发多层顺序图（</a:t>
            </a:r>
            <a:r>
              <a:rPr lang="en-US" altLang="zh-CN" dirty="0"/>
              <a:t>11</a:t>
            </a:r>
            <a:r>
              <a:rPr lang="zh-CN" altLang="en-US" dirty="0"/>
              <a:t>）</a:t>
            </a:r>
            <a:endParaRPr lang="en-US" altLang="zh-CN" dirty="0"/>
          </a:p>
          <a:p>
            <a:pPr marL="228600" indent="-228600">
              <a:buAutoNum type="arabicPeriod"/>
            </a:pPr>
            <a:r>
              <a:rPr lang="zh-CN" altLang="en-US" dirty="0"/>
              <a:t>使用</a:t>
            </a:r>
            <a:r>
              <a:rPr lang="en-US" altLang="zh-CN" dirty="0"/>
              <a:t>CRC</a:t>
            </a:r>
            <a:r>
              <a:rPr lang="zh-CN" altLang="en-US" dirty="0"/>
              <a:t>卡或顺序图，添加方法特征和导航信息，以此来更新设计类图（</a:t>
            </a:r>
            <a:r>
              <a:rPr lang="en-US" altLang="zh-CN" dirty="0"/>
              <a:t>11</a:t>
            </a:r>
            <a:r>
              <a:rPr lang="zh-CN" altLang="en-US" dirty="0"/>
              <a:t>）</a:t>
            </a:r>
            <a:endParaRPr lang="en-US" altLang="zh-CN" dirty="0"/>
          </a:p>
          <a:p>
            <a:pPr marL="228600" indent="-228600">
              <a:buAutoNum type="arabicPeriod"/>
            </a:pPr>
            <a:r>
              <a:rPr lang="zh-CN" altLang="en-US" dirty="0"/>
              <a:t>将解决方案划分成适当的包（</a:t>
            </a:r>
            <a:r>
              <a:rPr lang="en-US" altLang="zh-CN" dirty="0"/>
              <a:t>11</a:t>
            </a:r>
            <a:r>
              <a:rPr lang="zh-CN" altLang="en-US" dirty="0"/>
              <a:t>）</a:t>
            </a:r>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26</a:t>
            </a:fld>
            <a:endParaRPr lang="en-US" altLang="zh-CN"/>
          </a:p>
        </p:txBody>
      </p:sp>
    </p:spTree>
    <p:extLst>
      <p:ext uri="{BB962C8B-B14F-4D97-AF65-F5344CB8AC3E}">
        <p14:creationId xmlns:p14="http://schemas.microsoft.com/office/powerpoint/2010/main" val="11090625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C8FF8327-740B-448C-8BD0-3BF3255B51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cs typeface="Arial" panose="020B0604020202020204" pitchFamily="34" charset="0"/>
              </a:defRPr>
            </a:lvl1pPr>
            <a:lvl2pPr marL="742950" indent="-285750">
              <a:spcBef>
                <a:spcPct val="30000"/>
              </a:spcBef>
              <a:defRPr kumimoji="1" sz="1200">
                <a:solidFill>
                  <a:schemeClr val="tx1"/>
                </a:solidFill>
                <a:latin typeface="Arial" panose="020B0604020202020204" pitchFamily="34" charset="0"/>
                <a:cs typeface="Arial" panose="020B0604020202020204" pitchFamily="34" charset="0"/>
              </a:defRPr>
            </a:lvl2pPr>
            <a:lvl3pPr marL="1143000" indent="-228600">
              <a:spcBef>
                <a:spcPct val="30000"/>
              </a:spcBef>
              <a:defRPr kumimoji="1" sz="1200">
                <a:solidFill>
                  <a:schemeClr val="tx1"/>
                </a:solidFill>
                <a:latin typeface="Arial" panose="020B0604020202020204" pitchFamily="34" charset="0"/>
                <a:cs typeface="Arial" panose="020B0604020202020204" pitchFamily="34" charset="0"/>
              </a:defRPr>
            </a:lvl3pPr>
            <a:lvl4pPr marL="1600200" indent="-228600">
              <a:spcBef>
                <a:spcPct val="30000"/>
              </a:spcBef>
              <a:defRPr kumimoji="1" sz="1200">
                <a:solidFill>
                  <a:schemeClr val="tx1"/>
                </a:solidFill>
                <a:latin typeface="Arial" panose="020B0604020202020204" pitchFamily="34" charset="0"/>
                <a:cs typeface="Arial" panose="020B0604020202020204" pitchFamily="34" charset="0"/>
              </a:defRPr>
            </a:lvl4pPr>
            <a:lvl5pPr marL="2057400" indent="-228600">
              <a:spcBef>
                <a:spcPct val="30000"/>
              </a:spcBef>
              <a:defRPr kumimoji="1"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9pPr>
          </a:lstStyle>
          <a:p>
            <a:pPr>
              <a:spcBef>
                <a:spcPct val="0"/>
              </a:spcBef>
            </a:pPr>
            <a:fld id="{C279AD2A-D337-4409-84E4-9A08E4846619}" type="slidenum">
              <a:rPr kumimoji="0" lang="en-US" altLang="zh-CN"/>
              <a:pPr>
                <a:spcBef>
                  <a:spcPct val="0"/>
                </a:spcBef>
              </a:pPr>
              <a:t>27</a:t>
            </a:fld>
            <a:endParaRPr kumimoji="0" lang="en-US" altLang="zh-CN"/>
          </a:p>
        </p:txBody>
      </p:sp>
      <p:sp>
        <p:nvSpPr>
          <p:cNvPr id="9219" name="Rectangle 2">
            <a:extLst>
              <a:ext uri="{FF2B5EF4-FFF2-40B4-BE49-F238E27FC236}">
                <a16:creationId xmlns:a16="http://schemas.microsoft.com/office/drawing/2014/main" id="{FAB15351-6A13-4550-8707-87988220B3D2}"/>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75064ADA-DF5B-463B-B6AD-4AB0F4928B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cs typeface="Arial" panose="020B0604020202020204" pitchFamily="34" charset="0"/>
              </a:rPr>
              <a:t>设计类和设计类图</a:t>
            </a:r>
            <a:endParaRPr lang="en-US"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158306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设计类图的符号</a:t>
            </a:r>
            <a:endParaRPr lang="en-US" altLang="zh-CN" dirty="0"/>
          </a:p>
          <a:p>
            <a:endParaRPr lang="en-US" altLang="zh-CN" dirty="0"/>
          </a:p>
          <a:p>
            <a:r>
              <a:rPr lang="zh-CN" altLang="en-US" dirty="0"/>
              <a:t>设计类图和域模型的目标不同：</a:t>
            </a:r>
            <a:endParaRPr lang="en-US" altLang="zh-CN" dirty="0"/>
          </a:p>
          <a:p>
            <a:r>
              <a:rPr lang="zh-CN" altLang="en-US" dirty="0"/>
              <a:t>域模型类图：用户工作环境下的事务以及他们之间的联系。类不是特指软件类</a:t>
            </a:r>
            <a:endParaRPr lang="en-US" altLang="zh-CN" dirty="0"/>
          </a:p>
          <a:p>
            <a:r>
              <a:rPr lang="zh-CN" altLang="en-US" dirty="0"/>
              <a:t>设计类图：定义软件类</a:t>
            </a:r>
            <a:endParaRPr lang="en-US" altLang="zh-CN" dirty="0"/>
          </a:p>
          <a:p>
            <a:endParaRPr lang="en-US" altLang="zh-CN" dirty="0"/>
          </a:p>
          <a:p>
            <a:r>
              <a:rPr lang="zh-CN" altLang="en-US" dirty="0"/>
              <a:t>构造型：对模型元素以特定的类型分类</a:t>
            </a:r>
            <a:endParaRPr lang="en-US" altLang="zh-CN" dirty="0"/>
          </a:p>
          <a:p>
            <a:endParaRPr lang="en-US" altLang="zh-CN" dirty="0"/>
          </a:p>
          <a:p>
            <a:r>
              <a:rPr lang="zh-CN" altLang="en-US" dirty="0"/>
              <a:t>实体类：问题域类的设计标识符</a:t>
            </a:r>
            <a:endParaRPr lang="en-US" altLang="zh-CN" dirty="0"/>
          </a:p>
          <a:p>
            <a:r>
              <a:rPr lang="zh-CN" altLang="en-US" dirty="0"/>
              <a:t>边界类</a:t>
            </a:r>
            <a:r>
              <a:rPr lang="en-US" altLang="zh-CN" dirty="0"/>
              <a:t>/</a:t>
            </a:r>
            <a:r>
              <a:rPr lang="zh-CN" altLang="en-US" dirty="0"/>
              <a:t>视图类：系统的自动化边界上的类</a:t>
            </a:r>
            <a:endParaRPr lang="en-US" altLang="zh-CN" dirty="0"/>
          </a:p>
          <a:p>
            <a:r>
              <a:rPr lang="zh-CN" altLang="en-US" dirty="0"/>
              <a:t>控制类：在边界类和实体类之间起协调作用的类。负责从边界类对象获取信息，然后发送给正确的实体类对象</a:t>
            </a:r>
            <a:endParaRPr lang="en-US" altLang="zh-CN" dirty="0"/>
          </a:p>
          <a:p>
            <a:r>
              <a:rPr lang="zh-CN" altLang="en-US" dirty="0"/>
              <a:t>数据访问类：从数据库中获取信息或向数据库发送信息的类</a:t>
            </a:r>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28</a:t>
            </a:fld>
            <a:endParaRPr lang="en-US" altLang="zh-CN"/>
          </a:p>
        </p:txBody>
      </p:sp>
    </p:spTree>
    <p:extLst>
      <p:ext uri="{BB962C8B-B14F-4D97-AF65-F5344CB8AC3E}">
        <p14:creationId xmlns:p14="http://schemas.microsoft.com/office/powerpoint/2010/main" val="35467832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UML</a:t>
            </a:r>
            <a:r>
              <a:rPr lang="zh-CN" altLang="en-US" dirty="0"/>
              <a:t>设计模型中的标准构造型</a:t>
            </a:r>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29</a:t>
            </a:fld>
            <a:endParaRPr lang="en-US" altLang="zh-CN"/>
          </a:p>
        </p:txBody>
      </p:sp>
    </p:spTree>
    <p:extLst>
      <p:ext uri="{BB962C8B-B14F-4D97-AF65-F5344CB8AC3E}">
        <p14:creationId xmlns:p14="http://schemas.microsoft.com/office/powerpoint/2010/main" val="41487066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定义设计类的符号</a:t>
            </a:r>
            <a:endParaRPr lang="en-US" altLang="zh-CN" dirty="0"/>
          </a:p>
          <a:p>
            <a:endParaRPr lang="en-US" altLang="zh-CN" dirty="0"/>
          </a:p>
          <a:p>
            <a:r>
              <a:rPr lang="zh-CN" altLang="en-US" b="0" i="0" dirty="0">
                <a:solidFill>
                  <a:srgbClr val="2A2B2E"/>
                </a:solidFill>
                <a:effectLst/>
                <a:latin typeface="PingFang SC"/>
              </a:rPr>
              <a:t>名称、属性和方法的语法</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en-US" altLang="zh-CN" b="0" i="0" dirty="0">
                <a:solidFill>
                  <a:srgbClr val="2A2B2E"/>
                </a:solidFill>
                <a:effectLst/>
                <a:latin typeface="PingFang SC"/>
              </a:rPr>
              <a:t>《</a:t>
            </a:r>
            <a:r>
              <a:rPr lang="zh-CN" altLang="en-US" b="0" i="0" dirty="0">
                <a:solidFill>
                  <a:srgbClr val="2A2B2E"/>
                </a:solidFill>
                <a:effectLst/>
                <a:latin typeface="PingFang SC"/>
              </a:rPr>
              <a:t>模式名</a:t>
            </a:r>
            <a:r>
              <a:rPr lang="en-US" altLang="zh-CN" b="0" i="0" dirty="0">
                <a:solidFill>
                  <a:srgbClr val="2A2B2E"/>
                </a:solidFill>
                <a:effectLst/>
                <a:latin typeface="PingFang SC"/>
              </a:rPr>
              <a:t>》</a:t>
            </a:r>
            <a:r>
              <a:rPr lang="zh-CN" altLang="en-US" b="0" i="0" dirty="0">
                <a:solidFill>
                  <a:srgbClr val="2A2B2E"/>
                </a:solidFill>
                <a:effectLst/>
                <a:latin typeface="PingFang SC"/>
              </a:rPr>
              <a:t>类名：父类名</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dirty="0"/>
              <a:t>属性列表：见下页</a:t>
            </a:r>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30</a:t>
            </a:fld>
            <a:endParaRPr lang="en-US" altLang="zh-CN"/>
          </a:p>
        </p:txBody>
      </p:sp>
    </p:spTree>
    <p:extLst>
      <p:ext uri="{BB962C8B-B14F-4D97-AF65-F5344CB8AC3E}">
        <p14:creationId xmlns:p14="http://schemas.microsoft.com/office/powerpoint/2010/main" val="31400413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定义属性的格式：</a:t>
            </a:r>
            <a:endParaRPr lang="en-US" altLang="zh-CN" dirty="0"/>
          </a:p>
          <a:p>
            <a:r>
              <a:rPr lang="zh-CN" altLang="en-US" dirty="0"/>
              <a:t>可见性（</a:t>
            </a:r>
            <a:r>
              <a:rPr lang="en-US" altLang="zh-CN" dirty="0"/>
              <a:t>+ public</a:t>
            </a:r>
            <a:r>
              <a:rPr lang="zh-CN" altLang="en-US" dirty="0"/>
              <a:t>，</a:t>
            </a:r>
            <a:r>
              <a:rPr lang="en-US" altLang="zh-CN" dirty="0"/>
              <a:t>- private</a:t>
            </a:r>
            <a:r>
              <a:rPr lang="zh-CN" altLang="en-US" dirty="0"/>
              <a:t>）</a:t>
            </a:r>
            <a:endParaRPr lang="en-US" altLang="zh-CN" dirty="0"/>
          </a:p>
          <a:p>
            <a:r>
              <a:rPr lang="zh-CN" altLang="en-US" dirty="0"/>
              <a:t>属性名称（驼峰命名法）</a:t>
            </a:r>
            <a:endParaRPr lang="en-US" altLang="zh-CN" dirty="0"/>
          </a:p>
          <a:p>
            <a:r>
              <a:rPr lang="zh-CN" altLang="en-US" dirty="0"/>
              <a:t>类型表达式（类，字符串，整型，浮点型</a:t>
            </a:r>
            <a:r>
              <a:rPr lang="en-US" altLang="zh-CN" dirty="0"/>
              <a:t>..</a:t>
            </a:r>
            <a:r>
              <a:rPr lang="zh-CN" altLang="en-US" dirty="0"/>
              <a:t>）</a:t>
            </a:r>
            <a:endParaRPr lang="en-US" altLang="zh-CN" dirty="0"/>
          </a:p>
          <a:p>
            <a:r>
              <a:rPr lang="zh-CN" altLang="en-US" dirty="0"/>
              <a:t>初始值（如果有默认值）</a:t>
            </a:r>
            <a:endParaRPr lang="en-US" altLang="zh-CN" dirty="0"/>
          </a:p>
          <a:p>
            <a:r>
              <a:rPr lang="zh-CN" altLang="en-US" dirty="0"/>
              <a:t>特性（在花括号内），比如</a:t>
            </a:r>
            <a:r>
              <a:rPr lang="en-US" altLang="zh-CN" dirty="0"/>
              <a:t>{</a:t>
            </a:r>
            <a:r>
              <a:rPr lang="zh-CN" altLang="en-US" dirty="0"/>
              <a:t>关键字</a:t>
            </a:r>
            <a:r>
              <a:rPr lang="en-US" altLang="zh-CN" dirty="0"/>
              <a:t>}</a:t>
            </a:r>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31</a:t>
            </a:fld>
            <a:endParaRPr lang="en-US" altLang="zh-CN"/>
          </a:p>
        </p:txBody>
      </p:sp>
    </p:spTree>
    <p:extLst>
      <p:ext uri="{BB962C8B-B14F-4D97-AF65-F5344CB8AC3E}">
        <p14:creationId xmlns:p14="http://schemas.microsoft.com/office/powerpoint/2010/main" val="25975581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方法：</a:t>
            </a:r>
            <a:endParaRPr lang="en-US" altLang="zh-CN" dirty="0"/>
          </a:p>
          <a:p>
            <a:r>
              <a:rPr lang="zh-CN" altLang="en-US" dirty="0"/>
              <a:t>方法可见性</a:t>
            </a:r>
            <a:endParaRPr lang="en-US" altLang="zh-CN" dirty="0"/>
          </a:p>
          <a:p>
            <a:r>
              <a:rPr lang="zh-CN" altLang="en-US" dirty="0"/>
              <a:t>方法名称</a:t>
            </a:r>
            <a:endParaRPr lang="en-US" altLang="zh-CN" dirty="0"/>
          </a:p>
          <a:p>
            <a:r>
              <a:rPr lang="zh-CN" altLang="en-US" dirty="0"/>
              <a:t>方法参数列表（输入参数）</a:t>
            </a:r>
            <a:endParaRPr lang="en-US" altLang="zh-CN" dirty="0"/>
          </a:p>
          <a:p>
            <a:r>
              <a:rPr lang="zh-CN" altLang="en-US" dirty="0"/>
              <a:t>方法返回参数的类型</a:t>
            </a:r>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32</a:t>
            </a:fld>
            <a:endParaRPr lang="en-US" altLang="zh-CN"/>
          </a:p>
        </p:txBody>
      </p:sp>
    </p:spTree>
    <p:extLst>
      <p:ext uri="{BB962C8B-B14F-4D97-AF65-F5344CB8AC3E}">
        <p14:creationId xmlns:p14="http://schemas.microsoft.com/office/powerpoint/2010/main" val="104420186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类级方法</a:t>
            </a:r>
            <a:r>
              <a:rPr lang="en-US" altLang="zh-CN" b="0" i="0" dirty="0">
                <a:solidFill>
                  <a:srgbClr val="2A2B2E"/>
                </a:solidFill>
                <a:effectLst/>
                <a:latin typeface="PingFang SC"/>
              </a:rPr>
              <a:t>——</a:t>
            </a:r>
            <a:r>
              <a:rPr lang="zh-CN" altLang="en-US" b="0" i="0" dirty="0">
                <a:solidFill>
                  <a:srgbClr val="2A2B2E"/>
                </a:solidFill>
                <a:effectLst/>
                <a:latin typeface="PingFang SC"/>
              </a:rPr>
              <a:t>应用于类而不是类的对象</a:t>
            </a:r>
            <a:r>
              <a:rPr lang="en-US" altLang="zh-CN" b="0" i="0" dirty="0">
                <a:solidFill>
                  <a:srgbClr val="2A2B2E"/>
                </a:solidFill>
                <a:effectLst/>
                <a:latin typeface="PingFang SC"/>
              </a:rPr>
              <a:t>(</a:t>
            </a:r>
            <a:r>
              <a:rPr lang="zh-CN" altLang="en-US" b="0" i="0" dirty="0">
                <a:solidFill>
                  <a:srgbClr val="2A2B2E"/>
                </a:solidFill>
                <a:effectLst/>
                <a:latin typeface="PingFang SC"/>
              </a:rPr>
              <a:t>又名静态方法</a:t>
            </a:r>
            <a:r>
              <a:rPr lang="en-US" altLang="zh-CN" b="0" i="0" dirty="0">
                <a:solidFill>
                  <a:srgbClr val="2A2B2E"/>
                </a:solidFill>
                <a:effectLst/>
                <a:latin typeface="PingFang SC"/>
              </a:rPr>
              <a:t>)</a:t>
            </a:r>
            <a:r>
              <a:rPr lang="zh-CN" altLang="en-US" b="0" i="0" dirty="0">
                <a:solidFill>
                  <a:srgbClr val="2A2B2E"/>
                </a:solidFill>
                <a:effectLst/>
                <a:latin typeface="PingFang SC"/>
              </a:rPr>
              <a:t>。</a:t>
            </a:r>
            <a:endParaRPr lang="en-US" altLang="zh-CN" b="0" i="0" dirty="0">
              <a:solidFill>
                <a:srgbClr val="2A2B2E"/>
              </a:solidFill>
              <a:effectLst/>
              <a:latin typeface="PingFang SC"/>
            </a:endParaRPr>
          </a:p>
          <a:p>
            <a:r>
              <a:rPr lang="zh-CN" altLang="en-US" b="0" i="0" dirty="0">
                <a:solidFill>
                  <a:srgbClr val="2A2B2E"/>
                </a:solidFill>
                <a:effectLst/>
                <a:latin typeface="PingFang SC"/>
              </a:rPr>
              <a:t>类级属性</a:t>
            </a:r>
            <a:r>
              <a:rPr lang="en-US" altLang="zh-CN" b="0" i="0" dirty="0">
                <a:solidFill>
                  <a:srgbClr val="2A2B2E"/>
                </a:solidFill>
                <a:effectLst/>
                <a:latin typeface="PingFang SC"/>
              </a:rPr>
              <a:t>——</a:t>
            </a:r>
            <a:r>
              <a:rPr lang="zh-CN" altLang="en-US" b="0" i="0" dirty="0">
                <a:solidFill>
                  <a:srgbClr val="2A2B2E"/>
                </a:solidFill>
                <a:effectLst/>
                <a:latin typeface="PingFang SC"/>
              </a:rPr>
              <a:t>应用于类而不是对象</a:t>
            </a:r>
            <a:r>
              <a:rPr lang="en-US" altLang="zh-CN" b="0" i="0" dirty="0">
                <a:solidFill>
                  <a:srgbClr val="2A2B2E"/>
                </a:solidFill>
                <a:effectLst/>
                <a:latin typeface="PingFang SC"/>
              </a:rPr>
              <a:t>(</a:t>
            </a:r>
            <a:r>
              <a:rPr lang="zh-CN" altLang="en-US" b="0" i="0" dirty="0">
                <a:solidFill>
                  <a:srgbClr val="2A2B2E"/>
                </a:solidFill>
                <a:effectLst/>
                <a:latin typeface="PingFang SC"/>
              </a:rPr>
              <a:t>又名静态属性</a:t>
            </a:r>
            <a:r>
              <a:rPr lang="en-US" altLang="zh-CN" b="0" i="0" dirty="0">
                <a:solidFill>
                  <a:srgbClr val="2A2B2E"/>
                </a:solidFill>
                <a:effectLst/>
                <a:latin typeface="PingFang SC"/>
              </a:rPr>
              <a:t>)</a:t>
            </a:r>
            <a:r>
              <a:rPr lang="zh-CN" altLang="en-US" b="0" i="0" dirty="0">
                <a:solidFill>
                  <a:srgbClr val="2A2B2E"/>
                </a:solidFill>
                <a:effectLst/>
                <a:latin typeface="PingFang SC"/>
              </a:rPr>
              <a:t>。</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dirty="0"/>
              <a:t>静态方法只要定义了类，不必建立类的实例就可使用</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33</a:t>
            </a:fld>
            <a:endParaRPr lang="en-US" altLang="zh-CN"/>
          </a:p>
        </p:txBody>
      </p:sp>
    </p:spTree>
    <p:extLst>
      <p:ext uri="{BB962C8B-B14F-4D97-AF65-F5344CB8AC3E}">
        <p14:creationId xmlns:p14="http://schemas.microsoft.com/office/powerpoint/2010/main" val="78088289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抽象类</a:t>
            </a:r>
            <a:r>
              <a:rPr lang="en-US" altLang="zh-CN" b="0" i="0" dirty="0">
                <a:solidFill>
                  <a:srgbClr val="2A2B2E"/>
                </a:solidFill>
                <a:effectLst/>
                <a:latin typeface="PingFang SC"/>
              </a:rPr>
              <a:t>——</a:t>
            </a:r>
            <a:r>
              <a:rPr lang="zh-CN" altLang="en-US" b="0" i="0" dirty="0">
                <a:solidFill>
                  <a:srgbClr val="2A2B2E"/>
                </a:solidFill>
                <a:effectLst/>
                <a:latin typeface="PingFang SC"/>
              </a:rPr>
              <a:t>不能被实例化的类</a:t>
            </a:r>
            <a:endParaRPr lang="en-US" altLang="zh-CN" b="0" i="0" dirty="0">
              <a:solidFill>
                <a:srgbClr val="2A2B2E"/>
              </a:solidFill>
              <a:effectLst/>
              <a:latin typeface="PingFang SC"/>
            </a:endParaRPr>
          </a:p>
          <a:p>
            <a:r>
              <a:rPr lang="en-US" altLang="zh-CN" b="0" i="0" dirty="0">
                <a:solidFill>
                  <a:srgbClr val="2A2B2E"/>
                </a:solidFill>
                <a:effectLst/>
                <a:latin typeface="PingFang SC"/>
              </a:rPr>
              <a:t>   </a:t>
            </a:r>
            <a:r>
              <a:rPr lang="zh-CN" altLang="en-US" b="0" i="0" dirty="0">
                <a:solidFill>
                  <a:srgbClr val="2A2B2E"/>
                </a:solidFill>
                <a:effectLst/>
                <a:latin typeface="PingFang SC"/>
              </a:rPr>
              <a:t>仅用于继承（用斜体）</a:t>
            </a:r>
            <a:endParaRPr lang="en-US" altLang="zh-CN" b="0" i="0" dirty="0">
              <a:solidFill>
                <a:srgbClr val="2A2B2E"/>
              </a:solidFill>
              <a:effectLst/>
              <a:latin typeface="PingFang SC"/>
            </a:endParaRPr>
          </a:p>
          <a:p>
            <a:r>
              <a:rPr lang="en-US" altLang="zh-CN" b="0" i="0" dirty="0">
                <a:solidFill>
                  <a:srgbClr val="2A2B2E"/>
                </a:solidFill>
                <a:effectLst/>
                <a:latin typeface="PingFang SC"/>
              </a:rPr>
              <a:t>   </a:t>
            </a:r>
            <a:r>
              <a:rPr lang="zh-CN" altLang="en-US" b="0" i="0" dirty="0">
                <a:solidFill>
                  <a:srgbClr val="2A2B2E"/>
                </a:solidFill>
                <a:effectLst/>
                <a:latin typeface="PingFang SC"/>
              </a:rPr>
              <a:t>（例如，</a:t>
            </a:r>
            <a:r>
              <a:rPr lang="en-US" altLang="zh-CN" b="0" i="0" dirty="0">
                <a:solidFill>
                  <a:srgbClr val="2A2B2E"/>
                </a:solidFill>
                <a:effectLst/>
                <a:latin typeface="PingFang SC"/>
              </a:rPr>
              <a:t>Sale</a:t>
            </a:r>
            <a:r>
              <a:rPr lang="zh-CN" altLang="en-US" b="0" i="0" dirty="0">
                <a:solidFill>
                  <a:srgbClr val="2A2B2E"/>
                </a:solidFill>
                <a:effectLst/>
                <a:latin typeface="PingFang SC"/>
              </a:rPr>
              <a:t>是一个抽象类，系统的每个订单可以是</a:t>
            </a:r>
            <a:r>
              <a:rPr lang="en-US" altLang="zh-CN" b="0" i="0" dirty="0" err="1">
                <a:solidFill>
                  <a:srgbClr val="2A2B2E"/>
                </a:solidFill>
                <a:effectLst/>
                <a:latin typeface="PingFang SC"/>
              </a:rPr>
              <a:t>phonesale</a:t>
            </a:r>
            <a:r>
              <a:rPr lang="zh-CN" altLang="en-US" b="0" i="0" dirty="0">
                <a:solidFill>
                  <a:srgbClr val="2A2B2E"/>
                </a:solidFill>
                <a:effectLst/>
                <a:latin typeface="PingFang SC"/>
              </a:rPr>
              <a:t>，</a:t>
            </a:r>
            <a:r>
              <a:rPr lang="en-US" altLang="zh-CN" b="0" i="0" dirty="0" err="1">
                <a:solidFill>
                  <a:srgbClr val="2A2B2E"/>
                </a:solidFill>
                <a:effectLst/>
                <a:latin typeface="PingFang SC"/>
              </a:rPr>
              <a:t>Internetsale</a:t>
            </a:r>
            <a:r>
              <a:rPr lang="zh-CN" altLang="en-US" b="0" i="0" dirty="0">
                <a:solidFill>
                  <a:srgbClr val="2A2B2E"/>
                </a:solidFill>
                <a:effectLst/>
                <a:latin typeface="PingFang SC"/>
              </a:rPr>
              <a:t>或者</a:t>
            </a:r>
            <a:r>
              <a:rPr lang="en-US" altLang="zh-CN" b="0" i="0" dirty="0" err="1">
                <a:solidFill>
                  <a:srgbClr val="2A2B2E"/>
                </a:solidFill>
                <a:effectLst/>
                <a:latin typeface="PingFang SC"/>
              </a:rPr>
              <a:t>storesale</a:t>
            </a:r>
            <a:r>
              <a:rPr lang="zh-CN" altLang="en-US" b="0" i="0" dirty="0">
                <a:solidFill>
                  <a:srgbClr val="2A2B2E"/>
                </a:solidFill>
                <a:effectLst/>
                <a:latin typeface="PingFang SC"/>
              </a:rPr>
              <a:t>）</a:t>
            </a:r>
            <a:endParaRPr lang="en-US" altLang="zh-CN" b="0" i="0" dirty="0">
              <a:solidFill>
                <a:srgbClr val="2A2B2E"/>
              </a:solidFill>
              <a:effectLst/>
              <a:latin typeface="PingFang SC"/>
            </a:endParaRPr>
          </a:p>
          <a:p>
            <a:r>
              <a:rPr lang="zh-CN" altLang="en-US" b="0" i="0" dirty="0">
                <a:solidFill>
                  <a:srgbClr val="2A2B2E"/>
                </a:solidFill>
                <a:effectLst/>
                <a:latin typeface="PingFang SC"/>
              </a:rPr>
              <a:t>具体类</a:t>
            </a:r>
            <a:r>
              <a:rPr lang="en-US" altLang="zh-CN" b="0" i="0" dirty="0">
                <a:solidFill>
                  <a:srgbClr val="2A2B2E"/>
                </a:solidFill>
                <a:effectLst/>
                <a:latin typeface="PingFang SC"/>
              </a:rPr>
              <a:t>——</a:t>
            </a:r>
            <a:r>
              <a:rPr lang="zh-CN" altLang="en-US" b="0" i="0" dirty="0">
                <a:solidFill>
                  <a:srgbClr val="2A2B2E"/>
                </a:solidFill>
                <a:effectLst/>
                <a:latin typeface="PingFang SC"/>
              </a:rPr>
              <a:t>能被实例化的类</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34</a:t>
            </a:fld>
            <a:endParaRPr lang="en-US" altLang="zh-CN"/>
          </a:p>
        </p:txBody>
      </p:sp>
    </p:spTree>
    <p:extLst>
      <p:ext uri="{BB962C8B-B14F-4D97-AF65-F5344CB8AC3E}">
        <p14:creationId xmlns:p14="http://schemas.microsoft.com/office/powerpoint/2010/main" val="35240305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销售类（抽象）和具有集成关系的三个具体子类</a:t>
            </a:r>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35</a:t>
            </a:fld>
            <a:endParaRPr lang="en-US" altLang="zh-CN"/>
          </a:p>
        </p:txBody>
      </p:sp>
    </p:spTree>
    <p:extLst>
      <p:ext uri="{BB962C8B-B14F-4D97-AF65-F5344CB8AC3E}">
        <p14:creationId xmlns:p14="http://schemas.microsoft.com/office/powerpoint/2010/main" val="270171869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36</a:t>
            </a:fld>
            <a:endParaRPr lang="en-US" altLang="zh-CN"/>
          </a:p>
        </p:txBody>
      </p:sp>
    </p:spTree>
    <p:extLst>
      <p:ext uri="{BB962C8B-B14F-4D97-AF65-F5344CB8AC3E}">
        <p14:creationId xmlns:p14="http://schemas.microsoft.com/office/powerpoint/2010/main" val="5994418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导航可见性</a:t>
            </a:r>
            <a:endParaRPr lang="en-US" altLang="zh-CN" dirty="0"/>
          </a:p>
          <a:p>
            <a:r>
              <a:rPr lang="zh-CN" altLang="en-US" b="0" i="0" dirty="0">
                <a:solidFill>
                  <a:srgbClr val="2A2B2E"/>
                </a:solidFill>
                <a:effectLst/>
                <a:latin typeface="PingFang SC"/>
              </a:rPr>
              <a:t>  一个对象查看另一个对象并与之交互的能力</a:t>
            </a:r>
            <a:endParaRPr lang="en-US" altLang="zh-CN" b="0" i="0" dirty="0">
              <a:solidFill>
                <a:srgbClr val="2A2B2E"/>
              </a:solidFill>
              <a:effectLst/>
              <a:latin typeface="PingFang SC"/>
            </a:endParaRPr>
          </a:p>
          <a:p>
            <a:r>
              <a:rPr lang="zh-CN" altLang="en-US" b="0" i="0" dirty="0">
                <a:solidFill>
                  <a:srgbClr val="2A2B2E"/>
                </a:solidFill>
                <a:effectLst/>
                <a:latin typeface="PingFang SC"/>
              </a:rPr>
              <a:t>  通过向类添加对象引用变量来实现</a:t>
            </a:r>
            <a:endParaRPr lang="en-US" altLang="zh-CN" b="0" i="0" dirty="0">
              <a:solidFill>
                <a:srgbClr val="2A2B2E"/>
              </a:solidFill>
              <a:effectLst/>
              <a:latin typeface="PingFang SC"/>
            </a:endParaRPr>
          </a:p>
          <a:p>
            <a:r>
              <a:rPr lang="zh-CN" altLang="en-US" b="0" i="0" dirty="0">
                <a:solidFill>
                  <a:srgbClr val="2A2B2E"/>
                </a:solidFill>
                <a:effectLst/>
                <a:latin typeface="PingFang SC"/>
              </a:rPr>
              <a:t>  在关联线上显示为箭头，客户可以找到</a:t>
            </a:r>
            <a:r>
              <a:rPr lang="en-US" altLang="zh-CN" b="0" i="0" dirty="0">
                <a:solidFill>
                  <a:srgbClr val="2A2B2E"/>
                </a:solidFill>
                <a:effectLst/>
                <a:latin typeface="PingFang SC"/>
              </a:rPr>
              <a:t>sale</a:t>
            </a:r>
            <a:r>
              <a:rPr lang="zh-CN" altLang="en-US" b="0" i="0" dirty="0">
                <a:solidFill>
                  <a:srgbClr val="2A2B2E"/>
                </a:solidFill>
                <a:effectLst/>
                <a:latin typeface="PingFang SC"/>
              </a:rPr>
              <a:t>并与之交互，因为它有</a:t>
            </a:r>
            <a:r>
              <a:rPr lang="en-US" altLang="zh-CN" b="0" i="0" dirty="0" err="1">
                <a:solidFill>
                  <a:srgbClr val="2A2B2E"/>
                </a:solidFill>
                <a:effectLst/>
                <a:latin typeface="PingFang SC"/>
              </a:rPr>
              <a:t>mysql</a:t>
            </a:r>
            <a:r>
              <a:rPr lang="zh-CN" altLang="en-US" b="0" i="0" dirty="0">
                <a:solidFill>
                  <a:srgbClr val="2A2B2E"/>
                </a:solidFill>
                <a:effectLst/>
                <a:latin typeface="PingFang SC"/>
              </a:rPr>
              <a:t>引用变量</a:t>
            </a:r>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37</a:t>
            </a:fld>
            <a:endParaRPr lang="en-US" altLang="zh-CN"/>
          </a:p>
        </p:txBody>
      </p:sp>
    </p:spTree>
    <p:extLst>
      <p:ext uri="{BB962C8B-B14F-4D97-AF65-F5344CB8AC3E}">
        <p14:creationId xmlns:p14="http://schemas.microsoft.com/office/powerpoint/2010/main" val="22229989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导航可见性</a:t>
            </a:r>
            <a:endParaRPr lang="en-US" altLang="zh-CN" dirty="0"/>
          </a:p>
          <a:p>
            <a:r>
              <a:rPr lang="zh-CN" altLang="en-US" b="0" i="0" dirty="0">
                <a:solidFill>
                  <a:srgbClr val="2A2B2E"/>
                </a:solidFill>
                <a:effectLst/>
                <a:latin typeface="PingFang SC"/>
              </a:rPr>
              <a:t>  一个对象查看另一个对象并与之交互的能力</a:t>
            </a:r>
            <a:endParaRPr lang="en-US" altLang="zh-CN" b="0" i="0" dirty="0">
              <a:solidFill>
                <a:srgbClr val="2A2B2E"/>
              </a:solidFill>
              <a:effectLst/>
              <a:latin typeface="PingFang SC"/>
            </a:endParaRPr>
          </a:p>
          <a:p>
            <a:r>
              <a:rPr lang="zh-CN" altLang="en-US" b="0" i="0" dirty="0">
                <a:solidFill>
                  <a:srgbClr val="2A2B2E"/>
                </a:solidFill>
                <a:effectLst/>
                <a:latin typeface="PingFang SC"/>
              </a:rPr>
              <a:t>  通过向类添加对象引用变量来实现</a:t>
            </a:r>
            <a:endParaRPr lang="en-US" altLang="zh-CN" b="0" i="0" dirty="0">
              <a:solidFill>
                <a:srgbClr val="2A2B2E"/>
              </a:solidFill>
              <a:effectLst/>
              <a:latin typeface="PingFang SC"/>
            </a:endParaRPr>
          </a:p>
          <a:p>
            <a:r>
              <a:rPr lang="zh-CN" altLang="en-US" b="0" i="0" dirty="0">
                <a:solidFill>
                  <a:srgbClr val="2A2B2E"/>
                </a:solidFill>
                <a:effectLst/>
                <a:latin typeface="PingFang SC"/>
              </a:rPr>
              <a:t>  在关联线上显示为箭头，客户可以找到</a:t>
            </a:r>
            <a:r>
              <a:rPr lang="en-US" altLang="zh-CN" b="0" i="0" dirty="0">
                <a:solidFill>
                  <a:srgbClr val="2A2B2E"/>
                </a:solidFill>
                <a:effectLst/>
                <a:latin typeface="PingFang SC"/>
              </a:rPr>
              <a:t>sale</a:t>
            </a:r>
            <a:r>
              <a:rPr lang="zh-CN" altLang="en-US" b="0" i="0" dirty="0">
                <a:solidFill>
                  <a:srgbClr val="2A2B2E"/>
                </a:solidFill>
                <a:effectLst/>
                <a:latin typeface="PingFang SC"/>
              </a:rPr>
              <a:t>并与之交互，因为它有</a:t>
            </a:r>
            <a:r>
              <a:rPr lang="en-US" altLang="zh-CN" b="0" i="0" dirty="0" err="1">
                <a:solidFill>
                  <a:srgbClr val="2A2B2E"/>
                </a:solidFill>
                <a:effectLst/>
                <a:latin typeface="PingFang SC"/>
              </a:rPr>
              <a:t>mysql</a:t>
            </a:r>
            <a:r>
              <a:rPr lang="zh-CN" altLang="en-US" b="0" i="0" dirty="0">
                <a:solidFill>
                  <a:srgbClr val="2A2B2E"/>
                </a:solidFill>
                <a:effectLst/>
                <a:latin typeface="PingFang SC"/>
              </a:rPr>
              <a:t>引用变量</a:t>
            </a:r>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38</a:t>
            </a:fld>
            <a:endParaRPr lang="en-US" altLang="zh-CN"/>
          </a:p>
        </p:txBody>
      </p:sp>
    </p:spTree>
    <p:extLst>
      <p:ext uri="{BB962C8B-B14F-4D97-AF65-F5344CB8AC3E}">
        <p14:creationId xmlns:p14="http://schemas.microsoft.com/office/powerpoint/2010/main" val="118461650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表示上下级关系的一对多关联通常从上级导航到下级</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强制关联，即一个类中的对象不能没有另一个类的对象而存在，通常从更独立的类导航到依赖的类</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当一个对象需要来自另一个对象的信息时，可能需要一个导航箭头</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导航箭头可以是双向的</a:t>
            </a:r>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39</a:t>
            </a:fld>
            <a:endParaRPr lang="en-US" altLang="zh-CN"/>
          </a:p>
        </p:txBody>
      </p:sp>
    </p:spTree>
    <p:extLst>
      <p:ext uri="{BB962C8B-B14F-4D97-AF65-F5344CB8AC3E}">
        <p14:creationId xmlns:p14="http://schemas.microsoft.com/office/powerpoint/2010/main" val="166549290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开发初步的设计类图</a:t>
            </a:r>
            <a:endParaRPr lang="en-US" altLang="zh-CN" dirty="0"/>
          </a:p>
          <a:p>
            <a:endParaRPr lang="en-US" altLang="zh-CN" dirty="0"/>
          </a:p>
          <a:p>
            <a:r>
              <a:rPr lang="zh-CN" altLang="en-US" b="0" i="0" dirty="0">
                <a:solidFill>
                  <a:srgbClr val="2A2B2E"/>
                </a:solidFill>
                <a:effectLst/>
                <a:latin typeface="PingFang SC"/>
              </a:rPr>
              <a:t>一个用例接一个用例，添加到图中</a:t>
            </a:r>
            <a:endParaRPr lang="en-US" altLang="zh-CN" b="0" i="0" dirty="0">
              <a:solidFill>
                <a:srgbClr val="2A2B2E"/>
              </a:solidFill>
              <a:effectLst/>
              <a:latin typeface="PingFang SC"/>
            </a:endParaRPr>
          </a:p>
          <a:p>
            <a:r>
              <a:rPr lang="zh-CN" altLang="en-US" b="0" i="0" dirty="0">
                <a:solidFill>
                  <a:srgbClr val="2A2B2E"/>
                </a:solidFill>
                <a:effectLst/>
                <a:latin typeface="PingFang SC"/>
              </a:rPr>
              <a:t>选择用例中涉及的域类</a:t>
            </a:r>
            <a:r>
              <a:rPr lang="en-US" altLang="zh-CN" b="0" i="0" dirty="0">
                <a:solidFill>
                  <a:srgbClr val="2A2B2E"/>
                </a:solidFill>
                <a:effectLst/>
                <a:latin typeface="PingFang SC"/>
              </a:rPr>
              <a:t>(</a:t>
            </a:r>
            <a:r>
              <a:rPr lang="zh-CN" altLang="en-US" b="0" i="0" dirty="0">
                <a:solidFill>
                  <a:srgbClr val="2A2B2E"/>
                </a:solidFill>
                <a:effectLst/>
                <a:latin typeface="PingFang SC"/>
              </a:rPr>
              <a:t>请参阅前提条件和后置条件</a:t>
            </a:r>
            <a:r>
              <a:rPr lang="en-US" altLang="zh-CN" b="0" i="0" dirty="0">
                <a:solidFill>
                  <a:srgbClr val="2A2B2E"/>
                </a:solidFill>
                <a:effectLst/>
                <a:latin typeface="PingFang SC"/>
              </a:rPr>
              <a:t>)</a:t>
            </a:r>
          </a:p>
          <a:p>
            <a:r>
              <a:rPr lang="zh-CN" altLang="en-US" b="0" i="0" dirty="0">
                <a:solidFill>
                  <a:srgbClr val="2A2B2E"/>
                </a:solidFill>
                <a:effectLst/>
                <a:latin typeface="PingFang SC"/>
              </a:rPr>
              <a:t>添加一个控制器类来负责用例</a:t>
            </a:r>
            <a:endParaRPr lang="en-US" altLang="zh-CN" b="0" i="0" dirty="0">
              <a:solidFill>
                <a:srgbClr val="2A2B2E"/>
              </a:solidFill>
              <a:effectLst/>
              <a:latin typeface="PingFang SC"/>
            </a:endParaRPr>
          </a:p>
          <a:p>
            <a:r>
              <a:rPr lang="zh-CN" altLang="en-US" b="0" i="0" dirty="0">
                <a:solidFill>
                  <a:srgbClr val="2A2B2E"/>
                </a:solidFill>
                <a:effectLst/>
                <a:latin typeface="PingFang SC"/>
              </a:rPr>
              <a:t>确定初始导航可见性需求，并添加到图中</a:t>
            </a:r>
            <a:endParaRPr lang="en-US" altLang="zh-CN" b="0" i="0" dirty="0">
              <a:solidFill>
                <a:srgbClr val="2A2B2E"/>
              </a:solidFill>
              <a:effectLst/>
              <a:latin typeface="PingFang SC"/>
            </a:endParaRPr>
          </a:p>
          <a:p>
            <a:r>
              <a:rPr lang="zh-CN" altLang="en-US" b="0" i="0" dirty="0">
                <a:solidFill>
                  <a:srgbClr val="2A2B2E"/>
                </a:solidFill>
                <a:effectLst/>
                <a:latin typeface="PingFang SC"/>
              </a:rPr>
              <a:t>用可见性和类型详细说明每个类的属性</a:t>
            </a:r>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40</a:t>
            </a:fld>
            <a:endParaRPr lang="en-US" altLang="zh-CN"/>
          </a:p>
        </p:txBody>
      </p:sp>
    </p:spTree>
    <p:extLst>
      <p:ext uri="{BB962C8B-B14F-4D97-AF65-F5344CB8AC3E}">
        <p14:creationId xmlns:p14="http://schemas.microsoft.com/office/powerpoint/2010/main" val="317229068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域模型类图（第四章）</a:t>
            </a:r>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41</a:t>
            </a:fld>
            <a:endParaRPr lang="en-US" altLang="zh-CN"/>
          </a:p>
        </p:txBody>
      </p:sp>
    </p:spTree>
    <p:extLst>
      <p:ext uri="{BB962C8B-B14F-4D97-AF65-F5344CB8AC3E}">
        <p14:creationId xmlns:p14="http://schemas.microsoft.com/office/powerpoint/2010/main" val="147229180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2A2B2E"/>
                </a:solidFill>
                <a:effectLst/>
                <a:latin typeface="PingFang SC"/>
              </a:rPr>
              <a:t>1. </a:t>
            </a:r>
            <a:r>
              <a:rPr lang="zh-CN" altLang="en-US" b="0" i="0" dirty="0">
                <a:solidFill>
                  <a:srgbClr val="2A2B2E"/>
                </a:solidFill>
                <a:effectLst/>
                <a:latin typeface="PingFang SC"/>
              </a:rPr>
              <a:t>一个用例接一个用例，添加到图中</a:t>
            </a:r>
            <a:endParaRPr lang="en-US" altLang="zh-CN" b="0" i="0" dirty="0">
              <a:solidFill>
                <a:srgbClr val="2A2B2E"/>
              </a:solidFill>
              <a:effectLst/>
              <a:latin typeface="PingFang SC"/>
            </a:endParaRPr>
          </a:p>
          <a:p>
            <a:r>
              <a:rPr lang="en-US" altLang="zh-CN" b="0" i="0" dirty="0">
                <a:solidFill>
                  <a:srgbClr val="2A2B2E"/>
                </a:solidFill>
                <a:effectLst/>
                <a:latin typeface="PingFang SC"/>
              </a:rPr>
              <a:t>2. </a:t>
            </a:r>
            <a:r>
              <a:rPr lang="zh-CN" altLang="en-US" b="0" i="0" dirty="0">
                <a:solidFill>
                  <a:srgbClr val="2A2B2E"/>
                </a:solidFill>
                <a:effectLst/>
                <a:latin typeface="PingFang SC"/>
              </a:rPr>
              <a:t>选择用例中涉及的域类</a:t>
            </a:r>
            <a:endParaRPr lang="en-US" altLang="zh-CN" b="0" i="0" dirty="0">
              <a:solidFill>
                <a:srgbClr val="2A2B2E"/>
              </a:solidFill>
              <a:effectLst/>
              <a:latin typeface="PingFang SC"/>
            </a:endParaRPr>
          </a:p>
          <a:p>
            <a:r>
              <a:rPr lang="en-US" altLang="zh-CN" b="0" i="0" dirty="0">
                <a:solidFill>
                  <a:srgbClr val="2A2B2E"/>
                </a:solidFill>
                <a:effectLst/>
                <a:latin typeface="PingFang SC"/>
              </a:rPr>
              <a:t>3. </a:t>
            </a:r>
            <a:r>
              <a:rPr lang="zh-CN" altLang="en-US" b="0" i="0" dirty="0">
                <a:solidFill>
                  <a:srgbClr val="2A2B2E"/>
                </a:solidFill>
                <a:effectLst/>
                <a:latin typeface="PingFang SC"/>
              </a:rPr>
              <a:t>添加一个控制器类来负责用例</a:t>
            </a:r>
            <a:endParaRPr lang="en-US" altLang="zh-CN" b="0" i="0" dirty="0">
              <a:solidFill>
                <a:srgbClr val="2A2B2E"/>
              </a:solidFill>
              <a:effectLst/>
              <a:latin typeface="PingFang SC"/>
            </a:endParaRPr>
          </a:p>
          <a:p>
            <a:r>
              <a:rPr lang="en-US" altLang="zh-CN" b="0" i="0" dirty="0">
                <a:solidFill>
                  <a:srgbClr val="2A2B2E"/>
                </a:solidFill>
                <a:effectLst/>
                <a:latin typeface="PingFang SC"/>
              </a:rPr>
              <a:t>4. </a:t>
            </a:r>
            <a:r>
              <a:rPr lang="zh-CN" altLang="en-US" b="0" i="0" dirty="0">
                <a:solidFill>
                  <a:srgbClr val="2A2B2E"/>
                </a:solidFill>
                <a:effectLst/>
                <a:latin typeface="PingFang SC"/>
              </a:rPr>
              <a:t>确定初始导航可见性需求，并添加到图中</a:t>
            </a:r>
            <a:endParaRPr lang="en-US" altLang="zh-CN" b="0" i="0" dirty="0">
              <a:solidFill>
                <a:srgbClr val="2A2B2E"/>
              </a:solidFill>
              <a:effectLst/>
              <a:latin typeface="PingFang SC"/>
            </a:endParaRPr>
          </a:p>
          <a:p>
            <a:r>
              <a:rPr lang="en-US" altLang="zh-CN" b="0" i="0" dirty="0">
                <a:solidFill>
                  <a:srgbClr val="2A2B2E"/>
                </a:solidFill>
                <a:effectLst/>
                <a:latin typeface="PingFang SC"/>
              </a:rPr>
              <a:t>5. </a:t>
            </a:r>
            <a:r>
              <a:rPr lang="zh-CN" altLang="en-US" b="0" i="0" dirty="0">
                <a:solidFill>
                  <a:srgbClr val="2A2B2E"/>
                </a:solidFill>
                <a:effectLst/>
                <a:latin typeface="PingFang SC"/>
              </a:rPr>
              <a:t>用可见性和类型详细说明每个类的属性</a:t>
            </a:r>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42</a:t>
            </a:fld>
            <a:endParaRPr lang="en-US" altLang="zh-CN"/>
          </a:p>
        </p:txBody>
      </p:sp>
    </p:spTree>
    <p:extLst>
      <p:ext uri="{BB962C8B-B14F-4D97-AF65-F5344CB8AC3E}">
        <p14:creationId xmlns:p14="http://schemas.microsoft.com/office/powerpoint/2010/main" val="311059412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C8FF8327-740B-448C-8BD0-3BF3255B51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cs typeface="Arial" panose="020B0604020202020204" pitchFamily="34" charset="0"/>
              </a:defRPr>
            </a:lvl1pPr>
            <a:lvl2pPr marL="742950" indent="-285750">
              <a:spcBef>
                <a:spcPct val="30000"/>
              </a:spcBef>
              <a:defRPr kumimoji="1" sz="1200">
                <a:solidFill>
                  <a:schemeClr val="tx1"/>
                </a:solidFill>
                <a:latin typeface="Arial" panose="020B0604020202020204" pitchFamily="34" charset="0"/>
                <a:cs typeface="Arial" panose="020B0604020202020204" pitchFamily="34" charset="0"/>
              </a:defRPr>
            </a:lvl2pPr>
            <a:lvl3pPr marL="1143000" indent="-228600">
              <a:spcBef>
                <a:spcPct val="30000"/>
              </a:spcBef>
              <a:defRPr kumimoji="1" sz="1200">
                <a:solidFill>
                  <a:schemeClr val="tx1"/>
                </a:solidFill>
                <a:latin typeface="Arial" panose="020B0604020202020204" pitchFamily="34" charset="0"/>
                <a:cs typeface="Arial" panose="020B0604020202020204" pitchFamily="34" charset="0"/>
              </a:defRPr>
            </a:lvl3pPr>
            <a:lvl4pPr marL="1600200" indent="-228600">
              <a:spcBef>
                <a:spcPct val="30000"/>
              </a:spcBef>
              <a:defRPr kumimoji="1" sz="1200">
                <a:solidFill>
                  <a:schemeClr val="tx1"/>
                </a:solidFill>
                <a:latin typeface="Arial" panose="020B0604020202020204" pitchFamily="34" charset="0"/>
                <a:cs typeface="Arial" panose="020B0604020202020204" pitchFamily="34" charset="0"/>
              </a:defRPr>
            </a:lvl4pPr>
            <a:lvl5pPr marL="2057400" indent="-228600">
              <a:spcBef>
                <a:spcPct val="30000"/>
              </a:spcBef>
              <a:defRPr kumimoji="1"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9pPr>
          </a:lstStyle>
          <a:p>
            <a:pPr>
              <a:spcBef>
                <a:spcPct val="0"/>
              </a:spcBef>
            </a:pPr>
            <a:fld id="{C279AD2A-D337-4409-84E4-9A08E4846619}" type="slidenum">
              <a:rPr kumimoji="0" lang="en-US" altLang="zh-CN"/>
              <a:pPr>
                <a:spcBef>
                  <a:spcPct val="0"/>
                </a:spcBef>
              </a:pPr>
              <a:t>43</a:t>
            </a:fld>
            <a:endParaRPr kumimoji="0" lang="en-US" altLang="zh-CN"/>
          </a:p>
        </p:txBody>
      </p:sp>
      <p:sp>
        <p:nvSpPr>
          <p:cNvPr id="9219" name="Rectangle 2">
            <a:extLst>
              <a:ext uri="{FF2B5EF4-FFF2-40B4-BE49-F238E27FC236}">
                <a16:creationId xmlns:a16="http://schemas.microsoft.com/office/drawing/2014/main" id="{FAB15351-6A13-4550-8707-87988220B3D2}"/>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75064ADA-DF5B-463B-B6AD-4AB0F4928B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b="0" i="0" dirty="0">
                <a:solidFill>
                  <a:srgbClr val="2A2B2E"/>
                </a:solidFill>
                <a:effectLst/>
                <a:latin typeface="PingFang SC"/>
              </a:rPr>
              <a:t>详细设计与</a:t>
            </a:r>
            <a:r>
              <a:rPr lang="en-US" altLang="zh-CN" b="0" i="0" dirty="0">
                <a:solidFill>
                  <a:srgbClr val="2A2B2E"/>
                </a:solidFill>
                <a:effectLst/>
                <a:latin typeface="PingFang SC"/>
              </a:rPr>
              <a:t>CRC</a:t>
            </a:r>
            <a:r>
              <a:rPr lang="zh-CN" altLang="en-US" b="0" i="0" dirty="0">
                <a:solidFill>
                  <a:srgbClr val="2A2B2E"/>
                </a:solidFill>
                <a:effectLst/>
                <a:latin typeface="PingFang SC"/>
              </a:rPr>
              <a:t>卡</a:t>
            </a:r>
            <a:endParaRPr lang="en-US"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2653378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使用</a:t>
            </a:r>
            <a:r>
              <a:rPr lang="en-US" altLang="zh-CN" b="0" i="0" dirty="0">
                <a:solidFill>
                  <a:srgbClr val="2A2B2E"/>
                </a:solidFill>
                <a:effectLst/>
                <a:latin typeface="PingFang SC"/>
              </a:rPr>
              <a:t>CRC</a:t>
            </a:r>
            <a:r>
              <a:rPr lang="zh-CN" altLang="en-US" b="0" i="0" dirty="0">
                <a:solidFill>
                  <a:srgbClr val="2A2B2E"/>
                </a:solidFill>
                <a:effectLst/>
                <a:latin typeface="PingFang SC"/>
              </a:rPr>
              <a:t>卡进行设计</a:t>
            </a:r>
            <a:r>
              <a:rPr lang="en-US" altLang="zh-CN" b="0" i="0" dirty="0">
                <a:solidFill>
                  <a:srgbClr val="2A2B2E"/>
                </a:solidFill>
                <a:effectLst/>
                <a:latin typeface="PingFang SC"/>
              </a:rPr>
              <a:t>:</a:t>
            </a:r>
          </a:p>
          <a:p>
            <a:pPr algn="l"/>
            <a:endParaRPr lang="en-US" altLang="zh-CN" b="0" i="0" dirty="0">
              <a:solidFill>
                <a:srgbClr val="2A2B2E"/>
              </a:solidFill>
              <a:effectLst/>
              <a:latin typeface="PingFang SC"/>
            </a:endParaRPr>
          </a:p>
          <a:p>
            <a:pPr algn="l"/>
            <a:r>
              <a:rPr lang="en-US" altLang="zh-CN" b="0" i="0" dirty="0">
                <a:solidFill>
                  <a:srgbClr val="2A2B2E"/>
                </a:solidFill>
                <a:effectLst/>
                <a:latin typeface="PingFang SC"/>
              </a:rPr>
              <a:t>CRC</a:t>
            </a:r>
            <a:r>
              <a:rPr lang="zh-CN" altLang="en-US" b="0" i="0" dirty="0">
                <a:solidFill>
                  <a:srgbClr val="2A2B2E"/>
                </a:solidFill>
                <a:effectLst/>
                <a:latin typeface="PingFang SC"/>
              </a:rPr>
              <a:t>卡</a:t>
            </a:r>
            <a:r>
              <a:rPr lang="en-US" altLang="zh-CN" b="0" i="0" dirty="0">
                <a:solidFill>
                  <a:srgbClr val="2A2B2E"/>
                </a:solidFill>
                <a:effectLst/>
                <a:latin typeface="PingFang SC"/>
              </a:rPr>
              <a:t>-</a:t>
            </a:r>
            <a:r>
              <a:rPr lang="zh-CN" altLang="en-US" b="0" i="0" dirty="0">
                <a:solidFill>
                  <a:srgbClr val="2A2B2E"/>
                </a:solidFill>
                <a:effectLst/>
                <a:latin typeface="PingFang SC"/>
              </a:rPr>
              <a:t>类，职责，协作卡</a:t>
            </a:r>
            <a:br>
              <a:rPr lang="zh-CN" altLang="en-US" dirty="0"/>
            </a:br>
            <a:endParaRPr lang="zh-CN" altLang="en-US" b="0" i="0" dirty="0">
              <a:solidFill>
                <a:srgbClr val="2A2B2E"/>
              </a:solidFill>
              <a:effectLst/>
              <a:latin typeface="PingFang SC"/>
            </a:endParaRPr>
          </a:p>
          <a:p>
            <a:pPr algn="l"/>
            <a:r>
              <a:rPr lang="en-US" altLang="zh-CN" b="0" i="0" dirty="0">
                <a:solidFill>
                  <a:srgbClr val="2A2B2E"/>
                </a:solidFill>
                <a:effectLst/>
                <a:latin typeface="PingFang SC"/>
              </a:rPr>
              <a:t>OO</a:t>
            </a:r>
            <a:r>
              <a:rPr lang="zh-CN" altLang="en-US" b="0" i="0" dirty="0">
                <a:solidFill>
                  <a:srgbClr val="2A2B2E"/>
                </a:solidFill>
                <a:effectLst/>
                <a:latin typeface="PingFang SC"/>
              </a:rPr>
              <a:t>设计是关于为类分配职责，以便它们如何协作来完成用例</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通常是在头脑风暴会议中手动完成的过程</a:t>
            </a:r>
            <a:br>
              <a:rPr lang="zh-CN" altLang="en-US" dirty="0"/>
            </a:br>
            <a:r>
              <a:rPr lang="zh-CN" altLang="en-US" dirty="0"/>
              <a:t>  </a:t>
            </a:r>
            <a:r>
              <a:rPr lang="zh-CN" altLang="en-US" b="0" i="0" dirty="0">
                <a:solidFill>
                  <a:srgbClr val="2A2B2E"/>
                </a:solidFill>
                <a:effectLst/>
                <a:latin typeface="PingFang SC"/>
              </a:rPr>
              <a:t>每个类一张卡</a:t>
            </a:r>
            <a:br>
              <a:rPr lang="zh-CN" altLang="en-US" dirty="0"/>
            </a:br>
            <a:r>
              <a:rPr lang="zh-CN" altLang="en-US" dirty="0"/>
              <a:t>  正面</a:t>
            </a:r>
            <a:r>
              <a:rPr lang="zh-CN" altLang="en-US" b="0" i="0" dirty="0">
                <a:solidFill>
                  <a:srgbClr val="2A2B2E"/>
                </a:solidFill>
                <a:effectLst/>
                <a:latin typeface="PingFang SC"/>
              </a:rPr>
              <a:t>有责任和协作</a:t>
            </a:r>
            <a:br>
              <a:rPr lang="zh-CN" altLang="en-US" dirty="0"/>
            </a:br>
            <a:r>
              <a:rPr lang="zh-CN" altLang="en-US" dirty="0"/>
              <a:t>  </a:t>
            </a:r>
            <a:r>
              <a:rPr lang="zh-CN" altLang="en-US" b="0" i="0" dirty="0">
                <a:solidFill>
                  <a:srgbClr val="2A2B2E"/>
                </a:solidFill>
                <a:effectLst/>
                <a:latin typeface="PingFang SC"/>
              </a:rPr>
              <a:t>反面有需要的属性</a:t>
            </a:r>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44</a:t>
            </a:fld>
            <a:endParaRPr lang="en-US" altLang="zh-CN"/>
          </a:p>
        </p:txBody>
      </p:sp>
    </p:spTree>
    <p:extLst>
      <p:ext uri="{BB962C8B-B14F-4D97-AF65-F5344CB8AC3E}">
        <p14:creationId xmlns:p14="http://schemas.microsoft.com/office/powerpoint/2010/main" val="265716046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45</a:t>
            </a:fld>
            <a:endParaRPr lang="en-US" altLang="zh-CN"/>
          </a:p>
        </p:txBody>
      </p:sp>
    </p:spTree>
    <p:extLst>
      <p:ext uri="{BB962C8B-B14F-4D97-AF65-F5344CB8AC3E}">
        <p14:creationId xmlns:p14="http://schemas.microsoft.com/office/powerpoint/2010/main" val="327113018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b="0" i="0" dirty="0">
                <a:solidFill>
                  <a:srgbClr val="2A2B2E"/>
                </a:solidFill>
                <a:effectLst/>
                <a:latin typeface="PingFang SC"/>
              </a:rPr>
              <a:t>CRC</a:t>
            </a:r>
            <a:r>
              <a:rPr lang="zh-CN" altLang="en-US" b="0" i="0" dirty="0">
                <a:solidFill>
                  <a:srgbClr val="2A2B2E"/>
                </a:solidFill>
                <a:effectLst/>
                <a:latin typeface="PingFang SC"/>
              </a:rPr>
              <a:t>卡过程：</a:t>
            </a:r>
            <a:endParaRPr lang="en-US" altLang="zh-CN" b="0" i="0" dirty="0">
              <a:solidFill>
                <a:srgbClr val="2A2B2E"/>
              </a:solidFill>
              <a:effectLst/>
              <a:latin typeface="PingFang SC"/>
            </a:endParaRPr>
          </a:p>
          <a:p>
            <a:pPr algn="l"/>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因为这个过程是设计或实现一个用例，从一组未使用的</a:t>
            </a:r>
            <a:r>
              <a:rPr lang="en-US" altLang="zh-CN" b="0" i="0" dirty="0">
                <a:solidFill>
                  <a:srgbClr val="2A2B2E"/>
                </a:solidFill>
                <a:effectLst/>
                <a:latin typeface="PingFang SC"/>
              </a:rPr>
              <a:t>CRC</a:t>
            </a:r>
            <a:r>
              <a:rPr lang="zh-CN" altLang="en-US" b="0" i="0" dirty="0">
                <a:solidFill>
                  <a:srgbClr val="2A2B2E"/>
                </a:solidFill>
                <a:effectLst/>
                <a:latin typeface="PingFang SC"/>
              </a:rPr>
              <a:t>卡开始。添加一个控制器类</a:t>
            </a:r>
            <a:r>
              <a:rPr lang="en-US" altLang="zh-CN" b="0" i="0" dirty="0">
                <a:solidFill>
                  <a:srgbClr val="2A2B2E"/>
                </a:solidFill>
                <a:effectLst/>
                <a:latin typeface="PingFang SC"/>
              </a:rPr>
              <a:t>(</a:t>
            </a:r>
            <a:r>
              <a:rPr lang="zh-CN" altLang="en-US" b="0" i="0" dirty="0">
                <a:solidFill>
                  <a:srgbClr val="2A2B2E"/>
                </a:solidFill>
                <a:effectLst/>
                <a:latin typeface="PingFang SC"/>
              </a:rPr>
              <a:t>控制器设计模式</a:t>
            </a:r>
            <a:r>
              <a:rPr lang="en-US" altLang="zh-CN" b="0" i="0" dirty="0">
                <a:solidFill>
                  <a:srgbClr val="2A2B2E"/>
                </a:solidFill>
                <a:effectLst/>
                <a:latin typeface="PingFang SC"/>
              </a:rPr>
              <a:t>)</a:t>
            </a:r>
            <a:r>
              <a:rPr lang="zh-CN" altLang="en-US" b="0" i="0" dirty="0">
                <a:solidFill>
                  <a:srgbClr val="2A2B2E"/>
                </a:solidFill>
                <a:effectLst/>
                <a:latin typeface="PingFang SC"/>
              </a:rPr>
              <a:t>。</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确定一个对这个用例负有主要责任的问题域类，它将接收来自用例控制器的第一条消息。</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使用第一个设计类图来识别必须与主要对象类协作以完成用例的其他类。</a:t>
            </a:r>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46</a:t>
            </a:fld>
            <a:endParaRPr lang="en-US" altLang="zh-CN"/>
          </a:p>
        </p:txBody>
      </p:sp>
    </p:spTree>
    <p:extLst>
      <p:ext uri="{BB962C8B-B14F-4D97-AF65-F5344CB8AC3E}">
        <p14:creationId xmlns:p14="http://schemas.microsoft.com/office/powerpoint/2010/main" val="427091244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从控制器获取第一条消息的类开始。并将它的职责写在卡片上</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现在问一下，这第一个类需要什么来履行职责。分配其他类职责以满足每个需求。把责任写在卡片上。</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将协作者添加到显示哪个与哪个协作的卡片中。在卡片背面添加属性</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最后，可以添加用户交互类甚至数据访问类</a:t>
            </a:r>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47</a:t>
            </a:fld>
            <a:endParaRPr lang="en-US" altLang="zh-CN"/>
          </a:p>
        </p:txBody>
      </p:sp>
    </p:spTree>
    <p:extLst>
      <p:ext uri="{BB962C8B-B14F-4D97-AF65-F5344CB8AC3E}">
        <p14:creationId xmlns:p14="http://schemas.microsoft.com/office/powerpoint/2010/main" val="16194721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48</a:t>
            </a:fld>
            <a:endParaRPr lang="en-US" altLang="zh-CN"/>
          </a:p>
        </p:txBody>
      </p:sp>
    </p:spTree>
    <p:extLst>
      <p:ext uri="{BB962C8B-B14F-4D97-AF65-F5344CB8AC3E}">
        <p14:creationId xmlns:p14="http://schemas.microsoft.com/office/powerpoint/2010/main" val="111077665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50</a:t>
            </a:fld>
            <a:endParaRPr lang="en-US" altLang="zh-CN"/>
          </a:p>
        </p:txBody>
      </p:sp>
    </p:spTree>
    <p:extLst>
      <p:ext uri="{BB962C8B-B14F-4D97-AF65-F5344CB8AC3E}">
        <p14:creationId xmlns:p14="http://schemas.microsoft.com/office/powerpoint/2010/main" val="42141711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更新基于</a:t>
            </a:r>
            <a:r>
              <a:rPr lang="en-US" altLang="zh-CN" b="0" i="0" dirty="0">
                <a:solidFill>
                  <a:srgbClr val="2A2B2E"/>
                </a:solidFill>
                <a:effectLst/>
                <a:latin typeface="PingFang SC"/>
              </a:rPr>
              <a:t>CRC</a:t>
            </a:r>
            <a:r>
              <a:rPr lang="zh-CN" altLang="en-US" b="0" i="0" dirty="0">
                <a:solidFill>
                  <a:srgbClr val="2A2B2E"/>
                </a:solidFill>
                <a:effectLst/>
                <a:latin typeface="PingFang SC"/>
              </a:rPr>
              <a:t>结果的设计类图</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51</a:t>
            </a:fld>
            <a:endParaRPr lang="en-US" altLang="zh-CN"/>
          </a:p>
        </p:txBody>
      </p:sp>
    </p:spTree>
    <p:extLst>
      <p:ext uri="{BB962C8B-B14F-4D97-AF65-F5344CB8AC3E}">
        <p14:creationId xmlns:p14="http://schemas.microsoft.com/office/powerpoint/2010/main" val="126225637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职责变为尚未添加的方法</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52</a:t>
            </a:fld>
            <a:endParaRPr lang="en-US" altLang="zh-CN"/>
          </a:p>
        </p:txBody>
      </p:sp>
    </p:spTree>
    <p:extLst>
      <p:ext uri="{BB962C8B-B14F-4D97-AF65-F5344CB8AC3E}">
        <p14:creationId xmlns:p14="http://schemas.microsoft.com/office/powerpoint/2010/main" val="79659358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参数和返回类型尚未添加</a:t>
            </a:r>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53</a:t>
            </a:fld>
            <a:endParaRPr lang="en-US" altLang="zh-CN"/>
          </a:p>
        </p:txBody>
      </p:sp>
    </p:spTree>
    <p:extLst>
      <p:ext uri="{BB962C8B-B14F-4D97-AF65-F5344CB8AC3E}">
        <p14:creationId xmlns:p14="http://schemas.microsoft.com/office/powerpoint/2010/main" val="164532550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C8FF8327-740B-448C-8BD0-3BF3255B51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cs typeface="Arial" panose="020B0604020202020204" pitchFamily="34" charset="0"/>
              </a:defRPr>
            </a:lvl1pPr>
            <a:lvl2pPr marL="742950" indent="-285750">
              <a:spcBef>
                <a:spcPct val="30000"/>
              </a:spcBef>
              <a:defRPr kumimoji="1" sz="1200">
                <a:solidFill>
                  <a:schemeClr val="tx1"/>
                </a:solidFill>
                <a:latin typeface="Arial" panose="020B0604020202020204" pitchFamily="34" charset="0"/>
                <a:cs typeface="Arial" panose="020B0604020202020204" pitchFamily="34" charset="0"/>
              </a:defRPr>
            </a:lvl2pPr>
            <a:lvl3pPr marL="1143000" indent="-228600">
              <a:spcBef>
                <a:spcPct val="30000"/>
              </a:spcBef>
              <a:defRPr kumimoji="1" sz="1200">
                <a:solidFill>
                  <a:schemeClr val="tx1"/>
                </a:solidFill>
                <a:latin typeface="Arial" panose="020B0604020202020204" pitchFamily="34" charset="0"/>
                <a:cs typeface="Arial" panose="020B0604020202020204" pitchFamily="34" charset="0"/>
              </a:defRPr>
            </a:lvl3pPr>
            <a:lvl4pPr marL="1600200" indent="-228600">
              <a:spcBef>
                <a:spcPct val="30000"/>
              </a:spcBef>
              <a:defRPr kumimoji="1" sz="1200">
                <a:solidFill>
                  <a:schemeClr val="tx1"/>
                </a:solidFill>
                <a:latin typeface="Arial" panose="020B0604020202020204" pitchFamily="34" charset="0"/>
                <a:cs typeface="Arial" panose="020B0604020202020204" pitchFamily="34" charset="0"/>
              </a:defRPr>
            </a:lvl4pPr>
            <a:lvl5pPr marL="2057400" indent="-228600">
              <a:spcBef>
                <a:spcPct val="30000"/>
              </a:spcBef>
              <a:defRPr kumimoji="1"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9pPr>
          </a:lstStyle>
          <a:p>
            <a:pPr>
              <a:spcBef>
                <a:spcPct val="0"/>
              </a:spcBef>
            </a:pPr>
            <a:fld id="{C279AD2A-D337-4409-84E4-9A08E4846619}" type="slidenum">
              <a:rPr kumimoji="0" lang="en-US" altLang="zh-CN"/>
              <a:pPr>
                <a:spcBef>
                  <a:spcPct val="0"/>
                </a:spcBef>
              </a:pPr>
              <a:t>54</a:t>
            </a:fld>
            <a:endParaRPr kumimoji="0" lang="en-US" altLang="zh-CN"/>
          </a:p>
        </p:txBody>
      </p:sp>
      <p:sp>
        <p:nvSpPr>
          <p:cNvPr id="9219" name="Rectangle 2">
            <a:extLst>
              <a:ext uri="{FF2B5EF4-FFF2-40B4-BE49-F238E27FC236}">
                <a16:creationId xmlns:a16="http://schemas.microsoft.com/office/drawing/2014/main" id="{FAB15351-6A13-4550-8707-87988220B3D2}"/>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75064ADA-DF5B-463B-B6AD-4AB0F4928B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b="0" i="0" dirty="0">
                <a:solidFill>
                  <a:srgbClr val="2A2B2E"/>
                </a:solidFill>
                <a:effectLst/>
                <a:latin typeface="PingFang SC"/>
              </a:rPr>
              <a:t>基本详细设计原则</a:t>
            </a:r>
            <a:endParaRPr lang="en-US"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2970011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耦合</a:t>
            </a:r>
            <a:endParaRPr lang="en-US" altLang="zh-CN" dirty="0"/>
          </a:p>
          <a:p>
            <a:endParaRPr lang="en-US" altLang="zh-CN" dirty="0"/>
          </a:p>
          <a:p>
            <a:r>
              <a:rPr lang="zh-CN" altLang="en-US" b="0" i="0" dirty="0">
                <a:solidFill>
                  <a:srgbClr val="2A2B2E"/>
                </a:solidFill>
                <a:effectLst/>
                <a:latin typeface="PingFang SC"/>
              </a:rPr>
              <a:t>  对相关类的链接紧密程度</a:t>
            </a:r>
            <a:r>
              <a:rPr lang="en-US" altLang="zh-CN" b="0" i="0" dirty="0">
                <a:solidFill>
                  <a:srgbClr val="2A2B2E"/>
                </a:solidFill>
                <a:effectLst/>
                <a:latin typeface="PingFang SC"/>
              </a:rPr>
              <a:t>(</a:t>
            </a:r>
            <a:r>
              <a:rPr lang="zh-CN" altLang="en-US" b="0" i="0" dirty="0">
                <a:solidFill>
                  <a:srgbClr val="2A2B2E"/>
                </a:solidFill>
                <a:effectLst/>
                <a:latin typeface="PingFang SC"/>
              </a:rPr>
              <a:t>紧密耦合或松散耦合</a:t>
            </a:r>
            <a:r>
              <a:rPr lang="en-US" altLang="zh-CN" b="0" i="0" dirty="0">
                <a:solidFill>
                  <a:srgbClr val="2A2B2E"/>
                </a:solidFill>
                <a:effectLst/>
                <a:latin typeface="PingFang SC"/>
              </a:rPr>
              <a:t>)</a:t>
            </a:r>
            <a:r>
              <a:rPr lang="zh-CN" altLang="en-US" b="0" i="0" dirty="0">
                <a:solidFill>
                  <a:srgbClr val="2A2B2E"/>
                </a:solidFill>
                <a:effectLst/>
                <a:latin typeface="PingFang SC"/>
              </a:rPr>
              <a:t>的定量度量</a:t>
            </a:r>
            <a:endParaRPr lang="en-US" altLang="zh-CN" dirty="0"/>
          </a:p>
          <a:p>
            <a:endParaRPr lang="en-US" altLang="zh-CN" dirty="0"/>
          </a:p>
          <a:p>
            <a:r>
              <a:rPr lang="zh-CN" altLang="en-US" b="0" i="0" dirty="0">
                <a:solidFill>
                  <a:srgbClr val="2A2B2E"/>
                </a:solidFill>
                <a:effectLst/>
                <a:latin typeface="PingFang SC"/>
              </a:rPr>
              <a:t>  两个类是紧密耦合的，即与另一个类有很多关联</a:t>
            </a:r>
            <a:endParaRPr lang="en-US" altLang="zh-CN" b="0" i="0" dirty="0">
              <a:solidFill>
                <a:srgbClr val="2A2B2E"/>
              </a:solidFill>
              <a:effectLst/>
              <a:latin typeface="PingFang SC"/>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0" i="0" dirty="0">
                <a:solidFill>
                  <a:srgbClr val="2A2B2E"/>
                </a:solidFill>
                <a:effectLst/>
                <a:latin typeface="PingFang SC"/>
              </a:rPr>
              <a:t>  如果有很多传递给另一个类的消息，则两个类是紧密耦合的 （互相通信的对象必须有导航可见性，所以他们就是耦合的）</a:t>
            </a:r>
            <a:endParaRPr lang="en-US" altLang="zh-CN" b="0" i="0" dirty="0">
              <a:solidFill>
                <a:srgbClr val="2A2B2E"/>
              </a:solidFill>
              <a:effectLst/>
              <a:latin typeface="PingFang SC"/>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b="0" i="0" dirty="0">
              <a:solidFill>
                <a:srgbClr val="2A2B2E"/>
              </a:solidFill>
              <a:effectLst/>
              <a:latin typeface="PingFang SC"/>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0" i="0" dirty="0">
                <a:solidFill>
                  <a:srgbClr val="2A2B2E"/>
                </a:solidFill>
                <a:effectLst/>
                <a:latin typeface="PingFang SC"/>
              </a:rPr>
              <a:t>  松耦合（强耦合时，一个类的变化会波及整个系统）</a:t>
            </a:r>
            <a:endParaRPr lang="en-US" altLang="zh-CN" b="0" i="0" dirty="0">
              <a:solidFill>
                <a:srgbClr val="2A2B2E"/>
              </a:solidFill>
              <a:effectLst/>
              <a:latin typeface="PingFang SC"/>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55</a:t>
            </a:fld>
            <a:endParaRPr lang="en-US" altLang="zh-CN"/>
          </a:p>
        </p:txBody>
      </p:sp>
    </p:spTree>
    <p:extLst>
      <p:ext uri="{BB962C8B-B14F-4D97-AF65-F5344CB8AC3E}">
        <p14:creationId xmlns:p14="http://schemas.microsoft.com/office/powerpoint/2010/main" val="396927883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内聚</a:t>
            </a:r>
            <a:endParaRPr lang="en-US" altLang="zh-CN" dirty="0"/>
          </a:p>
          <a:p>
            <a:endParaRPr lang="en-US" altLang="zh-CN" dirty="0"/>
          </a:p>
          <a:p>
            <a:r>
              <a:rPr lang="zh-CN" altLang="en-US" b="0" i="0" dirty="0">
                <a:solidFill>
                  <a:srgbClr val="2A2B2E"/>
                </a:solidFill>
                <a:effectLst/>
                <a:latin typeface="PingFang SC"/>
              </a:rPr>
              <a:t>内聚是对一个类的功能一致性的定性度量</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如果一个类的所有职责都是一致的，并且对类的目的有意义，则该类具有高内聚性。</a:t>
            </a:r>
            <a:endParaRPr lang="en-US" altLang="zh-CN" b="0" i="0" dirty="0">
              <a:solidFill>
                <a:srgbClr val="2A2B2E"/>
              </a:solidFill>
              <a:effectLst/>
              <a:latin typeface="PingFang SC"/>
            </a:endParaRPr>
          </a:p>
          <a:p>
            <a:r>
              <a:rPr lang="zh-CN" altLang="en-US" b="0" i="0" dirty="0">
                <a:solidFill>
                  <a:srgbClr val="2A2B2E"/>
                </a:solidFill>
                <a:effectLst/>
                <a:latin typeface="PingFang SC"/>
              </a:rPr>
              <a:t>如果一个类的职责很宽泛或者是临时的，那么它的内聚性就很低</a:t>
            </a:r>
            <a:endParaRPr lang="en-US" altLang="zh-CN" dirty="0"/>
          </a:p>
          <a:p>
            <a:r>
              <a:rPr lang="zh-CN" altLang="en-US" dirty="0"/>
              <a:t>（这个类只完成自己该完成的职责，尽可能地减少与它关联弱的职责）</a:t>
            </a:r>
            <a:endParaRPr lang="en-US" altLang="zh-CN" dirty="0"/>
          </a:p>
          <a:p>
            <a:endParaRPr lang="en-US" altLang="zh-CN" dirty="0"/>
          </a:p>
          <a:p>
            <a:r>
              <a:rPr lang="zh-CN" altLang="en-US" dirty="0"/>
              <a:t>希望：高内聚</a:t>
            </a:r>
            <a:endParaRPr lang="en-US" altLang="zh-CN" dirty="0"/>
          </a:p>
          <a:p>
            <a:endParaRPr lang="en-US" altLang="zh-CN" dirty="0"/>
          </a:p>
          <a:p>
            <a:r>
              <a:rPr lang="zh-CN" altLang="en-US" dirty="0"/>
              <a:t>低内聚的负效应：</a:t>
            </a:r>
            <a:endParaRPr lang="en-US" altLang="zh-CN" dirty="0"/>
          </a:p>
          <a:p>
            <a:r>
              <a:rPr lang="en-US" altLang="zh-CN" dirty="0"/>
              <a:t>1</a:t>
            </a:r>
            <a:r>
              <a:rPr lang="zh-CN" altLang="en-US" dirty="0"/>
              <a:t>）难于维护，对系统内的变化很敏感，容易产生连锁反应</a:t>
            </a:r>
            <a:endParaRPr lang="en-US" altLang="zh-CN" dirty="0"/>
          </a:p>
          <a:p>
            <a:r>
              <a:rPr lang="en-US" altLang="zh-CN" dirty="0"/>
              <a:t>2</a:t>
            </a:r>
            <a:r>
              <a:rPr lang="zh-CN" altLang="en-US" dirty="0"/>
              <a:t>）很难再次使用这些类，他们有很多㐀的功能</a:t>
            </a:r>
            <a:endParaRPr lang="en-US" altLang="zh-CN" dirty="0"/>
          </a:p>
          <a:p>
            <a:r>
              <a:rPr lang="en-US" altLang="zh-CN" dirty="0"/>
              <a:t>3</a:t>
            </a:r>
            <a:r>
              <a:rPr lang="zh-CN" altLang="en-US" dirty="0"/>
              <a:t>）难于理解，逻辑负责</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56</a:t>
            </a:fld>
            <a:endParaRPr lang="en-US" altLang="zh-CN"/>
          </a:p>
        </p:txBody>
      </p:sp>
    </p:spTree>
    <p:extLst>
      <p:ext uri="{BB962C8B-B14F-4D97-AF65-F5344CB8AC3E}">
        <p14:creationId xmlns:p14="http://schemas.microsoft.com/office/powerpoint/2010/main" val="403271921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变量保护</a:t>
            </a:r>
            <a:endParaRPr lang="en-US" altLang="zh-CN" dirty="0"/>
          </a:p>
          <a:p>
            <a:endParaRPr lang="en-US" altLang="zh-CN" dirty="0"/>
          </a:p>
          <a:p>
            <a:r>
              <a:rPr lang="zh-CN" altLang="en-US" b="0" i="0" dirty="0">
                <a:solidFill>
                  <a:srgbClr val="2A2B2E"/>
                </a:solidFill>
                <a:effectLst/>
                <a:latin typeface="PingFang SC"/>
              </a:rPr>
              <a:t>将系统中不太可能改变的部分与那些肯定会改变的部分分开</a:t>
            </a:r>
            <a:r>
              <a:rPr lang="en-US" altLang="zh-CN" b="0" i="0" dirty="0">
                <a:solidFill>
                  <a:srgbClr val="2A2B2E"/>
                </a:solidFill>
                <a:effectLst/>
                <a:latin typeface="PingFang SC"/>
              </a:rPr>
              <a:t>(</a:t>
            </a:r>
            <a:r>
              <a:rPr lang="zh-CN" altLang="en-US" b="0" i="0" dirty="0">
                <a:solidFill>
                  <a:srgbClr val="2A2B2E"/>
                </a:solidFill>
                <a:effectLst/>
                <a:latin typeface="PingFang SC"/>
              </a:rPr>
              <a:t>保护</a:t>
            </a:r>
            <a:r>
              <a:rPr lang="en-US" altLang="zh-CN" b="0" i="0" dirty="0">
                <a:solidFill>
                  <a:srgbClr val="2A2B2E"/>
                </a:solidFill>
                <a:effectLst/>
                <a:latin typeface="PingFang SC"/>
              </a:rPr>
              <a:t>)</a:t>
            </a:r>
            <a:r>
              <a:rPr lang="zh-CN" altLang="en-US" b="0" i="0" dirty="0">
                <a:solidFill>
                  <a:srgbClr val="2A2B2E"/>
                </a:solidFill>
                <a:effectLst/>
                <a:latin typeface="PingFang SC"/>
              </a:rPr>
              <a:t>的设计原则</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用户接口逻辑和业务逻辑分离（用户接口可以在不影响业务逻辑的情况下被重写）</a:t>
            </a:r>
            <a:endParaRPr lang="en-US" altLang="zh-CN" b="0" i="0" dirty="0">
              <a:solidFill>
                <a:srgbClr val="2A2B2E"/>
              </a:solidFill>
              <a:effectLst/>
              <a:latin typeface="PingFang SC"/>
            </a:endParaRPr>
          </a:p>
          <a:p>
            <a:r>
              <a:rPr lang="zh-CN" altLang="en-US" dirty="0"/>
              <a:t>数据库连接和业务逻辑分离</a:t>
            </a:r>
            <a:endParaRPr lang="en-US" altLang="zh-CN" dirty="0"/>
          </a:p>
          <a:p>
            <a:endParaRPr lang="en-US" altLang="zh-CN" dirty="0"/>
          </a:p>
          <a:p>
            <a:r>
              <a:rPr lang="zh-CN" altLang="en-US" b="0" i="0" dirty="0">
                <a:solidFill>
                  <a:srgbClr val="2A2B2E"/>
                </a:solidFill>
                <a:effectLst/>
                <a:latin typeface="PingFang SC"/>
              </a:rPr>
              <a:t>使用在与其他系统接口时可能会更改的适配器类</a:t>
            </a:r>
            <a:endParaRPr lang="en-US" altLang="zh-CN" dirty="0"/>
          </a:p>
          <a:p>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57</a:t>
            </a:fld>
            <a:endParaRPr lang="en-US" altLang="zh-CN"/>
          </a:p>
        </p:txBody>
      </p:sp>
    </p:spTree>
    <p:extLst>
      <p:ext uri="{BB962C8B-B14F-4D97-AF65-F5344CB8AC3E}">
        <p14:creationId xmlns:p14="http://schemas.microsoft.com/office/powerpoint/2010/main" val="15567876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间接</a:t>
            </a:r>
            <a:endParaRPr lang="en-US" altLang="zh-CN" dirty="0"/>
          </a:p>
          <a:p>
            <a:endParaRPr lang="en-US" altLang="zh-CN" dirty="0"/>
          </a:p>
          <a:p>
            <a:r>
              <a:rPr lang="zh-CN" altLang="en-US" dirty="0"/>
              <a:t>通过放置一个充当链接的中间件来分离两个类或其他系统组件的原则</a:t>
            </a:r>
            <a:endParaRPr lang="en-US" altLang="zh-CN" dirty="0"/>
          </a:p>
          <a:p>
            <a:endParaRPr lang="en-US" altLang="zh-CN" dirty="0"/>
          </a:p>
          <a:p>
            <a:r>
              <a:rPr lang="en-US" altLang="zh-CN" b="0" i="0" dirty="0">
                <a:solidFill>
                  <a:srgbClr val="2A2B2E"/>
                </a:solidFill>
                <a:effectLst/>
                <a:latin typeface="PingFang SC"/>
              </a:rPr>
              <a:t>UI</a:t>
            </a:r>
            <a:r>
              <a:rPr lang="zh-CN" altLang="en-US" b="0" i="0" dirty="0">
                <a:solidFill>
                  <a:srgbClr val="2A2B2E"/>
                </a:solidFill>
                <a:effectLst/>
                <a:latin typeface="PingFang SC"/>
              </a:rPr>
              <a:t>类和问题域类之间的控制器类就是一个例子</a:t>
            </a:r>
            <a:endParaRPr lang="en-US" altLang="zh-CN" dirty="0"/>
          </a:p>
          <a:p>
            <a:endParaRPr lang="en-US" altLang="zh-CN" dirty="0"/>
          </a:p>
          <a:p>
            <a:r>
              <a:rPr lang="zh-CN" altLang="en-US" dirty="0"/>
              <a:t>支持低耦合</a:t>
            </a:r>
            <a:endParaRPr lang="en-US" altLang="zh-CN" dirty="0"/>
          </a:p>
          <a:p>
            <a:endParaRPr lang="en-US" altLang="zh-CN" dirty="0"/>
          </a:p>
          <a:p>
            <a:r>
              <a:rPr lang="zh-CN" altLang="en-US" b="0" i="0" dirty="0">
                <a:solidFill>
                  <a:srgbClr val="2A2B2E"/>
                </a:solidFill>
                <a:effectLst/>
                <a:latin typeface="PingFang SC"/>
              </a:rPr>
              <a:t>通过将消息定向到防火墙中的中间类来支持安全性</a:t>
            </a:r>
            <a:endParaRPr lang="en-US" altLang="zh-CN" b="0" i="0" dirty="0">
              <a:solidFill>
                <a:srgbClr val="2A2B2E"/>
              </a:solidFill>
              <a:effectLst/>
              <a:latin typeface="PingFang SC"/>
            </a:endParaRPr>
          </a:p>
          <a:p>
            <a:r>
              <a:rPr lang="zh-CN" altLang="en-US" b="0" i="0" dirty="0">
                <a:solidFill>
                  <a:srgbClr val="2A2B2E"/>
                </a:solidFill>
                <a:effectLst/>
                <a:latin typeface="PingFang SC"/>
              </a:rPr>
              <a:t>（许多公司在内网和外网之间设有防火墙和代理服务器，代理服务器可以接收和发送消息）</a:t>
            </a:r>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58</a:t>
            </a:fld>
            <a:endParaRPr lang="en-US" altLang="zh-CN"/>
          </a:p>
        </p:txBody>
      </p:sp>
    </p:spTree>
    <p:extLst>
      <p:ext uri="{BB962C8B-B14F-4D97-AF65-F5344CB8AC3E}">
        <p14:creationId xmlns:p14="http://schemas.microsoft.com/office/powerpoint/2010/main" val="164018138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对象职责</a:t>
            </a:r>
            <a:endParaRPr lang="en-US" altLang="zh-CN" dirty="0"/>
          </a:p>
          <a:p>
            <a:endParaRPr lang="en-US" altLang="zh-CN" dirty="0"/>
          </a:p>
          <a:p>
            <a:r>
              <a:rPr lang="zh-CN" altLang="en-US" dirty="0"/>
              <a:t>  由对象负责实施系统过程</a:t>
            </a:r>
            <a:endParaRPr lang="en-US" altLang="zh-CN" dirty="0"/>
          </a:p>
          <a:p>
            <a:endParaRPr lang="en-US" altLang="zh-CN" dirty="0"/>
          </a:p>
          <a:p>
            <a:r>
              <a:rPr lang="zh-CN" altLang="en-US" dirty="0"/>
              <a:t>  职责可以分为两类：认识和行动</a:t>
            </a:r>
            <a:endParaRPr lang="en-US" altLang="zh-CN" dirty="0"/>
          </a:p>
          <a:p>
            <a:endParaRPr lang="en-US" altLang="zh-CN" dirty="0"/>
          </a:p>
          <a:p>
            <a:r>
              <a:rPr lang="zh-CN" altLang="en-US" b="0" i="0" dirty="0">
                <a:solidFill>
                  <a:srgbClr val="2A2B2E"/>
                </a:solidFill>
                <a:effectLst/>
                <a:latin typeface="PingFang SC"/>
              </a:rPr>
              <a:t>  对象知道其他对象</a:t>
            </a:r>
            <a:r>
              <a:rPr lang="en-US" altLang="zh-CN" b="0" i="0" dirty="0">
                <a:solidFill>
                  <a:srgbClr val="2A2B2E"/>
                </a:solidFill>
                <a:effectLst/>
                <a:latin typeface="PingFang SC"/>
              </a:rPr>
              <a:t>(</a:t>
            </a:r>
            <a:r>
              <a:rPr lang="zh-CN" altLang="en-US" b="0" i="0" dirty="0">
                <a:solidFill>
                  <a:srgbClr val="2A2B2E"/>
                </a:solidFill>
                <a:effectLst/>
                <a:latin typeface="PingFang SC"/>
              </a:rPr>
              <a:t>关联</a:t>
            </a:r>
            <a:r>
              <a:rPr lang="en-US" altLang="zh-CN" b="0" i="0" dirty="0">
                <a:solidFill>
                  <a:srgbClr val="2A2B2E"/>
                </a:solidFill>
                <a:effectLst/>
                <a:latin typeface="PingFang SC"/>
              </a:rPr>
              <a:t>)</a:t>
            </a:r>
            <a:r>
              <a:rPr lang="zh-CN" altLang="en-US" b="0" i="0" dirty="0">
                <a:solidFill>
                  <a:srgbClr val="2A2B2E"/>
                </a:solidFill>
                <a:effectLst/>
                <a:latin typeface="PingFang SC"/>
              </a:rPr>
              <a:t>，也知道它们的属性值。</a:t>
            </a:r>
            <a:endParaRPr lang="en-US" altLang="zh-CN" b="0" i="0" dirty="0">
              <a:solidFill>
                <a:srgbClr val="2A2B2E"/>
              </a:solidFill>
              <a:effectLst/>
              <a:latin typeface="PingFang SC"/>
            </a:endParaRPr>
          </a:p>
          <a:p>
            <a:r>
              <a:rPr lang="zh-CN" altLang="en-US" b="0" i="0" dirty="0">
                <a:solidFill>
                  <a:srgbClr val="2A2B2E"/>
                </a:solidFill>
                <a:effectLst/>
                <a:latin typeface="PingFang SC"/>
              </a:rPr>
              <a:t>对象知道如何执行方法，做被要求做的事情。</a:t>
            </a:r>
            <a:endParaRPr lang="en-US" altLang="zh-CN" dirty="0"/>
          </a:p>
          <a:p>
            <a:endParaRPr lang="en-US" altLang="zh-CN" dirty="0"/>
          </a:p>
          <a:p>
            <a:r>
              <a:rPr lang="zh-CN" altLang="en-US" dirty="0"/>
              <a:t>  （一个对象应该具有对向它提供信息的对象的导航可见性）</a:t>
            </a:r>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59</a:t>
            </a:fld>
            <a:endParaRPr lang="en-US" altLang="zh-CN"/>
          </a:p>
        </p:txBody>
      </p:sp>
    </p:spTree>
    <p:extLst>
      <p:ext uri="{BB962C8B-B14F-4D97-AF65-F5344CB8AC3E}">
        <p14:creationId xmlns:p14="http://schemas.microsoft.com/office/powerpoint/2010/main" val="375042659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本章的重点是设计通过弥合分析和实现之间的差距来解决业务问题的软件。</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架构设计是第一步，</a:t>
            </a:r>
            <a:r>
              <a:rPr lang="en-US" altLang="zh-CN" b="0" i="0" dirty="0">
                <a:solidFill>
                  <a:srgbClr val="2A2B2E"/>
                </a:solidFill>
                <a:effectLst/>
                <a:latin typeface="PingFang SC"/>
              </a:rPr>
              <a:t>UML</a:t>
            </a:r>
            <a:r>
              <a:rPr lang="zh-CN" altLang="en-US" b="0" i="0" dirty="0">
                <a:solidFill>
                  <a:srgbClr val="2A2B2E"/>
                </a:solidFill>
                <a:effectLst/>
                <a:latin typeface="PingFang SC"/>
              </a:rPr>
              <a:t>组件图用于对主要组件和应用程序编程接口</a:t>
            </a:r>
            <a:r>
              <a:rPr lang="en-US" altLang="zh-CN" b="0" i="0" dirty="0">
                <a:solidFill>
                  <a:srgbClr val="2A2B2E"/>
                </a:solidFill>
                <a:effectLst/>
                <a:latin typeface="PingFang SC"/>
              </a:rPr>
              <a:t>(API)</a:t>
            </a:r>
            <a:r>
              <a:rPr lang="zh-CN" altLang="en-US" b="0" i="0" dirty="0">
                <a:solidFill>
                  <a:srgbClr val="2A2B2E"/>
                </a:solidFill>
                <a:effectLst/>
                <a:latin typeface="PingFang SC"/>
              </a:rPr>
              <a:t>建模。</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软件的详细设计是一个用例接一个用例进行的，有时称为“用例驱动”，每个用例的设计称为用例实现。</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详细设计模型使用的是设计类图和顺序图。</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60</a:t>
            </a:fld>
            <a:endParaRPr lang="en-US" altLang="zh-CN"/>
          </a:p>
        </p:txBody>
      </p:sp>
    </p:spTree>
    <p:extLst>
      <p:ext uri="{BB962C8B-B14F-4D97-AF65-F5344CB8AC3E}">
        <p14:creationId xmlns:p14="http://schemas.microsoft.com/office/powerpoint/2010/main" val="255531045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设计类图的开发分为两个步骤</a:t>
            </a:r>
            <a:r>
              <a:rPr lang="en-US" altLang="zh-CN" b="0" i="0" dirty="0">
                <a:solidFill>
                  <a:srgbClr val="2A2B2E"/>
                </a:solidFill>
                <a:effectLst/>
                <a:latin typeface="PingFang SC"/>
              </a:rPr>
              <a:t>:</a:t>
            </a:r>
            <a:r>
              <a:rPr lang="zh-CN" altLang="en-US" b="0" i="0" dirty="0">
                <a:solidFill>
                  <a:srgbClr val="2A2B2E"/>
                </a:solidFill>
                <a:effectLst/>
                <a:latin typeface="PingFang SC"/>
              </a:rPr>
              <a:t>初步图是基于域模型类图的，但是随着职责的分配和顺序图的开发，它可以被扩展。</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设计类图包含了额外的标记，因为设计类现在是软件类，而不仅仅是工作概念。</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关键问题是属性的细化和添加方法。方法签名包括可见性、方法名、参数和返回类型。</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其他关键问题包括抽象类与具体类、导航可见性以及类的属性和方法</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61</a:t>
            </a:fld>
            <a:endParaRPr lang="en-US" altLang="zh-CN"/>
          </a:p>
        </p:txBody>
      </p:sp>
    </p:spTree>
    <p:extLst>
      <p:ext uri="{BB962C8B-B14F-4D97-AF65-F5344CB8AC3E}">
        <p14:creationId xmlns:p14="http://schemas.microsoft.com/office/powerpoint/2010/main" val="47029013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2A2B2E"/>
                </a:solidFill>
                <a:effectLst/>
                <a:latin typeface="PingFang SC"/>
              </a:rPr>
              <a:t>CRC</a:t>
            </a:r>
            <a:r>
              <a:rPr lang="zh-CN" altLang="en-US" b="0" i="0" dirty="0">
                <a:solidFill>
                  <a:srgbClr val="2A2B2E"/>
                </a:solidFill>
                <a:effectLst/>
                <a:latin typeface="PingFang SC"/>
              </a:rPr>
              <a:t>卡技术可用于设计类如何协作以完成每个用例。</a:t>
            </a:r>
            <a:r>
              <a:rPr lang="en-US" altLang="zh-CN" b="0" i="0" dirty="0">
                <a:solidFill>
                  <a:srgbClr val="2A2B2E"/>
                </a:solidFill>
                <a:effectLst/>
                <a:latin typeface="PingFang SC"/>
              </a:rPr>
              <a:t>CRC</a:t>
            </a:r>
            <a:r>
              <a:rPr lang="zh-CN" altLang="en-US" b="0" i="0" dirty="0">
                <a:solidFill>
                  <a:srgbClr val="2A2B2E"/>
                </a:solidFill>
                <a:effectLst/>
                <a:latin typeface="PingFang SC"/>
              </a:rPr>
              <a:t>代表类、责任和协作。</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有时</a:t>
            </a:r>
            <a:r>
              <a:rPr lang="en-US" altLang="zh-CN" b="0" i="0" dirty="0">
                <a:solidFill>
                  <a:srgbClr val="2A2B2E"/>
                </a:solidFill>
                <a:effectLst/>
                <a:latin typeface="PingFang SC"/>
              </a:rPr>
              <a:t>CRC</a:t>
            </a:r>
            <a:r>
              <a:rPr lang="zh-CN" altLang="en-US" b="0" i="0" dirty="0">
                <a:solidFill>
                  <a:srgbClr val="2A2B2E"/>
                </a:solidFill>
                <a:effectLst/>
                <a:latin typeface="PingFang SC"/>
              </a:rPr>
              <a:t>卡方法用于用例的初始设计，然后使用顺序图进一步开发</a:t>
            </a:r>
            <a:r>
              <a:rPr lang="en-US" altLang="zh-CN" b="0" i="0" dirty="0">
                <a:solidFill>
                  <a:srgbClr val="2A2B2E"/>
                </a:solidFill>
                <a:effectLst/>
                <a:latin typeface="PingFang SC"/>
              </a:rPr>
              <a:t>(</a:t>
            </a:r>
            <a:r>
              <a:rPr lang="zh-CN" altLang="en-US" b="0" i="0" dirty="0">
                <a:solidFill>
                  <a:srgbClr val="2A2B2E"/>
                </a:solidFill>
                <a:effectLst/>
                <a:latin typeface="PingFang SC"/>
              </a:rPr>
              <a:t>如下一章所述</a:t>
            </a:r>
            <a:r>
              <a:rPr lang="en-US" altLang="zh-CN" b="0" i="0" dirty="0">
                <a:solidFill>
                  <a:srgbClr val="2A2B2E"/>
                </a:solidFill>
                <a:effectLst/>
                <a:latin typeface="PingFang SC"/>
              </a:rPr>
              <a:t>)</a:t>
            </a:r>
            <a:r>
              <a:rPr lang="zh-CN" altLang="en-US" b="0" i="0" dirty="0">
                <a:solidFill>
                  <a:srgbClr val="2A2B2E"/>
                </a:solidFill>
                <a:effectLst/>
                <a:latin typeface="PingFang SC"/>
              </a:rPr>
              <a:t>。</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62</a:t>
            </a:fld>
            <a:endParaRPr lang="en-US" altLang="zh-CN"/>
          </a:p>
        </p:txBody>
      </p:sp>
    </p:spTree>
    <p:extLst>
      <p:ext uri="{BB962C8B-B14F-4D97-AF65-F5344CB8AC3E}">
        <p14:creationId xmlns:p14="http://schemas.microsoft.com/office/powerpoint/2010/main" val="23824972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2">
            <a:extLst>
              <a:ext uri="{FF2B5EF4-FFF2-40B4-BE49-F238E27FC236}">
                <a16:creationId xmlns:a16="http://schemas.microsoft.com/office/drawing/2014/main" id="{A9186AEA-7852-4637-807D-7C00E48D6DFF}"/>
              </a:ext>
            </a:extLst>
          </p:cNvPr>
          <p:cNvSpPr>
            <a:spLocks noChangeShapeType="1"/>
          </p:cNvSpPr>
          <p:nvPr/>
        </p:nvSpPr>
        <p:spPr bwMode="auto">
          <a:xfrm>
            <a:off x="7315200" y="1066800"/>
            <a:ext cx="0" cy="449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 name="Group 8">
            <a:extLst>
              <a:ext uri="{FF2B5EF4-FFF2-40B4-BE49-F238E27FC236}">
                <a16:creationId xmlns:a16="http://schemas.microsoft.com/office/drawing/2014/main" id="{1479D937-B0D2-4612-85A7-72CEEEEDC4E4}"/>
              </a:ext>
            </a:extLst>
          </p:cNvPr>
          <p:cNvGrpSpPr>
            <a:grpSpLocks/>
          </p:cNvGrpSpPr>
          <p:nvPr/>
        </p:nvGrpSpPr>
        <p:grpSpPr bwMode="auto">
          <a:xfrm>
            <a:off x="7493000" y="2992438"/>
            <a:ext cx="1338263" cy="2189162"/>
            <a:chOff x="4704" y="1885"/>
            <a:chExt cx="843" cy="1379"/>
          </a:xfrm>
        </p:grpSpPr>
        <p:sp>
          <p:nvSpPr>
            <p:cNvPr id="6" name="Oval 9">
              <a:extLst>
                <a:ext uri="{FF2B5EF4-FFF2-40B4-BE49-F238E27FC236}">
                  <a16:creationId xmlns:a16="http://schemas.microsoft.com/office/drawing/2014/main" id="{961D5420-5699-4121-8E4A-2F3F8A219976}"/>
                </a:ext>
              </a:extLst>
            </p:cNvPr>
            <p:cNvSpPr>
              <a:spLocks noChangeArrowheads="1"/>
            </p:cNvSpPr>
            <p:nvPr/>
          </p:nvSpPr>
          <p:spPr bwMode="auto">
            <a:xfrm>
              <a:off x="4704"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7" name="Oval 10">
              <a:extLst>
                <a:ext uri="{FF2B5EF4-FFF2-40B4-BE49-F238E27FC236}">
                  <a16:creationId xmlns:a16="http://schemas.microsoft.com/office/drawing/2014/main" id="{DC0FB61A-DA40-44DB-97F2-79BC7E10CFBB}"/>
                </a:ext>
              </a:extLst>
            </p:cNvPr>
            <p:cNvSpPr>
              <a:spLocks noChangeArrowheads="1"/>
            </p:cNvSpPr>
            <p:nvPr/>
          </p:nvSpPr>
          <p:spPr bwMode="auto">
            <a:xfrm>
              <a:off x="4883"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8" name="Oval 11">
              <a:extLst>
                <a:ext uri="{FF2B5EF4-FFF2-40B4-BE49-F238E27FC236}">
                  <a16:creationId xmlns:a16="http://schemas.microsoft.com/office/drawing/2014/main" id="{92E591C6-B760-4457-9A63-A6CC5CE23D2C}"/>
                </a:ext>
              </a:extLst>
            </p:cNvPr>
            <p:cNvSpPr>
              <a:spLocks noChangeArrowheads="1"/>
            </p:cNvSpPr>
            <p:nvPr/>
          </p:nvSpPr>
          <p:spPr bwMode="auto">
            <a:xfrm>
              <a:off x="5062"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9" name="Oval 12">
              <a:extLst>
                <a:ext uri="{FF2B5EF4-FFF2-40B4-BE49-F238E27FC236}">
                  <a16:creationId xmlns:a16="http://schemas.microsoft.com/office/drawing/2014/main" id="{AB18D49B-7BE6-4C27-9086-5B38F06C6A63}"/>
                </a:ext>
              </a:extLst>
            </p:cNvPr>
            <p:cNvSpPr>
              <a:spLocks noChangeArrowheads="1"/>
            </p:cNvSpPr>
            <p:nvPr/>
          </p:nvSpPr>
          <p:spPr bwMode="auto">
            <a:xfrm>
              <a:off x="4704"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 name="Oval 13">
              <a:extLst>
                <a:ext uri="{FF2B5EF4-FFF2-40B4-BE49-F238E27FC236}">
                  <a16:creationId xmlns:a16="http://schemas.microsoft.com/office/drawing/2014/main" id="{AC92B0E0-0103-4D82-A06B-884025CE0547}"/>
                </a:ext>
              </a:extLst>
            </p:cNvPr>
            <p:cNvSpPr>
              <a:spLocks noChangeArrowheads="1"/>
            </p:cNvSpPr>
            <p:nvPr/>
          </p:nvSpPr>
          <p:spPr bwMode="auto">
            <a:xfrm>
              <a:off x="4883"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1" name="Oval 14">
              <a:extLst>
                <a:ext uri="{FF2B5EF4-FFF2-40B4-BE49-F238E27FC236}">
                  <a16:creationId xmlns:a16="http://schemas.microsoft.com/office/drawing/2014/main" id="{54E87E26-CB92-4FB5-BC54-D942745BA8A6}"/>
                </a:ext>
              </a:extLst>
            </p:cNvPr>
            <p:cNvSpPr>
              <a:spLocks noChangeArrowheads="1"/>
            </p:cNvSpPr>
            <p:nvPr/>
          </p:nvSpPr>
          <p:spPr bwMode="auto">
            <a:xfrm>
              <a:off x="5062"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2" name="Oval 15">
              <a:extLst>
                <a:ext uri="{FF2B5EF4-FFF2-40B4-BE49-F238E27FC236}">
                  <a16:creationId xmlns:a16="http://schemas.microsoft.com/office/drawing/2014/main" id="{DA19ACDF-5C2D-4070-A7A3-7599DF85A296}"/>
                </a:ext>
              </a:extLst>
            </p:cNvPr>
            <p:cNvSpPr>
              <a:spLocks noChangeArrowheads="1"/>
            </p:cNvSpPr>
            <p:nvPr/>
          </p:nvSpPr>
          <p:spPr bwMode="auto">
            <a:xfrm>
              <a:off x="5241" y="2064"/>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3" name="Oval 16">
              <a:extLst>
                <a:ext uri="{FF2B5EF4-FFF2-40B4-BE49-F238E27FC236}">
                  <a16:creationId xmlns:a16="http://schemas.microsoft.com/office/drawing/2014/main" id="{07C6E48D-B934-4561-8DF1-1EF2FA8F4728}"/>
                </a:ext>
              </a:extLst>
            </p:cNvPr>
            <p:cNvSpPr>
              <a:spLocks noChangeArrowheads="1"/>
            </p:cNvSpPr>
            <p:nvPr/>
          </p:nvSpPr>
          <p:spPr bwMode="auto">
            <a:xfrm>
              <a:off x="4704"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4" name="Oval 17">
              <a:extLst>
                <a:ext uri="{FF2B5EF4-FFF2-40B4-BE49-F238E27FC236}">
                  <a16:creationId xmlns:a16="http://schemas.microsoft.com/office/drawing/2014/main" id="{7EC416D1-C21F-4308-9F21-3017D0CD68EA}"/>
                </a:ext>
              </a:extLst>
            </p:cNvPr>
            <p:cNvSpPr>
              <a:spLocks noChangeArrowheads="1"/>
            </p:cNvSpPr>
            <p:nvPr/>
          </p:nvSpPr>
          <p:spPr bwMode="auto">
            <a:xfrm>
              <a:off x="4883"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5" name="Oval 18">
              <a:extLst>
                <a:ext uri="{FF2B5EF4-FFF2-40B4-BE49-F238E27FC236}">
                  <a16:creationId xmlns:a16="http://schemas.microsoft.com/office/drawing/2014/main" id="{9A0821BF-0A0B-42A1-9C01-8F8C8CE08F51}"/>
                </a:ext>
              </a:extLst>
            </p:cNvPr>
            <p:cNvSpPr>
              <a:spLocks noChangeArrowheads="1"/>
            </p:cNvSpPr>
            <p:nvPr/>
          </p:nvSpPr>
          <p:spPr bwMode="auto">
            <a:xfrm>
              <a:off x="5062"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6" name="Oval 19">
              <a:extLst>
                <a:ext uri="{FF2B5EF4-FFF2-40B4-BE49-F238E27FC236}">
                  <a16:creationId xmlns:a16="http://schemas.microsoft.com/office/drawing/2014/main" id="{B2ACFB3C-B05C-4094-B53A-E252E4C1493B}"/>
                </a:ext>
              </a:extLst>
            </p:cNvPr>
            <p:cNvSpPr>
              <a:spLocks noChangeArrowheads="1"/>
            </p:cNvSpPr>
            <p:nvPr/>
          </p:nvSpPr>
          <p:spPr bwMode="auto">
            <a:xfrm>
              <a:off x="5241"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7" name="Oval 20">
              <a:extLst>
                <a:ext uri="{FF2B5EF4-FFF2-40B4-BE49-F238E27FC236}">
                  <a16:creationId xmlns:a16="http://schemas.microsoft.com/office/drawing/2014/main" id="{BDCAAF8F-F9B8-46DB-BB1F-FFB9DE500BEE}"/>
                </a:ext>
              </a:extLst>
            </p:cNvPr>
            <p:cNvSpPr>
              <a:spLocks noChangeArrowheads="1"/>
            </p:cNvSpPr>
            <p:nvPr/>
          </p:nvSpPr>
          <p:spPr bwMode="auto">
            <a:xfrm>
              <a:off x="5420" y="2243"/>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8" name="Oval 21">
              <a:extLst>
                <a:ext uri="{FF2B5EF4-FFF2-40B4-BE49-F238E27FC236}">
                  <a16:creationId xmlns:a16="http://schemas.microsoft.com/office/drawing/2014/main" id="{FDC3BA69-1439-4CE4-88DE-64629DDC7846}"/>
                </a:ext>
              </a:extLst>
            </p:cNvPr>
            <p:cNvSpPr>
              <a:spLocks noChangeArrowheads="1"/>
            </p:cNvSpPr>
            <p:nvPr/>
          </p:nvSpPr>
          <p:spPr bwMode="auto">
            <a:xfrm>
              <a:off x="4704" y="2421"/>
              <a:ext cx="127" cy="128"/>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9" name="Oval 22">
              <a:extLst>
                <a:ext uri="{FF2B5EF4-FFF2-40B4-BE49-F238E27FC236}">
                  <a16:creationId xmlns:a16="http://schemas.microsoft.com/office/drawing/2014/main" id="{15597381-4683-4F81-9DB8-A134E308F8D7}"/>
                </a:ext>
              </a:extLst>
            </p:cNvPr>
            <p:cNvSpPr>
              <a:spLocks noChangeArrowheads="1"/>
            </p:cNvSpPr>
            <p:nvPr/>
          </p:nvSpPr>
          <p:spPr bwMode="auto">
            <a:xfrm>
              <a:off x="4883"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20" name="Oval 23">
              <a:extLst>
                <a:ext uri="{FF2B5EF4-FFF2-40B4-BE49-F238E27FC236}">
                  <a16:creationId xmlns:a16="http://schemas.microsoft.com/office/drawing/2014/main" id="{D140EBF5-7AD1-4487-8681-18CD36BD80E0}"/>
                </a:ext>
              </a:extLst>
            </p:cNvPr>
            <p:cNvSpPr>
              <a:spLocks noChangeArrowheads="1"/>
            </p:cNvSpPr>
            <p:nvPr/>
          </p:nvSpPr>
          <p:spPr bwMode="auto">
            <a:xfrm>
              <a:off x="5062"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21" name="Oval 24">
              <a:extLst>
                <a:ext uri="{FF2B5EF4-FFF2-40B4-BE49-F238E27FC236}">
                  <a16:creationId xmlns:a16="http://schemas.microsoft.com/office/drawing/2014/main" id="{62518435-AA2E-4B05-A2F6-1EE2EF535C61}"/>
                </a:ext>
              </a:extLst>
            </p:cNvPr>
            <p:cNvSpPr>
              <a:spLocks noChangeArrowheads="1"/>
            </p:cNvSpPr>
            <p:nvPr/>
          </p:nvSpPr>
          <p:spPr bwMode="auto">
            <a:xfrm>
              <a:off x="5241" y="2421"/>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22" name="Oval 25">
              <a:extLst>
                <a:ext uri="{FF2B5EF4-FFF2-40B4-BE49-F238E27FC236}">
                  <a16:creationId xmlns:a16="http://schemas.microsoft.com/office/drawing/2014/main" id="{3F372D4A-E9CF-4478-983C-2981C62FD4A8}"/>
                </a:ext>
              </a:extLst>
            </p:cNvPr>
            <p:cNvSpPr>
              <a:spLocks noChangeArrowheads="1"/>
            </p:cNvSpPr>
            <p:nvPr/>
          </p:nvSpPr>
          <p:spPr bwMode="auto">
            <a:xfrm>
              <a:off x="4704"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23" name="Oval 26">
              <a:extLst>
                <a:ext uri="{FF2B5EF4-FFF2-40B4-BE49-F238E27FC236}">
                  <a16:creationId xmlns:a16="http://schemas.microsoft.com/office/drawing/2014/main" id="{4E3EF7A6-755C-4866-92B8-9861AA4184AA}"/>
                </a:ext>
              </a:extLst>
            </p:cNvPr>
            <p:cNvSpPr>
              <a:spLocks noChangeArrowheads="1"/>
            </p:cNvSpPr>
            <p:nvPr/>
          </p:nvSpPr>
          <p:spPr bwMode="auto">
            <a:xfrm>
              <a:off x="4883"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24" name="Oval 27">
              <a:extLst>
                <a:ext uri="{FF2B5EF4-FFF2-40B4-BE49-F238E27FC236}">
                  <a16:creationId xmlns:a16="http://schemas.microsoft.com/office/drawing/2014/main" id="{56E1B722-608D-4D11-910E-25D5D66D07D5}"/>
                </a:ext>
              </a:extLst>
            </p:cNvPr>
            <p:cNvSpPr>
              <a:spLocks noChangeArrowheads="1"/>
            </p:cNvSpPr>
            <p:nvPr/>
          </p:nvSpPr>
          <p:spPr bwMode="auto">
            <a:xfrm>
              <a:off x="5062"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25" name="Oval 28">
              <a:extLst>
                <a:ext uri="{FF2B5EF4-FFF2-40B4-BE49-F238E27FC236}">
                  <a16:creationId xmlns:a16="http://schemas.microsoft.com/office/drawing/2014/main" id="{F01E6AC1-185E-4CA6-8CDF-A44D2BAB940A}"/>
                </a:ext>
              </a:extLst>
            </p:cNvPr>
            <p:cNvSpPr>
              <a:spLocks noChangeArrowheads="1"/>
            </p:cNvSpPr>
            <p:nvPr/>
          </p:nvSpPr>
          <p:spPr bwMode="auto">
            <a:xfrm>
              <a:off x="5241"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26" name="Oval 29">
              <a:extLst>
                <a:ext uri="{FF2B5EF4-FFF2-40B4-BE49-F238E27FC236}">
                  <a16:creationId xmlns:a16="http://schemas.microsoft.com/office/drawing/2014/main" id="{2AE7E5B7-7531-4156-BAF0-53C81F493606}"/>
                </a:ext>
              </a:extLst>
            </p:cNvPr>
            <p:cNvSpPr>
              <a:spLocks noChangeArrowheads="1"/>
            </p:cNvSpPr>
            <p:nvPr/>
          </p:nvSpPr>
          <p:spPr bwMode="auto">
            <a:xfrm>
              <a:off x="5420" y="2600"/>
              <a:ext cx="127" cy="128"/>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27" name="Oval 30">
              <a:extLst>
                <a:ext uri="{FF2B5EF4-FFF2-40B4-BE49-F238E27FC236}">
                  <a16:creationId xmlns:a16="http://schemas.microsoft.com/office/drawing/2014/main" id="{1002D06A-A9E4-4173-8836-5B6897E4F08C}"/>
                </a:ext>
              </a:extLst>
            </p:cNvPr>
            <p:cNvSpPr>
              <a:spLocks noChangeArrowheads="1"/>
            </p:cNvSpPr>
            <p:nvPr/>
          </p:nvSpPr>
          <p:spPr bwMode="auto">
            <a:xfrm>
              <a:off x="4704" y="2779"/>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28" name="Oval 31">
              <a:extLst>
                <a:ext uri="{FF2B5EF4-FFF2-40B4-BE49-F238E27FC236}">
                  <a16:creationId xmlns:a16="http://schemas.microsoft.com/office/drawing/2014/main" id="{82D309A7-3FBB-48D7-BED4-2C2142C07F05}"/>
                </a:ext>
              </a:extLst>
            </p:cNvPr>
            <p:cNvSpPr>
              <a:spLocks noChangeArrowheads="1"/>
            </p:cNvSpPr>
            <p:nvPr/>
          </p:nvSpPr>
          <p:spPr bwMode="auto">
            <a:xfrm>
              <a:off x="4883"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29" name="Oval 32">
              <a:extLst>
                <a:ext uri="{FF2B5EF4-FFF2-40B4-BE49-F238E27FC236}">
                  <a16:creationId xmlns:a16="http://schemas.microsoft.com/office/drawing/2014/main" id="{34FEBCA5-8B5B-4C42-BB36-FAF1265936CA}"/>
                </a:ext>
              </a:extLst>
            </p:cNvPr>
            <p:cNvSpPr>
              <a:spLocks noChangeArrowheads="1"/>
            </p:cNvSpPr>
            <p:nvPr/>
          </p:nvSpPr>
          <p:spPr bwMode="auto">
            <a:xfrm>
              <a:off x="5062"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30" name="Oval 33">
              <a:extLst>
                <a:ext uri="{FF2B5EF4-FFF2-40B4-BE49-F238E27FC236}">
                  <a16:creationId xmlns:a16="http://schemas.microsoft.com/office/drawing/2014/main" id="{8D8C7C51-1000-447E-B6CC-748B05824A69}"/>
                </a:ext>
              </a:extLst>
            </p:cNvPr>
            <p:cNvSpPr>
              <a:spLocks noChangeArrowheads="1"/>
            </p:cNvSpPr>
            <p:nvPr/>
          </p:nvSpPr>
          <p:spPr bwMode="auto">
            <a:xfrm>
              <a:off x="5241" y="2779"/>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31" name="Oval 34">
              <a:extLst>
                <a:ext uri="{FF2B5EF4-FFF2-40B4-BE49-F238E27FC236}">
                  <a16:creationId xmlns:a16="http://schemas.microsoft.com/office/drawing/2014/main" id="{FA308717-C063-4CC8-A5CF-9D18917E439C}"/>
                </a:ext>
              </a:extLst>
            </p:cNvPr>
            <p:cNvSpPr>
              <a:spLocks noChangeArrowheads="1"/>
            </p:cNvSpPr>
            <p:nvPr/>
          </p:nvSpPr>
          <p:spPr bwMode="auto">
            <a:xfrm>
              <a:off x="4704"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32" name="Oval 35">
              <a:extLst>
                <a:ext uri="{FF2B5EF4-FFF2-40B4-BE49-F238E27FC236}">
                  <a16:creationId xmlns:a16="http://schemas.microsoft.com/office/drawing/2014/main" id="{B347FE47-8220-4B75-8332-50DCB1742CFA}"/>
                </a:ext>
              </a:extLst>
            </p:cNvPr>
            <p:cNvSpPr>
              <a:spLocks noChangeArrowheads="1"/>
            </p:cNvSpPr>
            <p:nvPr/>
          </p:nvSpPr>
          <p:spPr bwMode="auto">
            <a:xfrm>
              <a:off x="4883"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33" name="Oval 36">
              <a:extLst>
                <a:ext uri="{FF2B5EF4-FFF2-40B4-BE49-F238E27FC236}">
                  <a16:creationId xmlns:a16="http://schemas.microsoft.com/office/drawing/2014/main" id="{FC29A246-A2AA-442F-B371-5940196CD1D4}"/>
                </a:ext>
              </a:extLst>
            </p:cNvPr>
            <p:cNvSpPr>
              <a:spLocks noChangeArrowheads="1"/>
            </p:cNvSpPr>
            <p:nvPr/>
          </p:nvSpPr>
          <p:spPr bwMode="auto">
            <a:xfrm>
              <a:off x="5062"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34" name="Oval 37">
              <a:extLst>
                <a:ext uri="{FF2B5EF4-FFF2-40B4-BE49-F238E27FC236}">
                  <a16:creationId xmlns:a16="http://schemas.microsoft.com/office/drawing/2014/main" id="{728A321A-EB2F-423C-A49B-54B3D442BFE9}"/>
                </a:ext>
              </a:extLst>
            </p:cNvPr>
            <p:cNvSpPr>
              <a:spLocks noChangeArrowheads="1"/>
            </p:cNvSpPr>
            <p:nvPr/>
          </p:nvSpPr>
          <p:spPr bwMode="auto">
            <a:xfrm>
              <a:off x="5241"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35" name="Oval 38">
              <a:extLst>
                <a:ext uri="{FF2B5EF4-FFF2-40B4-BE49-F238E27FC236}">
                  <a16:creationId xmlns:a16="http://schemas.microsoft.com/office/drawing/2014/main" id="{25770AB1-61ED-4D8B-B220-1AC10A641557}"/>
                </a:ext>
              </a:extLst>
            </p:cNvPr>
            <p:cNvSpPr>
              <a:spLocks noChangeArrowheads="1"/>
            </p:cNvSpPr>
            <p:nvPr/>
          </p:nvSpPr>
          <p:spPr bwMode="auto">
            <a:xfrm>
              <a:off x="4883"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36" name="Oval 39">
              <a:extLst>
                <a:ext uri="{FF2B5EF4-FFF2-40B4-BE49-F238E27FC236}">
                  <a16:creationId xmlns:a16="http://schemas.microsoft.com/office/drawing/2014/main" id="{68D5437C-108F-443B-A7CA-1E87A005E405}"/>
                </a:ext>
              </a:extLst>
            </p:cNvPr>
            <p:cNvSpPr>
              <a:spLocks noChangeArrowheads="1"/>
            </p:cNvSpPr>
            <p:nvPr/>
          </p:nvSpPr>
          <p:spPr bwMode="auto">
            <a:xfrm>
              <a:off x="5241"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grpSp>
      <p:sp>
        <p:nvSpPr>
          <p:cNvPr id="37" name="Line 40">
            <a:extLst>
              <a:ext uri="{FF2B5EF4-FFF2-40B4-BE49-F238E27FC236}">
                <a16:creationId xmlns:a16="http://schemas.microsoft.com/office/drawing/2014/main" id="{3238F519-5DFD-441D-A115-0B287A415B4E}"/>
              </a:ext>
            </a:extLst>
          </p:cNvPr>
          <p:cNvSpPr>
            <a:spLocks noChangeShapeType="1"/>
          </p:cNvSpPr>
          <p:nvPr/>
        </p:nvSpPr>
        <p:spPr bwMode="auto">
          <a:xfrm>
            <a:off x="304800" y="2819400"/>
            <a:ext cx="82296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Rectangle 41">
            <a:extLst>
              <a:ext uri="{FF2B5EF4-FFF2-40B4-BE49-F238E27FC236}">
                <a16:creationId xmlns:a16="http://schemas.microsoft.com/office/drawing/2014/main" id="{73618B37-318C-486F-A86F-D46195B3D3C1}"/>
              </a:ext>
            </a:extLst>
          </p:cNvPr>
          <p:cNvSpPr>
            <a:spLocks noChangeArrowheads="1"/>
          </p:cNvSpPr>
          <p:nvPr/>
        </p:nvSpPr>
        <p:spPr bwMode="auto">
          <a:xfrm>
            <a:off x="457200" y="1676400"/>
            <a:ext cx="67818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endParaRPr lang="en-US" altLang="en-US" sz="3200" b="1">
              <a:solidFill>
                <a:schemeClr val="tx2"/>
              </a:solidFill>
            </a:endParaRPr>
          </a:p>
        </p:txBody>
      </p:sp>
      <p:sp>
        <p:nvSpPr>
          <p:cNvPr id="120835" name="Rectangle 3"/>
          <p:cNvSpPr>
            <a:spLocks noGrp="1" noChangeArrowheads="1"/>
          </p:cNvSpPr>
          <p:nvPr>
            <p:ph type="ctrTitle"/>
          </p:nvPr>
        </p:nvSpPr>
        <p:spPr>
          <a:xfrm>
            <a:off x="304800" y="304800"/>
            <a:ext cx="6781800" cy="1076325"/>
          </a:xfrm>
        </p:spPr>
        <p:txBody>
          <a:bodyPr/>
          <a:lstStyle>
            <a:lvl1pPr algn="r">
              <a:defRPr sz="3200"/>
            </a:lvl1pPr>
          </a:lstStyle>
          <a:p>
            <a:r>
              <a:rPr lang="en-US" altLang="en-US"/>
              <a:t>Click to edit Master title style</a:t>
            </a:r>
          </a:p>
        </p:txBody>
      </p:sp>
      <p:sp>
        <p:nvSpPr>
          <p:cNvPr id="120836" name="Rectangle 4"/>
          <p:cNvSpPr>
            <a:spLocks noGrp="1" noChangeArrowheads="1"/>
          </p:cNvSpPr>
          <p:nvPr>
            <p:ph type="subTitle" idx="1"/>
          </p:nvPr>
        </p:nvSpPr>
        <p:spPr>
          <a:xfrm>
            <a:off x="914400" y="3048000"/>
            <a:ext cx="6248400" cy="2362200"/>
          </a:xfrm>
        </p:spPr>
        <p:txBody>
          <a:bodyPr/>
          <a:lstStyle>
            <a:lvl1pPr marL="0" indent="0" algn="r">
              <a:buFont typeface="Wingdings" pitchFamily="2" charset="2"/>
              <a:buNone/>
              <a:defRPr sz="3200"/>
            </a:lvl1pPr>
          </a:lstStyle>
          <a:p>
            <a:r>
              <a:rPr lang="en-US" altLang="en-US"/>
              <a:t>Click to edit Master subtitle style</a:t>
            </a:r>
          </a:p>
        </p:txBody>
      </p:sp>
      <p:sp>
        <p:nvSpPr>
          <p:cNvPr id="39" name="Rectangle 5">
            <a:extLst>
              <a:ext uri="{FF2B5EF4-FFF2-40B4-BE49-F238E27FC236}">
                <a16:creationId xmlns:a16="http://schemas.microsoft.com/office/drawing/2014/main" id="{74966922-9A7E-41A8-84EB-A2A5634A4001}"/>
              </a:ext>
            </a:extLst>
          </p:cNvPr>
          <p:cNvSpPr>
            <a:spLocks noGrp="1" noChangeArrowheads="1"/>
          </p:cNvSpPr>
          <p:nvPr>
            <p:ph type="dt" sz="half" idx="10"/>
          </p:nvPr>
        </p:nvSpPr>
        <p:spPr>
          <a:xfrm>
            <a:off x="457200" y="6248400"/>
            <a:ext cx="1371600" cy="457200"/>
          </a:xfrm>
        </p:spPr>
        <p:txBody>
          <a:bodyPr/>
          <a:lstStyle>
            <a:lvl1pPr>
              <a:defRPr/>
            </a:lvl1pPr>
          </a:lstStyle>
          <a:p>
            <a:pPr>
              <a:defRPr/>
            </a:pPr>
            <a:endParaRPr lang="en-US" altLang="en-US"/>
          </a:p>
        </p:txBody>
      </p:sp>
      <p:sp>
        <p:nvSpPr>
          <p:cNvPr id="40" name="Rectangle 6">
            <a:extLst>
              <a:ext uri="{FF2B5EF4-FFF2-40B4-BE49-F238E27FC236}">
                <a16:creationId xmlns:a16="http://schemas.microsoft.com/office/drawing/2014/main" id="{D152205F-6AF9-4BE8-9C8B-2BEBAB6ACD26}"/>
              </a:ext>
            </a:extLst>
          </p:cNvPr>
          <p:cNvSpPr>
            <a:spLocks noGrp="1" noChangeArrowheads="1"/>
          </p:cNvSpPr>
          <p:nvPr>
            <p:ph type="ftr" sz="quarter" idx="11"/>
          </p:nvPr>
        </p:nvSpPr>
        <p:spPr>
          <a:xfrm>
            <a:off x="1981200" y="6248400"/>
            <a:ext cx="5105400" cy="457200"/>
          </a:xfrm>
        </p:spPr>
        <p:txBody>
          <a:bodyPr/>
          <a:lstStyle>
            <a:lvl1pPr>
              <a:defRPr/>
            </a:lvl1pPr>
          </a:lstStyle>
          <a:p>
            <a:pPr>
              <a:defRPr/>
            </a:pPr>
            <a:r>
              <a:rPr lang="en-US" altLang="en-US"/>
              <a:t>Systems Analysis and Design in a Changing World, 6th Edition</a:t>
            </a:r>
          </a:p>
        </p:txBody>
      </p:sp>
      <p:sp>
        <p:nvSpPr>
          <p:cNvPr id="41" name="Rectangle 7">
            <a:extLst>
              <a:ext uri="{FF2B5EF4-FFF2-40B4-BE49-F238E27FC236}">
                <a16:creationId xmlns:a16="http://schemas.microsoft.com/office/drawing/2014/main" id="{CC7AB177-7E7E-4871-B024-C894F636715E}"/>
              </a:ext>
            </a:extLst>
          </p:cNvPr>
          <p:cNvSpPr>
            <a:spLocks noGrp="1" noChangeArrowheads="1"/>
          </p:cNvSpPr>
          <p:nvPr>
            <p:ph type="sldNum" sz="quarter" idx="12"/>
          </p:nvPr>
        </p:nvSpPr>
        <p:spPr>
          <a:xfrm>
            <a:off x="7315200" y="6248400"/>
            <a:ext cx="1371600" cy="457200"/>
          </a:xfrm>
        </p:spPr>
        <p:txBody>
          <a:bodyPr/>
          <a:lstStyle>
            <a:lvl1pPr>
              <a:defRPr smtClean="0"/>
            </a:lvl1pPr>
          </a:lstStyle>
          <a:p>
            <a:pPr>
              <a:defRPr/>
            </a:pPr>
            <a:fld id="{EDBA3A70-20E0-40F1-A496-F2EE3ED1F61E}" type="slidenum">
              <a:rPr lang="en-US" altLang="en-US"/>
              <a:pPr>
                <a:defRPr/>
              </a:pPr>
              <a:t>‹#›</a:t>
            </a:fld>
            <a:endParaRPr lang="en-US" altLang="en-US"/>
          </a:p>
        </p:txBody>
      </p:sp>
    </p:spTree>
    <p:extLst>
      <p:ext uri="{BB962C8B-B14F-4D97-AF65-F5344CB8AC3E}">
        <p14:creationId xmlns:p14="http://schemas.microsoft.com/office/powerpoint/2010/main" val="10479266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802CA07E-4DA6-4244-A7DF-D54FFEC8CFD6}"/>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64467063-40A9-49D1-A6BB-F1AF1EE46FCF}"/>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a:extLst>
              <a:ext uri="{FF2B5EF4-FFF2-40B4-BE49-F238E27FC236}">
                <a16:creationId xmlns:a16="http://schemas.microsoft.com/office/drawing/2014/main" id="{7F6E3ACA-71BB-43D3-ABA5-EB87853C0C88}"/>
              </a:ext>
            </a:extLst>
          </p:cNvPr>
          <p:cNvSpPr>
            <a:spLocks noGrp="1" noChangeArrowheads="1"/>
          </p:cNvSpPr>
          <p:nvPr>
            <p:ph type="sldNum" sz="quarter" idx="12"/>
          </p:nvPr>
        </p:nvSpPr>
        <p:spPr>
          <a:ln/>
        </p:spPr>
        <p:txBody>
          <a:bodyPr/>
          <a:lstStyle>
            <a:lvl1pPr>
              <a:defRPr/>
            </a:lvl1pPr>
          </a:lstStyle>
          <a:p>
            <a:pPr>
              <a:defRPr/>
            </a:pPr>
            <a:fld id="{B39FD724-736A-4C1F-A7C0-A4F7EAB1B7C9}" type="slidenum">
              <a:rPr lang="en-US" altLang="en-US"/>
              <a:pPr>
                <a:defRPr/>
              </a:pPr>
              <a:t>‹#›</a:t>
            </a:fld>
            <a:endParaRPr lang="en-US" altLang="en-US"/>
          </a:p>
        </p:txBody>
      </p:sp>
    </p:spTree>
    <p:extLst>
      <p:ext uri="{BB962C8B-B14F-4D97-AF65-F5344CB8AC3E}">
        <p14:creationId xmlns:p14="http://schemas.microsoft.com/office/powerpoint/2010/main" val="37549499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a:extLst>
              <a:ext uri="{FF2B5EF4-FFF2-40B4-BE49-F238E27FC236}">
                <a16:creationId xmlns:a16="http://schemas.microsoft.com/office/drawing/2014/main" id="{6471890B-ABD9-4787-88A2-3DA2C4AF1349}"/>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CDDBA9F3-3255-416F-AB96-F3F7D4859856}"/>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a:extLst>
              <a:ext uri="{FF2B5EF4-FFF2-40B4-BE49-F238E27FC236}">
                <a16:creationId xmlns:a16="http://schemas.microsoft.com/office/drawing/2014/main" id="{6DC1EF56-461F-4A40-A4E7-9ADE1AAF5427}"/>
              </a:ext>
            </a:extLst>
          </p:cNvPr>
          <p:cNvSpPr>
            <a:spLocks noGrp="1" noChangeArrowheads="1"/>
          </p:cNvSpPr>
          <p:nvPr>
            <p:ph type="sldNum" sz="quarter" idx="12"/>
          </p:nvPr>
        </p:nvSpPr>
        <p:spPr>
          <a:ln/>
        </p:spPr>
        <p:txBody>
          <a:bodyPr/>
          <a:lstStyle>
            <a:lvl1pPr>
              <a:defRPr/>
            </a:lvl1pPr>
          </a:lstStyle>
          <a:p>
            <a:pPr>
              <a:defRPr/>
            </a:pPr>
            <a:fld id="{0ECA9DC4-4078-472C-9DFE-FC7F6FF52946}" type="slidenum">
              <a:rPr lang="en-US" altLang="en-US"/>
              <a:pPr>
                <a:defRPr/>
              </a:pPr>
              <a:t>‹#›</a:t>
            </a:fld>
            <a:endParaRPr lang="en-US" altLang="en-US"/>
          </a:p>
        </p:txBody>
      </p:sp>
    </p:spTree>
    <p:extLst>
      <p:ext uri="{BB962C8B-B14F-4D97-AF65-F5344CB8AC3E}">
        <p14:creationId xmlns:p14="http://schemas.microsoft.com/office/powerpoint/2010/main" val="11211546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4E1FDB91-14B2-4C72-A233-31207E3C2F67}"/>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CDB8CC9A-2B57-4B60-AC7A-2AC1320B53D5}"/>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7" name="Rectangle 7">
            <a:extLst>
              <a:ext uri="{FF2B5EF4-FFF2-40B4-BE49-F238E27FC236}">
                <a16:creationId xmlns:a16="http://schemas.microsoft.com/office/drawing/2014/main" id="{22785B01-87F1-4E85-A64B-8F365C1790C7}"/>
              </a:ext>
            </a:extLst>
          </p:cNvPr>
          <p:cNvSpPr>
            <a:spLocks noGrp="1" noChangeArrowheads="1"/>
          </p:cNvSpPr>
          <p:nvPr>
            <p:ph type="sldNum" sz="quarter" idx="12"/>
          </p:nvPr>
        </p:nvSpPr>
        <p:spPr>
          <a:ln/>
        </p:spPr>
        <p:txBody>
          <a:bodyPr/>
          <a:lstStyle>
            <a:lvl1pPr>
              <a:defRPr/>
            </a:lvl1pPr>
          </a:lstStyle>
          <a:p>
            <a:pPr>
              <a:defRPr/>
            </a:pPr>
            <a:fld id="{AA400241-5379-446B-83EA-1D7F3B66056D}" type="slidenum">
              <a:rPr lang="en-US" altLang="en-US"/>
              <a:pPr>
                <a:defRPr/>
              </a:pPr>
              <a:t>‹#›</a:t>
            </a:fld>
            <a:endParaRPr lang="en-US" altLang="en-US"/>
          </a:p>
        </p:txBody>
      </p:sp>
    </p:spTree>
    <p:extLst>
      <p:ext uri="{BB962C8B-B14F-4D97-AF65-F5344CB8AC3E}">
        <p14:creationId xmlns:p14="http://schemas.microsoft.com/office/powerpoint/2010/main" val="3897798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a:extLst>
              <a:ext uri="{FF2B5EF4-FFF2-40B4-BE49-F238E27FC236}">
                <a16:creationId xmlns:a16="http://schemas.microsoft.com/office/drawing/2014/main" id="{50C77EA5-47CC-487F-A945-DCEF2CB71900}"/>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6">
            <a:extLst>
              <a:ext uri="{FF2B5EF4-FFF2-40B4-BE49-F238E27FC236}">
                <a16:creationId xmlns:a16="http://schemas.microsoft.com/office/drawing/2014/main" id="{27B4D200-335A-435D-BA18-451841A8BC0C}"/>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9" name="Rectangle 7">
            <a:extLst>
              <a:ext uri="{FF2B5EF4-FFF2-40B4-BE49-F238E27FC236}">
                <a16:creationId xmlns:a16="http://schemas.microsoft.com/office/drawing/2014/main" id="{25396290-A38F-49D5-ACA5-B18CBE08EB00}"/>
              </a:ext>
            </a:extLst>
          </p:cNvPr>
          <p:cNvSpPr>
            <a:spLocks noGrp="1" noChangeArrowheads="1"/>
          </p:cNvSpPr>
          <p:nvPr>
            <p:ph type="sldNum" sz="quarter" idx="12"/>
          </p:nvPr>
        </p:nvSpPr>
        <p:spPr>
          <a:ln/>
        </p:spPr>
        <p:txBody>
          <a:bodyPr/>
          <a:lstStyle>
            <a:lvl1pPr>
              <a:defRPr/>
            </a:lvl1pPr>
          </a:lstStyle>
          <a:p>
            <a:pPr>
              <a:defRPr/>
            </a:pPr>
            <a:fld id="{4FEF02EE-2B10-4170-8DE6-31DF2CE8DFD2}" type="slidenum">
              <a:rPr lang="en-US" altLang="en-US"/>
              <a:pPr>
                <a:defRPr/>
              </a:pPr>
              <a:t>‹#›</a:t>
            </a:fld>
            <a:endParaRPr lang="en-US" altLang="en-US"/>
          </a:p>
        </p:txBody>
      </p:sp>
    </p:spTree>
    <p:extLst>
      <p:ext uri="{BB962C8B-B14F-4D97-AF65-F5344CB8AC3E}">
        <p14:creationId xmlns:p14="http://schemas.microsoft.com/office/powerpoint/2010/main" val="29744989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a:extLst>
              <a:ext uri="{FF2B5EF4-FFF2-40B4-BE49-F238E27FC236}">
                <a16:creationId xmlns:a16="http://schemas.microsoft.com/office/drawing/2014/main" id="{1D9C9946-5B79-4A89-8BED-CC1912E41FCE}"/>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6">
            <a:extLst>
              <a:ext uri="{FF2B5EF4-FFF2-40B4-BE49-F238E27FC236}">
                <a16:creationId xmlns:a16="http://schemas.microsoft.com/office/drawing/2014/main" id="{B0E90F62-1077-4515-B8DD-CE1DC2279CCD}"/>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5" name="Rectangle 7">
            <a:extLst>
              <a:ext uri="{FF2B5EF4-FFF2-40B4-BE49-F238E27FC236}">
                <a16:creationId xmlns:a16="http://schemas.microsoft.com/office/drawing/2014/main" id="{1AFED769-5E4A-470B-9898-7A281700D74E}"/>
              </a:ext>
            </a:extLst>
          </p:cNvPr>
          <p:cNvSpPr>
            <a:spLocks noGrp="1" noChangeArrowheads="1"/>
          </p:cNvSpPr>
          <p:nvPr>
            <p:ph type="sldNum" sz="quarter" idx="12"/>
          </p:nvPr>
        </p:nvSpPr>
        <p:spPr>
          <a:ln/>
        </p:spPr>
        <p:txBody>
          <a:bodyPr/>
          <a:lstStyle>
            <a:lvl1pPr>
              <a:defRPr/>
            </a:lvl1pPr>
          </a:lstStyle>
          <a:p>
            <a:pPr>
              <a:defRPr/>
            </a:pPr>
            <a:fld id="{3399B322-EE5B-429A-9EEB-B053F89760D6}" type="slidenum">
              <a:rPr lang="en-US" altLang="en-US"/>
              <a:pPr>
                <a:defRPr/>
              </a:pPr>
              <a:t>‹#›</a:t>
            </a:fld>
            <a:endParaRPr lang="en-US" altLang="en-US"/>
          </a:p>
        </p:txBody>
      </p:sp>
    </p:spTree>
    <p:extLst>
      <p:ext uri="{BB962C8B-B14F-4D97-AF65-F5344CB8AC3E}">
        <p14:creationId xmlns:p14="http://schemas.microsoft.com/office/powerpoint/2010/main" val="26022800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1BB0C68D-0953-4B20-B56F-CF29AEB375FD}"/>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6">
            <a:extLst>
              <a:ext uri="{FF2B5EF4-FFF2-40B4-BE49-F238E27FC236}">
                <a16:creationId xmlns:a16="http://schemas.microsoft.com/office/drawing/2014/main" id="{88840569-6EC3-44AB-B827-416EE4DA1928}"/>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4" name="Rectangle 7">
            <a:extLst>
              <a:ext uri="{FF2B5EF4-FFF2-40B4-BE49-F238E27FC236}">
                <a16:creationId xmlns:a16="http://schemas.microsoft.com/office/drawing/2014/main" id="{88FF83A2-EF2E-46E7-AA75-F00F62B83165}"/>
              </a:ext>
            </a:extLst>
          </p:cNvPr>
          <p:cNvSpPr>
            <a:spLocks noGrp="1" noChangeArrowheads="1"/>
          </p:cNvSpPr>
          <p:nvPr>
            <p:ph type="sldNum" sz="quarter" idx="12"/>
          </p:nvPr>
        </p:nvSpPr>
        <p:spPr>
          <a:ln/>
        </p:spPr>
        <p:txBody>
          <a:bodyPr/>
          <a:lstStyle>
            <a:lvl1pPr>
              <a:defRPr/>
            </a:lvl1pPr>
          </a:lstStyle>
          <a:p>
            <a:pPr>
              <a:defRPr/>
            </a:pPr>
            <a:fld id="{C62170AD-818C-46C8-B3CE-30EB49348616}" type="slidenum">
              <a:rPr lang="en-US" altLang="en-US"/>
              <a:pPr>
                <a:defRPr/>
              </a:pPr>
              <a:t>‹#›</a:t>
            </a:fld>
            <a:endParaRPr lang="en-US" altLang="en-US"/>
          </a:p>
        </p:txBody>
      </p:sp>
    </p:spTree>
    <p:extLst>
      <p:ext uri="{BB962C8B-B14F-4D97-AF65-F5344CB8AC3E}">
        <p14:creationId xmlns:p14="http://schemas.microsoft.com/office/powerpoint/2010/main" val="12911774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F56E8189-C9E1-4326-B570-52F97D4B216E}"/>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0419596E-0DC6-4F58-B628-0DB312605BFA}"/>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7" name="Rectangle 7">
            <a:extLst>
              <a:ext uri="{FF2B5EF4-FFF2-40B4-BE49-F238E27FC236}">
                <a16:creationId xmlns:a16="http://schemas.microsoft.com/office/drawing/2014/main" id="{7AE50D36-FED4-4EBE-87BD-EB1A37D8E34C}"/>
              </a:ext>
            </a:extLst>
          </p:cNvPr>
          <p:cNvSpPr>
            <a:spLocks noGrp="1" noChangeArrowheads="1"/>
          </p:cNvSpPr>
          <p:nvPr>
            <p:ph type="sldNum" sz="quarter" idx="12"/>
          </p:nvPr>
        </p:nvSpPr>
        <p:spPr>
          <a:ln/>
        </p:spPr>
        <p:txBody>
          <a:bodyPr/>
          <a:lstStyle>
            <a:lvl1pPr>
              <a:defRPr/>
            </a:lvl1pPr>
          </a:lstStyle>
          <a:p>
            <a:pPr>
              <a:defRPr/>
            </a:pPr>
            <a:fld id="{D6596272-A16B-4813-87C4-1CE025173DFD}" type="slidenum">
              <a:rPr lang="en-US" altLang="en-US"/>
              <a:pPr>
                <a:defRPr/>
              </a:pPr>
              <a:t>‹#›</a:t>
            </a:fld>
            <a:endParaRPr lang="en-US" altLang="en-US"/>
          </a:p>
        </p:txBody>
      </p:sp>
    </p:spTree>
    <p:extLst>
      <p:ext uri="{BB962C8B-B14F-4D97-AF65-F5344CB8AC3E}">
        <p14:creationId xmlns:p14="http://schemas.microsoft.com/office/powerpoint/2010/main" val="19647436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9C2EDA59-C62C-4267-AF74-A999789944A9}"/>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0A61E2E6-53C6-40DB-9F8A-2AEA2ECF15FC}"/>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7" name="Rectangle 7">
            <a:extLst>
              <a:ext uri="{FF2B5EF4-FFF2-40B4-BE49-F238E27FC236}">
                <a16:creationId xmlns:a16="http://schemas.microsoft.com/office/drawing/2014/main" id="{1422D236-106A-478B-8A78-3B93634D81F8}"/>
              </a:ext>
            </a:extLst>
          </p:cNvPr>
          <p:cNvSpPr>
            <a:spLocks noGrp="1" noChangeArrowheads="1"/>
          </p:cNvSpPr>
          <p:nvPr>
            <p:ph type="sldNum" sz="quarter" idx="12"/>
          </p:nvPr>
        </p:nvSpPr>
        <p:spPr>
          <a:ln/>
        </p:spPr>
        <p:txBody>
          <a:bodyPr/>
          <a:lstStyle>
            <a:lvl1pPr>
              <a:defRPr/>
            </a:lvl1pPr>
          </a:lstStyle>
          <a:p>
            <a:pPr>
              <a:defRPr/>
            </a:pPr>
            <a:fld id="{B885D9C2-516F-496B-B7D2-51551250D7F8}" type="slidenum">
              <a:rPr lang="en-US" altLang="en-US"/>
              <a:pPr>
                <a:defRPr/>
              </a:pPr>
              <a:t>‹#›</a:t>
            </a:fld>
            <a:endParaRPr lang="en-US" altLang="en-US"/>
          </a:p>
        </p:txBody>
      </p:sp>
    </p:spTree>
    <p:extLst>
      <p:ext uri="{BB962C8B-B14F-4D97-AF65-F5344CB8AC3E}">
        <p14:creationId xmlns:p14="http://schemas.microsoft.com/office/powerpoint/2010/main" val="34486679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36A39563-8237-48A0-AF4A-A0416EAFFCBC}"/>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07D87FBE-A0F9-48D1-92D9-F62697FFEDB0}"/>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a:extLst>
              <a:ext uri="{FF2B5EF4-FFF2-40B4-BE49-F238E27FC236}">
                <a16:creationId xmlns:a16="http://schemas.microsoft.com/office/drawing/2014/main" id="{1E034BD9-B6AB-4B35-9409-2D9BA2A870AA}"/>
              </a:ext>
            </a:extLst>
          </p:cNvPr>
          <p:cNvSpPr>
            <a:spLocks noGrp="1" noChangeArrowheads="1"/>
          </p:cNvSpPr>
          <p:nvPr>
            <p:ph type="sldNum" sz="quarter" idx="12"/>
          </p:nvPr>
        </p:nvSpPr>
        <p:spPr>
          <a:ln/>
        </p:spPr>
        <p:txBody>
          <a:bodyPr/>
          <a:lstStyle>
            <a:lvl1pPr>
              <a:defRPr/>
            </a:lvl1pPr>
          </a:lstStyle>
          <a:p>
            <a:pPr>
              <a:defRPr/>
            </a:pPr>
            <a:fld id="{B1F49B29-6C0D-4E30-A1CA-AF802AF38EEB}" type="slidenum">
              <a:rPr lang="en-US" altLang="en-US"/>
              <a:pPr>
                <a:defRPr/>
              </a:pPr>
              <a:t>‹#›</a:t>
            </a:fld>
            <a:endParaRPr lang="en-US" altLang="en-US"/>
          </a:p>
        </p:txBody>
      </p:sp>
    </p:spTree>
    <p:extLst>
      <p:ext uri="{BB962C8B-B14F-4D97-AF65-F5344CB8AC3E}">
        <p14:creationId xmlns:p14="http://schemas.microsoft.com/office/powerpoint/2010/main" val="2526204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22238"/>
            <a:ext cx="2057400" cy="60086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22238"/>
            <a:ext cx="6019800" cy="6008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94619936-B2CC-40FD-A740-D917C4C55190}"/>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FCED7979-D5AF-406C-91B5-68F4F5576448}"/>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a:extLst>
              <a:ext uri="{FF2B5EF4-FFF2-40B4-BE49-F238E27FC236}">
                <a16:creationId xmlns:a16="http://schemas.microsoft.com/office/drawing/2014/main" id="{14FDDCC9-DEAE-4289-8B5C-037DAFD96EA8}"/>
              </a:ext>
            </a:extLst>
          </p:cNvPr>
          <p:cNvSpPr>
            <a:spLocks noGrp="1" noChangeArrowheads="1"/>
          </p:cNvSpPr>
          <p:nvPr>
            <p:ph type="sldNum" sz="quarter" idx="12"/>
          </p:nvPr>
        </p:nvSpPr>
        <p:spPr>
          <a:ln/>
        </p:spPr>
        <p:txBody>
          <a:bodyPr/>
          <a:lstStyle>
            <a:lvl1pPr>
              <a:defRPr/>
            </a:lvl1pPr>
          </a:lstStyle>
          <a:p>
            <a:pPr>
              <a:defRPr/>
            </a:pPr>
            <a:fld id="{6F841131-266F-4F3C-ADD9-3BCCC0CEC7E9}" type="slidenum">
              <a:rPr lang="en-US" altLang="en-US"/>
              <a:pPr>
                <a:defRPr/>
              </a:pPr>
              <a:t>‹#›</a:t>
            </a:fld>
            <a:endParaRPr lang="en-US" altLang="en-US"/>
          </a:p>
        </p:txBody>
      </p:sp>
    </p:spTree>
    <p:extLst>
      <p:ext uri="{BB962C8B-B14F-4D97-AF65-F5344CB8AC3E}">
        <p14:creationId xmlns:p14="http://schemas.microsoft.com/office/powerpoint/2010/main" val="11248417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122238"/>
            <a:ext cx="8229600" cy="6008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5">
            <a:extLst>
              <a:ext uri="{FF2B5EF4-FFF2-40B4-BE49-F238E27FC236}">
                <a16:creationId xmlns:a16="http://schemas.microsoft.com/office/drawing/2014/main" id="{43ED42A8-B634-4CBA-8DFA-E07A2D5B940F}"/>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6">
            <a:extLst>
              <a:ext uri="{FF2B5EF4-FFF2-40B4-BE49-F238E27FC236}">
                <a16:creationId xmlns:a16="http://schemas.microsoft.com/office/drawing/2014/main" id="{732138A7-5D01-412A-A566-6F784F941F21}"/>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5" name="Rectangle 7">
            <a:extLst>
              <a:ext uri="{FF2B5EF4-FFF2-40B4-BE49-F238E27FC236}">
                <a16:creationId xmlns:a16="http://schemas.microsoft.com/office/drawing/2014/main" id="{21A91B9F-047C-4DF6-B7A4-EEB30A7DEB65}"/>
              </a:ext>
            </a:extLst>
          </p:cNvPr>
          <p:cNvSpPr>
            <a:spLocks noGrp="1" noChangeArrowheads="1"/>
          </p:cNvSpPr>
          <p:nvPr>
            <p:ph type="sldNum" sz="quarter" idx="12"/>
          </p:nvPr>
        </p:nvSpPr>
        <p:spPr>
          <a:ln/>
        </p:spPr>
        <p:txBody>
          <a:bodyPr/>
          <a:lstStyle>
            <a:lvl1pPr>
              <a:defRPr/>
            </a:lvl1pPr>
          </a:lstStyle>
          <a:p>
            <a:pPr>
              <a:defRPr/>
            </a:pPr>
            <a:fld id="{3CCC4478-E428-4DF5-89DE-D8FD596FD38D}" type="slidenum">
              <a:rPr lang="en-US" altLang="en-US"/>
              <a:pPr>
                <a:defRPr/>
              </a:pPr>
              <a:t>‹#›</a:t>
            </a:fld>
            <a:endParaRPr lang="en-US" altLang="en-US"/>
          </a:p>
        </p:txBody>
      </p:sp>
    </p:spTree>
    <p:extLst>
      <p:ext uri="{BB962C8B-B14F-4D97-AF65-F5344CB8AC3E}">
        <p14:creationId xmlns:p14="http://schemas.microsoft.com/office/powerpoint/2010/main" val="17987376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a:extLst>
              <a:ext uri="{FF2B5EF4-FFF2-40B4-BE49-F238E27FC236}">
                <a16:creationId xmlns:a16="http://schemas.microsoft.com/office/drawing/2014/main" id="{B55378DA-C661-4266-B268-73655F1BBCB5}"/>
              </a:ext>
            </a:extLst>
          </p:cNvPr>
          <p:cNvSpPr>
            <a:spLocks noChangeShapeType="1"/>
          </p:cNvSpPr>
          <p:nvPr/>
        </p:nvSpPr>
        <p:spPr bwMode="auto">
          <a:xfrm>
            <a:off x="7962900" y="152400"/>
            <a:ext cx="0" cy="1524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7" name="Rectangle 3">
            <a:extLst>
              <a:ext uri="{FF2B5EF4-FFF2-40B4-BE49-F238E27FC236}">
                <a16:creationId xmlns:a16="http://schemas.microsoft.com/office/drawing/2014/main" id="{79E568FB-1DCA-40E5-B722-D0186E0C20CB}"/>
              </a:ext>
            </a:extLst>
          </p:cNvPr>
          <p:cNvSpPr>
            <a:spLocks noGrp="1" noChangeArrowheads="1"/>
          </p:cNvSpPr>
          <p:nvPr>
            <p:ph type="title"/>
          </p:nvPr>
        </p:nvSpPr>
        <p:spPr bwMode="auto">
          <a:xfrm>
            <a:off x="457200" y="122238"/>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2EBC197F-157E-4EB9-B685-94F2A6656219}"/>
              </a:ext>
            </a:extLst>
          </p:cNvPr>
          <p:cNvSpPr>
            <a:spLocks noGrp="1" noChangeArrowheads="1"/>
          </p:cNvSpPr>
          <p:nvPr>
            <p:ph type="body" idx="1"/>
          </p:nvPr>
        </p:nvSpPr>
        <p:spPr bwMode="auto">
          <a:xfrm>
            <a:off x="457200" y="1719263"/>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19813" name="Rectangle 5">
            <a:extLst>
              <a:ext uri="{FF2B5EF4-FFF2-40B4-BE49-F238E27FC236}">
                <a16:creationId xmlns:a16="http://schemas.microsoft.com/office/drawing/2014/main" id="{27119A13-D053-447C-8449-F5B4DEECF3AC}"/>
              </a:ext>
            </a:extLst>
          </p:cNvPr>
          <p:cNvSpPr>
            <a:spLocks noGrp="1" noChangeArrowheads="1"/>
          </p:cNvSpPr>
          <p:nvPr>
            <p:ph type="dt" sz="half" idx="2"/>
          </p:nvPr>
        </p:nvSpPr>
        <p:spPr bwMode="auto">
          <a:xfrm>
            <a:off x="457200" y="6248400"/>
            <a:ext cx="12192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latin typeface="Arial" charset="0"/>
                <a:cs typeface="Arial" charset="0"/>
              </a:defRPr>
            </a:lvl1pPr>
          </a:lstStyle>
          <a:p>
            <a:pPr>
              <a:defRPr/>
            </a:pPr>
            <a:endParaRPr lang="en-US" altLang="en-US"/>
          </a:p>
        </p:txBody>
      </p:sp>
      <p:sp>
        <p:nvSpPr>
          <p:cNvPr id="119814" name="Rectangle 6">
            <a:extLst>
              <a:ext uri="{FF2B5EF4-FFF2-40B4-BE49-F238E27FC236}">
                <a16:creationId xmlns:a16="http://schemas.microsoft.com/office/drawing/2014/main" id="{E90A9965-B1E2-4290-A969-0DECC2C9791C}"/>
              </a:ext>
            </a:extLst>
          </p:cNvPr>
          <p:cNvSpPr>
            <a:spLocks noGrp="1" noChangeArrowheads="1"/>
          </p:cNvSpPr>
          <p:nvPr>
            <p:ph type="ftr" sz="quarter" idx="3"/>
          </p:nvPr>
        </p:nvSpPr>
        <p:spPr bwMode="auto">
          <a:xfrm>
            <a:off x="1828800" y="6248400"/>
            <a:ext cx="54864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cs typeface="Arial" charset="0"/>
              </a:defRPr>
            </a:lvl1pPr>
          </a:lstStyle>
          <a:p>
            <a:pPr>
              <a:defRPr/>
            </a:pPr>
            <a:r>
              <a:rPr lang="en-US" altLang="en-US"/>
              <a:t>Systems Analysis and Design in a Changing World, 6th Edition</a:t>
            </a:r>
          </a:p>
        </p:txBody>
      </p:sp>
      <p:sp>
        <p:nvSpPr>
          <p:cNvPr id="119815" name="Rectangle 7">
            <a:extLst>
              <a:ext uri="{FF2B5EF4-FFF2-40B4-BE49-F238E27FC236}">
                <a16:creationId xmlns:a16="http://schemas.microsoft.com/office/drawing/2014/main" id="{95D31722-49D1-4270-986E-3E20C054149E}"/>
              </a:ext>
            </a:extLst>
          </p:cNvPr>
          <p:cNvSpPr>
            <a:spLocks noGrp="1" noChangeArrowheads="1"/>
          </p:cNvSpPr>
          <p:nvPr>
            <p:ph type="sldNum" sz="quarter" idx="4"/>
          </p:nvPr>
        </p:nvSpPr>
        <p:spPr bwMode="auto">
          <a:xfrm>
            <a:off x="7543800" y="6248400"/>
            <a:ext cx="1143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smtClean="0"/>
            </a:lvl1pPr>
          </a:lstStyle>
          <a:p>
            <a:pPr>
              <a:defRPr/>
            </a:pPr>
            <a:fld id="{455058EB-2534-4A58-A6DB-F64E6ECC48DE}" type="slidenum">
              <a:rPr lang="en-US" altLang="en-US"/>
              <a:pPr>
                <a:defRPr/>
              </a:pPr>
              <a:t>‹#›</a:t>
            </a:fld>
            <a:endParaRPr lang="en-US" altLang="en-US"/>
          </a:p>
        </p:txBody>
      </p:sp>
      <p:grpSp>
        <p:nvGrpSpPr>
          <p:cNvPr id="1032" name="Group 8">
            <a:extLst>
              <a:ext uri="{FF2B5EF4-FFF2-40B4-BE49-F238E27FC236}">
                <a16:creationId xmlns:a16="http://schemas.microsoft.com/office/drawing/2014/main" id="{2FE2FF5E-E178-4CDC-87DD-1168BE66D0A6}"/>
              </a:ext>
            </a:extLst>
          </p:cNvPr>
          <p:cNvGrpSpPr>
            <a:grpSpLocks/>
          </p:cNvGrpSpPr>
          <p:nvPr/>
        </p:nvGrpSpPr>
        <p:grpSpPr bwMode="auto">
          <a:xfrm>
            <a:off x="8153400" y="152400"/>
            <a:ext cx="792163" cy="1295400"/>
            <a:chOff x="5136" y="960"/>
            <a:chExt cx="528" cy="864"/>
          </a:xfrm>
        </p:grpSpPr>
        <p:sp>
          <p:nvSpPr>
            <p:cNvPr id="1033" name="Oval 9">
              <a:extLst>
                <a:ext uri="{FF2B5EF4-FFF2-40B4-BE49-F238E27FC236}">
                  <a16:creationId xmlns:a16="http://schemas.microsoft.com/office/drawing/2014/main" id="{AD70EE73-FCE7-4A9B-ABD6-B9A7B3699496}"/>
                </a:ext>
              </a:extLst>
            </p:cNvPr>
            <p:cNvSpPr>
              <a:spLocks noChangeArrowheads="1"/>
            </p:cNvSpPr>
            <p:nvPr/>
          </p:nvSpPr>
          <p:spPr bwMode="auto">
            <a:xfrm>
              <a:off x="5136" y="960"/>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34" name="Oval 10">
              <a:extLst>
                <a:ext uri="{FF2B5EF4-FFF2-40B4-BE49-F238E27FC236}">
                  <a16:creationId xmlns:a16="http://schemas.microsoft.com/office/drawing/2014/main" id="{6752DDDA-35C4-4FE6-9BC0-C3BEB66BE62F}"/>
                </a:ext>
              </a:extLst>
            </p:cNvPr>
            <p:cNvSpPr>
              <a:spLocks noChangeArrowheads="1"/>
            </p:cNvSpPr>
            <p:nvPr/>
          </p:nvSpPr>
          <p:spPr bwMode="auto">
            <a:xfrm>
              <a:off x="5248" y="960"/>
              <a:ext cx="79"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35" name="Oval 11">
              <a:extLst>
                <a:ext uri="{FF2B5EF4-FFF2-40B4-BE49-F238E27FC236}">
                  <a16:creationId xmlns:a16="http://schemas.microsoft.com/office/drawing/2014/main" id="{522BEC68-B907-4827-825A-02B978EEA6E2}"/>
                </a:ext>
              </a:extLst>
            </p:cNvPr>
            <p:cNvSpPr>
              <a:spLocks noChangeArrowheads="1"/>
            </p:cNvSpPr>
            <p:nvPr/>
          </p:nvSpPr>
          <p:spPr bwMode="auto">
            <a:xfrm>
              <a:off x="5360" y="960"/>
              <a:ext cx="78"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36" name="Oval 12">
              <a:extLst>
                <a:ext uri="{FF2B5EF4-FFF2-40B4-BE49-F238E27FC236}">
                  <a16:creationId xmlns:a16="http://schemas.microsoft.com/office/drawing/2014/main" id="{BCF8274B-C42F-4BFF-B0FB-5C06155516AB}"/>
                </a:ext>
              </a:extLst>
            </p:cNvPr>
            <p:cNvSpPr>
              <a:spLocks noChangeArrowheads="1"/>
            </p:cNvSpPr>
            <p:nvPr/>
          </p:nvSpPr>
          <p:spPr bwMode="auto">
            <a:xfrm>
              <a:off x="5136" y="1072"/>
              <a:ext cx="80" cy="78"/>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37" name="Oval 13">
              <a:extLst>
                <a:ext uri="{FF2B5EF4-FFF2-40B4-BE49-F238E27FC236}">
                  <a16:creationId xmlns:a16="http://schemas.microsoft.com/office/drawing/2014/main" id="{2C15DAF0-80D8-4E78-97FC-04921637A853}"/>
                </a:ext>
              </a:extLst>
            </p:cNvPr>
            <p:cNvSpPr>
              <a:spLocks noChangeArrowheads="1"/>
            </p:cNvSpPr>
            <p:nvPr/>
          </p:nvSpPr>
          <p:spPr bwMode="auto">
            <a:xfrm>
              <a:off x="5248" y="1072"/>
              <a:ext cx="79" cy="78"/>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38" name="Oval 14">
              <a:extLst>
                <a:ext uri="{FF2B5EF4-FFF2-40B4-BE49-F238E27FC236}">
                  <a16:creationId xmlns:a16="http://schemas.microsoft.com/office/drawing/2014/main" id="{99DDABE8-9DF1-47DC-9C5B-79F73B538808}"/>
                </a:ext>
              </a:extLst>
            </p:cNvPr>
            <p:cNvSpPr>
              <a:spLocks noChangeArrowheads="1"/>
            </p:cNvSpPr>
            <p:nvPr/>
          </p:nvSpPr>
          <p:spPr bwMode="auto">
            <a:xfrm>
              <a:off x="5360" y="1072"/>
              <a:ext cx="78" cy="78"/>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39" name="Oval 15">
              <a:extLst>
                <a:ext uri="{FF2B5EF4-FFF2-40B4-BE49-F238E27FC236}">
                  <a16:creationId xmlns:a16="http://schemas.microsoft.com/office/drawing/2014/main" id="{C2722DD0-9B82-46F8-8B1D-A44F62ADB234}"/>
                </a:ext>
              </a:extLst>
            </p:cNvPr>
            <p:cNvSpPr>
              <a:spLocks noChangeArrowheads="1"/>
            </p:cNvSpPr>
            <p:nvPr/>
          </p:nvSpPr>
          <p:spPr bwMode="auto">
            <a:xfrm>
              <a:off x="5472" y="1072"/>
              <a:ext cx="78" cy="7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40" name="Oval 16">
              <a:extLst>
                <a:ext uri="{FF2B5EF4-FFF2-40B4-BE49-F238E27FC236}">
                  <a16:creationId xmlns:a16="http://schemas.microsoft.com/office/drawing/2014/main" id="{8657F9A2-CA84-4BDF-879F-85FCE43B0066}"/>
                </a:ext>
              </a:extLst>
            </p:cNvPr>
            <p:cNvSpPr>
              <a:spLocks noChangeArrowheads="1"/>
            </p:cNvSpPr>
            <p:nvPr/>
          </p:nvSpPr>
          <p:spPr bwMode="auto">
            <a:xfrm>
              <a:off x="5136" y="1184"/>
              <a:ext cx="80" cy="78"/>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41" name="Oval 17">
              <a:extLst>
                <a:ext uri="{FF2B5EF4-FFF2-40B4-BE49-F238E27FC236}">
                  <a16:creationId xmlns:a16="http://schemas.microsoft.com/office/drawing/2014/main" id="{0E4CBE21-BF0F-4961-A467-D55F460961BA}"/>
                </a:ext>
              </a:extLst>
            </p:cNvPr>
            <p:cNvSpPr>
              <a:spLocks noChangeArrowheads="1"/>
            </p:cNvSpPr>
            <p:nvPr/>
          </p:nvSpPr>
          <p:spPr bwMode="auto">
            <a:xfrm>
              <a:off x="5248" y="1184"/>
              <a:ext cx="79" cy="78"/>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42" name="Oval 18">
              <a:extLst>
                <a:ext uri="{FF2B5EF4-FFF2-40B4-BE49-F238E27FC236}">
                  <a16:creationId xmlns:a16="http://schemas.microsoft.com/office/drawing/2014/main" id="{69582C9C-4D35-48BF-93C4-2854772275D4}"/>
                </a:ext>
              </a:extLst>
            </p:cNvPr>
            <p:cNvSpPr>
              <a:spLocks noChangeArrowheads="1"/>
            </p:cNvSpPr>
            <p:nvPr/>
          </p:nvSpPr>
          <p:spPr bwMode="auto">
            <a:xfrm>
              <a:off x="5360" y="1184"/>
              <a:ext cx="78" cy="7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43" name="Oval 19">
              <a:extLst>
                <a:ext uri="{FF2B5EF4-FFF2-40B4-BE49-F238E27FC236}">
                  <a16:creationId xmlns:a16="http://schemas.microsoft.com/office/drawing/2014/main" id="{DBD7D17F-0E82-4538-946A-BF3DA1E84A5A}"/>
                </a:ext>
              </a:extLst>
            </p:cNvPr>
            <p:cNvSpPr>
              <a:spLocks noChangeArrowheads="1"/>
            </p:cNvSpPr>
            <p:nvPr/>
          </p:nvSpPr>
          <p:spPr bwMode="auto">
            <a:xfrm>
              <a:off x="5472" y="1184"/>
              <a:ext cx="78" cy="7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44" name="Oval 20">
              <a:extLst>
                <a:ext uri="{FF2B5EF4-FFF2-40B4-BE49-F238E27FC236}">
                  <a16:creationId xmlns:a16="http://schemas.microsoft.com/office/drawing/2014/main" id="{BCA98FFF-6A84-4080-AD40-E7C765C4915A}"/>
                </a:ext>
              </a:extLst>
            </p:cNvPr>
            <p:cNvSpPr>
              <a:spLocks noChangeArrowheads="1"/>
            </p:cNvSpPr>
            <p:nvPr/>
          </p:nvSpPr>
          <p:spPr bwMode="auto">
            <a:xfrm>
              <a:off x="5584" y="1184"/>
              <a:ext cx="80" cy="7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45" name="Oval 21">
              <a:extLst>
                <a:ext uri="{FF2B5EF4-FFF2-40B4-BE49-F238E27FC236}">
                  <a16:creationId xmlns:a16="http://schemas.microsoft.com/office/drawing/2014/main" id="{0C1F4519-C108-4666-AE18-9F1C3BDA7283}"/>
                </a:ext>
              </a:extLst>
            </p:cNvPr>
            <p:cNvSpPr>
              <a:spLocks noChangeArrowheads="1"/>
            </p:cNvSpPr>
            <p:nvPr/>
          </p:nvSpPr>
          <p:spPr bwMode="auto">
            <a:xfrm>
              <a:off x="5136" y="1296"/>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46" name="Oval 22">
              <a:extLst>
                <a:ext uri="{FF2B5EF4-FFF2-40B4-BE49-F238E27FC236}">
                  <a16:creationId xmlns:a16="http://schemas.microsoft.com/office/drawing/2014/main" id="{EE9E0D0E-6C5B-4473-BE00-F76D46B10233}"/>
                </a:ext>
              </a:extLst>
            </p:cNvPr>
            <p:cNvSpPr>
              <a:spLocks noChangeArrowheads="1"/>
            </p:cNvSpPr>
            <p:nvPr/>
          </p:nvSpPr>
          <p:spPr bwMode="auto">
            <a:xfrm>
              <a:off x="5248" y="1296"/>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47" name="Oval 23">
              <a:extLst>
                <a:ext uri="{FF2B5EF4-FFF2-40B4-BE49-F238E27FC236}">
                  <a16:creationId xmlns:a16="http://schemas.microsoft.com/office/drawing/2014/main" id="{1DE1DF08-952E-44F8-A7F9-4BC2F2619E4B}"/>
                </a:ext>
              </a:extLst>
            </p:cNvPr>
            <p:cNvSpPr>
              <a:spLocks noChangeArrowheads="1"/>
            </p:cNvSpPr>
            <p:nvPr/>
          </p:nvSpPr>
          <p:spPr bwMode="auto">
            <a:xfrm>
              <a:off x="5360" y="1296"/>
              <a:ext cx="78"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48" name="Oval 24">
              <a:extLst>
                <a:ext uri="{FF2B5EF4-FFF2-40B4-BE49-F238E27FC236}">
                  <a16:creationId xmlns:a16="http://schemas.microsoft.com/office/drawing/2014/main" id="{24BD06D8-DACA-405F-84F9-41C0E9637179}"/>
                </a:ext>
              </a:extLst>
            </p:cNvPr>
            <p:cNvSpPr>
              <a:spLocks noChangeArrowheads="1"/>
            </p:cNvSpPr>
            <p:nvPr/>
          </p:nvSpPr>
          <p:spPr bwMode="auto">
            <a:xfrm>
              <a:off x="5472" y="1296"/>
              <a:ext cx="78"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49" name="Oval 25">
              <a:extLst>
                <a:ext uri="{FF2B5EF4-FFF2-40B4-BE49-F238E27FC236}">
                  <a16:creationId xmlns:a16="http://schemas.microsoft.com/office/drawing/2014/main" id="{78F9519E-45D2-460D-BD06-438EE180D48E}"/>
                </a:ext>
              </a:extLst>
            </p:cNvPr>
            <p:cNvSpPr>
              <a:spLocks noChangeArrowheads="1"/>
            </p:cNvSpPr>
            <p:nvPr/>
          </p:nvSpPr>
          <p:spPr bwMode="auto">
            <a:xfrm>
              <a:off x="5136" y="1408"/>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50" name="Oval 26">
              <a:extLst>
                <a:ext uri="{FF2B5EF4-FFF2-40B4-BE49-F238E27FC236}">
                  <a16:creationId xmlns:a16="http://schemas.microsoft.com/office/drawing/2014/main" id="{76EE8FF1-E373-419E-9454-78724682A846}"/>
                </a:ext>
              </a:extLst>
            </p:cNvPr>
            <p:cNvSpPr>
              <a:spLocks noChangeArrowheads="1"/>
            </p:cNvSpPr>
            <p:nvPr/>
          </p:nvSpPr>
          <p:spPr bwMode="auto">
            <a:xfrm>
              <a:off x="5248" y="1408"/>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51" name="Oval 27">
              <a:extLst>
                <a:ext uri="{FF2B5EF4-FFF2-40B4-BE49-F238E27FC236}">
                  <a16:creationId xmlns:a16="http://schemas.microsoft.com/office/drawing/2014/main" id="{899DC6EE-1673-48BC-B004-58C10F043C96}"/>
                </a:ext>
              </a:extLst>
            </p:cNvPr>
            <p:cNvSpPr>
              <a:spLocks noChangeArrowheads="1"/>
            </p:cNvSpPr>
            <p:nvPr/>
          </p:nvSpPr>
          <p:spPr bwMode="auto">
            <a:xfrm>
              <a:off x="5360" y="1408"/>
              <a:ext cx="78"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52" name="Oval 28">
              <a:extLst>
                <a:ext uri="{FF2B5EF4-FFF2-40B4-BE49-F238E27FC236}">
                  <a16:creationId xmlns:a16="http://schemas.microsoft.com/office/drawing/2014/main" id="{EE0A04C3-B921-4371-9AAA-937C1C270A6A}"/>
                </a:ext>
              </a:extLst>
            </p:cNvPr>
            <p:cNvSpPr>
              <a:spLocks noChangeArrowheads="1"/>
            </p:cNvSpPr>
            <p:nvPr/>
          </p:nvSpPr>
          <p:spPr bwMode="auto">
            <a:xfrm>
              <a:off x="5472" y="1408"/>
              <a:ext cx="78"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53" name="Oval 29">
              <a:extLst>
                <a:ext uri="{FF2B5EF4-FFF2-40B4-BE49-F238E27FC236}">
                  <a16:creationId xmlns:a16="http://schemas.microsoft.com/office/drawing/2014/main" id="{08B841AF-F907-48AB-A56C-7219FF8AA6D6}"/>
                </a:ext>
              </a:extLst>
            </p:cNvPr>
            <p:cNvSpPr>
              <a:spLocks noChangeArrowheads="1"/>
            </p:cNvSpPr>
            <p:nvPr/>
          </p:nvSpPr>
          <p:spPr bwMode="auto">
            <a:xfrm>
              <a:off x="5584" y="1408"/>
              <a:ext cx="80"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54" name="Oval 30">
              <a:extLst>
                <a:ext uri="{FF2B5EF4-FFF2-40B4-BE49-F238E27FC236}">
                  <a16:creationId xmlns:a16="http://schemas.microsoft.com/office/drawing/2014/main" id="{5A750D9C-14D1-4F67-BB0D-7344F4EC1632}"/>
                </a:ext>
              </a:extLst>
            </p:cNvPr>
            <p:cNvSpPr>
              <a:spLocks noChangeArrowheads="1"/>
            </p:cNvSpPr>
            <p:nvPr/>
          </p:nvSpPr>
          <p:spPr bwMode="auto">
            <a:xfrm>
              <a:off x="5136" y="1520"/>
              <a:ext cx="80" cy="79"/>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55" name="Oval 31">
              <a:extLst>
                <a:ext uri="{FF2B5EF4-FFF2-40B4-BE49-F238E27FC236}">
                  <a16:creationId xmlns:a16="http://schemas.microsoft.com/office/drawing/2014/main" id="{71874FA1-3A6A-4925-ACDD-6006543AA882}"/>
                </a:ext>
              </a:extLst>
            </p:cNvPr>
            <p:cNvSpPr>
              <a:spLocks noChangeArrowheads="1"/>
            </p:cNvSpPr>
            <p:nvPr/>
          </p:nvSpPr>
          <p:spPr bwMode="auto">
            <a:xfrm>
              <a:off x="5248" y="1520"/>
              <a:ext cx="79"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56" name="Oval 32">
              <a:extLst>
                <a:ext uri="{FF2B5EF4-FFF2-40B4-BE49-F238E27FC236}">
                  <a16:creationId xmlns:a16="http://schemas.microsoft.com/office/drawing/2014/main" id="{FD88227A-EFB2-41E0-86C1-D69B15E21518}"/>
                </a:ext>
              </a:extLst>
            </p:cNvPr>
            <p:cNvSpPr>
              <a:spLocks noChangeArrowheads="1"/>
            </p:cNvSpPr>
            <p:nvPr/>
          </p:nvSpPr>
          <p:spPr bwMode="auto">
            <a:xfrm>
              <a:off x="5360" y="1520"/>
              <a:ext cx="78"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57" name="Oval 33">
              <a:extLst>
                <a:ext uri="{FF2B5EF4-FFF2-40B4-BE49-F238E27FC236}">
                  <a16:creationId xmlns:a16="http://schemas.microsoft.com/office/drawing/2014/main" id="{ED79AE1D-184F-4515-B259-8400EB22DB71}"/>
                </a:ext>
              </a:extLst>
            </p:cNvPr>
            <p:cNvSpPr>
              <a:spLocks noChangeArrowheads="1"/>
            </p:cNvSpPr>
            <p:nvPr/>
          </p:nvSpPr>
          <p:spPr bwMode="auto">
            <a:xfrm>
              <a:off x="5472" y="1520"/>
              <a:ext cx="78" cy="79"/>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58" name="Oval 34">
              <a:extLst>
                <a:ext uri="{FF2B5EF4-FFF2-40B4-BE49-F238E27FC236}">
                  <a16:creationId xmlns:a16="http://schemas.microsoft.com/office/drawing/2014/main" id="{48BA843E-D207-4607-A05C-CEEADC3B8D37}"/>
                </a:ext>
              </a:extLst>
            </p:cNvPr>
            <p:cNvSpPr>
              <a:spLocks noChangeArrowheads="1"/>
            </p:cNvSpPr>
            <p:nvPr/>
          </p:nvSpPr>
          <p:spPr bwMode="auto">
            <a:xfrm>
              <a:off x="5136" y="1632"/>
              <a:ext cx="80" cy="7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59" name="Oval 35">
              <a:extLst>
                <a:ext uri="{FF2B5EF4-FFF2-40B4-BE49-F238E27FC236}">
                  <a16:creationId xmlns:a16="http://schemas.microsoft.com/office/drawing/2014/main" id="{86BCFC86-678D-4CD4-A8A9-177BD09473FC}"/>
                </a:ext>
              </a:extLst>
            </p:cNvPr>
            <p:cNvSpPr>
              <a:spLocks noChangeArrowheads="1"/>
            </p:cNvSpPr>
            <p:nvPr/>
          </p:nvSpPr>
          <p:spPr bwMode="auto">
            <a:xfrm>
              <a:off x="5248" y="1632"/>
              <a:ext cx="79" cy="7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60" name="Oval 36">
              <a:extLst>
                <a:ext uri="{FF2B5EF4-FFF2-40B4-BE49-F238E27FC236}">
                  <a16:creationId xmlns:a16="http://schemas.microsoft.com/office/drawing/2014/main" id="{EC5F8794-16D3-40E6-877A-95606ECACFA6}"/>
                </a:ext>
              </a:extLst>
            </p:cNvPr>
            <p:cNvSpPr>
              <a:spLocks noChangeArrowheads="1"/>
            </p:cNvSpPr>
            <p:nvPr/>
          </p:nvSpPr>
          <p:spPr bwMode="auto">
            <a:xfrm>
              <a:off x="5360" y="1632"/>
              <a:ext cx="78" cy="78"/>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61" name="Oval 37">
              <a:extLst>
                <a:ext uri="{FF2B5EF4-FFF2-40B4-BE49-F238E27FC236}">
                  <a16:creationId xmlns:a16="http://schemas.microsoft.com/office/drawing/2014/main" id="{39B925F5-6AE2-4E5C-AB5C-8FB1B79EEA8E}"/>
                </a:ext>
              </a:extLst>
            </p:cNvPr>
            <p:cNvSpPr>
              <a:spLocks noChangeArrowheads="1"/>
            </p:cNvSpPr>
            <p:nvPr/>
          </p:nvSpPr>
          <p:spPr bwMode="auto">
            <a:xfrm>
              <a:off x="5472" y="1632"/>
              <a:ext cx="78" cy="78"/>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62" name="Oval 38">
              <a:extLst>
                <a:ext uri="{FF2B5EF4-FFF2-40B4-BE49-F238E27FC236}">
                  <a16:creationId xmlns:a16="http://schemas.microsoft.com/office/drawing/2014/main" id="{FE63D51C-4BFB-4069-AECA-BE3562F1D097}"/>
                </a:ext>
              </a:extLst>
            </p:cNvPr>
            <p:cNvSpPr>
              <a:spLocks noChangeArrowheads="1"/>
            </p:cNvSpPr>
            <p:nvPr/>
          </p:nvSpPr>
          <p:spPr bwMode="auto">
            <a:xfrm>
              <a:off x="5248" y="1744"/>
              <a:ext cx="79"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63" name="Oval 39">
              <a:extLst>
                <a:ext uri="{FF2B5EF4-FFF2-40B4-BE49-F238E27FC236}">
                  <a16:creationId xmlns:a16="http://schemas.microsoft.com/office/drawing/2014/main" id="{F2B31D9B-1997-401D-968C-0359F1292AAD}"/>
                </a:ext>
              </a:extLst>
            </p:cNvPr>
            <p:cNvSpPr>
              <a:spLocks noChangeArrowheads="1"/>
            </p:cNvSpPr>
            <p:nvPr/>
          </p:nvSpPr>
          <p:spPr bwMode="auto">
            <a:xfrm>
              <a:off x="5472" y="1744"/>
              <a:ext cx="78"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grpSp>
    </p:spTree>
  </p:cSld>
  <p:clrMap bg1="lt1" tx1="dk1" bg2="lt2" tx2="dk2" accent1="accent1" accent2="accent2" accent3="accent3" accent4="accent4" accent5="accent5" accent6="accent6" hlink="hlink" folHlink="folHlink"/>
  <p:sldLayoutIdLst>
    <p:sldLayoutId id="2147483731"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Lst>
  <p:hf hdr="0" dt="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charset="0"/>
          <a:cs typeface="Arial" charset="0"/>
        </a:defRPr>
      </a:lvl2pPr>
      <a:lvl3pPr algn="l" rtl="0" eaLnBrk="0" fontAlgn="base" hangingPunct="0">
        <a:spcBef>
          <a:spcPct val="0"/>
        </a:spcBef>
        <a:spcAft>
          <a:spcPct val="0"/>
        </a:spcAft>
        <a:defRPr sz="3900" b="1">
          <a:solidFill>
            <a:schemeClr val="tx2"/>
          </a:solidFill>
          <a:latin typeface="Arial" charset="0"/>
          <a:cs typeface="Arial" charset="0"/>
        </a:defRPr>
      </a:lvl3pPr>
      <a:lvl4pPr algn="l" rtl="0" eaLnBrk="0" fontAlgn="base" hangingPunct="0">
        <a:spcBef>
          <a:spcPct val="0"/>
        </a:spcBef>
        <a:spcAft>
          <a:spcPct val="0"/>
        </a:spcAft>
        <a:defRPr sz="3900" b="1">
          <a:solidFill>
            <a:schemeClr val="tx2"/>
          </a:solidFill>
          <a:latin typeface="Arial" charset="0"/>
          <a:cs typeface="Arial" charset="0"/>
        </a:defRPr>
      </a:lvl4pPr>
      <a:lvl5pPr algn="l" rtl="0" eaLnBrk="0" fontAlgn="base" hangingPunct="0">
        <a:spcBef>
          <a:spcPct val="0"/>
        </a:spcBef>
        <a:spcAft>
          <a:spcPct val="0"/>
        </a:spcAft>
        <a:defRPr sz="3900" b="1">
          <a:solidFill>
            <a:schemeClr val="tx2"/>
          </a:solidFill>
          <a:latin typeface="Arial" charset="0"/>
          <a:cs typeface="Arial" charset="0"/>
        </a:defRPr>
      </a:lvl5pPr>
      <a:lvl6pPr marL="457200" algn="l" rtl="0" fontAlgn="base">
        <a:spcBef>
          <a:spcPct val="0"/>
        </a:spcBef>
        <a:spcAft>
          <a:spcPct val="0"/>
        </a:spcAft>
        <a:defRPr sz="3900" b="1">
          <a:solidFill>
            <a:schemeClr val="tx2"/>
          </a:solidFill>
          <a:latin typeface="Arial" charset="0"/>
          <a:cs typeface="Arial" charset="0"/>
        </a:defRPr>
      </a:lvl6pPr>
      <a:lvl7pPr marL="914400" algn="l" rtl="0" fontAlgn="base">
        <a:spcBef>
          <a:spcPct val="0"/>
        </a:spcBef>
        <a:spcAft>
          <a:spcPct val="0"/>
        </a:spcAft>
        <a:defRPr sz="3900" b="1">
          <a:solidFill>
            <a:schemeClr val="tx2"/>
          </a:solidFill>
          <a:latin typeface="Arial" charset="0"/>
          <a:cs typeface="Arial" charset="0"/>
        </a:defRPr>
      </a:lvl7pPr>
      <a:lvl8pPr marL="1371600" algn="l" rtl="0" fontAlgn="base">
        <a:spcBef>
          <a:spcPct val="0"/>
        </a:spcBef>
        <a:spcAft>
          <a:spcPct val="0"/>
        </a:spcAft>
        <a:defRPr sz="3900" b="1">
          <a:solidFill>
            <a:schemeClr val="tx2"/>
          </a:solidFill>
          <a:latin typeface="Arial" charset="0"/>
          <a:cs typeface="Arial" charset="0"/>
        </a:defRPr>
      </a:lvl8pPr>
      <a:lvl9pPr marL="1828800" algn="l" rtl="0" fontAlgn="base">
        <a:spcBef>
          <a:spcPct val="0"/>
        </a:spcBef>
        <a:spcAft>
          <a:spcPct val="0"/>
        </a:spcAft>
        <a:defRPr sz="3900" b="1">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cs typeface="+mn-cs"/>
        </a:defRPr>
      </a:lvl2pPr>
      <a:lvl3pPr marL="987425" indent="-293688"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cs typeface="+mn-cs"/>
        </a:defRPr>
      </a:lvl3pPr>
      <a:lvl4pPr marL="1281113"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cs typeface="+mn-cs"/>
        </a:defRPr>
      </a:lvl4pPr>
      <a:lvl5pPr marL="1598613" indent="-315913"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cs typeface="+mn-cs"/>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image" Target="../media/image13.wmf"/><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notesSlide" Target="../notesSlides/notesSlide34.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slideLayout" Target="../slideLayouts/slideLayout7.xml"/><Relationship Id="rId5" Type="http://schemas.openxmlformats.org/officeDocument/2006/relationships/tags" Target="../tags/tag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image" Target="../media/image14.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17.wmf"/></Relationships>
</file>

<file path=ppt/slides/_rels/slide51.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19.wmf"/></Relationships>
</file>

<file path=ppt/slides/_rels/slide53.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oter Placeholder 3">
            <a:extLst>
              <a:ext uri="{FF2B5EF4-FFF2-40B4-BE49-F238E27FC236}">
                <a16:creationId xmlns:a16="http://schemas.microsoft.com/office/drawing/2014/main" id="{F1AAD034-7FD8-4691-A1ED-11C4D0CF0E8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Systems Analysis and Design in a Changing World, 6th Edition</a:t>
            </a:r>
          </a:p>
        </p:txBody>
      </p:sp>
      <p:sp>
        <p:nvSpPr>
          <p:cNvPr id="4099" name="Slide Number Placeholder 4">
            <a:extLst>
              <a:ext uri="{FF2B5EF4-FFF2-40B4-BE49-F238E27FC236}">
                <a16:creationId xmlns:a16="http://schemas.microsoft.com/office/drawing/2014/main" id="{6CECABCD-3F86-442E-9543-14A75DA9E3C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FE946352-2134-4ACF-8E42-7250F44BA86D}" type="slidenum">
              <a:rPr lang="en-US" altLang="en-US" sz="1000"/>
              <a:pPr>
                <a:spcBef>
                  <a:spcPct val="0"/>
                </a:spcBef>
                <a:buClrTx/>
                <a:buSzTx/>
                <a:buFontTx/>
                <a:buNone/>
              </a:pPr>
              <a:t>1</a:t>
            </a:fld>
            <a:endParaRPr lang="en-US" altLang="en-US" sz="1000"/>
          </a:p>
        </p:txBody>
      </p:sp>
      <p:graphicFrame>
        <p:nvGraphicFramePr>
          <p:cNvPr id="4100" name="Object 2">
            <a:extLst>
              <a:ext uri="{FF2B5EF4-FFF2-40B4-BE49-F238E27FC236}">
                <a16:creationId xmlns:a16="http://schemas.microsoft.com/office/drawing/2014/main" id="{FAFA5EB6-C29F-45DC-A02B-06D55119DBBF}"/>
              </a:ext>
            </a:extLst>
          </p:cNvPr>
          <p:cNvGraphicFramePr>
            <a:graphicFrameLocks noGrp="1" noChangeAspect="1"/>
          </p:cNvGraphicFramePr>
          <p:nvPr>
            <p:ph/>
          </p:nvPr>
        </p:nvGraphicFramePr>
        <p:xfrm>
          <a:off x="0" y="0"/>
          <a:ext cx="9144000" cy="6858000"/>
        </p:xfrm>
        <a:graphic>
          <a:graphicData uri="http://schemas.openxmlformats.org/presentationml/2006/ole">
            <mc:AlternateContent xmlns:mc="http://schemas.openxmlformats.org/markup-compatibility/2006">
              <mc:Choice xmlns:v="urn:schemas-microsoft-com:vml" Requires="v">
                <p:oleObj spid="_x0000_s4211" name="Bitmap Image" r:id="rId3" imgW="24238095" imgH="17380952" progId="Paint.Picture">
                  <p:embed/>
                </p:oleObj>
              </mc:Choice>
              <mc:Fallback>
                <p:oleObj name="Bitmap Image" r:id="rId3" imgW="24238095" imgH="17380952" progId="Paint.Picture">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01" name="TextBox 6">
            <a:extLst>
              <a:ext uri="{FF2B5EF4-FFF2-40B4-BE49-F238E27FC236}">
                <a16:creationId xmlns:a16="http://schemas.microsoft.com/office/drawing/2014/main" id="{6C096AE2-5504-467D-A994-7B23A399D598}"/>
              </a:ext>
            </a:extLst>
          </p:cNvPr>
          <p:cNvSpPr txBox="1">
            <a:spLocks noChangeArrowheads="1"/>
          </p:cNvSpPr>
          <p:nvPr/>
        </p:nvSpPr>
        <p:spPr bwMode="auto">
          <a:xfrm>
            <a:off x="685800" y="304800"/>
            <a:ext cx="8153400" cy="2616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zh-CN" sz="4400">
                <a:solidFill>
                  <a:srgbClr val="003399"/>
                </a:solidFill>
                <a:latin typeface="Times New Roman" panose="02020603050405020304" pitchFamily="18" charset="0"/>
                <a:ea typeface="宋体" panose="02010600030101010101" pitchFamily="2" charset="-122"/>
                <a:cs typeface="Times New Roman" panose="02020603050405020304" pitchFamily="18" charset="0"/>
              </a:rPr>
              <a:t>INTRODUCTION TO </a:t>
            </a:r>
          </a:p>
          <a:p>
            <a:pPr eaLnBrk="1" hangingPunct="1">
              <a:spcBef>
                <a:spcPct val="0"/>
              </a:spcBef>
              <a:buClrTx/>
              <a:buSzTx/>
              <a:buFontTx/>
              <a:buNone/>
            </a:pPr>
            <a:r>
              <a:rPr lang="en-US" altLang="zh-CN" sz="4400">
                <a:solidFill>
                  <a:srgbClr val="003399"/>
                </a:solidFill>
                <a:latin typeface="Times New Roman" panose="02020603050405020304" pitchFamily="18" charset="0"/>
                <a:ea typeface="宋体" panose="02010600030101010101" pitchFamily="2" charset="-122"/>
                <a:cs typeface="Times New Roman" panose="02020603050405020304" pitchFamily="18" charset="0"/>
              </a:rPr>
              <a:t>SYSTEMS ANALYSIS AND DESIGN:</a:t>
            </a:r>
          </a:p>
          <a:p>
            <a:pPr algn="r" eaLnBrk="1" hangingPunct="1">
              <a:spcBef>
                <a:spcPct val="0"/>
              </a:spcBef>
              <a:buClrTx/>
              <a:buSzTx/>
              <a:buFontTx/>
              <a:buNone/>
            </a:pPr>
            <a:r>
              <a:rPr lang="en-US" altLang="zh-CN" sz="3200">
                <a:solidFill>
                  <a:srgbClr val="0070C0"/>
                </a:solidFill>
                <a:latin typeface="Times New Roman" panose="02020603050405020304" pitchFamily="18" charset="0"/>
                <a:ea typeface="宋体" panose="02010600030101010101" pitchFamily="2" charset="-122"/>
                <a:cs typeface="Times New Roman" panose="02020603050405020304" pitchFamily="18" charset="0"/>
              </a:rPr>
              <a:t>AN AGILE, ITERATIVE APPROACH</a:t>
            </a:r>
          </a:p>
        </p:txBody>
      </p:sp>
      <p:sp>
        <p:nvSpPr>
          <p:cNvPr id="7" name="Rectangle 6">
            <a:extLst>
              <a:ext uri="{FF2B5EF4-FFF2-40B4-BE49-F238E27FC236}">
                <a16:creationId xmlns:a16="http://schemas.microsoft.com/office/drawing/2014/main" id="{DE03A8B8-603F-497F-A200-9B23723EFCA1}"/>
              </a:ext>
            </a:extLst>
          </p:cNvPr>
          <p:cNvSpPr/>
          <p:nvPr/>
        </p:nvSpPr>
        <p:spPr>
          <a:xfrm>
            <a:off x="0" y="3048000"/>
            <a:ext cx="9144000" cy="3810000"/>
          </a:xfrm>
          <a:prstGeom prst="rect">
            <a:avLst/>
          </a:prstGeom>
          <a:solidFill>
            <a:srgbClr val="000066"/>
          </a:solidFill>
          <a:ln>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en-US" altLang="zh-CN">
              <a:solidFill>
                <a:srgbClr val="0033CC"/>
              </a:solidFill>
              <a:ea typeface="宋体" panose="02010600030101010101" pitchFamily="2" charset="-122"/>
            </a:endParaRPr>
          </a:p>
        </p:txBody>
      </p:sp>
      <p:sp>
        <p:nvSpPr>
          <p:cNvPr id="4103" name="TextBox 9">
            <a:extLst>
              <a:ext uri="{FF2B5EF4-FFF2-40B4-BE49-F238E27FC236}">
                <a16:creationId xmlns:a16="http://schemas.microsoft.com/office/drawing/2014/main" id="{59558A53-869D-4429-835E-4010C932D948}"/>
              </a:ext>
            </a:extLst>
          </p:cNvPr>
          <p:cNvSpPr txBox="1">
            <a:spLocks noChangeArrowheads="1"/>
          </p:cNvSpPr>
          <p:nvPr/>
        </p:nvSpPr>
        <p:spPr bwMode="auto">
          <a:xfrm>
            <a:off x="3886200" y="3276600"/>
            <a:ext cx="5105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zh-CN" sz="2400">
                <a:solidFill>
                  <a:schemeClr val="bg1"/>
                </a:solidFill>
                <a:ea typeface="宋体" panose="02010600030101010101" pitchFamily="2" charset="-122"/>
              </a:rPr>
              <a:t>SATZINGER | JACKSON | BURD</a:t>
            </a:r>
          </a:p>
        </p:txBody>
      </p:sp>
      <p:sp>
        <p:nvSpPr>
          <p:cNvPr id="4104" name="Text Box 3">
            <a:extLst>
              <a:ext uri="{FF2B5EF4-FFF2-40B4-BE49-F238E27FC236}">
                <a16:creationId xmlns:a16="http://schemas.microsoft.com/office/drawing/2014/main" id="{4C2624BE-D5FE-47D4-B321-7CF4F678DD26}"/>
              </a:ext>
            </a:extLst>
          </p:cNvPr>
          <p:cNvSpPr txBox="1">
            <a:spLocks noChangeArrowheads="1"/>
          </p:cNvSpPr>
          <p:nvPr/>
        </p:nvSpPr>
        <p:spPr bwMode="auto">
          <a:xfrm>
            <a:off x="762000" y="4038600"/>
            <a:ext cx="7086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zh-CN" sz="4000">
                <a:solidFill>
                  <a:schemeClr val="bg1"/>
                </a:solidFill>
                <a:ea typeface="宋体" panose="02010600030101010101" pitchFamily="2" charset="-122"/>
              </a:rPr>
              <a:t>Chapter 10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7598AF75-6778-46C8-8708-6BCB6322F052}"/>
              </a:ext>
            </a:extLst>
          </p:cNvPr>
          <p:cNvSpPr>
            <a:spLocks noGrp="1" noChangeArrowheads="1"/>
          </p:cNvSpPr>
          <p:nvPr>
            <p:ph type="ctrTitle"/>
          </p:nvPr>
        </p:nvSpPr>
        <p:spPr>
          <a:xfrm>
            <a:off x="685800" y="609600"/>
            <a:ext cx="6411913" cy="1143000"/>
          </a:xfrm>
        </p:spPr>
        <p:txBody>
          <a:bodyPr/>
          <a:lstStyle/>
          <a:p>
            <a:pPr algn="l" eaLnBrk="1" hangingPunct="1"/>
            <a:r>
              <a:rPr lang="en-US" altLang="zh-CN" sz="3600">
                <a:ea typeface="宋体" panose="02010600030101010101" pitchFamily="2" charset="-122"/>
              </a:rPr>
              <a:t>Object-Oriented Design: Principles</a:t>
            </a:r>
          </a:p>
        </p:txBody>
      </p:sp>
      <p:sp>
        <p:nvSpPr>
          <p:cNvPr id="5123" name="Rectangle 4">
            <a:extLst>
              <a:ext uri="{FF2B5EF4-FFF2-40B4-BE49-F238E27FC236}">
                <a16:creationId xmlns:a16="http://schemas.microsoft.com/office/drawing/2014/main" id="{745DA8C0-876C-4115-9CB9-FF35B6044BE2}"/>
              </a:ext>
            </a:extLst>
          </p:cNvPr>
          <p:cNvSpPr>
            <a:spLocks noChangeArrowheads="1"/>
          </p:cNvSpPr>
          <p:nvPr/>
        </p:nvSpPr>
        <p:spPr bwMode="auto">
          <a:xfrm>
            <a:off x="381000" y="1828800"/>
            <a:ext cx="67818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br>
              <a:rPr lang="en-US" altLang="zh-CN" sz="2000" b="1">
                <a:solidFill>
                  <a:schemeClr val="tx2"/>
                </a:solidFill>
                <a:ea typeface="宋体" panose="02010600030101010101" pitchFamily="2" charset="-122"/>
              </a:rPr>
            </a:br>
            <a:r>
              <a:rPr lang="en-US" altLang="zh-CN" sz="4000" b="1">
                <a:solidFill>
                  <a:schemeClr val="tx2"/>
                </a:solidFill>
                <a:ea typeface="宋体" panose="02010600030101010101" pitchFamily="2" charset="-122"/>
              </a:rPr>
              <a:t>Chapter 10</a:t>
            </a:r>
          </a:p>
        </p:txBody>
      </p:sp>
      <p:sp>
        <p:nvSpPr>
          <p:cNvPr id="5124" name="Rectangle 3">
            <a:extLst>
              <a:ext uri="{FF2B5EF4-FFF2-40B4-BE49-F238E27FC236}">
                <a16:creationId xmlns:a16="http://schemas.microsoft.com/office/drawing/2014/main" id="{D7100380-090E-4FD6-B39D-F0EF093BDE18}"/>
              </a:ext>
            </a:extLst>
          </p:cNvPr>
          <p:cNvSpPr>
            <a:spLocks noGrp="1" noChangeArrowheads="1"/>
          </p:cNvSpPr>
          <p:nvPr>
            <p:ph type="subTitle" idx="1"/>
          </p:nvPr>
        </p:nvSpPr>
        <p:spPr/>
        <p:txBody>
          <a:bodyPr/>
          <a:lstStyle/>
          <a:p>
            <a:pPr eaLnBrk="1" hangingPunct="1">
              <a:lnSpc>
                <a:spcPct val="80000"/>
              </a:lnSpc>
            </a:pPr>
            <a:r>
              <a:rPr lang="en-US" altLang="zh-CN" sz="2400">
                <a:ea typeface="宋体" panose="02010600030101010101" pitchFamily="2" charset="-122"/>
              </a:rPr>
              <a:t>Introduction to Systems </a:t>
            </a:r>
          </a:p>
          <a:p>
            <a:pPr eaLnBrk="1" hangingPunct="1">
              <a:lnSpc>
                <a:spcPct val="80000"/>
              </a:lnSpc>
            </a:pPr>
            <a:r>
              <a:rPr lang="en-US" altLang="zh-CN" sz="2400">
                <a:ea typeface="宋体" panose="02010600030101010101" pitchFamily="2" charset="-122"/>
              </a:rPr>
              <a:t>Analysis and Design: </a:t>
            </a:r>
          </a:p>
          <a:p>
            <a:pPr eaLnBrk="1" hangingPunct="1">
              <a:lnSpc>
                <a:spcPct val="80000"/>
              </a:lnSpc>
            </a:pPr>
            <a:r>
              <a:rPr lang="en-US" altLang="zh-CN" sz="2400">
                <a:ea typeface="宋体" panose="02010600030101010101" pitchFamily="2" charset="-122"/>
              </a:rPr>
              <a:t>An Agile, Iteractive Approach </a:t>
            </a:r>
          </a:p>
          <a:p>
            <a:pPr eaLnBrk="1" hangingPunct="1">
              <a:lnSpc>
                <a:spcPct val="80000"/>
              </a:lnSpc>
            </a:pPr>
            <a:r>
              <a:rPr lang="en-US" altLang="zh-CN" sz="2400">
                <a:ea typeface="宋体" panose="02010600030101010101" pitchFamily="2" charset="-122"/>
              </a:rPr>
              <a:t>6</a:t>
            </a:r>
            <a:r>
              <a:rPr lang="en-US" altLang="zh-CN" sz="2400" baseline="30000">
                <a:ea typeface="宋体" panose="02010600030101010101" pitchFamily="2" charset="-122"/>
              </a:rPr>
              <a:t>th</a:t>
            </a:r>
            <a:r>
              <a:rPr lang="en-US" altLang="zh-CN" sz="2400">
                <a:ea typeface="宋体" panose="02010600030101010101" pitchFamily="2" charset="-122"/>
              </a:rPr>
              <a:t> Ed</a:t>
            </a:r>
          </a:p>
          <a:p>
            <a:pPr eaLnBrk="1" hangingPunct="1">
              <a:lnSpc>
                <a:spcPct val="80000"/>
              </a:lnSpc>
            </a:pPr>
            <a:endParaRPr lang="en-US" altLang="zh-CN" sz="2400">
              <a:ea typeface="宋体" panose="02010600030101010101" pitchFamily="2" charset="-122"/>
            </a:endParaRPr>
          </a:p>
          <a:p>
            <a:pPr eaLnBrk="1" hangingPunct="1">
              <a:lnSpc>
                <a:spcPct val="80000"/>
              </a:lnSpc>
            </a:pPr>
            <a:r>
              <a:rPr lang="en-US" altLang="zh-CN" sz="2400">
                <a:ea typeface="宋体" panose="02010600030101010101" pitchFamily="2" charset="-122"/>
              </a:rPr>
              <a:t>Satzinger, Jackson &amp; Burd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a:extLst>
              <a:ext uri="{FF2B5EF4-FFF2-40B4-BE49-F238E27FC236}">
                <a16:creationId xmlns:a16="http://schemas.microsoft.com/office/drawing/2014/main" id="{12651A9C-9782-4390-8414-09148CCCB46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00EF5DD9-6EAF-4E79-B47E-18D4DDF66BAB}" type="slidenum">
              <a:rPr lang="en-US" altLang="en-US" sz="1000"/>
              <a:pPr>
                <a:spcBef>
                  <a:spcPct val="0"/>
                </a:spcBef>
                <a:buClrTx/>
                <a:buSzTx/>
                <a:buFontTx/>
                <a:buNone/>
              </a:pPr>
              <a:t>3</a:t>
            </a:fld>
            <a:endParaRPr lang="en-US" altLang="en-US" sz="1000"/>
          </a:p>
        </p:txBody>
      </p:sp>
      <p:sp>
        <p:nvSpPr>
          <p:cNvPr id="8195" name="Rectangle 2">
            <a:extLst>
              <a:ext uri="{FF2B5EF4-FFF2-40B4-BE49-F238E27FC236}">
                <a16:creationId xmlns:a16="http://schemas.microsoft.com/office/drawing/2014/main" id="{19933FCB-7CED-4518-B74A-F3D517C5A383}"/>
              </a:ext>
            </a:extLst>
          </p:cNvPr>
          <p:cNvSpPr>
            <a:spLocks noGrp="1" noChangeArrowheads="1"/>
          </p:cNvSpPr>
          <p:nvPr>
            <p:ph type="title"/>
          </p:nvPr>
        </p:nvSpPr>
        <p:spPr>
          <a:xfrm>
            <a:off x="457200" y="122238"/>
            <a:ext cx="7543800" cy="1096962"/>
          </a:xfrm>
        </p:spPr>
        <p:txBody>
          <a:bodyPr/>
          <a:lstStyle/>
          <a:p>
            <a:pPr eaLnBrk="1" hangingPunct="1"/>
            <a:r>
              <a:rPr lang="en-US" altLang="zh-CN">
                <a:ea typeface="宋体" panose="02010600030101010101" pitchFamily="2" charset="-122"/>
              </a:rPr>
              <a:t>Chapter 10 Outline</a:t>
            </a:r>
          </a:p>
        </p:txBody>
      </p:sp>
      <p:sp>
        <p:nvSpPr>
          <p:cNvPr id="8196" name="Rectangle 3">
            <a:extLst>
              <a:ext uri="{FF2B5EF4-FFF2-40B4-BE49-F238E27FC236}">
                <a16:creationId xmlns:a16="http://schemas.microsoft.com/office/drawing/2014/main" id="{99359615-6E02-4FAA-BA04-3B3864BFDA39}"/>
              </a:ext>
            </a:extLst>
          </p:cNvPr>
          <p:cNvSpPr>
            <a:spLocks noGrp="1" noChangeArrowheads="1"/>
          </p:cNvSpPr>
          <p:nvPr>
            <p:ph type="body" idx="1"/>
          </p:nvPr>
        </p:nvSpPr>
        <p:spPr>
          <a:xfrm>
            <a:off x="457200" y="1752600"/>
            <a:ext cx="8229600" cy="4411663"/>
          </a:xfrm>
        </p:spPr>
        <p:txBody>
          <a:bodyPr/>
          <a:lstStyle/>
          <a:p>
            <a:pPr eaLnBrk="1" hangingPunct="1"/>
            <a:endParaRPr lang="en-US" altLang="zh-CN" sz="3200">
              <a:ea typeface="宋体" panose="02010600030101010101" pitchFamily="2" charset="-122"/>
            </a:endParaRPr>
          </a:p>
          <a:p>
            <a:pPr eaLnBrk="1" hangingPunct="1"/>
            <a:endParaRPr lang="en-US" altLang="zh-CN" sz="3200">
              <a:ea typeface="宋体" panose="02010600030101010101" pitchFamily="2" charset="-122"/>
            </a:endParaRPr>
          </a:p>
        </p:txBody>
      </p:sp>
      <p:sp>
        <p:nvSpPr>
          <p:cNvPr id="8197" name="Rectangle 4">
            <a:extLst>
              <a:ext uri="{FF2B5EF4-FFF2-40B4-BE49-F238E27FC236}">
                <a16:creationId xmlns:a16="http://schemas.microsoft.com/office/drawing/2014/main" id="{1A459FC4-306D-4676-B8FC-1F8CD2C3D32F}"/>
              </a:ext>
            </a:extLst>
          </p:cNvPr>
          <p:cNvSpPr>
            <a:spLocks noChangeArrowheads="1"/>
          </p:cNvSpPr>
          <p:nvPr/>
        </p:nvSpPr>
        <p:spPr bwMode="auto">
          <a:xfrm>
            <a:off x="304800" y="1371600"/>
            <a:ext cx="86868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r>
              <a:rPr lang="en-GB" altLang="zh-CN" sz="2400" dirty="0">
                <a:ea typeface="宋体" panose="02010600030101010101" pitchFamily="2" charset="-122"/>
              </a:rPr>
              <a:t>Object-Oriented Design: Bridging from Analysis to Implementation</a:t>
            </a:r>
            <a:r>
              <a:rPr lang="zh-CN" altLang="en-US" sz="2400" dirty="0">
                <a:ea typeface="宋体" panose="02010600030101010101" pitchFamily="2" charset="-122"/>
              </a:rPr>
              <a:t>（面向对象设计：分析与实施的桥梁）</a:t>
            </a:r>
            <a:endParaRPr lang="en-GB" altLang="zh-CN" sz="2400" dirty="0">
              <a:ea typeface="宋体" panose="02010600030101010101" pitchFamily="2" charset="-122"/>
            </a:endParaRPr>
          </a:p>
          <a:p>
            <a:pPr eaLnBrk="1" hangingPunct="1"/>
            <a:r>
              <a:rPr lang="en-GB" altLang="zh-CN" sz="2400" dirty="0">
                <a:ea typeface="宋体" panose="02010600030101010101" pitchFamily="2" charset="-122"/>
              </a:rPr>
              <a:t>Object-Oriented Architectural Design</a:t>
            </a:r>
            <a:r>
              <a:rPr lang="zh-CN" altLang="en-US" sz="2400" dirty="0">
                <a:ea typeface="宋体" panose="02010600030101010101" pitchFamily="2" charset="-122"/>
              </a:rPr>
              <a:t>（面向对象结构化设计）</a:t>
            </a:r>
            <a:endParaRPr lang="en-GB" altLang="zh-CN" sz="2400" dirty="0">
              <a:ea typeface="宋体" panose="02010600030101010101" pitchFamily="2" charset="-122"/>
            </a:endParaRPr>
          </a:p>
          <a:p>
            <a:pPr eaLnBrk="1" hangingPunct="1"/>
            <a:r>
              <a:rPr lang="en-GB" altLang="zh-CN" sz="2400" dirty="0">
                <a:ea typeface="宋体" panose="02010600030101010101" pitchFamily="2" charset="-122"/>
              </a:rPr>
              <a:t>Fundamental Principles of Object-Oriented Detailed Design</a:t>
            </a:r>
            <a:r>
              <a:rPr lang="zh-CN" altLang="en-US" sz="2400" dirty="0">
                <a:ea typeface="宋体" panose="02010600030101010101" pitchFamily="2" charset="-122"/>
              </a:rPr>
              <a:t>（面向对象细节设计的基本原则）</a:t>
            </a:r>
            <a:endParaRPr lang="en-GB" altLang="zh-CN" sz="2400" dirty="0">
              <a:ea typeface="宋体" panose="02010600030101010101" pitchFamily="2" charset="-122"/>
            </a:endParaRPr>
          </a:p>
          <a:p>
            <a:pPr eaLnBrk="1" hangingPunct="1"/>
            <a:r>
              <a:rPr lang="en-GB" altLang="zh-CN" sz="2400" dirty="0">
                <a:ea typeface="宋体" panose="02010600030101010101" pitchFamily="2" charset="-122"/>
              </a:rPr>
              <a:t>Design Classes and the Design Class Diagram</a:t>
            </a:r>
            <a:r>
              <a:rPr lang="zh-CN" altLang="en-US" sz="2400" dirty="0">
                <a:ea typeface="宋体" panose="02010600030101010101" pitchFamily="2" charset="-122"/>
              </a:rPr>
              <a:t>（类和设计类图）</a:t>
            </a:r>
            <a:endParaRPr lang="en-GB" altLang="zh-CN" sz="2400" dirty="0">
              <a:ea typeface="宋体" panose="02010600030101010101" pitchFamily="2" charset="-122"/>
            </a:endParaRPr>
          </a:p>
          <a:p>
            <a:pPr eaLnBrk="1" hangingPunct="1"/>
            <a:r>
              <a:rPr lang="en-GB" altLang="zh-CN" sz="2400" dirty="0">
                <a:ea typeface="宋体" panose="02010600030101010101" pitchFamily="2" charset="-122"/>
              </a:rPr>
              <a:t>Detailed Design with CRC Cards</a:t>
            </a:r>
            <a:r>
              <a:rPr lang="zh-CN" altLang="en-US" sz="2400" dirty="0">
                <a:ea typeface="宋体" panose="02010600030101010101" pitchFamily="2" charset="-122"/>
              </a:rPr>
              <a:t>（用</a:t>
            </a:r>
            <a:r>
              <a:rPr lang="en-US" altLang="zh-CN" sz="2400" dirty="0">
                <a:ea typeface="宋体" panose="02010600030101010101" pitchFamily="2" charset="-122"/>
              </a:rPr>
              <a:t>CRC</a:t>
            </a:r>
            <a:r>
              <a:rPr lang="zh-CN" altLang="en-US" sz="2400" dirty="0">
                <a:ea typeface="宋体" panose="02010600030101010101" pitchFamily="2" charset="-122"/>
              </a:rPr>
              <a:t>卡进行细节设计）</a:t>
            </a:r>
            <a:endParaRPr lang="en-GB" altLang="zh-CN" sz="2400" dirty="0">
              <a:ea typeface="宋体" panose="02010600030101010101" pitchFamily="2" charset="-122"/>
            </a:endParaRPr>
          </a:p>
          <a:p>
            <a:pPr eaLnBrk="1" hangingPunct="1"/>
            <a:r>
              <a:rPr lang="en-GB" altLang="zh-CN" sz="2400" dirty="0">
                <a:ea typeface="宋体" panose="02010600030101010101" pitchFamily="2" charset="-122"/>
              </a:rPr>
              <a:t>Fundamental Detailed Design Principles</a:t>
            </a:r>
            <a:r>
              <a:rPr lang="zh-CN" altLang="en-US" sz="2400" dirty="0">
                <a:ea typeface="宋体" panose="02010600030101010101" pitchFamily="2" charset="-122"/>
              </a:rPr>
              <a:t>（细节设计的基本原则）</a:t>
            </a:r>
            <a:endParaRPr lang="en-GB" altLang="zh-CN" sz="2400" dirty="0">
              <a:ea typeface="宋体" panose="02010600030101010101" pitchFamily="2" charset="-122"/>
            </a:endParaRPr>
          </a:p>
        </p:txBody>
      </p:sp>
      <p:sp>
        <p:nvSpPr>
          <p:cNvPr id="8198" name="Footer Placeholder 4">
            <a:extLst>
              <a:ext uri="{FF2B5EF4-FFF2-40B4-BE49-F238E27FC236}">
                <a16:creationId xmlns:a16="http://schemas.microsoft.com/office/drawing/2014/main" id="{7B56DDD1-CA9F-4839-B616-D15016222DA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8199" name="Rectangle 4">
            <a:extLst>
              <a:ext uri="{FF2B5EF4-FFF2-40B4-BE49-F238E27FC236}">
                <a16:creationId xmlns:a16="http://schemas.microsoft.com/office/drawing/2014/main" id="{A62A238B-1078-4DB3-8358-CE7B062A8BC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5">
            <a:extLst>
              <a:ext uri="{FF2B5EF4-FFF2-40B4-BE49-F238E27FC236}">
                <a16:creationId xmlns:a16="http://schemas.microsoft.com/office/drawing/2014/main" id="{636AFC28-1FEA-412E-8BC3-20EA6D5AEEE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9F674668-8366-469A-B6F4-CD03C37641B0}" type="slidenum">
              <a:rPr lang="en-US" altLang="en-US" sz="1000"/>
              <a:pPr>
                <a:spcBef>
                  <a:spcPct val="0"/>
                </a:spcBef>
                <a:buClrTx/>
                <a:buSzTx/>
                <a:buFontTx/>
                <a:buNone/>
              </a:pPr>
              <a:t>4</a:t>
            </a:fld>
            <a:endParaRPr lang="en-US" altLang="en-US" sz="1000"/>
          </a:p>
        </p:txBody>
      </p:sp>
      <p:sp>
        <p:nvSpPr>
          <p:cNvPr id="10243" name="Rectangle 2">
            <a:extLst>
              <a:ext uri="{FF2B5EF4-FFF2-40B4-BE49-F238E27FC236}">
                <a16:creationId xmlns:a16="http://schemas.microsoft.com/office/drawing/2014/main" id="{710B9FC4-6D14-4F4D-B046-6868E1A2B023}"/>
              </a:ext>
            </a:extLst>
          </p:cNvPr>
          <p:cNvSpPr>
            <a:spLocks noGrp="1" noChangeArrowheads="1"/>
          </p:cNvSpPr>
          <p:nvPr>
            <p:ph type="title"/>
          </p:nvPr>
        </p:nvSpPr>
        <p:spPr>
          <a:xfrm>
            <a:off x="457200" y="122238"/>
            <a:ext cx="7543800" cy="792162"/>
          </a:xfrm>
        </p:spPr>
        <p:txBody>
          <a:bodyPr/>
          <a:lstStyle/>
          <a:p>
            <a:pPr eaLnBrk="1" hangingPunct="1"/>
            <a:r>
              <a:rPr lang="en-US" altLang="zh-CN">
                <a:ea typeface="宋体" panose="02010600030101010101" pitchFamily="2" charset="-122"/>
              </a:rPr>
              <a:t>Learning Objectives</a:t>
            </a:r>
          </a:p>
        </p:txBody>
      </p:sp>
      <p:sp>
        <p:nvSpPr>
          <p:cNvPr id="10244" name="Rectangle 5">
            <a:extLst>
              <a:ext uri="{FF2B5EF4-FFF2-40B4-BE49-F238E27FC236}">
                <a16:creationId xmlns:a16="http://schemas.microsoft.com/office/drawing/2014/main" id="{98E5D46A-4E0A-4663-8185-875376F5ABC6}"/>
              </a:ext>
            </a:extLst>
          </p:cNvPr>
          <p:cNvSpPr>
            <a:spLocks noChangeArrowheads="1"/>
          </p:cNvSpPr>
          <p:nvPr/>
        </p:nvSpPr>
        <p:spPr bwMode="auto">
          <a:xfrm>
            <a:off x="152400" y="1295400"/>
            <a:ext cx="86106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r>
              <a:rPr lang="en-US" altLang="zh-CN" dirty="0">
                <a:ea typeface="宋体" panose="02010600030101010101" pitchFamily="2" charset="-122"/>
              </a:rPr>
              <a:t>Explain the purpose and objectives of object-oriented design</a:t>
            </a:r>
            <a:r>
              <a:rPr lang="zh-CN" altLang="en-US" dirty="0">
                <a:ea typeface="宋体" panose="02010600030101010101" pitchFamily="2" charset="-122"/>
              </a:rPr>
              <a:t>（面向对象设计的目的和目标）</a:t>
            </a:r>
            <a:endParaRPr lang="en-US" altLang="zh-CN" dirty="0">
              <a:ea typeface="宋体" panose="02010600030101010101" pitchFamily="2" charset="-122"/>
            </a:endParaRPr>
          </a:p>
          <a:p>
            <a:pPr eaLnBrk="1" hangingPunct="1"/>
            <a:r>
              <a:rPr lang="en-US" altLang="zh-CN" dirty="0">
                <a:ea typeface="宋体" panose="02010600030101010101" pitchFamily="2" charset="-122"/>
              </a:rPr>
              <a:t>Develop UML component diagrams</a:t>
            </a:r>
            <a:r>
              <a:rPr lang="zh-CN" altLang="en-US" dirty="0">
                <a:ea typeface="宋体" panose="02010600030101010101" pitchFamily="2" charset="-122"/>
              </a:rPr>
              <a:t>（开发</a:t>
            </a:r>
            <a:r>
              <a:rPr lang="en-US" altLang="zh-CN" dirty="0">
                <a:ea typeface="宋体" panose="02010600030101010101" pitchFamily="2" charset="-122"/>
              </a:rPr>
              <a:t>UML</a:t>
            </a:r>
            <a:r>
              <a:rPr lang="zh-CN" altLang="en-US" dirty="0">
                <a:ea typeface="宋体" panose="02010600030101010101" pitchFamily="2" charset="-122"/>
              </a:rPr>
              <a:t>组件图）</a:t>
            </a:r>
            <a:endParaRPr lang="en-US" altLang="zh-CN" dirty="0">
              <a:ea typeface="宋体" panose="02010600030101010101" pitchFamily="2" charset="-122"/>
            </a:endParaRPr>
          </a:p>
          <a:p>
            <a:pPr eaLnBrk="1" hangingPunct="1"/>
            <a:r>
              <a:rPr lang="en-US" altLang="zh-CN" dirty="0">
                <a:ea typeface="宋体" panose="02010600030101010101" pitchFamily="2" charset="-122"/>
              </a:rPr>
              <a:t>Develop design class diagrams</a:t>
            </a:r>
            <a:r>
              <a:rPr lang="zh-CN" altLang="en-US" dirty="0">
                <a:ea typeface="宋体" panose="02010600030101010101" pitchFamily="2" charset="-122"/>
              </a:rPr>
              <a:t>（开发设计类图）</a:t>
            </a:r>
            <a:endParaRPr lang="en-US" altLang="zh-CN" dirty="0">
              <a:ea typeface="宋体" panose="02010600030101010101" pitchFamily="2" charset="-122"/>
            </a:endParaRPr>
          </a:p>
          <a:p>
            <a:pPr eaLnBrk="1" hangingPunct="1"/>
            <a:r>
              <a:rPr lang="en-US" altLang="zh-CN" dirty="0">
                <a:ea typeface="宋体" panose="02010600030101010101" pitchFamily="2" charset="-122"/>
              </a:rPr>
              <a:t>Use CRC cards to define class responsibilities and collaborations</a:t>
            </a:r>
            <a:r>
              <a:rPr lang="zh-CN" altLang="en-US" dirty="0">
                <a:ea typeface="宋体" panose="02010600030101010101" pitchFamily="2" charset="-122"/>
              </a:rPr>
              <a:t>（使用</a:t>
            </a:r>
            <a:r>
              <a:rPr lang="en-US" altLang="zh-CN" dirty="0">
                <a:ea typeface="宋体" panose="02010600030101010101" pitchFamily="2" charset="-122"/>
              </a:rPr>
              <a:t>CRC</a:t>
            </a:r>
            <a:r>
              <a:rPr lang="zh-CN" altLang="en-US" dirty="0">
                <a:ea typeface="宋体" panose="02010600030101010101" pitchFamily="2" charset="-122"/>
              </a:rPr>
              <a:t>卡来定义类的职责和合作关联）</a:t>
            </a:r>
            <a:endParaRPr lang="en-US" altLang="zh-CN" dirty="0">
              <a:ea typeface="宋体" panose="02010600030101010101" pitchFamily="2" charset="-122"/>
            </a:endParaRPr>
          </a:p>
          <a:p>
            <a:pPr eaLnBrk="1" hangingPunct="1"/>
            <a:r>
              <a:rPr lang="en-US" altLang="zh-CN" dirty="0">
                <a:ea typeface="宋体" panose="02010600030101010101" pitchFamily="2" charset="-122"/>
              </a:rPr>
              <a:t>Explain some of the fundamental principles of object-oriented design</a:t>
            </a:r>
            <a:r>
              <a:rPr lang="zh-CN" altLang="en-US" dirty="0">
                <a:ea typeface="宋体" panose="02010600030101010101" pitchFamily="2" charset="-122"/>
              </a:rPr>
              <a:t>（面向对象设计的基本原则）</a:t>
            </a:r>
            <a:endParaRPr lang="en-GB" altLang="zh-CN" dirty="0">
              <a:ea typeface="宋体" panose="02010600030101010101" pitchFamily="2" charset="-122"/>
            </a:endParaRPr>
          </a:p>
        </p:txBody>
      </p:sp>
      <p:sp>
        <p:nvSpPr>
          <p:cNvPr id="10245" name="Footer Placeholder 4">
            <a:extLst>
              <a:ext uri="{FF2B5EF4-FFF2-40B4-BE49-F238E27FC236}">
                <a16:creationId xmlns:a16="http://schemas.microsoft.com/office/drawing/2014/main" id="{43CAF8CF-E518-4B7A-BC4D-BD30CD75A1E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10246" name="Rectangle 4">
            <a:extLst>
              <a:ext uri="{FF2B5EF4-FFF2-40B4-BE49-F238E27FC236}">
                <a16:creationId xmlns:a16="http://schemas.microsoft.com/office/drawing/2014/main" id="{1479350E-F7B2-4F3C-85F6-A2319B18FCBE}"/>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5">
            <a:extLst>
              <a:ext uri="{FF2B5EF4-FFF2-40B4-BE49-F238E27FC236}">
                <a16:creationId xmlns:a16="http://schemas.microsoft.com/office/drawing/2014/main" id="{5A523431-CFD6-428A-94F2-968ACDAC35A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DEA0A640-131E-4477-8080-34DF8FCB9C67}" type="slidenum">
              <a:rPr lang="en-US" altLang="en-US" sz="1000"/>
              <a:pPr>
                <a:spcBef>
                  <a:spcPct val="0"/>
                </a:spcBef>
                <a:buClrTx/>
                <a:buSzTx/>
                <a:buFontTx/>
                <a:buNone/>
              </a:pPr>
              <a:t>5</a:t>
            </a:fld>
            <a:endParaRPr lang="en-US" altLang="en-US" sz="1000"/>
          </a:p>
        </p:txBody>
      </p:sp>
      <p:sp>
        <p:nvSpPr>
          <p:cNvPr id="11267" name="Rectangle 2">
            <a:extLst>
              <a:ext uri="{FF2B5EF4-FFF2-40B4-BE49-F238E27FC236}">
                <a16:creationId xmlns:a16="http://schemas.microsoft.com/office/drawing/2014/main" id="{099E6875-61A4-482D-A7DD-39AD591696F8}"/>
              </a:ext>
            </a:extLst>
          </p:cNvPr>
          <p:cNvSpPr>
            <a:spLocks noGrp="1" noChangeArrowheads="1"/>
          </p:cNvSpPr>
          <p:nvPr>
            <p:ph type="title"/>
          </p:nvPr>
        </p:nvSpPr>
        <p:spPr>
          <a:xfrm>
            <a:off x="457200" y="122238"/>
            <a:ext cx="7543800" cy="715962"/>
          </a:xfrm>
        </p:spPr>
        <p:txBody>
          <a:bodyPr/>
          <a:lstStyle/>
          <a:p>
            <a:pPr eaLnBrk="1" hangingPunct="1"/>
            <a:r>
              <a:rPr lang="en-US" altLang="zh-CN">
                <a:ea typeface="宋体" panose="02010600030101010101" pitchFamily="2" charset="-122"/>
              </a:rPr>
              <a:t>Overview</a:t>
            </a:r>
          </a:p>
        </p:txBody>
      </p:sp>
      <p:sp>
        <p:nvSpPr>
          <p:cNvPr id="11268" name="Rectangle 3">
            <a:extLst>
              <a:ext uri="{FF2B5EF4-FFF2-40B4-BE49-F238E27FC236}">
                <a16:creationId xmlns:a16="http://schemas.microsoft.com/office/drawing/2014/main" id="{626519C0-B092-4C50-AFCC-0FFDD3C0C0AE}"/>
              </a:ext>
            </a:extLst>
          </p:cNvPr>
          <p:cNvSpPr>
            <a:spLocks noGrp="1" noChangeArrowheads="1"/>
          </p:cNvSpPr>
          <p:nvPr>
            <p:ph type="body" idx="1"/>
          </p:nvPr>
        </p:nvSpPr>
        <p:spPr>
          <a:xfrm>
            <a:off x="533400" y="1066800"/>
            <a:ext cx="7848600" cy="5105400"/>
          </a:xfrm>
        </p:spPr>
        <p:txBody>
          <a:bodyPr/>
          <a:lstStyle/>
          <a:p>
            <a:pPr eaLnBrk="1" hangingPunct="1">
              <a:lnSpc>
                <a:spcPct val="90000"/>
              </a:lnSpc>
            </a:pPr>
            <a:r>
              <a:rPr lang="en-GB" altLang="zh-CN" sz="2800" dirty="0">
                <a:ea typeface="宋体" panose="02010600030101010101" pitchFamily="2" charset="-122"/>
              </a:rPr>
              <a:t>This chapter and the next focus on </a:t>
            </a:r>
            <a:r>
              <a:rPr lang="en-GB" altLang="zh-CN" sz="2800" u="sng" dirty="0">
                <a:ea typeface="宋体" panose="02010600030101010101" pitchFamily="2" charset="-122"/>
              </a:rPr>
              <a:t>designing software</a:t>
            </a:r>
            <a:r>
              <a:rPr lang="en-GB" altLang="zh-CN" sz="2800" dirty="0">
                <a:ea typeface="宋体" panose="02010600030101010101" pitchFamily="2" charset="-122"/>
              </a:rPr>
              <a:t> for the new system, at both the </a:t>
            </a:r>
            <a:r>
              <a:rPr lang="en-GB" altLang="zh-CN" sz="2800" u="sng" dirty="0">
                <a:ea typeface="宋体" panose="02010600030101010101" pitchFamily="2" charset="-122"/>
              </a:rPr>
              <a:t>architectural</a:t>
            </a:r>
            <a:r>
              <a:rPr lang="zh-CN" altLang="en-US" sz="2800" u="sng" dirty="0">
                <a:ea typeface="宋体" panose="02010600030101010101" pitchFamily="2" charset="-122"/>
              </a:rPr>
              <a:t>（架构设计）</a:t>
            </a:r>
            <a:r>
              <a:rPr lang="en-GB" altLang="zh-CN" sz="2800" u="sng" dirty="0">
                <a:ea typeface="宋体" panose="02010600030101010101" pitchFamily="2" charset="-122"/>
              </a:rPr>
              <a:t> </a:t>
            </a:r>
            <a:r>
              <a:rPr lang="en-GB" altLang="zh-CN" sz="2800" dirty="0">
                <a:ea typeface="宋体" panose="02010600030101010101" pitchFamily="2" charset="-122"/>
              </a:rPr>
              <a:t>and </a:t>
            </a:r>
            <a:r>
              <a:rPr lang="en-GB" altLang="zh-CN" sz="2800" u="sng" dirty="0">
                <a:ea typeface="宋体" panose="02010600030101010101" pitchFamily="2" charset="-122"/>
              </a:rPr>
              <a:t>detailed level design </a:t>
            </a:r>
            <a:r>
              <a:rPr lang="zh-CN" altLang="en-US" sz="2800" u="sng" dirty="0">
                <a:ea typeface="宋体" panose="02010600030101010101" pitchFamily="2" charset="-122"/>
              </a:rPr>
              <a:t>（详细设计）</a:t>
            </a:r>
            <a:endParaRPr lang="en-GB" altLang="zh-CN" sz="2800" u="sng" dirty="0">
              <a:ea typeface="宋体" panose="02010600030101010101" pitchFamily="2" charset="-122"/>
            </a:endParaRPr>
          </a:p>
          <a:p>
            <a:pPr eaLnBrk="1" hangingPunct="1">
              <a:lnSpc>
                <a:spcPct val="90000"/>
              </a:lnSpc>
            </a:pPr>
            <a:r>
              <a:rPr lang="en-GB" altLang="zh-CN" sz="2800" dirty="0">
                <a:ea typeface="宋体" panose="02010600030101010101" pitchFamily="2" charset="-122"/>
              </a:rPr>
              <a:t>For </a:t>
            </a:r>
            <a:r>
              <a:rPr lang="en-GB" altLang="zh-CN" sz="2800" u="sng" dirty="0">
                <a:ea typeface="宋体" panose="02010600030101010101" pitchFamily="2" charset="-122"/>
              </a:rPr>
              <a:t>architectural design</a:t>
            </a:r>
            <a:r>
              <a:rPr lang="zh-CN" altLang="en-US" sz="2800" u="sng" dirty="0">
                <a:ea typeface="宋体" panose="02010600030101010101" pitchFamily="2" charset="-122"/>
              </a:rPr>
              <a:t>（架构设计）</a:t>
            </a:r>
            <a:r>
              <a:rPr lang="en-GB" altLang="zh-CN" sz="2800" dirty="0">
                <a:ea typeface="宋体" panose="02010600030101010101" pitchFamily="2" charset="-122"/>
              </a:rPr>
              <a:t>, the model is shown as a UML component diagram</a:t>
            </a:r>
          </a:p>
          <a:p>
            <a:pPr eaLnBrk="1" hangingPunct="1">
              <a:lnSpc>
                <a:spcPct val="90000"/>
              </a:lnSpc>
            </a:pPr>
            <a:r>
              <a:rPr lang="en-GB" altLang="zh-CN" sz="2800" dirty="0">
                <a:ea typeface="宋体" panose="02010600030101010101" pitchFamily="2" charset="-122"/>
              </a:rPr>
              <a:t>For </a:t>
            </a:r>
            <a:r>
              <a:rPr lang="en-GB" altLang="zh-CN" sz="2800" u="sng" dirty="0">
                <a:ea typeface="宋体" panose="02010600030101010101" pitchFamily="2" charset="-122"/>
              </a:rPr>
              <a:t>detailed design</a:t>
            </a:r>
            <a:r>
              <a:rPr lang="zh-CN" altLang="en-US" sz="2800" u="sng" dirty="0">
                <a:ea typeface="宋体" panose="02010600030101010101" pitchFamily="2" charset="-122"/>
              </a:rPr>
              <a:t>（详细设计）</a:t>
            </a:r>
            <a:r>
              <a:rPr lang="en-GB" altLang="zh-CN" sz="2800" dirty="0">
                <a:ea typeface="宋体" panose="02010600030101010101" pitchFamily="2" charset="-122"/>
              </a:rPr>
              <a:t>, the main models are design class diagrams and sequence diagrams</a:t>
            </a:r>
          </a:p>
          <a:p>
            <a:pPr eaLnBrk="1" hangingPunct="1">
              <a:lnSpc>
                <a:spcPct val="90000"/>
              </a:lnSpc>
            </a:pPr>
            <a:r>
              <a:rPr lang="en-GB" altLang="zh-CN" sz="2800" dirty="0">
                <a:ea typeface="宋体" panose="02010600030101010101" pitchFamily="2" charset="-122"/>
              </a:rPr>
              <a:t>In this chapter, the </a:t>
            </a:r>
            <a:r>
              <a:rPr lang="en-GB" altLang="zh-CN" sz="2800" u="sng" dirty="0">
                <a:ea typeface="宋体" panose="02010600030101010101" pitchFamily="2" charset="-122"/>
              </a:rPr>
              <a:t>CRC Card</a:t>
            </a:r>
            <a:r>
              <a:rPr lang="en-GB" altLang="zh-CN" sz="2800" dirty="0">
                <a:ea typeface="宋体" panose="02010600030101010101" pitchFamily="2" charset="-122"/>
              </a:rPr>
              <a:t>s technique is used to design the OO software</a:t>
            </a:r>
          </a:p>
        </p:txBody>
      </p:sp>
      <p:sp>
        <p:nvSpPr>
          <p:cNvPr id="11269" name="Footer Placeholder 4">
            <a:extLst>
              <a:ext uri="{FF2B5EF4-FFF2-40B4-BE49-F238E27FC236}">
                <a16:creationId xmlns:a16="http://schemas.microsoft.com/office/drawing/2014/main" id="{B108F130-CD3D-4FBB-9D71-C0A063250D9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11270" name="Rectangle 4">
            <a:extLst>
              <a:ext uri="{FF2B5EF4-FFF2-40B4-BE49-F238E27FC236}">
                <a16:creationId xmlns:a16="http://schemas.microsoft.com/office/drawing/2014/main" id="{3CE16DAD-B1BE-42E0-BCC0-EFF5A990DB61}"/>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a:extLst>
              <a:ext uri="{FF2B5EF4-FFF2-40B4-BE49-F238E27FC236}">
                <a16:creationId xmlns:a16="http://schemas.microsoft.com/office/drawing/2014/main" id="{12651A9C-9782-4390-8414-09148CCCB46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00EF5DD9-6EAF-4E79-B47E-18D4DDF66BAB}" type="slidenum">
              <a:rPr lang="en-US" altLang="en-US" sz="1000"/>
              <a:pPr>
                <a:spcBef>
                  <a:spcPct val="0"/>
                </a:spcBef>
                <a:buClrTx/>
                <a:buSzTx/>
                <a:buFontTx/>
                <a:buNone/>
              </a:pPr>
              <a:t>6</a:t>
            </a:fld>
            <a:endParaRPr lang="en-US" altLang="en-US" sz="1000"/>
          </a:p>
        </p:txBody>
      </p:sp>
      <p:sp>
        <p:nvSpPr>
          <p:cNvPr id="8195" name="Rectangle 2">
            <a:extLst>
              <a:ext uri="{FF2B5EF4-FFF2-40B4-BE49-F238E27FC236}">
                <a16:creationId xmlns:a16="http://schemas.microsoft.com/office/drawing/2014/main" id="{19933FCB-7CED-4518-B74A-F3D517C5A383}"/>
              </a:ext>
            </a:extLst>
          </p:cNvPr>
          <p:cNvSpPr>
            <a:spLocks noGrp="1" noChangeArrowheads="1"/>
          </p:cNvSpPr>
          <p:nvPr>
            <p:ph type="title"/>
          </p:nvPr>
        </p:nvSpPr>
        <p:spPr>
          <a:xfrm>
            <a:off x="457200" y="122238"/>
            <a:ext cx="7543800" cy="1096962"/>
          </a:xfrm>
        </p:spPr>
        <p:txBody>
          <a:bodyPr/>
          <a:lstStyle/>
          <a:p>
            <a:pPr eaLnBrk="1" hangingPunct="1"/>
            <a:r>
              <a:rPr lang="en-US" altLang="zh-CN">
                <a:ea typeface="宋体" panose="02010600030101010101" pitchFamily="2" charset="-122"/>
              </a:rPr>
              <a:t>Chapter 10 Outline</a:t>
            </a:r>
          </a:p>
        </p:txBody>
      </p:sp>
      <p:sp>
        <p:nvSpPr>
          <p:cNvPr id="8196" name="Rectangle 3">
            <a:extLst>
              <a:ext uri="{FF2B5EF4-FFF2-40B4-BE49-F238E27FC236}">
                <a16:creationId xmlns:a16="http://schemas.microsoft.com/office/drawing/2014/main" id="{99359615-6E02-4FAA-BA04-3B3864BFDA39}"/>
              </a:ext>
            </a:extLst>
          </p:cNvPr>
          <p:cNvSpPr>
            <a:spLocks noGrp="1" noChangeArrowheads="1"/>
          </p:cNvSpPr>
          <p:nvPr>
            <p:ph type="body" idx="1"/>
          </p:nvPr>
        </p:nvSpPr>
        <p:spPr>
          <a:xfrm>
            <a:off x="457200" y="1752600"/>
            <a:ext cx="8229600" cy="4411663"/>
          </a:xfrm>
        </p:spPr>
        <p:txBody>
          <a:bodyPr/>
          <a:lstStyle/>
          <a:p>
            <a:pPr eaLnBrk="1" hangingPunct="1"/>
            <a:endParaRPr lang="en-US" altLang="zh-CN" sz="3200">
              <a:ea typeface="宋体" panose="02010600030101010101" pitchFamily="2" charset="-122"/>
            </a:endParaRPr>
          </a:p>
          <a:p>
            <a:pPr eaLnBrk="1" hangingPunct="1"/>
            <a:endParaRPr lang="en-US" altLang="zh-CN" sz="3200">
              <a:ea typeface="宋体" panose="02010600030101010101" pitchFamily="2" charset="-122"/>
            </a:endParaRPr>
          </a:p>
        </p:txBody>
      </p:sp>
      <p:sp>
        <p:nvSpPr>
          <p:cNvPr id="8197" name="Rectangle 4">
            <a:extLst>
              <a:ext uri="{FF2B5EF4-FFF2-40B4-BE49-F238E27FC236}">
                <a16:creationId xmlns:a16="http://schemas.microsoft.com/office/drawing/2014/main" id="{1A459FC4-306D-4676-B8FC-1F8CD2C3D32F}"/>
              </a:ext>
            </a:extLst>
          </p:cNvPr>
          <p:cNvSpPr>
            <a:spLocks noChangeArrowheads="1"/>
          </p:cNvSpPr>
          <p:nvPr/>
        </p:nvSpPr>
        <p:spPr bwMode="auto">
          <a:xfrm>
            <a:off x="304800" y="13716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r>
              <a:rPr lang="en-GB" altLang="zh-CN" dirty="0">
                <a:solidFill>
                  <a:srgbClr val="C00000"/>
                </a:solidFill>
                <a:ea typeface="宋体" panose="02010600030101010101" pitchFamily="2" charset="-122"/>
              </a:rPr>
              <a:t>Object-Oriented Design: Bridging from Analysis to Implementation</a:t>
            </a:r>
            <a:r>
              <a:rPr lang="zh-CN" altLang="en-US" dirty="0">
                <a:solidFill>
                  <a:srgbClr val="C00000"/>
                </a:solidFill>
                <a:ea typeface="宋体" panose="02010600030101010101" pitchFamily="2" charset="-122"/>
              </a:rPr>
              <a:t>（面向对象设计：分析与实施的桥梁）</a:t>
            </a:r>
            <a:endParaRPr lang="en-GB" altLang="zh-CN" dirty="0">
              <a:solidFill>
                <a:srgbClr val="C00000"/>
              </a:solidFill>
              <a:ea typeface="宋体" panose="02010600030101010101" pitchFamily="2" charset="-122"/>
            </a:endParaRPr>
          </a:p>
          <a:p>
            <a:pPr eaLnBrk="1" hangingPunct="1"/>
            <a:r>
              <a:rPr lang="en-GB" altLang="zh-CN" dirty="0">
                <a:ea typeface="宋体" panose="02010600030101010101" pitchFamily="2" charset="-122"/>
              </a:rPr>
              <a:t>Object-Oriented Architectural Design</a:t>
            </a:r>
          </a:p>
          <a:p>
            <a:pPr eaLnBrk="1" hangingPunct="1"/>
            <a:r>
              <a:rPr lang="en-GB" altLang="zh-CN" dirty="0">
                <a:ea typeface="宋体" panose="02010600030101010101" pitchFamily="2" charset="-122"/>
              </a:rPr>
              <a:t>Fundamental Principles of Object-Oriented Detailed Design</a:t>
            </a:r>
          </a:p>
          <a:p>
            <a:pPr eaLnBrk="1" hangingPunct="1"/>
            <a:r>
              <a:rPr lang="en-GB" altLang="zh-CN" dirty="0">
                <a:ea typeface="宋体" panose="02010600030101010101" pitchFamily="2" charset="-122"/>
              </a:rPr>
              <a:t>Design Classes and the Design Class Diagram</a:t>
            </a:r>
          </a:p>
          <a:p>
            <a:pPr eaLnBrk="1" hangingPunct="1"/>
            <a:r>
              <a:rPr lang="en-GB" altLang="zh-CN" dirty="0">
                <a:ea typeface="宋体" panose="02010600030101010101" pitchFamily="2" charset="-122"/>
              </a:rPr>
              <a:t>Detailed Design with CRC Cards</a:t>
            </a:r>
          </a:p>
          <a:p>
            <a:pPr eaLnBrk="1" hangingPunct="1"/>
            <a:r>
              <a:rPr lang="en-GB" altLang="zh-CN" dirty="0">
                <a:ea typeface="宋体" panose="02010600030101010101" pitchFamily="2" charset="-122"/>
              </a:rPr>
              <a:t>Fundamental Detailed Design Principles</a:t>
            </a:r>
          </a:p>
        </p:txBody>
      </p:sp>
      <p:sp>
        <p:nvSpPr>
          <p:cNvPr id="8198" name="Footer Placeholder 4">
            <a:extLst>
              <a:ext uri="{FF2B5EF4-FFF2-40B4-BE49-F238E27FC236}">
                <a16:creationId xmlns:a16="http://schemas.microsoft.com/office/drawing/2014/main" id="{7B56DDD1-CA9F-4839-B616-D15016222DA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8199" name="Rectangle 4">
            <a:extLst>
              <a:ext uri="{FF2B5EF4-FFF2-40B4-BE49-F238E27FC236}">
                <a16:creationId xmlns:a16="http://schemas.microsoft.com/office/drawing/2014/main" id="{A62A238B-1078-4DB3-8358-CE7B062A8BC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6111930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5">
            <a:extLst>
              <a:ext uri="{FF2B5EF4-FFF2-40B4-BE49-F238E27FC236}">
                <a16:creationId xmlns:a16="http://schemas.microsoft.com/office/drawing/2014/main" id="{4F4F215D-3914-46D7-9CE3-7DE2450533C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F1E98F0E-56F0-4D9F-B244-4102897360F4}" type="slidenum">
              <a:rPr lang="en-US" altLang="en-US" sz="1000"/>
              <a:pPr>
                <a:spcBef>
                  <a:spcPct val="0"/>
                </a:spcBef>
                <a:buClrTx/>
                <a:buSzTx/>
                <a:buFontTx/>
                <a:buNone/>
              </a:pPr>
              <a:t>7</a:t>
            </a:fld>
            <a:endParaRPr lang="en-US" altLang="en-US" sz="1000"/>
          </a:p>
        </p:txBody>
      </p:sp>
      <p:sp>
        <p:nvSpPr>
          <p:cNvPr id="12291" name="Rectangle 2">
            <a:extLst>
              <a:ext uri="{FF2B5EF4-FFF2-40B4-BE49-F238E27FC236}">
                <a16:creationId xmlns:a16="http://schemas.microsoft.com/office/drawing/2014/main" id="{6C12DE5A-5AB3-4226-8613-973F13ED9E82}"/>
              </a:ext>
            </a:extLst>
          </p:cNvPr>
          <p:cNvSpPr>
            <a:spLocks noGrp="1" noChangeArrowheads="1"/>
          </p:cNvSpPr>
          <p:nvPr>
            <p:ph type="title"/>
          </p:nvPr>
        </p:nvSpPr>
        <p:spPr>
          <a:xfrm>
            <a:off x="304800" y="122238"/>
            <a:ext cx="7696200" cy="1173162"/>
          </a:xfrm>
        </p:spPr>
        <p:txBody>
          <a:bodyPr/>
          <a:lstStyle/>
          <a:p>
            <a:pPr eaLnBrk="1" hangingPunct="1"/>
            <a:r>
              <a:rPr lang="en-US" altLang="zh-CN" sz="3600" dirty="0">
                <a:ea typeface="宋体" panose="02010600030101010101" pitchFamily="2" charset="-122"/>
              </a:rPr>
              <a:t>OO Design: </a:t>
            </a:r>
            <a:br>
              <a:rPr lang="en-US" altLang="zh-CN" sz="3600" dirty="0">
                <a:ea typeface="宋体" panose="02010600030101010101" pitchFamily="2" charset="-122"/>
              </a:rPr>
            </a:br>
            <a:r>
              <a:rPr lang="en-US" altLang="zh-CN" sz="2800" dirty="0">
                <a:ea typeface="宋体" panose="02010600030101010101" pitchFamily="2" charset="-122"/>
              </a:rPr>
              <a:t>The Bridge from Analysis to Design</a:t>
            </a:r>
          </a:p>
        </p:txBody>
      </p:sp>
      <p:sp>
        <p:nvSpPr>
          <p:cNvPr id="12292" name="Rectangle 3">
            <a:extLst>
              <a:ext uri="{FF2B5EF4-FFF2-40B4-BE49-F238E27FC236}">
                <a16:creationId xmlns:a16="http://schemas.microsoft.com/office/drawing/2014/main" id="{2955ED24-2993-49C2-898B-7C40434B18D1}"/>
              </a:ext>
            </a:extLst>
          </p:cNvPr>
          <p:cNvSpPr>
            <a:spLocks noGrp="1" noChangeArrowheads="1"/>
          </p:cNvSpPr>
          <p:nvPr>
            <p:ph type="body" idx="1"/>
          </p:nvPr>
        </p:nvSpPr>
        <p:spPr>
          <a:xfrm>
            <a:off x="304800" y="1447800"/>
            <a:ext cx="8610600" cy="4724400"/>
          </a:xfrm>
        </p:spPr>
        <p:txBody>
          <a:bodyPr/>
          <a:lstStyle/>
          <a:p>
            <a:pPr eaLnBrk="1" hangingPunct="1"/>
            <a:r>
              <a:rPr lang="en-US" altLang="zh-CN" sz="2800" dirty="0">
                <a:ea typeface="宋体" panose="02010600030101010101" pitchFamily="2" charset="-122"/>
              </a:rPr>
              <a:t>OO Design: Process by which a set of detailed OO design models are built to be used for coding</a:t>
            </a:r>
            <a:r>
              <a:rPr lang="zh-CN" altLang="en-US" sz="2800" dirty="0">
                <a:ea typeface="宋体" panose="02010600030101010101" pitchFamily="2" charset="-122"/>
              </a:rPr>
              <a:t>（</a:t>
            </a:r>
            <a:r>
              <a:rPr lang="en-US" altLang="zh-CN" sz="2800" dirty="0">
                <a:ea typeface="宋体" panose="02010600030101010101" pitchFamily="2" charset="-122"/>
              </a:rPr>
              <a:t> OO</a:t>
            </a:r>
            <a:r>
              <a:rPr lang="zh-CN" altLang="en-US" sz="2800" dirty="0">
                <a:ea typeface="宋体" panose="02010600030101010101" pitchFamily="2" charset="-122"/>
              </a:rPr>
              <a:t>设计：构建一组详细的</a:t>
            </a:r>
            <a:r>
              <a:rPr lang="en-US" altLang="zh-CN" sz="2800" dirty="0">
                <a:ea typeface="宋体" panose="02010600030101010101" pitchFamily="2" charset="-122"/>
              </a:rPr>
              <a:t>OO</a:t>
            </a:r>
            <a:r>
              <a:rPr lang="zh-CN" altLang="en-US" sz="2800" dirty="0">
                <a:ea typeface="宋体" panose="02010600030101010101" pitchFamily="2" charset="-122"/>
              </a:rPr>
              <a:t>设计模型以用编码的过程）</a:t>
            </a:r>
            <a:endParaRPr lang="en-US" altLang="zh-CN" sz="2800" dirty="0">
              <a:ea typeface="宋体" panose="02010600030101010101" pitchFamily="2" charset="-122"/>
            </a:endParaRPr>
          </a:p>
          <a:p>
            <a:pPr eaLnBrk="1" hangingPunct="1"/>
            <a:r>
              <a:rPr lang="en-US" altLang="zh-CN" sz="2800" dirty="0">
                <a:ea typeface="宋体" panose="02010600030101010101" pitchFamily="2" charset="-122"/>
              </a:rPr>
              <a:t>Design models are created in parallel to actual coding/implementation with iterative SDLC</a:t>
            </a:r>
            <a:r>
              <a:rPr lang="zh-CN" altLang="en-US" sz="2800" dirty="0">
                <a:ea typeface="宋体" panose="02010600030101010101" pitchFamily="2" charset="-122"/>
              </a:rPr>
              <a:t>（设计模型是通过迭代</a:t>
            </a:r>
            <a:r>
              <a:rPr lang="en-US" altLang="zh-CN" sz="2800" dirty="0">
                <a:ea typeface="宋体" panose="02010600030101010101" pitchFamily="2" charset="-122"/>
              </a:rPr>
              <a:t>SDLC</a:t>
            </a:r>
            <a:r>
              <a:rPr lang="zh-CN" altLang="en-US" sz="2800" dirty="0">
                <a:ea typeface="宋体" panose="02010600030101010101" pitchFamily="2" charset="-122"/>
              </a:rPr>
              <a:t>与实际编码</a:t>
            </a:r>
            <a:r>
              <a:rPr lang="en-US" altLang="zh-CN" sz="2800" dirty="0">
                <a:ea typeface="宋体" panose="02010600030101010101" pitchFamily="2" charset="-122"/>
              </a:rPr>
              <a:t>/</a:t>
            </a:r>
            <a:r>
              <a:rPr lang="zh-CN" altLang="en-US" sz="2800" dirty="0">
                <a:ea typeface="宋体" panose="02010600030101010101" pitchFamily="2" charset="-122"/>
              </a:rPr>
              <a:t>实现并行创建的）</a:t>
            </a:r>
            <a:endParaRPr lang="en-US" altLang="zh-CN" sz="2800" dirty="0">
              <a:ea typeface="宋体" panose="02010600030101010101" pitchFamily="2" charset="-122"/>
            </a:endParaRPr>
          </a:p>
          <a:p>
            <a:pPr eaLnBrk="1" hangingPunct="1"/>
            <a:r>
              <a:rPr lang="en-US" altLang="zh-CN" sz="2800" dirty="0">
                <a:ea typeface="宋体" panose="02010600030101010101" pitchFamily="2" charset="-122"/>
              </a:rPr>
              <a:t>Agile </a:t>
            </a:r>
            <a:r>
              <a:rPr lang="en-US" altLang="zh-CN" sz="2800" dirty="0" err="1">
                <a:ea typeface="宋体" panose="02010600030101010101" pitchFamily="2" charset="-122"/>
              </a:rPr>
              <a:t>approache</a:t>
            </a:r>
            <a:r>
              <a:rPr lang="en-US" altLang="zh-CN" sz="2800" dirty="0">
                <a:ea typeface="宋体" panose="02010600030101010101" pitchFamily="2" charset="-122"/>
              </a:rPr>
              <a:t> says create models only if they are necessary. Simple detailed aspects don’t need a design model before coding</a:t>
            </a:r>
            <a:r>
              <a:rPr lang="zh-CN" altLang="en-US" sz="2800" dirty="0">
                <a:ea typeface="宋体" panose="02010600030101010101" pitchFamily="2" charset="-122"/>
              </a:rPr>
              <a:t>（敏捷方法认为，只有在必要时才创建模型）</a:t>
            </a:r>
            <a:endParaRPr lang="en-US" altLang="zh-CN" sz="2800" dirty="0">
              <a:ea typeface="宋体" panose="02010600030101010101" pitchFamily="2" charset="-122"/>
            </a:endParaRPr>
          </a:p>
        </p:txBody>
      </p:sp>
      <p:sp>
        <p:nvSpPr>
          <p:cNvPr id="12294" name="Rectangle 4">
            <a:extLst>
              <a:ext uri="{FF2B5EF4-FFF2-40B4-BE49-F238E27FC236}">
                <a16:creationId xmlns:a16="http://schemas.microsoft.com/office/drawing/2014/main" id="{6F0EC55C-A2FE-4DE5-9E9D-BAABEA509303}"/>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4">
            <a:extLst>
              <a:ext uri="{FF2B5EF4-FFF2-40B4-BE49-F238E27FC236}">
                <a16:creationId xmlns:a16="http://schemas.microsoft.com/office/drawing/2014/main" id="{08450D43-AF26-4F1B-8A60-F72FE1068E8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Systems Analysis and Design in a Changing World, 6th Edition</a:t>
            </a:r>
          </a:p>
        </p:txBody>
      </p:sp>
      <p:sp>
        <p:nvSpPr>
          <p:cNvPr id="13315" name="Slide Number Placeholder 5">
            <a:extLst>
              <a:ext uri="{FF2B5EF4-FFF2-40B4-BE49-F238E27FC236}">
                <a16:creationId xmlns:a16="http://schemas.microsoft.com/office/drawing/2014/main" id="{D58B7DDC-E536-4C59-B785-423A5D371AF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99338919-2640-4E22-8A6D-FB2085D08FD9}" type="slidenum">
              <a:rPr lang="en-US" altLang="en-US" sz="1000"/>
              <a:pPr>
                <a:spcBef>
                  <a:spcPct val="0"/>
                </a:spcBef>
                <a:buClrTx/>
                <a:buSzTx/>
                <a:buFontTx/>
                <a:buNone/>
              </a:pPr>
              <a:t>8</a:t>
            </a:fld>
            <a:endParaRPr lang="en-US" altLang="en-US" sz="1000"/>
          </a:p>
        </p:txBody>
      </p:sp>
      <p:sp>
        <p:nvSpPr>
          <p:cNvPr id="13316" name="Rectangle 2">
            <a:extLst>
              <a:ext uri="{FF2B5EF4-FFF2-40B4-BE49-F238E27FC236}">
                <a16:creationId xmlns:a16="http://schemas.microsoft.com/office/drawing/2014/main" id="{545B3CFF-B56D-414A-A06E-D675A47856C9}"/>
              </a:ext>
            </a:extLst>
          </p:cNvPr>
          <p:cNvSpPr>
            <a:spLocks noGrp="1" noChangeArrowheads="1"/>
          </p:cNvSpPr>
          <p:nvPr>
            <p:ph type="title"/>
          </p:nvPr>
        </p:nvSpPr>
        <p:spPr>
          <a:xfrm>
            <a:off x="304800" y="122238"/>
            <a:ext cx="7696200" cy="1096962"/>
          </a:xfrm>
        </p:spPr>
        <p:txBody>
          <a:bodyPr/>
          <a:lstStyle/>
          <a:p>
            <a:pPr eaLnBrk="1" hangingPunct="1"/>
            <a:r>
              <a:rPr lang="en-US" altLang="zh-CN" sz="3600">
                <a:ea typeface="宋体" panose="02010600030101010101" pitchFamily="2" charset="-122"/>
              </a:rPr>
              <a:t>Object-Oriented Program Flow</a:t>
            </a:r>
            <a:br>
              <a:rPr lang="en-US" altLang="zh-CN" sz="3200">
                <a:ea typeface="宋体" panose="02010600030101010101" pitchFamily="2" charset="-122"/>
              </a:rPr>
            </a:br>
            <a:r>
              <a:rPr lang="en-US" altLang="zh-CN" sz="2800">
                <a:ea typeface="宋体" panose="02010600030101010101" pitchFamily="2" charset="-122"/>
              </a:rPr>
              <a:t>Three Layer Architecture</a:t>
            </a:r>
          </a:p>
        </p:txBody>
      </p:sp>
      <p:pic>
        <p:nvPicPr>
          <p:cNvPr id="13317" name="Picture 5">
            <a:extLst>
              <a:ext uri="{FF2B5EF4-FFF2-40B4-BE49-F238E27FC236}">
                <a16:creationId xmlns:a16="http://schemas.microsoft.com/office/drawing/2014/main" id="{65240A34-17EF-45FB-B06D-910D652D12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219200"/>
            <a:ext cx="5867400" cy="536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8" name="Rectangle 4">
            <a:extLst>
              <a:ext uri="{FF2B5EF4-FFF2-40B4-BE49-F238E27FC236}">
                <a16:creationId xmlns:a16="http://schemas.microsoft.com/office/drawing/2014/main" id="{443DA78A-BB1A-4120-B757-776367C4D725}"/>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5">
            <a:extLst>
              <a:ext uri="{FF2B5EF4-FFF2-40B4-BE49-F238E27FC236}">
                <a16:creationId xmlns:a16="http://schemas.microsoft.com/office/drawing/2014/main" id="{E1B1F15D-41D5-402E-8715-919B956940A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2EC18685-435E-4446-9457-BFD05E93B00B}" type="slidenum">
              <a:rPr lang="en-US" altLang="en-US" sz="1000"/>
              <a:pPr>
                <a:spcBef>
                  <a:spcPct val="0"/>
                </a:spcBef>
                <a:buClrTx/>
                <a:buSzTx/>
                <a:buFontTx/>
                <a:buNone/>
              </a:pPr>
              <a:t>9</a:t>
            </a:fld>
            <a:endParaRPr lang="en-US" altLang="en-US" sz="1000"/>
          </a:p>
        </p:txBody>
      </p:sp>
      <p:sp>
        <p:nvSpPr>
          <p:cNvPr id="14339" name="Rectangle 2">
            <a:extLst>
              <a:ext uri="{FF2B5EF4-FFF2-40B4-BE49-F238E27FC236}">
                <a16:creationId xmlns:a16="http://schemas.microsoft.com/office/drawing/2014/main" id="{5DF7AC7C-1315-4F93-9BDB-128F08B5584D}"/>
              </a:ext>
            </a:extLst>
          </p:cNvPr>
          <p:cNvSpPr>
            <a:spLocks noGrp="1" noChangeArrowheads="1"/>
          </p:cNvSpPr>
          <p:nvPr>
            <p:ph type="title"/>
          </p:nvPr>
        </p:nvSpPr>
        <p:spPr>
          <a:xfrm>
            <a:off x="304800" y="122238"/>
            <a:ext cx="2895600" cy="4602162"/>
          </a:xfrm>
        </p:spPr>
        <p:txBody>
          <a:bodyPr/>
          <a:lstStyle/>
          <a:p>
            <a:pPr eaLnBrk="1" hangingPunct="1"/>
            <a:r>
              <a:rPr lang="en-US" altLang="zh-CN" sz="3200">
                <a:ea typeface="宋体" panose="02010600030101010101" pitchFamily="2" charset="-122"/>
              </a:rPr>
              <a:t>UML Requirements vs. Design Models</a:t>
            </a:r>
            <a:br>
              <a:rPr lang="en-US" altLang="zh-CN" sz="3200">
                <a:ea typeface="宋体" panose="02010600030101010101" pitchFamily="2" charset="-122"/>
              </a:rPr>
            </a:br>
            <a:br>
              <a:rPr lang="en-US" altLang="zh-CN" sz="3200">
                <a:ea typeface="宋体" panose="02010600030101010101" pitchFamily="2" charset="-122"/>
              </a:rPr>
            </a:br>
            <a:r>
              <a:rPr lang="en-US" altLang="zh-CN" sz="2400">
                <a:ea typeface="宋体" panose="02010600030101010101" pitchFamily="2" charset="-122"/>
              </a:rPr>
              <a:t>Diagrams are enhanced and extended</a:t>
            </a:r>
          </a:p>
        </p:txBody>
      </p:sp>
      <p:pic>
        <p:nvPicPr>
          <p:cNvPr id="14340" name="Picture 5">
            <a:extLst>
              <a:ext uri="{FF2B5EF4-FFF2-40B4-BE49-F238E27FC236}">
                <a16:creationId xmlns:a16="http://schemas.microsoft.com/office/drawing/2014/main" id="{F2804F83-83DB-4B47-A07B-E3BCFE28CB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152400"/>
            <a:ext cx="4697413" cy="606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1" name="Footer Placeholder 4">
            <a:extLst>
              <a:ext uri="{FF2B5EF4-FFF2-40B4-BE49-F238E27FC236}">
                <a16:creationId xmlns:a16="http://schemas.microsoft.com/office/drawing/2014/main" id="{6CAE57EC-7687-4D6F-AF87-DA403B48CF5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14342" name="Rectangle 4">
            <a:extLst>
              <a:ext uri="{FF2B5EF4-FFF2-40B4-BE49-F238E27FC236}">
                <a16:creationId xmlns:a16="http://schemas.microsoft.com/office/drawing/2014/main" id="{5B3A2727-C808-45F3-A863-5FCBE4CBD20E}"/>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2" name="矩形 1">
            <a:extLst>
              <a:ext uri="{FF2B5EF4-FFF2-40B4-BE49-F238E27FC236}">
                <a16:creationId xmlns:a16="http://schemas.microsoft.com/office/drawing/2014/main" id="{2486D8C2-91AD-4160-B110-8474A4AA0A3F}"/>
              </a:ext>
            </a:extLst>
          </p:cNvPr>
          <p:cNvSpPr/>
          <p:nvPr/>
        </p:nvSpPr>
        <p:spPr>
          <a:xfrm>
            <a:off x="3657600" y="74613"/>
            <a:ext cx="1676400" cy="25876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D8728FD7-8690-4491-A035-FFD519CF3CAD}"/>
              </a:ext>
            </a:extLst>
          </p:cNvPr>
          <p:cNvSpPr/>
          <p:nvPr/>
        </p:nvSpPr>
        <p:spPr>
          <a:xfrm>
            <a:off x="6096000" y="122238"/>
            <a:ext cx="1676400" cy="25876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5">
            <a:extLst>
              <a:ext uri="{FF2B5EF4-FFF2-40B4-BE49-F238E27FC236}">
                <a16:creationId xmlns:a16="http://schemas.microsoft.com/office/drawing/2014/main" id="{E1B1F15D-41D5-402E-8715-919B956940A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2EC18685-435E-4446-9457-BFD05E93B00B}" type="slidenum">
              <a:rPr lang="en-US" altLang="en-US" sz="1000"/>
              <a:pPr>
                <a:spcBef>
                  <a:spcPct val="0"/>
                </a:spcBef>
                <a:buClrTx/>
                <a:buSzTx/>
                <a:buFontTx/>
                <a:buNone/>
              </a:pPr>
              <a:t>10</a:t>
            </a:fld>
            <a:endParaRPr lang="en-US" altLang="en-US" sz="1000"/>
          </a:p>
        </p:txBody>
      </p:sp>
      <p:sp>
        <p:nvSpPr>
          <p:cNvPr id="14339" name="Rectangle 2">
            <a:extLst>
              <a:ext uri="{FF2B5EF4-FFF2-40B4-BE49-F238E27FC236}">
                <a16:creationId xmlns:a16="http://schemas.microsoft.com/office/drawing/2014/main" id="{5DF7AC7C-1315-4F93-9BDB-128F08B5584D}"/>
              </a:ext>
            </a:extLst>
          </p:cNvPr>
          <p:cNvSpPr>
            <a:spLocks noGrp="1" noChangeArrowheads="1"/>
          </p:cNvSpPr>
          <p:nvPr>
            <p:ph type="title"/>
          </p:nvPr>
        </p:nvSpPr>
        <p:spPr>
          <a:xfrm>
            <a:off x="304800" y="122238"/>
            <a:ext cx="2895600" cy="4602162"/>
          </a:xfrm>
        </p:spPr>
        <p:txBody>
          <a:bodyPr/>
          <a:lstStyle/>
          <a:p>
            <a:pPr eaLnBrk="1" hangingPunct="1"/>
            <a:r>
              <a:rPr lang="en-US" altLang="zh-CN" sz="3200" dirty="0">
                <a:ea typeface="宋体" panose="02010600030101010101" pitchFamily="2" charset="-122"/>
              </a:rPr>
              <a:t>UML Requirements vs. Design Models</a:t>
            </a:r>
            <a:br>
              <a:rPr lang="en-US" altLang="zh-CN" sz="3200" dirty="0">
                <a:ea typeface="宋体" panose="02010600030101010101" pitchFamily="2" charset="-122"/>
              </a:rPr>
            </a:br>
            <a:br>
              <a:rPr lang="en-US" altLang="zh-CN" sz="3200" dirty="0">
                <a:ea typeface="宋体" panose="02010600030101010101" pitchFamily="2" charset="-122"/>
              </a:rPr>
            </a:br>
            <a:r>
              <a:rPr lang="en-US" altLang="zh-CN" sz="2400" dirty="0">
                <a:ea typeface="宋体" panose="02010600030101010101" pitchFamily="2" charset="-122"/>
              </a:rPr>
              <a:t>Diagrams are enhanced and extended</a:t>
            </a:r>
          </a:p>
        </p:txBody>
      </p:sp>
      <p:pic>
        <p:nvPicPr>
          <p:cNvPr id="14340" name="Picture 5">
            <a:extLst>
              <a:ext uri="{FF2B5EF4-FFF2-40B4-BE49-F238E27FC236}">
                <a16:creationId xmlns:a16="http://schemas.microsoft.com/office/drawing/2014/main" id="{F2804F83-83DB-4B47-A07B-E3BCFE28CB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152400"/>
            <a:ext cx="4697413" cy="606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1" name="Footer Placeholder 4">
            <a:extLst>
              <a:ext uri="{FF2B5EF4-FFF2-40B4-BE49-F238E27FC236}">
                <a16:creationId xmlns:a16="http://schemas.microsoft.com/office/drawing/2014/main" id="{6CAE57EC-7687-4D6F-AF87-DA403B48CF5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14342" name="Rectangle 4">
            <a:extLst>
              <a:ext uri="{FF2B5EF4-FFF2-40B4-BE49-F238E27FC236}">
                <a16:creationId xmlns:a16="http://schemas.microsoft.com/office/drawing/2014/main" id="{5B3A2727-C808-45F3-A863-5FCBE4CBD20E}"/>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2" name="矩形 1">
            <a:extLst>
              <a:ext uri="{FF2B5EF4-FFF2-40B4-BE49-F238E27FC236}">
                <a16:creationId xmlns:a16="http://schemas.microsoft.com/office/drawing/2014/main" id="{2486D8C2-91AD-4160-B110-8474A4AA0A3F}"/>
              </a:ext>
            </a:extLst>
          </p:cNvPr>
          <p:cNvSpPr/>
          <p:nvPr/>
        </p:nvSpPr>
        <p:spPr>
          <a:xfrm>
            <a:off x="3678237" y="375920"/>
            <a:ext cx="1676400" cy="84328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D8728FD7-8690-4491-A035-FFD519CF3CAD}"/>
              </a:ext>
            </a:extLst>
          </p:cNvPr>
          <p:cNvSpPr/>
          <p:nvPr/>
        </p:nvSpPr>
        <p:spPr>
          <a:xfrm>
            <a:off x="5930106" y="2209800"/>
            <a:ext cx="2070894" cy="9144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3820687C-419C-413B-BC79-E84E90F4327A}"/>
              </a:ext>
            </a:extLst>
          </p:cNvPr>
          <p:cNvSpPr/>
          <p:nvPr/>
        </p:nvSpPr>
        <p:spPr>
          <a:xfrm>
            <a:off x="5916968" y="5562600"/>
            <a:ext cx="2070894" cy="56665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2AFE3A54-9DE6-49F2-9F08-C491CFEDDECC}"/>
              </a:ext>
            </a:extLst>
          </p:cNvPr>
          <p:cNvSpPr txBox="1"/>
          <p:nvPr/>
        </p:nvSpPr>
        <p:spPr>
          <a:xfrm>
            <a:off x="3886200" y="1241835"/>
            <a:ext cx="1905000" cy="369332"/>
          </a:xfrm>
          <a:prstGeom prst="rect">
            <a:avLst/>
          </a:prstGeom>
          <a:noFill/>
        </p:spPr>
        <p:txBody>
          <a:bodyPr wrap="square" rtlCol="0">
            <a:spAutoFit/>
          </a:bodyPr>
          <a:lstStyle/>
          <a:p>
            <a:r>
              <a:rPr lang="zh-CN" altLang="en-US" dirty="0">
                <a:solidFill>
                  <a:srgbClr val="C00000"/>
                </a:solidFill>
              </a:rPr>
              <a:t>域模型类图</a:t>
            </a:r>
          </a:p>
        </p:txBody>
      </p:sp>
      <p:sp>
        <p:nvSpPr>
          <p:cNvPr id="11" name="文本框 10">
            <a:extLst>
              <a:ext uri="{FF2B5EF4-FFF2-40B4-BE49-F238E27FC236}">
                <a16:creationId xmlns:a16="http://schemas.microsoft.com/office/drawing/2014/main" id="{FDAECA4A-DB7F-4789-A4D8-C05F5ABF7710}"/>
              </a:ext>
            </a:extLst>
          </p:cNvPr>
          <p:cNvSpPr txBox="1"/>
          <p:nvPr/>
        </p:nvSpPr>
        <p:spPr>
          <a:xfrm>
            <a:off x="6392914" y="3124200"/>
            <a:ext cx="1905000" cy="369332"/>
          </a:xfrm>
          <a:prstGeom prst="rect">
            <a:avLst/>
          </a:prstGeom>
          <a:noFill/>
        </p:spPr>
        <p:txBody>
          <a:bodyPr wrap="square" rtlCol="0">
            <a:spAutoFit/>
          </a:bodyPr>
          <a:lstStyle/>
          <a:p>
            <a:r>
              <a:rPr lang="zh-CN" altLang="en-US" dirty="0">
                <a:solidFill>
                  <a:srgbClr val="C00000"/>
                </a:solidFill>
              </a:rPr>
              <a:t>设计类图</a:t>
            </a:r>
          </a:p>
        </p:txBody>
      </p:sp>
      <p:sp>
        <p:nvSpPr>
          <p:cNvPr id="12" name="文本框 11">
            <a:extLst>
              <a:ext uri="{FF2B5EF4-FFF2-40B4-BE49-F238E27FC236}">
                <a16:creationId xmlns:a16="http://schemas.microsoft.com/office/drawing/2014/main" id="{339668D3-485B-40A4-B6DD-A08BCC225202}"/>
              </a:ext>
            </a:extLst>
          </p:cNvPr>
          <p:cNvSpPr txBox="1"/>
          <p:nvPr/>
        </p:nvSpPr>
        <p:spPr>
          <a:xfrm>
            <a:off x="6781800" y="6107668"/>
            <a:ext cx="1905000" cy="369332"/>
          </a:xfrm>
          <a:prstGeom prst="rect">
            <a:avLst/>
          </a:prstGeom>
          <a:noFill/>
        </p:spPr>
        <p:txBody>
          <a:bodyPr wrap="square" rtlCol="0">
            <a:spAutoFit/>
          </a:bodyPr>
          <a:lstStyle/>
          <a:p>
            <a:r>
              <a:rPr lang="zh-CN" altLang="en-US" dirty="0">
                <a:solidFill>
                  <a:srgbClr val="C00000"/>
                </a:solidFill>
              </a:rPr>
              <a:t>包图</a:t>
            </a:r>
          </a:p>
        </p:txBody>
      </p:sp>
    </p:spTree>
    <p:extLst>
      <p:ext uri="{BB962C8B-B14F-4D97-AF65-F5344CB8AC3E}">
        <p14:creationId xmlns:p14="http://schemas.microsoft.com/office/powerpoint/2010/main" val="3342476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5">
            <a:extLst>
              <a:ext uri="{FF2B5EF4-FFF2-40B4-BE49-F238E27FC236}">
                <a16:creationId xmlns:a16="http://schemas.microsoft.com/office/drawing/2014/main" id="{E1B1F15D-41D5-402E-8715-919B956940A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2EC18685-435E-4446-9457-BFD05E93B00B}" type="slidenum">
              <a:rPr lang="en-US" altLang="en-US" sz="1000"/>
              <a:pPr>
                <a:spcBef>
                  <a:spcPct val="0"/>
                </a:spcBef>
                <a:buClrTx/>
                <a:buSzTx/>
                <a:buFontTx/>
                <a:buNone/>
              </a:pPr>
              <a:t>11</a:t>
            </a:fld>
            <a:endParaRPr lang="en-US" altLang="en-US" sz="1000"/>
          </a:p>
        </p:txBody>
      </p:sp>
      <p:sp>
        <p:nvSpPr>
          <p:cNvPr id="14339" name="Rectangle 2">
            <a:extLst>
              <a:ext uri="{FF2B5EF4-FFF2-40B4-BE49-F238E27FC236}">
                <a16:creationId xmlns:a16="http://schemas.microsoft.com/office/drawing/2014/main" id="{5DF7AC7C-1315-4F93-9BDB-128F08B5584D}"/>
              </a:ext>
            </a:extLst>
          </p:cNvPr>
          <p:cNvSpPr>
            <a:spLocks noGrp="1" noChangeArrowheads="1"/>
          </p:cNvSpPr>
          <p:nvPr>
            <p:ph type="title"/>
          </p:nvPr>
        </p:nvSpPr>
        <p:spPr>
          <a:xfrm>
            <a:off x="304800" y="122238"/>
            <a:ext cx="2895600" cy="4602162"/>
          </a:xfrm>
        </p:spPr>
        <p:txBody>
          <a:bodyPr/>
          <a:lstStyle/>
          <a:p>
            <a:pPr eaLnBrk="1" hangingPunct="1"/>
            <a:r>
              <a:rPr lang="en-US" altLang="zh-CN" sz="3200" dirty="0">
                <a:ea typeface="宋体" panose="02010600030101010101" pitchFamily="2" charset="-122"/>
              </a:rPr>
              <a:t>UML Requirements vs. Design Models</a:t>
            </a:r>
            <a:br>
              <a:rPr lang="en-US" altLang="zh-CN" sz="3200" dirty="0">
                <a:ea typeface="宋体" panose="02010600030101010101" pitchFamily="2" charset="-122"/>
              </a:rPr>
            </a:br>
            <a:br>
              <a:rPr lang="en-US" altLang="zh-CN" sz="3200" dirty="0">
                <a:ea typeface="宋体" panose="02010600030101010101" pitchFamily="2" charset="-122"/>
              </a:rPr>
            </a:br>
            <a:r>
              <a:rPr lang="en-US" altLang="zh-CN" sz="2400" dirty="0">
                <a:ea typeface="宋体" panose="02010600030101010101" pitchFamily="2" charset="-122"/>
              </a:rPr>
              <a:t>Diagrams are enhanced and extended</a:t>
            </a:r>
          </a:p>
        </p:txBody>
      </p:sp>
      <p:pic>
        <p:nvPicPr>
          <p:cNvPr id="14340" name="Picture 5">
            <a:extLst>
              <a:ext uri="{FF2B5EF4-FFF2-40B4-BE49-F238E27FC236}">
                <a16:creationId xmlns:a16="http://schemas.microsoft.com/office/drawing/2014/main" id="{F2804F83-83DB-4B47-A07B-E3BCFE28CB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152400"/>
            <a:ext cx="4697413" cy="606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1" name="Footer Placeholder 4">
            <a:extLst>
              <a:ext uri="{FF2B5EF4-FFF2-40B4-BE49-F238E27FC236}">
                <a16:creationId xmlns:a16="http://schemas.microsoft.com/office/drawing/2014/main" id="{6CAE57EC-7687-4D6F-AF87-DA403B48CF5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14342" name="Rectangle 4">
            <a:extLst>
              <a:ext uri="{FF2B5EF4-FFF2-40B4-BE49-F238E27FC236}">
                <a16:creationId xmlns:a16="http://schemas.microsoft.com/office/drawing/2014/main" id="{5B3A2727-C808-45F3-A863-5FCBE4CBD20E}"/>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2" name="矩形 1">
            <a:extLst>
              <a:ext uri="{FF2B5EF4-FFF2-40B4-BE49-F238E27FC236}">
                <a16:creationId xmlns:a16="http://schemas.microsoft.com/office/drawing/2014/main" id="{2486D8C2-91AD-4160-B110-8474A4AA0A3F}"/>
              </a:ext>
            </a:extLst>
          </p:cNvPr>
          <p:cNvSpPr/>
          <p:nvPr/>
        </p:nvSpPr>
        <p:spPr>
          <a:xfrm>
            <a:off x="3678237" y="1447800"/>
            <a:ext cx="1676400" cy="8382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D8728FD7-8690-4491-A035-FFD519CF3CAD}"/>
              </a:ext>
            </a:extLst>
          </p:cNvPr>
          <p:cNvSpPr/>
          <p:nvPr/>
        </p:nvSpPr>
        <p:spPr>
          <a:xfrm>
            <a:off x="5930106" y="3276600"/>
            <a:ext cx="1994694" cy="13716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B5EFB1CC-5DA0-4014-951B-12597B8A8C1A}"/>
              </a:ext>
            </a:extLst>
          </p:cNvPr>
          <p:cNvSpPr/>
          <p:nvPr/>
        </p:nvSpPr>
        <p:spPr>
          <a:xfrm>
            <a:off x="3678237" y="2514600"/>
            <a:ext cx="1676400" cy="11430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D7CDB03F-99BA-48A1-890D-F788EAF7F48C}"/>
              </a:ext>
            </a:extLst>
          </p:cNvPr>
          <p:cNvSpPr/>
          <p:nvPr/>
        </p:nvSpPr>
        <p:spPr>
          <a:xfrm>
            <a:off x="3678237" y="3886200"/>
            <a:ext cx="1676400" cy="13716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FDAECA4A-DB7F-4789-A4D8-C05F5ABF7710}"/>
              </a:ext>
            </a:extLst>
          </p:cNvPr>
          <p:cNvSpPr txBox="1"/>
          <p:nvPr/>
        </p:nvSpPr>
        <p:spPr>
          <a:xfrm>
            <a:off x="4025106" y="2226158"/>
            <a:ext cx="1905000" cy="369332"/>
          </a:xfrm>
          <a:prstGeom prst="rect">
            <a:avLst/>
          </a:prstGeom>
          <a:noFill/>
        </p:spPr>
        <p:txBody>
          <a:bodyPr wrap="square" rtlCol="0">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r>
              <a:rPr lang="zh-CN" altLang="en-US" dirty="0">
                <a:solidFill>
                  <a:srgbClr val="C00000"/>
                </a:solidFill>
              </a:rPr>
              <a:t>用例图</a:t>
            </a:r>
          </a:p>
        </p:txBody>
      </p:sp>
      <p:sp>
        <p:nvSpPr>
          <p:cNvPr id="12" name="文本框 10">
            <a:extLst>
              <a:ext uri="{FF2B5EF4-FFF2-40B4-BE49-F238E27FC236}">
                <a16:creationId xmlns:a16="http://schemas.microsoft.com/office/drawing/2014/main" id="{FDAECA4A-DB7F-4789-A4D8-C05F5ABF7710}"/>
              </a:ext>
            </a:extLst>
          </p:cNvPr>
          <p:cNvSpPr txBox="1"/>
          <p:nvPr/>
        </p:nvSpPr>
        <p:spPr>
          <a:xfrm>
            <a:off x="4018704" y="3684072"/>
            <a:ext cx="1905000" cy="369332"/>
          </a:xfrm>
          <a:prstGeom prst="rect">
            <a:avLst/>
          </a:prstGeom>
          <a:noFill/>
        </p:spPr>
        <p:txBody>
          <a:bodyPr wrap="square" rtlCol="0">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r>
              <a:rPr lang="zh-CN" altLang="en-US" dirty="0">
                <a:solidFill>
                  <a:srgbClr val="C00000"/>
                </a:solidFill>
              </a:rPr>
              <a:t>活动图</a:t>
            </a:r>
          </a:p>
        </p:txBody>
      </p:sp>
      <p:sp>
        <p:nvSpPr>
          <p:cNvPr id="13" name="文本框 10">
            <a:extLst>
              <a:ext uri="{FF2B5EF4-FFF2-40B4-BE49-F238E27FC236}">
                <a16:creationId xmlns:a16="http://schemas.microsoft.com/office/drawing/2014/main" id="{FDAECA4A-DB7F-4789-A4D8-C05F5ABF7710}"/>
              </a:ext>
            </a:extLst>
          </p:cNvPr>
          <p:cNvSpPr txBox="1"/>
          <p:nvPr/>
        </p:nvSpPr>
        <p:spPr>
          <a:xfrm>
            <a:off x="3830637" y="5268397"/>
            <a:ext cx="1905000" cy="369332"/>
          </a:xfrm>
          <a:prstGeom prst="rect">
            <a:avLst/>
          </a:prstGeom>
          <a:noFill/>
        </p:spPr>
        <p:txBody>
          <a:bodyPr wrap="square" rtlCol="0">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r>
              <a:rPr lang="zh-CN" altLang="en-US" dirty="0">
                <a:solidFill>
                  <a:srgbClr val="C00000"/>
                </a:solidFill>
              </a:rPr>
              <a:t>系统顺序图</a:t>
            </a:r>
          </a:p>
        </p:txBody>
      </p:sp>
      <p:sp>
        <p:nvSpPr>
          <p:cNvPr id="14" name="文本框 10">
            <a:extLst>
              <a:ext uri="{FF2B5EF4-FFF2-40B4-BE49-F238E27FC236}">
                <a16:creationId xmlns:a16="http://schemas.microsoft.com/office/drawing/2014/main" id="{FDAECA4A-DB7F-4789-A4D8-C05F5ABF7710}"/>
              </a:ext>
            </a:extLst>
          </p:cNvPr>
          <p:cNvSpPr txBox="1"/>
          <p:nvPr/>
        </p:nvSpPr>
        <p:spPr>
          <a:xfrm>
            <a:off x="5984874" y="4648200"/>
            <a:ext cx="2327839" cy="369332"/>
          </a:xfrm>
          <a:prstGeom prst="rect">
            <a:avLst/>
          </a:prstGeom>
          <a:noFill/>
        </p:spPr>
        <p:txBody>
          <a:bodyPr wrap="square" rtlCol="0">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r>
              <a:rPr lang="zh-CN" altLang="en-US" dirty="0">
                <a:solidFill>
                  <a:srgbClr val="C00000"/>
                </a:solidFill>
              </a:rPr>
              <a:t>顺序图（交互图）</a:t>
            </a:r>
          </a:p>
        </p:txBody>
      </p:sp>
    </p:spTree>
    <p:extLst>
      <p:ext uri="{BB962C8B-B14F-4D97-AF65-F5344CB8AC3E}">
        <p14:creationId xmlns:p14="http://schemas.microsoft.com/office/powerpoint/2010/main" val="3441220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P spid="9" grpId="0" animBg="1"/>
      <p:bldP spid="1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5">
            <a:extLst>
              <a:ext uri="{FF2B5EF4-FFF2-40B4-BE49-F238E27FC236}">
                <a16:creationId xmlns:a16="http://schemas.microsoft.com/office/drawing/2014/main" id="{E1B1F15D-41D5-402E-8715-919B956940A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2EC18685-435E-4446-9457-BFD05E93B00B}" type="slidenum">
              <a:rPr lang="en-US" altLang="en-US" sz="1000"/>
              <a:pPr>
                <a:spcBef>
                  <a:spcPct val="0"/>
                </a:spcBef>
                <a:buClrTx/>
                <a:buSzTx/>
                <a:buFontTx/>
                <a:buNone/>
              </a:pPr>
              <a:t>12</a:t>
            </a:fld>
            <a:endParaRPr lang="en-US" altLang="en-US" sz="1000"/>
          </a:p>
        </p:txBody>
      </p:sp>
      <p:sp>
        <p:nvSpPr>
          <p:cNvPr id="14339" name="Rectangle 2">
            <a:extLst>
              <a:ext uri="{FF2B5EF4-FFF2-40B4-BE49-F238E27FC236}">
                <a16:creationId xmlns:a16="http://schemas.microsoft.com/office/drawing/2014/main" id="{5DF7AC7C-1315-4F93-9BDB-128F08B5584D}"/>
              </a:ext>
            </a:extLst>
          </p:cNvPr>
          <p:cNvSpPr>
            <a:spLocks noGrp="1" noChangeArrowheads="1"/>
          </p:cNvSpPr>
          <p:nvPr>
            <p:ph type="title"/>
          </p:nvPr>
        </p:nvSpPr>
        <p:spPr>
          <a:xfrm>
            <a:off x="304800" y="122238"/>
            <a:ext cx="2895600" cy="4602162"/>
          </a:xfrm>
        </p:spPr>
        <p:txBody>
          <a:bodyPr/>
          <a:lstStyle/>
          <a:p>
            <a:pPr eaLnBrk="1" hangingPunct="1"/>
            <a:r>
              <a:rPr lang="en-US" altLang="zh-CN" sz="3200">
                <a:ea typeface="宋体" panose="02010600030101010101" pitchFamily="2" charset="-122"/>
              </a:rPr>
              <a:t>UML Requirements vs. Design Models</a:t>
            </a:r>
            <a:br>
              <a:rPr lang="en-US" altLang="zh-CN" sz="3200">
                <a:ea typeface="宋体" panose="02010600030101010101" pitchFamily="2" charset="-122"/>
              </a:rPr>
            </a:br>
            <a:br>
              <a:rPr lang="en-US" altLang="zh-CN" sz="3200">
                <a:ea typeface="宋体" panose="02010600030101010101" pitchFamily="2" charset="-122"/>
              </a:rPr>
            </a:br>
            <a:r>
              <a:rPr lang="en-US" altLang="zh-CN" sz="2400">
                <a:ea typeface="宋体" panose="02010600030101010101" pitchFamily="2" charset="-122"/>
              </a:rPr>
              <a:t>Diagrams are enhanced and extended</a:t>
            </a:r>
          </a:p>
        </p:txBody>
      </p:sp>
      <p:pic>
        <p:nvPicPr>
          <p:cNvPr id="14340" name="Picture 5">
            <a:extLst>
              <a:ext uri="{FF2B5EF4-FFF2-40B4-BE49-F238E27FC236}">
                <a16:creationId xmlns:a16="http://schemas.microsoft.com/office/drawing/2014/main" id="{F2804F83-83DB-4B47-A07B-E3BCFE28CB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152400"/>
            <a:ext cx="4697413" cy="606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2" name="Rectangle 4">
            <a:extLst>
              <a:ext uri="{FF2B5EF4-FFF2-40B4-BE49-F238E27FC236}">
                <a16:creationId xmlns:a16="http://schemas.microsoft.com/office/drawing/2014/main" id="{5B3A2727-C808-45F3-A863-5FCBE4CBD20E}"/>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2" name="矩形 1">
            <a:extLst>
              <a:ext uri="{FF2B5EF4-FFF2-40B4-BE49-F238E27FC236}">
                <a16:creationId xmlns:a16="http://schemas.microsoft.com/office/drawing/2014/main" id="{2486D8C2-91AD-4160-B110-8474A4AA0A3F}"/>
              </a:ext>
            </a:extLst>
          </p:cNvPr>
          <p:cNvSpPr/>
          <p:nvPr/>
        </p:nvSpPr>
        <p:spPr>
          <a:xfrm>
            <a:off x="3678237" y="5486400"/>
            <a:ext cx="1676400" cy="685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D8728FD7-8690-4491-A035-FFD519CF3CAD}"/>
              </a:ext>
            </a:extLst>
          </p:cNvPr>
          <p:cNvSpPr/>
          <p:nvPr/>
        </p:nvSpPr>
        <p:spPr>
          <a:xfrm>
            <a:off x="5930106" y="4876800"/>
            <a:ext cx="2070894" cy="5334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10">
            <a:extLst>
              <a:ext uri="{FF2B5EF4-FFF2-40B4-BE49-F238E27FC236}">
                <a16:creationId xmlns:a16="http://schemas.microsoft.com/office/drawing/2014/main" id="{FDAECA4A-DB7F-4789-A4D8-C05F5ABF7710}"/>
              </a:ext>
            </a:extLst>
          </p:cNvPr>
          <p:cNvSpPr txBox="1"/>
          <p:nvPr/>
        </p:nvSpPr>
        <p:spPr>
          <a:xfrm>
            <a:off x="3793766" y="6172200"/>
            <a:ext cx="1905000" cy="369332"/>
          </a:xfrm>
          <a:prstGeom prst="rect">
            <a:avLst/>
          </a:prstGeom>
          <a:noFill/>
        </p:spPr>
        <p:txBody>
          <a:bodyPr wrap="square" rtlCol="0">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r>
              <a:rPr lang="zh-CN" altLang="en-US" dirty="0">
                <a:solidFill>
                  <a:srgbClr val="C00000"/>
                </a:solidFill>
              </a:rPr>
              <a:t>需求状态机图</a:t>
            </a:r>
          </a:p>
        </p:txBody>
      </p:sp>
      <p:sp>
        <p:nvSpPr>
          <p:cNvPr id="10" name="文本框 10">
            <a:extLst>
              <a:ext uri="{FF2B5EF4-FFF2-40B4-BE49-F238E27FC236}">
                <a16:creationId xmlns:a16="http://schemas.microsoft.com/office/drawing/2014/main" id="{62AAF878-6E38-477F-AD86-84031760A991}"/>
              </a:ext>
            </a:extLst>
          </p:cNvPr>
          <p:cNvSpPr txBox="1"/>
          <p:nvPr/>
        </p:nvSpPr>
        <p:spPr>
          <a:xfrm>
            <a:off x="6210300" y="5372148"/>
            <a:ext cx="1905000" cy="369332"/>
          </a:xfrm>
          <a:prstGeom prst="rect">
            <a:avLst/>
          </a:prstGeom>
          <a:noFill/>
        </p:spPr>
        <p:txBody>
          <a:bodyPr wrap="square" rtlCol="0">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r>
              <a:rPr lang="zh-CN" altLang="en-US" dirty="0">
                <a:solidFill>
                  <a:srgbClr val="C00000"/>
                </a:solidFill>
              </a:rPr>
              <a:t>设计状态机图</a:t>
            </a:r>
          </a:p>
        </p:txBody>
      </p:sp>
    </p:spTree>
    <p:extLst>
      <p:ext uri="{BB962C8B-B14F-4D97-AF65-F5344CB8AC3E}">
        <p14:creationId xmlns:p14="http://schemas.microsoft.com/office/powerpoint/2010/main" val="2843508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a:extLst>
              <a:ext uri="{FF2B5EF4-FFF2-40B4-BE49-F238E27FC236}">
                <a16:creationId xmlns:a16="http://schemas.microsoft.com/office/drawing/2014/main" id="{12651A9C-9782-4390-8414-09148CCCB46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00EF5DD9-6EAF-4E79-B47E-18D4DDF66BAB}" type="slidenum">
              <a:rPr lang="en-US" altLang="en-US" sz="1000"/>
              <a:pPr>
                <a:spcBef>
                  <a:spcPct val="0"/>
                </a:spcBef>
                <a:buClrTx/>
                <a:buSzTx/>
                <a:buFontTx/>
                <a:buNone/>
              </a:pPr>
              <a:t>13</a:t>
            </a:fld>
            <a:endParaRPr lang="en-US" altLang="en-US" sz="1000"/>
          </a:p>
        </p:txBody>
      </p:sp>
      <p:sp>
        <p:nvSpPr>
          <p:cNvPr id="8195" name="Rectangle 2">
            <a:extLst>
              <a:ext uri="{FF2B5EF4-FFF2-40B4-BE49-F238E27FC236}">
                <a16:creationId xmlns:a16="http://schemas.microsoft.com/office/drawing/2014/main" id="{19933FCB-7CED-4518-B74A-F3D517C5A383}"/>
              </a:ext>
            </a:extLst>
          </p:cNvPr>
          <p:cNvSpPr>
            <a:spLocks noGrp="1" noChangeArrowheads="1"/>
          </p:cNvSpPr>
          <p:nvPr>
            <p:ph type="title"/>
          </p:nvPr>
        </p:nvSpPr>
        <p:spPr>
          <a:xfrm>
            <a:off x="457200" y="122238"/>
            <a:ext cx="7543800" cy="1096962"/>
          </a:xfrm>
        </p:spPr>
        <p:txBody>
          <a:bodyPr/>
          <a:lstStyle/>
          <a:p>
            <a:pPr eaLnBrk="1" hangingPunct="1"/>
            <a:r>
              <a:rPr lang="en-US" altLang="zh-CN">
                <a:ea typeface="宋体" panose="02010600030101010101" pitchFamily="2" charset="-122"/>
              </a:rPr>
              <a:t>Chapter 10 Outline</a:t>
            </a:r>
          </a:p>
        </p:txBody>
      </p:sp>
      <p:sp>
        <p:nvSpPr>
          <p:cNvPr id="8196" name="Rectangle 3">
            <a:extLst>
              <a:ext uri="{FF2B5EF4-FFF2-40B4-BE49-F238E27FC236}">
                <a16:creationId xmlns:a16="http://schemas.microsoft.com/office/drawing/2014/main" id="{99359615-6E02-4FAA-BA04-3B3864BFDA39}"/>
              </a:ext>
            </a:extLst>
          </p:cNvPr>
          <p:cNvSpPr>
            <a:spLocks noGrp="1" noChangeArrowheads="1"/>
          </p:cNvSpPr>
          <p:nvPr>
            <p:ph type="body" idx="1"/>
          </p:nvPr>
        </p:nvSpPr>
        <p:spPr>
          <a:xfrm>
            <a:off x="457200" y="1752600"/>
            <a:ext cx="8229600" cy="4411663"/>
          </a:xfrm>
        </p:spPr>
        <p:txBody>
          <a:bodyPr/>
          <a:lstStyle/>
          <a:p>
            <a:pPr eaLnBrk="1" hangingPunct="1"/>
            <a:endParaRPr lang="en-US" altLang="zh-CN" sz="3200" dirty="0">
              <a:ea typeface="宋体" panose="02010600030101010101" pitchFamily="2" charset="-122"/>
            </a:endParaRPr>
          </a:p>
          <a:p>
            <a:pPr eaLnBrk="1" hangingPunct="1"/>
            <a:endParaRPr lang="en-US" altLang="zh-CN" sz="3200" dirty="0">
              <a:ea typeface="宋体" panose="02010600030101010101" pitchFamily="2" charset="-122"/>
            </a:endParaRPr>
          </a:p>
        </p:txBody>
      </p:sp>
      <p:sp>
        <p:nvSpPr>
          <p:cNvPr id="8197" name="Rectangle 4">
            <a:extLst>
              <a:ext uri="{FF2B5EF4-FFF2-40B4-BE49-F238E27FC236}">
                <a16:creationId xmlns:a16="http://schemas.microsoft.com/office/drawing/2014/main" id="{1A459FC4-306D-4676-B8FC-1F8CD2C3D32F}"/>
              </a:ext>
            </a:extLst>
          </p:cNvPr>
          <p:cNvSpPr>
            <a:spLocks noChangeArrowheads="1"/>
          </p:cNvSpPr>
          <p:nvPr/>
        </p:nvSpPr>
        <p:spPr bwMode="auto">
          <a:xfrm>
            <a:off x="304800" y="13716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r>
              <a:rPr lang="en-GB" altLang="zh-CN" dirty="0">
                <a:ea typeface="宋体" panose="02010600030101010101" pitchFamily="2" charset="-122"/>
              </a:rPr>
              <a:t>Object-Oriented Design: Bridging from Analysis to Implementation</a:t>
            </a:r>
          </a:p>
          <a:p>
            <a:pPr eaLnBrk="1" hangingPunct="1"/>
            <a:r>
              <a:rPr lang="en-GB" altLang="zh-CN" dirty="0">
                <a:solidFill>
                  <a:srgbClr val="C00000"/>
                </a:solidFill>
                <a:ea typeface="宋体" panose="02010600030101010101" pitchFamily="2" charset="-122"/>
              </a:rPr>
              <a:t>Object-Oriented Architectural Design</a:t>
            </a:r>
            <a:r>
              <a:rPr lang="zh-CN" altLang="en-US" dirty="0">
                <a:solidFill>
                  <a:srgbClr val="C00000"/>
                </a:solidFill>
                <a:ea typeface="宋体" panose="02010600030101010101" pitchFamily="2" charset="-122"/>
              </a:rPr>
              <a:t>（</a:t>
            </a:r>
            <a:r>
              <a:rPr lang="zh-CN" altLang="en-US" dirty="0">
                <a:solidFill>
                  <a:srgbClr val="C00000"/>
                </a:solidFill>
                <a:latin typeface="Arial" panose="020B0604020202020204" pitchFamily="34" charset="0"/>
                <a:cs typeface="Arial" panose="020B0604020202020204" pitchFamily="34" charset="0"/>
              </a:rPr>
              <a:t>面向对象结构化设计</a:t>
            </a:r>
            <a:r>
              <a:rPr lang="zh-CN" altLang="en-US" dirty="0">
                <a:solidFill>
                  <a:srgbClr val="C00000"/>
                </a:solidFill>
                <a:ea typeface="宋体" panose="02010600030101010101" pitchFamily="2" charset="-122"/>
              </a:rPr>
              <a:t>）</a:t>
            </a:r>
            <a:endParaRPr lang="en-GB" altLang="zh-CN" dirty="0">
              <a:solidFill>
                <a:srgbClr val="C00000"/>
              </a:solidFill>
              <a:ea typeface="宋体" panose="02010600030101010101" pitchFamily="2" charset="-122"/>
            </a:endParaRPr>
          </a:p>
          <a:p>
            <a:pPr eaLnBrk="1" hangingPunct="1"/>
            <a:r>
              <a:rPr lang="en-GB" altLang="zh-CN" dirty="0">
                <a:ea typeface="宋体" panose="02010600030101010101" pitchFamily="2" charset="-122"/>
              </a:rPr>
              <a:t>Fundamental Principles of Object-Oriented Detailed Design</a:t>
            </a:r>
          </a:p>
          <a:p>
            <a:pPr eaLnBrk="1" hangingPunct="1"/>
            <a:r>
              <a:rPr lang="en-GB" altLang="zh-CN" dirty="0">
                <a:ea typeface="宋体" panose="02010600030101010101" pitchFamily="2" charset="-122"/>
              </a:rPr>
              <a:t>Design Classes and the Design Class Diagram</a:t>
            </a:r>
          </a:p>
          <a:p>
            <a:pPr eaLnBrk="1" hangingPunct="1"/>
            <a:r>
              <a:rPr lang="en-GB" altLang="zh-CN" dirty="0">
                <a:ea typeface="宋体" panose="02010600030101010101" pitchFamily="2" charset="-122"/>
              </a:rPr>
              <a:t>Detailed Design with CRC Cards</a:t>
            </a:r>
          </a:p>
          <a:p>
            <a:pPr eaLnBrk="1" hangingPunct="1"/>
            <a:r>
              <a:rPr lang="en-GB" altLang="zh-CN" dirty="0">
                <a:ea typeface="宋体" panose="02010600030101010101" pitchFamily="2" charset="-122"/>
              </a:rPr>
              <a:t>Fundamental Detailed Design Principles</a:t>
            </a:r>
          </a:p>
        </p:txBody>
      </p:sp>
      <p:sp>
        <p:nvSpPr>
          <p:cNvPr id="8198" name="Footer Placeholder 4">
            <a:extLst>
              <a:ext uri="{FF2B5EF4-FFF2-40B4-BE49-F238E27FC236}">
                <a16:creationId xmlns:a16="http://schemas.microsoft.com/office/drawing/2014/main" id="{7B56DDD1-CA9F-4839-B616-D15016222DA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8199" name="Rectangle 4">
            <a:extLst>
              <a:ext uri="{FF2B5EF4-FFF2-40B4-BE49-F238E27FC236}">
                <a16:creationId xmlns:a16="http://schemas.microsoft.com/office/drawing/2014/main" id="{A62A238B-1078-4DB3-8358-CE7B062A8BC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7854067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5">
            <a:extLst>
              <a:ext uri="{FF2B5EF4-FFF2-40B4-BE49-F238E27FC236}">
                <a16:creationId xmlns:a16="http://schemas.microsoft.com/office/drawing/2014/main" id="{FAA50FD7-71DE-4604-8250-F82ABB72883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14DAF850-9178-466F-AD44-613716615A97}" type="slidenum">
              <a:rPr lang="en-US" altLang="en-US" sz="1000"/>
              <a:pPr>
                <a:spcBef>
                  <a:spcPct val="0"/>
                </a:spcBef>
                <a:buClrTx/>
                <a:buSzTx/>
                <a:buFontTx/>
                <a:buNone/>
              </a:pPr>
              <a:t>14</a:t>
            </a:fld>
            <a:endParaRPr lang="en-US" altLang="en-US" sz="1000"/>
          </a:p>
        </p:txBody>
      </p:sp>
      <p:sp>
        <p:nvSpPr>
          <p:cNvPr id="15363" name="Rectangle 2">
            <a:extLst>
              <a:ext uri="{FF2B5EF4-FFF2-40B4-BE49-F238E27FC236}">
                <a16:creationId xmlns:a16="http://schemas.microsoft.com/office/drawing/2014/main" id="{453E8532-8A3F-4740-9990-FE0B265EFE9F}"/>
              </a:ext>
            </a:extLst>
          </p:cNvPr>
          <p:cNvSpPr>
            <a:spLocks noGrp="1" noChangeArrowheads="1"/>
          </p:cNvSpPr>
          <p:nvPr>
            <p:ph type="title"/>
          </p:nvPr>
        </p:nvSpPr>
        <p:spPr>
          <a:xfrm>
            <a:off x="304800" y="122238"/>
            <a:ext cx="7696200" cy="792162"/>
          </a:xfrm>
        </p:spPr>
        <p:txBody>
          <a:bodyPr/>
          <a:lstStyle/>
          <a:p>
            <a:pPr eaLnBrk="1" hangingPunct="1"/>
            <a:r>
              <a:rPr lang="en-US" altLang="zh-CN" sz="3200">
                <a:ea typeface="宋体" panose="02010600030101010101" pitchFamily="2" charset="-122"/>
              </a:rPr>
              <a:t>Architectural Design</a:t>
            </a:r>
          </a:p>
        </p:txBody>
      </p:sp>
      <p:sp>
        <p:nvSpPr>
          <p:cNvPr id="15364" name="Rectangle 3">
            <a:extLst>
              <a:ext uri="{FF2B5EF4-FFF2-40B4-BE49-F238E27FC236}">
                <a16:creationId xmlns:a16="http://schemas.microsoft.com/office/drawing/2014/main" id="{10D3261B-D818-46B5-B8EF-F152391C13B4}"/>
              </a:ext>
            </a:extLst>
          </p:cNvPr>
          <p:cNvSpPr>
            <a:spLocks noGrp="1" noChangeArrowheads="1"/>
          </p:cNvSpPr>
          <p:nvPr>
            <p:ph type="body" idx="1"/>
          </p:nvPr>
        </p:nvSpPr>
        <p:spPr>
          <a:xfrm>
            <a:off x="152400" y="990600"/>
            <a:ext cx="8382000" cy="1371600"/>
          </a:xfrm>
        </p:spPr>
        <p:txBody>
          <a:bodyPr/>
          <a:lstStyle/>
          <a:p>
            <a:pPr eaLnBrk="1" hangingPunct="1">
              <a:lnSpc>
                <a:spcPct val="80000"/>
              </a:lnSpc>
            </a:pPr>
            <a:r>
              <a:rPr lang="zh-CN" altLang="en-US" sz="2400" dirty="0">
                <a:ea typeface="宋体" panose="02010600030101010101" pitchFamily="2" charset="-122"/>
              </a:rPr>
              <a:t>软件系统一般会分成两类：</a:t>
            </a:r>
            <a:r>
              <a:rPr lang="zh-CN" altLang="en-US" sz="2400" u="sng" dirty="0">
                <a:ea typeface="宋体" panose="02010600030101010101" pitchFamily="2" charset="-122"/>
              </a:rPr>
              <a:t>单用户系统</a:t>
            </a:r>
            <a:r>
              <a:rPr lang="zh-CN" altLang="en-US" sz="2400" dirty="0">
                <a:ea typeface="宋体" panose="02010600030101010101" pitchFamily="2" charset="-122"/>
              </a:rPr>
              <a:t>和</a:t>
            </a:r>
            <a:r>
              <a:rPr lang="zh-CN" altLang="en-US" sz="2400" u="sng" dirty="0">
                <a:ea typeface="宋体" panose="02010600030101010101" pitchFamily="2" charset="-122"/>
              </a:rPr>
              <a:t>企业级系统</a:t>
            </a:r>
          </a:p>
          <a:p>
            <a:pPr lvl="1" eaLnBrk="1" hangingPunct="1">
              <a:lnSpc>
                <a:spcPct val="80000"/>
              </a:lnSpc>
            </a:pPr>
            <a:r>
              <a:rPr lang="zh-CN" altLang="en-US" sz="2000" dirty="0">
                <a:ea typeface="宋体" panose="02010600030101010101" pitchFamily="2" charset="-122"/>
              </a:rPr>
              <a:t>企业级系统：在组织中的多个人员或组之间共享资源的系统</a:t>
            </a:r>
            <a:endParaRPr lang="zh-CN" altLang="en-US" sz="2400" dirty="0">
              <a:ea typeface="宋体" panose="02010600030101010101" pitchFamily="2" charset="-122"/>
            </a:endParaRPr>
          </a:p>
          <a:p>
            <a:pPr eaLnBrk="1" hangingPunct="1">
              <a:lnSpc>
                <a:spcPct val="80000"/>
              </a:lnSpc>
            </a:pPr>
            <a:r>
              <a:rPr lang="zh-CN" altLang="en-US" sz="2400" dirty="0">
                <a:ea typeface="宋体" panose="02010600030101010101" pitchFamily="2" charset="-122"/>
              </a:rPr>
              <a:t>两种选择：基于</a:t>
            </a:r>
            <a:r>
              <a:rPr lang="en-US" altLang="zh-CN" sz="2400" u="sng" dirty="0">
                <a:ea typeface="宋体" panose="02010600030101010101" pitchFamily="2" charset="-122"/>
              </a:rPr>
              <a:t>client-server</a:t>
            </a:r>
            <a:r>
              <a:rPr lang="en-US" altLang="zh-CN" sz="2400" dirty="0">
                <a:ea typeface="宋体" panose="02010600030101010101" pitchFamily="2" charset="-122"/>
              </a:rPr>
              <a:t>  </a:t>
            </a:r>
            <a:r>
              <a:rPr lang="zh-CN" altLang="en-US" sz="2400" dirty="0">
                <a:ea typeface="宋体" panose="02010600030101010101" pitchFamily="2" charset="-122"/>
              </a:rPr>
              <a:t>和  基于</a:t>
            </a:r>
            <a:r>
              <a:rPr lang="zh-CN" altLang="en-US" sz="2400" u="sng" dirty="0">
                <a:ea typeface="宋体" panose="02010600030101010101" pitchFamily="2" charset="-122"/>
              </a:rPr>
              <a:t>网络连接</a:t>
            </a:r>
            <a:r>
              <a:rPr lang="zh-CN" altLang="en-US" sz="2400" dirty="0">
                <a:ea typeface="宋体" panose="02010600030101010101" pitchFamily="2" charset="-122"/>
              </a:rPr>
              <a:t>的</a:t>
            </a:r>
          </a:p>
        </p:txBody>
      </p:sp>
      <p:pic>
        <p:nvPicPr>
          <p:cNvPr id="15365" name="Picture 5">
            <a:extLst>
              <a:ext uri="{FF2B5EF4-FFF2-40B4-BE49-F238E27FC236}">
                <a16:creationId xmlns:a16="http://schemas.microsoft.com/office/drawing/2014/main" id="{53E6F16D-A502-44EA-9B57-BAE4B9D9DA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590800"/>
            <a:ext cx="7848600" cy="366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6" name="Footer Placeholder 4">
            <a:extLst>
              <a:ext uri="{FF2B5EF4-FFF2-40B4-BE49-F238E27FC236}">
                <a16:creationId xmlns:a16="http://schemas.microsoft.com/office/drawing/2014/main" id="{BFB4CF11-EACD-47D0-96A2-C073C0E38C1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15367" name="Rectangle 4">
            <a:extLst>
              <a:ext uri="{FF2B5EF4-FFF2-40B4-BE49-F238E27FC236}">
                <a16:creationId xmlns:a16="http://schemas.microsoft.com/office/drawing/2014/main" id="{C2D63F5E-2ECD-4726-AD49-3BD03DF40831}"/>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2" name="矩形 1">
            <a:extLst>
              <a:ext uri="{FF2B5EF4-FFF2-40B4-BE49-F238E27FC236}">
                <a16:creationId xmlns:a16="http://schemas.microsoft.com/office/drawing/2014/main" id="{30B86448-AC71-4A4C-8E92-32C5A9CD0906}"/>
              </a:ext>
            </a:extLst>
          </p:cNvPr>
          <p:cNvSpPr/>
          <p:nvPr/>
        </p:nvSpPr>
        <p:spPr>
          <a:xfrm>
            <a:off x="3733800" y="3352800"/>
            <a:ext cx="2057400" cy="2286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522BCCD3-381F-4271-A6A6-DC52FAF60023}"/>
              </a:ext>
            </a:extLst>
          </p:cNvPr>
          <p:cNvSpPr/>
          <p:nvPr/>
        </p:nvSpPr>
        <p:spPr>
          <a:xfrm>
            <a:off x="7048500" y="3314700"/>
            <a:ext cx="1143000" cy="2286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12A41ED3-5A87-4FCB-BF5E-DABBC0F846DE}"/>
              </a:ext>
            </a:extLst>
          </p:cNvPr>
          <p:cNvSpPr/>
          <p:nvPr/>
        </p:nvSpPr>
        <p:spPr>
          <a:xfrm>
            <a:off x="6019800" y="3543300"/>
            <a:ext cx="2171700" cy="4572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11CBFCDD-58E9-485E-939F-45B1D3859E6B}"/>
              </a:ext>
            </a:extLst>
          </p:cNvPr>
          <p:cNvSpPr txBox="1"/>
          <p:nvPr/>
        </p:nvSpPr>
        <p:spPr>
          <a:xfrm>
            <a:off x="3575255" y="3661847"/>
            <a:ext cx="4572000" cy="369332"/>
          </a:xfrm>
          <a:prstGeom prst="rect">
            <a:avLst/>
          </a:prstGeom>
          <a:noFill/>
        </p:spPr>
        <p:txBody>
          <a:bodyPr wrap="square">
            <a:spAutoFit/>
          </a:bodyPr>
          <a:lstStyle/>
          <a:p>
            <a:r>
              <a:rPr lang="en-US" altLang="zh-CN" sz="1800" dirty="0">
                <a:latin typeface="Arial" panose="020B0604020202020204" pitchFamily="34" charset="0"/>
                <a:cs typeface="Arial" panose="020B0604020202020204" pitchFamily="34" charset="0"/>
              </a:rPr>
              <a:t>C-S</a:t>
            </a:r>
            <a:r>
              <a:rPr lang="zh-CN" altLang="en-US" dirty="0"/>
              <a:t>的连接是长期的</a:t>
            </a:r>
          </a:p>
        </p:txBody>
      </p:sp>
      <p:sp>
        <p:nvSpPr>
          <p:cNvPr id="14" name="文本框 13">
            <a:extLst>
              <a:ext uri="{FF2B5EF4-FFF2-40B4-BE49-F238E27FC236}">
                <a16:creationId xmlns:a16="http://schemas.microsoft.com/office/drawing/2014/main" id="{0A360763-2307-40C1-8426-A20A313CD729}"/>
              </a:ext>
            </a:extLst>
          </p:cNvPr>
          <p:cNvSpPr txBox="1"/>
          <p:nvPr/>
        </p:nvSpPr>
        <p:spPr>
          <a:xfrm>
            <a:off x="5831758" y="3955229"/>
            <a:ext cx="4572000" cy="369332"/>
          </a:xfrm>
          <a:prstGeom prst="rect">
            <a:avLst/>
          </a:prstGeom>
          <a:noFill/>
        </p:spPr>
        <p:txBody>
          <a:bodyPr wrap="square">
            <a:spAutoFit/>
          </a:bodyPr>
          <a:lstStyle/>
          <a:p>
            <a:r>
              <a:rPr lang="zh-CN" altLang="en-US" dirty="0"/>
              <a:t>短期的、无长期记忆的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P spid="1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5">
            <a:extLst>
              <a:ext uri="{FF2B5EF4-FFF2-40B4-BE49-F238E27FC236}">
                <a16:creationId xmlns:a16="http://schemas.microsoft.com/office/drawing/2014/main" id="{FAA50FD7-71DE-4604-8250-F82ABB72883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14DAF850-9178-466F-AD44-613716615A97}" type="slidenum">
              <a:rPr lang="en-US" altLang="en-US" sz="1000"/>
              <a:pPr>
                <a:spcBef>
                  <a:spcPct val="0"/>
                </a:spcBef>
                <a:buClrTx/>
                <a:buSzTx/>
                <a:buFontTx/>
                <a:buNone/>
              </a:pPr>
              <a:t>15</a:t>
            </a:fld>
            <a:endParaRPr lang="en-US" altLang="en-US" sz="1000"/>
          </a:p>
        </p:txBody>
      </p:sp>
      <p:sp>
        <p:nvSpPr>
          <p:cNvPr id="15363" name="Rectangle 2">
            <a:extLst>
              <a:ext uri="{FF2B5EF4-FFF2-40B4-BE49-F238E27FC236}">
                <a16:creationId xmlns:a16="http://schemas.microsoft.com/office/drawing/2014/main" id="{453E8532-8A3F-4740-9990-FE0B265EFE9F}"/>
              </a:ext>
            </a:extLst>
          </p:cNvPr>
          <p:cNvSpPr>
            <a:spLocks noGrp="1" noChangeArrowheads="1"/>
          </p:cNvSpPr>
          <p:nvPr>
            <p:ph type="title"/>
          </p:nvPr>
        </p:nvSpPr>
        <p:spPr>
          <a:xfrm>
            <a:off x="304800" y="122238"/>
            <a:ext cx="7696200" cy="792162"/>
          </a:xfrm>
        </p:spPr>
        <p:txBody>
          <a:bodyPr/>
          <a:lstStyle/>
          <a:p>
            <a:pPr eaLnBrk="1" hangingPunct="1"/>
            <a:r>
              <a:rPr lang="en-US" altLang="zh-CN" sz="3200">
                <a:ea typeface="宋体" panose="02010600030101010101" pitchFamily="2" charset="-122"/>
              </a:rPr>
              <a:t>Architectural Design</a:t>
            </a:r>
          </a:p>
        </p:txBody>
      </p:sp>
      <p:sp>
        <p:nvSpPr>
          <p:cNvPr id="15364" name="Rectangle 3">
            <a:extLst>
              <a:ext uri="{FF2B5EF4-FFF2-40B4-BE49-F238E27FC236}">
                <a16:creationId xmlns:a16="http://schemas.microsoft.com/office/drawing/2014/main" id="{10D3261B-D818-46B5-B8EF-F152391C13B4}"/>
              </a:ext>
            </a:extLst>
          </p:cNvPr>
          <p:cNvSpPr>
            <a:spLocks noGrp="1" noChangeArrowheads="1"/>
          </p:cNvSpPr>
          <p:nvPr>
            <p:ph type="body" idx="1"/>
          </p:nvPr>
        </p:nvSpPr>
        <p:spPr>
          <a:xfrm>
            <a:off x="152400" y="990600"/>
            <a:ext cx="8382000" cy="1371600"/>
          </a:xfrm>
        </p:spPr>
        <p:txBody>
          <a:bodyPr/>
          <a:lstStyle/>
          <a:p>
            <a:pPr eaLnBrk="1" hangingPunct="1">
              <a:lnSpc>
                <a:spcPct val="80000"/>
              </a:lnSpc>
            </a:pPr>
            <a:r>
              <a:rPr lang="en-GB" altLang="zh-CN" sz="2400" dirty="0">
                <a:ea typeface="宋体" panose="02010600030101010101" pitchFamily="2" charset="-122"/>
              </a:rPr>
              <a:t>Enterprise-level system</a:t>
            </a:r>
          </a:p>
          <a:p>
            <a:pPr lvl="1" eaLnBrk="1" hangingPunct="1">
              <a:lnSpc>
                <a:spcPct val="80000"/>
              </a:lnSpc>
            </a:pPr>
            <a:r>
              <a:rPr lang="en-GB" altLang="zh-CN" sz="2000" dirty="0">
                <a:ea typeface="宋体" panose="02010600030101010101" pitchFamily="2" charset="-122"/>
              </a:rPr>
              <a:t>a system that has shared resources among multiple people or groups in an organization</a:t>
            </a:r>
          </a:p>
          <a:p>
            <a:pPr eaLnBrk="1" hangingPunct="1">
              <a:lnSpc>
                <a:spcPct val="80000"/>
              </a:lnSpc>
            </a:pPr>
            <a:r>
              <a:rPr lang="en-GB" altLang="zh-CN" sz="2400" dirty="0">
                <a:ea typeface="宋体" panose="02010600030101010101" pitchFamily="2" charset="-122"/>
              </a:rPr>
              <a:t>Options are Client-Server or Internet Based</a:t>
            </a:r>
          </a:p>
          <a:p>
            <a:pPr lvl="1" eaLnBrk="1" hangingPunct="1">
              <a:lnSpc>
                <a:spcPct val="80000"/>
              </a:lnSpc>
            </a:pPr>
            <a:r>
              <a:rPr lang="en-GB" altLang="zh-CN" sz="2000" dirty="0">
                <a:ea typeface="宋体" panose="02010600030101010101" pitchFamily="2" charset="-122"/>
              </a:rPr>
              <a:t>Each presents different issues</a:t>
            </a:r>
          </a:p>
        </p:txBody>
      </p:sp>
      <p:pic>
        <p:nvPicPr>
          <p:cNvPr id="15365" name="Picture 5">
            <a:extLst>
              <a:ext uri="{FF2B5EF4-FFF2-40B4-BE49-F238E27FC236}">
                <a16:creationId xmlns:a16="http://schemas.microsoft.com/office/drawing/2014/main" id="{53E6F16D-A502-44EA-9B57-BAE4B9D9DA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590800"/>
            <a:ext cx="7848600" cy="366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6" name="Footer Placeholder 4">
            <a:extLst>
              <a:ext uri="{FF2B5EF4-FFF2-40B4-BE49-F238E27FC236}">
                <a16:creationId xmlns:a16="http://schemas.microsoft.com/office/drawing/2014/main" id="{BFB4CF11-EACD-47D0-96A2-C073C0E38C1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15367" name="Rectangle 4">
            <a:extLst>
              <a:ext uri="{FF2B5EF4-FFF2-40B4-BE49-F238E27FC236}">
                <a16:creationId xmlns:a16="http://schemas.microsoft.com/office/drawing/2014/main" id="{C2D63F5E-2ECD-4726-AD49-3BD03DF40831}"/>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2" name="矩形 1">
            <a:extLst>
              <a:ext uri="{FF2B5EF4-FFF2-40B4-BE49-F238E27FC236}">
                <a16:creationId xmlns:a16="http://schemas.microsoft.com/office/drawing/2014/main" id="{30B86448-AC71-4A4C-8E92-32C5A9CD0906}"/>
              </a:ext>
            </a:extLst>
          </p:cNvPr>
          <p:cNvSpPr/>
          <p:nvPr/>
        </p:nvSpPr>
        <p:spPr>
          <a:xfrm>
            <a:off x="4114800" y="4399893"/>
            <a:ext cx="1524000" cy="210207"/>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12A41ED3-5A87-4FCB-BF5E-DABBC0F846DE}"/>
              </a:ext>
            </a:extLst>
          </p:cNvPr>
          <p:cNvSpPr/>
          <p:nvPr/>
        </p:nvSpPr>
        <p:spPr>
          <a:xfrm>
            <a:off x="6000750" y="4343400"/>
            <a:ext cx="2076450" cy="2667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03562F56-634D-46D5-A179-524FB6C51E97}"/>
              </a:ext>
            </a:extLst>
          </p:cNvPr>
          <p:cNvSpPr/>
          <p:nvPr/>
        </p:nvSpPr>
        <p:spPr>
          <a:xfrm>
            <a:off x="6000751" y="4611935"/>
            <a:ext cx="781050" cy="263278"/>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D0F60E97-4669-4111-9063-433C3729E8E2}"/>
              </a:ext>
            </a:extLst>
          </p:cNvPr>
          <p:cNvSpPr txBox="1"/>
          <p:nvPr/>
        </p:nvSpPr>
        <p:spPr>
          <a:xfrm>
            <a:off x="3698875" y="5007808"/>
            <a:ext cx="1406525" cy="369332"/>
          </a:xfrm>
          <a:prstGeom prst="rect">
            <a:avLst/>
          </a:prstGeom>
          <a:noFill/>
        </p:spPr>
        <p:txBody>
          <a:bodyPr wrap="square">
            <a:spAutoFit/>
          </a:bodyPr>
          <a:lstStyle/>
          <a:p>
            <a:r>
              <a:rPr lang="zh-CN" altLang="en-US" sz="1800" dirty="0">
                <a:latin typeface="Arial" panose="020B0604020202020204" pitchFamily="34" charset="0"/>
                <a:cs typeface="Arial" panose="020B0604020202020204" pitchFamily="34" charset="0"/>
              </a:rPr>
              <a:t>直接显示</a:t>
            </a:r>
            <a:endParaRPr lang="zh-CN" altLang="en-US" dirty="0"/>
          </a:p>
        </p:txBody>
      </p:sp>
      <p:sp>
        <p:nvSpPr>
          <p:cNvPr id="13" name="文本框 12">
            <a:extLst>
              <a:ext uri="{FF2B5EF4-FFF2-40B4-BE49-F238E27FC236}">
                <a16:creationId xmlns:a16="http://schemas.microsoft.com/office/drawing/2014/main" id="{4DD0FB4A-DE79-4371-B1DA-D045293DD6D4}"/>
              </a:ext>
            </a:extLst>
          </p:cNvPr>
          <p:cNvSpPr txBox="1"/>
          <p:nvPr/>
        </p:nvSpPr>
        <p:spPr>
          <a:xfrm>
            <a:off x="5908675" y="5006081"/>
            <a:ext cx="2549525" cy="369332"/>
          </a:xfrm>
          <a:prstGeom prst="rect">
            <a:avLst/>
          </a:prstGeom>
          <a:noFill/>
        </p:spPr>
        <p:txBody>
          <a:bodyPr wrap="square">
            <a:spAutoFit/>
          </a:bodyPr>
          <a:lstStyle/>
          <a:p>
            <a:r>
              <a:rPr lang="zh-CN" altLang="en-US" sz="1800" dirty="0">
                <a:latin typeface="Arial" panose="020B0604020202020204" pitchFamily="34" charset="0"/>
                <a:cs typeface="Arial" panose="020B0604020202020204" pitchFamily="34" charset="0"/>
              </a:rPr>
              <a:t>通过浏览器显示</a:t>
            </a:r>
            <a:endParaRPr lang="zh-CN" altLang="en-US" dirty="0"/>
          </a:p>
        </p:txBody>
      </p:sp>
    </p:spTree>
    <p:extLst>
      <p:ext uri="{BB962C8B-B14F-4D97-AF65-F5344CB8AC3E}">
        <p14:creationId xmlns:p14="http://schemas.microsoft.com/office/powerpoint/2010/main" val="2400140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0" grpId="0" animBg="1"/>
      <p:bldP spid="1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5">
            <a:extLst>
              <a:ext uri="{FF2B5EF4-FFF2-40B4-BE49-F238E27FC236}">
                <a16:creationId xmlns:a16="http://schemas.microsoft.com/office/drawing/2014/main" id="{FAA50FD7-71DE-4604-8250-F82ABB72883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14DAF850-9178-466F-AD44-613716615A97}" type="slidenum">
              <a:rPr lang="en-US" altLang="en-US" sz="1000"/>
              <a:pPr>
                <a:spcBef>
                  <a:spcPct val="0"/>
                </a:spcBef>
                <a:buClrTx/>
                <a:buSzTx/>
                <a:buFontTx/>
                <a:buNone/>
              </a:pPr>
              <a:t>16</a:t>
            </a:fld>
            <a:endParaRPr lang="en-US" altLang="en-US" sz="1000"/>
          </a:p>
        </p:txBody>
      </p:sp>
      <p:sp>
        <p:nvSpPr>
          <p:cNvPr id="15363" name="Rectangle 2">
            <a:extLst>
              <a:ext uri="{FF2B5EF4-FFF2-40B4-BE49-F238E27FC236}">
                <a16:creationId xmlns:a16="http://schemas.microsoft.com/office/drawing/2014/main" id="{453E8532-8A3F-4740-9990-FE0B265EFE9F}"/>
              </a:ext>
            </a:extLst>
          </p:cNvPr>
          <p:cNvSpPr>
            <a:spLocks noGrp="1" noChangeArrowheads="1"/>
          </p:cNvSpPr>
          <p:nvPr>
            <p:ph type="title"/>
          </p:nvPr>
        </p:nvSpPr>
        <p:spPr>
          <a:xfrm>
            <a:off x="304800" y="122238"/>
            <a:ext cx="7696200" cy="792162"/>
          </a:xfrm>
        </p:spPr>
        <p:txBody>
          <a:bodyPr/>
          <a:lstStyle/>
          <a:p>
            <a:pPr eaLnBrk="1" hangingPunct="1"/>
            <a:r>
              <a:rPr lang="en-US" altLang="zh-CN" sz="3200">
                <a:ea typeface="宋体" panose="02010600030101010101" pitchFamily="2" charset="-122"/>
              </a:rPr>
              <a:t>Architectural Design</a:t>
            </a:r>
          </a:p>
        </p:txBody>
      </p:sp>
      <p:sp>
        <p:nvSpPr>
          <p:cNvPr id="15364" name="Rectangle 3">
            <a:extLst>
              <a:ext uri="{FF2B5EF4-FFF2-40B4-BE49-F238E27FC236}">
                <a16:creationId xmlns:a16="http://schemas.microsoft.com/office/drawing/2014/main" id="{10D3261B-D818-46B5-B8EF-F152391C13B4}"/>
              </a:ext>
            </a:extLst>
          </p:cNvPr>
          <p:cNvSpPr>
            <a:spLocks noGrp="1" noChangeArrowheads="1"/>
          </p:cNvSpPr>
          <p:nvPr>
            <p:ph type="body" idx="1"/>
          </p:nvPr>
        </p:nvSpPr>
        <p:spPr>
          <a:xfrm>
            <a:off x="152400" y="990600"/>
            <a:ext cx="8382000" cy="1371600"/>
          </a:xfrm>
        </p:spPr>
        <p:txBody>
          <a:bodyPr/>
          <a:lstStyle/>
          <a:p>
            <a:pPr eaLnBrk="1" hangingPunct="1">
              <a:lnSpc>
                <a:spcPct val="80000"/>
              </a:lnSpc>
            </a:pPr>
            <a:r>
              <a:rPr lang="en-GB" altLang="zh-CN" sz="2400" dirty="0">
                <a:ea typeface="宋体" panose="02010600030101010101" pitchFamily="2" charset="-122"/>
              </a:rPr>
              <a:t>Enterprise-level system</a:t>
            </a:r>
          </a:p>
          <a:p>
            <a:pPr lvl="1" eaLnBrk="1" hangingPunct="1">
              <a:lnSpc>
                <a:spcPct val="80000"/>
              </a:lnSpc>
            </a:pPr>
            <a:r>
              <a:rPr lang="en-GB" altLang="zh-CN" sz="2000" dirty="0">
                <a:ea typeface="宋体" panose="02010600030101010101" pitchFamily="2" charset="-122"/>
              </a:rPr>
              <a:t>a system that has shared resources among multiple people or groups in an organization</a:t>
            </a:r>
          </a:p>
          <a:p>
            <a:pPr eaLnBrk="1" hangingPunct="1">
              <a:lnSpc>
                <a:spcPct val="80000"/>
              </a:lnSpc>
            </a:pPr>
            <a:r>
              <a:rPr lang="en-GB" altLang="zh-CN" sz="2400" dirty="0">
                <a:ea typeface="宋体" panose="02010600030101010101" pitchFamily="2" charset="-122"/>
              </a:rPr>
              <a:t>Options are Client-Server or Internet Based</a:t>
            </a:r>
          </a:p>
          <a:p>
            <a:pPr lvl="1" eaLnBrk="1" hangingPunct="1">
              <a:lnSpc>
                <a:spcPct val="80000"/>
              </a:lnSpc>
            </a:pPr>
            <a:r>
              <a:rPr lang="en-GB" altLang="zh-CN" sz="2000" dirty="0">
                <a:ea typeface="宋体" panose="02010600030101010101" pitchFamily="2" charset="-122"/>
              </a:rPr>
              <a:t>Each presents different issues</a:t>
            </a:r>
          </a:p>
        </p:txBody>
      </p:sp>
      <p:pic>
        <p:nvPicPr>
          <p:cNvPr id="15365" name="Picture 5">
            <a:extLst>
              <a:ext uri="{FF2B5EF4-FFF2-40B4-BE49-F238E27FC236}">
                <a16:creationId xmlns:a16="http://schemas.microsoft.com/office/drawing/2014/main" id="{53E6F16D-A502-44EA-9B57-BAE4B9D9DA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590800"/>
            <a:ext cx="7848600" cy="366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6" name="Footer Placeholder 4">
            <a:extLst>
              <a:ext uri="{FF2B5EF4-FFF2-40B4-BE49-F238E27FC236}">
                <a16:creationId xmlns:a16="http://schemas.microsoft.com/office/drawing/2014/main" id="{BFB4CF11-EACD-47D0-96A2-C073C0E38C1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15367" name="Rectangle 4">
            <a:extLst>
              <a:ext uri="{FF2B5EF4-FFF2-40B4-BE49-F238E27FC236}">
                <a16:creationId xmlns:a16="http://schemas.microsoft.com/office/drawing/2014/main" id="{C2D63F5E-2ECD-4726-AD49-3BD03DF40831}"/>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2" name="矩形 1">
            <a:extLst>
              <a:ext uri="{FF2B5EF4-FFF2-40B4-BE49-F238E27FC236}">
                <a16:creationId xmlns:a16="http://schemas.microsoft.com/office/drawing/2014/main" id="{30B86448-AC71-4A4C-8E92-32C5A9CD0906}"/>
              </a:ext>
            </a:extLst>
          </p:cNvPr>
          <p:cNvSpPr/>
          <p:nvPr/>
        </p:nvSpPr>
        <p:spPr>
          <a:xfrm>
            <a:off x="4724400" y="5425746"/>
            <a:ext cx="781050" cy="210207"/>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12A41ED3-5A87-4FCB-BF5E-DABBC0F846DE}"/>
              </a:ext>
            </a:extLst>
          </p:cNvPr>
          <p:cNvSpPr/>
          <p:nvPr/>
        </p:nvSpPr>
        <p:spPr>
          <a:xfrm>
            <a:off x="6000751" y="5635953"/>
            <a:ext cx="781050" cy="263278"/>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1">
            <a:extLst>
              <a:ext uri="{FF2B5EF4-FFF2-40B4-BE49-F238E27FC236}">
                <a16:creationId xmlns:a16="http://schemas.microsoft.com/office/drawing/2014/main" id="{D0F60E97-4669-4111-9063-433C3729E8E2}"/>
              </a:ext>
            </a:extLst>
          </p:cNvPr>
          <p:cNvSpPr txBox="1"/>
          <p:nvPr/>
        </p:nvSpPr>
        <p:spPr>
          <a:xfrm>
            <a:off x="4516437" y="5767592"/>
            <a:ext cx="1406525" cy="369332"/>
          </a:xfrm>
          <a:prstGeom prst="rect">
            <a:avLst/>
          </a:prstGeom>
          <a:noFill/>
        </p:spPr>
        <p:txBody>
          <a:bodyPr wrap="square">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r>
              <a:rPr lang="zh-CN" altLang="en-US" dirty="0"/>
              <a:t>直接地</a:t>
            </a:r>
          </a:p>
        </p:txBody>
      </p:sp>
      <p:sp>
        <p:nvSpPr>
          <p:cNvPr id="12" name="文本框 11">
            <a:extLst>
              <a:ext uri="{FF2B5EF4-FFF2-40B4-BE49-F238E27FC236}">
                <a16:creationId xmlns:a16="http://schemas.microsoft.com/office/drawing/2014/main" id="{D0F60E97-4669-4111-9063-433C3729E8E2}"/>
              </a:ext>
            </a:extLst>
          </p:cNvPr>
          <p:cNvSpPr txBox="1"/>
          <p:nvPr/>
        </p:nvSpPr>
        <p:spPr>
          <a:xfrm>
            <a:off x="6965643" y="6114018"/>
            <a:ext cx="1406525" cy="369332"/>
          </a:xfrm>
          <a:prstGeom prst="rect">
            <a:avLst/>
          </a:prstGeom>
          <a:noFill/>
        </p:spPr>
        <p:txBody>
          <a:bodyPr wrap="square">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r>
              <a:rPr lang="zh-CN" altLang="en-US" sz="1800" dirty="0">
                <a:latin typeface="Arial" panose="020B0604020202020204" pitchFamily="34" charset="0"/>
                <a:cs typeface="Arial" panose="020B0604020202020204" pitchFamily="34" charset="0"/>
              </a:rPr>
              <a:t>间接地</a:t>
            </a:r>
            <a:endParaRPr lang="zh-CN" altLang="en-US" dirty="0"/>
          </a:p>
        </p:txBody>
      </p:sp>
    </p:spTree>
    <p:extLst>
      <p:ext uri="{BB962C8B-B14F-4D97-AF65-F5344CB8AC3E}">
        <p14:creationId xmlns:p14="http://schemas.microsoft.com/office/powerpoint/2010/main" val="4068787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5">
            <a:extLst>
              <a:ext uri="{FF2B5EF4-FFF2-40B4-BE49-F238E27FC236}">
                <a16:creationId xmlns:a16="http://schemas.microsoft.com/office/drawing/2014/main" id="{764DA389-CF00-4BD0-9729-422F7CB1D49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D15C81E7-16D9-415D-9223-68009DF8D538}" type="slidenum">
              <a:rPr lang="en-US" altLang="en-US" sz="1000"/>
              <a:pPr>
                <a:spcBef>
                  <a:spcPct val="0"/>
                </a:spcBef>
                <a:buClrTx/>
                <a:buSzTx/>
                <a:buFontTx/>
                <a:buNone/>
              </a:pPr>
              <a:t>17</a:t>
            </a:fld>
            <a:endParaRPr lang="en-US" altLang="en-US" sz="1000"/>
          </a:p>
        </p:txBody>
      </p:sp>
      <p:sp>
        <p:nvSpPr>
          <p:cNvPr id="16387" name="Rectangle 2">
            <a:extLst>
              <a:ext uri="{FF2B5EF4-FFF2-40B4-BE49-F238E27FC236}">
                <a16:creationId xmlns:a16="http://schemas.microsoft.com/office/drawing/2014/main" id="{F91FB69D-C4FB-4D56-B9B0-809F21644E69}"/>
              </a:ext>
            </a:extLst>
          </p:cNvPr>
          <p:cNvSpPr>
            <a:spLocks noGrp="1" noChangeArrowheads="1"/>
          </p:cNvSpPr>
          <p:nvPr>
            <p:ph type="title"/>
          </p:nvPr>
        </p:nvSpPr>
        <p:spPr>
          <a:xfrm>
            <a:off x="304800" y="122238"/>
            <a:ext cx="7696200" cy="1096962"/>
          </a:xfrm>
        </p:spPr>
        <p:txBody>
          <a:bodyPr/>
          <a:lstStyle/>
          <a:p>
            <a:pPr eaLnBrk="1" hangingPunct="1"/>
            <a:r>
              <a:rPr lang="en-US" altLang="zh-CN" sz="3600">
                <a:ea typeface="宋体" panose="02010600030101010101" pitchFamily="2" charset="-122"/>
              </a:rPr>
              <a:t>Component Diagram </a:t>
            </a:r>
            <a:br>
              <a:rPr lang="en-US" altLang="zh-CN" sz="3600">
                <a:ea typeface="宋体" panose="02010600030101010101" pitchFamily="2" charset="-122"/>
              </a:rPr>
            </a:br>
            <a:r>
              <a:rPr lang="en-US" altLang="zh-CN" sz="2800">
                <a:ea typeface="宋体" panose="02010600030101010101" pitchFamily="2" charset="-122"/>
              </a:rPr>
              <a:t>for Architectural Design</a:t>
            </a:r>
          </a:p>
        </p:txBody>
      </p:sp>
      <p:sp>
        <p:nvSpPr>
          <p:cNvPr id="16388" name="Rectangle 3">
            <a:extLst>
              <a:ext uri="{FF2B5EF4-FFF2-40B4-BE49-F238E27FC236}">
                <a16:creationId xmlns:a16="http://schemas.microsoft.com/office/drawing/2014/main" id="{4448A1B6-DA4C-4094-A359-B8C04A97C346}"/>
              </a:ext>
            </a:extLst>
          </p:cNvPr>
          <p:cNvSpPr>
            <a:spLocks noGrp="1" noChangeArrowheads="1"/>
          </p:cNvSpPr>
          <p:nvPr>
            <p:ph type="body" idx="1"/>
          </p:nvPr>
        </p:nvSpPr>
        <p:spPr>
          <a:xfrm>
            <a:off x="304800" y="1524000"/>
            <a:ext cx="8229600" cy="4495800"/>
          </a:xfrm>
        </p:spPr>
        <p:txBody>
          <a:bodyPr/>
          <a:lstStyle/>
          <a:p>
            <a:pPr eaLnBrk="1" hangingPunct="1">
              <a:lnSpc>
                <a:spcPct val="80000"/>
              </a:lnSpc>
            </a:pPr>
            <a:r>
              <a:rPr lang="en-GB" altLang="zh-CN" sz="2800" dirty="0">
                <a:ea typeface="宋体" panose="02010600030101010101" pitchFamily="2" charset="-122"/>
              </a:rPr>
              <a:t>Component diagram</a:t>
            </a:r>
            <a:r>
              <a:rPr lang="zh-CN" altLang="en-US" sz="2800" dirty="0">
                <a:ea typeface="宋体" panose="02010600030101010101" pitchFamily="2" charset="-122"/>
              </a:rPr>
              <a:t>（组件图）</a:t>
            </a:r>
            <a:r>
              <a:rPr lang="en-GB" altLang="zh-CN" sz="2800" dirty="0">
                <a:ea typeface="宋体" panose="02010600030101010101" pitchFamily="2" charset="-122"/>
              </a:rPr>
              <a:t> – </a:t>
            </a:r>
          </a:p>
          <a:p>
            <a:pPr lvl="1" eaLnBrk="1" hangingPunct="1">
              <a:lnSpc>
                <a:spcPct val="80000"/>
              </a:lnSpc>
            </a:pPr>
            <a:r>
              <a:rPr lang="en-GB" altLang="zh-CN" sz="2400" dirty="0">
                <a:ea typeface="宋体" panose="02010600030101010101" pitchFamily="2" charset="-122"/>
              </a:rPr>
              <a:t>A type of </a:t>
            </a:r>
            <a:r>
              <a:rPr lang="en-GB" altLang="zh-CN" sz="2400" u="sng" dirty="0">
                <a:ea typeface="宋体" panose="02010600030101010101" pitchFamily="2" charset="-122"/>
              </a:rPr>
              <a:t>design diagram</a:t>
            </a:r>
            <a:r>
              <a:rPr lang="zh-CN" altLang="en-US" sz="2400" u="sng" dirty="0">
                <a:ea typeface="宋体" panose="02010600030101010101" pitchFamily="2" charset="-122"/>
              </a:rPr>
              <a:t>（设计图）</a:t>
            </a:r>
            <a:r>
              <a:rPr lang="en-GB" altLang="zh-CN" sz="2400" u="sng" dirty="0">
                <a:ea typeface="宋体" panose="02010600030101010101" pitchFamily="2" charset="-122"/>
              </a:rPr>
              <a:t> </a:t>
            </a:r>
            <a:r>
              <a:rPr lang="en-GB" altLang="zh-CN" sz="2400" dirty="0">
                <a:ea typeface="宋体" panose="02010600030101010101" pitchFamily="2" charset="-122"/>
              </a:rPr>
              <a:t>that shows the overall </a:t>
            </a:r>
            <a:r>
              <a:rPr lang="en-GB" altLang="zh-CN" sz="2400" u="sng" dirty="0">
                <a:ea typeface="宋体" panose="02010600030101010101" pitchFamily="2" charset="-122"/>
              </a:rPr>
              <a:t>system architecture</a:t>
            </a:r>
            <a:r>
              <a:rPr lang="zh-CN" altLang="en-US" sz="2400" u="sng" dirty="0">
                <a:ea typeface="宋体" panose="02010600030101010101" pitchFamily="2" charset="-122"/>
              </a:rPr>
              <a:t>（系统架构）</a:t>
            </a:r>
            <a:r>
              <a:rPr lang="en-GB" altLang="zh-CN" sz="2400" u="sng" dirty="0">
                <a:ea typeface="宋体" panose="02010600030101010101" pitchFamily="2" charset="-122"/>
              </a:rPr>
              <a:t> </a:t>
            </a:r>
            <a:r>
              <a:rPr lang="en-GB" altLang="zh-CN" sz="2400" dirty="0">
                <a:ea typeface="宋体" panose="02010600030101010101" pitchFamily="2" charset="-122"/>
              </a:rPr>
              <a:t>and the </a:t>
            </a:r>
            <a:r>
              <a:rPr lang="en-GB" altLang="zh-CN" sz="2400" u="sng" dirty="0">
                <a:ea typeface="宋体" panose="02010600030101010101" pitchFamily="2" charset="-122"/>
              </a:rPr>
              <a:t>logical components</a:t>
            </a:r>
            <a:r>
              <a:rPr lang="zh-CN" altLang="en-US" sz="2400" u="sng" dirty="0">
                <a:ea typeface="宋体" panose="02010600030101010101" pitchFamily="2" charset="-122"/>
              </a:rPr>
              <a:t>（逻辑组件）</a:t>
            </a:r>
            <a:r>
              <a:rPr lang="en-GB" altLang="zh-CN" sz="2400" u="sng" dirty="0">
                <a:ea typeface="宋体" panose="02010600030101010101" pitchFamily="2" charset="-122"/>
              </a:rPr>
              <a:t> </a:t>
            </a:r>
            <a:r>
              <a:rPr lang="en-GB" altLang="zh-CN" sz="2400" dirty="0">
                <a:ea typeface="宋体" panose="02010600030101010101" pitchFamily="2" charset="-122"/>
              </a:rPr>
              <a:t>within it for how the system will be implemented</a:t>
            </a:r>
          </a:p>
          <a:p>
            <a:pPr lvl="1" eaLnBrk="1" hangingPunct="1">
              <a:lnSpc>
                <a:spcPct val="80000"/>
              </a:lnSpc>
            </a:pPr>
            <a:r>
              <a:rPr lang="en-GB" altLang="zh-CN" sz="2400" dirty="0">
                <a:ea typeface="宋体" panose="02010600030101010101" pitchFamily="2" charset="-122"/>
              </a:rPr>
              <a:t>Identifies the logical, reusable, and transportable </a:t>
            </a:r>
            <a:r>
              <a:rPr lang="en-GB" altLang="zh-CN" sz="2400" u="sng" dirty="0">
                <a:ea typeface="宋体" panose="02010600030101010101" pitchFamily="2" charset="-122"/>
              </a:rPr>
              <a:t>system components </a:t>
            </a:r>
            <a:r>
              <a:rPr lang="zh-CN" altLang="en-US" sz="2400" u="sng" dirty="0">
                <a:ea typeface="宋体" panose="02010600030101010101" pitchFamily="2" charset="-122"/>
              </a:rPr>
              <a:t>（系统组件）</a:t>
            </a:r>
            <a:r>
              <a:rPr lang="en-GB" altLang="zh-CN" sz="2400" dirty="0">
                <a:ea typeface="宋体" panose="02010600030101010101" pitchFamily="2" charset="-122"/>
              </a:rPr>
              <a:t>that define the system architecture</a:t>
            </a:r>
          </a:p>
          <a:p>
            <a:pPr lvl="1" eaLnBrk="1" hangingPunct="1">
              <a:lnSpc>
                <a:spcPct val="80000"/>
              </a:lnSpc>
            </a:pPr>
            <a:r>
              <a:rPr lang="en-GB" altLang="zh-CN" sz="2400" dirty="0">
                <a:ea typeface="宋体" panose="02010600030101010101" pitchFamily="2" charset="-122"/>
              </a:rPr>
              <a:t>The essential element of a component diagram is the </a:t>
            </a:r>
            <a:r>
              <a:rPr lang="en-GB" altLang="zh-CN" sz="2400" u="sng" dirty="0">
                <a:ea typeface="宋体" panose="02010600030101010101" pitchFamily="2" charset="-122"/>
              </a:rPr>
              <a:t>component element with its API</a:t>
            </a:r>
            <a:r>
              <a:rPr lang="zh-CN" altLang="en-US" sz="2400" u="sng" dirty="0">
                <a:ea typeface="宋体" panose="02010600030101010101" pitchFamily="2" charset="-122"/>
              </a:rPr>
              <a:t>（组件图的基本元素）</a:t>
            </a:r>
            <a:r>
              <a:rPr lang="en-GB" altLang="zh-CN" sz="2400" dirty="0">
                <a:ea typeface="宋体" panose="02010600030101010101" pitchFamily="2" charset="-122"/>
              </a:rPr>
              <a:t>.</a:t>
            </a:r>
          </a:p>
          <a:p>
            <a:pPr eaLnBrk="1" hangingPunct="1">
              <a:lnSpc>
                <a:spcPct val="80000"/>
              </a:lnSpc>
            </a:pPr>
            <a:r>
              <a:rPr lang="en-GB" altLang="zh-CN" sz="2800" dirty="0">
                <a:ea typeface="宋体" panose="02010600030101010101" pitchFamily="2" charset="-122"/>
              </a:rPr>
              <a:t>Application program interface (API) </a:t>
            </a:r>
            <a:r>
              <a:rPr lang="zh-CN" altLang="en-US" sz="2800" dirty="0">
                <a:ea typeface="宋体" panose="02010600030101010101" pitchFamily="2" charset="-122"/>
              </a:rPr>
              <a:t>（应用程序接口）</a:t>
            </a:r>
            <a:r>
              <a:rPr lang="en-GB" altLang="zh-CN" sz="2800" dirty="0">
                <a:ea typeface="宋体" panose="02010600030101010101" pitchFamily="2" charset="-122"/>
              </a:rPr>
              <a:t>–</a:t>
            </a:r>
          </a:p>
          <a:p>
            <a:pPr lvl="1" eaLnBrk="1" hangingPunct="1">
              <a:lnSpc>
                <a:spcPct val="80000"/>
              </a:lnSpc>
            </a:pPr>
            <a:r>
              <a:rPr lang="en-GB" altLang="zh-CN" sz="2400" dirty="0">
                <a:ea typeface="宋体" panose="02010600030101010101" pitchFamily="2" charset="-122"/>
              </a:rPr>
              <a:t>The set of </a:t>
            </a:r>
            <a:r>
              <a:rPr lang="en-GB" altLang="zh-CN" sz="2400" u="sng" dirty="0">
                <a:ea typeface="宋体" panose="02010600030101010101" pitchFamily="2" charset="-122"/>
              </a:rPr>
              <a:t>public methods</a:t>
            </a:r>
            <a:r>
              <a:rPr lang="zh-CN" altLang="en-US" sz="2400" u="sng" dirty="0">
                <a:ea typeface="宋体" panose="02010600030101010101" pitchFamily="2" charset="-122"/>
              </a:rPr>
              <a:t>（公用方法）</a:t>
            </a:r>
            <a:r>
              <a:rPr lang="en-GB" altLang="zh-CN" sz="2400" u="sng" dirty="0">
                <a:ea typeface="宋体" panose="02010600030101010101" pitchFamily="2" charset="-122"/>
              </a:rPr>
              <a:t> </a:t>
            </a:r>
            <a:r>
              <a:rPr lang="en-GB" altLang="zh-CN" sz="2400" dirty="0">
                <a:ea typeface="宋体" panose="02010600030101010101" pitchFamily="2" charset="-122"/>
              </a:rPr>
              <a:t>that are available to the outside world</a:t>
            </a:r>
          </a:p>
        </p:txBody>
      </p:sp>
      <p:sp>
        <p:nvSpPr>
          <p:cNvPr id="16389" name="Footer Placeholder 4">
            <a:extLst>
              <a:ext uri="{FF2B5EF4-FFF2-40B4-BE49-F238E27FC236}">
                <a16:creationId xmlns:a16="http://schemas.microsoft.com/office/drawing/2014/main" id="{1FD7C201-6471-4E8A-8EED-7CC7D06B6CB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16390" name="Rectangle 4">
            <a:extLst>
              <a:ext uri="{FF2B5EF4-FFF2-40B4-BE49-F238E27FC236}">
                <a16:creationId xmlns:a16="http://schemas.microsoft.com/office/drawing/2014/main" id="{7D20EDA0-AD5A-4F2B-81B0-97F2C8355AFE}"/>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a:extLst>
              <a:ext uri="{FF2B5EF4-FFF2-40B4-BE49-F238E27FC236}">
                <a16:creationId xmlns:a16="http://schemas.microsoft.com/office/drawing/2014/main" id="{D7331AF7-9AF0-44FC-95ED-BB0DFBB5B97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9D4915F5-CDD6-43D0-A23F-3F2AAC170AAD}" type="slidenum">
              <a:rPr lang="en-US" altLang="en-US" sz="1000"/>
              <a:pPr>
                <a:spcBef>
                  <a:spcPct val="0"/>
                </a:spcBef>
                <a:buClrTx/>
                <a:buSzTx/>
                <a:buFontTx/>
                <a:buNone/>
              </a:pPr>
              <a:t>18</a:t>
            </a:fld>
            <a:endParaRPr lang="en-US" altLang="en-US" sz="1000"/>
          </a:p>
        </p:txBody>
      </p:sp>
      <p:sp>
        <p:nvSpPr>
          <p:cNvPr id="17411" name="Rectangle 2">
            <a:extLst>
              <a:ext uri="{FF2B5EF4-FFF2-40B4-BE49-F238E27FC236}">
                <a16:creationId xmlns:a16="http://schemas.microsoft.com/office/drawing/2014/main" id="{8E2A664A-1286-4CAF-B854-BDF01E61D784}"/>
              </a:ext>
            </a:extLst>
          </p:cNvPr>
          <p:cNvSpPr>
            <a:spLocks noGrp="1" noChangeArrowheads="1"/>
          </p:cNvSpPr>
          <p:nvPr>
            <p:ph type="title"/>
          </p:nvPr>
        </p:nvSpPr>
        <p:spPr>
          <a:xfrm>
            <a:off x="304800" y="122238"/>
            <a:ext cx="7696200" cy="1020762"/>
          </a:xfrm>
        </p:spPr>
        <p:txBody>
          <a:bodyPr/>
          <a:lstStyle/>
          <a:p>
            <a:pPr eaLnBrk="1" hangingPunct="1"/>
            <a:r>
              <a:rPr lang="en-US" altLang="zh-CN" sz="3600">
                <a:ea typeface="宋体" panose="02010600030101010101" pitchFamily="2" charset="-122"/>
              </a:rPr>
              <a:t>Component Diagram </a:t>
            </a:r>
            <a:br>
              <a:rPr lang="en-US" altLang="zh-CN" sz="3600">
                <a:ea typeface="宋体" panose="02010600030101010101" pitchFamily="2" charset="-122"/>
              </a:rPr>
            </a:br>
            <a:r>
              <a:rPr lang="en-US" altLang="zh-CN" sz="2800">
                <a:ea typeface="宋体" panose="02010600030101010101" pitchFamily="2" charset="-122"/>
              </a:rPr>
              <a:t>for Architectural Design</a:t>
            </a:r>
          </a:p>
        </p:txBody>
      </p:sp>
      <p:pic>
        <p:nvPicPr>
          <p:cNvPr id="17412" name="Picture 5">
            <a:extLst>
              <a:ext uri="{FF2B5EF4-FFF2-40B4-BE49-F238E27FC236}">
                <a16:creationId xmlns:a16="http://schemas.microsoft.com/office/drawing/2014/main" id="{EF195B1D-423B-4C52-8126-FE4C0E8908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143000"/>
            <a:ext cx="7848600" cy="508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3" name="Footer Placeholder 4">
            <a:extLst>
              <a:ext uri="{FF2B5EF4-FFF2-40B4-BE49-F238E27FC236}">
                <a16:creationId xmlns:a16="http://schemas.microsoft.com/office/drawing/2014/main" id="{7BF88C1F-837C-435B-8EAD-249CC5368E4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17414" name="Rectangle 4">
            <a:extLst>
              <a:ext uri="{FF2B5EF4-FFF2-40B4-BE49-F238E27FC236}">
                <a16:creationId xmlns:a16="http://schemas.microsoft.com/office/drawing/2014/main" id="{66F34177-5AD5-4DE8-8EB7-0A68417289CC}"/>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2" name="矩形 1">
            <a:extLst>
              <a:ext uri="{FF2B5EF4-FFF2-40B4-BE49-F238E27FC236}">
                <a16:creationId xmlns:a16="http://schemas.microsoft.com/office/drawing/2014/main" id="{47FB4564-3CE8-4302-98FF-3E83A6CDE884}"/>
              </a:ext>
            </a:extLst>
          </p:cNvPr>
          <p:cNvSpPr/>
          <p:nvPr/>
        </p:nvSpPr>
        <p:spPr>
          <a:xfrm>
            <a:off x="5334000" y="1828800"/>
            <a:ext cx="609600" cy="7620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标注: 线形 2">
            <a:extLst>
              <a:ext uri="{FF2B5EF4-FFF2-40B4-BE49-F238E27FC236}">
                <a16:creationId xmlns:a16="http://schemas.microsoft.com/office/drawing/2014/main" id="{5B765E78-98BE-4BC3-859F-097339F21275}"/>
              </a:ext>
            </a:extLst>
          </p:cNvPr>
          <p:cNvSpPr/>
          <p:nvPr/>
        </p:nvSpPr>
        <p:spPr>
          <a:xfrm>
            <a:off x="6324600" y="990600"/>
            <a:ext cx="1676400" cy="750888"/>
          </a:xfrm>
          <a:prstGeom prst="borderCallout1">
            <a:avLst>
              <a:gd name="adj1" fmla="val 35547"/>
              <a:gd name="adj2" fmla="val -4885"/>
              <a:gd name="adj3" fmla="val 112500"/>
              <a:gd name="adj4" fmla="val -3833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可移动、</a:t>
            </a:r>
            <a:endParaRPr lang="en-US" altLang="zh-CN" dirty="0"/>
          </a:p>
          <a:p>
            <a:pPr algn="ctr"/>
            <a:r>
              <a:rPr lang="zh-CN" altLang="en-US" dirty="0"/>
              <a:t>可执行的组件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a:extLst>
              <a:ext uri="{FF2B5EF4-FFF2-40B4-BE49-F238E27FC236}">
                <a16:creationId xmlns:a16="http://schemas.microsoft.com/office/drawing/2014/main" id="{D7331AF7-9AF0-44FC-95ED-BB0DFBB5B97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9D4915F5-CDD6-43D0-A23F-3F2AAC170AAD}" type="slidenum">
              <a:rPr lang="en-US" altLang="en-US" sz="1000"/>
              <a:pPr>
                <a:spcBef>
                  <a:spcPct val="0"/>
                </a:spcBef>
                <a:buClrTx/>
                <a:buSzTx/>
                <a:buFontTx/>
                <a:buNone/>
              </a:pPr>
              <a:t>19</a:t>
            </a:fld>
            <a:endParaRPr lang="en-US" altLang="en-US" sz="1000"/>
          </a:p>
        </p:txBody>
      </p:sp>
      <p:sp>
        <p:nvSpPr>
          <p:cNvPr id="17411" name="Rectangle 2">
            <a:extLst>
              <a:ext uri="{FF2B5EF4-FFF2-40B4-BE49-F238E27FC236}">
                <a16:creationId xmlns:a16="http://schemas.microsoft.com/office/drawing/2014/main" id="{8E2A664A-1286-4CAF-B854-BDF01E61D784}"/>
              </a:ext>
            </a:extLst>
          </p:cNvPr>
          <p:cNvSpPr>
            <a:spLocks noGrp="1" noChangeArrowheads="1"/>
          </p:cNvSpPr>
          <p:nvPr>
            <p:ph type="title"/>
          </p:nvPr>
        </p:nvSpPr>
        <p:spPr>
          <a:xfrm>
            <a:off x="304800" y="122238"/>
            <a:ext cx="7696200" cy="1020762"/>
          </a:xfrm>
        </p:spPr>
        <p:txBody>
          <a:bodyPr/>
          <a:lstStyle/>
          <a:p>
            <a:pPr eaLnBrk="1" hangingPunct="1"/>
            <a:r>
              <a:rPr lang="en-US" altLang="zh-CN" sz="3600">
                <a:ea typeface="宋体" panose="02010600030101010101" pitchFamily="2" charset="-122"/>
              </a:rPr>
              <a:t>Component Diagram </a:t>
            </a:r>
            <a:br>
              <a:rPr lang="en-US" altLang="zh-CN" sz="3600">
                <a:ea typeface="宋体" panose="02010600030101010101" pitchFamily="2" charset="-122"/>
              </a:rPr>
            </a:br>
            <a:r>
              <a:rPr lang="en-US" altLang="zh-CN" sz="2800">
                <a:ea typeface="宋体" panose="02010600030101010101" pitchFamily="2" charset="-122"/>
              </a:rPr>
              <a:t>for Architectural Design</a:t>
            </a:r>
          </a:p>
        </p:txBody>
      </p:sp>
      <p:pic>
        <p:nvPicPr>
          <p:cNvPr id="17412" name="Picture 5">
            <a:extLst>
              <a:ext uri="{FF2B5EF4-FFF2-40B4-BE49-F238E27FC236}">
                <a16:creationId xmlns:a16="http://schemas.microsoft.com/office/drawing/2014/main" id="{EF195B1D-423B-4C52-8126-FE4C0E8908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143000"/>
            <a:ext cx="7848600" cy="508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3" name="Footer Placeholder 4">
            <a:extLst>
              <a:ext uri="{FF2B5EF4-FFF2-40B4-BE49-F238E27FC236}">
                <a16:creationId xmlns:a16="http://schemas.microsoft.com/office/drawing/2014/main" id="{7BF88C1F-837C-435B-8EAD-249CC5368E4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17414" name="Rectangle 4">
            <a:extLst>
              <a:ext uri="{FF2B5EF4-FFF2-40B4-BE49-F238E27FC236}">
                <a16:creationId xmlns:a16="http://schemas.microsoft.com/office/drawing/2014/main" id="{66F34177-5AD5-4DE8-8EB7-0A68417289CC}"/>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2" name="矩形 1">
            <a:extLst>
              <a:ext uri="{FF2B5EF4-FFF2-40B4-BE49-F238E27FC236}">
                <a16:creationId xmlns:a16="http://schemas.microsoft.com/office/drawing/2014/main" id="{47FB4564-3CE8-4302-98FF-3E83A6CDE884}"/>
              </a:ext>
            </a:extLst>
          </p:cNvPr>
          <p:cNvSpPr/>
          <p:nvPr/>
        </p:nvSpPr>
        <p:spPr>
          <a:xfrm>
            <a:off x="457200" y="1782762"/>
            <a:ext cx="2209800" cy="102076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68128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a:extLst>
              <a:ext uri="{FF2B5EF4-FFF2-40B4-BE49-F238E27FC236}">
                <a16:creationId xmlns:a16="http://schemas.microsoft.com/office/drawing/2014/main" id="{D7331AF7-9AF0-44FC-95ED-BB0DFBB5B97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9D4915F5-CDD6-43D0-A23F-3F2AAC170AAD}" type="slidenum">
              <a:rPr lang="en-US" altLang="en-US" sz="1000"/>
              <a:pPr>
                <a:spcBef>
                  <a:spcPct val="0"/>
                </a:spcBef>
                <a:buClrTx/>
                <a:buSzTx/>
                <a:buFontTx/>
                <a:buNone/>
              </a:pPr>
              <a:t>20</a:t>
            </a:fld>
            <a:endParaRPr lang="en-US" altLang="en-US" sz="1000"/>
          </a:p>
        </p:txBody>
      </p:sp>
      <p:sp>
        <p:nvSpPr>
          <p:cNvPr id="17411" name="Rectangle 2">
            <a:extLst>
              <a:ext uri="{FF2B5EF4-FFF2-40B4-BE49-F238E27FC236}">
                <a16:creationId xmlns:a16="http://schemas.microsoft.com/office/drawing/2014/main" id="{8E2A664A-1286-4CAF-B854-BDF01E61D784}"/>
              </a:ext>
            </a:extLst>
          </p:cNvPr>
          <p:cNvSpPr>
            <a:spLocks noGrp="1" noChangeArrowheads="1"/>
          </p:cNvSpPr>
          <p:nvPr>
            <p:ph type="title"/>
          </p:nvPr>
        </p:nvSpPr>
        <p:spPr>
          <a:xfrm>
            <a:off x="304800" y="122238"/>
            <a:ext cx="7696200" cy="1020762"/>
          </a:xfrm>
        </p:spPr>
        <p:txBody>
          <a:bodyPr/>
          <a:lstStyle/>
          <a:p>
            <a:pPr eaLnBrk="1" hangingPunct="1"/>
            <a:r>
              <a:rPr lang="en-US" altLang="zh-CN" sz="3600">
                <a:ea typeface="宋体" panose="02010600030101010101" pitchFamily="2" charset="-122"/>
              </a:rPr>
              <a:t>Component Diagram </a:t>
            </a:r>
            <a:br>
              <a:rPr lang="en-US" altLang="zh-CN" sz="3600">
                <a:ea typeface="宋体" panose="02010600030101010101" pitchFamily="2" charset="-122"/>
              </a:rPr>
            </a:br>
            <a:r>
              <a:rPr lang="en-US" altLang="zh-CN" sz="2800">
                <a:ea typeface="宋体" panose="02010600030101010101" pitchFamily="2" charset="-122"/>
              </a:rPr>
              <a:t>for Architectural Design</a:t>
            </a:r>
          </a:p>
        </p:txBody>
      </p:sp>
      <p:pic>
        <p:nvPicPr>
          <p:cNvPr id="17412" name="Picture 5">
            <a:extLst>
              <a:ext uri="{FF2B5EF4-FFF2-40B4-BE49-F238E27FC236}">
                <a16:creationId xmlns:a16="http://schemas.microsoft.com/office/drawing/2014/main" id="{EF195B1D-423B-4C52-8126-FE4C0E8908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143000"/>
            <a:ext cx="7848600" cy="508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3" name="Footer Placeholder 4">
            <a:extLst>
              <a:ext uri="{FF2B5EF4-FFF2-40B4-BE49-F238E27FC236}">
                <a16:creationId xmlns:a16="http://schemas.microsoft.com/office/drawing/2014/main" id="{7BF88C1F-837C-435B-8EAD-249CC5368E4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17414" name="Rectangle 4">
            <a:extLst>
              <a:ext uri="{FF2B5EF4-FFF2-40B4-BE49-F238E27FC236}">
                <a16:creationId xmlns:a16="http://schemas.microsoft.com/office/drawing/2014/main" id="{66F34177-5AD5-4DE8-8EB7-0A68417289CC}"/>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9" name="矩形 8">
            <a:extLst>
              <a:ext uri="{FF2B5EF4-FFF2-40B4-BE49-F238E27FC236}">
                <a16:creationId xmlns:a16="http://schemas.microsoft.com/office/drawing/2014/main" id="{D78BE475-C861-4D2C-911B-994A79CC5162}"/>
              </a:ext>
            </a:extLst>
          </p:cNvPr>
          <p:cNvSpPr/>
          <p:nvPr/>
        </p:nvSpPr>
        <p:spPr>
          <a:xfrm>
            <a:off x="5943599" y="1782762"/>
            <a:ext cx="2327275" cy="102076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92EF6B08-C139-46B7-8A48-77EE7A98C8FA}"/>
              </a:ext>
            </a:extLst>
          </p:cNvPr>
          <p:cNvSpPr/>
          <p:nvPr/>
        </p:nvSpPr>
        <p:spPr>
          <a:xfrm>
            <a:off x="2244725" y="3733800"/>
            <a:ext cx="4079875" cy="23622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06156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a:extLst>
              <a:ext uri="{FF2B5EF4-FFF2-40B4-BE49-F238E27FC236}">
                <a16:creationId xmlns:a16="http://schemas.microsoft.com/office/drawing/2014/main" id="{12651A9C-9782-4390-8414-09148CCCB46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00EF5DD9-6EAF-4E79-B47E-18D4DDF66BAB}" type="slidenum">
              <a:rPr lang="en-US" altLang="en-US" sz="1000"/>
              <a:pPr>
                <a:spcBef>
                  <a:spcPct val="0"/>
                </a:spcBef>
                <a:buClrTx/>
                <a:buSzTx/>
                <a:buFontTx/>
                <a:buNone/>
              </a:pPr>
              <a:t>21</a:t>
            </a:fld>
            <a:endParaRPr lang="en-US" altLang="en-US" sz="1000"/>
          </a:p>
        </p:txBody>
      </p:sp>
      <p:sp>
        <p:nvSpPr>
          <p:cNvPr id="8195" name="Rectangle 2">
            <a:extLst>
              <a:ext uri="{FF2B5EF4-FFF2-40B4-BE49-F238E27FC236}">
                <a16:creationId xmlns:a16="http://schemas.microsoft.com/office/drawing/2014/main" id="{19933FCB-7CED-4518-B74A-F3D517C5A383}"/>
              </a:ext>
            </a:extLst>
          </p:cNvPr>
          <p:cNvSpPr>
            <a:spLocks noGrp="1" noChangeArrowheads="1"/>
          </p:cNvSpPr>
          <p:nvPr>
            <p:ph type="title"/>
          </p:nvPr>
        </p:nvSpPr>
        <p:spPr>
          <a:xfrm>
            <a:off x="457200" y="122238"/>
            <a:ext cx="7543800" cy="1096962"/>
          </a:xfrm>
        </p:spPr>
        <p:txBody>
          <a:bodyPr/>
          <a:lstStyle/>
          <a:p>
            <a:pPr eaLnBrk="1" hangingPunct="1"/>
            <a:r>
              <a:rPr lang="en-US" altLang="zh-CN">
                <a:ea typeface="宋体" panose="02010600030101010101" pitchFamily="2" charset="-122"/>
              </a:rPr>
              <a:t>Chapter 10 Outline</a:t>
            </a:r>
          </a:p>
        </p:txBody>
      </p:sp>
      <p:sp>
        <p:nvSpPr>
          <p:cNvPr id="8196" name="Rectangle 3">
            <a:extLst>
              <a:ext uri="{FF2B5EF4-FFF2-40B4-BE49-F238E27FC236}">
                <a16:creationId xmlns:a16="http://schemas.microsoft.com/office/drawing/2014/main" id="{99359615-6E02-4FAA-BA04-3B3864BFDA39}"/>
              </a:ext>
            </a:extLst>
          </p:cNvPr>
          <p:cNvSpPr>
            <a:spLocks noGrp="1" noChangeArrowheads="1"/>
          </p:cNvSpPr>
          <p:nvPr>
            <p:ph type="body" idx="1"/>
          </p:nvPr>
        </p:nvSpPr>
        <p:spPr>
          <a:xfrm>
            <a:off x="457200" y="1752600"/>
            <a:ext cx="8229600" cy="4411663"/>
          </a:xfrm>
        </p:spPr>
        <p:txBody>
          <a:bodyPr/>
          <a:lstStyle/>
          <a:p>
            <a:pPr eaLnBrk="1" hangingPunct="1"/>
            <a:endParaRPr lang="en-US" altLang="zh-CN" sz="3200" dirty="0">
              <a:ea typeface="宋体" panose="02010600030101010101" pitchFamily="2" charset="-122"/>
            </a:endParaRPr>
          </a:p>
          <a:p>
            <a:pPr eaLnBrk="1" hangingPunct="1"/>
            <a:endParaRPr lang="en-US" altLang="zh-CN" sz="3200" dirty="0">
              <a:ea typeface="宋体" panose="02010600030101010101" pitchFamily="2" charset="-122"/>
            </a:endParaRPr>
          </a:p>
        </p:txBody>
      </p:sp>
      <p:sp>
        <p:nvSpPr>
          <p:cNvPr id="8197" name="Rectangle 4">
            <a:extLst>
              <a:ext uri="{FF2B5EF4-FFF2-40B4-BE49-F238E27FC236}">
                <a16:creationId xmlns:a16="http://schemas.microsoft.com/office/drawing/2014/main" id="{1A459FC4-306D-4676-B8FC-1F8CD2C3D32F}"/>
              </a:ext>
            </a:extLst>
          </p:cNvPr>
          <p:cNvSpPr>
            <a:spLocks noChangeArrowheads="1"/>
          </p:cNvSpPr>
          <p:nvPr/>
        </p:nvSpPr>
        <p:spPr bwMode="auto">
          <a:xfrm>
            <a:off x="304800" y="13716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r>
              <a:rPr lang="en-GB" altLang="zh-CN" dirty="0">
                <a:ea typeface="宋体" panose="02010600030101010101" pitchFamily="2" charset="-122"/>
              </a:rPr>
              <a:t>Object-Oriented Design: Bridging from Analysis to Implementation</a:t>
            </a:r>
          </a:p>
          <a:p>
            <a:pPr eaLnBrk="1" hangingPunct="1"/>
            <a:r>
              <a:rPr lang="en-GB" altLang="zh-CN" dirty="0">
                <a:ea typeface="宋体" panose="02010600030101010101" pitchFamily="2" charset="-122"/>
              </a:rPr>
              <a:t>Object-Oriented Architectural Design</a:t>
            </a:r>
          </a:p>
          <a:p>
            <a:pPr eaLnBrk="1" hangingPunct="1"/>
            <a:r>
              <a:rPr lang="en-GB" altLang="zh-CN" dirty="0">
                <a:solidFill>
                  <a:srgbClr val="C00000"/>
                </a:solidFill>
                <a:ea typeface="宋体" panose="02010600030101010101" pitchFamily="2" charset="-122"/>
              </a:rPr>
              <a:t>Fundamental Principles of Object-Oriented Detailed Design</a:t>
            </a:r>
            <a:r>
              <a:rPr lang="zh-CN" altLang="en-US" dirty="0">
                <a:solidFill>
                  <a:srgbClr val="C00000"/>
                </a:solidFill>
                <a:ea typeface="宋体" panose="02010600030101010101" pitchFamily="2" charset="-122"/>
              </a:rPr>
              <a:t>（面向对象细节设计的基本原则）</a:t>
            </a:r>
            <a:endParaRPr lang="en-GB" altLang="zh-CN" dirty="0">
              <a:solidFill>
                <a:srgbClr val="C00000"/>
              </a:solidFill>
              <a:ea typeface="宋体" panose="02010600030101010101" pitchFamily="2" charset="-122"/>
            </a:endParaRPr>
          </a:p>
          <a:p>
            <a:pPr eaLnBrk="1" hangingPunct="1"/>
            <a:r>
              <a:rPr lang="en-GB" altLang="zh-CN" dirty="0">
                <a:ea typeface="宋体" panose="02010600030101010101" pitchFamily="2" charset="-122"/>
              </a:rPr>
              <a:t>Design Classes and the Design Class Diagram</a:t>
            </a:r>
          </a:p>
          <a:p>
            <a:pPr eaLnBrk="1" hangingPunct="1"/>
            <a:r>
              <a:rPr lang="en-GB" altLang="zh-CN" dirty="0">
                <a:ea typeface="宋体" panose="02010600030101010101" pitchFamily="2" charset="-122"/>
              </a:rPr>
              <a:t>Detailed Design with CRC Cards</a:t>
            </a:r>
          </a:p>
          <a:p>
            <a:pPr eaLnBrk="1" hangingPunct="1"/>
            <a:r>
              <a:rPr lang="en-GB" altLang="zh-CN" dirty="0">
                <a:ea typeface="宋体" panose="02010600030101010101" pitchFamily="2" charset="-122"/>
              </a:rPr>
              <a:t>Fundamental Detailed Design Principles</a:t>
            </a:r>
          </a:p>
        </p:txBody>
      </p:sp>
      <p:sp>
        <p:nvSpPr>
          <p:cNvPr id="8198" name="Footer Placeholder 4">
            <a:extLst>
              <a:ext uri="{FF2B5EF4-FFF2-40B4-BE49-F238E27FC236}">
                <a16:creationId xmlns:a16="http://schemas.microsoft.com/office/drawing/2014/main" id="{7B56DDD1-CA9F-4839-B616-D15016222DA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8199" name="Rectangle 4">
            <a:extLst>
              <a:ext uri="{FF2B5EF4-FFF2-40B4-BE49-F238E27FC236}">
                <a16:creationId xmlns:a16="http://schemas.microsoft.com/office/drawing/2014/main" id="{A62A238B-1078-4DB3-8358-CE7B062A8BC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6957276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D77D4408-1254-41F6-9392-BF071803911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42DA32D1-ED6A-4C86-8DF2-1A99E2A8F83A}" type="slidenum">
              <a:rPr lang="en-US" altLang="en-US" sz="1000"/>
              <a:pPr>
                <a:spcBef>
                  <a:spcPct val="0"/>
                </a:spcBef>
                <a:buClrTx/>
                <a:buSzTx/>
                <a:buFontTx/>
                <a:buNone/>
              </a:pPr>
              <a:t>22</a:t>
            </a:fld>
            <a:endParaRPr lang="en-US" altLang="en-US" sz="1000"/>
          </a:p>
        </p:txBody>
      </p:sp>
      <p:sp>
        <p:nvSpPr>
          <p:cNvPr id="19459" name="Rectangle 2">
            <a:extLst>
              <a:ext uri="{FF2B5EF4-FFF2-40B4-BE49-F238E27FC236}">
                <a16:creationId xmlns:a16="http://schemas.microsoft.com/office/drawing/2014/main" id="{D5607539-0979-42A4-8002-57F268667AC9}"/>
              </a:ext>
            </a:extLst>
          </p:cNvPr>
          <p:cNvSpPr>
            <a:spLocks noGrp="1" noChangeArrowheads="1"/>
          </p:cNvSpPr>
          <p:nvPr>
            <p:ph type="title"/>
          </p:nvPr>
        </p:nvSpPr>
        <p:spPr>
          <a:xfrm>
            <a:off x="304800" y="122238"/>
            <a:ext cx="7696200" cy="1096962"/>
          </a:xfrm>
        </p:spPr>
        <p:txBody>
          <a:bodyPr/>
          <a:lstStyle/>
          <a:p>
            <a:pPr eaLnBrk="1" hangingPunct="1"/>
            <a:r>
              <a:rPr lang="en-US" altLang="zh-CN" sz="3600" dirty="0">
                <a:ea typeface="宋体" panose="02010600030101010101" pitchFamily="2" charset="-122"/>
              </a:rPr>
              <a:t>Detailed Design</a:t>
            </a:r>
            <a:r>
              <a:rPr lang="zh-CN" altLang="en-US" sz="3600" dirty="0">
                <a:ea typeface="宋体" panose="02010600030101010101" pitchFamily="2" charset="-122"/>
              </a:rPr>
              <a:t>（详细设计）</a:t>
            </a:r>
            <a:br>
              <a:rPr lang="en-US" altLang="zh-CN" sz="2800" dirty="0">
                <a:ea typeface="宋体" panose="02010600030101010101" pitchFamily="2" charset="-122"/>
              </a:rPr>
            </a:br>
            <a:r>
              <a:rPr lang="en-US" altLang="zh-CN" sz="2800" dirty="0">
                <a:ea typeface="宋体" panose="02010600030101010101" pitchFamily="2" charset="-122"/>
              </a:rPr>
              <a:t>Use Case Realization</a:t>
            </a:r>
            <a:r>
              <a:rPr lang="zh-CN" altLang="en-US" sz="2800" dirty="0">
                <a:ea typeface="宋体" panose="02010600030101010101" pitchFamily="2" charset="-122"/>
              </a:rPr>
              <a:t>（用例实现）</a:t>
            </a:r>
            <a:endParaRPr lang="en-US" altLang="zh-CN" sz="2800" dirty="0">
              <a:ea typeface="宋体" panose="02010600030101010101" pitchFamily="2" charset="-122"/>
            </a:endParaRPr>
          </a:p>
        </p:txBody>
      </p:sp>
      <p:sp>
        <p:nvSpPr>
          <p:cNvPr id="19460" name="Rectangle 3">
            <a:extLst>
              <a:ext uri="{FF2B5EF4-FFF2-40B4-BE49-F238E27FC236}">
                <a16:creationId xmlns:a16="http://schemas.microsoft.com/office/drawing/2014/main" id="{A9039B5F-E914-4838-882C-7B7B9D3605CE}"/>
              </a:ext>
            </a:extLst>
          </p:cNvPr>
          <p:cNvSpPr>
            <a:spLocks noGrp="1" noChangeArrowheads="1"/>
          </p:cNvSpPr>
          <p:nvPr>
            <p:ph type="body" idx="1"/>
          </p:nvPr>
        </p:nvSpPr>
        <p:spPr>
          <a:xfrm>
            <a:off x="228600" y="1447800"/>
            <a:ext cx="8153400" cy="4724400"/>
          </a:xfrm>
        </p:spPr>
        <p:txBody>
          <a:bodyPr/>
          <a:lstStyle/>
          <a:p>
            <a:pPr eaLnBrk="1" hangingPunct="1">
              <a:lnSpc>
                <a:spcPct val="80000"/>
              </a:lnSpc>
            </a:pPr>
            <a:r>
              <a:rPr lang="en-US" altLang="zh-CN" sz="2800" dirty="0">
                <a:ea typeface="宋体" panose="02010600030101010101" pitchFamily="2" charset="-122"/>
              </a:rPr>
              <a:t>Design and Implement Use Case by Use Case</a:t>
            </a:r>
          </a:p>
          <a:p>
            <a:pPr lvl="1" eaLnBrk="1" hangingPunct="1">
              <a:lnSpc>
                <a:spcPct val="80000"/>
              </a:lnSpc>
            </a:pPr>
            <a:r>
              <a:rPr lang="en-US" altLang="zh-CN" sz="2400" dirty="0">
                <a:ea typeface="宋体" panose="02010600030101010101" pitchFamily="2" charset="-122"/>
              </a:rPr>
              <a:t>Sequence Diagram</a:t>
            </a:r>
            <a:r>
              <a:rPr lang="zh-CN" altLang="en-US" sz="2400" dirty="0">
                <a:ea typeface="宋体" panose="02010600030101010101" pitchFamily="2" charset="-122"/>
              </a:rPr>
              <a:t>（顺序图）</a:t>
            </a:r>
            <a:r>
              <a:rPr lang="en-US" altLang="zh-CN" sz="2400" dirty="0">
                <a:ea typeface="宋体" panose="02010600030101010101" pitchFamily="2" charset="-122"/>
              </a:rPr>
              <a:t>—extended for </a:t>
            </a:r>
            <a:r>
              <a:rPr lang="en-US" altLang="zh-CN" sz="2400" u="sng" dirty="0">
                <a:ea typeface="宋体" panose="02010600030101010101" pitchFamily="2" charset="-122"/>
              </a:rPr>
              <a:t>system sequence diagram</a:t>
            </a:r>
            <a:r>
              <a:rPr lang="zh-CN" altLang="en-US" sz="2400" u="sng" dirty="0">
                <a:ea typeface="宋体" panose="02010600030101010101" pitchFamily="2" charset="-122"/>
              </a:rPr>
              <a:t>（系统顺序图）</a:t>
            </a:r>
            <a:r>
              <a:rPr lang="en-US" altLang="zh-CN" sz="2400" dirty="0">
                <a:ea typeface="宋体" panose="02010600030101010101" pitchFamily="2" charset="-122"/>
              </a:rPr>
              <a:t> (Chapter 5) adding a controller and the domain classes</a:t>
            </a:r>
          </a:p>
          <a:p>
            <a:pPr lvl="1" eaLnBrk="1" hangingPunct="1">
              <a:lnSpc>
                <a:spcPct val="80000"/>
              </a:lnSpc>
            </a:pPr>
            <a:r>
              <a:rPr lang="en-US" altLang="zh-CN" sz="2400" dirty="0">
                <a:ea typeface="宋体" panose="02010600030101010101" pitchFamily="2" charset="-122"/>
              </a:rPr>
              <a:t>Design Class Diagram</a:t>
            </a:r>
            <a:r>
              <a:rPr lang="zh-CN" altLang="en-US" sz="2400" dirty="0">
                <a:ea typeface="宋体" panose="02010600030101010101" pitchFamily="2" charset="-122"/>
              </a:rPr>
              <a:t>（设计类图）</a:t>
            </a:r>
            <a:r>
              <a:rPr lang="en-US" altLang="zh-CN" sz="2400" dirty="0">
                <a:ea typeface="宋体" panose="02010600030101010101" pitchFamily="2" charset="-122"/>
              </a:rPr>
              <a:t>—extended from the </a:t>
            </a:r>
            <a:r>
              <a:rPr lang="en-US" altLang="zh-CN" sz="2400" u="sng" dirty="0">
                <a:ea typeface="宋体" panose="02010600030101010101" pitchFamily="2" charset="-122"/>
              </a:rPr>
              <a:t>domain model class diagram</a:t>
            </a:r>
            <a:r>
              <a:rPr lang="zh-CN" altLang="en-US" sz="2400" u="sng" dirty="0">
                <a:ea typeface="宋体" panose="02010600030101010101" pitchFamily="2" charset="-122"/>
              </a:rPr>
              <a:t>（域模型类图）</a:t>
            </a:r>
            <a:r>
              <a:rPr lang="en-US" altLang="zh-CN" sz="2400" dirty="0">
                <a:ea typeface="宋体" panose="02010600030101010101" pitchFamily="2" charset="-122"/>
              </a:rPr>
              <a:t> (Chapter 4) and updated from sequence diagram</a:t>
            </a:r>
          </a:p>
          <a:p>
            <a:pPr lvl="2" eaLnBrk="1" hangingPunct="1">
              <a:lnSpc>
                <a:spcPct val="80000"/>
              </a:lnSpc>
            </a:pPr>
            <a:r>
              <a:rPr lang="en-US" altLang="zh-CN" sz="2000" dirty="0">
                <a:ea typeface="宋体" panose="02010600030101010101" pitchFamily="2" charset="-122"/>
              </a:rPr>
              <a:t>Messages to an object become methods of the design class</a:t>
            </a:r>
          </a:p>
        </p:txBody>
      </p:sp>
      <p:sp>
        <p:nvSpPr>
          <p:cNvPr id="19461" name="Footer Placeholder 4">
            <a:extLst>
              <a:ext uri="{FF2B5EF4-FFF2-40B4-BE49-F238E27FC236}">
                <a16:creationId xmlns:a16="http://schemas.microsoft.com/office/drawing/2014/main" id="{7677700F-8632-4610-98E8-278F3542CCD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19462" name="Rectangle 4">
            <a:extLst>
              <a:ext uri="{FF2B5EF4-FFF2-40B4-BE49-F238E27FC236}">
                <a16:creationId xmlns:a16="http://schemas.microsoft.com/office/drawing/2014/main" id="{80379B91-2AF5-4C7A-AD66-4D61E0FF584A}"/>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5">
            <a:extLst>
              <a:ext uri="{FF2B5EF4-FFF2-40B4-BE49-F238E27FC236}">
                <a16:creationId xmlns:a16="http://schemas.microsoft.com/office/drawing/2014/main" id="{2CA2AD6D-4134-4696-AF25-6CE400BFDB8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80494E44-24A7-43FA-8F19-DA8631F5477F}" type="slidenum">
              <a:rPr lang="en-US" altLang="en-US" sz="1000"/>
              <a:pPr>
                <a:spcBef>
                  <a:spcPct val="0"/>
                </a:spcBef>
                <a:buClrTx/>
                <a:buSzTx/>
                <a:buFontTx/>
                <a:buNone/>
              </a:pPr>
              <a:t>23</a:t>
            </a:fld>
            <a:endParaRPr lang="en-US" altLang="en-US" sz="1000"/>
          </a:p>
        </p:txBody>
      </p:sp>
      <p:sp>
        <p:nvSpPr>
          <p:cNvPr id="20483" name="Rectangle 2">
            <a:extLst>
              <a:ext uri="{FF2B5EF4-FFF2-40B4-BE49-F238E27FC236}">
                <a16:creationId xmlns:a16="http://schemas.microsoft.com/office/drawing/2014/main" id="{35DCEFD5-D801-4BE1-A93A-3760A623B23D}"/>
              </a:ext>
            </a:extLst>
          </p:cNvPr>
          <p:cNvSpPr>
            <a:spLocks noGrp="1" noChangeArrowheads="1"/>
          </p:cNvSpPr>
          <p:nvPr>
            <p:ph type="title"/>
          </p:nvPr>
        </p:nvSpPr>
        <p:spPr>
          <a:xfrm>
            <a:off x="304800" y="122238"/>
            <a:ext cx="7696200" cy="1096962"/>
          </a:xfrm>
        </p:spPr>
        <p:txBody>
          <a:bodyPr/>
          <a:lstStyle/>
          <a:p>
            <a:pPr eaLnBrk="1" hangingPunct="1"/>
            <a:r>
              <a:rPr lang="en-US" altLang="zh-CN" sz="3600">
                <a:ea typeface="宋体" panose="02010600030101010101" pitchFamily="2" charset="-122"/>
              </a:rPr>
              <a:t>Detailed Design</a:t>
            </a:r>
            <a:br>
              <a:rPr lang="en-US" altLang="zh-CN" sz="2800">
                <a:ea typeface="宋体" panose="02010600030101010101" pitchFamily="2" charset="-122"/>
              </a:rPr>
            </a:br>
            <a:r>
              <a:rPr lang="en-US" altLang="zh-CN" sz="2800">
                <a:ea typeface="宋体" panose="02010600030101010101" pitchFamily="2" charset="-122"/>
              </a:rPr>
              <a:t>Sequence Diagram Example</a:t>
            </a:r>
          </a:p>
        </p:txBody>
      </p:sp>
      <p:pic>
        <p:nvPicPr>
          <p:cNvPr id="20484" name="Picture 5">
            <a:extLst>
              <a:ext uri="{FF2B5EF4-FFF2-40B4-BE49-F238E27FC236}">
                <a16:creationId xmlns:a16="http://schemas.microsoft.com/office/drawing/2014/main" id="{25FB41C2-6608-4D2E-A2C5-2976F69540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690688"/>
            <a:ext cx="8077200" cy="4554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6">
            <a:extLst>
              <a:ext uri="{FF2B5EF4-FFF2-40B4-BE49-F238E27FC236}">
                <a16:creationId xmlns:a16="http://schemas.microsoft.com/office/drawing/2014/main" id="{38EBD690-71EA-466F-A967-AE2D097587ED}"/>
              </a:ext>
            </a:extLst>
          </p:cNvPr>
          <p:cNvSpPr>
            <a:spLocks noGrp="1" noChangeArrowheads="1"/>
          </p:cNvSpPr>
          <p:nvPr>
            <p:ph type="body" idx="1"/>
          </p:nvPr>
        </p:nvSpPr>
        <p:spPr>
          <a:xfrm>
            <a:off x="228600" y="1295400"/>
            <a:ext cx="7391400" cy="381000"/>
          </a:xfrm>
          <a:noFill/>
        </p:spPr>
        <p:txBody>
          <a:bodyPr/>
          <a:lstStyle/>
          <a:p>
            <a:pPr eaLnBrk="1" hangingPunct="1">
              <a:lnSpc>
                <a:spcPct val="80000"/>
              </a:lnSpc>
            </a:pPr>
            <a:r>
              <a:rPr lang="en-US" altLang="zh-CN" sz="2400" dirty="0">
                <a:ea typeface="宋体" panose="02010600030101010101" pitchFamily="2" charset="-122"/>
              </a:rPr>
              <a:t>Use case </a:t>
            </a:r>
            <a:r>
              <a:rPr lang="en-US" altLang="zh-CN" sz="2400" i="1" dirty="0">
                <a:ea typeface="宋体" panose="02010600030101010101" pitchFamily="2" charset="-122"/>
              </a:rPr>
              <a:t>Update student name</a:t>
            </a:r>
            <a:endParaRPr lang="en-GB" altLang="zh-CN" sz="2400" i="1" dirty="0">
              <a:ea typeface="宋体" panose="02010600030101010101" pitchFamily="2" charset="-122"/>
            </a:endParaRPr>
          </a:p>
        </p:txBody>
      </p:sp>
      <p:sp>
        <p:nvSpPr>
          <p:cNvPr id="20486" name="Footer Placeholder 4">
            <a:extLst>
              <a:ext uri="{FF2B5EF4-FFF2-40B4-BE49-F238E27FC236}">
                <a16:creationId xmlns:a16="http://schemas.microsoft.com/office/drawing/2014/main" id="{A63ABDFA-A588-43EC-97CB-C41F26DA479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20487" name="Rectangle 4">
            <a:extLst>
              <a:ext uri="{FF2B5EF4-FFF2-40B4-BE49-F238E27FC236}">
                <a16:creationId xmlns:a16="http://schemas.microsoft.com/office/drawing/2014/main" id="{E3F4F5A5-F4DF-4CE0-9945-8F54D2AEAC97}"/>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pic>
        <p:nvPicPr>
          <p:cNvPr id="8" name="Picture 5">
            <a:extLst>
              <a:ext uri="{FF2B5EF4-FFF2-40B4-BE49-F238E27FC236}">
                <a16:creationId xmlns:a16="http://schemas.microsoft.com/office/drawing/2014/main" id="{E246F4DC-24B8-4470-9111-193CE04403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9296" y="1485900"/>
            <a:ext cx="6420608"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BDE49F7A-9B82-4E53-AFE0-01BCBE80B308}"/>
              </a:ext>
            </a:extLst>
          </p:cNvPr>
          <p:cNvSpPr txBox="1"/>
          <p:nvPr/>
        </p:nvSpPr>
        <p:spPr>
          <a:xfrm>
            <a:off x="3124200" y="1745351"/>
            <a:ext cx="2262158" cy="369332"/>
          </a:xfrm>
          <a:prstGeom prst="rect">
            <a:avLst/>
          </a:prstGeom>
          <a:noFill/>
        </p:spPr>
        <p:txBody>
          <a:bodyPr wrap="none" rtlCol="0">
            <a:spAutoFit/>
          </a:bodyPr>
          <a:lstStyle/>
          <a:p>
            <a:r>
              <a:rPr lang="zh-CN" altLang="en-US" dirty="0">
                <a:solidFill>
                  <a:srgbClr val="C00000"/>
                </a:solidFill>
              </a:rPr>
              <a:t>第五章：系统顺序图</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8"/>
                                        </p:tgtEl>
                                        <p:attrNameLst>
                                          <p:attrName>style.visibility</p:attrName>
                                        </p:attrNameLst>
                                      </p:cBhvr>
                                      <p:to>
                                        <p:strVal val="hidden"/>
                                      </p:to>
                                    </p:set>
                                  </p:childTnLst>
                                </p:cTn>
                              </p:par>
                              <p:par>
                                <p:cTn id="13" presetID="1" presetClass="exit" presetSubtype="0" fill="hold" grpId="1" nodeType="withEffect">
                                  <p:stCondLst>
                                    <p:cond delay="0"/>
                                  </p:stCondLst>
                                  <p:childTnLst>
                                    <p:set>
                                      <p:cBhvr>
                                        <p:cTn id="14"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4">
            <a:extLst>
              <a:ext uri="{FF2B5EF4-FFF2-40B4-BE49-F238E27FC236}">
                <a16:creationId xmlns:a16="http://schemas.microsoft.com/office/drawing/2014/main" id="{AE949BAB-48E6-4115-9E49-B1632823E7C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Systems Analysis and Design in a Changing World, 6th Edition</a:t>
            </a:r>
          </a:p>
        </p:txBody>
      </p:sp>
      <p:sp>
        <p:nvSpPr>
          <p:cNvPr id="21507" name="Slide Number Placeholder 5">
            <a:extLst>
              <a:ext uri="{FF2B5EF4-FFF2-40B4-BE49-F238E27FC236}">
                <a16:creationId xmlns:a16="http://schemas.microsoft.com/office/drawing/2014/main" id="{AF9434F4-00EB-4ACF-9EDA-ED50E0F3E57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A262C272-04C3-41D1-85DB-B935452850C7}" type="slidenum">
              <a:rPr lang="en-US" altLang="en-US" sz="1000"/>
              <a:pPr>
                <a:spcBef>
                  <a:spcPct val="0"/>
                </a:spcBef>
                <a:buClrTx/>
                <a:buSzTx/>
                <a:buFontTx/>
                <a:buNone/>
              </a:pPr>
              <a:t>24</a:t>
            </a:fld>
            <a:endParaRPr lang="en-US" altLang="en-US" sz="1000"/>
          </a:p>
        </p:txBody>
      </p:sp>
      <p:sp>
        <p:nvSpPr>
          <p:cNvPr id="21508" name="Rectangle 2">
            <a:extLst>
              <a:ext uri="{FF2B5EF4-FFF2-40B4-BE49-F238E27FC236}">
                <a16:creationId xmlns:a16="http://schemas.microsoft.com/office/drawing/2014/main" id="{3FC745EC-6C1A-403C-87D6-303F09B0DA6A}"/>
              </a:ext>
            </a:extLst>
          </p:cNvPr>
          <p:cNvSpPr>
            <a:spLocks noGrp="1" noChangeArrowheads="1"/>
          </p:cNvSpPr>
          <p:nvPr>
            <p:ph type="title"/>
          </p:nvPr>
        </p:nvSpPr>
        <p:spPr>
          <a:xfrm>
            <a:off x="304800" y="122238"/>
            <a:ext cx="7696200" cy="792162"/>
          </a:xfrm>
        </p:spPr>
        <p:txBody>
          <a:bodyPr/>
          <a:lstStyle/>
          <a:p>
            <a:pPr eaLnBrk="1" hangingPunct="1"/>
            <a:r>
              <a:rPr lang="en-US" altLang="zh-CN" sz="3600">
                <a:ea typeface="宋体" panose="02010600030101010101" pitchFamily="2" charset="-122"/>
              </a:rPr>
              <a:t>Design Classes in Detailed Design</a:t>
            </a:r>
          </a:p>
        </p:txBody>
      </p:sp>
      <p:sp>
        <p:nvSpPr>
          <p:cNvPr id="21509" name="Rectangle 4">
            <a:extLst>
              <a:ext uri="{FF2B5EF4-FFF2-40B4-BE49-F238E27FC236}">
                <a16:creationId xmlns:a16="http://schemas.microsoft.com/office/drawing/2014/main" id="{E120697C-360D-429E-BF43-8D752E0B9F27}"/>
              </a:ext>
            </a:extLst>
          </p:cNvPr>
          <p:cNvSpPr>
            <a:spLocks noGrp="1" noChangeArrowheads="1"/>
          </p:cNvSpPr>
          <p:nvPr>
            <p:ph type="body" idx="1"/>
          </p:nvPr>
        </p:nvSpPr>
        <p:spPr>
          <a:xfrm>
            <a:off x="228600" y="990600"/>
            <a:ext cx="7391400" cy="685800"/>
          </a:xfrm>
          <a:noFill/>
        </p:spPr>
        <p:txBody>
          <a:bodyPr/>
          <a:lstStyle/>
          <a:p>
            <a:pPr eaLnBrk="1" hangingPunct="1">
              <a:lnSpc>
                <a:spcPct val="80000"/>
              </a:lnSpc>
            </a:pPr>
            <a:r>
              <a:rPr lang="en-US" altLang="zh-CN" sz="2400" dirty="0">
                <a:ea typeface="宋体" panose="02010600030101010101" pitchFamily="2" charset="-122"/>
              </a:rPr>
              <a:t>Elaborate attributes—visibility, type, properties</a:t>
            </a:r>
          </a:p>
        </p:txBody>
      </p:sp>
      <p:pic>
        <p:nvPicPr>
          <p:cNvPr id="21510" name="Picture 5">
            <a:extLst>
              <a:ext uri="{FF2B5EF4-FFF2-40B4-BE49-F238E27FC236}">
                <a16:creationId xmlns:a16="http://schemas.microsoft.com/office/drawing/2014/main" id="{E3281EB1-21FE-4F9C-9298-CAB2BAA427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 y="1430337"/>
            <a:ext cx="8153400" cy="481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1" name="Rectangle 4">
            <a:extLst>
              <a:ext uri="{FF2B5EF4-FFF2-40B4-BE49-F238E27FC236}">
                <a16:creationId xmlns:a16="http://schemas.microsoft.com/office/drawing/2014/main" id="{0426D0A2-A58F-4510-958D-FCFC02B9754B}"/>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9" name="文本框 8">
            <a:extLst>
              <a:ext uri="{FF2B5EF4-FFF2-40B4-BE49-F238E27FC236}">
                <a16:creationId xmlns:a16="http://schemas.microsoft.com/office/drawing/2014/main" id="{AF2EDBBA-B194-453B-B99A-CB3F82377431}"/>
              </a:ext>
            </a:extLst>
          </p:cNvPr>
          <p:cNvSpPr txBox="1"/>
          <p:nvPr/>
        </p:nvSpPr>
        <p:spPr>
          <a:xfrm>
            <a:off x="6781800" y="3039070"/>
            <a:ext cx="2133600" cy="923330"/>
          </a:xfrm>
          <a:prstGeom prst="rect">
            <a:avLst/>
          </a:prstGeom>
          <a:noFill/>
        </p:spPr>
        <p:txBody>
          <a:bodyPr wrap="square">
            <a:spAutoFit/>
          </a:bodyPr>
          <a:lstStyle/>
          <a:p>
            <a:r>
              <a:rPr lang="zh-CN" altLang="en-US" dirty="0"/>
              <a:t>设计类图：</a:t>
            </a:r>
            <a:endParaRPr lang="en-US" altLang="zh-CN" dirty="0"/>
          </a:p>
          <a:p>
            <a:pPr algn="l"/>
            <a:r>
              <a:rPr lang="zh-CN" altLang="en-US" dirty="0"/>
              <a:t>描述属性：</a:t>
            </a:r>
            <a:r>
              <a:rPr lang="zh-CN" altLang="en-US" b="0" i="0" dirty="0">
                <a:solidFill>
                  <a:srgbClr val="2A2B2E"/>
                </a:solidFill>
                <a:effectLst/>
                <a:latin typeface="PingFang SC"/>
              </a:rPr>
              <a:t>可见性，类型，属性</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5">
            <a:extLst>
              <a:ext uri="{FF2B5EF4-FFF2-40B4-BE49-F238E27FC236}">
                <a16:creationId xmlns:a16="http://schemas.microsoft.com/office/drawing/2014/main" id="{E4118F8A-B807-4930-9F69-50F515D3502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DD081BEE-931F-4A24-9C19-4D64AB133012}" type="slidenum">
              <a:rPr lang="en-US" altLang="en-US" sz="1000"/>
              <a:pPr>
                <a:spcBef>
                  <a:spcPct val="0"/>
                </a:spcBef>
                <a:buClrTx/>
                <a:buSzTx/>
                <a:buFontTx/>
                <a:buNone/>
              </a:pPr>
              <a:t>25</a:t>
            </a:fld>
            <a:endParaRPr lang="en-US" altLang="en-US" sz="1000"/>
          </a:p>
        </p:txBody>
      </p:sp>
      <p:sp>
        <p:nvSpPr>
          <p:cNvPr id="22531" name="Rectangle 2">
            <a:extLst>
              <a:ext uri="{FF2B5EF4-FFF2-40B4-BE49-F238E27FC236}">
                <a16:creationId xmlns:a16="http://schemas.microsoft.com/office/drawing/2014/main" id="{8958E604-D6E3-49EB-81AC-512D80AEDAEE}"/>
              </a:ext>
            </a:extLst>
          </p:cNvPr>
          <p:cNvSpPr>
            <a:spLocks noGrp="1" noChangeArrowheads="1"/>
          </p:cNvSpPr>
          <p:nvPr>
            <p:ph type="title"/>
          </p:nvPr>
        </p:nvSpPr>
        <p:spPr>
          <a:xfrm>
            <a:off x="228600" y="533400"/>
            <a:ext cx="2514600" cy="2286000"/>
          </a:xfrm>
        </p:spPr>
        <p:txBody>
          <a:bodyPr/>
          <a:lstStyle/>
          <a:p>
            <a:pPr eaLnBrk="1" hangingPunct="1"/>
            <a:r>
              <a:rPr lang="en-US" altLang="zh-CN" sz="2800">
                <a:ea typeface="宋体" panose="02010600030101010101" pitchFamily="2" charset="-122"/>
              </a:rPr>
              <a:t>Write the Code for the Design Class to Implement</a:t>
            </a:r>
          </a:p>
        </p:txBody>
      </p:sp>
      <p:pic>
        <p:nvPicPr>
          <p:cNvPr id="22532" name="Picture 6">
            <a:extLst>
              <a:ext uri="{FF2B5EF4-FFF2-40B4-BE49-F238E27FC236}">
                <a16:creationId xmlns:a16="http://schemas.microsoft.com/office/drawing/2014/main" id="{D483C77E-5390-427B-A582-1BB9632AA9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57613" y="76200"/>
            <a:ext cx="4292600" cy="624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3" name="Footer Placeholder 4">
            <a:extLst>
              <a:ext uri="{FF2B5EF4-FFF2-40B4-BE49-F238E27FC236}">
                <a16:creationId xmlns:a16="http://schemas.microsoft.com/office/drawing/2014/main" id="{61CDCAC8-96E9-4E05-A6E5-A448D718E49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22534" name="Rectangle 4">
            <a:extLst>
              <a:ext uri="{FF2B5EF4-FFF2-40B4-BE49-F238E27FC236}">
                <a16:creationId xmlns:a16="http://schemas.microsoft.com/office/drawing/2014/main" id="{976A4EE5-7271-4663-8BAB-B44B3DF6F5C4}"/>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pic>
        <p:nvPicPr>
          <p:cNvPr id="7" name="Picture 5">
            <a:extLst>
              <a:ext uri="{FF2B5EF4-FFF2-40B4-BE49-F238E27FC236}">
                <a16:creationId xmlns:a16="http://schemas.microsoft.com/office/drawing/2014/main" id="{C9B0EDF4-A238-445F-984E-54F8C75F614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2885" r="25019"/>
          <a:stretch/>
        </p:blipFill>
        <p:spPr bwMode="auto">
          <a:xfrm>
            <a:off x="112713" y="410368"/>
            <a:ext cx="3432174" cy="481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CC1680C8-C5BD-4338-9039-CED558BEB1DA}"/>
              </a:ext>
            </a:extLst>
          </p:cNvPr>
          <p:cNvSpPr/>
          <p:nvPr/>
        </p:nvSpPr>
        <p:spPr>
          <a:xfrm>
            <a:off x="112713" y="1447800"/>
            <a:ext cx="3432174" cy="164306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2164486B-2FD8-4004-9D35-B915303D5EE2}"/>
              </a:ext>
            </a:extLst>
          </p:cNvPr>
          <p:cNvSpPr/>
          <p:nvPr/>
        </p:nvSpPr>
        <p:spPr>
          <a:xfrm>
            <a:off x="4111626" y="410368"/>
            <a:ext cx="3432174" cy="164306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F6AE14E1-9B46-4083-8DDB-D1C6759422C4}"/>
              </a:ext>
            </a:extLst>
          </p:cNvPr>
          <p:cNvSpPr/>
          <p:nvPr/>
        </p:nvSpPr>
        <p:spPr>
          <a:xfrm>
            <a:off x="112713" y="3090863"/>
            <a:ext cx="3432174" cy="19526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4762BD50-35B7-422C-95B2-6FAAE26E2E81}"/>
              </a:ext>
            </a:extLst>
          </p:cNvPr>
          <p:cNvSpPr/>
          <p:nvPr/>
        </p:nvSpPr>
        <p:spPr>
          <a:xfrm>
            <a:off x="4111626" y="2277214"/>
            <a:ext cx="3813174" cy="79618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2"/>
                                        </p:tgtEl>
                                        <p:attrNameLst>
                                          <p:attrName>style.visibility</p:attrName>
                                        </p:attrNameLst>
                                      </p:cBhvr>
                                      <p:to>
                                        <p:strVal val="hidden"/>
                                      </p:to>
                                    </p:set>
                                  </p:childTnLst>
                                </p:cTn>
                              </p:par>
                              <p:par>
                                <p:cTn id="17" presetID="1" presetClass="exit" presetSubtype="0" fill="hold" grpId="1" nodeType="withEffect">
                                  <p:stCondLst>
                                    <p:cond delay="0"/>
                                  </p:stCondLst>
                                  <p:childTnLst>
                                    <p:set>
                                      <p:cBhvr>
                                        <p:cTn id="18" dur="1" fill="hold">
                                          <p:stCondLst>
                                            <p:cond delay="0"/>
                                          </p:stCondLst>
                                        </p:cTn>
                                        <p:tgtEl>
                                          <p:spTgt spid="9"/>
                                        </p:tgtEl>
                                        <p:attrNameLst>
                                          <p:attrName>style.visibility</p:attrName>
                                        </p:attrNameLst>
                                      </p:cBhvr>
                                      <p:to>
                                        <p:strVal val="hidden"/>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9" grpId="0" animBg="1"/>
      <p:bldP spid="9" grpId="1" animBg="1"/>
      <p:bldP spid="10" grpId="0" animBg="1"/>
      <p:bldP spid="1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5">
            <a:extLst>
              <a:ext uri="{FF2B5EF4-FFF2-40B4-BE49-F238E27FC236}">
                <a16:creationId xmlns:a16="http://schemas.microsoft.com/office/drawing/2014/main" id="{6B28CD36-8DDF-47A1-89B2-FA7CBD4952D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37972370-D9E9-47F4-BDAA-941B5384F9D7}" type="slidenum">
              <a:rPr lang="en-US" altLang="en-US" sz="1000"/>
              <a:pPr>
                <a:spcBef>
                  <a:spcPct val="0"/>
                </a:spcBef>
                <a:buClrTx/>
                <a:buSzTx/>
                <a:buFontTx/>
                <a:buNone/>
              </a:pPr>
              <a:t>26</a:t>
            </a:fld>
            <a:endParaRPr lang="en-US" altLang="en-US" sz="1000"/>
          </a:p>
        </p:txBody>
      </p:sp>
      <p:sp>
        <p:nvSpPr>
          <p:cNvPr id="23555" name="Rectangle 2">
            <a:extLst>
              <a:ext uri="{FF2B5EF4-FFF2-40B4-BE49-F238E27FC236}">
                <a16:creationId xmlns:a16="http://schemas.microsoft.com/office/drawing/2014/main" id="{5A7FFD17-ED88-4EBC-883D-CDDF5E00834C}"/>
              </a:ext>
            </a:extLst>
          </p:cNvPr>
          <p:cNvSpPr>
            <a:spLocks noGrp="1" noChangeArrowheads="1"/>
          </p:cNvSpPr>
          <p:nvPr>
            <p:ph type="title"/>
          </p:nvPr>
        </p:nvSpPr>
        <p:spPr>
          <a:xfrm>
            <a:off x="304800" y="304800"/>
            <a:ext cx="7696200" cy="990600"/>
          </a:xfrm>
        </p:spPr>
        <p:txBody>
          <a:bodyPr/>
          <a:lstStyle/>
          <a:p>
            <a:pPr eaLnBrk="1" hangingPunct="1"/>
            <a:r>
              <a:rPr lang="en-US" altLang="zh-CN" sz="3600">
                <a:ea typeface="宋体" panose="02010600030101010101" pitchFamily="2" charset="-122"/>
              </a:rPr>
              <a:t>OO Detailed Design Steps</a:t>
            </a:r>
            <a:br>
              <a:rPr lang="en-US" altLang="zh-CN" sz="3600">
                <a:ea typeface="宋体" panose="02010600030101010101" pitchFamily="2" charset="-122"/>
              </a:rPr>
            </a:br>
            <a:r>
              <a:rPr lang="en-US" altLang="zh-CN" sz="2400">
                <a:ea typeface="宋体" panose="02010600030101010101" pitchFamily="2" charset="-122"/>
              </a:rPr>
              <a:t>Chapters 10 and 11</a:t>
            </a:r>
          </a:p>
        </p:txBody>
      </p:sp>
      <p:pic>
        <p:nvPicPr>
          <p:cNvPr id="23556" name="Picture 5">
            <a:extLst>
              <a:ext uri="{FF2B5EF4-FFF2-40B4-BE49-F238E27FC236}">
                <a16:creationId xmlns:a16="http://schemas.microsoft.com/office/drawing/2014/main" id="{07ADA1FC-935A-4A0A-A92C-20EDDD5ED5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676400"/>
            <a:ext cx="8610600" cy="401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7" name="Footer Placeholder 4">
            <a:extLst>
              <a:ext uri="{FF2B5EF4-FFF2-40B4-BE49-F238E27FC236}">
                <a16:creationId xmlns:a16="http://schemas.microsoft.com/office/drawing/2014/main" id="{628C7C78-1595-4ABD-97B2-FFDD27235E8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23558" name="Rectangle 4">
            <a:extLst>
              <a:ext uri="{FF2B5EF4-FFF2-40B4-BE49-F238E27FC236}">
                <a16:creationId xmlns:a16="http://schemas.microsoft.com/office/drawing/2014/main" id="{D967611E-598C-465B-AD37-1A431222EEED}"/>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21353423-30EA-4FA5-84A3-52022AE35691}"/>
              </a:ext>
            </a:extLst>
          </p:cNvPr>
          <p:cNvSpPr txBox="1"/>
          <p:nvPr/>
        </p:nvSpPr>
        <p:spPr>
          <a:xfrm>
            <a:off x="457200" y="2514600"/>
            <a:ext cx="4572000" cy="369332"/>
          </a:xfrm>
          <a:prstGeom prst="rect">
            <a:avLst/>
          </a:prstGeom>
          <a:noFill/>
        </p:spPr>
        <p:txBody>
          <a:bodyPr wrap="square">
            <a:spAutoFit/>
          </a:bodyPr>
          <a:lstStyle/>
          <a:p>
            <a:r>
              <a:rPr lang="zh-CN" altLang="en-US" dirty="0"/>
              <a:t>开发初步设计类图，显示导航可见性</a:t>
            </a:r>
          </a:p>
        </p:txBody>
      </p:sp>
      <p:sp>
        <p:nvSpPr>
          <p:cNvPr id="9" name="文本框 8">
            <a:extLst>
              <a:ext uri="{FF2B5EF4-FFF2-40B4-BE49-F238E27FC236}">
                <a16:creationId xmlns:a16="http://schemas.microsoft.com/office/drawing/2014/main" id="{93269869-820C-4D1C-9C78-B1817B66255D}"/>
              </a:ext>
            </a:extLst>
          </p:cNvPr>
          <p:cNvSpPr txBox="1"/>
          <p:nvPr/>
        </p:nvSpPr>
        <p:spPr>
          <a:xfrm>
            <a:off x="457200" y="3244334"/>
            <a:ext cx="4572000" cy="369332"/>
          </a:xfrm>
          <a:prstGeom prst="rect">
            <a:avLst/>
          </a:prstGeom>
          <a:noFill/>
        </p:spPr>
        <p:txBody>
          <a:bodyPr wrap="square">
            <a:spAutoFit/>
          </a:bodyPr>
          <a:lstStyle/>
          <a:p>
            <a:r>
              <a:rPr lang="zh-CN" altLang="en-US" dirty="0"/>
              <a:t>使用</a:t>
            </a:r>
            <a:r>
              <a:rPr lang="en-US" altLang="zh-CN" dirty="0"/>
              <a:t>CRC</a:t>
            </a:r>
            <a:r>
              <a:rPr lang="zh-CN" altLang="en-US" dirty="0"/>
              <a:t>卡位用例决定类的职责和合作使用</a:t>
            </a:r>
          </a:p>
        </p:txBody>
      </p:sp>
      <p:sp>
        <p:nvSpPr>
          <p:cNvPr id="11" name="文本框 10">
            <a:extLst>
              <a:ext uri="{FF2B5EF4-FFF2-40B4-BE49-F238E27FC236}">
                <a16:creationId xmlns:a16="http://schemas.microsoft.com/office/drawing/2014/main" id="{2CF80A45-966C-409C-B8C1-F52D172A98B7}"/>
              </a:ext>
            </a:extLst>
          </p:cNvPr>
          <p:cNvSpPr txBox="1"/>
          <p:nvPr/>
        </p:nvSpPr>
        <p:spPr>
          <a:xfrm>
            <a:off x="457200" y="4170878"/>
            <a:ext cx="8382000" cy="369332"/>
          </a:xfrm>
          <a:prstGeom prst="rect">
            <a:avLst/>
          </a:prstGeom>
          <a:noFill/>
        </p:spPr>
        <p:txBody>
          <a:bodyPr wrap="square">
            <a:spAutoFit/>
          </a:bodyPr>
          <a:lstStyle/>
          <a:p>
            <a:r>
              <a:rPr lang="zh-CN" altLang="en-US" dirty="0"/>
              <a:t>为每个用例开发详细的顺序图：</a:t>
            </a:r>
            <a:r>
              <a:rPr lang="en-US" altLang="zh-CN" dirty="0"/>
              <a:t>1</a:t>
            </a:r>
            <a:r>
              <a:rPr lang="zh-CN" altLang="en-US" dirty="0"/>
              <a:t>）开发初步顺序图；</a:t>
            </a:r>
            <a:r>
              <a:rPr lang="en-US" altLang="zh-CN" dirty="0"/>
              <a:t>2</a:t>
            </a:r>
            <a:r>
              <a:rPr lang="zh-CN" altLang="en-US" dirty="0"/>
              <a:t>）开发多层顺序图</a:t>
            </a:r>
          </a:p>
        </p:txBody>
      </p:sp>
      <p:sp>
        <p:nvSpPr>
          <p:cNvPr id="13" name="文本框 12">
            <a:extLst>
              <a:ext uri="{FF2B5EF4-FFF2-40B4-BE49-F238E27FC236}">
                <a16:creationId xmlns:a16="http://schemas.microsoft.com/office/drawing/2014/main" id="{C00C990D-0AE9-409C-BB7C-A7871108EA9B}"/>
              </a:ext>
            </a:extLst>
          </p:cNvPr>
          <p:cNvSpPr txBox="1"/>
          <p:nvPr/>
        </p:nvSpPr>
        <p:spPr>
          <a:xfrm>
            <a:off x="457200" y="4921210"/>
            <a:ext cx="8077200" cy="369332"/>
          </a:xfrm>
          <a:prstGeom prst="rect">
            <a:avLst/>
          </a:prstGeom>
          <a:noFill/>
        </p:spPr>
        <p:txBody>
          <a:bodyPr wrap="square">
            <a:spAutoFit/>
          </a:bodyPr>
          <a:lstStyle/>
          <a:p>
            <a:r>
              <a:rPr lang="zh-CN" altLang="en-US" dirty="0"/>
              <a:t>使用</a:t>
            </a:r>
            <a:r>
              <a:rPr lang="en-US" altLang="zh-CN" dirty="0"/>
              <a:t>CRC</a:t>
            </a:r>
            <a:r>
              <a:rPr lang="zh-CN" altLang="en-US" dirty="0"/>
              <a:t>卡或顺序图，添加方法特征和导航信息，以此来更新设计类图</a:t>
            </a:r>
          </a:p>
        </p:txBody>
      </p:sp>
      <p:sp>
        <p:nvSpPr>
          <p:cNvPr id="15" name="文本框 14">
            <a:extLst>
              <a:ext uri="{FF2B5EF4-FFF2-40B4-BE49-F238E27FC236}">
                <a16:creationId xmlns:a16="http://schemas.microsoft.com/office/drawing/2014/main" id="{09057410-E8B0-421F-B70B-78701C2B8107}"/>
              </a:ext>
            </a:extLst>
          </p:cNvPr>
          <p:cNvSpPr txBox="1"/>
          <p:nvPr/>
        </p:nvSpPr>
        <p:spPr>
          <a:xfrm>
            <a:off x="457200" y="5522179"/>
            <a:ext cx="4572000" cy="369332"/>
          </a:xfrm>
          <a:prstGeom prst="rect">
            <a:avLst/>
          </a:prstGeom>
          <a:noFill/>
        </p:spPr>
        <p:txBody>
          <a:bodyPr wrap="square">
            <a:spAutoFit/>
          </a:bodyPr>
          <a:lstStyle/>
          <a:p>
            <a:r>
              <a:rPr lang="zh-CN" altLang="en-US" dirty="0"/>
              <a:t>将解决方案划分成适当的包</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a:extLst>
              <a:ext uri="{FF2B5EF4-FFF2-40B4-BE49-F238E27FC236}">
                <a16:creationId xmlns:a16="http://schemas.microsoft.com/office/drawing/2014/main" id="{12651A9C-9782-4390-8414-09148CCCB46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00EF5DD9-6EAF-4E79-B47E-18D4DDF66BAB}" type="slidenum">
              <a:rPr lang="en-US" altLang="en-US" sz="1000"/>
              <a:pPr>
                <a:spcBef>
                  <a:spcPct val="0"/>
                </a:spcBef>
                <a:buClrTx/>
                <a:buSzTx/>
                <a:buFontTx/>
                <a:buNone/>
              </a:pPr>
              <a:t>27</a:t>
            </a:fld>
            <a:endParaRPr lang="en-US" altLang="en-US" sz="1000"/>
          </a:p>
        </p:txBody>
      </p:sp>
      <p:sp>
        <p:nvSpPr>
          <p:cNvPr id="8195" name="Rectangle 2">
            <a:extLst>
              <a:ext uri="{FF2B5EF4-FFF2-40B4-BE49-F238E27FC236}">
                <a16:creationId xmlns:a16="http://schemas.microsoft.com/office/drawing/2014/main" id="{19933FCB-7CED-4518-B74A-F3D517C5A383}"/>
              </a:ext>
            </a:extLst>
          </p:cNvPr>
          <p:cNvSpPr>
            <a:spLocks noGrp="1" noChangeArrowheads="1"/>
          </p:cNvSpPr>
          <p:nvPr>
            <p:ph type="title"/>
          </p:nvPr>
        </p:nvSpPr>
        <p:spPr>
          <a:xfrm>
            <a:off x="457200" y="122238"/>
            <a:ext cx="7543800" cy="1096962"/>
          </a:xfrm>
        </p:spPr>
        <p:txBody>
          <a:bodyPr/>
          <a:lstStyle/>
          <a:p>
            <a:pPr eaLnBrk="1" hangingPunct="1"/>
            <a:r>
              <a:rPr lang="en-US" altLang="zh-CN">
                <a:ea typeface="宋体" panose="02010600030101010101" pitchFamily="2" charset="-122"/>
              </a:rPr>
              <a:t>Chapter 10 Outline</a:t>
            </a:r>
          </a:p>
        </p:txBody>
      </p:sp>
      <p:sp>
        <p:nvSpPr>
          <p:cNvPr id="8196" name="Rectangle 3">
            <a:extLst>
              <a:ext uri="{FF2B5EF4-FFF2-40B4-BE49-F238E27FC236}">
                <a16:creationId xmlns:a16="http://schemas.microsoft.com/office/drawing/2014/main" id="{99359615-6E02-4FAA-BA04-3B3864BFDA39}"/>
              </a:ext>
            </a:extLst>
          </p:cNvPr>
          <p:cNvSpPr>
            <a:spLocks noGrp="1" noChangeArrowheads="1"/>
          </p:cNvSpPr>
          <p:nvPr>
            <p:ph type="body" idx="1"/>
          </p:nvPr>
        </p:nvSpPr>
        <p:spPr>
          <a:xfrm>
            <a:off x="457200" y="1752600"/>
            <a:ext cx="8229600" cy="4411663"/>
          </a:xfrm>
        </p:spPr>
        <p:txBody>
          <a:bodyPr/>
          <a:lstStyle/>
          <a:p>
            <a:pPr eaLnBrk="1" hangingPunct="1"/>
            <a:endParaRPr lang="en-US" altLang="zh-CN" sz="3200" dirty="0">
              <a:ea typeface="宋体" panose="02010600030101010101" pitchFamily="2" charset="-122"/>
            </a:endParaRPr>
          </a:p>
          <a:p>
            <a:pPr eaLnBrk="1" hangingPunct="1"/>
            <a:endParaRPr lang="en-US" altLang="zh-CN" sz="3200" dirty="0">
              <a:ea typeface="宋体" panose="02010600030101010101" pitchFamily="2" charset="-122"/>
            </a:endParaRPr>
          </a:p>
        </p:txBody>
      </p:sp>
      <p:sp>
        <p:nvSpPr>
          <p:cNvPr id="8197" name="Rectangle 4">
            <a:extLst>
              <a:ext uri="{FF2B5EF4-FFF2-40B4-BE49-F238E27FC236}">
                <a16:creationId xmlns:a16="http://schemas.microsoft.com/office/drawing/2014/main" id="{1A459FC4-306D-4676-B8FC-1F8CD2C3D32F}"/>
              </a:ext>
            </a:extLst>
          </p:cNvPr>
          <p:cNvSpPr>
            <a:spLocks noChangeArrowheads="1"/>
          </p:cNvSpPr>
          <p:nvPr/>
        </p:nvSpPr>
        <p:spPr bwMode="auto">
          <a:xfrm>
            <a:off x="304800" y="13716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r>
              <a:rPr lang="en-GB" altLang="zh-CN" dirty="0">
                <a:ea typeface="宋体" panose="02010600030101010101" pitchFamily="2" charset="-122"/>
              </a:rPr>
              <a:t>Object-Oriented Design: Bridging from Analysis to Implementation</a:t>
            </a:r>
          </a:p>
          <a:p>
            <a:pPr eaLnBrk="1" hangingPunct="1"/>
            <a:r>
              <a:rPr lang="en-GB" altLang="zh-CN" dirty="0">
                <a:ea typeface="宋体" panose="02010600030101010101" pitchFamily="2" charset="-122"/>
              </a:rPr>
              <a:t>Object-Oriented Architectural Design</a:t>
            </a:r>
          </a:p>
          <a:p>
            <a:pPr eaLnBrk="1" hangingPunct="1"/>
            <a:r>
              <a:rPr lang="en-GB" altLang="zh-CN" dirty="0">
                <a:ea typeface="宋体" panose="02010600030101010101" pitchFamily="2" charset="-122"/>
              </a:rPr>
              <a:t>Fundamental Principles of Object-Oriented Detailed Design</a:t>
            </a:r>
          </a:p>
          <a:p>
            <a:pPr eaLnBrk="1" hangingPunct="1"/>
            <a:r>
              <a:rPr lang="en-GB" altLang="zh-CN" dirty="0">
                <a:solidFill>
                  <a:srgbClr val="C00000"/>
                </a:solidFill>
                <a:ea typeface="宋体" panose="02010600030101010101" pitchFamily="2" charset="-122"/>
              </a:rPr>
              <a:t>Design Classes and the Design Class Diagram</a:t>
            </a:r>
            <a:r>
              <a:rPr lang="zh-CN" altLang="en-US" dirty="0">
                <a:solidFill>
                  <a:srgbClr val="C00000"/>
                </a:solidFill>
                <a:ea typeface="宋体" panose="02010600030101010101" pitchFamily="2" charset="-122"/>
              </a:rPr>
              <a:t>（设计类和设计类图）</a:t>
            </a:r>
            <a:endParaRPr lang="en-GB" altLang="zh-CN" dirty="0">
              <a:solidFill>
                <a:srgbClr val="C00000"/>
              </a:solidFill>
              <a:ea typeface="宋体" panose="02010600030101010101" pitchFamily="2" charset="-122"/>
            </a:endParaRPr>
          </a:p>
          <a:p>
            <a:pPr eaLnBrk="1" hangingPunct="1"/>
            <a:r>
              <a:rPr lang="en-GB" altLang="zh-CN" dirty="0">
                <a:ea typeface="宋体" panose="02010600030101010101" pitchFamily="2" charset="-122"/>
              </a:rPr>
              <a:t>Detailed Design with CRC Cards</a:t>
            </a:r>
          </a:p>
          <a:p>
            <a:pPr eaLnBrk="1" hangingPunct="1"/>
            <a:r>
              <a:rPr lang="en-GB" altLang="zh-CN" dirty="0">
                <a:ea typeface="宋体" panose="02010600030101010101" pitchFamily="2" charset="-122"/>
              </a:rPr>
              <a:t>Fundamental Detailed Design Principles</a:t>
            </a:r>
          </a:p>
        </p:txBody>
      </p:sp>
      <p:sp>
        <p:nvSpPr>
          <p:cNvPr id="8198" name="Footer Placeholder 4">
            <a:extLst>
              <a:ext uri="{FF2B5EF4-FFF2-40B4-BE49-F238E27FC236}">
                <a16:creationId xmlns:a16="http://schemas.microsoft.com/office/drawing/2014/main" id="{7B56DDD1-CA9F-4839-B616-D15016222DA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8199" name="Rectangle 4">
            <a:extLst>
              <a:ext uri="{FF2B5EF4-FFF2-40B4-BE49-F238E27FC236}">
                <a16:creationId xmlns:a16="http://schemas.microsoft.com/office/drawing/2014/main" id="{A62A238B-1078-4DB3-8358-CE7B062A8BC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4801424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5">
            <a:extLst>
              <a:ext uri="{FF2B5EF4-FFF2-40B4-BE49-F238E27FC236}">
                <a16:creationId xmlns:a16="http://schemas.microsoft.com/office/drawing/2014/main" id="{16DAA738-5350-47BF-A69E-D5C06E5CEB9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F6E7AC54-61FE-42FC-8BB9-1297A1EA52B6}" type="slidenum">
              <a:rPr lang="en-US" altLang="en-US" sz="1000"/>
              <a:pPr>
                <a:spcBef>
                  <a:spcPct val="0"/>
                </a:spcBef>
                <a:buClrTx/>
                <a:buSzTx/>
                <a:buFontTx/>
                <a:buNone/>
              </a:pPr>
              <a:t>28</a:t>
            </a:fld>
            <a:endParaRPr lang="en-US" altLang="en-US" sz="1000"/>
          </a:p>
        </p:txBody>
      </p:sp>
      <p:sp>
        <p:nvSpPr>
          <p:cNvPr id="24579" name="Rectangle 2">
            <a:extLst>
              <a:ext uri="{FF2B5EF4-FFF2-40B4-BE49-F238E27FC236}">
                <a16:creationId xmlns:a16="http://schemas.microsoft.com/office/drawing/2014/main" id="{646FBE65-642C-4EEB-B34E-3DFDF2A117FC}"/>
              </a:ext>
            </a:extLst>
          </p:cNvPr>
          <p:cNvSpPr>
            <a:spLocks noGrp="1" noChangeArrowheads="1"/>
          </p:cNvSpPr>
          <p:nvPr>
            <p:ph type="title"/>
          </p:nvPr>
        </p:nvSpPr>
        <p:spPr>
          <a:xfrm>
            <a:off x="304800" y="122238"/>
            <a:ext cx="7696200" cy="792162"/>
          </a:xfrm>
        </p:spPr>
        <p:txBody>
          <a:bodyPr/>
          <a:lstStyle/>
          <a:p>
            <a:pPr eaLnBrk="1" hangingPunct="1"/>
            <a:r>
              <a:rPr lang="en-US" altLang="zh-CN" sz="3600" dirty="0">
                <a:ea typeface="宋体" panose="02010600030101010101" pitchFamily="2" charset="-122"/>
              </a:rPr>
              <a:t>Design Class Diagrams</a:t>
            </a:r>
            <a:r>
              <a:rPr lang="zh-CN" altLang="en-US" sz="3600" dirty="0">
                <a:ea typeface="宋体" panose="02010600030101010101" pitchFamily="2" charset="-122"/>
              </a:rPr>
              <a:t>（设计类图）</a:t>
            </a:r>
            <a:endParaRPr lang="en-US" altLang="zh-CN" sz="3600" dirty="0">
              <a:ea typeface="宋体" panose="02010600030101010101" pitchFamily="2" charset="-122"/>
            </a:endParaRPr>
          </a:p>
        </p:txBody>
      </p:sp>
      <p:sp>
        <p:nvSpPr>
          <p:cNvPr id="24580" name="Rectangle 3">
            <a:extLst>
              <a:ext uri="{FF2B5EF4-FFF2-40B4-BE49-F238E27FC236}">
                <a16:creationId xmlns:a16="http://schemas.microsoft.com/office/drawing/2014/main" id="{C334ABCF-D854-4930-8767-0ADCB3D95C39}"/>
              </a:ext>
            </a:extLst>
          </p:cNvPr>
          <p:cNvSpPr>
            <a:spLocks noGrp="1" noChangeArrowheads="1"/>
          </p:cNvSpPr>
          <p:nvPr>
            <p:ph type="body" idx="1"/>
          </p:nvPr>
        </p:nvSpPr>
        <p:spPr>
          <a:xfrm>
            <a:off x="304800" y="1219200"/>
            <a:ext cx="8229600" cy="4800600"/>
          </a:xfrm>
        </p:spPr>
        <p:txBody>
          <a:bodyPr/>
          <a:lstStyle/>
          <a:p>
            <a:pPr eaLnBrk="1" hangingPunct="1">
              <a:lnSpc>
                <a:spcPct val="80000"/>
              </a:lnSpc>
            </a:pPr>
            <a:r>
              <a:rPr lang="en-GB" altLang="zh-CN" sz="2400" b="1" dirty="0">
                <a:ea typeface="宋体" panose="02010600030101010101" pitchFamily="2" charset="-122"/>
              </a:rPr>
              <a:t>Stereotype</a:t>
            </a:r>
            <a:r>
              <a:rPr lang="zh-CN" altLang="en-US" sz="2400" b="1" dirty="0">
                <a:ea typeface="宋体" panose="02010600030101010101" pitchFamily="2" charset="-122"/>
              </a:rPr>
              <a:t>（构造型）</a:t>
            </a:r>
            <a:r>
              <a:rPr lang="en-GB" altLang="zh-CN" sz="2400" dirty="0">
                <a:ea typeface="宋体" panose="02010600030101010101" pitchFamily="2" charset="-122"/>
              </a:rPr>
              <a:t> a way of categorizing a model element by its characteristics, indicated by guillemots (&lt;&lt; &gt;&gt;)</a:t>
            </a:r>
            <a:r>
              <a:rPr lang="zh-CN" altLang="en-US" sz="2400" dirty="0">
                <a:ea typeface="宋体" panose="02010600030101010101" pitchFamily="2" charset="-122"/>
              </a:rPr>
              <a:t>（对模型元素以特定的类型分类）</a:t>
            </a:r>
            <a:endParaRPr lang="en-GB" altLang="zh-CN" sz="2400" dirty="0">
              <a:ea typeface="宋体" panose="02010600030101010101" pitchFamily="2" charset="-122"/>
            </a:endParaRPr>
          </a:p>
          <a:p>
            <a:pPr lvl="1" eaLnBrk="1" hangingPunct="1">
              <a:lnSpc>
                <a:spcPct val="80000"/>
              </a:lnSpc>
            </a:pPr>
            <a:r>
              <a:rPr lang="en-GB" altLang="zh-CN" sz="2000" b="1" dirty="0">
                <a:ea typeface="宋体" panose="02010600030101010101" pitchFamily="2" charset="-122"/>
              </a:rPr>
              <a:t>entity class</a:t>
            </a:r>
            <a:r>
              <a:rPr lang="zh-CN" altLang="en-US" sz="2000" b="1" dirty="0">
                <a:ea typeface="宋体" panose="02010600030101010101" pitchFamily="2" charset="-122"/>
              </a:rPr>
              <a:t>（实体类）</a:t>
            </a:r>
            <a:r>
              <a:rPr lang="en-GB" altLang="zh-CN" sz="2000" dirty="0">
                <a:ea typeface="宋体" panose="02010600030101010101" pitchFamily="2" charset="-122"/>
              </a:rPr>
              <a:t> a design identifier for a problem domain class (usually persistent)</a:t>
            </a:r>
          </a:p>
          <a:p>
            <a:pPr lvl="2" eaLnBrk="1" hangingPunct="1">
              <a:lnSpc>
                <a:spcPct val="80000"/>
              </a:lnSpc>
            </a:pPr>
            <a:r>
              <a:rPr lang="en-GB" altLang="zh-CN" sz="1800" b="1" dirty="0">
                <a:ea typeface="宋体" panose="02010600030101010101" pitchFamily="2" charset="-122"/>
              </a:rPr>
              <a:t>persistent class</a:t>
            </a:r>
            <a:r>
              <a:rPr lang="en-GB" altLang="zh-CN" sz="1800" dirty="0">
                <a:ea typeface="宋体" panose="02010600030101010101" pitchFamily="2" charset="-122"/>
              </a:rPr>
              <a:t> an class whose objects exist after a system is shut down (data remembered)</a:t>
            </a:r>
            <a:endParaRPr lang="en-GB" altLang="zh-CN" sz="1700" dirty="0">
              <a:ea typeface="宋体" panose="02010600030101010101" pitchFamily="2" charset="-122"/>
            </a:endParaRPr>
          </a:p>
          <a:p>
            <a:pPr lvl="1" eaLnBrk="1" hangingPunct="1">
              <a:lnSpc>
                <a:spcPct val="80000"/>
              </a:lnSpc>
            </a:pPr>
            <a:r>
              <a:rPr lang="en-GB" altLang="zh-CN" sz="2000" b="1" dirty="0">
                <a:ea typeface="宋体" panose="02010600030101010101" pitchFamily="2" charset="-122"/>
              </a:rPr>
              <a:t>boundary class or view class</a:t>
            </a:r>
            <a:r>
              <a:rPr lang="zh-CN" altLang="en-US" sz="2000" b="1" dirty="0">
                <a:ea typeface="宋体" panose="02010600030101010101" pitchFamily="2" charset="-122"/>
              </a:rPr>
              <a:t>（边界类</a:t>
            </a:r>
            <a:r>
              <a:rPr lang="en-US" altLang="zh-CN" sz="2000" b="1" dirty="0">
                <a:ea typeface="宋体" panose="02010600030101010101" pitchFamily="2" charset="-122"/>
              </a:rPr>
              <a:t>/</a:t>
            </a:r>
            <a:r>
              <a:rPr lang="zh-CN" altLang="en-US" sz="2000" b="1" dirty="0">
                <a:ea typeface="宋体" panose="02010600030101010101" pitchFamily="2" charset="-122"/>
              </a:rPr>
              <a:t>视图类）</a:t>
            </a:r>
            <a:r>
              <a:rPr lang="en-GB" altLang="zh-CN" sz="2000" dirty="0">
                <a:ea typeface="宋体" panose="02010600030101010101" pitchFamily="2" charset="-122"/>
              </a:rPr>
              <a:t> a class that exists on a system’s automation boundary, such as an input window form or Web page</a:t>
            </a:r>
          </a:p>
          <a:p>
            <a:pPr lvl="1" eaLnBrk="1" hangingPunct="1">
              <a:lnSpc>
                <a:spcPct val="80000"/>
              </a:lnSpc>
            </a:pPr>
            <a:r>
              <a:rPr lang="en-GB" altLang="zh-CN" sz="2000" b="1" dirty="0">
                <a:ea typeface="宋体" panose="02010600030101010101" pitchFamily="2" charset="-122"/>
              </a:rPr>
              <a:t>control class</a:t>
            </a:r>
            <a:r>
              <a:rPr lang="zh-CN" altLang="en-US" sz="2000" b="1" dirty="0">
                <a:ea typeface="宋体" panose="02010600030101010101" pitchFamily="2" charset="-122"/>
              </a:rPr>
              <a:t>（控制类）</a:t>
            </a:r>
            <a:r>
              <a:rPr lang="en-GB" altLang="zh-CN" sz="2000" dirty="0">
                <a:ea typeface="宋体" panose="02010600030101010101" pitchFamily="2" charset="-122"/>
              </a:rPr>
              <a:t> a class that mediates between boundary classes and entity classes, acting as a switchboard between the view layer and domain layer</a:t>
            </a:r>
          </a:p>
          <a:p>
            <a:pPr lvl="1" eaLnBrk="1" hangingPunct="1">
              <a:lnSpc>
                <a:spcPct val="80000"/>
              </a:lnSpc>
            </a:pPr>
            <a:r>
              <a:rPr lang="en-GB" altLang="zh-CN" sz="2000" b="1" dirty="0">
                <a:ea typeface="宋体" panose="02010600030101010101" pitchFamily="2" charset="-122"/>
              </a:rPr>
              <a:t>data access class</a:t>
            </a:r>
            <a:r>
              <a:rPr lang="zh-CN" altLang="en-US" sz="2000" b="1" dirty="0">
                <a:ea typeface="宋体" panose="02010600030101010101" pitchFamily="2" charset="-122"/>
              </a:rPr>
              <a:t>（数据访问类）</a:t>
            </a:r>
            <a:r>
              <a:rPr lang="en-GB" altLang="zh-CN" sz="2000" dirty="0">
                <a:ea typeface="宋体" panose="02010600030101010101" pitchFamily="2" charset="-122"/>
              </a:rPr>
              <a:t>a class that is used to retrieve data from and send data to a database</a:t>
            </a:r>
          </a:p>
        </p:txBody>
      </p:sp>
      <p:sp>
        <p:nvSpPr>
          <p:cNvPr id="24581" name="Footer Placeholder 4">
            <a:extLst>
              <a:ext uri="{FF2B5EF4-FFF2-40B4-BE49-F238E27FC236}">
                <a16:creationId xmlns:a16="http://schemas.microsoft.com/office/drawing/2014/main" id="{1EAED1EA-EC52-4310-B404-F0E16DD7F3C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24582" name="Rectangle 4">
            <a:extLst>
              <a:ext uri="{FF2B5EF4-FFF2-40B4-BE49-F238E27FC236}">
                <a16:creationId xmlns:a16="http://schemas.microsoft.com/office/drawing/2014/main" id="{366CE2F8-8E5B-4397-BA0F-481B9F55A5F8}"/>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602" name="Footer Placeholder 4">
            <a:extLst>
              <a:ext uri="{FF2B5EF4-FFF2-40B4-BE49-F238E27FC236}">
                <a16:creationId xmlns:a16="http://schemas.microsoft.com/office/drawing/2014/main" id="{C31F6088-2E04-4935-A23F-23795A544A0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Systems Analysis and Design in a Changing World, 6th Edition</a:t>
            </a:r>
          </a:p>
        </p:txBody>
      </p:sp>
      <p:sp>
        <p:nvSpPr>
          <p:cNvPr id="25603" name="Slide Number Placeholder 5">
            <a:extLst>
              <a:ext uri="{FF2B5EF4-FFF2-40B4-BE49-F238E27FC236}">
                <a16:creationId xmlns:a16="http://schemas.microsoft.com/office/drawing/2014/main" id="{1CEFB30F-8C58-461A-ADED-5BF66C06637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366F3FB9-868A-451F-AB8D-BD91F8E93E57}" type="slidenum">
              <a:rPr lang="en-US" altLang="en-US" sz="1000"/>
              <a:pPr>
                <a:spcBef>
                  <a:spcPct val="0"/>
                </a:spcBef>
                <a:buClrTx/>
                <a:buSzTx/>
                <a:buFontTx/>
                <a:buNone/>
              </a:pPr>
              <a:t>29</a:t>
            </a:fld>
            <a:endParaRPr lang="en-US" altLang="en-US" sz="1000"/>
          </a:p>
        </p:txBody>
      </p:sp>
      <p:sp>
        <p:nvSpPr>
          <p:cNvPr id="25604" name="Rectangle 2">
            <a:extLst>
              <a:ext uri="{FF2B5EF4-FFF2-40B4-BE49-F238E27FC236}">
                <a16:creationId xmlns:a16="http://schemas.microsoft.com/office/drawing/2014/main" id="{FE454D62-08A7-49E7-8660-3C346A6E10F5}"/>
              </a:ext>
            </a:extLst>
          </p:cNvPr>
          <p:cNvSpPr>
            <a:spLocks noGrp="1" noChangeArrowheads="1"/>
          </p:cNvSpPr>
          <p:nvPr>
            <p:ph type="title"/>
          </p:nvPr>
        </p:nvSpPr>
        <p:spPr>
          <a:xfrm>
            <a:off x="304800" y="122238"/>
            <a:ext cx="7696200" cy="792162"/>
          </a:xfrm>
        </p:spPr>
        <p:txBody>
          <a:bodyPr/>
          <a:lstStyle/>
          <a:p>
            <a:pPr eaLnBrk="1" hangingPunct="1"/>
            <a:r>
              <a:rPr lang="en-US" altLang="zh-CN" sz="3600">
                <a:ea typeface="宋体" panose="02010600030101010101" pitchFamily="2" charset="-122"/>
              </a:rPr>
              <a:t>Class Stereotypes in UML</a:t>
            </a:r>
          </a:p>
        </p:txBody>
      </p:sp>
      <p:pic>
        <p:nvPicPr>
          <p:cNvPr id="25605" name="Picture 5">
            <a:extLst>
              <a:ext uri="{FF2B5EF4-FFF2-40B4-BE49-F238E27FC236}">
                <a16:creationId xmlns:a16="http://schemas.microsoft.com/office/drawing/2014/main" id="{5385877B-D82B-4EDF-8A2F-CBF927D7C9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066800"/>
            <a:ext cx="6248400" cy="553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6" name="Rectangle 4">
            <a:extLst>
              <a:ext uri="{FF2B5EF4-FFF2-40B4-BE49-F238E27FC236}">
                <a16:creationId xmlns:a16="http://schemas.microsoft.com/office/drawing/2014/main" id="{478D1EBF-ABB2-453E-8AC4-3E5B2AAE5F0A}"/>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5">
            <a:extLst>
              <a:ext uri="{FF2B5EF4-FFF2-40B4-BE49-F238E27FC236}">
                <a16:creationId xmlns:a16="http://schemas.microsoft.com/office/drawing/2014/main" id="{074C914C-6FBE-4E42-8C78-D0AC0B771CB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1DD478A9-91F9-4649-95B8-7C7BCFDF6F0E}" type="slidenum">
              <a:rPr lang="en-US" altLang="en-US" sz="1000"/>
              <a:pPr>
                <a:spcBef>
                  <a:spcPct val="0"/>
                </a:spcBef>
                <a:buClrTx/>
                <a:buSzTx/>
                <a:buFontTx/>
                <a:buNone/>
              </a:pPr>
              <a:t>30</a:t>
            </a:fld>
            <a:endParaRPr lang="en-US" altLang="en-US" sz="1000"/>
          </a:p>
        </p:txBody>
      </p:sp>
      <p:sp>
        <p:nvSpPr>
          <p:cNvPr id="26627" name="Rectangle 2">
            <a:extLst>
              <a:ext uri="{FF2B5EF4-FFF2-40B4-BE49-F238E27FC236}">
                <a16:creationId xmlns:a16="http://schemas.microsoft.com/office/drawing/2014/main" id="{87F55017-E149-4E49-AD1D-15ABA659BCE3}"/>
              </a:ext>
            </a:extLst>
          </p:cNvPr>
          <p:cNvSpPr>
            <a:spLocks noGrp="1" noChangeArrowheads="1"/>
          </p:cNvSpPr>
          <p:nvPr>
            <p:ph type="title"/>
          </p:nvPr>
        </p:nvSpPr>
        <p:spPr>
          <a:xfrm>
            <a:off x="304800" y="122238"/>
            <a:ext cx="7696200" cy="792162"/>
          </a:xfrm>
        </p:spPr>
        <p:txBody>
          <a:bodyPr/>
          <a:lstStyle/>
          <a:p>
            <a:pPr eaLnBrk="1" hangingPunct="1"/>
            <a:r>
              <a:rPr lang="en-US" altLang="zh-CN" sz="3600">
                <a:ea typeface="宋体" panose="02010600030101010101" pitchFamily="2" charset="-122"/>
              </a:rPr>
              <a:t>Notation for a Design Class</a:t>
            </a:r>
          </a:p>
        </p:txBody>
      </p:sp>
      <p:sp>
        <p:nvSpPr>
          <p:cNvPr id="26628" name="Rectangle 3">
            <a:extLst>
              <a:ext uri="{FF2B5EF4-FFF2-40B4-BE49-F238E27FC236}">
                <a16:creationId xmlns:a16="http://schemas.microsoft.com/office/drawing/2014/main" id="{946B96BC-0EFC-4BB2-B5E7-C2EE07F03098}"/>
              </a:ext>
            </a:extLst>
          </p:cNvPr>
          <p:cNvSpPr>
            <a:spLocks noGrp="1" noChangeArrowheads="1"/>
          </p:cNvSpPr>
          <p:nvPr>
            <p:ph type="body" idx="1"/>
          </p:nvPr>
        </p:nvSpPr>
        <p:spPr>
          <a:xfrm>
            <a:off x="228600" y="1143000"/>
            <a:ext cx="7391400" cy="457200"/>
          </a:xfrm>
          <a:noFill/>
        </p:spPr>
        <p:txBody>
          <a:bodyPr/>
          <a:lstStyle/>
          <a:p>
            <a:pPr eaLnBrk="1" hangingPunct="1">
              <a:lnSpc>
                <a:spcPct val="80000"/>
              </a:lnSpc>
            </a:pPr>
            <a:r>
              <a:rPr lang="en-US" altLang="zh-CN" sz="2400" dirty="0">
                <a:ea typeface="宋体" panose="02010600030101010101" pitchFamily="2" charset="-122"/>
              </a:rPr>
              <a:t>Syntax for Name, Attributes, and Methods</a:t>
            </a:r>
            <a:r>
              <a:rPr lang="zh-CN" altLang="en-US" sz="2400" dirty="0">
                <a:ea typeface="宋体" panose="02010600030101010101" pitchFamily="2" charset="-122"/>
              </a:rPr>
              <a:t>（定义设计类的符号）</a:t>
            </a:r>
            <a:endParaRPr lang="en-GB" altLang="zh-CN" sz="2400" i="1" dirty="0">
              <a:ea typeface="宋体" panose="02010600030101010101" pitchFamily="2" charset="-122"/>
            </a:endParaRPr>
          </a:p>
        </p:txBody>
      </p:sp>
      <p:pic>
        <p:nvPicPr>
          <p:cNvPr id="26629" name="Picture 6">
            <a:extLst>
              <a:ext uri="{FF2B5EF4-FFF2-40B4-BE49-F238E27FC236}">
                <a16:creationId xmlns:a16="http://schemas.microsoft.com/office/drawing/2014/main" id="{8F925B9D-E3FD-4F52-8C28-8AA2A876AF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828800"/>
            <a:ext cx="8534400" cy="394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0" name="Footer Placeholder 4">
            <a:extLst>
              <a:ext uri="{FF2B5EF4-FFF2-40B4-BE49-F238E27FC236}">
                <a16:creationId xmlns:a16="http://schemas.microsoft.com/office/drawing/2014/main" id="{91E4FB70-FD3E-4035-9A3F-4987980E571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26631" name="Rectangle 4">
            <a:extLst>
              <a:ext uri="{FF2B5EF4-FFF2-40B4-BE49-F238E27FC236}">
                <a16:creationId xmlns:a16="http://schemas.microsoft.com/office/drawing/2014/main" id="{B4EB514E-8331-4FC9-9A73-3880D01B0871}"/>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9" name="文本框 8">
            <a:extLst>
              <a:ext uri="{FF2B5EF4-FFF2-40B4-BE49-F238E27FC236}">
                <a16:creationId xmlns:a16="http://schemas.microsoft.com/office/drawing/2014/main" id="{13FFE546-3389-4DAF-91ED-0B10828A7264}"/>
              </a:ext>
            </a:extLst>
          </p:cNvPr>
          <p:cNvSpPr txBox="1"/>
          <p:nvPr/>
        </p:nvSpPr>
        <p:spPr>
          <a:xfrm>
            <a:off x="6019800" y="2362200"/>
            <a:ext cx="2473325" cy="646331"/>
          </a:xfrm>
          <a:prstGeom prst="rect">
            <a:avLst/>
          </a:prstGeom>
          <a:noFill/>
        </p:spPr>
        <p:txBody>
          <a:bodyPr wrap="square">
            <a:spAutoFit/>
          </a:bodyPr>
          <a:lstStyle/>
          <a:p>
            <a:r>
              <a:rPr lang="zh-CN" altLang="en-US" dirty="0"/>
              <a:t>模型名</a:t>
            </a:r>
            <a:endParaRPr lang="en-US" altLang="zh-CN" dirty="0"/>
          </a:p>
          <a:p>
            <a:r>
              <a:rPr lang="zh-CN" altLang="en-US" dirty="0"/>
              <a:t>类名：父类名</a:t>
            </a:r>
            <a:endParaRPr lang="en-US" altLang="zh-CN" dirty="0"/>
          </a:p>
        </p:txBody>
      </p:sp>
      <p:sp>
        <p:nvSpPr>
          <p:cNvPr id="10" name="文本框 9">
            <a:extLst>
              <a:ext uri="{FF2B5EF4-FFF2-40B4-BE49-F238E27FC236}">
                <a16:creationId xmlns:a16="http://schemas.microsoft.com/office/drawing/2014/main" id="{731AFB0F-4A6B-4DD8-9AD3-3B869FD69287}"/>
              </a:ext>
            </a:extLst>
          </p:cNvPr>
          <p:cNvSpPr txBox="1"/>
          <p:nvPr/>
        </p:nvSpPr>
        <p:spPr>
          <a:xfrm>
            <a:off x="5334000" y="3400176"/>
            <a:ext cx="2473325" cy="369332"/>
          </a:xfrm>
          <a:prstGeom prst="rect">
            <a:avLst/>
          </a:prstGeom>
          <a:noFill/>
        </p:spPr>
        <p:txBody>
          <a:bodyPr wrap="square">
            <a:spAutoFit/>
          </a:bodyPr>
          <a:lstStyle/>
          <a:p>
            <a:r>
              <a:rPr lang="zh-CN" altLang="en-US" dirty="0"/>
              <a:t>属性列表</a:t>
            </a:r>
            <a:endParaRPr lang="en-US" altLang="zh-CN" dirty="0"/>
          </a:p>
        </p:txBody>
      </p:sp>
      <p:sp>
        <p:nvSpPr>
          <p:cNvPr id="11" name="文本框 10">
            <a:extLst>
              <a:ext uri="{FF2B5EF4-FFF2-40B4-BE49-F238E27FC236}">
                <a16:creationId xmlns:a16="http://schemas.microsoft.com/office/drawing/2014/main" id="{FEEB4D1D-CCB6-46E5-BCA8-A7EF50FB4EF5}"/>
              </a:ext>
            </a:extLst>
          </p:cNvPr>
          <p:cNvSpPr txBox="1"/>
          <p:nvPr/>
        </p:nvSpPr>
        <p:spPr>
          <a:xfrm>
            <a:off x="5334000" y="4517626"/>
            <a:ext cx="2473325" cy="369332"/>
          </a:xfrm>
          <a:prstGeom prst="rect">
            <a:avLst/>
          </a:prstGeom>
          <a:noFill/>
        </p:spPr>
        <p:txBody>
          <a:bodyPr wrap="square">
            <a:spAutoFit/>
          </a:bodyPr>
          <a:lstStyle/>
          <a:p>
            <a:r>
              <a:rPr lang="zh-CN" altLang="en-US" dirty="0"/>
              <a:t>方法列表</a:t>
            </a:r>
            <a:endParaRPr lang="en-US" altLang="zh-CN"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5">
            <a:extLst>
              <a:ext uri="{FF2B5EF4-FFF2-40B4-BE49-F238E27FC236}">
                <a16:creationId xmlns:a16="http://schemas.microsoft.com/office/drawing/2014/main" id="{5AD23E9A-2269-41BE-93C5-6D7C357C1C4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35E0DF3D-D4FE-4E7E-812F-2B09E073B9BD}" type="slidenum">
              <a:rPr lang="en-US" altLang="en-US" sz="1000"/>
              <a:pPr>
                <a:spcBef>
                  <a:spcPct val="0"/>
                </a:spcBef>
                <a:buClrTx/>
                <a:buSzTx/>
                <a:buFontTx/>
                <a:buNone/>
              </a:pPr>
              <a:t>31</a:t>
            </a:fld>
            <a:endParaRPr lang="en-US" altLang="en-US" sz="1000"/>
          </a:p>
        </p:txBody>
      </p:sp>
      <p:sp>
        <p:nvSpPr>
          <p:cNvPr id="27651" name="Rectangle 2">
            <a:extLst>
              <a:ext uri="{FF2B5EF4-FFF2-40B4-BE49-F238E27FC236}">
                <a16:creationId xmlns:a16="http://schemas.microsoft.com/office/drawing/2014/main" id="{B3167A24-09AA-410A-AC80-E09CA697EC62}"/>
              </a:ext>
            </a:extLst>
          </p:cNvPr>
          <p:cNvSpPr>
            <a:spLocks noGrp="1" noChangeArrowheads="1"/>
          </p:cNvSpPr>
          <p:nvPr>
            <p:ph type="title"/>
          </p:nvPr>
        </p:nvSpPr>
        <p:spPr>
          <a:xfrm>
            <a:off x="304800" y="122238"/>
            <a:ext cx="7696200" cy="944562"/>
          </a:xfrm>
        </p:spPr>
        <p:txBody>
          <a:bodyPr/>
          <a:lstStyle/>
          <a:p>
            <a:pPr eaLnBrk="1" hangingPunct="1"/>
            <a:r>
              <a:rPr lang="en-US" altLang="zh-CN" sz="3600">
                <a:ea typeface="宋体" panose="02010600030101010101" pitchFamily="2" charset="-122"/>
              </a:rPr>
              <a:t>Notation for Design Classes</a:t>
            </a:r>
          </a:p>
        </p:txBody>
      </p:sp>
      <p:sp>
        <p:nvSpPr>
          <p:cNvPr id="27652" name="Rectangle 3">
            <a:extLst>
              <a:ext uri="{FF2B5EF4-FFF2-40B4-BE49-F238E27FC236}">
                <a16:creationId xmlns:a16="http://schemas.microsoft.com/office/drawing/2014/main" id="{C616E913-A4FE-4855-9944-E4DDE39A3CEA}"/>
              </a:ext>
            </a:extLst>
          </p:cNvPr>
          <p:cNvSpPr>
            <a:spLocks noGrp="1" noChangeArrowheads="1"/>
          </p:cNvSpPr>
          <p:nvPr>
            <p:ph type="body" idx="1"/>
          </p:nvPr>
        </p:nvSpPr>
        <p:spPr>
          <a:xfrm>
            <a:off x="304800" y="1295400"/>
            <a:ext cx="8229600" cy="4724400"/>
          </a:xfrm>
        </p:spPr>
        <p:txBody>
          <a:bodyPr/>
          <a:lstStyle/>
          <a:p>
            <a:pPr eaLnBrk="1" hangingPunct="1"/>
            <a:r>
              <a:rPr lang="en-US" altLang="zh-CN" sz="2800" dirty="0">
                <a:ea typeface="宋体" panose="02010600030101010101" pitchFamily="2" charset="-122"/>
              </a:rPr>
              <a:t>Attributes</a:t>
            </a:r>
            <a:r>
              <a:rPr lang="zh-CN" altLang="en-US" sz="2800" dirty="0">
                <a:ea typeface="宋体" panose="02010600030101010101" pitchFamily="2" charset="-122"/>
              </a:rPr>
              <a:t>（属性）</a:t>
            </a:r>
            <a:endParaRPr lang="en-US" altLang="zh-CN" sz="2800" dirty="0">
              <a:ea typeface="宋体" panose="02010600030101010101" pitchFamily="2" charset="-122"/>
            </a:endParaRPr>
          </a:p>
          <a:p>
            <a:pPr lvl="1" eaLnBrk="1" hangingPunct="1"/>
            <a:r>
              <a:rPr lang="en-US" altLang="zh-CN" sz="2400" dirty="0">
                <a:ea typeface="宋体" panose="02010600030101010101" pitchFamily="2" charset="-122"/>
              </a:rPr>
              <a:t>Visibility</a:t>
            </a:r>
            <a:r>
              <a:rPr lang="zh-CN" altLang="en-US" sz="2400" dirty="0">
                <a:ea typeface="宋体" panose="02010600030101010101" pitchFamily="2" charset="-122"/>
              </a:rPr>
              <a:t>（可见性）</a:t>
            </a:r>
            <a:r>
              <a:rPr lang="en-US" altLang="zh-CN" sz="2400" dirty="0">
                <a:ea typeface="宋体" panose="02010600030101010101" pitchFamily="2" charset="-122"/>
              </a:rPr>
              <a:t>—indicates (+ or -) whether an attribute can be accessed </a:t>
            </a:r>
            <a:r>
              <a:rPr lang="en-US" altLang="zh-CN" sz="2400" b="1" i="1" dirty="0">
                <a:ea typeface="宋体" panose="02010600030101010101" pitchFamily="2" charset="-122"/>
              </a:rPr>
              <a:t>directly</a:t>
            </a:r>
            <a:r>
              <a:rPr lang="en-US" altLang="zh-CN" sz="2400" dirty="0">
                <a:ea typeface="宋体" panose="02010600030101010101" pitchFamily="2" charset="-122"/>
              </a:rPr>
              <a:t> by another object. Usually </a:t>
            </a:r>
            <a:r>
              <a:rPr lang="en-US" altLang="zh-CN" sz="2400" b="1" i="1" dirty="0">
                <a:ea typeface="宋体" panose="02010600030101010101" pitchFamily="2" charset="-122"/>
              </a:rPr>
              <a:t>private</a:t>
            </a:r>
            <a:r>
              <a:rPr lang="en-US" altLang="zh-CN" sz="2400" dirty="0">
                <a:ea typeface="宋体" panose="02010600030101010101" pitchFamily="2" charset="-122"/>
              </a:rPr>
              <a:t> (-) not public (+)</a:t>
            </a:r>
          </a:p>
          <a:p>
            <a:pPr lvl="1" eaLnBrk="1" hangingPunct="1"/>
            <a:r>
              <a:rPr lang="en-US" altLang="zh-CN" sz="2400" dirty="0">
                <a:ea typeface="宋体" panose="02010600030101010101" pitchFamily="2" charset="-122"/>
              </a:rPr>
              <a:t>Attribute name</a:t>
            </a:r>
            <a:r>
              <a:rPr lang="zh-CN" altLang="en-US" sz="2400" dirty="0">
                <a:ea typeface="宋体" panose="02010600030101010101" pitchFamily="2" charset="-122"/>
              </a:rPr>
              <a:t>（属性名称）</a:t>
            </a:r>
            <a:r>
              <a:rPr lang="en-US" altLang="zh-CN" sz="2400" dirty="0">
                <a:ea typeface="宋体" panose="02010600030101010101" pitchFamily="2" charset="-122"/>
              </a:rPr>
              <a:t>—Lower case camelback notation</a:t>
            </a:r>
          </a:p>
          <a:p>
            <a:pPr lvl="1" eaLnBrk="1" hangingPunct="1"/>
            <a:r>
              <a:rPr lang="en-US" altLang="zh-CN" sz="2400" dirty="0">
                <a:ea typeface="宋体" panose="02010600030101010101" pitchFamily="2" charset="-122"/>
              </a:rPr>
              <a:t>Type expression</a:t>
            </a:r>
            <a:r>
              <a:rPr lang="zh-CN" altLang="en-US" sz="2400" dirty="0">
                <a:ea typeface="宋体" panose="02010600030101010101" pitchFamily="2" charset="-122"/>
              </a:rPr>
              <a:t>（类型表达）</a:t>
            </a:r>
            <a:r>
              <a:rPr lang="en-US" altLang="zh-CN" sz="2400" dirty="0">
                <a:ea typeface="宋体" panose="02010600030101010101" pitchFamily="2" charset="-122"/>
              </a:rPr>
              <a:t>—class, string, integer, double, date</a:t>
            </a:r>
          </a:p>
          <a:p>
            <a:pPr lvl="1" eaLnBrk="1" hangingPunct="1"/>
            <a:r>
              <a:rPr lang="en-US" altLang="zh-CN" sz="2400" dirty="0">
                <a:ea typeface="宋体" panose="02010600030101010101" pitchFamily="2" charset="-122"/>
              </a:rPr>
              <a:t>Initial value</a:t>
            </a:r>
            <a:r>
              <a:rPr lang="zh-CN" altLang="en-US" sz="2400" dirty="0">
                <a:ea typeface="宋体" panose="02010600030101010101" pitchFamily="2" charset="-122"/>
              </a:rPr>
              <a:t>（初始值）</a:t>
            </a:r>
            <a:r>
              <a:rPr lang="en-US" altLang="zh-CN" sz="2400" dirty="0">
                <a:ea typeface="宋体" panose="02010600030101010101" pitchFamily="2" charset="-122"/>
              </a:rPr>
              <a:t>—if applicable the default value</a:t>
            </a:r>
          </a:p>
          <a:p>
            <a:pPr lvl="1" eaLnBrk="1" hangingPunct="1"/>
            <a:r>
              <a:rPr lang="en-US" altLang="zh-CN" sz="2400" dirty="0">
                <a:ea typeface="宋体" panose="02010600030101010101" pitchFamily="2" charset="-122"/>
              </a:rPr>
              <a:t>Property</a:t>
            </a:r>
            <a:r>
              <a:rPr lang="zh-CN" altLang="en-US" sz="2400" dirty="0">
                <a:ea typeface="宋体" panose="02010600030101010101" pitchFamily="2" charset="-122"/>
              </a:rPr>
              <a:t>（特性）</a:t>
            </a:r>
            <a:r>
              <a:rPr lang="en-US" altLang="zh-CN" sz="2400" dirty="0">
                <a:ea typeface="宋体" panose="02010600030101010101" pitchFamily="2" charset="-122"/>
              </a:rPr>
              <a:t>—if applicable, such as {key}</a:t>
            </a:r>
          </a:p>
          <a:p>
            <a:pPr lvl="1" eaLnBrk="1" hangingPunct="1"/>
            <a:r>
              <a:rPr lang="en-US" altLang="zh-CN" sz="2400" dirty="0">
                <a:ea typeface="宋体" panose="02010600030101010101" pitchFamily="2" charset="-122"/>
              </a:rPr>
              <a:t>Examples:</a:t>
            </a:r>
          </a:p>
          <a:p>
            <a:pPr lvl="2" eaLnBrk="1" hangingPunct="1">
              <a:buFont typeface="Wingdings" panose="05000000000000000000" pitchFamily="2" charset="2"/>
              <a:buNone/>
            </a:pPr>
            <a:r>
              <a:rPr lang="en-US" altLang="zh-CN" sz="2200" dirty="0">
                <a:ea typeface="宋体" panose="02010600030101010101" pitchFamily="2" charset="-122"/>
              </a:rPr>
              <a:t>-</a:t>
            </a:r>
            <a:r>
              <a:rPr lang="en-US" altLang="zh-CN" sz="2200" dirty="0" err="1">
                <a:ea typeface="宋体" panose="02010600030101010101" pitchFamily="2" charset="-122"/>
              </a:rPr>
              <a:t>accountNo</a:t>
            </a:r>
            <a:r>
              <a:rPr lang="en-US" altLang="zh-CN" sz="2200" dirty="0">
                <a:ea typeface="宋体" panose="02010600030101010101" pitchFamily="2" charset="-122"/>
              </a:rPr>
              <a:t>: String {key}</a:t>
            </a:r>
          </a:p>
          <a:p>
            <a:pPr lvl="2" eaLnBrk="1" hangingPunct="1">
              <a:buFont typeface="Wingdings" panose="05000000000000000000" pitchFamily="2" charset="2"/>
              <a:buNone/>
            </a:pPr>
            <a:r>
              <a:rPr lang="en-US" altLang="zh-CN" sz="2200" dirty="0">
                <a:ea typeface="宋体" panose="02010600030101010101" pitchFamily="2" charset="-122"/>
              </a:rPr>
              <a:t>-</a:t>
            </a:r>
            <a:r>
              <a:rPr lang="en-US" altLang="zh-CN" sz="2200" dirty="0" err="1">
                <a:ea typeface="宋体" panose="02010600030101010101" pitchFamily="2" charset="-122"/>
              </a:rPr>
              <a:t>startingJobCode</a:t>
            </a:r>
            <a:r>
              <a:rPr lang="en-US" altLang="zh-CN" sz="2200" dirty="0">
                <a:ea typeface="宋体" panose="02010600030101010101" pitchFamily="2" charset="-122"/>
              </a:rPr>
              <a:t>: integer = 01</a:t>
            </a:r>
          </a:p>
          <a:p>
            <a:pPr lvl="2" eaLnBrk="1" hangingPunct="1">
              <a:buFont typeface="Wingdings" panose="05000000000000000000" pitchFamily="2" charset="2"/>
              <a:buNone/>
            </a:pPr>
            <a:endParaRPr lang="en-GB" altLang="zh-CN" sz="2200" dirty="0">
              <a:ea typeface="宋体" panose="02010600030101010101" pitchFamily="2" charset="-122"/>
            </a:endParaRPr>
          </a:p>
        </p:txBody>
      </p:sp>
      <p:pic>
        <p:nvPicPr>
          <p:cNvPr id="7" name="Picture 6">
            <a:extLst>
              <a:ext uri="{FF2B5EF4-FFF2-40B4-BE49-F238E27FC236}">
                <a16:creationId xmlns:a16="http://schemas.microsoft.com/office/drawing/2014/main" id="{A4672F33-7B5D-48D9-926B-C33C181C66D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4" t="32798" r="4464" b="34405"/>
          <a:stretch/>
        </p:blipFill>
        <p:spPr bwMode="auto">
          <a:xfrm>
            <a:off x="3657600" y="1066800"/>
            <a:ext cx="487680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652">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652">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765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5">
            <a:extLst>
              <a:ext uri="{FF2B5EF4-FFF2-40B4-BE49-F238E27FC236}">
                <a16:creationId xmlns:a16="http://schemas.microsoft.com/office/drawing/2014/main" id="{EB31D993-7FBD-43E0-8A67-5DB18C0CBF3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E13088F9-76D5-4797-9C4E-001345F63636}" type="slidenum">
              <a:rPr lang="en-US" altLang="en-US" sz="1000"/>
              <a:pPr>
                <a:spcBef>
                  <a:spcPct val="0"/>
                </a:spcBef>
                <a:buClrTx/>
                <a:buSzTx/>
                <a:buFontTx/>
                <a:buNone/>
              </a:pPr>
              <a:t>32</a:t>
            </a:fld>
            <a:endParaRPr lang="en-US" altLang="en-US" sz="1000"/>
          </a:p>
        </p:txBody>
      </p:sp>
      <p:sp>
        <p:nvSpPr>
          <p:cNvPr id="28675" name="Rectangle 2">
            <a:extLst>
              <a:ext uri="{FF2B5EF4-FFF2-40B4-BE49-F238E27FC236}">
                <a16:creationId xmlns:a16="http://schemas.microsoft.com/office/drawing/2014/main" id="{85FA9FDC-AED0-4E0E-9725-BACF7D9234DB}"/>
              </a:ext>
            </a:extLst>
          </p:cNvPr>
          <p:cNvSpPr>
            <a:spLocks noGrp="1" noChangeArrowheads="1"/>
          </p:cNvSpPr>
          <p:nvPr>
            <p:ph type="title"/>
          </p:nvPr>
        </p:nvSpPr>
        <p:spPr>
          <a:xfrm>
            <a:off x="304800" y="122238"/>
            <a:ext cx="7696200" cy="944562"/>
          </a:xfrm>
        </p:spPr>
        <p:txBody>
          <a:bodyPr/>
          <a:lstStyle/>
          <a:p>
            <a:pPr eaLnBrk="1" hangingPunct="1"/>
            <a:r>
              <a:rPr lang="en-US" altLang="zh-CN" sz="3600">
                <a:ea typeface="宋体" panose="02010600030101010101" pitchFamily="2" charset="-122"/>
              </a:rPr>
              <a:t>Notation for Design Classes</a:t>
            </a:r>
          </a:p>
        </p:txBody>
      </p:sp>
      <p:sp>
        <p:nvSpPr>
          <p:cNvPr id="28676" name="Rectangle 3">
            <a:extLst>
              <a:ext uri="{FF2B5EF4-FFF2-40B4-BE49-F238E27FC236}">
                <a16:creationId xmlns:a16="http://schemas.microsoft.com/office/drawing/2014/main" id="{51EF719B-A08D-4B00-80AF-DE3E861B8488}"/>
              </a:ext>
            </a:extLst>
          </p:cNvPr>
          <p:cNvSpPr>
            <a:spLocks noGrp="1" noChangeArrowheads="1"/>
          </p:cNvSpPr>
          <p:nvPr>
            <p:ph type="body" idx="1"/>
          </p:nvPr>
        </p:nvSpPr>
        <p:spPr>
          <a:xfrm>
            <a:off x="304800" y="1173480"/>
            <a:ext cx="8610600" cy="4724400"/>
          </a:xfrm>
        </p:spPr>
        <p:txBody>
          <a:bodyPr/>
          <a:lstStyle/>
          <a:p>
            <a:pPr eaLnBrk="1" hangingPunct="1">
              <a:lnSpc>
                <a:spcPct val="90000"/>
              </a:lnSpc>
            </a:pPr>
            <a:r>
              <a:rPr lang="en-US" altLang="zh-CN" sz="2800" dirty="0">
                <a:ea typeface="宋体" panose="02010600030101010101" pitchFamily="2" charset="-122"/>
              </a:rPr>
              <a:t>Methods</a:t>
            </a:r>
            <a:r>
              <a:rPr lang="zh-CN" altLang="en-US" sz="2800" dirty="0">
                <a:ea typeface="宋体" panose="02010600030101010101" pitchFamily="2" charset="-122"/>
              </a:rPr>
              <a:t>（方法）</a:t>
            </a:r>
            <a:endParaRPr lang="en-US" altLang="zh-CN" sz="2800" dirty="0">
              <a:ea typeface="宋体" panose="02010600030101010101" pitchFamily="2" charset="-122"/>
            </a:endParaRPr>
          </a:p>
          <a:p>
            <a:pPr lvl="1" eaLnBrk="1" hangingPunct="1">
              <a:lnSpc>
                <a:spcPct val="90000"/>
              </a:lnSpc>
            </a:pPr>
            <a:r>
              <a:rPr lang="en-US" altLang="zh-CN" sz="2400" dirty="0">
                <a:ea typeface="宋体" panose="02010600030101010101" pitchFamily="2" charset="-122"/>
              </a:rPr>
              <a:t>Visibility</a:t>
            </a:r>
            <a:r>
              <a:rPr lang="zh-CN" altLang="en-US" sz="2400" dirty="0">
                <a:ea typeface="宋体" panose="02010600030101010101" pitchFamily="2" charset="-122"/>
              </a:rPr>
              <a:t>（方法可见性）</a:t>
            </a:r>
            <a:r>
              <a:rPr lang="en-US" altLang="zh-CN" sz="2400" dirty="0">
                <a:ea typeface="宋体" panose="02010600030101010101" pitchFamily="2" charset="-122"/>
              </a:rPr>
              <a:t>—indicates (+ or -) whether an method can be invoked by another object. Usually </a:t>
            </a:r>
            <a:r>
              <a:rPr lang="en-US" altLang="zh-CN" sz="2400" b="1" i="1" dirty="0">
                <a:ea typeface="宋体" panose="02010600030101010101" pitchFamily="2" charset="-122"/>
              </a:rPr>
              <a:t>public</a:t>
            </a:r>
            <a:r>
              <a:rPr lang="en-US" altLang="zh-CN" sz="2400" dirty="0">
                <a:ea typeface="宋体" panose="02010600030101010101" pitchFamily="2" charset="-122"/>
              </a:rPr>
              <a:t> (+), can be private if invoked within class like a subroutine </a:t>
            </a:r>
          </a:p>
          <a:p>
            <a:pPr lvl="1" eaLnBrk="1" hangingPunct="1">
              <a:lnSpc>
                <a:spcPct val="90000"/>
              </a:lnSpc>
            </a:pPr>
            <a:r>
              <a:rPr lang="en-US" altLang="zh-CN" sz="2400" dirty="0">
                <a:ea typeface="宋体" panose="02010600030101010101" pitchFamily="2" charset="-122"/>
              </a:rPr>
              <a:t>Method name</a:t>
            </a:r>
            <a:r>
              <a:rPr lang="zh-CN" altLang="en-US" sz="2400" dirty="0">
                <a:ea typeface="宋体" panose="02010600030101010101" pitchFamily="2" charset="-122"/>
              </a:rPr>
              <a:t>（方法名称）</a:t>
            </a:r>
            <a:r>
              <a:rPr lang="en-US" altLang="zh-CN" sz="2400" dirty="0">
                <a:ea typeface="宋体" panose="02010600030101010101" pitchFamily="2" charset="-122"/>
              </a:rPr>
              <a:t>—Lower case camelback, </a:t>
            </a:r>
            <a:r>
              <a:rPr lang="en-US" altLang="zh-CN" sz="2400" u="sng" dirty="0">
                <a:ea typeface="宋体" panose="02010600030101010101" pitchFamily="2" charset="-122"/>
              </a:rPr>
              <a:t>verb-noun</a:t>
            </a:r>
          </a:p>
          <a:p>
            <a:pPr lvl="1" eaLnBrk="1" hangingPunct="1">
              <a:lnSpc>
                <a:spcPct val="90000"/>
              </a:lnSpc>
            </a:pPr>
            <a:r>
              <a:rPr lang="en-US" altLang="zh-CN" sz="2400" dirty="0">
                <a:ea typeface="宋体" panose="02010600030101010101" pitchFamily="2" charset="-122"/>
              </a:rPr>
              <a:t>Parameters</a:t>
            </a:r>
            <a:r>
              <a:rPr lang="zh-CN" altLang="en-US" sz="2400" dirty="0">
                <a:ea typeface="宋体" panose="02010600030101010101" pitchFamily="2" charset="-122"/>
              </a:rPr>
              <a:t>（方法参数列表）</a:t>
            </a:r>
            <a:r>
              <a:rPr lang="en-US" altLang="zh-CN" sz="2400" dirty="0">
                <a:ea typeface="宋体" panose="02010600030101010101" pitchFamily="2" charset="-122"/>
              </a:rPr>
              <a:t>—variables passed to a method</a:t>
            </a:r>
          </a:p>
          <a:p>
            <a:pPr lvl="1" eaLnBrk="1" hangingPunct="1">
              <a:lnSpc>
                <a:spcPct val="90000"/>
              </a:lnSpc>
            </a:pPr>
            <a:r>
              <a:rPr lang="en-US" altLang="zh-CN" sz="2400" dirty="0">
                <a:ea typeface="宋体" panose="02010600030101010101" pitchFamily="2" charset="-122"/>
              </a:rPr>
              <a:t>Return type</a:t>
            </a:r>
            <a:r>
              <a:rPr lang="zh-CN" altLang="en-US" sz="2400" dirty="0">
                <a:ea typeface="宋体" panose="02010600030101010101" pitchFamily="2" charset="-122"/>
              </a:rPr>
              <a:t>（返回参数类型）</a:t>
            </a:r>
            <a:r>
              <a:rPr lang="en-US" altLang="zh-CN" sz="2400" dirty="0">
                <a:ea typeface="宋体" panose="02010600030101010101" pitchFamily="2" charset="-122"/>
              </a:rPr>
              <a:t>—the type of the data returned </a:t>
            </a:r>
          </a:p>
          <a:p>
            <a:pPr lvl="1" eaLnBrk="1" hangingPunct="1">
              <a:lnSpc>
                <a:spcPct val="90000"/>
              </a:lnSpc>
            </a:pPr>
            <a:r>
              <a:rPr lang="en-US" altLang="zh-CN" sz="2400" dirty="0">
                <a:ea typeface="宋体" panose="02010600030101010101" pitchFamily="2" charset="-122"/>
              </a:rPr>
              <a:t>Examples:</a:t>
            </a:r>
          </a:p>
          <a:p>
            <a:pPr lvl="2" eaLnBrk="1" hangingPunct="1">
              <a:lnSpc>
                <a:spcPct val="90000"/>
              </a:lnSpc>
              <a:buFont typeface="Wingdings" panose="05000000000000000000" pitchFamily="2" charset="2"/>
              <a:buNone/>
            </a:pPr>
            <a:r>
              <a:rPr lang="en-US" altLang="zh-CN" sz="2200" dirty="0">
                <a:ea typeface="宋体" panose="02010600030101010101" pitchFamily="2" charset="-122"/>
              </a:rPr>
              <a:t>+</a:t>
            </a:r>
            <a:r>
              <a:rPr lang="en-US" altLang="zh-CN" sz="2200" dirty="0" err="1">
                <a:ea typeface="宋体" panose="02010600030101010101" pitchFamily="2" charset="-122"/>
              </a:rPr>
              <a:t>setName</a:t>
            </a:r>
            <a:r>
              <a:rPr lang="en-US" altLang="zh-CN" sz="2200" dirty="0">
                <a:ea typeface="宋体" panose="02010600030101010101" pitchFamily="2" charset="-122"/>
              </a:rPr>
              <a:t>(</a:t>
            </a:r>
            <a:r>
              <a:rPr lang="en-US" altLang="zh-CN" sz="2200" dirty="0" err="1">
                <a:ea typeface="宋体" panose="02010600030101010101" pitchFamily="2" charset="-122"/>
              </a:rPr>
              <a:t>fName</a:t>
            </a:r>
            <a:r>
              <a:rPr lang="en-US" altLang="zh-CN" sz="2200" dirty="0">
                <a:ea typeface="宋体" panose="02010600030101010101" pitchFamily="2" charset="-122"/>
              </a:rPr>
              <a:t>, </a:t>
            </a:r>
            <a:r>
              <a:rPr lang="en-US" altLang="zh-CN" sz="2200" dirty="0" err="1">
                <a:ea typeface="宋体" panose="02010600030101010101" pitchFamily="2" charset="-122"/>
              </a:rPr>
              <a:t>lName</a:t>
            </a:r>
            <a:r>
              <a:rPr lang="en-US" altLang="zh-CN" sz="2200" dirty="0">
                <a:ea typeface="宋体" panose="02010600030101010101" pitchFamily="2" charset="-122"/>
              </a:rPr>
              <a:t>) : void  (void is usually let off)</a:t>
            </a:r>
          </a:p>
          <a:p>
            <a:pPr lvl="2" eaLnBrk="1" hangingPunct="1">
              <a:lnSpc>
                <a:spcPct val="90000"/>
              </a:lnSpc>
              <a:buFont typeface="Wingdings" panose="05000000000000000000" pitchFamily="2" charset="2"/>
              <a:buNone/>
            </a:pPr>
            <a:r>
              <a:rPr lang="en-US" altLang="zh-CN" sz="2200" dirty="0">
                <a:ea typeface="宋体" panose="02010600030101010101" pitchFamily="2" charset="-122"/>
              </a:rPr>
              <a:t>+</a:t>
            </a:r>
            <a:r>
              <a:rPr lang="en-US" altLang="zh-CN" sz="2200" dirty="0" err="1">
                <a:ea typeface="宋体" panose="02010600030101010101" pitchFamily="2" charset="-122"/>
              </a:rPr>
              <a:t>getName</a:t>
            </a:r>
            <a:r>
              <a:rPr lang="en-US" altLang="zh-CN" sz="2200" dirty="0">
                <a:ea typeface="宋体" panose="02010600030101010101" pitchFamily="2" charset="-122"/>
              </a:rPr>
              <a:t>(): string (what is returned is a string)</a:t>
            </a:r>
          </a:p>
          <a:p>
            <a:pPr lvl="2" eaLnBrk="1" hangingPunct="1">
              <a:lnSpc>
                <a:spcPct val="90000"/>
              </a:lnSpc>
              <a:buFont typeface="Wingdings" panose="05000000000000000000" pitchFamily="2" charset="2"/>
              <a:buNone/>
            </a:pPr>
            <a:r>
              <a:rPr lang="en-US" altLang="zh-CN" sz="2200" dirty="0">
                <a:ea typeface="宋体" panose="02010600030101010101" pitchFamily="2" charset="-122"/>
              </a:rPr>
              <a:t>-</a:t>
            </a:r>
            <a:r>
              <a:rPr lang="en-US" altLang="zh-CN" sz="2200" dirty="0" err="1">
                <a:ea typeface="宋体" panose="02010600030101010101" pitchFamily="2" charset="-122"/>
              </a:rPr>
              <a:t>checkValidity</a:t>
            </a:r>
            <a:r>
              <a:rPr lang="en-US" altLang="zh-CN" sz="2200" dirty="0">
                <a:ea typeface="宋体" panose="02010600030101010101" pitchFamily="2" charset="-122"/>
              </a:rPr>
              <a:t>(date) : int  (assuming int is a returned code) </a:t>
            </a:r>
            <a:endParaRPr lang="en-GB" altLang="zh-CN" sz="2200" dirty="0">
              <a:ea typeface="宋体" panose="02010600030101010101" pitchFamily="2" charset="-122"/>
            </a:endParaRPr>
          </a:p>
        </p:txBody>
      </p:sp>
      <p:pic>
        <p:nvPicPr>
          <p:cNvPr id="7" name="Picture 6">
            <a:extLst>
              <a:ext uri="{FF2B5EF4-FFF2-40B4-BE49-F238E27FC236}">
                <a16:creationId xmlns:a16="http://schemas.microsoft.com/office/drawing/2014/main" id="{AF0BD421-DFFE-4A02-97A9-29A8BE1CAB7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4" t="60472" r="4464" b="5707"/>
          <a:stretch/>
        </p:blipFill>
        <p:spPr bwMode="auto">
          <a:xfrm>
            <a:off x="3581400" y="822960"/>
            <a:ext cx="48768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6">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676">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676">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67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5">
            <a:extLst>
              <a:ext uri="{FF2B5EF4-FFF2-40B4-BE49-F238E27FC236}">
                <a16:creationId xmlns:a16="http://schemas.microsoft.com/office/drawing/2014/main" id="{6A4DDE27-898C-4A2C-84A3-CF7E1FCB550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AACF7866-3B5B-4E27-90E5-FBEEA5955BDC}" type="slidenum">
              <a:rPr lang="en-US" altLang="en-US" sz="1000"/>
              <a:pPr>
                <a:spcBef>
                  <a:spcPct val="0"/>
                </a:spcBef>
                <a:buClrTx/>
                <a:buSzTx/>
                <a:buFontTx/>
                <a:buNone/>
              </a:pPr>
              <a:t>33</a:t>
            </a:fld>
            <a:endParaRPr lang="en-US" altLang="en-US" sz="1000"/>
          </a:p>
        </p:txBody>
      </p:sp>
      <p:sp>
        <p:nvSpPr>
          <p:cNvPr id="29699" name="Rectangle 2">
            <a:extLst>
              <a:ext uri="{FF2B5EF4-FFF2-40B4-BE49-F238E27FC236}">
                <a16:creationId xmlns:a16="http://schemas.microsoft.com/office/drawing/2014/main" id="{642C4C75-2B13-4D0C-A2E9-A0E800C74B02}"/>
              </a:ext>
            </a:extLst>
          </p:cNvPr>
          <p:cNvSpPr>
            <a:spLocks noGrp="1" noChangeArrowheads="1"/>
          </p:cNvSpPr>
          <p:nvPr>
            <p:ph type="title"/>
          </p:nvPr>
        </p:nvSpPr>
        <p:spPr>
          <a:xfrm>
            <a:off x="304800" y="122238"/>
            <a:ext cx="7696200" cy="944562"/>
          </a:xfrm>
        </p:spPr>
        <p:txBody>
          <a:bodyPr/>
          <a:lstStyle/>
          <a:p>
            <a:pPr eaLnBrk="1" hangingPunct="1"/>
            <a:r>
              <a:rPr lang="en-US" altLang="zh-CN" sz="3600">
                <a:ea typeface="宋体" panose="02010600030101010101" pitchFamily="2" charset="-122"/>
              </a:rPr>
              <a:t>Notation for Design Classes</a:t>
            </a:r>
          </a:p>
        </p:txBody>
      </p:sp>
      <p:sp>
        <p:nvSpPr>
          <p:cNvPr id="29700" name="Rectangle 3">
            <a:extLst>
              <a:ext uri="{FF2B5EF4-FFF2-40B4-BE49-F238E27FC236}">
                <a16:creationId xmlns:a16="http://schemas.microsoft.com/office/drawing/2014/main" id="{EE3B2BD5-BEEE-4AE9-B442-A9F385D00772}"/>
              </a:ext>
            </a:extLst>
          </p:cNvPr>
          <p:cNvSpPr>
            <a:spLocks noGrp="1" noChangeArrowheads="1"/>
          </p:cNvSpPr>
          <p:nvPr>
            <p:ph type="body" idx="1"/>
          </p:nvPr>
        </p:nvSpPr>
        <p:spPr>
          <a:xfrm>
            <a:off x="304800" y="1295400"/>
            <a:ext cx="8229600" cy="4724400"/>
          </a:xfrm>
        </p:spPr>
        <p:txBody>
          <a:bodyPr/>
          <a:lstStyle/>
          <a:p>
            <a:pPr eaLnBrk="1" hangingPunct="1"/>
            <a:r>
              <a:rPr lang="en-US" altLang="zh-CN" sz="2800" dirty="0">
                <a:ea typeface="宋体" panose="02010600030101010101" pitchFamily="2" charset="-122"/>
              </a:rPr>
              <a:t>Class level method</a:t>
            </a:r>
            <a:r>
              <a:rPr lang="zh-CN" altLang="en-US" sz="2800" dirty="0">
                <a:ea typeface="宋体" panose="02010600030101010101" pitchFamily="2" charset="-122"/>
              </a:rPr>
              <a:t>（类级方法）</a:t>
            </a:r>
            <a:r>
              <a:rPr lang="en-US" altLang="zh-CN" sz="2800" dirty="0">
                <a:ea typeface="宋体" panose="02010600030101010101" pitchFamily="2" charset="-122"/>
              </a:rPr>
              <a:t>—applies to class rather than objects of class (aka static method). </a:t>
            </a:r>
            <a:r>
              <a:rPr lang="zh-CN" altLang="en-US" sz="2800" dirty="0">
                <a:ea typeface="宋体" panose="02010600030101010101" pitchFamily="2" charset="-122"/>
              </a:rPr>
              <a:t>（静态方法：应用于类而不是类的对象）</a:t>
            </a:r>
            <a:endParaRPr lang="en-US" altLang="zh-CN" sz="2800" dirty="0">
              <a:ea typeface="宋体" panose="02010600030101010101" pitchFamily="2" charset="-122"/>
            </a:endParaRPr>
          </a:p>
          <a:p>
            <a:pPr lvl="1" eaLnBrk="1" hangingPunct="1"/>
            <a:r>
              <a:rPr lang="en-US" altLang="zh-CN" sz="2400" u="sng" dirty="0">
                <a:ea typeface="宋体" panose="02010600030101010101" pitchFamily="2" charset="-122"/>
              </a:rPr>
              <a:t>+</a:t>
            </a:r>
            <a:r>
              <a:rPr lang="en-US" altLang="zh-CN" sz="2400" u="sng" dirty="0" err="1">
                <a:ea typeface="宋体" panose="02010600030101010101" pitchFamily="2" charset="-122"/>
              </a:rPr>
              <a:t>findStudentsAboveHours</a:t>
            </a:r>
            <a:r>
              <a:rPr lang="en-US" altLang="zh-CN" sz="2400" u="sng" dirty="0">
                <a:ea typeface="宋体" panose="02010600030101010101" pitchFamily="2" charset="-122"/>
              </a:rPr>
              <a:t>(hours):  Array</a:t>
            </a:r>
          </a:p>
          <a:p>
            <a:pPr lvl="1" eaLnBrk="1" hangingPunct="1"/>
            <a:r>
              <a:rPr lang="en-US" altLang="zh-CN" sz="2400" u="sng" dirty="0">
                <a:ea typeface="宋体" panose="02010600030101010101" pitchFamily="2" charset="-122"/>
              </a:rPr>
              <a:t>+</a:t>
            </a:r>
            <a:r>
              <a:rPr lang="en-US" altLang="zh-CN" sz="2400" u="sng" dirty="0" err="1">
                <a:ea typeface="宋体" panose="02010600030101010101" pitchFamily="2" charset="-122"/>
              </a:rPr>
              <a:t>getNumberOfCustomers</a:t>
            </a:r>
            <a:r>
              <a:rPr lang="en-US" altLang="zh-CN" sz="2400" u="sng" dirty="0">
                <a:ea typeface="宋体" panose="02010600030101010101" pitchFamily="2" charset="-122"/>
              </a:rPr>
              <a:t>(): Integer</a:t>
            </a:r>
          </a:p>
          <a:p>
            <a:pPr eaLnBrk="1" hangingPunct="1"/>
            <a:r>
              <a:rPr lang="en-US" altLang="zh-CN" sz="2800" dirty="0">
                <a:ea typeface="宋体" panose="02010600030101010101" pitchFamily="2" charset="-122"/>
              </a:rPr>
              <a:t>Class level attribute</a:t>
            </a:r>
            <a:r>
              <a:rPr lang="zh-CN" altLang="en-US" sz="2800" dirty="0">
                <a:ea typeface="宋体" panose="02010600030101010101" pitchFamily="2" charset="-122"/>
              </a:rPr>
              <a:t>（类级属性）</a:t>
            </a:r>
            <a:r>
              <a:rPr lang="en-US" altLang="zh-CN" sz="2800" dirty="0">
                <a:ea typeface="宋体" panose="02010600030101010101" pitchFamily="2" charset="-122"/>
              </a:rPr>
              <a:t>—applies to the class rather than an object (aka static attribute). </a:t>
            </a:r>
            <a:r>
              <a:rPr lang="zh-CN" altLang="en-US" sz="2800" dirty="0">
                <a:ea typeface="宋体" panose="02010600030101010101" pitchFamily="2" charset="-122"/>
              </a:rPr>
              <a:t>（静态属性：应用于类而不是对象）</a:t>
            </a:r>
            <a:endParaRPr lang="en-US" altLang="zh-CN" sz="2800" dirty="0">
              <a:ea typeface="宋体" panose="02010600030101010101" pitchFamily="2" charset="-122"/>
            </a:endParaRPr>
          </a:p>
          <a:p>
            <a:pPr lvl="1" eaLnBrk="1" hangingPunct="1"/>
            <a:r>
              <a:rPr lang="en-US" altLang="zh-CN" sz="2400" dirty="0">
                <a:ea typeface="宋体" panose="02010600030101010101" pitchFamily="2" charset="-122"/>
              </a:rPr>
              <a:t> </a:t>
            </a:r>
            <a:r>
              <a:rPr lang="en-US" altLang="zh-CN" sz="2400" u="sng" dirty="0">
                <a:ea typeface="宋体" panose="02010600030101010101" pitchFamily="2" charset="-122"/>
              </a:rPr>
              <a:t>-</a:t>
            </a:r>
            <a:r>
              <a:rPr lang="en-US" altLang="zh-CN" sz="2400" u="sng" dirty="0" err="1">
                <a:ea typeface="宋体" panose="02010600030101010101" pitchFamily="2" charset="-122"/>
              </a:rPr>
              <a:t>noOfPhoneSales</a:t>
            </a:r>
            <a:r>
              <a:rPr lang="en-US" altLang="zh-CN" sz="2400" u="sng" dirty="0">
                <a:ea typeface="宋体" panose="02010600030101010101" pitchFamily="2" charset="-122"/>
              </a:rPr>
              <a:t>: int</a:t>
            </a:r>
          </a:p>
          <a:p>
            <a:pPr eaLnBrk="1" hangingPunct="1"/>
            <a:r>
              <a:rPr lang="zh-CN" altLang="en-US" sz="2800" u="sng" dirty="0">
                <a:ea typeface="宋体" panose="02010600030101010101" pitchFamily="2" charset="-122"/>
              </a:rPr>
              <a:t>静态：只要定义了类，不必建立类的实例就可以使用</a:t>
            </a:r>
            <a:endParaRPr lang="en-US" altLang="zh-CN" sz="2800" u="sng" dirty="0">
              <a:ea typeface="宋体" panose="02010600030101010101" pitchFamily="2" charset="-122"/>
            </a:endParaRPr>
          </a:p>
        </p:txBody>
      </p:sp>
      <p:sp>
        <p:nvSpPr>
          <p:cNvPr id="29701" name="Footer Placeholder 4">
            <a:extLst>
              <a:ext uri="{FF2B5EF4-FFF2-40B4-BE49-F238E27FC236}">
                <a16:creationId xmlns:a16="http://schemas.microsoft.com/office/drawing/2014/main" id="{884D7C81-E09F-40B4-80D6-C15D19B9DE9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29702" name="Rectangle 4">
            <a:extLst>
              <a:ext uri="{FF2B5EF4-FFF2-40B4-BE49-F238E27FC236}">
                <a16:creationId xmlns:a16="http://schemas.microsoft.com/office/drawing/2014/main" id="{02D68103-024F-43DC-A038-9B9AB659884C}"/>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5">
            <a:extLst>
              <a:ext uri="{FF2B5EF4-FFF2-40B4-BE49-F238E27FC236}">
                <a16:creationId xmlns:a16="http://schemas.microsoft.com/office/drawing/2014/main" id="{6A4DDE27-898C-4A2C-84A3-CF7E1FCB550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AACF7866-3B5B-4E27-90E5-FBEEA5955BDC}" type="slidenum">
              <a:rPr lang="en-US" altLang="en-US" sz="1000"/>
              <a:pPr>
                <a:spcBef>
                  <a:spcPct val="0"/>
                </a:spcBef>
                <a:buClrTx/>
                <a:buSzTx/>
                <a:buFontTx/>
                <a:buNone/>
              </a:pPr>
              <a:t>34</a:t>
            </a:fld>
            <a:endParaRPr lang="en-US" altLang="en-US" sz="1000"/>
          </a:p>
        </p:txBody>
      </p:sp>
      <p:sp>
        <p:nvSpPr>
          <p:cNvPr id="29699" name="Rectangle 2">
            <a:extLst>
              <a:ext uri="{FF2B5EF4-FFF2-40B4-BE49-F238E27FC236}">
                <a16:creationId xmlns:a16="http://schemas.microsoft.com/office/drawing/2014/main" id="{642C4C75-2B13-4D0C-A2E9-A0E800C74B02}"/>
              </a:ext>
            </a:extLst>
          </p:cNvPr>
          <p:cNvSpPr>
            <a:spLocks noGrp="1" noChangeArrowheads="1"/>
          </p:cNvSpPr>
          <p:nvPr>
            <p:ph type="title"/>
          </p:nvPr>
        </p:nvSpPr>
        <p:spPr>
          <a:xfrm>
            <a:off x="304800" y="122238"/>
            <a:ext cx="7696200" cy="944562"/>
          </a:xfrm>
        </p:spPr>
        <p:txBody>
          <a:bodyPr/>
          <a:lstStyle/>
          <a:p>
            <a:pPr eaLnBrk="1" hangingPunct="1"/>
            <a:r>
              <a:rPr lang="en-US" altLang="zh-CN" sz="3600">
                <a:ea typeface="宋体" panose="02010600030101010101" pitchFamily="2" charset="-122"/>
              </a:rPr>
              <a:t>Notation for Design Classes</a:t>
            </a:r>
          </a:p>
        </p:txBody>
      </p:sp>
      <p:sp>
        <p:nvSpPr>
          <p:cNvPr id="29700" name="Rectangle 3">
            <a:extLst>
              <a:ext uri="{FF2B5EF4-FFF2-40B4-BE49-F238E27FC236}">
                <a16:creationId xmlns:a16="http://schemas.microsoft.com/office/drawing/2014/main" id="{EE3B2BD5-BEEE-4AE9-B442-A9F385D00772}"/>
              </a:ext>
            </a:extLst>
          </p:cNvPr>
          <p:cNvSpPr>
            <a:spLocks noGrp="1" noChangeArrowheads="1"/>
          </p:cNvSpPr>
          <p:nvPr>
            <p:ph type="body" idx="1"/>
          </p:nvPr>
        </p:nvSpPr>
        <p:spPr>
          <a:xfrm>
            <a:off x="304800" y="1295400"/>
            <a:ext cx="8229600" cy="4724400"/>
          </a:xfrm>
        </p:spPr>
        <p:txBody>
          <a:bodyPr/>
          <a:lstStyle/>
          <a:p>
            <a:pPr eaLnBrk="1" hangingPunct="1"/>
            <a:r>
              <a:rPr lang="en-US" altLang="zh-CN" sz="2800" dirty="0">
                <a:ea typeface="宋体" panose="02010600030101010101" pitchFamily="2" charset="-122"/>
              </a:rPr>
              <a:t>Abstract class</a:t>
            </a:r>
            <a:r>
              <a:rPr lang="zh-CN" altLang="en-US" sz="2800" dirty="0">
                <a:ea typeface="宋体" panose="02010600030101010101" pitchFamily="2" charset="-122"/>
              </a:rPr>
              <a:t>（抽象类）</a:t>
            </a:r>
            <a:r>
              <a:rPr lang="en-US" altLang="zh-CN" sz="2800" dirty="0">
                <a:ea typeface="宋体" panose="02010600030101010101" pitchFamily="2" charset="-122"/>
              </a:rPr>
              <a:t>– class that can’t be instantiated. </a:t>
            </a:r>
            <a:r>
              <a:rPr lang="zh-CN" altLang="en-US" sz="2800" dirty="0">
                <a:ea typeface="宋体" panose="02010600030101010101" pitchFamily="2" charset="-122"/>
              </a:rPr>
              <a:t>（不能被实例化的类）</a:t>
            </a:r>
            <a:endParaRPr lang="en-US" altLang="zh-CN" sz="2800" dirty="0">
              <a:ea typeface="宋体" panose="02010600030101010101" pitchFamily="2" charset="-122"/>
            </a:endParaRPr>
          </a:p>
          <a:p>
            <a:pPr lvl="1" eaLnBrk="1" hangingPunct="1"/>
            <a:r>
              <a:rPr lang="en-US" altLang="zh-CN" sz="2400" dirty="0">
                <a:ea typeface="宋体" panose="02010600030101010101" pitchFamily="2" charset="-122"/>
              </a:rPr>
              <a:t>Only for inheritance. Name in </a:t>
            </a:r>
            <a:r>
              <a:rPr lang="en-US" altLang="zh-CN" sz="2400" i="1" dirty="0">
                <a:ea typeface="宋体" panose="02010600030101010101" pitchFamily="2" charset="-122"/>
              </a:rPr>
              <a:t>Italics</a:t>
            </a:r>
            <a:r>
              <a:rPr lang="en-US" altLang="zh-CN" sz="2400" dirty="0">
                <a:ea typeface="宋体" panose="02010600030101010101" pitchFamily="2" charset="-122"/>
              </a:rPr>
              <a:t>.</a:t>
            </a:r>
            <a:r>
              <a:rPr lang="zh-CN" altLang="en-US" sz="2400" dirty="0">
                <a:ea typeface="宋体" panose="02010600030101010101" pitchFamily="2" charset="-122"/>
              </a:rPr>
              <a:t>（仅用于继承）</a:t>
            </a:r>
            <a:endParaRPr lang="en-US" altLang="zh-CN" sz="2400" dirty="0">
              <a:ea typeface="宋体" panose="02010600030101010101" pitchFamily="2" charset="-122"/>
            </a:endParaRPr>
          </a:p>
          <a:p>
            <a:pPr eaLnBrk="1" hangingPunct="1"/>
            <a:r>
              <a:rPr lang="en-US" altLang="zh-CN" sz="2800" dirty="0">
                <a:ea typeface="宋体" panose="02010600030101010101" pitchFamily="2" charset="-122"/>
              </a:rPr>
              <a:t>Concrete class</a:t>
            </a:r>
            <a:r>
              <a:rPr lang="zh-CN" altLang="en-US" sz="2800" dirty="0">
                <a:ea typeface="宋体" panose="02010600030101010101" pitchFamily="2" charset="-122"/>
              </a:rPr>
              <a:t>（具体类）</a:t>
            </a:r>
            <a:r>
              <a:rPr lang="en-US" altLang="zh-CN" sz="2800" dirty="0">
                <a:ea typeface="宋体" panose="02010600030101010101" pitchFamily="2" charset="-122"/>
              </a:rPr>
              <a:t>—class that can be instantiated.  </a:t>
            </a:r>
            <a:r>
              <a:rPr lang="zh-CN" altLang="en-US" sz="2800" dirty="0">
                <a:ea typeface="宋体" panose="02010600030101010101" pitchFamily="2" charset="-122"/>
              </a:rPr>
              <a:t>（能被实例化的类）</a:t>
            </a:r>
            <a:r>
              <a:rPr lang="en-US" altLang="zh-CN" sz="2800" dirty="0">
                <a:ea typeface="宋体" panose="02010600030101010101" pitchFamily="2" charset="-122"/>
              </a:rPr>
              <a:t>  </a:t>
            </a:r>
          </a:p>
        </p:txBody>
      </p:sp>
      <p:sp>
        <p:nvSpPr>
          <p:cNvPr id="29701" name="Footer Placeholder 4">
            <a:extLst>
              <a:ext uri="{FF2B5EF4-FFF2-40B4-BE49-F238E27FC236}">
                <a16:creationId xmlns:a16="http://schemas.microsoft.com/office/drawing/2014/main" id="{884D7C81-E09F-40B4-80D6-C15D19B9DE9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29702" name="Rectangle 4">
            <a:extLst>
              <a:ext uri="{FF2B5EF4-FFF2-40B4-BE49-F238E27FC236}">
                <a16:creationId xmlns:a16="http://schemas.microsoft.com/office/drawing/2014/main" id="{02D68103-024F-43DC-A038-9B9AB659884C}"/>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069555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70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700">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970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5">
            <a:extLst>
              <a:ext uri="{FF2B5EF4-FFF2-40B4-BE49-F238E27FC236}">
                <a16:creationId xmlns:a16="http://schemas.microsoft.com/office/drawing/2014/main" id="{E42446B7-CF72-481E-AF16-47C93019589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0A4A6185-8C0E-4792-8A5B-AD8CBEC15197}" type="slidenum">
              <a:rPr lang="en-US" altLang="en-US" sz="1000"/>
              <a:pPr>
                <a:spcBef>
                  <a:spcPct val="0"/>
                </a:spcBef>
                <a:buClrTx/>
                <a:buSzTx/>
                <a:buFontTx/>
                <a:buNone/>
              </a:pPr>
              <a:t>35</a:t>
            </a:fld>
            <a:endParaRPr lang="en-US" altLang="en-US" sz="1000"/>
          </a:p>
        </p:txBody>
      </p:sp>
      <p:sp>
        <p:nvSpPr>
          <p:cNvPr id="30723" name="Rectangle 2">
            <a:extLst>
              <a:ext uri="{FF2B5EF4-FFF2-40B4-BE49-F238E27FC236}">
                <a16:creationId xmlns:a16="http://schemas.microsoft.com/office/drawing/2014/main" id="{0DEC62CF-D1C3-44B5-86AD-AB1C7820213B}"/>
              </a:ext>
            </a:extLst>
          </p:cNvPr>
          <p:cNvSpPr>
            <a:spLocks noGrp="1" noChangeArrowheads="1"/>
          </p:cNvSpPr>
          <p:nvPr>
            <p:ph type="title"/>
          </p:nvPr>
        </p:nvSpPr>
        <p:spPr>
          <a:xfrm>
            <a:off x="304800" y="122238"/>
            <a:ext cx="7696200" cy="792162"/>
          </a:xfrm>
        </p:spPr>
        <p:txBody>
          <a:bodyPr/>
          <a:lstStyle/>
          <a:p>
            <a:pPr eaLnBrk="1" hangingPunct="1"/>
            <a:r>
              <a:rPr lang="en-US" altLang="zh-CN" sz="3200">
                <a:ea typeface="宋体" panose="02010600030101010101" pitchFamily="2" charset="-122"/>
              </a:rPr>
              <a:t>Notation for Design Classes</a:t>
            </a:r>
            <a:br>
              <a:rPr lang="en-US" altLang="zh-CN" sz="3200">
                <a:ea typeface="宋体" panose="02010600030101010101" pitchFamily="2" charset="-122"/>
              </a:rPr>
            </a:br>
            <a:r>
              <a:rPr lang="en-US" altLang="zh-CN" sz="2000">
                <a:ea typeface="宋体" panose="02010600030101010101" pitchFamily="2" charset="-122"/>
              </a:rPr>
              <a:t>method arguments and return types not shown</a:t>
            </a:r>
          </a:p>
        </p:txBody>
      </p:sp>
      <p:pic>
        <p:nvPicPr>
          <p:cNvPr id="30724" name="Picture 5">
            <a:extLst>
              <a:ext uri="{FF2B5EF4-FFF2-40B4-BE49-F238E27FC236}">
                <a16:creationId xmlns:a16="http://schemas.microsoft.com/office/drawing/2014/main" id="{FC82D073-100E-4085-994D-75BACC3240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1143000"/>
            <a:ext cx="7086600" cy="5122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5" name="Footer Placeholder 4">
            <a:extLst>
              <a:ext uri="{FF2B5EF4-FFF2-40B4-BE49-F238E27FC236}">
                <a16:creationId xmlns:a16="http://schemas.microsoft.com/office/drawing/2014/main" id="{2612F11A-2CD9-4D20-8296-F200C0C3B17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30726" name="Rectangle 4">
            <a:extLst>
              <a:ext uri="{FF2B5EF4-FFF2-40B4-BE49-F238E27FC236}">
                <a16:creationId xmlns:a16="http://schemas.microsoft.com/office/drawing/2014/main" id="{0235F18D-B754-4518-8D7A-6D6D5791A1A4}"/>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9037D636-DDE4-4EC4-9618-40EFF46C263F}"/>
              </a:ext>
            </a:extLst>
          </p:cNvPr>
          <p:cNvSpPr>
            <a:spLocks noGrp="1"/>
          </p:cNvSpPr>
          <p:nvPr>
            <p:ph type="ftr" sz="quarter" idx="11"/>
          </p:nvPr>
        </p:nvSpPr>
        <p:spPr/>
        <p:txBody>
          <a:bodyPr/>
          <a:lstStyle/>
          <a:p>
            <a:pPr>
              <a:defRPr/>
            </a:pPr>
            <a:r>
              <a:rPr lang="en-US" altLang="en-US"/>
              <a:t>Systems Analysis and Design in a Changing World, 6th Edition</a:t>
            </a:r>
          </a:p>
        </p:txBody>
      </p:sp>
      <p:sp>
        <p:nvSpPr>
          <p:cNvPr id="5" name="灯片编号占位符 4">
            <a:extLst>
              <a:ext uri="{FF2B5EF4-FFF2-40B4-BE49-F238E27FC236}">
                <a16:creationId xmlns:a16="http://schemas.microsoft.com/office/drawing/2014/main" id="{A05A7670-BBD2-4B72-95AF-5E7968BABE73}"/>
              </a:ext>
            </a:extLst>
          </p:cNvPr>
          <p:cNvSpPr>
            <a:spLocks noGrp="1"/>
          </p:cNvSpPr>
          <p:nvPr>
            <p:ph type="sldNum" sz="quarter" idx="12"/>
          </p:nvPr>
        </p:nvSpPr>
        <p:spPr/>
        <p:txBody>
          <a:bodyPr/>
          <a:lstStyle/>
          <a:p>
            <a:pPr>
              <a:defRPr/>
            </a:pPr>
            <a:fld id="{B39FD724-736A-4C1F-A7C0-A4F7EAB1B7C9}" type="slidenum">
              <a:rPr lang="en-US" altLang="en-US" smtClean="0"/>
              <a:pPr>
                <a:defRPr/>
              </a:pPr>
              <a:t>36</a:t>
            </a:fld>
            <a:endParaRPr lang="en-US" altLang="en-US"/>
          </a:p>
        </p:txBody>
      </p:sp>
      <p:sp>
        <p:nvSpPr>
          <p:cNvPr id="8" name="文本框 7">
            <a:extLst>
              <a:ext uri="{FF2B5EF4-FFF2-40B4-BE49-F238E27FC236}">
                <a16:creationId xmlns:a16="http://schemas.microsoft.com/office/drawing/2014/main" id="{E0389087-7B2D-4CCF-96CE-5D61D905C03F}"/>
              </a:ext>
            </a:extLst>
          </p:cNvPr>
          <p:cNvSpPr txBox="1"/>
          <p:nvPr>
            <p:custDataLst>
              <p:tags r:id="rId2"/>
            </p:custDataLst>
          </p:nvPr>
        </p:nvSpPr>
        <p:spPr>
          <a:xfrm>
            <a:off x="800100" y="698500"/>
            <a:ext cx="7315200" cy="2143125"/>
          </a:xfrm>
          <a:prstGeom prst="rect">
            <a:avLst/>
          </a:prstGeom>
          <a:noFill/>
        </p:spPr>
        <p:txBody>
          <a:bodyPr vert="horz" wrap="square" rtlCol="0" anchor="t" anchorCtr="0">
            <a:noAutofit/>
          </a:bodyPr>
          <a:lstStyle/>
          <a:p>
            <a:r>
              <a:rPr lang="en-US" altLang="zh-CN" sz="2800" dirty="0">
                <a:solidFill>
                  <a:srgbClr val="000000"/>
                </a:solidFill>
                <a:latin typeface="Arial Black" panose="020B0A04020102020204" pitchFamily="34" charset="0"/>
                <a:ea typeface="Microsoft Yahei" panose="020B0503020204020204" pitchFamily="34" charset="-122"/>
                <a:sym typeface="Microsoft Yahei" panose="020B0503020204020204" pitchFamily="34" charset="-122"/>
              </a:rPr>
              <a:t>Write Java code frame according to the following class diagram.</a:t>
            </a:r>
            <a:endParaRPr lang="zh-CN" altLang="en-US" sz="2800" dirty="0">
              <a:solidFill>
                <a:srgbClr val="000000"/>
              </a:solidFill>
              <a:latin typeface="Arial Black" panose="020B0A04020102020204" pitchFamily="34" charset="0"/>
              <a:ea typeface="Microsoft Yahei" panose="020B0503020204020204" pitchFamily="34" charset="-122"/>
              <a:sym typeface="Microsoft Yahei" panose="020B0503020204020204" pitchFamily="34" charset="-122"/>
            </a:endParaRPr>
          </a:p>
        </p:txBody>
      </p:sp>
      <p:sp>
        <p:nvSpPr>
          <p:cNvPr id="9" name="矩形: 圆角 8">
            <a:extLst>
              <a:ext uri="{FF2B5EF4-FFF2-40B4-BE49-F238E27FC236}">
                <a16:creationId xmlns:a16="http://schemas.microsoft.com/office/drawing/2014/main" id="{2FB2B3F5-E377-49A6-A17B-851C58D09C1B}"/>
              </a:ext>
            </a:extLst>
          </p:cNvPr>
          <p:cNvSpPr/>
          <p:nvPr>
            <p:custDataLst>
              <p:tags r:id="rId3"/>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5" name="矩形 14">
            <a:extLst>
              <a:ext uri="{FF2B5EF4-FFF2-40B4-BE49-F238E27FC236}">
                <a16:creationId xmlns:a16="http://schemas.microsoft.com/office/drawing/2014/main" id="{2CA992B8-A44B-44AB-921E-2386D8968C92}"/>
              </a:ext>
            </a:extLst>
          </p:cNvPr>
          <p:cNvSpPr/>
          <p:nvPr>
            <p:custDataLst>
              <p:tags r:id="rId4"/>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lang="en-US" altLang="zh-CN"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2.0</a:t>
            </a:r>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pic>
        <p:nvPicPr>
          <p:cNvPr id="16" name="Picture 5">
            <a:extLst>
              <a:ext uri="{FF2B5EF4-FFF2-40B4-BE49-F238E27FC236}">
                <a16:creationId xmlns:a16="http://schemas.microsoft.com/office/drawing/2014/main" id="{68AC8DFC-0B82-4979-A457-345ECAB5A3B4}"/>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57300" y="1621298"/>
            <a:ext cx="6400800" cy="4627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 name="组合 13">
            <a:extLst>
              <a:ext uri="{FF2B5EF4-FFF2-40B4-BE49-F238E27FC236}">
                <a16:creationId xmlns:a16="http://schemas.microsoft.com/office/drawing/2014/main" id="{F148F4F1-9633-44D6-90B3-683012A694BA}"/>
              </a:ext>
            </a:extLst>
          </p:cNvPr>
          <p:cNvGrpSpPr/>
          <p:nvPr>
            <p:custDataLst>
              <p:tags r:id="rId5"/>
            </p:custDataLst>
          </p:nvPr>
        </p:nvGrpSpPr>
        <p:grpSpPr>
          <a:xfrm>
            <a:off x="0" y="0"/>
            <a:ext cx="9144000" cy="635000"/>
            <a:chOff x="0" y="0"/>
            <a:chExt cx="9144000" cy="635000"/>
          </a:xfrm>
        </p:grpSpPr>
        <p:sp>
          <p:nvSpPr>
            <p:cNvPr id="10" name="TitleBackground">
              <a:extLst>
                <a:ext uri="{FF2B5EF4-FFF2-40B4-BE49-F238E27FC236}">
                  <a16:creationId xmlns:a16="http://schemas.microsoft.com/office/drawing/2014/main" id="{A36078F9-72CA-4D19-A677-47035DD42C86}"/>
                </a:ext>
              </a:extLst>
            </p:cNvPr>
            <p:cNvSpPr/>
            <p:nvPr>
              <p:custDataLst>
                <p:tags r:id="rId7"/>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ColorBlock">
              <a:extLst>
                <a:ext uri="{FF2B5EF4-FFF2-40B4-BE49-F238E27FC236}">
                  <a16:creationId xmlns:a16="http://schemas.microsoft.com/office/drawing/2014/main" id="{ADA43361-F1E6-474B-82C8-81EC838B2E18}"/>
                </a:ext>
              </a:extLst>
            </p:cNvPr>
            <p:cNvSpPr/>
            <p:nvPr>
              <p:custDataLst>
                <p:tags r:id="rId8"/>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TypeText">
              <a:extLst>
                <a:ext uri="{FF2B5EF4-FFF2-40B4-BE49-F238E27FC236}">
                  <a16:creationId xmlns:a16="http://schemas.microsoft.com/office/drawing/2014/main" id="{2EFBAEB9-F5F1-41E1-8441-2B4493622997}"/>
                </a:ext>
              </a:extLst>
            </p:cNvPr>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13" name="TipText">
              <a:extLst>
                <a:ext uri="{FF2B5EF4-FFF2-40B4-BE49-F238E27FC236}">
                  <a16:creationId xmlns:a16="http://schemas.microsoft.com/office/drawing/2014/main" id="{6E636F48-C050-4BA3-90C3-E7F856ED22D2}"/>
                </a:ext>
              </a:extLst>
            </p:cNvPr>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7" name="图片 6">
            <a:extLst>
              <a:ext uri="{FF2B5EF4-FFF2-40B4-BE49-F238E27FC236}">
                <a16:creationId xmlns:a16="http://schemas.microsoft.com/office/drawing/2014/main" id="{830AACE6-D3AA-44CD-820D-C5563A56BB91}"/>
              </a:ext>
            </a:extLst>
          </p:cNvPr>
          <p:cNvPicPr>
            <a:picLocks/>
          </p:cNvPicPr>
          <p:nvPr>
            <p:custDataLst>
              <p:tags r:id="rId6"/>
            </p:custDataLst>
          </p:nvPr>
        </p:nvPicPr>
        <p:blipFill>
          <a:blip r:embed="rId14">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6174487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5">
            <a:extLst>
              <a:ext uri="{FF2B5EF4-FFF2-40B4-BE49-F238E27FC236}">
                <a16:creationId xmlns:a16="http://schemas.microsoft.com/office/drawing/2014/main" id="{9F60D3B1-40F5-437C-8C6A-97FF6598A40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1DD6D8ED-0725-43F2-941B-BB14C43F9CB2}" type="slidenum">
              <a:rPr lang="en-US" altLang="en-US" sz="1000"/>
              <a:pPr>
                <a:spcBef>
                  <a:spcPct val="0"/>
                </a:spcBef>
                <a:buClrTx/>
                <a:buSzTx/>
                <a:buFontTx/>
                <a:buNone/>
              </a:pPr>
              <a:t>37</a:t>
            </a:fld>
            <a:endParaRPr lang="en-US" altLang="en-US" sz="1000"/>
          </a:p>
        </p:txBody>
      </p:sp>
      <p:sp>
        <p:nvSpPr>
          <p:cNvPr id="31747" name="Rectangle 2">
            <a:extLst>
              <a:ext uri="{FF2B5EF4-FFF2-40B4-BE49-F238E27FC236}">
                <a16:creationId xmlns:a16="http://schemas.microsoft.com/office/drawing/2014/main" id="{1CC7655D-0557-446A-9076-96AAE6EA99EC}"/>
              </a:ext>
            </a:extLst>
          </p:cNvPr>
          <p:cNvSpPr>
            <a:spLocks noGrp="1" noChangeArrowheads="1"/>
          </p:cNvSpPr>
          <p:nvPr>
            <p:ph type="title"/>
          </p:nvPr>
        </p:nvSpPr>
        <p:spPr>
          <a:xfrm>
            <a:off x="304800" y="122238"/>
            <a:ext cx="7696200" cy="868362"/>
          </a:xfrm>
        </p:spPr>
        <p:txBody>
          <a:bodyPr/>
          <a:lstStyle/>
          <a:p>
            <a:pPr eaLnBrk="1" hangingPunct="1"/>
            <a:r>
              <a:rPr lang="en-US" altLang="zh-CN" sz="3600">
                <a:ea typeface="宋体" panose="02010600030101010101" pitchFamily="2" charset="-122"/>
              </a:rPr>
              <a:t>Notation for Design Classes</a:t>
            </a:r>
          </a:p>
        </p:txBody>
      </p:sp>
      <p:sp>
        <p:nvSpPr>
          <p:cNvPr id="31748" name="Rectangle 3">
            <a:extLst>
              <a:ext uri="{FF2B5EF4-FFF2-40B4-BE49-F238E27FC236}">
                <a16:creationId xmlns:a16="http://schemas.microsoft.com/office/drawing/2014/main" id="{87D28250-4D9B-44B3-8314-DC98684AD5AC}"/>
              </a:ext>
            </a:extLst>
          </p:cNvPr>
          <p:cNvSpPr>
            <a:spLocks noGrp="1" noChangeArrowheads="1"/>
          </p:cNvSpPr>
          <p:nvPr>
            <p:ph type="body" idx="1"/>
          </p:nvPr>
        </p:nvSpPr>
        <p:spPr>
          <a:xfrm>
            <a:off x="304800" y="990600"/>
            <a:ext cx="8229600" cy="1905000"/>
          </a:xfrm>
        </p:spPr>
        <p:txBody>
          <a:bodyPr/>
          <a:lstStyle/>
          <a:p>
            <a:pPr eaLnBrk="1" hangingPunct="1"/>
            <a:r>
              <a:rPr lang="en-US" altLang="zh-CN" sz="2800" dirty="0">
                <a:ea typeface="宋体" panose="02010600030101010101" pitchFamily="2" charset="-122"/>
              </a:rPr>
              <a:t>Navigation Visibility</a:t>
            </a:r>
            <a:r>
              <a:rPr lang="zh-CN" altLang="en-US" sz="2800" dirty="0">
                <a:ea typeface="宋体" panose="02010600030101010101" pitchFamily="2" charset="-122"/>
              </a:rPr>
              <a:t>（导航可见性）</a:t>
            </a:r>
            <a:endParaRPr lang="en-US" altLang="zh-CN" sz="2800" dirty="0">
              <a:ea typeface="宋体" panose="02010600030101010101" pitchFamily="2" charset="-122"/>
            </a:endParaRPr>
          </a:p>
          <a:p>
            <a:pPr lvl="1" eaLnBrk="1" hangingPunct="1"/>
            <a:r>
              <a:rPr lang="en-US" altLang="zh-CN" sz="2000" dirty="0">
                <a:ea typeface="宋体" panose="02010600030101010101" pitchFamily="2" charset="-122"/>
              </a:rPr>
              <a:t>The ability of one object to view and interact with another object</a:t>
            </a:r>
            <a:r>
              <a:rPr lang="zh-CN" altLang="en-US" sz="2000" dirty="0">
                <a:ea typeface="宋体" panose="02010600030101010101" pitchFamily="2" charset="-122"/>
              </a:rPr>
              <a:t>（一个对象查看另一个对象并与之交互的能力）</a:t>
            </a:r>
            <a:r>
              <a:rPr lang="en-US" altLang="zh-CN" sz="2000" dirty="0">
                <a:ea typeface="宋体" panose="02010600030101010101" pitchFamily="2" charset="-122"/>
              </a:rPr>
              <a:t> </a:t>
            </a:r>
          </a:p>
          <a:p>
            <a:pPr lvl="1" eaLnBrk="1" hangingPunct="1"/>
            <a:r>
              <a:rPr lang="en-US" altLang="zh-CN" sz="2000" dirty="0">
                <a:ea typeface="宋体" panose="02010600030101010101" pitchFamily="2" charset="-122"/>
              </a:rPr>
              <a:t>Accomplished by adding an object reference variable to a class. </a:t>
            </a:r>
            <a:r>
              <a:rPr lang="zh-CN" altLang="en-US" sz="2000" dirty="0">
                <a:ea typeface="宋体" panose="02010600030101010101" pitchFamily="2" charset="-122"/>
              </a:rPr>
              <a:t>（通过向类添加对象引用变量来实现）</a:t>
            </a:r>
            <a:endParaRPr lang="en-US" altLang="zh-CN" sz="2000" dirty="0">
              <a:ea typeface="宋体" panose="02010600030101010101" pitchFamily="2" charset="-122"/>
            </a:endParaRPr>
          </a:p>
          <a:p>
            <a:pPr lvl="1" eaLnBrk="1" hangingPunct="1"/>
            <a:r>
              <a:rPr lang="en-US" altLang="zh-CN" sz="2000" dirty="0">
                <a:ea typeface="宋体" panose="02010600030101010101" pitchFamily="2" charset="-122"/>
              </a:rPr>
              <a:t>Shown as an arrow head on the association line—customer can find and interact with sale because it has </a:t>
            </a:r>
            <a:r>
              <a:rPr lang="en-US" altLang="zh-CN" sz="2000" dirty="0" err="1">
                <a:ea typeface="宋体" panose="02010600030101010101" pitchFamily="2" charset="-122"/>
              </a:rPr>
              <a:t>mySale</a:t>
            </a:r>
            <a:r>
              <a:rPr lang="en-US" altLang="zh-CN" sz="2000" dirty="0">
                <a:ea typeface="宋体" panose="02010600030101010101" pitchFamily="2" charset="-122"/>
              </a:rPr>
              <a:t> reference variable</a:t>
            </a:r>
            <a:r>
              <a:rPr lang="zh-CN" altLang="en-US" sz="2000" dirty="0">
                <a:ea typeface="宋体" panose="02010600030101010101" pitchFamily="2" charset="-122"/>
              </a:rPr>
              <a:t>（在关联线上显示为箭头，客户可以找到</a:t>
            </a:r>
            <a:r>
              <a:rPr lang="en-US" altLang="zh-CN" sz="2000" dirty="0">
                <a:ea typeface="宋体" panose="02010600030101010101" pitchFamily="2" charset="-122"/>
              </a:rPr>
              <a:t>sale</a:t>
            </a:r>
            <a:r>
              <a:rPr lang="zh-CN" altLang="en-US" sz="2000" dirty="0">
                <a:ea typeface="宋体" panose="02010600030101010101" pitchFamily="2" charset="-122"/>
              </a:rPr>
              <a:t>并与之交互，因为它有</a:t>
            </a:r>
            <a:r>
              <a:rPr lang="en-US" altLang="zh-CN" sz="2000" dirty="0" err="1">
                <a:ea typeface="宋体" panose="02010600030101010101" pitchFamily="2" charset="-122"/>
              </a:rPr>
              <a:t>mysql</a:t>
            </a:r>
            <a:r>
              <a:rPr lang="zh-CN" altLang="en-US" sz="2000" dirty="0">
                <a:ea typeface="宋体" panose="02010600030101010101" pitchFamily="2" charset="-122"/>
              </a:rPr>
              <a:t>引用变量）</a:t>
            </a:r>
            <a:endParaRPr lang="en-US" altLang="zh-CN" sz="2400" dirty="0">
              <a:ea typeface="宋体" panose="02010600030101010101" pitchFamily="2" charset="-122"/>
            </a:endParaRPr>
          </a:p>
        </p:txBody>
      </p:sp>
      <p:sp>
        <p:nvSpPr>
          <p:cNvPr id="31750" name="Footer Placeholder 4">
            <a:extLst>
              <a:ext uri="{FF2B5EF4-FFF2-40B4-BE49-F238E27FC236}">
                <a16:creationId xmlns:a16="http://schemas.microsoft.com/office/drawing/2014/main" id="{BACC853C-5282-447F-A9D5-0D2EC1A63A5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31751" name="Rectangle 4">
            <a:extLst>
              <a:ext uri="{FF2B5EF4-FFF2-40B4-BE49-F238E27FC236}">
                <a16:creationId xmlns:a16="http://schemas.microsoft.com/office/drawing/2014/main" id="{55217685-063E-4A79-B304-5C7D7B8C1742}"/>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5">
            <a:extLst>
              <a:ext uri="{FF2B5EF4-FFF2-40B4-BE49-F238E27FC236}">
                <a16:creationId xmlns:a16="http://schemas.microsoft.com/office/drawing/2014/main" id="{9F60D3B1-40F5-437C-8C6A-97FF6598A40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1DD6D8ED-0725-43F2-941B-BB14C43F9CB2}" type="slidenum">
              <a:rPr lang="en-US" altLang="en-US" sz="1000"/>
              <a:pPr>
                <a:spcBef>
                  <a:spcPct val="0"/>
                </a:spcBef>
                <a:buClrTx/>
                <a:buSzTx/>
                <a:buFontTx/>
                <a:buNone/>
              </a:pPr>
              <a:t>38</a:t>
            </a:fld>
            <a:endParaRPr lang="en-US" altLang="en-US" sz="1000"/>
          </a:p>
        </p:txBody>
      </p:sp>
      <p:sp>
        <p:nvSpPr>
          <p:cNvPr id="31747" name="Rectangle 2">
            <a:extLst>
              <a:ext uri="{FF2B5EF4-FFF2-40B4-BE49-F238E27FC236}">
                <a16:creationId xmlns:a16="http://schemas.microsoft.com/office/drawing/2014/main" id="{1CC7655D-0557-446A-9076-96AAE6EA99EC}"/>
              </a:ext>
            </a:extLst>
          </p:cNvPr>
          <p:cNvSpPr>
            <a:spLocks noGrp="1" noChangeArrowheads="1"/>
          </p:cNvSpPr>
          <p:nvPr>
            <p:ph type="title"/>
          </p:nvPr>
        </p:nvSpPr>
        <p:spPr>
          <a:xfrm>
            <a:off x="304800" y="122238"/>
            <a:ext cx="7696200" cy="868362"/>
          </a:xfrm>
        </p:spPr>
        <p:txBody>
          <a:bodyPr/>
          <a:lstStyle/>
          <a:p>
            <a:pPr eaLnBrk="1" hangingPunct="1"/>
            <a:r>
              <a:rPr lang="en-US" altLang="zh-CN" sz="3600">
                <a:ea typeface="宋体" panose="02010600030101010101" pitchFamily="2" charset="-122"/>
              </a:rPr>
              <a:t>Notation for Design Classes</a:t>
            </a:r>
          </a:p>
        </p:txBody>
      </p:sp>
      <p:sp>
        <p:nvSpPr>
          <p:cNvPr id="31748" name="Rectangle 3">
            <a:extLst>
              <a:ext uri="{FF2B5EF4-FFF2-40B4-BE49-F238E27FC236}">
                <a16:creationId xmlns:a16="http://schemas.microsoft.com/office/drawing/2014/main" id="{87D28250-4D9B-44B3-8314-DC98684AD5AC}"/>
              </a:ext>
            </a:extLst>
          </p:cNvPr>
          <p:cNvSpPr>
            <a:spLocks noGrp="1" noChangeArrowheads="1"/>
          </p:cNvSpPr>
          <p:nvPr>
            <p:ph type="body" idx="1"/>
          </p:nvPr>
        </p:nvSpPr>
        <p:spPr>
          <a:xfrm>
            <a:off x="304800" y="990600"/>
            <a:ext cx="8229600" cy="762000"/>
          </a:xfrm>
        </p:spPr>
        <p:txBody>
          <a:bodyPr/>
          <a:lstStyle/>
          <a:p>
            <a:pPr eaLnBrk="1" hangingPunct="1"/>
            <a:r>
              <a:rPr lang="en-US" altLang="zh-CN" sz="2800" dirty="0">
                <a:ea typeface="宋体" panose="02010600030101010101" pitchFamily="2" charset="-122"/>
              </a:rPr>
              <a:t>Navigation Visibility</a:t>
            </a:r>
            <a:r>
              <a:rPr lang="zh-CN" altLang="en-US" sz="2800" dirty="0">
                <a:ea typeface="宋体" panose="02010600030101010101" pitchFamily="2" charset="-122"/>
              </a:rPr>
              <a:t>（导航可见性）</a:t>
            </a:r>
            <a:endParaRPr lang="en-US" altLang="zh-CN" sz="2800" dirty="0">
              <a:ea typeface="宋体" panose="02010600030101010101" pitchFamily="2" charset="-122"/>
            </a:endParaRPr>
          </a:p>
        </p:txBody>
      </p:sp>
      <p:pic>
        <p:nvPicPr>
          <p:cNvPr id="31749" name="Picture 4">
            <a:extLst>
              <a:ext uri="{FF2B5EF4-FFF2-40B4-BE49-F238E27FC236}">
                <a16:creationId xmlns:a16="http://schemas.microsoft.com/office/drawing/2014/main" id="{0C4A7F19-FB7A-4F31-8104-598E4CC844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752600"/>
            <a:ext cx="6781800"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0" name="Footer Placeholder 4">
            <a:extLst>
              <a:ext uri="{FF2B5EF4-FFF2-40B4-BE49-F238E27FC236}">
                <a16:creationId xmlns:a16="http://schemas.microsoft.com/office/drawing/2014/main" id="{BACC853C-5282-447F-A9D5-0D2EC1A63A5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31751" name="Rectangle 4">
            <a:extLst>
              <a:ext uri="{FF2B5EF4-FFF2-40B4-BE49-F238E27FC236}">
                <a16:creationId xmlns:a16="http://schemas.microsoft.com/office/drawing/2014/main" id="{55217685-063E-4A79-B304-5C7D7B8C1742}"/>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2" name="矩形 1">
            <a:extLst>
              <a:ext uri="{FF2B5EF4-FFF2-40B4-BE49-F238E27FC236}">
                <a16:creationId xmlns:a16="http://schemas.microsoft.com/office/drawing/2014/main" id="{629B5839-C0DC-4EEB-B16D-E1897E8E97D8}"/>
              </a:ext>
            </a:extLst>
          </p:cNvPr>
          <p:cNvSpPr/>
          <p:nvPr/>
        </p:nvSpPr>
        <p:spPr>
          <a:xfrm>
            <a:off x="1295400" y="3810000"/>
            <a:ext cx="1447800" cy="304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06DAF9D4-1CFF-465C-BBB3-354C0AC05C63}"/>
              </a:ext>
            </a:extLst>
          </p:cNvPr>
          <p:cNvSpPr/>
          <p:nvPr/>
        </p:nvSpPr>
        <p:spPr>
          <a:xfrm>
            <a:off x="5638800" y="1981200"/>
            <a:ext cx="1447800" cy="304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76400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5">
            <a:extLst>
              <a:ext uri="{FF2B5EF4-FFF2-40B4-BE49-F238E27FC236}">
                <a16:creationId xmlns:a16="http://schemas.microsoft.com/office/drawing/2014/main" id="{A31BDC8B-36AE-4BF4-91BE-DD28E4E7916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9BA51052-8D92-4065-BDA3-8EF8A07AE10C}" type="slidenum">
              <a:rPr lang="en-US" altLang="en-US" sz="1000"/>
              <a:pPr>
                <a:spcBef>
                  <a:spcPct val="0"/>
                </a:spcBef>
                <a:buClrTx/>
                <a:buSzTx/>
                <a:buFontTx/>
                <a:buNone/>
              </a:pPr>
              <a:t>39</a:t>
            </a:fld>
            <a:endParaRPr lang="en-US" altLang="en-US" sz="1000"/>
          </a:p>
        </p:txBody>
      </p:sp>
      <p:sp>
        <p:nvSpPr>
          <p:cNvPr id="32771" name="Rectangle 2">
            <a:extLst>
              <a:ext uri="{FF2B5EF4-FFF2-40B4-BE49-F238E27FC236}">
                <a16:creationId xmlns:a16="http://schemas.microsoft.com/office/drawing/2014/main" id="{9C0BA45E-FB43-477D-ABA3-CA11800C4717}"/>
              </a:ext>
            </a:extLst>
          </p:cNvPr>
          <p:cNvSpPr>
            <a:spLocks noGrp="1" noChangeArrowheads="1"/>
          </p:cNvSpPr>
          <p:nvPr>
            <p:ph type="title"/>
          </p:nvPr>
        </p:nvSpPr>
        <p:spPr>
          <a:xfrm>
            <a:off x="304800" y="122238"/>
            <a:ext cx="7696200" cy="792162"/>
          </a:xfrm>
        </p:spPr>
        <p:txBody>
          <a:bodyPr/>
          <a:lstStyle/>
          <a:p>
            <a:pPr eaLnBrk="1" hangingPunct="1"/>
            <a:r>
              <a:rPr lang="en-US" altLang="zh-CN" sz="3600">
                <a:ea typeface="宋体" panose="02010600030101010101" pitchFamily="2" charset="-122"/>
              </a:rPr>
              <a:t>Navigation Visibility Guidelines</a:t>
            </a:r>
          </a:p>
        </p:txBody>
      </p:sp>
      <p:sp>
        <p:nvSpPr>
          <p:cNvPr id="32772" name="Rectangle 3">
            <a:extLst>
              <a:ext uri="{FF2B5EF4-FFF2-40B4-BE49-F238E27FC236}">
                <a16:creationId xmlns:a16="http://schemas.microsoft.com/office/drawing/2014/main" id="{64D7BEB5-27B0-422A-BCB3-CF4E44B87C2F}"/>
              </a:ext>
            </a:extLst>
          </p:cNvPr>
          <p:cNvSpPr>
            <a:spLocks noGrp="1" noChangeArrowheads="1"/>
          </p:cNvSpPr>
          <p:nvPr>
            <p:ph type="body" idx="1"/>
          </p:nvPr>
        </p:nvSpPr>
        <p:spPr>
          <a:xfrm>
            <a:off x="304800" y="1143000"/>
            <a:ext cx="8229600" cy="4876800"/>
          </a:xfrm>
        </p:spPr>
        <p:txBody>
          <a:bodyPr/>
          <a:lstStyle/>
          <a:p>
            <a:pPr eaLnBrk="1" hangingPunct="1"/>
            <a:r>
              <a:rPr lang="en-US" altLang="zh-CN" sz="2400" u="sng" dirty="0">
                <a:ea typeface="宋体" panose="02010600030101010101" pitchFamily="2" charset="-122"/>
              </a:rPr>
              <a:t>One-to-many associations </a:t>
            </a:r>
            <a:r>
              <a:rPr lang="zh-CN" altLang="en-US" sz="2400" u="sng" dirty="0">
                <a:ea typeface="宋体" panose="02010600030101010101" pitchFamily="2" charset="-122"/>
              </a:rPr>
              <a:t>（一对多关联）</a:t>
            </a:r>
            <a:r>
              <a:rPr lang="en-US" altLang="zh-CN" sz="2400" dirty="0">
                <a:ea typeface="宋体" panose="02010600030101010101" pitchFamily="2" charset="-122"/>
              </a:rPr>
              <a:t>that indicate a superior/subordinate relationship are usually navigated </a:t>
            </a:r>
            <a:r>
              <a:rPr lang="en-US" altLang="zh-CN" sz="2400" dirty="0">
                <a:solidFill>
                  <a:srgbClr val="C00000"/>
                </a:solidFill>
                <a:ea typeface="宋体" panose="02010600030101010101" pitchFamily="2" charset="-122"/>
              </a:rPr>
              <a:t>from the superior to the subordinate</a:t>
            </a:r>
            <a:r>
              <a:rPr lang="zh-CN" altLang="en-US" sz="2400" dirty="0">
                <a:solidFill>
                  <a:srgbClr val="C00000"/>
                </a:solidFill>
                <a:ea typeface="宋体" panose="02010600030101010101" pitchFamily="2" charset="-122"/>
              </a:rPr>
              <a:t>（从上级导航到下级）</a:t>
            </a:r>
            <a:endParaRPr lang="en-US" altLang="zh-CN" sz="2400" dirty="0">
              <a:solidFill>
                <a:srgbClr val="C00000"/>
              </a:solidFill>
              <a:ea typeface="宋体" panose="02010600030101010101" pitchFamily="2" charset="-122"/>
            </a:endParaRPr>
          </a:p>
          <a:p>
            <a:pPr eaLnBrk="1" hangingPunct="1"/>
            <a:r>
              <a:rPr lang="en-US" altLang="zh-CN" sz="2400" u="sng" dirty="0">
                <a:ea typeface="宋体" panose="02010600030101010101" pitchFamily="2" charset="-122"/>
              </a:rPr>
              <a:t>Mandatory associations</a:t>
            </a:r>
            <a:r>
              <a:rPr lang="zh-CN" altLang="en-US" sz="2400" u="sng" dirty="0">
                <a:ea typeface="宋体" panose="02010600030101010101" pitchFamily="2" charset="-122"/>
              </a:rPr>
              <a:t>（强制关联）</a:t>
            </a:r>
            <a:r>
              <a:rPr lang="en-US" altLang="zh-CN" sz="2400" dirty="0">
                <a:ea typeface="宋体" panose="02010600030101010101" pitchFamily="2" charset="-122"/>
              </a:rPr>
              <a:t>, in which objects in one class can’t exist without objects of another class, are usually navigated </a:t>
            </a:r>
            <a:r>
              <a:rPr lang="en-US" altLang="zh-CN" sz="2400" dirty="0">
                <a:solidFill>
                  <a:srgbClr val="C00000"/>
                </a:solidFill>
                <a:ea typeface="宋体" panose="02010600030101010101" pitchFamily="2" charset="-122"/>
              </a:rPr>
              <a:t>from the more independent class to the dependent</a:t>
            </a:r>
            <a:r>
              <a:rPr lang="zh-CN" altLang="en-US" sz="2400" dirty="0">
                <a:solidFill>
                  <a:srgbClr val="C00000"/>
                </a:solidFill>
                <a:ea typeface="宋体" panose="02010600030101010101" pitchFamily="2" charset="-122"/>
              </a:rPr>
              <a:t>（一个类中的对象不能没有另一个类的对象而存在，通常从更独立的类导航到依赖的类）</a:t>
            </a:r>
            <a:endParaRPr lang="en-US" altLang="zh-CN" sz="2400" dirty="0">
              <a:solidFill>
                <a:srgbClr val="C00000"/>
              </a:solidFill>
              <a:ea typeface="宋体" panose="02010600030101010101" pitchFamily="2" charset="-122"/>
            </a:endParaRPr>
          </a:p>
          <a:p>
            <a:pPr eaLnBrk="1" hangingPunct="1"/>
            <a:r>
              <a:rPr lang="en-US" altLang="zh-CN" sz="2400" dirty="0">
                <a:solidFill>
                  <a:srgbClr val="C00000"/>
                </a:solidFill>
                <a:ea typeface="宋体" panose="02010600030101010101" pitchFamily="2" charset="-122"/>
              </a:rPr>
              <a:t>When an object needs information from another object,</a:t>
            </a:r>
            <a:r>
              <a:rPr lang="en-US" altLang="zh-CN" sz="2400" dirty="0">
                <a:ea typeface="宋体" panose="02010600030101010101" pitchFamily="2" charset="-122"/>
              </a:rPr>
              <a:t> a navigation arrow might be required</a:t>
            </a:r>
            <a:r>
              <a:rPr lang="zh-CN" altLang="en-US" sz="2400" dirty="0">
                <a:ea typeface="宋体" panose="02010600030101010101" pitchFamily="2" charset="-122"/>
              </a:rPr>
              <a:t>（当一个对象需要来自另一个对象的信息时，可能需要一个导航箭头）</a:t>
            </a:r>
            <a:endParaRPr lang="en-US" altLang="zh-CN" sz="2400" dirty="0">
              <a:ea typeface="宋体" panose="02010600030101010101" pitchFamily="2" charset="-122"/>
            </a:endParaRPr>
          </a:p>
          <a:p>
            <a:pPr eaLnBrk="1" hangingPunct="1"/>
            <a:r>
              <a:rPr lang="en-US" altLang="zh-CN" sz="2400" dirty="0">
                <a:ea typeface="宋体" panose="02010600030101010101" pitchFamily="2" charset="-122"/>
              </a:rPr>
              <a:t>Navigation arrows may be bidirectional.</a:t>
            </a:r>
            <a:r>
              <a:rPr lang="zh-CN" altLang="en-US" sz="2400" dirty="0">
                <a:ea typeface="宋体" panose="02010600030101010101" pitchFamily="2" charset="-122"/>
              </a:rPr>
              <a:t>（导航箭头可以是双向的）</a:t>
            </a:r>
            <a:endParaRPr lang="en-US" altLang="zh-CN" sz="2400" dirty="0">
              <a:ea typeface="宋体" panose="02010600030101010101" pitchFamily="2" charset="-122"/>
            </a:endParaRPr>
          </a:p>
        </p:txBody>
      </p:sp>
      <p:sp>
        <p:nvSpPr>
          <p:cNvPr id="32773" name="Footer Placeholder 4">
            <a:extLst>
              <a:ext uri="{FF2B5EF4-FFF2-40B4-BE49-F238E27FC236}">
                <a16:creationId xmlns:a16="http://schemas.microsoft.com/office/drawing/2014/main" id="{8A1B4EF4-365C-4750-888A-172805722C1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32774" name="Rectangle 4">
            <a:extLst>
              <a:ext uri="{FF2B5EF4-FFF2-40B4-BE49-F238E27FC236}">
                <a16:creationId xmlns:a16="http://schemas.microsoft.com/office/drawing/2014/main" id="{7C3B652D-A3C0-4C2A-BE21-6D2C4814F732}"/>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7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77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77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5">
            <a:extLst>
              <a:ext uri="{FF2B5EF4-FFF2-40B4-BE49-F238E27FC236}">
                <a16:creationId xmlns:a16="http://schemas.microsoft.com/office/drawing/2014/main" id="{2FAF2DC1-3B50-4DC6-8772-44D4F362BFB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F025D50B-9E1F-43F5-B774-56ED81AA378A}" type="slidenum">
              <a:rPr lang="en-US" altLang="en-US" sz="1000"/>
              <a:pPr>
                <a:spcBef>
                  <a:spcPct val="0"/>
                </a:spcBef>
                <a:buClrTx/>
                <a:buSzTx/>
                <a:buFontTx/>
                <a:buNone/>
              </a:pPr>
              <a:t>40</a:t>
            </a:fld>
            <a:endParaRPr lang="en-US" altLang="en-US" sz="1000"/>
          </a:p>
        </p:txBody>
      </p:sp>
      <p:sp>
        <p:nvSpPr>
          <p:cNvPr id="33795" name="Rectangle 2">
            <a:extLst>
              <a:ext uri="{FF2B5EF4-FFF2-40B4-BE49-F238E27FC236}">
                <a16:creationId xmlns:a16="http://schemas.microsoft.com/office/drawing/2014/main" id="{05D3E570-A414-409F-B837-E7B9E7A9A53F}"/>
              </a:ext>
            </a:extLst>
          </p:cNvPr>
          <p:cNvSpPr>
            <a:spLocks noGrp="1" noChangeArrowheads="1"/>
          </p:cNvSpPr>
          <p:nvPr>
            <p:ph type="title"/>
          </p:nvPr>
        </p:nvSpPr>
        <p:spPr>
          <a:xfrm>
            <a:off x="304800" y="122238"/>
            <a:ext cx="7696200" cy="792162"/>
          </a:xfrm>
        </p:spPr>
        <p:txBody>
          <a:bodyPr/>
          <a:lstStyle/>
          <a:p>
            <a:pPr eaLnBrk="1" hangingPunct="1"/>
            <a:r>
              <a:rPr lang="en-US" altLang="zh-CN" sz="3600" dirty="0">
                <a:ea typeface="宋体" panose="02010600030101010101" pitchFamily="2" charset="-122"/>
              </a:rPr>
              <a:t>First Cut Design Class Diagram</a:t>
            </a:r>
          </a:p>
        </p:txBody>
      </p:sp>
      <p:sp>
        <p:nvSpPr>
          <p:cNvPr id="33796" name="Rectangle 3">
            <a:extLst>
              <a:ext uri="{FF2B5EF4-FFF2-40B4-BE49-F238E27FC236}">
                <a16:creationId xmlns:a16="http://schemas.microsoft.com/office/drawing/2014/main" id="{89164F8A-23FC-4D03-BB4D-F93E89272B67}"/>
              </a:ext>
            </a:extLst>
          </p:cNvPr>
          <p:cNvSpPr>
            <a:spLocks noGrp="1" noChangeArrowheads="1"/>
          </p:cNvSpPr>
          <p:nvPr>
            <p:ph type="body" idx="1"/>
          </p:nvPr>
        </p:nvSpPr>
        <p:spPr>
          <a:xfrm>
            <a:off x="304800" y="1066800"/>
            <a:ext cx="8534400" cy="4953000"/>
          </a:xfrm>
        </p:spPr>
        <p:txBody>
          <a:bodyPr/>
          <a:lstStyle/>
          <a:p>
            <a:pPr eaLnBrk="1" hangingPunct="1"/>
            <a:r>
              <a:rPr lang="en-US" altLang="zh-CN" sz="2600" dirty="0">
                <a:ea typeface="宋体" panose="02010600030101010101" pitchFamily="2" charset="-122"/>
              </a:rPr>
              <a:t>Proceed </a:t>
            </a:r>
            <a:r>
              <a:rPr lang="en-US" altLang="zh-CN" sz="2600" u="sng" dirty="0">
                <a:ea typeface="宋体" panose="02010600030101010101" pitchFamily="2" charset="-122"/>
              </a:rPr>
              <a:t>use case</a:t>
            </a:r>
            <a:r>
              <a:rPr lang="zh-CN" altLang="en-US" sz="2600" u="sng" dirty="0">
                <a:ea typeface="宋体" panose="02010600030101010101" pitchFamily="2" charset="-122"/>
              </a:rPr>
              <a:t>（用例）</a:t>
            </a:r>
            <a:r>
              <a:rPr lang="en-US" altLang="zh-CN" sz="2600" u="sng" dirty="0">
                <a:ea typeface="宋体" panose="02010600030101010101" pitchFamily="2" charset="-122"/>
              </a:rPr>
              <a:t> </a:t>
            </a:r>
            <a:r>
              <a:rPr lang="en-US" altLang="zh-CN" sz="2600" dirty="0">
                <a:ea typeface="宋体" panose="02010600030101010101" pitchFamily="2" charset="-122"/>
              </a:rPr>
              <a:t>by use case, adding to the diagram</a:t>
            </a:r>
          </a:p>
          <a:p>
            <a:pPr eaLnBrk="1" hangingPunct="1"/>
            <a:r>
              <a:rPr lang="en-US" altLang="zh-CN" sz="2600" dirty="0">
                <a:ea typeface="宋体" panose="02010600030101010101" pitchFamily="2" charset="-122"/>
              </a:rPr>
              <a:t>Pick the </a:t>
            </a:r>
            <a:r>
              <a:rPr lang="en-US" altLang="zh-CN" sz="2600" u="sng" dirty="0">
                <a:ea typeface="宋体" panose="02010600030101010101" pitchFamily="2" charset="-122"/>
              </a:rPr>
              <a:t>domain classes</a:t>
            </a:r>
            <a:r>
              <a:rPr lang="zh-CN" altLang="en-US" sz="2600" u="sng" dirty="0">
                <a:ea typeface="宋体" panose="02010600030101010101" pitchFamily="2" charset="-122"/>
              </a:rPr>
              <a:t>（域类）</a:t>
            </a:r>
            <a:r>
              <a:rPr lang="en-US" altLang="zh-CN" sz="2600" u="sng" dirty="0">
                <a:ea typeface="宋体" panose="02010600030101010101" pitchFamily="2" charset="-122"/>
              </a:rPr>
              <a:t> </a:t>
            </a:r>
            <a:r>
              <a:rPr lang="en-US" altLang="zh-CN" sz="2600" dirty="0">
                <a:ea typeface="宋体" panose="02010600030101010101" pitchFamily="2" charset="-122"/>
              </a:rPr>
              <a:t>that are involved in the use case (see preconditions and post conditions for ideas)</a:t>
            </a:r>
          </a:p>
          <a:p>
            <a:pPr eaLnBrk="1" hangingPunct="1"/>
            <a:r>
              <a:rPr lang="en-US" altLang="zh-CN" sz="2600" dirty="0">
                <a:ea typeface="宋体" panose="02010600030101010101" pitchFamily="2" charset="-122"/>
              </a:rPr>
              <a:t>Add </a:t>
            </a:r>
            <a:r>
              <a:rPr lang="en-US" altLang="zh-CN" sz="2600" u="sng" dirty="0">
                <a:ea typeface="宋体" panose="02010600030101010101" pitchFamily="2" charset="-122"/>
              </a:rPr>
              <a:t>a controller class</a:t>
            </a:r>
            <a:r>
              <a:rPr lang="zh-CN" altLang="en-US" sz="2600" u="sng" dirty="0">
                <a:ea typeface="宋体" panose="02010600030101010101" pitchFamily="2" charset="-122"/>
              </a:rPr>
              <a:t>（控制器类）</a:t>
            </a:r>
            <a:r>
              <a:rPr lang="en-US" altLang="zh-CN" sz="2600" u="sng" dirty="0">
                <a:ea typeface="宋体" panose="02010600030101010101" pitchFamily="2" charset="-122"/>
              </a:rPr>
              <a:t> </a:t>
            </a:r>
            <a:r>
              <a:rPr lang="en-US" altLang="zh-CN" sz="2600" dirty="0">
                <a:ea typeface="宋体" panose="02010600030101010101" pitchFamily="2" charset="-122"/>
              </a:rPr>
              <a:t>to be in charge of the use case </a:t>
            </a:r>
          </a:p>
          <a:p>
            <a:pPr eaLnBrk="1" hangingPunct="1"/>
            <a:r>
              <a:rPr lang="en-US" altLang="zh-CN" sz="2600" dirty="0">
                <a:ea typeface="宋体" panose="02010600030101010101" pitchFamily="2" charset="-122"/>
              </a:rPr>
              <a:t>Determine the initial </a:t>
            </a:r>
            <a:r>
              <a:rPr lang="en-US" altLang="zh-CN" sz="2600" u="sng" dirty="0">
                <a:ea typeface="宋体" panose="02010600030101010101" pitchFamily="2" charset="-122"/>
              </a:rPr>
              <a:t>navigation visibility</a:t>
            </a:r>
            <a:r>
              <a:rPr lang="zh-CN" altLang="en-US" sz="2600" u="sng" dirty="0">
                <a:ea typeface="宋体" panose="02010600030101010101" pitchFamily="2" charset="-122"/>
              </a:rPr>
              <a:t>（导航可见性）</a:t>
            </a:r>
            <a:r>
              <a:rPr lang="en-US" altLang="zh-CN" sz="2600" u="sng" dirty="0">
                <a:ea typeface="宋体" panose="02010600030101010101" pitchFamily="2" charset="-122"/>
              </a:rPr>
              <a:t> </a:t>
            </a:r>
            <a:r>
              <a:rPr lang="en-US" altLang="zh-CN" sz="2600" dirty="0">
                <a:ea typeface="宋体" panose="02010600030101010101" pitchFamily="2" charset="-122"/>
              </a:rPr>
              <a:t>requirements using the guidelines and add to diagram</a:t>
            </a:r>
          </a:p>
          <a:p>
            <a:pPr eaLnBrk="1" hangingPunct="1"/>
            <a:r>
              <a:rPr lang="en-US" altLang="zh-CN" sz="2600" dirty="0">
                <a:ea typeface="宋体" panose="02010600030101010101" pitchFamily="2" charset="-122"/>
              </a:rPr>
              <a:t>Elaborate the attributes of each class with visibility and type</a:t>
            </a:r>
            <a:r>
              <a:rPr lang="zh-CN" altLang="en-US" sz="2600" dirty="0">
                <a:ea typeface="宋体" panose="02010600030101010101" pitchFamily="2" charset="-122"/>
              </a:rPr>
              <a:t>（用可见性和类型详细说明每个类的属性）</a:t>
            </a:r>
            <a:endParaRPr lang="en-US" altLang="zh-CN" sz="2600" dirty="0">
              <a:ea typeface="宋体" panose="02010600030101010101" pitchFamily="2" charset="-122"/>
            </a:endParaRPr>
          </a:p>
        </p:txBody>
      </p:sp>
      <p:sp>
        <p:nvSpPr>
          <p:cNvPr id="33797" name="Footer Placeholder 4">
            <a:extLst>
              <a:ext uri="{FF2B5EF4-FFF2-40B4-BE49-F238E27FC236}">
                <a16:creationId xmlns:a16="http://schemas.microsoft.com/office/drawing/2014/main" id="{6EDF071C-3250-4AD6-AC95-2957DC0F7EC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33798" name="Rectangle 4">
            <a:extLst>
              <a:ext uri="{FF2B5EF4-FFF2-40B4-BE49-F238E27FC236}">
                <a16:creationId xmlns:a16="http://schemas.microsoft.com/office/drawing/2014/main" id="{473F4B36-FED8-4A20-A439-60FCA8C88CF4}"/>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79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79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79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5">
            <a:extLst>
              <a:ext uri="{FF2B5EF4-FFF2-40B4-BE49-F238E27FC236}">
                <a16:creationId xmlns:a16="http://schemas.microsoft.com/office/drawing/2014/main" id="{9CF82BC6-2E9A-4558-8762-22CA08978C6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5E004A2C-11C6-4CC1-9DB0-8EF7CC753B35}" type="slidenum">
              <a:rPr lang="en-US" altLang="en-US" sz="1000"/>
              <a:pPr>
                <a:spcBef>
                  <a:spcPct val="0"/>
                </a:spcBef>
                <a:buClrTx/>
                <a:buSzTx/>
                <a:buFontTx/>
                <a:buNone/>
              </a:pPr>
              <a:t>41</a:t>
            </a:fld>
            <a:endParaRPr lang="en-US" altLang="en-US" sz="1000"/>
          </a:p>
        </p:txBody>
      </p:sp>
      <p:sp>
        <p:nvSpPr>
          <p:cNvPr id="34819" name="Rectangle 2">
            <a:extLst>
              <a:ext uri="{FF2B5EF4-FFF2-40B4-BE49-F238E27FC236}">
                <a16:creationId xmlns:a16="http://schemas.microsoft.com/office/drawing/2014/main" id="{4D0F397C-9E81-4E07-9129-7C2C9A726A5A}"/>
              </a:ext>
            </a:extLst>
          </p:cNvPr>
          <p:cNvSpPr>
            <a:spLocks noGrp="1" noChangeArrowheads="1"/>
          </p:cNvSpPr>
          <p:nvPr>
            <p:ph type="title"/>
          </p:nvPr>
        </p:nvSpPr>
        <p:spPr>
          <a:xfrm>
            <a:off x="304800" y="685800"/>
            <a:ext cx="1981200" cy="3429000"/>
          </a:xfrm>
        </p:spPr>
        <p:txBody>
          <a:bodyPr/>
          <a:lstStyle/>
          <a:p>
            <a:pPr eaLnBrk="1" hangingPunct="1"/>
            <a:r>
              <a:rPr lang="en-US" altLang="zh-CN" sz="2800" dirty="0">
                <a:ea typeface="宋体" panose="02010600030101010101" pitchFamily="2" charset="-122"/>
              </a:rPr>
              <a:t>Start with  Domain Class</a:t>
            </a:r>
            <a:br>
              <a:rPr lang="en-US" altLang="zh-CN" sz="2800" dirty="0">
                <a:ea typeface="宋体" panose="02010600030101010101" pitchFamily="2" charset="-122"/>
              </a:rPr>
            </a:br>
            <a:r>
              <a:rPr lang="en-US" altLang="zh-CN" sz="2800" dirty="0">
                <a:ea typeface="宋体" panose="02010600030101010101" pitchFamily="2" charset="-122"/>
              </a:rPr>
              <a:t>Diagram</a:t>
            </a:r>
            <a:br>
              <a:rPr lang="en-US" altLang="zh-CN" sz="2800" dirty="0">
                <a:ea typeface="宋体" panose="02010600030101010101" pitchFamily="2" charset="-122"/>
              </a:rPr>
            </a:br>
            <a:r>
              <a:rPr lang="zh-CN" altLang="en-US" sz="2800" dirty="0">
                <a:ea typeface="宋体" panose="02010600030101010101" pitchFamily="2" charset="-122"/>
              </a:rPr>
              <a:t>（域模型类图：第四章）</a:t>
            </a:r>
            <a:br>
              <a:rPr lang="en-US" altLang="zh-CN" sz="2800" dirty="0">
                <a:ea typeface="宋体" panose="02010600030101010101" pitchFamily="2" charset="-122"/>
              </a:rPr>
            </a:br>
            <a:br>
              <a:rPr lang="en-US" altLang="zh-CN" sz="2800" dirty="0">
                <a:ea typeface="宋体" panose="02010600030101010101" pitchFamily="2" charset="-122"/>
              </a:rPr>
            </a:br>
            <a:r>
              <a:rPr lang="en-US" altLang="zh-CN" sz="2400" dirty="0">
                <a:ea typeface="宋体" panose="02010600030101010101" pitchFamily="2" charset="-122"/>
              </a:rPr>
              <a:t>RMO Sales Subsystem</a:t>
            </a:r>
          </a:p>
        </p:txBody>
      </p:sp>
      <p:pic>
        <p:nvPicPr>
          <p:cNvPr id="34820" name="Picture 5">
            <a:extLst>
              <a:ext uri="{FF2B5EF4-FFF2-40B4-BE49-F238E27FC236}">
                <a16:creationId xmlns:a16="http://schemas.microsoft.com/office/drawing/2014/main" id="{9D7FA92C-DC75-4003-B3D7-6F5169230D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381000"/>
            <a:ext cx="6477000" cy="584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1" name="Footer Placeholder 4">
            <a:extLst>
              <a:ext uri="{FF2B5EF4-FFF2-40B4-BE49-F238E27FC236}">
                <a16:creationId xmlns:a16="http://schemas.microsoft.com/office/drawing/2014/main" id="{CA980954-2BDB-469E-B200-451D47DC42E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34822" name="Rectangle 4">
            <a:extLst>
              <a:ext uri="{FF2B5EF4-FFF2-40B4-BE49-F238E27FC236}">
                <a16:creationId xmlns:a16="http://schemas.microsoft.com/office/drawing/2014/main" id="{AD9885E2-9988-49ED-AA7A-C2C0C653B33C}"/>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5">
            <a:extLst>
              <a:ext uri="{FF2B5EF4-FFF2-40B4-BE49-F238E27FC236}">
                <a16:creationId xmlns:a16="http://schemas.microsoft.com/office/drawing/2014/main" id="{B0D762B3-B5F5-421F-B717-AB0F9D531CC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818A5196-0E01-4A22-835C-79E7F8FF6A80}" type="slidenum">
              <a:rPr lang="en-US" altLang="en-US" sz="1000"/>
              <a:pPr>
                <a:spcBef>
                  <a:spcPct val="0"/>
                </a:spcBef>
                <a:buClrTx/>
                <a:buSzTx/>
                <a:buFontTx/>
                <a:buNone/>
              </a:pPr>
              <a:t>42</a:t>
            </a:fld>
            <a:endParaRPr lang="en-US" altLang="en-US" sz="1000"/>
          </a:p>
        </p:txBody>
      </p:sp>
      <p:sp>
        <p:nvSpPr>
          <p:cNvPr id="35843" name="Rectangle 2">
            <a:extLst>
              <a:ext uri="{FF2B5EF4-FFF2-40B4-BE49-F238E27FC236}">
                <a16:creationId xmlns:a16="http://schemas.microsoft.com/office/drawing/2014/main" id="{C0C73EAD-A36A-46F8-9A9E-FF5FC6BD00C1}"/>
              </a:ext>
            </a:extLst>
          </p:cNvPr>
          <p:cNvSpPr>
            <a:spLocks noGrp="1" noChangeArrowheads="1"/>
          </p:cNvSpPr>
          <p:nvPr>
            <p:ph type="title"/>
          </p:nvPr>
        </p:nvSpPr>
        <p:spPr>
          <a:xfrm>
            <a:off x="381000" y="609600"/>
            <a:ext cx="2286000" cy="4343400"/>
          </a:xfrm>
        </p:spPr>
        <p:txBody>
          <a:bodyPr/>
          <a:lstStyle/>
          <a:p>
            <a:pPr eaLnBrk="1" hangingPunct="1"/>
            <a:r>
              <a:rPr lang="en-US" altLang="zh-CN" sz="2800" dirty="0">
                <a:ea typeface="宋体" panose="02010600030101010101" pitchFamily="2" charset="-122"/>
              </a:rPr>
              <a:t>Create First Cut Design Class</a:t>
            </a:r>
            <a:br>
              <a:rPr lang="en-US" altLang="zh-CN" sz="2800" dirty="0">
                <a:ea typeface="宋体" panose="02010600030101010101" pitchFamily="2" charset="-122"/>
              </a:rPr>
            </a:br>
            <a:r>
              <a:rPr lang="en-US" altLang="zh-CN" sz="2800" dirty="0">
                <a:ea typeface="宋体" panose="02010600030101010101" pitchFamily="2" charset="-122"/>
              </a:rPr>
              <a:t>Diagram</a:t>
            </a:r>
            <a:br>
              <a:rPr lang="en-US" altLang="zh-CN" sz="2800" dirty="0">
                <a:ea typeface="宋体" panose="02010600030101010101" pitchFamily="2" charset="-122"/>
              </a:rPr>
            </a:br>
            <a:br>
              <a:rPr lang="en-US" altLang="zh-CN" sz="2800" dirty="0">
                <a:ea typeface="宋体" panose="02010600030101010101" pitchFamily="2" charset="-122"/>
              </a:rPr>
            </a:br>
            <a:br>
              <a:rPr lang="en-US" altLang="zh-CN" sz="2800" dirty="0">
                <a:ea typeface="宋体" panose="02010600030101010101" pitchFamily="2" charset="-122"/>
              </a:rPr>
            </a:br>
            <a:r>
              <a:rPr lang="en-US" altLang="zh-CN" sz="2400" dirty="0">
                <a:ea typeface="宋体" panose="02010600030101010101" pitchFamily="2" charset="-122"/>
              </a:rPr>
              <a:t>Use Case </a:t>
            </a:r>
            <a:r>
              <a:rPr lang="en-US" altLang="zh-CN" sz="2400" i="1" dirty="0">
                <a:solidFill>
                  <a:srgbClr val="C00000"/>
                </a:solidFill>
                <a:ea typeface="宋体" panose="02010600030101010101" pitchFamily="2" charset="-122"/>
              </a:rPr>
              <a:t>Create phone sale </a:t>
            </a:r>
            <a:r>
              <a:rPr lang="en-US" altLang="zh-CN" sz="2400" dirty="0">
                <a:ea typeface="宋体" panose="02010600030101010101" pitchFamily="2" charset="-122"/>
              </a:rPr>
              <a:t>with controller added</a:t>
            </a:r>
          </a:p>
        </p:txBody>
      </p:sp>
      <p:pic>
        <p:nvPicPr>
          <p:cNvPr id="35844" name="Picture 4">
            <a:extLst>
              <a:ext uri="{FF2B5EF4-FFF2-40B4-BE49-F238E27FC236}">
                <a16:creationId xmlns:a16="http://schemas.microsoft.com/office/drawing/2014/main" id="{399F8534-3613-45B8-8F0A-6BBF24E400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228600"/>
            <a:ext cx="5519738" cy="603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5" name="Footer Placeholder 4">
            <a:extLst>
              <a:ext uri="{FF2B5EF4-FFF2-40B4-BE49-F238E27FC236}">
                <a16:creationId xmlns:a16="http://schemas.microsoft.com/office/drawing/2014/main" id="{558F62A4-EA34-4686-B281-6C83B9BA22C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35846" name="Rectangle 4">
            <a:extLst>
              <a:ext uri="{FF2B5EF4-FFF2-40B4-BE49-F238E27FC236}">
                <a16:creationId xmlns:a16="http://schemas.microsoft.com/office/drawing/2014/main" id="{BFF26DA5-1461-4886-B06C-15FB49F354F3}"/>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2" name="矩形 1">
            <a:extLst>
              <a:ext uri="{FF2B5EF4-FFF2-40B4-BE49-F238E27FC236}">
                <a16:creationId xmlns:a16="http://schemas.microsoft.com/office/drawing/2014/main" id="{2BEC11FF-D380-4FB6-971C-8C22E76C2F97}"/>
              </a:ext>
            </a:extLst>
          </p:cNvPr>
          <p:cNvSpPr/>
          <p:nvPr/>
        </p:nvSpPr>
        <p:spPr>
          <a:xfrm>
            <a:off x="2971800" y="228600"/>
            <a:ext cx="1752600" cy="15240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a:extLst>
              <a:ext uri="{FF2B5EF4-FFF2-40B4-BE49-F238E27FC236}">
                <a16:creationId xmlns:a16="http://schemas.microsoft.com/office/drawing/2014/main" id="{12651A9C-9782-4390-8414-09148CCCB46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00EF5DD9-6EAF-4E79-B47E-18D4DDF66BAB}" type="slidenum">
              <a:rPr lang="en-US" altLang="en-US" sz="1000"/>
              <a:pPr>
                <a:spcBef>
                  <a:spcPct val="0"/>
                </a:spcBef>
                <a:buClrTx/>
                <a:buSzTx/>
                <a:buFontTx/>
                <a:buNone/>
              </a:pPr>
              <a:t>43</a:t>
            </a:fld>
            <a:endParaRPr lang="en-US" altLang="en-US" sz="1000"/>
          </a:p>
        </p:txBody>
      </p:sp>
      <p:sp>
        <p:nvSpPr>
          <p:cNvPr id="8195" name="Rectangle 2">
            <a:extLst>
              <a:ext uri="{FF2B5EF4-FFF2-40B4-BE49-F238E27FC236}">
                <a16:creationId xmlns:a16="http://schemas.microsoft.com/office/drawing/2014/main" id="{19933FCB-7CED-4518-B74A-F3D517C5A383}"/>
              </a:ext>
            </a:extLst>
          </p:cNvPr>
          <p:cNvSpPr>
            <a:spLocks noGrp="1" noChangeArrowheads="1"/>
          </p:cNvSpPr>
          <p:nvPr>
            <p:ph type="title"/>
          </p:nvPr>
        </p:nvSpPr>
        <p:spPr>
          <a:xfrm>
            <a:off x="457200" y="122238"/>
            <a:ext cx="7543800" cy="1096962"/>
          </a:xfrm>
        </p:spPr>
        <p:txBody>
          <a:bodyPr/>
          <a:lstStyle/>
          <a:p>
            <a:pPr eaLnBrk="1" hangingPunct="1"/>
            <a:r>
              <a:rPr lang="en-US" altLang="zh-CN">
                <a:ea typeface="宋体" panose="02010600030101010101" pitchFamily="2" charset="-122"/>
              </a:rPr>
              <a:t>Chapter 10 Outline</a:t>
            </a:r>
          </a:p>
        </p:txBody>
      </p:sp>
      <p:sp>
        <p:nvSpPr>
          <p:cNvPr id="8196" name="Rectangle 3">
            <a:extLst>
              <a:ext uri="{FF2B5EF4-FFF2-40B4-BE49-F238E27FC236}">
                <a16:creationId xmlns:a16="http://schemas.microsoft.com/office/drawing/2014/main" id="{99359615-6E02-4FAA-BA04-3B3864BFDA39}"/>
              </a:ext>
            </a:extLst>
          </p:cNvPr>
          <p:cNvSpPr>
            <a:spLocks noGrp="1" noChangeArrowheads="1"/>
          </p:cNvSpPr>
          <p:nvPr>
            <p:ph type="body" idx="1"/>
          </p:nvPr>
        </p:nvSpPr>
        <p:spPr>
          <a:xfrm>
            <a:off x="457200" y="1752600"/>
            <a:ext cx="8229600" cy="4411663"/>
          </a:xfrm>
        </p:spPr>
        <p:txBody>
          <a:bodyPr/>
          <a:lstStyle/>
          <a:p>
            <a:pPr eaLnBrk="1" hangingPunct="1"/>
            <a:endParaRPr lang="en-US" altLang="zh-CN" sz="3200" dirty="0">
              <a:ea typeface="宋体" panose="02010600030101010101" pitchFamily="2" charset="-122"/>
            </a:endParaRPr>
          </a:p>
          <a:p>
            <a:pPr eaLnBrk="1" hangingPunct="1"/>
            <a:endParaRPr lang="en-US" altLang="zh-CN" sz="3200" dirty="0">
              <a:ea typeface="宋体" panose="02010600030101010101" pitchFamily="2" charset="-122"/>
            </a:endParaRPr>
          </a:p>
        </p:txBody>
      </p:sp>
      <p:sp>
        <p:nvSpPr>
          <p:cNvPr id="8197" name="Rectangle 4">
            <a:extLst>
              <a:ext uri="{FF2B5EF4-FFF2-40B4-BE49-F238E27FC236}">
                <a16:creationId xmlns:a16="http://schemas.microsoft.com/office/drawing/2014/main" id="{1A459FC4-306D-4676-B8FC-1F8CD2C3D32F}"/>
              </a:ext>
            </a:extLst>
          </p:cNvPr>
          <p:cNvSpPr>
            <a:spLocks noChangeArrowheads="1"/>
          </p:cNvSpPr>
          <p:nvPr/>
        </p:nvSpPr>
        <p:spPr bwMode="auto">
          <a:xfrm>
            <a:off x="304800" y="13716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r>
              <a:rPr lang="en-GB" altLang="zh-CN" dirty="0">
                <a:ea typeface="宋体" panose="02010600030101010101" pitchFamily="2" charset="-122"/>
              </a:rPr>
              <a:t>Object-Oriented Design: Bridging from Analysis to Implementation</a:t>
            </a:r>
          </a:p>
          <a:p>
            <a:pPr eaLnBrk="1" hangingPunct="1"/>
            <a:r>
              <a:rPr lang="en-GB" altLang="zh-CN" dirty="0">
                <a:ea typeface="宋体" panose="02010600030101010101" pitchFamily="2" charset="-122"/>
              </a:rPr>
              <a:t>Object-Oriented Architectural Design</a:t>
            </a:r>
          </a:p>
          <a:p>
            <a:pPr eaLnBrk="1" hangingPunct="1"/>
            <a:r>
              <a:rPr lang="en-GB" altLang="zh-CN" dirty="0">
                <a:ea typeface="宋体" panose="02010600030101010101" pitchFamily="2" charset="-122"/>
              </a:rPr>
              <a:t>Fundamental Principles of Object-Oriented Detailed Design</a:t>
            </a:r>
          </a:p>
          <a:p>
            <a:pPr eaLnBrk="1" hangingPunct="1"/>
            <a:r>
              <a:rPr lang="en-GB" altLang="zh-CN" dirty="0">
                <a:ea typeface="宋体" panose="02010600030101010101" pitchFamily="2" charset="-122"/>
              </a:rPr>
              <a:t>Design Classes and the Design Class Diagram</a:t>
            </a:r>
          </a:p>
          <a:p>
            <a:pPr eaLnBrk="1" hangingPunct="1"/>
            <a:r>
              <a:rPr lang="en-GB" altLang="zh-CN" dirty="0">
                <a:solidFill>
                  <a:srgbClr val="C00000"/>
                </a:solidFill>
                <a:ea typeface="宋体" panose="02010600030101010101" pitchFamily="2" charset="-122"/>
              </a:rPr>
              <a:t>Detailed Design with CRC Cards</a:t>
            </a:r>
            <a:r>
              <a:rPr lang="zh-CN" altLang="en-US" dirty="0">
                <a:solidFill>
                  <a:srgbClr val="C00000"/>
                </a:solidFill>
                <a:ea typeface="宋体" panose="02010600030101010101" pitchFamily="2" charset="-122"/>
              </a:rPr>
              <a:t>（详细设计与</a:t>
            </a:r>
            <a:r>
              <a:rPr lang="en-US" altLang="zh-CN" dirty="0">
                <a:solidFill>
                  <a:srgbClr val="C00000"/>
                </a:solidFill>
                <a:ea typeface="宋体" panose="02010600030101010101" pitchFamily="2" charset="-122"/>
              </a:rPr>
              <a:t>CRC</a:t>
            </a:r>
            <a:r>
              <a:rPr lang="zh-CN" altLang="en-US" dirty="0">
                <a:solidFill>
                  <a:srgbClr val="C00000"/>
                </a:solidFill>
                <a:ea typeface="宋体" panose="02010600030101010101" pitchFamily="2" charset="-122"/>
              </a:rPr>
              <a:t>卡）</a:t>
            </a:r>
            <a:endParaRPr lang="en-GB" altLang="zh-CN" dirty="0">
              <a:solidFill>
                <a:srgbClr val="C00000"/>
              </a:solidFill>
              <a:ea typeface="宋体" panose="02010600030101010101" pitchFamily="2" charset="-122"/>
            </a:endParaRPr>
          </a:p>
          <a:p>
            <a:pPr eaLnBrk="1" hangingPunct="1"/>
            <a:r>
              <a:rPr lang="en-GB" altLang="zh-CN" dirty="0">
                <a:ea typeface="宋体" panose="02010600030101010101" pitchFamily="2" charset="-122"/>
              </a:rPr>
              <a:t>Fundamental Detailed Design Principles</a:t>
            </a:r>
          </a:p>
        </p:txBody>
      </p:sp>
      <p:sp>
        <p:nvSpPr>
          <p:cNvPr id="8198" name="Footer Placeholder 4">
            <a:extLst>
              <a:ext uri="{FF2B5EF4-FFF2-40B4-BE49-F238E27FC236}">
                <a16:creationId xmlns:a16="http://schemas.microsoft.com/office/drawing/2014/main" id="{7B56DDD1-CA9F-4839-B616-D15016222DA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8199" name="Rectangle 4">
            <a:extLst>
              <a:ext uri="{FF2B5EF4-FFF2-40B4-BE49-F238E27FC236}">
                <a16:creationId xmlns:a16="http://schemas.microsoft.com/office/drawing/2014/main" id="{A62A238B-1078-4DB3-8358-CE7B062A8BC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6080920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5">
            <a:extLst>
              <a:ext uri="{FF2B5EF4-FFF2-40B4-BE49-F238E27FC236}">
                <a16:creationId xmlns:a16="http://schemas.microsoft.com/office/drawing/2014/main" id="{F00BD9A2-C0D4-40CE-8DD5-814A1F9D5D6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B0CAD1F2-9699-47FE-B36F-20161C81B9C4}" type="slidenum">
              <a:rPr lang="en-US" altLang="en-US" sz="1000"/>
              <a:pPr>
                <a:spcBef>
                  <a:spcPct val="0"/>
                </a:spcBef>
                <a:buClrTx/>
                <a:buSzTx/>
                <a:buFontTx/>
                <a:buNone/>
              </a:pPr>
              <a:t>44</a:t>
            </a:fld>
            <a:endParaRPr lang="en-US" altLang="en-US" sz="1000"/>
          </a:p>
        </p:txBody>
      </p:sp>
      <p:sp>
        <p:nvSpPr>
          <p:cNvPr id="36867" name="Rectangle 2">
            <a:extLst>
              <a:ext uri="{FF2B5EF4-FFF2-40B4-BE49-F238E27FC236}">
                <a16:creationId xmlns:a16="http://schemas.microsoft.com/office/drawing/2014/main" id="{079E32E3-4F18-403D-8174-C2EF9E476E6D}"/>
              </a:ext>
            </a:extLst>
          </p:cNvPr>
          <p:cNvSpPr>
            <a:spLocks noGrp="1" noChangeArrowheads="1"/>
          </p:cNvSpPr>
          <p:nvPr>
            <p:ph type="title"/>
          </p:nvPr>
        </p:nvSpPr>
        <p:spPr>
          <a:xfrm>
            <a:off x="304800" y="122238"/>
            <a:ext cx="7696200" cy="792162"/>
          </a:xfrm>
        </p:spPr>
        <p:txBody>
          <a:bodyPr/>
          <a:lstStyle/>
          <a:p>
            <a:pPr eaLnBrk="1" hangingPunct="1"/>
            <a:r>
              <a:rPr lang="en-US" altLang="zh-CN" sz="3600" dirty="0">
                <a:ea typeface="宋体" panose="02010600030101010101" pitchFamily="2" charset="-122"/>
              </a:rPr>
              <a:t>Designing With CRC Cards</a:t>
            </a:r>
          </a:p>
        </p:txBody>
      </p:sp>
      <p:sp>
        <p:nvSpPr>
          <p:cNvPr id="36868" name="Rectangle 3">
            <a:extLst>
              <a:ext uri="{FF2B5EF4-FFF2-40B4-BE49-F238E27FC236}">
                <a16:creationId xmlns:a16="http://schemas.microsoft.com/office/drawing/2014/main" id="{F7C132F5-2418-415E-848B-41A8E93CBDED}"/>
              </a:ext>
            </a:extLst>
          </p:cNvPr>
          <p:cNvSpPr>
            <a:spLocks noGrp="1" noChangeArrowheads="1"/>
          </p:cNvSpPr>
          <p:nvPr>
            <p:ph type="body" idx="1"/>
          </p:nvPr>
        </p:nvSpPr>
        <p:spPr>
          <a:xfrm>
            <a:off x="304800" y="1066800"/>
            <a:ext cx="8534400" cy="4953000"/>
          </a:xfrm>
        </p:spPr>
        <p:txBody>
          <a:bodyPr/>
          <a:lstStyle/>
          <a:p>
            <a:pPr eaLnBrk="1" hangingPunct="1"/>
            <a:r>
              <a:rPr lang="en-US" altLang="zh-CN" sz="2600" dirty="0">
                <a:ea typeface="宋体" panose="02010600030101010101" pitchFamily="2" charset="-122"/>
              </a:rPr>
              <a:t>CRC Cards—Classes</a:t>
            </a:r>
            <a:r>
              <a:rPr lang="zh-CN" altLang="en-US" sz="2600" dirty="0">
                <a:ea typeface="宋体" panose="02010600030101010101" pitchFamily="2" charset="-122"/>
              </a:rPr>
              <a:t>（类）</a:t>
            </a:r>
            <a:r>
              <a:rPr lang="en-US" altLang="zh-CN" sz="2600" dirty="0">
                <a:ea typeface="宋体" panose="02010600030101010101" pitchFamily="2" charset="-122"/>
              </a:rPr>
              <a:t>, Responsibilities</a:t>
            </a:r>
            <a:r>
              <a:rPr lang="zh-CN" altLang="en-US" sz="2600" dirty="0">
                <a:ea typeface="宋体" panose="02010600030101010101" pitchFamily="2" charset="-122"/>
              </a:rPr>
              <a:t>（职责）</a:t>
            </a:r>
            <a:r>
              <a:rPr lang="en-US" altLang="zh-CN" sz="2600" dirty="0">
                <a:ea typeface="宋体" panose="02010600030101010101" pitchFamily="2" charset="-122"/>
              </a:rPr>
              <a:t>, Collaboration</a:t>
            </a:r>
            <a:r>
              <a:rPr lang="zh-CN" altLang="en-US" sz="2600" dirty="0">
                <a:ea typeface="宋体" panose="02010600030101010101" pitchFamily="2" charset="-122"/>
              </a:rPr>
              <a:t>（协作）</a:t>
            </a:r>
            <a:r>
              <a:rPr lang="en-US" altLang="zh-CN" sz="2600" dirty="0">
                <a:ea typeface="宋体" panose="02010600030101010101" pitchFamily="2" charset="-122"/>
              </a:rPr>
              <a:t> Cards</a:t>
            </a:r>
          </a:p>
          <a:p>
            <a:pPr eaLnBrk="1" hangingPunct="1"/>
            <a:r>
              <a:rPr lang="en-US" altLang="zh-CN" sz="2600" dirty="0">
                <a:ea typeface="宋体" panose="02010600030101010101" pitchFamily="2" charset="-122"/>
              </a:rPr>
              <a:t>OO design is about assigning Responsibilities to Classes for how they Collaborate to accomplish a use case</a:t>
            </a:r>
            <a:r>
              <a:rPr lang="zh-CN" altLang="en-US" sz="2600" dirty="0">
                <a:ea typeface="宋体" panose="02010600030101010101" pitchFamily="2" charset="-122"/>
              </a:rPr>
              <a:t>（</a:t>
            </a:r>
            <a:r>
              <a:rPr lang="en-US" altLang="zh-CN" sz="2600" dirty="0">
                <a:ea typeface="宋体" panose="02010600030101010101" pitchFamily="2" charset="-122"/>
              </a:rPr>
              <a:t>OO</a:t>
            </a:r>
            <a:r>
              <a:rPr lang="zh-CN" altLang="en-US" sz="2600" dirty="0">
                <a:ea typeface="宋体" panose="02010600030101010101" pitchFamily="2" charset="-122"/>
              </a:rPr>
              <a:t>设计是关于为类分配职责，以便它们如何协作来完成用例）</a:t>
            </a:r>
            <a:endParaRPr lang="en-US" altLang="zh-CN" sz="2600" dirty="0">
              <a:ea typeface="宋体" panose="02010600030101010101" pitchFamily="2" charset="-122"/>
            </a:endParaRPr>
          </a:p>
          <a:p>
            <a:pPr eaLnBrk="1" hangingPunct="1"/>
            <a:r>
              <a:rPr lang="en-US" altLang="zh-CN" sz="2600" dirty="0">
                <a:ea typeface="宋体" panose="02010600030101010101" pitchFamily="2" charset="-122"/>
              </a:rPr>
              <a:t>Usually a manual process done in a brainstorming session </a:t>
            </a:r>
          </a:p>
          <a:p>
            <a:pPr lvl="1" eaLnBrk="1" hangingPunct="1"/>
            <a:r>
              <a:rPr lang="en-US" altLang="zh-CN" sz="2200" dirty="0">
                <a:ea typeface="宋体" panose="02010600030101010101" pitchFamily="2" charset="-122"/>
              </a:rPr>
              <a:t>One card per class</a:t>
            </a:r>
          </a:p>
          <a:p>
            <a:pPr lvl="1" eaLnBrk="1" hangingPunct="1"/>
            <a:r>
              <a:rPr lang="en-US" altLang="zh-CN" sz="2200" dirty="0">
                <a:ea typeface="宋体" panose="02010600030101010101" pitchFamily="2" charset="-122"/>
              </a:rPr>
              <a:t>Front has responsibilities and collaborations</a:t>
            </a:r>
            <a:r>
              <a:rPr lang="zh-CN" altLang="en-US" sz="2200" dirty="0">
                <a:ea typeface="宋体" panose="02010600030101010101" pitchFamily="2" charset="-122"/>
              </a:rPr>
              <a:t>（正面：责任和协作）</a:t>
            </a:r>
            <a:endParaRPr lang="en-US" altLang="zh-CN" sz="2200" dirty="0">
              <a:ea typeface="宋体" panose="02010600030101010101" pitchFamily="2" charset="-122"/>
            </a:endParaRPr>
          </a:p>
          <a:p>
            <a:pPr lvl="1" eaLnBrk="1" hangingPunct="1"/>
            <a:r>
              <a:rPr lang="en-US" altLang="zh-CN" sz="2200" dirty="0">
                <a:ea typeface="宋体" panose="02010600030101010101" pitchFamily="2" charset="-122"/>
              </a:rPr>
              <a:t>Back has attributes needed</a:t>
            </a:r>
            <a:r>
              <a:rPr lang="zh-CN" altLang="en-US" sz="2200" dirty="0">
                <a:ea typeface="宋体" panose="02010600030101010101" pitchFamily="2" charset="-122"/>
              </a:rPr>
              <a:t>（反面：属性）</a:t>
            </a:r>
            <a:endParaRPr lang="en-US" altLang="zh-CN" sz="2200" dirty="0">
              <a:ea typeface="宋体" panose="02010600030101010101" pitchFamily="2" charset="-122"/>
            </a:endParaRPr>
          </a:p>
        </p:txBody>
      </p:sp>
      <p:sp>
        <p:nvSpPr>
          <p:cNvPr id="36869" name="Footer Placeholder 4">
            <a:extLst>
              <a:ext uri="{FF2B5EF4-FFF2-40B4-BE49-F238E27FC236}">
                <a16:creationId xmlns:a16="http://schemas.microsoft.com/office/drawing/2014/main" id="{0C4E3205-FEFD-4989-B0AF-A3E5F21E5DB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36870" name="Rectangle 4">
            <a:extLst>
              <a:ext uri="{FF2B5EF4-FFF2-40B4-BE49-F238E27FC236}">
                <a16:creationId xmlns:a16="http://schemas.microsoft.com/office/drawing/2014/main" id="{4830D4FF-DA79-4774-A171-1A9AA746D2AD}"/>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86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86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868">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6868">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686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5">
            <a:extLst>
              <a:ext uri="{FF2B5EF4-FFF2-40B4-BE49-F238E27FC236}">
                <a16:creationId xmlns:a16="http://schemas.microsoft.com/office/drawing/2014/main" id="{56D6F584-255B-4BDB-BDF1-EE603D12B79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48BF9ECC-7B70-421B-A858-51AB45892026}" type="slidenum">
              <a:rPr lang="en-US" altLang="en-US" sz="1000"/>
              <a:pPr>
                <a:spcBef>
                  <a:spcPct val="0"/>
                </a:spcBef>
                <a:buClrTx/>
                <a:buSzTx/>
                <a:buFontTx/>
                <a:buNone/>
              </a:pPr>
              <a:t>45</a:t>
            </a:fld>
            <a:endParaRPr lang="en-US" altLang="en-US" sz="1000"/>
          </a:p>
        </p:txBody>
      </p:sp>
      <p:sp>
        <p:nvSpPr>
          <p:cNvPr id="37891" name="Rectangle 2">
            <a:extLst>
              <a:ext uri="{FF2B5EF4-FFF2-40B4-BE49-F238E27FC236}">
                <a16:creationId xmlns:a16="http://schemas.microsoft.com/office/drawing/2014/main" id="{41ACAC04-903B-45E7-8F0C-AC94846453D0}"/>
              </a:ext>
            </a:extLst>
          </p:cNvPr>
          <p:cNvSpPr>
            <a:spLocks noGrp="1" noChangeArrowheads="1"/>
          </p:cNvSpPr>
          <p:nvPr>
            <p:ph type="title"/>
          </p:nvPr>
        </p:nvSpPr>
        <p:spPr>
          <a:xfrm>
            <a:off x="304800" y="122238"/>
            <a:ext cx="7696200" cy="1173162"/>
          </a:xfrm>
        </p:spPr>
        <p:txBody>
          <a:bodyPr/>
          <a:lstStyle/>
          <a:p>
            <a:pPr eaLnBrk="1" hangingPunct="1"/>
            <a:r>
              <a:rPr lang="en-US" altLang="zh-CN" sz="3600">
                <a:ea typeface="宋体" panose="02010600030101010101" pitchFamily="2" charset="-122"/>
              </a:rPr>
              <a:t>Example of CRC Card</a:t>
            </a:r>
          </a:p>
        </p:txBody>
      </p:sp>
      <p:pic>
        <p:nvPicPr>
          <p:cNvPr id="37892" name="Picture 5">
            <a:extLst>
              <a:ext uri="{FF2B5EF4-FFF2-40B4-BE49-F238E27FC236}">
                <a16:creationId xmlns:a16="http://schemas.microsoft.com/office/drawing/2014/main" id="{1A2DF837-99A1-4260-9C51-892C35BC83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752600"/>
            <a:ext cx="9144000" cy="347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3" name="Footer Placeholder 4">
            <a:extLst>
              <a:ext uri="{FF2B5EF4-FFF2-40B4-BE49-F238E27FC236}">
                <a16:creationId xmlns:a16="http://schemas.microsoft.com/office/drawing/2014/main" id="{1A48DA09-BE04-4E4B-B442-C8CF5B1711A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37894" name="Rectangle 4">
            <a:extLst>
              <a:ext uri="{FF2B5EF4-FFF2-40B4-BE49-F238E27FC236}">
                <a16:creationId xmlns:a16="http://schemas.microsoft.com/office/drawing/2014/main" id="{D7793489-5508-400C-9A8E-04FD94F518C7}"/>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5">
            <a:extLst>
              <a:ext uri="{FF2B5EF4-FFF2-40B4-BE49-F238E27FC236}">
                <a16:creationId xmlns:a16="http://schemas.microsoft.com/office/drawing/2014/main" id="{42CE6B99-2E78-4DA0-91BD-97CA6295B3A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9B2AF9C4-E257-4C1B-8C66-5B16872A5743}" type="slidenum">
              <a:rPr lang="en-US" altLang="en-US" sz="1000"/>
              <a:pPr>
                <a:spcBef>
                  <a:spcPct val="0"/>
                </a:spcBef>
                <a:buClrTx/>
                <a:buSzTx/>
                <a:buFontTx/>
                <a:buNone/>
              </a:pPr>
              <a:t>46</a:t>
            </a:fld>
            <a:endParaRPr lang="en-US" altLang="en-US" sz="1000"/>
          </a:p>
        </p:txBody>
      </p:sp>
      <p:sp>
        <p:nvSpPr>
          <p:cNvPr id="38915" name="Rectangle 2">
            <a:extLst>
              <a:ext uri="{FF2B5EF4-FFF2-40B4-BE49-F238E27FC236}">
                <a16:creationId xmlns:a16="http://schemas.microsoft.com/office/drawing/2014/main" id="{B6C4DE8B-260D-4BAB-8FC0-33A97197103F}"/>
              </a:ext>
            </a:extLst>
          </p:cNvPr>
          <p:cNvSpPr>
            <a:spLocks noGrp="1" noChangeArrowheads="1"/>
          </p:cNvSpPr>
          <p:nvPr>
            <p:ph type="title"/>
          </p:nvPr>
        </p:nvSpPr>
        <p:spPr>
          <a:xfrm>
            <a:off x="304800" y="122238"/>
            <a:ext cx="7696200" cy="792162"/>
          </a:xfrm>
        </p:spPr>
        <p:txBody>
          <a:bodyPr/>
          <a:lstStyle/>
          <a:p>
            <a:pPr eaLnBrk="1" hangingPunct="1"/>
            <a:r>
              <a:rPr lang="en-US" altLang="zh-CN" sz="3600" dirty="0">
                <a:ea typeface="宋体" panose="02010600030101010101" pitchFamily="2" charset="-122"/>
              </a:rPr>
              <a:t>CRC Cards Procedure</a:t>
            </a:r>
          </a:p>
        </p:txBody>
      </p:sp>
      <p:sp>
        <p:nvSpPr>
          <p:cNvPr id="38916" name="Rectangle 3">
            <a:extLst>
              <a:ext uri="{FF2B5EF4-FFF2-40B4-BE49-F238E27FC236}">
                <a16:creationId xmlns:a16="http://schemas.microsoft.com/office/drawing/2014/main" id="{1C366DAB-0333-40C2-A807-28339C39CCD9}"/>
              </a:ext>
            </a:extLst>
          </p:cNvPr>
          <p:cNvSpPr>
            <a:spLocks noGrp="1" noChangeArrowheads="1"/>
          </p:cNvSpPr>
          <p:nvPr>
            <p:ph type="body" idx="1"/>
          </p:nvPr>
        </p:nvSpPr>
        <p:spPr>
          <a:xfrm>
            <a:off x="0" y="1066800"/>
            <a:ext cx="8839200" cy="4953000"/>
          </a:xfrm>
        </p:spPr>
        <p:txBody>
          <a:bodyPr/>
          <a:lstStyle/>
          <a:p>
            <a:pPr eaLnBrk="1" hangingPunct="1"/>
            <a:r>
              <a:rPr lang="en-US" altLang="zh-CN" sz="2600" dirty="0">
                <a:ea typeface="宋体" panose="02010600030101010101" pitchFamily="2" charset="-122"/>
              </a:rPr>
              <a:t>Because the process is to design, or realize, a single use case, start with a set of unused CRC cards. Add a controller class (Controller design pattern)</a:t>
            </a:r>
            <a:r>
              <a:rPr lang="zh-CN" altLang="en-US" sz="2600" dirty="0">
                <a:ea typeface="宋体" panose="02010600030101010101" pitchFamily="2" charset="-122"/>
              </a:rPr>
              <a:t>（从一组未使用的</a:t>
            </a:r>
            <a:r>
              <a:rPr lang="en-US" altLang="zh-CN" sz="2600" dirty="0">
                <a:ea typeface="宋体" panose="02010600030101010101" pitchFamily="2" charset="-122"/>
              </a:rPr>
              <a:t>CRC</a:t>
            </a:r>
            <a:r>
              <a:rPr lang="zh-CN" altLang="en-US" sz="2600" dirty="0">
                <a:ea typeface="宋体" panose="02010600030101010101" pitchFamily="2" charset="-122"/>
              </a:rPr>
              <a:t>卡开始，添加一个控制器类）</a:t>
            </a:r>
            <a:r>
              <a:rPr lang="en-US" altLang="zh-CN" sz="2600" dirty="0">
                <a:ea typeface="宋体" panose="02010600030101010101" pitchFamily="2" charset="-122"/>
              </a:rPr>
              <a:t>.</a:t>
            </a:r>
          </a:p>
          <a:p>
            <a:pPr eaLnBrk="1" hangingPunct="1"/>
            <a:r>
              <a:rPr lang="en-US" altLang="zh-CN" sz="2600" u="sng" dirty="0">
                <a:ea typeface="宋体" panose="02010600030101010101" pitchFamily="2" charset="-122"/>
              </a:rPr>
              <a:t>Identify a problem domain class that has primary responsibility for this use case</a:t>
            </a:r>
            <a:r>
              <a:rPr lang="en-US" altLang="zh-CN" sz="2600" dirty="0">
                <a:ea typeface="宋体" panose="02010600030101010101" pitchFamily="2" charset="-122"/>
              </a:rPr>
              <a:t> that will receive the first message from the use case controller. </a:t>
            </a:r>
            <a:r>
              <a:rPr lang="zh-CN" altLang="en-US" sz="2600" dirty="0">
                <a:ea typeface="宋体" panose="02010600030101010101" pitchFamily="2" charset="-122"/>
              </a:rPr>
              <a:t>（确定一个问题域类）</a:t>
            </a:r>
            <a:endParaRPr lang="en-US" altLang="zh-CN" sz="2600" dirty="0">
              <a:ea typeface="宋体" panose="02010600030101010101" pitchFamily="2" charset="-122"/>
            </a:endParaRPr>
          </a:p>
          <a:p>
            <a:pPr eaLnBrk="1" hangingPunct="1"/>
            <a:r>
              <a:rPr lang="en-US" altLang="zh-CN" sz="2600" dirty="0">
                <a:ea typeface="宋体" panose="02010600030101010101" pitchFamily="2" charset="-122"/>
              </a:rPr>
              <a:t>Use the first cut design class diagram to </a:t>
            </a:r>
            <a:r>
              <a:rPr lang="en-US" altLang="zh-CN" sz="2600" u="sng" dirty="0">
                <a:ea typeface="宋体" panose="02010600030101010101" pitchFamily="2" charset="-122"/>
              </a:rPr>
              <a:t>identify other classes that must collaborate with the primary object class</a:t>
            </a:r>
            <a:r>
              <a:rPr lang="en-US" altLang="zh-CN" sz="2600" dirty="0">
                <a:ea typeface="宋体" panose="02010600030101010101" pitchFamily="2" charset="-122"/>
              </a:rPr>
              <a:t> to complete the use case.</a:t>
            </a:r>
            <a:r>
              <a:rPr lang="zh-CN" altLang="en-US" sz="2600" dirty="0">
                <a:ea typeface="宋体" panose="02010600030101010101" pitchFamily="2" charset="-122"/>
              </a:rPr>
              <a:t>（识别必须与主要对象类协作以完成用例的其他类）</a:t>
            </a:r>
            <a:endParaRPr lang="en-US" altLang="zh-CN" sz="2600" dirty="0">
              <a:ea typeface="宋体" panose="02010600030101010101" pitchFamily="2" charset="-122"/>
            </a:endParaRPr>
          </a:p>
          <a:p>
            <a:pPr eaLnBrk="1" hangingPunct="1"/>
            <a:endParaRPr lang="en-US" altLang="zh-CN" sz="2600" dirty="0">
              <a:ea typeface="宋体" panose="02010600030101010101" pitchFamily="2" charset="-122"/>
            </a:endParaRPr>
          </a:p>
        </p:txBody>
      </p:sp>
      <p:sp>
        <p:nvSpPr>
          <p:cNvPr id="38917" name="Footer Placeholder 4">
            <a:extLst>
              <a:ext uri="{FF2B5EF4-FFF2-40B4-BE49-F238E27FC236}">
                <a16:creationId xmlns:a16="http://schemas.microsoft.com/office/drawing/2014/main" id="{1D56F02D-77CF-4FDB-B592-0657B6D5E95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38918" name="Rectangle 4">
            <a:extLst>
              <a:ext uri="{FF2B5EF4-FFF2-40B4-BE49-F238E27FC236}">
                <a16:creationId xmlns:a16="http://schemas.microsoft.com/office/drawing/2014/main" id="{A55242EC-9B3F-4787-B045-F682DEACB2EC}"/>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91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91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5">
            <a:extLst>
              <a:ext uri="{FF2B5EF4-FFF2-40B4-BE49-F238E27FC236}">
                <a16:creationId xmlns:a16="http://schemas.microsoft.com/office/drawing/2014/main" id="{CE26FA99-22C1-4CB9-960B-ACFEE16D5A3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32F72B03-532F-4129-A6C0-6A9CADE8DC2D}" type="slidenum">
              <a:rPr lang="en-US" altLang="en-US" sz="1000"/>
              <a:pPr>
                <a:spcBef>
                  <a:spcPct val="0"/>
                </a:spcBef>
                <a:buClrTx/>
                <a:buSzTx/>
                <a:buFontTx/>
                <a:buNone/>
              </a:pPr>
              <a:t>47</a:t>
            </a:fld>
            <a:endParaRPr lang="en-US" altLang="en-US" sz="1000"/>
          </a:p>
        </p:txBody>
      </p:sp>
      <p:sp>
        <p:nvSpPr>
          <p:cNvPr id="39939" name="Rectangle 2">
            <a:extLst>
              <a:ext uri="{FF2B5EF4-FFF2-40B4-BE49-F238E27FC236}">
                <a16:creationId xmlns:a16="http://schemas.microsoft.com/office/drawing/2014/main" id="{FF66AE22-6EC9-4CC6-BAE6-55096D0E7F41}"/>
              </a:ext>
            </a:extLst>
          </p:cNvPr>
          <p:cNvSpPr>
            <a:spLocks noGrp="1" noChangeArrowheads="1"/>
          </p:cNvSpPr>
          <p:nvPr>
            <p:ph type="title"/>
          </p:nvPr>
        </p:nvSpPr>
        <p:spPr>
          <a:xfrm>
            <a:off x="304800" y="122238"/>
            <a:ext cx="7696200" cy="792162"/>
          </a:xfrm>
        </p:spPr>
        <p:txBody>
          <a:bodyPr/>
          <a:lstStyle/>
          <a:p>
            <a:pPr eaLnBrk="1" hangingPunct="1"/>
            <a:r>
              <a:rPr lang="en-US" altLang="zh-CN" sz="3600">
                <a:ea typeface="宋体" panose="02010600030101010101" pitchFamily="2" charset="-122"/>
              </a:rPr>
              <a:t>CRC Cards Procedure </a:t>
            </a:r>
            <a:r>
              <a:rPr lang="en-US" altLang="zh-CN" sz="2400">
                <a:ea typeface="宋体" panose="02010600030101010101" pitchFamily="2" charset="-122"/>
              </a:rPr>
              <a:t>(continued)</a:t>
            </a:r>
          </a:p>
        </p:txBody>
      </p:sp>
      <p:sp>
        <p:nvSpPr>
          <p:cNvPr id="39940" name="Rectangle 3">
            <a:extLst>
              <a:ext uri="{FF2B5EF4-FFF2-40B4-BE49-F238E27FC236}">
                <a16:creationId xmlns:a16="http://schemas.microsoft.com/office/drawing/2014/main" id="{7202B1ED-54DE-47B4-B7B3-9A898B994CD2}"/>
              </a:ext>
            </a:extLst>
          </p:cNvPr>
          <p:cNvSpPr>
            <a:spLocks noGrp="1" noChangeArrowheads="1"/>
          </p:cNvSpPr>
          <p:nvPr>
            <p:ph type="body" idx="1"/>
          </p:nvPr>
        </p:nvSpPr>
        <p:spPr>
          <a:xfrm>
            <a:off x="0" y="1066800"/>
            <a:ext cx="8915400" cy="4953000"/>
          </a:xfrm>
        </p:spPr>
        <p:txBody>
          <a:bodyPr/>
          <a:lstStyle/>
          <a:p>
            <a:pPr eaLnBrk="1" hangingPunct="1"/>
            <a:r>
              <a:rPr lang="en-US" altLang="zh-CN" sz="2600" dirty="0">
                <a:ea typeface="宋体" panose="02010600030101010101" pitchFamily="2" charset="-122"/>
              </a:rPr>
              <a:t>Start with the class that gets the first message from the controller. </a:t>
            </a:r>
            <a:r>
              <a:rPr lang="en-US" altLang="zh-CN" sz="2600" u="sng" dirty="0">
                <a:ea typeface="宋体" panose="02010600030101010101" pitchFamily="2" charset="-122"/>
              </a:rPr>
              <a:t>Name the responsibility</a:t>
            </a:r>
            <a:r>
              <a:rPr lang="zh-CN" altLang="en-US" sz="2600" u="sng" dirty="0">
                <a:ea typeface="宋体" panose="02010600030101010101" pitchFamily="2" charset="-122"/>
              </a:rPr>
              <a:t>（命名职责）</a:t>
            </a:r>
            <a:r>
              <a:rPr lang="en-US" altLang="zh-CN" sz="2600" u="sng" dirty="0">
                <a:ea typeface="宋体" panose="02010600030101010101" pitchFamily="2" charset="-122"/>
              </a:rPr>
              <a:t> </a:t>
            </a:r>
            <a:r>
              <a:rPr lang="en-US" altLang="zh-CN" sz="2600" dirty="0">
                <a:ea typeface="宋体" panose="02010600030101010101" pitchFamily="2" charset="-122"/>
              </a:rPr>
              <a:t>and write it on card.</a:t>
            </a:r>
          </a:p>
          <a:p>
            <a:pPr eaLnBrk="1" hangingPunct="1"/>
            <a:r>
              <a:rPr lang="en-US" altLang="zh-CN" sz="2600" dirty="0">
                <a:ea typeface="宋体" panose="02010600030101010101" pitchFamily="2" charset="-122"/>
              </a:rPr>
              <a:t>Now ask what this first class needs to carry out the responsibility. </a:t>
            </a:r>
            <a:r>
              <a:rPr lang="en-US" altLang="zh-CN" sz="2600" u="sng" dirty="0">
                <a:ea typeface="宋体" panose="02010600030101010101" pitchFamily="2" charset="-122"/>
              </a:rPr>
              <a:t>Assign other classes responsibilities to satisfy each need</a:t>
            </a:r>
            <a:r>
              <a:rPr lang="zh-CN" altLang="en-US" sz="2600" u="sng" dirty="0">
                <a:ea typeface="宋体" panose="02010600030101010101" pitchFamily="2" charset="-122"/>
              </a:rPr>
              <a:t>（分配其他类职责以满足每个需求。把责任写在卡片上）</a:t>
            </a:r>
            <a:r>
              <a:rPr lang="en-US" altLang="zh-CN" sz="2600" u="sng" dirty="0">
                <a:ea typeface="宋体" panose="02010600030101010101" pitchFamily="2" charset="-122"/>
              </a:rPr>
              <a:t>. </a:t>
            </a:r>
            <a:r>
              <a:rPr lang="en-US" altLang="zh-CN" sz="2600" dirty="0">
                <a:ea typeface="宋体" panose="02010600030101010101" pitchFamily="2" charset="-122"/>
              </a:rPr>
              <a:t>Write responsibilities on those cards.</a:t>
            </a:r>
          </a:p>
          <a:p>
            <a:pPr eaLnBrk="1" hangingPunct="1"/>
            <a:r>
              <a:rPr lang="en-US" altLang="zh-CN" sz="2600" u="sng" dirty="0">
                <a:ea typeface="宋体" panose="02010600030101010101" pitchFamily="2" charset="-122"/>
              </a:rPr>
              <a:t>Add collaborators </a:t>
            </a:r>
            <a:r>
              <a:rPr lang="en-US" altLang="zh-CN" sz="2600" dirty="0">
                <a:ea typeface="宋体" panose="02010600030101010101" pitchFamily="2" charset="-122"/>
              </a:rPr>
              <a:t>to cards showing which collaborate with which. </a:t>
            </a:r>
            <a:r>
              <a:rPr lang="en-US" altLang="zh-CN" sz="2600" u="sng" dirty="0">
                <a:ea typeface="宋体" panose="02010600030101010101" pitchFamily="2" charset="-122"/>
              </a:rPr>
              <a:t>Add attributes </a:t>
            </a:r>
            <a:r>
              <a:rPr lang="en-US" altLang="zh-CN" sz="2600" dirty="0">
                <a:ea typeface="宋体" panose="02010600030101010101" pitchFamily="2" charset="-122"/>
              </a:rPr>
              <a:t>to back when data is used</a:t>
            </a:r>
          </a:p>
          <a:p>
            <a:pPr eaLnBrk="1" hangingPunct="1"/>
            <a:r>
              <a:rPr lang="en-US" altLang="zh-CN" sz="2600" dirty="0">
                <a:ea typeface="宋体" panose="02010600030101010101" pitchFamily="2" charset="-122"/>
              </a:rPr>
              <a:t>Eventually, </a:t>
            </a:r>
            <a:r>
              <a:rPr lang="en-US" altLang="zh-CN" sz="2600" u="sng" dirty="0">
                <a:ea typeface="宋体" panose="02010600030101010101" pitchFamily="2" charset="-122"/>
              </a:rPr>
              <a:t>user interface classes</a:t>
            </a:r>
            <a:r>
              <a:rPr lang="zh-CN" altLang="en-US" sz="2600" u="sng" dirty="0">
                <a:ea typeface="宋体" panose="02010600030101010101" pitchFamily="2" charset="-122"/>
              </a:rPr>
              <a:t>（用户交互类）</a:t>
            </a:r>
            <a:r>
              <a:rPr lang="en-US" altLang="zh-CN" sz="2600" u="sng" dirty="0">
                <a:ea typeface="宋体" panose="02010600030101010101" pitchFamily="2" charset="-122"/>
              </a:rPr>
              <a:t> </a:t>
            </a:r>
            <a:r>
              <a:rPr lang="en-US" altLang="zh-CN" sz="2600" dirty="0">
                <a:ea typeface="宋体" panose="02010600030101010101" pitchFamily="2" charset="-122"/>
              </a:rPr>
              <a:t>or even </a:t>
            </a:r>
            <a:r>
              <a:rPr lang="en-US" altLang="zh-CN" sz="2600" u="sng" dirty="0">
                <a:ea typeface="宋体" panose="02010600030101010101" pitchFamily="2" charset="-122"/>
              </a:rPr>
              <a:t>data access classes</a:t>
            </a:r>
            <a:r>
              <a:rPr lang="zh-CN" altLang="en-US" sz="2600" u="sng" dirty="0">
                <a:ea typeface="宋体" panose="02010600030101010101" pitchFamily="2" charset="-122"/>
              </a:rPr>
              <a:t>（数据访问类）</a:t>
            </a:r>
            <a:r>
              <a:rPr lang="en-US" altLang="zh-CN" sz="2600" dirty="0">
                <a:ea typeface="宋体" panose="02010600030101010101" pitchFamily="2" charset="-122"/>
              </a:rPr>
              <a:t> can be added</a:t>
            </a:r>
          </a:p>
          <a:p>
            <a:pPr eaLnBrk="1" hangingPunct="1"/>
            <a:endParaRPr lang="en-US" altLang="zh-CN" sz="2600" dirty="0">
              <a:ea typeface="宋体" panose="02010600030101010101" pitchFamily="2" charset="-122"/>
            </a:endParaRPr>
          </a:p>
        </p:txBody>
      </p:sp>
      <p:sp>
        <p:nvSpPr>
          <p:cNvPr id="39941" name="Footer Placeholder 4">
            <a:extLst>
              <a:ext uri="{FF2B5EF4-FFF2-40B4-BE49-F238E27FC236}">
                <a16:creationId xmlns:a16="http://schemas.microsoft.com/office/drawing/2014/main" id="{8A21422F-8C6C-4C99-8B85-3BCB7D95EAF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39942" name="Rectangle 4">
            <a:extLst>
              <a:ext uri="{FF2B5EF4-FFF2-40B4-BE49-F238E27FC236}">
                <a16:creationId xmlns:a16="http://schemas.microsoft.com/office/drawing/2014/main" id="{A948DF0F-8E6D-49B1-80DB-668BB281306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94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94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94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a:extLst>
              <a:ext uri="{FF2B5EF4-FFF2-40B4-BE49-F238E27FC236}">
                <a16:creationId xmlns:a16="http://schemas.microsoft.com/office/drawing/2014/main" id="{E43E5CEC-42E3-4883-BAB6-E3E9038DD71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71A9A14E-5607-4F57-9BF7-DE02DA7F6ED8}" type="slidenum">
              <a:rPr lang="en-US" altLang="en-US" sz="1000"/>
              <a:pPr>
                <a:spcBef>
                  <a:spcPct val="0"/>
                </a:spcBef>
                <a:buClrTx/>
                <a:buSzTx/>
                <a:buFontTx/>
                <a:buNone/>
              </a:pPr>
              <a:t>48</a:t>
            </a:fld>
            <a:endParaRPr lang="en-US" altLang="en-US" sz="1000"/>
          </a:p>
        </p:txBody>
      </p:sp>
      <p:sp>
        <p:nvSpPr>
          <p:cNvPr id="40963" name="Rectangle 2">
            <a:extLst>
              <a:ext uri="{FF2B5EF4-FFF2-40B4-BE49-F238E27FC236}">
                <a16:creationId xmlns:a16="http://schemas.microsoft.com/office/drawing/2014/main" id="{CDE71939-61A8-49D8-93A9-157F8DD17751}"/>
              </a:ext>
            </a:extLst>
          </p:cNvPr>
          <p:cNvSpPr>
            <a:spLocks noGrp="1" noChangeArrowheads="1"/>
          </p:cNvSpPr>
          <p:nvPr>
            <p:ph type="title"/>
          </p:nvPr>
        </p:nvSpPr>
        <p:spPr>
          <a:xfrm>
            <a:off x="304800" y="122238"/>
            <a:ext cx="7696200" cy="1096962"/>
          </a:xfrm>
        </p:spPr>
        <p:txBody>
          <a:bodyPr/>
          <a:lstStyle/>
          <a:p>
            <a:pPr eaLnBrk="1" hangingPunct="1"/>
            <a:r>
              <a:rPr lang="en-US" altLang="zh-CN" sz="3600">
                <a:ea typeface="宋体" panose="02010600030101010101" pitchFamily="2" charset="-122"/>
              </a:rPr>
              <a:t>CRC Cards Results</a:t>
            </a:r>
            <a:br>
              <a:rPr lang="en-US" altLang="zh-CN" sz="3600">
                <a:ea typeface="宋体" panose="02010600030101010101" pitchFamily="2" charset="-122"/>
              </a:rPr>
            </a:br>
            <a:r>
              <a:rPr lang="en-US" altLang="zh-CN" sz="2800">
                <a:ea typeface="宋体" panose="02010600030101010101" pitchFamily="2" charset="-122"/>
              </a:rPr>
              <a:t>Several Use Cases</a:t>
            </a:r>
          </a:p>
        </p:txBody>
      </p:sp>
      <p:pic>
        <p:nvPicPr>
          <p:cNvPr id="40964" name="Picture 5">
            <a:extLst>
              <a:ext uri="{FF2B5EF4-FFF2-40B4-BE49-F238E27FC236}">
                <a16:creationId xmlns:a16="http://schemas.microsoft.com/office/drawing/2014/main" id="{058C1F00-24FD-4910-9321-9B9D69A741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422400"/>
            <a:ext cx="8458200" cy="492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5" name="Rectangle 4">
            <a:extLst>
              <a:ext uri="{FF2B5EF4-FFF2-40B4-BE49-F238E27FC236}">
                <a16:creationId xmlns:a16="http://schemas.microsoft.com/office/drawing/2014/main" id="{51001DE0-1FC2-4A1D-BEA2-63F77C298555}"/>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a:extLst>
              <a:ext uri="{FF2B5EF4-FFF2-40B4-BE49-F238E27FC236}">
                <a16:creationId xmlns:a16="http://schemas.microsoft.com/office/drawing/2014/main" id="{560E7C8D-63F9-4055-A54C-8E97E6CEDB4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FF6EA04A-AA1E-4C47-9AC0-5D6DF86F4E68}" type="slidenum">
              <a:rPr lang="en-US" altLang="en-US" sz="1000"/>
              <a:pPr>
                <a:spcBef>
                  <a:spcPct val="0"/>
                </a:spcBef>
                <a:buClrTx/>
                <a:buSzTx/>
                <a:buFontTx/>
                <a:buNone/>
              </a:pPr>
              <a:t>49</a:t>
            </a:fld>
            <a:endParaRPr lang="en-US" altLang="en-US" sz="1000"/>
          </a:p>
        </p:txBody>
      </p:sp>
      <p:sp>
        <p:nvSpPr>
          <p:cNvPr id="41987" name="Rectangle 2">
            <a:extLst>
              <a:ext uri="{FF2B5EF4-FFF2-40B4-BE49-F238E27FC236}">
                <a16:creationId xmlns:a16="http://schemas.microsoft.com/office/drawing/2014/main" id="{77B7BCF1-A755-4A70-A146-6BA60FFAEDAF}"/>
              </a:ext>
            </a:extLst>
          </p:cNvPr>
          <p:cNvSpPr>
            <a:spLocks noGrp="1" noChangeArrowheads="1"/>
          </p:cNvSpPr>
          <p:nvPr>
            <p:ph type="title"/>
          </p:nvPr>
        </p:nvSpPr>
        <p:spPr>
          <a:xfrm>
            <a:off x="304800" y="122238"/>
            <a:ext cx="7696200" cy="1096962"/>
          </a:xfrm>
        </p:spPr>
        <p:txBody>
          <a:bodyPr/>
          <a:lstStyle/>
          <a:p>
            <a:pPr eaLnBrk="1" hangingPunct="1"/>
            <a:r>
              <a:rPr lang="en-US" altLang="zh-CN" sz="3600">
                <a:ea typeface="宋体" panose="02010600030101010101" pitchFamily="2" charset="-122"/>
              </a:rPr>
              <a:t>CRC Cards Results</a:t>
            </a:r>
            <a:br>
              <a:rPr lang="en-US" altLang="zh-CN" sz="3600">
                <a:ea typeface="宋体" panose="02010600030101010101" pitchFamily="2" charset="-122"/>
              </a:rPr>
            </a:br>
            <a:r>
              <a:rPr lang="en-US" altLang="zh-CN" sz="2800">
                <a:ea typeface="宋体" panose="02010600030101010101" pitchFamily="2" charset="-122"/>
              </a:rPr>
              <a:t>Adding In User Interface Layer</a:t>
            </a:r>
          </a:p>
        </p:txBody>
      </p:sp>
      <p:pic>
        <p:nvPicPr>
          <p:cNvPr id="41988" name="Picture 4">
            <a:extLst>
              <a:ext uri="{FF2B5EF4-FFF2-40B4-BE49-F238E27FC236}">
                <a16:creationId xmlns:a16="http://schemas.microsoft.com/office/drawing/2014/main" id="{E5BAB345-0369-42E7-B21D-E102F13569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752600"/>
            <a:ext cx="8915400" cy="387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9" name="Footer Placeholder 4">
            <a:extLst>
              <a:ext uri="{FF2B5EF4-FFF2-40B4-BE49-F238E27FC236}">
                <a16:creationId xmlns:a16="http://schemas.microsoft.com/office/drawing/2014/main" id="{D584A68A-2BDB-437B-AB1A-677D4494721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41990" name="Rectangle 4">
            <a:extLst>
              <a:ext uri="{FF2B5EF4-FFF2-40B4-BE49-F238E27FC236}">
                <a16:creationId xmlns:a16="http://schemas.microsoft.com/office/drawing/2014/main" id="{950966BC-1874-4CCA-820C-EC7DECD423EE}"/>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7" name="矩形 6">
            <a:extLst>
              <a:ext uri="{FF2B5EF4-FFF2-40B4-BE49-F238E27FC236}">
                <a16:creationId xmlns:a16="http://schemas.microsoft.com/office/drawing/2014/main" id="{F9306AF6-831F-4CD2-BB86-70AB84A35FDC}"/>
              </a:ext>
            </a:extLst>
          </p:cNvPr>
          <p:cNvSpPr/>
          <p:nvPr/>
        </p:nvSpPr>
        <p:spPr>
          <a:xfrm>
            <a:off x="147144" y="2667000"/>
            <a:ext cx="2291255" cy="2209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a:extLst>
              <a:ext uri="{FF2B5EF4-FFF2-40B4-BE49-F238E27FC236}">
                <a16:creationId xmlns:a16="http://schemas.microsoft.com/office/drawing/2014/main" id="{E43E5CEC-42E3-4883-BAB6-E3E9038DD71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71A9A14E-5607-4F57-9BF7-DE02DA7F6ED8}" type="slidenum">
              <a:rPr lang="en-US" altLang="en-US" sz="1000"/>
              <a:pPr>
                <a:spcBef>
                  <a:spcPct val="0"/>
                </a:spcBef>
                <a:buClrTx/>
                <a:buSzTx/>
                <a:buFontTx/>
                <a:buNone/>
              </a:pPr>
              <a:t>50</a:t>
            </a:fld>
            <a:endParaRPr lang="en-US" altLang="en-US" sz="1000"/>
          </a:p>
        </p:txBody>
      </p:sp>
      <p:sp>
        <p:nvSpPr>
          <p:cNvPr id="40963" name="Rectangle 2">
            <a:extLst>
              <a:ext uri="{FF2B5EF4-FFF2-40B4-BE49-F238E27FC236}">
                <a16:creationId xmlns:a16="http://schemas.microsoft.com/office/drawing/2014/main" id="{CDE71939-61A8-49D8-93A9-157F8DD17751}"/>
              </a:ext>
            </a:extLst>
          </p:cNvPr>
          <p:cNvSpPr>
            <a:spLocks noGrp="1" noChangeArrowheads="1"/>
          </p:cNvSpPr>
          <p:nvPr>
            <p:ph type="title"/>
          </p:nvPr>
        </p:nvSpPr>
        <p:spPr>
          <a:xfrm>
            <a:off x="304800" y="122238"/>
            <a:ext cx="7696200" cy="1096962"/>
          </a:xfrm>
        </p:spPr>
        <p:txBody>
          <a:bodyPr/>
          <a:lstStyle/>
          <a:p>
            <a:pPr eaLnBrk="1" hangingPunct="1"/>
            <a:r>
              <a:rPr lang="en-US" altLang="zh-CN" sz="3600">
                <a:ea typeface="宋体" panose="02010600030101010101" pitchFamily="2" charset="-122"/>
              </a:rPr>
              <a:t>CRC Cards Results</a:t>
            </a:r>
            <a:br>
              <a:rPr lang="en-US" altLang="zh-CN" sz="3600">
                <a:ea typeface="宋体" panose="02010600030101010101" pitchFamily="2" charset="-122"/>
              </a:rPr>
            </a:br>
            <a:r>
              <a:rPr lang="en-US" altLang="zh-CN" sz="2800">
                <a:ea typeface="宋体" panose="02010600030101010101" pitchFamily="2" charset="-122"/>
              </a:rPr>
              <a:t>Several Use Cases</a:t>
            </a:r>
          </a:p>
        </p:txBody>
      </p:sp>
      <p:pic>
        <p:nvPicPr>
          <p:cNvPr id="40964" name="Picture 5">
            <a:extLst>
              <a:ext uri="{FF2B5EF4-FFF2-40B4-BE49-F238E27FC236}">
                <a16:creationId xmlns:a16="http://schemas.microsoft.com/office/drawing/2014/main" id="{058C1F00-24FD-4910-9321-9B9D69A741C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32353"/>
          <a:stretch/>
        </p:blipFill>
        <p:spPr bwMode="auto">
          <a:xfrm>
            <a:off x="4419600" y="2133600"/>
            <a:ext cx="4437646" cy="3820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5" name="Rectangle 4">
            <a:extLst>
              <a:ext uri="{FF2B5EF4-FFF2-40B4-BE49-F238E27FC236}">
                <a16:creationId xmlns:a16="http://schemas.microsoft.com/office/drawing/2014/main" id="{51001DE0-1FC2-4A1D-BEA2-63F77C298555}"/>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pic>
        <p:nvPicPr>
          <p:cNvPr id="6" name="Picture 4">
            <a:extLst>
              <a:ext uri="{FF2B5EF4-FFF2-40B4-BE49-F238E27FC236}">
                <a16:creationId xmlns:a16="http://schemas.microsoft.com/office/drawing/2014/main" id="{A3DE4AD6-7D69-4D11-993A-9D6C3B1AEB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635" y="1481137"/>
            <a:ext cx="4288937" cy="469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a:extLst>
              <a:ext uri="{FF2B5EF4-FFF2-40B4-BE49-F238E27FC236}">
                <a16:creationId xmlns:a16="http://schemas.microsoft.com/office/drawing/2014/main" id="{A4A8F205-F1D6-4EA9-A0BE-24795F0E6E8C}"/>
              </a:ext>
            </a:extLst>
          </p:cNvPr>
          <p:cNvSpPr/>
          <p:nvPr/>
        </p:nvSpPr>
        <p:spPr>
          <a:xfrm>
            <a:off x="36753" y="1493290"/>
            <a:ext cx="1411048" cy="292630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A4FDD48D-A481-4547-B0E2-A87174F0E48D}"/>
              </a:ext>
            </a:extLst>
          </p:cNvPr>
          <p:cNvSpPr/>
          <p:nvPr/>
        </p:nvSpPr>
        <p:spPr>
          <a:xfrm>
            <a:off x="4419600" y="2667001"/>
            <a:ext cx="2057400" cy="11430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92504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5">
            <a:extLst>
              <a:ext uri="{FF2B5EF4-FFF2-40B4-BE49-F238E27FC236}">
                <a16:creationId xmlns:a16="http://schemas.microsoft.com/office/drawing/2014/main" id="{705C333E-CA84-472C-974B-449DA0B2D3F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1EB21C61-1D88-4107-AFA0-313E32F362E4}" type="slidenum">
              <a:rPr lang="en-US" altLang="en-US" sz="1000"/>
              <a:pPr>
                <a:spcBef>
                  <a:spcPct val="0"/>
                </a:spcBef>
                <a:buClrTx/>
                <a:buSzTx/>
                <a:buFontTx/>
                <a:buNone/>
              </a:pPr>
              <a:t>51</a:t>
            </a:fld>
            <a:endParaRPr lang="en-US" altLang="en-US" sz="1000"/>
          </a:p>
        </p:txBody>
      </p:sp>
      <p:sp>
        <p:nvSpPr>
          <p:cNvPr id="43011" name="Rectangle 2">
            <a:extLst>
              <a:ext uri="{FF2B5EF4-FFF2-40B4-BE49-F238E27FC236}">
                <a16:creationId xmlns:a16="http://schemas.microsoft.com/office/drawing/2014/main" id="{B86AF6E2-EE0E-4FBD-AA8E-4FC84F6C62E3}"/>
              </a:ext>
            </a:extLst>
          </p:cNvPr>
          <p:cNvSpPr>
            <a:spLocks noGrp="1" noChangeArrowheads="1"/>
          </p:cNvSpPr>
          <p:nvPr>
            <p:ph type="title"/>
          </p:nvPr>
        </p:nvSpPr>
        <p:spPr>
          <a:xfrm>
            <a:off x="381000" y="685800"/>
            <a:ext cx="2743200" cy="4953000"/>
          </a:xfrm>
        </p:spPr>
        <p:txBody>
          <a:bodyPr/>
          <a:lstStyle/>
          <a:p>
            <a:pPr eaLnBrk="1" hangingPunct="1"/>
            <a:r>
              <a:rPr lang="en-US" altLang="zh-CN" sz="3600" dirty="0">
                <a:ea typeface="宋体" panose="02010600030101010101" pitchFamily="2" charset="-122"/>
              </a:rPr>
              <a:t>CRC Cards</a:t>
            </a:r>
            <a:br>
              <a:rPr lang="en-US" altLang="zh-CN" sz="3600" dirty="0">
                <a:ea typeface="宋体" panose="02010600030101010101" pitchFamily="2" charset="-122"/>
              </a:rPr>
            </a:br>
            <a:br>
              <a:rPr lang="en-US" altLang="zh-CN" sz="3600" dirty="0">
                <a:ea typeface="宋体" panose="02010600030101010101" pitchFamily="2" charset="-122"/>
              </a:rPr>
            </a:br>
            <a:r>
              <a:rPr lang="en-US" altLang="zh-CN" sz="2400" dirty="0">
                <a:solidFill>
                  <a:srgbClr val="C00000"/>
                </a:solidFill>
                <a:ea typeface="宋体" panose="02010600030101010101" pitchFamily="2" charset="-122"/>
              </a:rPr>
              <a:t>Update design class diagram based on CRC results</a:t>
            </a:r>
            <a:br>
              <a:rPr lang="en-US" altLang="zh-CN" sz="2400" dirty="0">
                <a:solidFill>
                  <a:srgbClr val="C00000"/>
                </a:solidFill>
                <a:ea typeface="宋体" panose="02010600030101010101" pitchFamily="2" charset="-122"/>
              </a:rPr>
            </a:br>
            <a:br>
              <a:rPr lang="en-US" altLang="zh-CN" sz="2400" dirty="0">
                <a:ea typeface="宋体" panose="02010600030101010101" pitchFamily="2" charset="-122"/>
              </a:rPr>
            </a:br>
            <a:r>
              <a:rPr lang="en-US" altLang="zh-CN" sz="2400" dirty="0">
                <a:ea typeface="宋体" panose="02010600030101010101" pitchFamily="2" charset="-122"/>
              </a:rPr>
              <a:t>Responsibilities become methods</a:t>
            </a:r>
            <a:br>
              <a:rPr lang="en-US" altLang="zh-CN" sz="2400" dirty="0">
                <a:ea typeface="宋体" panose="02010600030101010101" pitchFamily="2" charset="-122"/>
              </a:rPr>
            </a:br>
            <a:br>
              <a:rPr lang="en-US" altLang="zh-CN" sz="2400" dirty="0">
                <a:ea typeface="宋体" panose="02010600030101010101" pitchFamily="2" charset="-122"/>
              </a:rPr>
            </a:br>
            <a:r>
              <a:rPr lang="en-US" altLang="zh-CN" sz="2400" dirty="0">
                <a:ea typeface="宋体" panose="02010600030101010101" pitchFamily="2" charset="-122"/>
              </a:rPr>
              <a:t>Arguments and return types not yet added</a:t>
            </a:r>
          </a:p>
        </p:txBody>
      </p:sp>
      <p:pic>
        <p:nvPicPr>
          <p:cNvPr id="43012" name="Picture 4">
            <a:extLst>
              <a:ext uri="{FF2B5EF4-FFF2-40B4-BE49-F238E27FC236}">
                <a16:creationId xmlns:a16="http://schemas.microsoft.com/office/drawing/2014/main" id="{4881F674-E08D-4F0B-B6E1-DA30EAEB6E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152400"/>
            <a:ext cx="5019675" cy="617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3" name="Footer Placeholder 4">
            <a:extLst>
              <a:ext uri="{FF2B5EF4-FFF2-40B4-BE49-F238E27FC236}">
                <a16:creationId xmlns:a16="http://schemas.microsoft.com/office/drawing/2014/main" id="{2F343A99-FFB1-480E-91FA-A757515E2F3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43014" name="Rectangle 4">
            <a:extLst>
              <a:ext uri="{FF2B5EF4-FFF2-40B4-BE49-F238E27FC236}">
                <a16:creationId xmlns:a16="http://schemas.microsoft.com/office/drawing/2014/main" id="{EB194667-9EA3-4C40-BAFF-86BDAB39037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2" name="文本框 1">
            <a:extLst>
              <a:ext uri="{FF2B5EF4-FFF2-40B4-BE49-F238E27FC236}">
                <a16:creationId xmlns:a16="http://schemas.microsoft.com/office/drawing/2014/main" id="{7F3D2608-FD21-42DF-BD06-616E753CB0A7}"/>
              </a:ext>
            </a:extLst>
          </p:cNvPr>
          <p:cNvSpPr txBox="1"/>
          <p:nvPr/>
        </p:nvSpPr>
        <p:spPr>
          <a:xfrm>
            <a:off x="4800600" y="1371600"/>
            <a:ext cx="607859" cy="369332"/>
          </a:xfrm>
          <a:prstGeom prst="rect">
            <a:avLst/>
          </a:prstGeom>
          <a:noFill/>
        </p:spPr>
        <p:txBody>
          <a:bodyPr wrap="none" rtlCol="0">
            <a:spAutoFit/>
          </a:bodyPr>
          <a:lstStyle/>
          <a:p>
            <a:r>
              <a:rPr lang="en-US" altLang="zh-CN" dirty="0">
                <a:solidFill>
                  <a:srgbClr val="C00000"/>
                </a:solidFill>
              </a:rPr>
              <a:t>new</a:t>
            </a:r>
            <a:endParaRPr lang="zh-CN" altLang="en-US" dirty="0">
              <a:solidFill>
                <a:srgbClr val="C00000"/>
              </a:solidFill>
            </a:endParaRPr>
          </a:p>
        </p:txBody>
      </p:sp>
      <p:sp>
        <p:nvSpPr>
          <p:cNvPr id="8" name="文本框 7">
            <a:extLst>
              <a:ext uri="{FF2B5EF4-FFF2-40B4-BE49-F238E27FC236}">
                <a16:creationId xmlns:a16="http://schemas.microsoft.com/office/drawing/2014/main" id="{C41A8405-C655-40D5-86F7-ED23B7B9FA50}"/>
              </a:ext>
            </a:extLst>
          </p:cNvPr>
          <p:cNvSpPr txBox="1"/>
          <p:nvPr/>
        </p:nvSpPr>
        <p:spPr>
          <a:xfrm>
            <a:off x="6477000" y="191079"/>
            <a:ext cx="607859" cy="369332"/>
          </a:xfrm>
          <a:prstGeom prst="rect">
            <a:avLst/>
          </a:prstGeom>
          <a:noFill/>
        </p:spPr>
        <p:txBody>
          <a:bodyPr wrap="none" rtlCol="0">
            <a:spAutoFit/>
          </a:bodyPr>
          <a:lstStyle/>
          <a:p>
            <a:r>
              <a:rPr lang="en-US" altLang="zh-CN" dirty="0">
                <a:solidFill>
                  <a:srgbClr val="C00000"/>
                </a:solidFill>
              </a:rPr>
              <a:t>new</a:t>
            </a:r>
            <a:endParaRPr lang="zh-CN" altLang="en-US"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5">
            <a:extLst>
              <a:ext uri="{FF2B5EF4-FFF2-40B4-BE49-F238E27FC236}">
                <a16:creationId xmlns:a16="http://schemas.microsoft.com/office/drawing/2014/main" id="{705C333E-CA84-472C-974B-449DA0B2D3F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1EB21C61-1D88-4107-AFA0-313E32F362E4}" type="slidenum">
              <a:rPr lang="en-US" altLang="en-US" sz="1000"/>
              <a:pPr>
                <a:spcBef>
                  <a:spcPct val="0"/>
                </a:spcBef>
                <a:buClrTx/>
                <a:buSzTx/>
                <a:buFontTx/>
                <a:buNone/>
              </a:pPr>
              <a:t>52</a:t>
            </a:fld>
            <a:endParaRPr lang="en-US" altLang="en-US" sz="1000"/>
          </a:p>
        </p:txBody>
      </p:sp>
      <p:sp>
        <p:nvSpPr>
          <p:cNvPr id="43011" name="Rectangle 2">
            <a:extLst>
              <a:ext uri="{FF2B5EF4-FFF2-40B4-BE49-F238E27FC236}">
                <a16:creationId xmlns:a16="http://schemas.microsoft.com/office/drawing/2014/main" id="{B86AF6E2-EE0E-4FBD-AA8E-4FC84F6C62E3}"/>
              </a:ext>
            </a:extLst>
          </p:cNvPr>
          <p:cNvSpPr>
            <a:spLocks noGrp="1" noChangeArrowheads="1"/>
          </p:cNvSpPr>
          <p:nvPr>
            <p:ph type="title"/>
          </p:nvPr>
        </p:nvSpPr>
        <p:spPr>
          <a:xfrm>
            <a:off x="381000" y="685800"/>
            <a:ext cx="2743200" cy="4953000"/>
          </a:xfrm>
        </p:spPr>
        <p:txBody>
          <a:bodyPr/>
          <a:lstStyle/>
          <a:p>
            <a:pPr eaLnBrk="1" hangingPunct="1"/>
            <a:r>
              <a:rPr lang="en-US" altLang="zh-CN" sz="3600" dirty="0">
                <a:ea typeface="宋体" panose="02010600030101010101" pitchFamily="2" charset="-122"/>
              </a:rPr>
              <a:t>CRC Cards</a:t>
            </a:r>
            <a:br>
              <a:rPr lang="en-US" altLang="zh-CN" sz="3600" dirty="0">
                <a:ea typeface="宋体" panose="02010600030101010101" pitchFamily="2" charset="-122"/>
              </a:rPr>
            </a:br>
            <a:br>
              <a:rPr lang="en-US" altLang="zh-CN" sz="3600" dirty="0">
                <a:ea typeface="宋体" panose="02010600030101010101" pitchFamily="2" charset="-122"/>
              </a:rPr>
            </a:br>
            <a:r>
              <a:rPr lang="en-US" altLang="zh-CN" sz="2400" dirty="0">
                <a:ea typeface="宋体" panose="02010600030101010101" pitchFamily="2" charset="-122"/>
              </a:rPr>
              <a:t>Update design class diagram based on CRC results</a:t>
            </a:r>
            <a:br>
              <a:rPr lang="en-US" altLang="zh-CN" sz="2400" dirty="0">
                <a:solidFill>
                  <a:srgbClr val="C00000"/>
                </a:solidFill>
                <a:ea typeface="宋体" panose="02010600030101010101" pitchFamily="2" charset="-122"/>
              </a:rPr>
            </a:br>
            <a:br>
              <a:rPr lang="en-US" altLang="zh-CN" sz="2400" dirty="0">
                <a:ea typeface="宋体" panose="02010600030101010101" pitchFamily="2" charset="-122"/>
              </a:rPr>
            </a:br>
            <a:r>
              <a:rPr lang="en-US" altLang="zh-CN" sz="2400" dirty="0">
                <a:solidFill>
                  <a:srgbClr val="C00000"/>
                </a:solidFill>
                <a:ea typeface="宋体" panose="02010600030101010101" pitchFamily="2" charset="-122"/>
              </a:rPr>
              <a:t>Responsibilities become methods</a:t>
            </a:r>
            <a:br>
              <a:rPr lang="en-US" altLang="zh-CN" sz="2400" dirty="0">
                <a:ea typeface="宋体" panose="02010600030101010101" pitchFamily="2" charset="-122"/>
              </a:rPr>
            </a:br>
            <a:br>
              <a:rPr lang="en-US" altLang="zh-CN" sz="2400" dirty="0">
                <a:ea typeface="宋体" panose="02010600030101010101" pitchFamily="2" charset="-122"/>
              </a:rPr>
            </a:br>
            <a:r>
              <a:rPr lang="en-US" altLang="zh-CN" sz="2400" dirty="0">
                <a:ea typeface="宋体" panose="02010600030101010101" pitchFamily="2" charset="-122"/>
              </a:rPr>
              <a:t>Arguments and return types not yet added</a:t>
            </a:r>
          </a:p>
        </p:txBody>
      </p:sp>
      <p:pic>
        <p:nvPicPr>
          <p:cNvPr id="43012" name="Picture 4">
            <a:extLst>
              <a:ext uri="{FF2B5EF4-FFF2-40B4-BE49-F238E27FC236}">
                <a16:creationId xmlns:a16="http://schemas.microsoft.com/office/drawing/2014/main" id="{4881F674-E08D-4F0B-B6E1-DA30EAEB6E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152400"/>
            <a:ext cx="5019675" cy="617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3" name="Footer Placeholder 4">
            <a:extLst>
              <a:ext uri="{FF2B5EF4-FFF2-40B4-BE49-F238E27FC236}">
                <a16:creationId xmlns:a16="http://schemas.microsoft.com/office/drawing/2014/main" id="{2F343A99-FFB1-480E-91FA-A757515E2F3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43014" name="Rectangle 4">
            <a:extLst>
              <a:ext uri="{FF2B5EF4-FFF2-40B4-BE49-F238E27FC236}">
                <a16:creationId xmlns:a16="http://schemas.microsoft.com/office/drawing/2014/main" id="{EB194667-9EA3-4C40-BAFF-86BDAB39037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pic>
        <p:nvPicPr>
          <p:cNvPr id="8" name="Picture 5">
            <a:extLst>
              <a:ext uri="{FF2B5EF4-FFF2-40B4-BE49-F238E27FC236}">
                <a16:creationId xmlns:a16="http://schemas.microsoft.com/office/drawing/2014/main" id="{F9FD0853-B12F-4AB9-B911-F86D91CEBF9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43329" r="69661" b="10798"/>
          <a:stretch/>
        </p:blipFill>
        <p:spPr bwMode="auto">
          <a:xfrm>
            <a:off x="1248277" y="1409699"/>
            <a:ext cx="1990223" cy="1752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8">
            <a:extLst>
              <a:ext uri="{FF2B5EF4-FFF2-40B4-BE49-F238E27FC236}">
                <a16:creationId xmlns:a16="http://schemas.microsoft.com/office/drawing/2014/main" id="{C2D6BDD1-6FD2-4D87-BB34-3187D8561449}"/>
              </a:ext>
            </a:extLst>
          </p:cNvPr>
          <p:cNvSpPr/>
          <p:nvPr/>
        </p:nvSpPr>
        <p:spPr>
          <a:xfrm>
            <a:off x="1325345" y="1752600"/>
            <a:ext cx="1006909" cy="75592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D19AB1B0-5F34-4BAE-86F7-2FB0963A85E3}"/>
              </a:ext>
            </a:extLst>
          </p:cNvPr>
          <p:cNvSpPr/>
          <p:nvPr/>
        </p:nvSpPr>
        <p:spPr>
          <a:xfrm>
            <a:off x="3415414" y="3292837"/>
            <a:ext cx="1156586" cy="555264"/>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83941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5">
            <a:extLst>
              <a:ext uri="{FF2B5EF4-FFF2-40B4-BE49-F238E27FC236}">
                <a16:creationId xmlns:a16="http://schemas.microsoft.com/office/drawing/2014/main" id="{705C333E-CA84-472C-974B-449DA0B2D3F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1EB21C61-1D88-4107-AFA0-313E32F362E4}" type="slidenum">
              <a:rPr lang="en-US" altLang="en-US" sz="1000"/>
              <a:pPr>
                <a:spcBef>
                  <a:spcPct val="0"/>
                </a:spcBef>
                <a:buClrTx/>
                <a:buSzTx/>
                <a:buFontTx/>
                <a:buNone/>
              </a:pPr>
              <a:t>53</a:t>
            </a:fld>
            <a:endParaRPr lang="en-US" altLang="en-US" sz="1000"/>
          </a:p>
        </p:txBody>
      </p:sp>
      <p:sp>
        <p:nvSpPr>
          <p:cNvPr id="43011" name="Rectangle 2">
            <a:extLst>
              <a:ext uri="{FF2B5EF4-FFF2-40B4-BE49-F238E27FC236}">
                <a16:creationId xmlns:a16="http://schemas.microsoft.com/office/drawing/2014/main" id="{B86AF6E2-EE0E-4FBD-AA8E-4FC84F6C62E3}"/>
              </a:ext>
            </a:extLst>
          </p:cNvPr>
          <p:cNvSpPr>
            <a:spLocks noGrp="1" noChangeArrowheads="1"/>
          </p:cNvSpPr>
          <p:nvPr>
            <p:ph type="title"/>
          </p:nvPr>
        </p:nvSpPr>
        <p:spPr>
          <a:xfrm>
            <a:off x="381000" y="685800"/>
            <a:ext cx="2743200" cy="4953000"/>
          </a:xfrm>
        </p:spPr>
        <p:txBody>
          <a:bodyPr/>
          <a:lstStyle/>
          <a:p>
            <a:pPr eaLnBrk="1" hangingPunct="1"/>
            <a:r>
              <a:rPr lang="en-US" altLang="zh-CN" sz="3600" dirty="0">
                <a:ea typeface="宋体" panose="02010600030101010101" pitchFamily="2" charset="-122"/>
              </a:rPr>
              <a:t>CRC Cards</a:t>
            </a:r>
            <a:br>
              <a:rPr lang="en-US" altLang="zh-CN" sz="3600" dirty="0">
                <a:ea typeface="宋体" panose="02010600030101010101" pitchFamily="2" charset="-122"/>
              </a:rPr>
            </a:br>
            <a:br>
              <a:rPr lang="en-US" altLang="zh-CN" sz="3600" dirty="0">
                <a:ea typeface="宋体" panose="02010600030101010101" pitchFamily="2" charset="-122"/>
              </a:rPr>
            </a:br>
            <a:r>
              <a:rPr lang="en-US" altLang="zh-CN" sz="2400" dirty="0">
                <a:ea typeface="宋体" panose="02010600030101010101" pitchFamily="2" charset="-122"/>
              </a:rPr>
              <a:t>Update design class diagram based on CRC results</a:t>
            </a:r>
            <a:br>
              <a:rPr lang="en-US" altLang="zh-CN" sz="2400" dirty="0">
                <a:solidFill>
                  <a:srgbClr val="C00000"/>
                </a:solidFill>
                <a:ea typeface="宋体" panose="02010600030101010101" pitchFamily="2" charset="-122"/>
              </a:rPr>
            </a:br>
            <a:br>
              <a:rPr lang="en-US" altLang="zh-CN" sz="2400" dirty="0">
                <a:ea typeface="宋体" panose="02010600030101010101" pitchFamily="2" charset="-122"/>
              </a:rPr>
            </a:br>
            <a:r>
              <a:rPr lang="en-US" altLang="zh-CN" sz="2400" dirty="0">
                <a:ea typeface="宋体" panose="02010600030101010101" pitchFamily="2" charset="-122"/>
              </a:rPr>
              <a:t>Responsibilities become methods</a:t>
            </a:r>
            <a:br>
              <a:rPr lang="en-US" altLang="zh-CN" sz="2400" dirty="0">
                <a:ea typeface="宋体" panose="02010600030101010101" pitchFamily="2" charset="-122"/>
              </a:rPr>
            </a:br>
            <a:br>
              <a:rPr lang="en-US" altLang="zh-CN" sz="2400" dirty="0">
                <a:ea typeface="宋体" panose="02010600030101010101" pitchFamily="2" charset="-122"/>
              </a:rPr>
            </a:br>
            <a:r>
              <a:rPr lang="en-US" altLang="zh-CN" sz="2400" dirty="0">
                <a:solidFill>
                  <a:srgbClr val="C00000"/>
                </a:solidFill>
                <a:ea typeface="宋体" panose="02010600030101010101" pitchFamily="2" charset="-122"/>
              </a:rPr>
              <a:t>Arguments and return types not yet added</a:t>
            </a:r>
          </a:p>
        </p:txBody>
      </p:sp>
      <p:pic>
        <p:nvPicPr>
          <p:cNvPr id="43012" name="Picture 4">
            <a:extLst>
              <a:ext uri="{FF2B5EF4-FFF2-40B4-BE49-F238E27FC236}">
                <a16:creationId xmlns:a16="http://schemas.microsoft.com/office/drawing/2014/main" id="{4881F674-E08D-4F0B-B6E1-DA30EAEB6E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152400"/>
            <a:ext cx="5019675" cy="617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3" name="Footer Placeholder 4">
            <a:extLst>
              <a:ext uri="{FF2B5EF4-FFF2-40B4-BE49-F238E27FC236}">
                <a16:creationId xmlns:a16="http://schemas.microsoft.com/office/drawing/2014/main" id="{2F343A99-FFB1-480E-91FA-A757515E2F3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43014" name="Rectangle 4">
            <a:extLst>
              <a:ext uri="{FF2B5EF4-FFF2-40B4-BE49-F238E27FC236}">
                <a16:creationId xmlns:a16="http://schemas.microsoft.com/office/drawing/2014/main" id="{EB194667-9EA3-4C40-BAFF-86BDAB39037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8406854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a:extLst>
              <a:ext uri="{FF2B5EF4-FFF2-40B4-BE49-F238E27FC236}">
                <a16:creationId xmlns:a16="http://schemas.microsoft.com/office/drawing/2014/main" id="{12651A9C-9782-4390-8414-09148CCCB46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00EF5DD9-6EAF-4E79-B47E-18D4DDF66BAB}" type="slidenum">
              <a:rPr lang="en-US" altLang="en-US" sz="1000"/>
              <a:pPr>
                <a:spcBef>
                  <a:spcPct val="0"/>
                </a:spcBef>
                <a:buClrTx/>
                <a:buSzTx/>
                <a:buFontTx/>
                <a:buNone/>
              </a:pPr>
              <a:t>54</a:t>
            </a:fld>
            <a:endParaRPr lang="en-US" altLang="en-US" sz="1000"/>
          </a:p>
        </p:txBody>
      </p:sp>
      <p:sp>
        <p:nvSpPr>
          <p:cNvPr id="8195" name="Rectangle 2">
            <a:extLst>
              <a:ext uri="{FF2B5EF4-FFF2-40B4-BE49-F238E27FC236}">
                <a16:creationId xmlns:a16="http://schemas.microsoft.com/office/drawing/2014/main" id="{19933FCB-7CED-4518-B74A-F3D517C5A383}"/>
              </a:ext>
            </a:extLst>
          </p:cNvPr>
          <p:cNvSpPr>
            <a:spLocks noGrp="1" noChangeArrowheads="1"/>
          </p:cNvSpPr>
          <p:nvPr>
            <p:ph type="title"/>
          </p:nvPr>
        </p:nvSpPr>
        <p:spPr>
          <a:xfrm>
            <a:off x="457200" y="122238"/>
            <a:ext cx="7543800" cy="1096962"/>
          </a:xfrm>
        </p:spPr>
        <p:txBody>
          <a:bodyPr/>
          <a:lstStyle/>
          <a:p>
            <a:pPr eaLnBrk="1" hangingPunct="1"/>
            <a:r>
              <a:rPr lang="en-US" altLang="zh-CN">
                <a:ea typeface="宋体" panose="02010600030101010101" pitchFamily="2" charset="-122"/>
              </a:rPr>
              <a:t>Chapter 10 Outline</a:t>
            </a:r>
          </a:p>
        </p:txBody>
      </p:sp>
      <p:sp>
        <p:nvSpPr>
          <p:cNvPr id="8196" name="Rectangle 3">
            <a:extLst>
              <a:ext uri="{FF2B5EF4-FFF2-40B4-BE49-F238E27FC236}">
                <a16:creationId xmlns:a16="http://schemas.microsoft.com/office/drawing/2014/main" id="{99359615-6E02-4FAA-BA04-3B3864BFDA39}"/>
              </a:ext>
            </a:extLst>
          </p:cNvPr>
          <p:cNvSpPr>
            <a:spLocks noGrp="1" noChangeArrowheads="1"/>
          </p:cNvSpPr>
          <p:nvPr>
            <p:ph type="body" idx="1"/>
          </p:nvPr>
        </p:nvSpPr>
        <p:spPr>
          <a:xfrm>
            <a:off x="457200" y="1752600"/>
            <a:ext cx="8229600" cy="4411663"/>
          </a:xfrm>
        </p:spPr>
        <p:txBody>
          <a:bodyPr/>
          <a:lstStyle/>
          <a:p>
            <a:pPr eaLnBrk="1" hangingPunct="1"/>
            <a:endParaRPr lang="en-US" altLang="zh-CN" sz="3200" dirty="0">
              <a:ea typeface="宋体" panose="02010600030101010101" pitchFamily="2" charset="-122"/>
            </a:endParaRPr>
          </a:p>
          <a:p>
            <a:pPr eaLnBrk="1" hangingPunct="1"/>
            <a:endParaRPr lang="en-US" altLang="zh-CN" sz="3200" dirty="0">
              <a:ea typeface="宋体" panose="02010600030101010101" pitchFamily="2" charset="-122"/>
            </a:endParaRPr>
          </a:p>
        </p:txBody>
      </p:sp>
      <p:sp>
        <p:nvSpPr>
          <p:cNvPr id="8197" name="Rectangle 4">
            <a:extLst>
              <a:ext uri="{FF2B5EF4-FFF2-40B4-BE49-F238E27FC236}">
                <a16:creationId xmlns:a16="http://schemas.microsoft.com/office/drawing/2014/main" id="{1A459FC4-306D-4676-B8FC-1F8CD2C3D32F}"/>
              </a:ext>
            </a:extLst>
          </p:cNvPr>
          <p:cNvSpPr>
            <a:spLocks noChangeArrowheads="1"/>
          </p:cNvSpPr>
          <p:nvPr/>
        </p:nvSpPr>
        <p:spPr bwMode="auto">
          <a:xfrm>
            <a:off x="304800" y="13716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r>
              <a:rPr lang="en-GB" altLang="zh-CN" dirty="0">
                <a:ea typeface="宋体" panose="02010600030101010101" pitchFamily="2" charset="-122"/>
              </a:rPr>
              <a:t>Object-Oriented Design: Bridging from Analysis to Implementation</a:t>
            </a:r>
          </a:p>
          <a:p>
            <a:pPr eaLnBrk="1" hangingPunct="1"/>
            <a:r>
              <a:rPr lang="en-GB" altLang="zh-CN" dirty="0">
                <a:ea typeface="宋体" panose="02010600030101010101" pitchFamily="2" charset="-122"/>
              </a:rPr>
              <a:t>Object-Oriented Architectural Design</a:t>
            </a:r>
          </a:p>
          <a:p>
            <a:pPr eaLnBrk="1" hangingPunct="1"/>
            <a:r>
              <a:rPr lang="en-GB" altLang="zh-CN" dirty="0">
                <a:ea typeface="宋体" panose="02010600030101010101" pitchFamily="2" charset="-122"/>
              </a:rPr>
              <a:t>Fundamental Principles of Object-Oriented Detailed Design</a:t>
            </a:r>
          </a:p>
          <a:p>
            <a:pPr eaLnBrk="1" hangingPunct="1"/>
            <a:r>
              <a:rPr lang="en-GB" altLang="zh-CN" dirty="0">
                <a:ea typeface="宋体" panose="02010600030101010101" pitchFamily="2" charset="-122"/>
              </a:rPr>
              <a:t>Design Classes and the Design Class Diagram</a:t>
            </a:r>
          </a:p>
          <a:p>
            <a:pPr eaLnBrk="1" hangingPunct="1"/>
            <a:r>
              <a:rPr lang="en-GB" altLang="zh-CN" dirty="0">
                <a:ea typeface="宋体" panose="02010600030101010101" pitchFamily="2" charset="-122"/>
              </a:rPr>
              <a:t>Detailed Design with CRC Cards</a:t>
            </a:r>
          </a:p>
          <a:p>
            <a:pPr eaLnBrk="1" hangingPunct="1"/>
            <a:r>
              <a:rPr lang="en-GB" altLang="zh-CN" dirty="0">
                <a:solidFill>
                  <a:srgbClr val="C00000"/>
                </a:solidFill>
                <a:ea typeface="宋体" panose="02010600030101010101" pitchFamily="2" charset="-122"/>
              </a:rPr>
              <a:t>Fundamental Detailed Design Principles</a:t>
            </a:r>
          </a:p>
        </p:txBody>
      </p:sp>
      <p:sp>
        <p:nvSpPr>
          <p:cNvPr id="8198" name="Footer Placeholder 4">
            <a:extLst>
              <a:ext uri="{FF2B5EF4-FFF2-40B4-BE49-F238E27FC236}">
                <a16:creationId xmlns:a16="http://schemas.microsoft.com/office/drawing/2014/main" id="{7B56DDD1-CA9F-4839-B616-D15016222DA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8199" name="Rectangle 4">
            <a:extLst>
              <a:ext uri="{FF2B5EF4-FFF2-40B4-BE49-F238E27FC236}">
                <a16:creationId xmlns:a16="http://schemas.microsoft.com/office/drawing/2014/main" id="{A62A238B-1078-4DB3-8358-CE7B062A8BC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898328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5">
            <a:extLst>
              <a:ext uri="{FF2B5EF4-FFF2-40B4-BE49-F238E27FC236}">
                <a16:creationId xmlns:a16="http://schemas.microsoft.com/office/drawing/2014/main" id="{8895866D-D477-4C34-AD70-7F3DFAE05C4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D18BAC40-DBD4-4FD5-9673-A75A937EEEA2}" type="slidenum">
              <a:rPr lang="en-US" altLang="en-US" sz="1000"/>
              <a:pPr>
                <a:spcBef>
                  <a:spcPct val="0"/>
                </a:spcBef>
                <a:buClrTx/>
                <a:buSzTx/>
                <a:buFontTx/>
                <a:buNone/>
              </a:pPr>
              <a:t>55</a:t>
            </a:fld>
            <a:endParaRPr lang="en-US" altLang="en-US" sz="1000"/>
          </a:p>
        </p:txBody>
      </p:sp>
      <p:sp>
        <p:nvSpPr>
          <p:cNvPr id="44035" name="Rectangle 2">
            <a:extLst>
              <a:ext uri="{FF2B5EF4-FFF2-40B4-BE49-F238E27FC236}">
                <a16:creationId xmlns:a16="http://schemas.microsoft.com/office/drawing/2014/main" id="{73A31048-E688-40F7-A6DC-A3FF1DACA0DD}"/>
              </a:ext>
            </a:extLst>
          </p:cNvPr>
          <p:cNvSpPr>
            <a:spLocks noGrp="1" noChangeArrowheads="1"/>
          </p:cNvSpPr>
          <p:nvPr>
            <p:ph type="title"/>
          </p:nvPr>
        </p:nvSpPr>
        <p:spPr>
          <a:xfrm>
            <a:off x="304800" y="122238"/>
            <a:ext cx="7696200" cy="792162"/>
          </a:xfrm>
        </p:spPr>
        <p:txBody>
          <a:bodyPr/>
          <a:lstStyle/>
          <a:p>
            <a:pPr eaLnBrk="1" hangingPunct="1"/>
            <a:r>
              <a:rPr lang="en-US" altLang="zh-CN" sz="3600">
                <a:ea typeface="宋体" panose="02010600030101010101" pitchFamily="2" charset="-122"/>
              </a:rPr>
              <a:t>Fundamental Design Principles</a:t>
            </a:r>
          </a:p>
        </p:txBody>
      </p:sp>
      <p:sp>
        <p:nvSpPr>
          <p:cNvPr id="44036" name="Rectangle 3">
            <a:extLst>
              <a:ext uri="{FF2B5EF4-FFF2-40B4-BE49-F238E27FC236}">
                <a16:creationId xmlns:a16="http://schemas.microsoft.com/office/drawing/2014/main" id="{CF7237CC-E490-461D-8A97-9C9B928BB91E}"/>
              </a:ext>
            </a:extLst>
          </p:cNvPr>
          <p:cNvSpPr>
            <a:spLocks noGrp="1" noChangeArrowheads="1"/>
          </p:cNvSpPr>
          <p:nvPr>
            <p:ph type="body" idx="1"/>
          </p:nvPr>
        </p:nvSpPr>
        <p:spPr>
          <a:xfrm>
            <a:off x="381000" y="1066800"/>
            <a:ext cx="8229600" cy="4953000"/>
          </a:xfrm>
        </p:spPr>
        <p:txBody>
          <a:bodyPr/>
          <a:lstStyle/>
          <a:p>
            <a:pPr eaLnBrk="1" hangingPunct="1"/>
            <a:r>
              <a:rPr lang="en-US" altLang="zh-CN" sz="2800" dirty="0">
                <a:ea typeface="宋体" panose="02010600030101010101" pitchFamily="2" charset="-122"/>
              </a:rPr>
              <a:t>Coupling</a:t>
            </a:r>
            <a:r>
              <a:rPr lang="zh-CN" altLang="en-US" sz="2800" dirty="0">
                <a:ea typeface="宋体" panose="02010600030101010101" pitchFamily="2" charset="-122"/>
              </a:rPr>
              <a:t>（耦合性）</a:t>
            </a:r>
            <a:endParaRPr lang="en-US" altLang="zh-CN" sz="2800" dirty="0">
              <a:ea typeface="宋体" panose="02010600030101010101" pitchFamily="2" charset="-122"/>
            </a:endParaRPr>
          </a:p>
          <a:p>
            <a:pPr lvl="1" eaLnBrk="1" hangingPunct="1"/>
            <a:r>
              <a:rPr lang="en-US" altLang="zh-CN" sz="2400" dirty="0">
                <a:ea typeface="宋体" panose="02010600030101010101" pitchFamily="2" charset="-122"/>
              </a:rPr>
              <a:t>A quantitative measure of </a:t>
            </a:r>
            <a:r>
              <a:rPr lang="en-US" altLang="zh-CN" sz="2400" dirty="0">
                <a:solidFill>
                  <a:srgbClr val="C00000"/>
                </a:solidFill>
                <a:ea typeface="宋体" panose="02010600030101010101" pitchFamily="2" charset="-122"/>
              </a:rPr>
              <a:t>how closely related classes are linked</a:t>
            </a:r>
            <a:r>
              <a:rPr lang="en-US" altLang="zh-CN" sz="2400" dirty="0">
                <a:ea typeface="宋体" panose="02010600030101010101" pitchFamily="2" charset="-122"/>
              </a:rPr>
              <a:t> (tightly or loosely coupled)</a:t>
            </a:r>
            <a:r>
              <a:rPr lang="zh-CN" altLang="en-US" sz="2400" dirty="0">
                <a:ea typeface="宋体" panose="02010600030101010101" pitchFamily="2" charset="-122"/>
              </a:rPr>
              <a:t>（对相关类的链接紧密程度（紧密耦合或松散耦合）的定量度量）</a:t>
            </a:r>
            <a:endParaRPr lang="en-US" altLang="zh-CN" sz="2400" dirty="0">
              <a:ea typeface="宋体" panose="02010600030101010101" pitchFamily="2" charset="-122"/>
            </a:endParaRPr>
          </a:p>
          <a:p>
            <a:pPr lvl="1" eaLnBrk="1" hangingPunct="1"/>
            <a:r>
              <a:rPr lang="en-US" altLang="zh-CN" sz="2400" dirty="0">
                <a:ea typeface="宋体" panose="02010600030101010101" pitchFamily="2" charset="-122"/>
              </a:rPr>
              <a:t>Two classes are tightly coupled of there are lots of </a:t>
            </a:r>
            <a:r>
              <a:rPr lang="en-US" altLang="zh-CN" sz="2400" u="sng" dirty="0">
                <a:ea typeface="宋体" panose="02010600030101010101" pitchFamily="2" charset="-122"/>
              </a:rPr>
              <a:t>associations</a:t>
            </a:r>
            <a:r>
              <a:rPr lang="en-US" altLang="zh-CN" sz="2400" dirty="0">
                <a:ea typeface="宋体" panose="02010600030101010101" pitchFamily="2" charset="-122"/>
              </a:rPr>
              <a:t> with another class</a:t>
            </a:r>
            <a:r>
              <a:rPr lang="zh-CN" altLang="en-US" sz="2400" dirty="0">
                <a:ea typeface="宋体" panose="02010600030101010101" pitchFamily="2" charset="-122"/>
              </a:rPr>
              <a:t>（两个类是紧密耦合的）</a:t>
            </a:r>
            <a:endParaRPr lang="en-US" altLang="zh-CN" sz="2400" dirty="0">
              <a:ea typeface="宋体" panose="02010600030101010101" pitchFamily="2" charset="-122"/>
            </a:endParaRPr>
          </a:p>
          <a:p>
            <a:pPr lvl="1" eaLnBrk="1" hangingPunct="1"/>
            <a:r>
              <a:rPr lang="en-US" altLang="zh-CN" sz="2400" dirty="0">
                <a:ea typeface="宋体" panose="02010600030101010101" pitchFamily="2" charset="-122"/>
              </a:rPr>
              <a:t>Two classes are tightly coupled if there are lots of </a:t>
            </a:r>
            <a:r>
              <a:rPr lang="en-US" altLang="zh-CN" sz="2400" u="sng" dirty="0">
                <a:ea typeface="宋体" panose="02010600030101010101" pitchFamily="2" charset="-122"/>
              </a:rPr>
              <a:t>messages</a:t>
            </a:r>
            <a:r>
              <a:rPr lang="en-US" altLang="zh-CN" sz="2400" dirty="0">
                <a:ea typeface="宋体" panose="02010600030101010101" pitchFamily="2" charset="-122"/>
              </a:rPr>
              <a:t> to another class</a:t>
            </a:r>
            <a:r>
              <a:rPr lang="zh-CN" altLang="en-US" sz="2400" dirty="0">
                <a:ea typeface="宋体" panose="02010600030101010101" pitchFamily="2" charset="-122"/>
              </a:rPr>
              <a:t>（如果有很多传递给另一个类的消息，则两个类是紧密耦合的）（互相通信的对象必须有导航可见性，所以他们就是耦合的）</a:t>
            </a:r>
            <a:endParaRPr lang="en-US" altLang="zh-CN" sz="2400" dirty="0">
              <a:ea typeface="宋体" panose="02010600030101010101" pitchFamily="2" charset="-122"/>
            </a:endParaRPr>
          </a:p>
          <a:p>
            <a:pPr lvl="1" eaLnBrk="1" hangingPunct="1"/>
            <a:r>
              <a:rPr lang="en-US" altLang="zh-CN" sz="2400" dirty="0">
                <a:ea typeface="宋体" panose="02010600030101010101" pitchFamily="2" charset="-122"/>
              </a:rPr>
              <a:t>It is best to have classes that are </a:t>
            </a:r>
            <a:r>
              <a:rPr lang="en-US" altLang="zh-CN" sz="2400" b="1" dirty="0">
                <a:solidFill>
                  <a:srgbClr val="C00000"/>
                </a:solidFill>
                <a:ea typeface="宋体" panose="02010600030101010101" pitchFamily="2" charset="-122"/>
              </a:rPr>
              <a:t>loosely coupled</a:t>
            </a:r>
            <a:r>
              <a:rPr lang="zh-CN" altLang="en-US" sz="2400" b="1" dirty="0">
                <a:solidFill>
                  <a:srgbClr val="C00000"/>
                </a:solidFill>
                <a:ea typeface="宋体" panose="02010600030101010101" pitchFamily="2" charset="-122"/>
              </a:rPr>
              <a:t>（松耦合）（强耦合时，一个类的变化会波及整个系统）</a:t>
            </a:r>
            <a:endParaRPr lang="en-US" altLang="zh-CN" sz="2400" b="1" dirty="0">
              <a:solidFill>
                <a:srgbClr val="C00000"/>
              </a:solidFill>
              <a:ea typeface="宋体" panose="02010600030101010101" pitchFamily="2" charset="-122"/>
            </a:endParaRPr>
          </a:p>
          <a:p>
            <a:pPr eaLnBrk="1" hangingPunct="1"/>
            <a:endParaRPr lang="en-US" altLang="zh-CN" sz="2800" dirty="0">
              <a:ea typeface="宋体" panose="02010600030101010101" pitchFamily="2" charset="-122"/>
            </a:endParaRPr>
          </a:p>
        </p:txBody>
      </p:sp>
      <p:sp>
        <p:nvSpPr>
          <p:cNvPr id="44037" name="Footer Placeholder 4">
            <a:extLst>
              <a:ext uri="{FF2B5EF4-FFF2-40B4-BE49-F238E27FC236}">
                <a16:creationId xmlns:a16="http://schemas.microsoft.com/office/drawing/2014/main" id="{DBF5A3A2-14B9-4E29-8C9D-C6A6CC2347F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44038" name="Rectangle 4">
            <a:extLst>
              <a:ext uri="{FF2B5EF4-FFF2-40B4-BE49-F238E27FC236}">
                <a16:creationId xmlns:a16="http://schemas.microsoft.com/office/drawing/2014/main" id="{D17FE6B9-C2DA-43EC-85DD-0E09EED132DC}"/>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03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4036">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403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5">
            <a:extLst>
              <a:ext uri="{FF2B5EF4-FFF2-40B4-BE49-F238E27FC236}">
                <a16:creationId xmlns:a16="http://schemas.microsoft.com/office/drawing/2014/main" id="{263055EE-FC14-4C83-B1E5-876D3620469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358F3C5F-E29A-4B96-A71B-EEC2F24D65CC}" type="slidenum">
              <a:rPr lang="en-US" altLang="en-US" sz="1000"/>
              <a:pPr>
                <a:spcBef>
                  <a:spcPct val="0"/>
                </a:spcBef>
                <a:buClrTx/>
                <a:buSzTx/>
                <a:buFontTx/>
                <a:buNone/>
              </a:pPr>
              <a:t>56</a:t>
            </a:fld>
            <a:endParaRPr lang="en-US" altLang="en-US" sz="1000"/>
          </a:p>
        </p:txBody>
      </p:sp>
      <p:sp>
        <p:nvSpPr>
          <p:cNvPr id="45059" name="Rectangle 2">
            <a:extLst>
              <a:ext uri="{FF2B5EF4-FFF2-40B4-BE49-F238E27FC236}">
                <a16:creationId xmlns:a16="http://schemas.microsoft.com/office/drawing/2014/main" id="{B9247E0A-1512-4451-9BB1-EF0B144E5665}"/>
              </a:ext>
            </a:extLst>
          </p:cNvPr>
          <p:cNvSpPr>
            <a:spLocks noGrp="1" noChangeArrowheads="1"/>
          </p:cNvSpPr>
          <p:nvPr>
            <p:ph type="title"/>
          </p:nvPr>
        </p:nvSpPr>
        <p:spPr>
          <a:xfrm>
            <a:off x="304800" y="122238"/>
            <a:ext cx="7696200" cy="792162"/>
          </a:xfrm>
        </p:spPr>
        <p:txBody>
          <a:bodyPr/>
          <a:lstStyle/>
          <a:p>
            <a:pPr eaLnBrk="1" hangingPunct="1"/>
            <a:r>
              <a:rPr lang="en-US" altLang="zh-CN" sz="3600">
                <a:ea typeface="宋体" panose="02010600030101010101" pitchFamily="2" charset="-122"/>
              </a:rPr>
              <a:t>Fundamental Design Principles</a:t>
            </a:r>
          </a:p>
        </p:txBody>
      </p:sp>
      <p:sp>
        <p:nvSpPr>
          <p:cNvPr id="45060" name="Rectangle 3">
            <a:extLst>
              <a:ext uri="{FF2B5EF4-FFF2-40B4-BE49-F238E27FC236}">
                <a16:creationId xmlns:a16="http://schemas.microsoft.com/office/drawing/2014/main" id="{F506148C-386F-483E-87C4-AC476D77E10F}"/>
              </a:ext>
            </a:extLst>
          </p:cNvPr>
          <p:cNvSpPr>
            <a:spLocks noGrp="1" noChangeArrowheads="1"/>
          </p:cNvSpPr>
          <p:nvPr>
            <p:ph type="body" idx="1"/>
          </p:nvPr>
        </p:nvSpPr>
        <p:spPr>
          <a:xfrm>
            <a:off x="381000" y="914400"/>
            <a:ext cx="8229600" cy="5105400"/>
          </a:xfrm>
        </p:spPr>
        <p:txBody>
          <a:bodyPr/>
          <a:lstStyle/>
          <a:p>
            <a:pPr eaLnBrk="1" hangingPunct="1"/>
            <a:r>
              <a:rPr lang="en-US" altLang="zh-CN" sz="2800" dirty="0">
                <a:ea typeface="宋体" panose="02010600030101010101" pitchFamily="2" charset="-122"/>
              </a:rPr>
              <a:t>Cohesion</a:t>
            </a:r>
            <a:r>
              <a:rPr lang="zh-CN" altLang="en-US" sz="2800" dirty="0">
                <a:ea typeface="宋体" panose="02010600030101010101" pitchFamily="2" charset="-122"/>
              </a:rPr>
              <a:t>（内聚）</a:t>
            </a:r>
            <a:endParaRPr lang="en-US" altLang="zh-CN" sz="2800" dirty="0">
              <a:ea typeface="宋体" panose="02010600030101010101" pitchFamily="2" charset="-122"/>
            </a:endParaRPr>
          </a:p>
          <a:p>
            <a:pPr lvl="1" eaLnBrk="1" hangingPunct="1"/>
            <a:r>
              <a:rPr lang="en-US" altLang="zh-CN" sz="2400" dirty="0">
                <a:ea typeface="宋体" panose="02010600030101010101" pitchFamily="2" charset="-122"/>
              </a:rPr>
              <a:t>A quantitative measure of </a:t>
            </a:r>
            <a:r>
              <a:rPr lang="en-US" altLang="zh-CN" sz="2400" u="sng" dirty="0">
                <a:ea typeface="宋体" panose="02010600030101010101" pitchFamily="2" charset="-122"/>
              </a:rPr>
              <a:t>the focus or unity </a:t>
            </a:r>
            <a:r>
              <a:rPr lang="en-US" altLang="zh-CN" sz="2400" dirty="0">
                <a:ea typeface="宋体" panose="02010600030101010101" pitchFamily="2" charset="-122"/>
              </a:rPr>
              <a:t>of purpose within a single class (high or low cohesiveness)</a:t>
            </a:r>
            <a:r>
              <a:rPr lang="zh-CN" altLang="en-US" sz="2400" dirty="0">
                <a:ea typeface="宋体" panose="02010600030101010101" pitchFamily="2" charset="-122"/>
              </a:rPr>
              <a:t>（内聚是对一个类的功能一致性的定性度量）</a:t>
            </a:r>
            <a:endParaRPr lang="en-US" altLang="zh-CN" sz="2400" dirty="0">
              <a:ea typeface="宋体" panose="02010600030101010101" pitchFamily="2" charset="-122"/>
            </a:endParaRPr>
          </a:p>
          <a:p>
            <a:pPr lvl="1" eaLnBrk="1" hangingPunct="1"/>
            <a:r>
              <a:rPr lang="en-US" altLang="zh-CN" sz="2400" dirty="0">
                <a:ea typeface="宋体" panose="02010600030101010101" pitchFamily="2" charset="-122"/>
              </a:rPr>
              <a:t>One class has high cohesiveness if </a:t>
            </a:r>
            <a:r>
              <a:rPr lang="en-US" altLang="zh-CN" sz="2400" u="sng" dirty="0">
                <a:ea typeface="宋体" panose="02010600030101010101" pitchFamily="2" charset="-122"/>
              </a:rPr>
              <a:t>all of its responsibilities are consistent and make sense for purpose of the class</a:t>
            </a:r>
            <a:r>
              <a:rPr lang="en-US" altLang="zh-CN" sz="2400" dirty="0">
                <a:ea typeface="宋体" panose="02010600030101010101" pitchFamily="2" charset="-122"/>
              </a:rPr>
              <a:t> </a:t>
            </a:r>
            <a:r>
              <a:rPr lang="zh-CN" altLang="en-US" sz="2400" dirty="0">
                <a:ea typeface="宋体" panose="02010600030101010101" pitchFamily="2" charset="-122"/>
              </a:rPr>
              <a:t>（如果一个类的所有职责都是一致的，并且对类的目的有意义，则该类具有高内聚性）</a:t>
            </a:r>
            <a:endParaRPr lang="en-US" altLang="zh-CN" sz="2400" dirty="0">
              <a:ea typeface="宋体" panose="02010600030101010101" pitchFamily="2" charset="-122"/>
            </a:endParaRPr>
          </a:p>
          <a:p>
            <a:pPr lvl="1" eaLnBrk="1" hangingPunct="1"/>
            <a:r>
              <a:rPr lang="en-US" altLang="zh-CN" sz="2400" dirty="0">
                <a:ea typeface="宋体" panose="02010600030101010101" pitchFamily="2" charset="-122"/>
              </a:rPr>
              <a:t>One class has low cohesiveness if its responsibilities are broad or makeshift </a:t>
            </a:r>
            <a:r>
              <a:rPr lang="zh-CN" altLang="en-US" sz="2400" dirty="0">
                <a:ea typeface="宋体" panose="02010600030101010101" pitchFamily="2" charset="-122"/>
              </a:rPr>
              <a:t>（如果一个类的职责很宽泛或者是临时的，那么它的内聚性就很低）</a:t>
            </a:r>
            <a:endParaRPr lang="en-US" altLang="zh-CN" sz="2400" dirty="0">
              <a:ea typeface="宋体" panose="02010600030101010101" pitchFamily="2" charset="-122"/>
            </a:endParaRPr>
          </a:p>
          <a:p>
            <a:pPr lvl="1" eaLnBrk="1" hangingPunct="1"/>
            <a:r>
              <a:rPr lang="en-US" altLang="zh-CN" sz="2400" dirty="0">
                <a:ea typeface="宋体" panose="02010600030101010101" pitchFamily="2" charset="-122"/>
              </a:rPr>
              <a:t>It is best to have classes that are </a:t>
            </a:r>
            <a:r>
              <a:rPr lang="en-US" altLang="zh-CN" sz="2400" b="1" dirty="0">
                <a:solidFill>
                  <a:srgbClr val="C00000"/>
                </a:solidFill>
                <a:ea typeface="宋体" panose="02010600030101010101" pitchFamily="2" charset="-122"/>
              </a:rPr>
              <a:t>highly cohesive</a:t>
            </a:r>
            <a:r>
              <a:rPr lang="zh-CN" altLang="en-US" sz="2400" b="1" dirty="0">
                <a:solidFill>
                  <a:srgbClr val="C00000"/>
                </a:solidFill>
                <a:ea typeface="宋体" panose="02010600030101010101" pitchFamily="2" charset="-122"/>
              </a:rPr>
              <a:t>（高内聚性）</a:t>
            </a:r>
            <a:endParaRPr lang="en-US" altLang="zh-CN" sz="2400" b="1" dirty="0">
              <a:solidFill>
                <a:srgbClr val="C00000"/>
              </a:solidFill>
              <a:ea typeface="宋体" panose="02010600030101010101" pitchFamily="2" charset="-122"/>
            </a:endParaRPr>
          </a:p>
          <a:p>
            <a:pPr eaLnBrk="1" hangingPunct="1"/>
            <a:endParaRPr lang="en-US" altLang="zh-CN" sz="2800" dirty="0">
              <a:ea typeface="宋体" panose="02010600030101010101" pitchFamily="2" charset="-122"/>
            </a:endParaRPr>
          </a:p>
        </p:txBody>
      </p:sp>
      <p:sp>
        <p:nvSpPr>
          <p:cNvPr id="45061" name="Footer Placeholder 4">
            <a:extLst>
              <a:ext uri="{FF2B5EF4-FFF2-40B4-BE49-F238E27FC236}">
                <a16:creationId xmlns:a16="http://schemas.microsoft.com/office/drawing/2014/main" id="{5C3D7E4D-9A3B-42BA-A904-A7ED925C648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45062" name="Rectangle 4">
            <a:extLst>
              <a:ext uri="{FF2B5EF4-FFF2-40B4-BE49-F238E27FC236}">
                <a16:creationId xmlns:a16="http://schemas.microsoft.com/office/drawing/2014/main" id="{31B2C97D-891B-41A1-8C65-63155FF3C8D8}"/>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060">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060">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506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5">
            <a:extLst>
              <a:ext uri="{FF2B5EF4-FFF2-40B4-BE49-F238E27FC236}">
                <a16:creationId xmlns:a16="http://schemas.microsoft.com/office/drawing/2014/main" id="{3471CC8C-D49B-4E30-A61D-BB23C28C09D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E213A359-3736-4D0D-BE0E-EB7A176F2721}" type="slidenum">
              <a:rPr lang="en-US" altLang="en-US" sz="1000"/>
              <a:pPr>
                <a:spcBef>
                  <a:spcPct val="0"/>
                </a:spcBef>
                <a:buClrTx/>
                <a:buSzTx/>
                <a:buFontTx/>
                <a:buNone/>
              </a:pPr>
              <a:t>57</a:t>
            </a:fld>
            <a:endParaRPr lang="en-US" altLang="en-US" sz="1000"/>
          </a:p>
        </p:txBody>
      </p:sp>
      <p:sp>
        <p:nvSpPr>
          <p:cNvPr id="46083" name="Rectangle 2">
            <a:extLst>
              <a:ext uri="{FF2B5EF4-FFF2-40B4-BE49-F238E27FC236}">
                <a16:creationId xmlns:a16="http://schemas.microsoft.com/office/drawing/2014/main" id="{652BE547-3090-4FAC-8227-6D89918B94F9}"/>
              </a:ext>
            </a:extLst>
          </p:cNvPr>
          <p:cNvSpPr>
            <a:spLocks noGrp="1" noChangeArrowheads="1"/>
          </p:cNvSpPr>
          <p:nvPr>
            <p:ph type="title"/>
          </p:nvPr>
        </p:nvSpPr>
        <p:spPr>
          <a:xfrm>
            <a:off x="304800" y="122238"/>
            <a:ext cx="7696200" cy="792162"/>
          </a:xfrm>
        </p:spPr>
        <p:txBody>
          <a:bodyPr/>
          <a:lstStyle/>
          <a:p>
            <a:pPr eaLnBrk="1" hangingPunct="1"/>
            <a:r>
              <a:rPr lang="en-US" altLang="zh-CN" sz="3600">
                <a:ea typeface="宋体" panose="02010600030101010101" pitchFamily="2" charset="-122"/>
              </a:rPr>
              <a:t>Fundamental Design Principles</a:t>
            </a:r>
          </a:p>
        </p:txBody>
      </p:sp>
      <p:sp>
        <p:nvSpPr>
          <p:cNvPr id="46084" name="Rectangle 3">
            <a:extLst>
              <a:ext uri="{FF2B5EF4-FFF2-40B4-BE49-F238E27FC236}">
                <a16:creationId xmlns:a16="http://schemas.microsoft.com/office/drawing/2014/main" id="{70ECF31F-A537-4FDB-9140-700A7908B47F}"/>
              </a:ext>
            </a:extLst>
          </p:cNvPr>
          <p:cNvSpPr>
            <a:spLocks noGrp="1" noChangeArrowheads="1"/>
          </p:cNvSpPr>
          <p:nvPr>
            <p:ph type="body" idx="1"/>
          </p:nvPr>
        </p:nvSpPr>
        <p:spPr>
          <a:xfrm>
            <a:off x="381000" y="914400"/>
            <a:ext cx="8229600" cy="5105400"/>
          </a:xfrm>
        </p:spPr>
        <p:txBody>
          <a:bodyPr/>
          <a:lstStyle/>
          <a:p>
            <a:pPr eaLnBrk="1" hangingPunct="1"/>
            <a:r>
              <a:rPr lang="en-US" altLang="zh-CN" sz="2800" dirty="0">
                <a:ea typeface="宋体" panose="02010600030101010101" pitchFamily="2" charset="-122"/>
              </a:rPr>
              <a:t>Protection from Variations</a:t>
            </a:r>
            <a:r>
              <a:rPr lang="zh-CN" altLang="en-US" sz="2800" dirty="0">
                <a:ea typeface="宋体" panose="02010600030101010101" pitchFamily="2" charset="-122"/>
              </a:rPr>
              <a:t>（变量保护）</a:t>
            </a:r>
            <a:endParaRPr lang="en-US" altLang="zh-CN" sz="2800" dirty="0">
              <a:ea typeface="宋体" panose="02010600030101010101" pitchFamily="2" charset="-122"/>
            </a:endParaRPr>
          </a:p>
          <a:p>
            <a:pPr lvl="1" eaLnBrk="1" hangingPunct="1"/>
            <a:r>
              <a:rPr lang="en-US" altLang="zh-CN" sz="2400" dirty="0">
                <a:ea typeface="宋体" panose="02010600030101010101" pitchFamily="2" charset="-122"/>
              </a:rPr>
              <a:t>A design principle that states </a:t>
            </a:r>
            <a:r>
              <a:rPr lang="en-US" altLang="zh-CN" sz="2400" u="sng" dirty="0">
                <a:ea typeface="宋体" panose="02010600030101010101" pitchFamily="2" charset="-122"/>
              </a:rPr>
              <a:t>parts of a system unlikely to change </a:t>
            </a:r>
            <a:r>
              <a:rPr lang="en-US" altLang="zh-CN" sz="2400" dirty="0">
                <a:ea typeface="宋体" panose="02010600030101010101" pitchFamily="2" charset="-122"/>
              </a:rPr>
              <a:t>are separated (protected) from those that will </a:t>
            </a:r>
            <a:r>
              <a:rPr lang="en-US" altLang="zh-CN" sz="2400" u="sng" dirty="0">
                <a:ea typeface="宋体" panose="02010600030101010101" pitchFamily="2" charset="-122"/>
              </a:rPr>
              <a:t>surely change</a:t>
            </a:r>
            <a:r>
              <a:rPr lang="zh-CN" altLang="en-US" sz="2400" u="sng" dirty="0">
                <a:ea typeface="宋体" panose="02010600030101010101" pitchFamily="2" charset="-122"/>
              </a:rPr>
              <a:t>（将系统中不太可能改变的部分与那些肯定会改变的部分分开</a:t>
            </a:r>
            <a:r>
              <a:rPr lang="en-US" altLang="zh-CN" sz="2400" u="sng" dirty="0">
                <a:solidFill>
                  <a:srgbClr val="C00000"/>
                </a:solidFill>
                <a:ea typeface="宋体" panose="02010600030101010101" pitchFamily="2" charset="-122"/>
              </a:rPr>
              <a:t>(</a:t>
            </a:r>
            <a:r>
              <a:rPr lang="zh-CN" altLang="en-US" sz="2400" u="sng" dirty="0">
                <a:solidFill>
                  <a:srgbClr val="C00000"/>
                </a:solidFill>
                <a:ea typeface="宋体" panose="02010600030101010101" pitchFamily="2" charset="-122"/>
              </a:rPr>
              <a:t>保护</a:t>
            </a:r>
            <a:r>
              <a:rPr lang="en-US" altLang="zh-CN" sz="2400" u="sng" dirty="0">
                <a:solidFill>
                  <a:srgbClr val="C00000"/>
                </a:solidFill>
                <a:ea typeface="宋体" panose="02010600030101010101" pitchFamily="2" charset="-122"/>
              </a:rPr>
              <a:t>)</a:t>
            </a:r>
            <a:r>
              <a:rPr lang="zh-CN" altLang="en-US" sz="2400" u="sng" dirty="0">
                <a:ea typeface="宋体" panose="02010600030101010101" pitchFamily="2" charset="-122"/>
              </a:rPr>
              <a:t>的设计原则）</a:t>
            </a:r>
            <a:endParaRPr lang="en-US" altLang="zh-CN" sz="2400" u="sng" dirty="0">
              <a:ea typeface="宋体" panose="02010600030101010101" pitchFamily="2" charset="-122"/>
            </a:endParaRPr>
          </a:p>
          <a:p>
            <a:pPr lvl="1" eaLnBrk="1" hangingPunct="1"/>
            <a:r>
              <a:rPr lang="en-US" altLang="zh-CN" sz="2400" dirty="0">
                <a:ea typeface="宋体" panose="02010600030101010101" pitchFamily="2" charset="-122"/>
              </a:rPr>
              <a:t>Separate </a:t>
            </a:r>
            <a:r>
              <a:rPr lang="en-US" altLang="zh-CN" sz="2400" u="sng" dirty="0">
                <a:ea typeface="宋体" panose="02010600030101010101" pitchFamily="2" charset="-122"/>
              </a:rPr>
              <a:t>user interface</a:t>
            </a:r>
            <a:r>
              <a:rPr lang="zh-CN" altLang="en-US" sz="2400" u="sng" dirty="0">
                <a:ea typeface="宋体" panose="02010600030101010101" pitchFamily="2" charset="-122"/>
              </a:rPr>
              <a:t>（接口逻辑）</a:t>
            </a:r>
            <a:r>
              <a:rPr lang="en-US" altLang="zh-CN" sz="2400" u="sng" dirty="0">
                <a:ea typeface="宋体" panose="02010600030101010101" pitchFamily="2" charset="-122"/>
              </a:rPr>
              <a:t> </a:t>
            </a:r>
            <a:r>
              <a:rPr lang="en-US" altLang="zh-CN" sz="2400" dirty="0">
                <a:ea typeface="宋体" panose="02010600030101010101" pitchFamily="2" charset="-122"/>
              </a:rPr>
              <a:t>forms and pages that are likely to change from </a:t>
            </a:r>
            <a:r>
              <a:rPr lang="en-US" altLang="zh-CN" sz="2400" u="sng" dirty="0">
                <a:ea typeface="宋体" panose="02010600030101010101" pitchFamily="2" charset="-122"/>
              </a:rPr>
              <a:t>application logic</a:t>
            </a:r>
            <a:r>
              <a:rPr lang="zh-CN" altLang="en-US" sz="2400" u="sng" dirty="0">
                <a:ea typeface="宋体" panose="02010600030101010101" pitchFamily="2" charset="-122"/>
              </a:rPr>
              <a:t>（业务逻辑分离）（用户接口）</a:t>
            </a:r>
            <a:endParaRPr lang="en-US" altLang="zh-CN" sz="2400" u="sng" dirty="0">
              <a:ea typeface="宋体" panose="02010600030101010101" pitchFamily="2" charset="-122"/>
            </a:endParaRPr>
          </a:p>
          <a:p>
            <a:pPr lvl="1" eaLnBrk="1" hangingPunct="1"/>
            <a:r>
              <a:rPr lang="en-US" altLang="zh-CN" sz="2400" dirty="0">
                <a:ea typeface="宋体" panose="02010600030101010101" pitchFamily="2" charset="-122"/>
              </a:rPr>
              <a:t>Put </a:t>
            </a:r>
            <a:r>
              <a:rPr lang="en-US" altLang="zh-CN" sz="2400" u="sng" dirty="0">
                <a:ea typeface="宋体" panose="02010600030101010101" pitchFamily="2" charset="-122"/>
              </a:rPr>
              <a:t>database connection and SQL logic </a:t>
            </a:r>
            <a:r>
              <a:rPr lang="en-US" altLang="zh-CN" sz="2400" dirty="0">
                <a:ea typeface="宋体" panose="02010600030101010101" pitchFamily="2" charset="-122"/>
              </a:rPr>
              <a:t>that is likely to change in a separate classes from </a:t>
            </a:r>
            <a:r>
              <a:rPr lang="en-US" altLang="zh-CN" sz="2400" u="sng" dirty="0">
                <a:ea typeface="宋体" panose="02010600030101010101" pitchFamily="2" charset="-122"/>
              </a:rPr>
              <a:t>application logic </a:t>
            </a:r>
            <a:r>
              <a:rPr lang="zh-CN" altLang="en-US" sz="2400" u="sng" dirty="0">
                <a:ea typeface="宋体" panose="02010600030101010101" pitchFamily="2" charset="-122"/>
              </a:rPr>
              <a:t>（数据库连接和业务逻辑分离）</a:t>
            </a:r>
            <a:r>
              <a:rPr lang="en-US" altLang="zh-CN" sz="2400" u="sng" dirty="0">
                <a:ea typeface="宋体" panose="02010600030101010101" pitchFamily="2" charset="-122"/>
              </a:rPr>
              <a:t> </a:t>
            </a:r>
          </a:p>
          <a:p>
            <a:pPr lvl="1" eaLnBrk="1" hangingPunct="1"/>
            <a:r>
              <a:rPr lang="en-US" altLang="zh-CN" sz="2400" dirty="0">
                <a:ea typeface="宋体" panose="02010600030101010101" pitchFamily="2" charset="-122"/>
              </a:rPr>
              <a:t>Use </a:t>
            </a:r>
            <a:r>
              <a:rPr lang="en-US" altLang="zh-CN" sz="2400" u="sng" dirty="0">
                <a:ea typeface="宋体" panose="02010600030101010101" pitchFamily="2" charset="-122"/>
              </a:rPr>
              <a:t>adaptor classes </a:t>
            </a:r>
            <a:r>
              <a:rPr lang="en-US" altLang="zh-CN" sz="2400" dirty="0">
                <a:ea typeface="宋体" panose="02010600030101010101" pitchFamily="2" charset="-122"/>
              </a:rPr>
              <a:t>that are likely to change when interfacing with other systems</a:t>
            </a:r>
            <a:r>
              <a:rPr lang="zh-CN" altLang="en-US" sz="2400" dirty="0">
                <a:ea typeface="宋体" panose="02010600030101010101" pitchFamily="2" charset="-122"/>
              </a:rPr>
              <a:t>（使用在与其他系统接口时可能会更改的适配器类）</a:t>
            </a:r>
            <a:endParaRPr lang="en-US" altLang="zh-CN" sz="2400" b="1" dirty="0">
              <a:ea typeface="宋体" panose="02010600030101010101" pitchFamily="2" charset="-122"/>
            </a:endParaRPr>
          </a:p>
          <a:p>
            <a:pPr eaLnBrk="1" hangingPunct="1"/>
            <a:endParaRPr lang="en-US" altLang="zh-CN" sz="2800" dirty="0">
              <a:ea typeface="宋体" panose="02010600030101010101" pitchFamily="2" charset="-122"/>
            </a:endParaRPr>
          </a:p>
        </p:txBody>
      </p:sp>
      <p:sp>
        <p:nvSpPr>
          <p:cNvPr id="46086" name="Rectangle 4">
            <a:extLst>
              <a:ext uri="{FF2B5EF4-FFF2-40B4-BE49-F238E27FC236}">
                <a16:creationId xmlns:a16="http://schemas.microsoft.com/office/drawing/2014/main" id="{E1CD8C2B-88BF-48BB-A18B-65ACDAC06CF1}"/>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08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08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08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5">
            <a:extLst>
              <a:ext uri="{FF2B5EF4-FFF2-40B4-BE49-F238E27FC236}">
                <a16:creationId xmlns:a16="http://schemas.microsoft.com/office/drawing/2014/main" id="{1B2FA1A6-F87B-48F2-8D49-066F4985713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3E49BEF6-FD41-4FDB-9BBA-06EBD73539E6}" type="slidenum">
              <a:rPr lang="en-US" altLang="en-US" sz="1000"/>
              <a:pPr>
                <a:spcBef>
                  <a:spcPct val="0"/>
                </a:spcBef>
                <a:buClrTx/>
                <a:buSzTx/>
                <a:buFontTx/>
                <a:buNone/>
              </a:pPr>
              <a:t>58</a:t>
            </a:fld>
            <a:endParaRPr lang="en-US" altLang="en-US" sz="1000"/>
          </a:p>
        </p:txBody>
      </p:sp>
      <p:sp>
        <p:nvSpPr>
          <p:cNvPr id="47107" name="Rectangle 2">
            <a:extLst>
              <a:ext uri="{FF2B5EF4-FFF2-40B4-BE49-F238E27FC236}">
                <a16:creationId xmlns:a16="http://schemas.microsoft.com/office/drawing/2014/main" id="{A11BF957-D15B-42DD-94FB-9EEB20F8B863}"/>
              </a:ext>
            </a:extLst>
          </p:cNvPr>
          <p:cNvSpPr>
            <a:spLocks noGrp="1" noChangeArrowheads="1"/>
          </p:cNvSpPr>
          <p:nvPr>
            <p:ph type="title"/>
          </p:nvPr>
        </p:nvSpPr>
        <p:spPr>
          <a:xfrm>
            <a:off x="304800" y="122238"/>
            <a:ext cx="7696200" cy="792162"/>
          </a:xfrm>
        </p:spPr>
        <p:txBody>
          <a:bodyPr/>
          <a:lstStyle/>
          <a:p>
            <a:pPr eaLnBrk="1" hangingPunct="1"/>
            <a:r>
              <a:rPr lang="en-US" altLang="zh-CN" sz="3600">
                <a:ea typeface="宋体" panose="02010600030101010101" pitchFamily="2" charset="-122"/>
              </a:rPr>
              <a:t>Fundamental Design Principles</a:t>
            </a:r>
          </a:p>
        </p:txBody>
      </p:sp>
      <p:sp>
        <p:nvSpPr>
          <p:cNvPr id="47108" name="Rectangle 3">
            <a:extLst>
              <a:ext uri="{FF2B5EF4-FFF2-40B4-BE49-F238E27FC236}">
                <a16:creationId xmlns:a16="http://schemas.microsoft.com/office/drawing/2014/main" id="{6FDECF3A-7F4D-4234-8141-C19CE4D19A28}"/>
              </a:ext>
            </a:extLst>
          </p:cNvPr>
          <p:cNvSpPr>
            <a:spLocks noGrp="1" noChangeArrowheads="1"/>
          </p:cNvSpPr>
          <p:nvPr>
            <p:ph type="body" idx="1"/>
          </p:nvPr>
        </p:nvSpPr>
        <p:spPr>
          <a:xfrm>
            <a:off x="381000" y="914400"/>
            <a:ext cx="8229600" cy="5105400"/>
          </a:xfrm>
        </p:spPr>
        <p:txBody>
          <a:bodyPr/>
          <a:lstStyle/>
          <a:p>
            <a:pPr eaLnBrk="1" hangingPunct="1"/>
            <a:r>
              <a:rPr lang="en-US" altLang="zh-CN" sz="2800" dirty="0">
                <a:ea typeface="宋体" panose="02010600030101010101" pitchFamily="2" charset="-122"/>
              </a:rPr>
              <a:t>Indirection</a:t>
            </a:r>
            <a:r>
              <a:rPr lang="zh-CN" altLang="en-US" sz="2800" dirty="0">
                <a:ea typeface="宋体" panose="02010600030101010101" pitchFamily="2" charset="-122"/>
              </a:rPr>
              <a:t>（间接）</a:t>
            </a:r>
            <a:endParaRPr lang="en-US" altLang="zh-CN" sz="2800" dirty="0">
              <a:ea typeface="宋体" panose="02010600030101010101" pitchFamily="2" charset="-122"/>
            </a:endParaRPr>
          </a:p>
          <a:p>
            <a:pPr lvl="1" eaLnBrk="1" hangingPunct="1"/>
            <a:r>
              <a:rPr lang="en-US" altLang="zh-CN" sz="2400" dirty="0">
                <a:ea typeface="宋体" panose="02010600030101010101" pitchFamily="2" charset="-122"/>
              </a:rPr>
              <a:t>A design principle that states </a:t>
            </a:r>
            <a:r>
              <a:rPr lang="en-US" altLang="zh-CN" sz="2400" u="sng" dirty="0">
                <a:ea typeface="宋体" panose="02010600030101010101" pitchFamily="2" charset="-122"/>
              </a:rPr>
              <a:t>an intermediate class </a:t>
            </a:r>
            <a:r>
              <a:rPr lang="en-US" altLang="zh-CN" sz="2400" dirty="0">
                <a:ea typeface="宋体" panose="02010600030101010101" pitchFamily="2" charset="-122"/>
              </a:rPr>
              <a:t>is placed between two classes to </a:t>
            </a:r>
            <a:r>
              <a:rPr lang="en-US" altLang="zh-CN" sz="2400" u="sng" dirty="0">
                <a:solidFill>
                  <a:srgbClr val="C00000"/>
                </a:solidFill>
                <a:ea typeface="宋体" panose="02010600030101010101" pitchFamily="2" charset="-122"/>
              </a:rPr>
              <a:t>decouple them but still link them</a:t>
            </a:r>
            <a:r>
              <a:rPr lang="zh-CN" altLang="en-US" sz="2400" u="sng" dirty="0">
                <a:solidFill>
                  <a:srgbClr val="C00000"/>
                </a:solidFill>
                <a:ea typeface="宋体" panose="02010600030101010101" pitchFamily="2" charset="-122"/>
              </a:rPr>
              <a:t>（通过放置一个充当链接的中间件来分离两个类或其他系统组件的原则）</a:t>
            </a:r>
            <a:endParaRPr lang="en-US" altLang="zh-CN" sz="2400" u="sng" dirty="0">
              <a:solidFill>
                <a:srgbClr val="C00000"/>
              </a:solidFill>
              <a:ea typeface="宋体" panose="02010600030101010101" pitchFamily="2" charset="-122"/>
            </a:endParaRPr>
          </a:p>
          <a:p>
            <a:pPr lvl="1" eaLnBrk="1" hangingPunct="1"/>
            <a:r>
              <a:rPr lang="en-US" altLang="zh-CN" sz="2400" dirty="0">
                <a:ea typeface="宋体" panose="02010600030101010101" pitchFamily="2" charset="-122"/>
              </a:rPr>
              <a:t>A </a:t>
            </a:r>
            <a:r>
              <a:rPr lang="en-US" altLang="zh-CN" sz="2400" u="sng" dirty="0">
                <a:ea typeface="宋体" panose="02010600030101010101" pitchFamily="2" charset="-122"/>
              </a:rPr>
              <a:t>controller class</a:t>
            </a:r>
            <a:r>
              <a:rPr lang="zh-CN" altLang="en-US" sz="2400" u="sng" dirty="0">
                <a:ea typeface="宋体" panose="02010600030101010101" pitchFamily="2" charset="-122"/>
              </a:rPr>
              <a:t>（控制器类）</a:t>
            </a:r>
            <a:r>
              <a:rPr lang="en-US" altLang="zh-CN" sz="2400" dirty="0">
                <a:ea typeface="宋体" panose="02010600030101010101" pitchFamily="2" charset="-122"/>
              </a:rPr>
              <a:t> between UI classes and problem domain classes is an example  </a:t>
            </a:r>
          </a:p>
          <a:p>
            <a:pPr lvl="1" eaLnBrk="1" hangingPunct="1"/>
            <a:r>
              <a:rPr lang="en-US" altLang="zh-CN" sz="2400" dirty="0">
                <a:ea typeface="宋体" panose="02010600030101010101" pitchFamily="2" charset="-122"/>
              </a:rPr>
              <a:t>Supports low coupling</a:t>
            </a:r>
            <a:r>
              <a:rPr lang="zh-CN" altLang="en-US" sz="2400" dirty="0">
                <a:ea typeface="宋体" panose="02010600030101010101" pitchFamily="2" charset="-122"/>
              </a:rPr>
              <a:t>（支持低耦合）</a:t>
            </a:r>
            <a:endParaRPr lang="en-US" altLang="zh-CN" sz="2400" dirty="0">
              <a:ea typeface="宋体" panose="02010600030101010101" pitchFamily="2" charset="-122"/>
            </a:endParaRPr>
          </a:p>
          <a:p>
            <a:pPr lvl="1" eaLnBrk="1" hangingPunct="1"/>
            <a:r>
              <a:rPr lang="en-US" altLang="zh-CN" sz="2400" dirty="0">
                <a:ea typeface="宋体" panose="02010600030101010101" pitchFamily="2" charset="-122"/>
              </a:rPr>
              <a:t>Indirection is used to support security by directing messages to an intermediate class as in a firewall</a:t>
            </a:r>
            <a:r>
              <a:rPr lang="zh-CN" altLang="en-US" sz="2400" dirty="0">
                <a:ea typeface="宋体" panose="02010600030101010101" pitchFamily="2" charset="-122"/>
              </a:rPr>
              <a:t>（通过将消息定向到防火墙中的中间类来支持安全性）</a:t>
            </a:r>
            <a:endParaRPr lang="en-US" altLang="zh-CN" sz="2400" b="1" dirty="0">
              <a:ea typeface="宋体" panose="02010600030101010101" pitchFamily="2" charset="-122"/>
            </a:endParaRPr>
          </a:p>
          <a:p>
            <a:pPr eaLnBrk="1" hangingPunct="1"/>
            <a:endParaRPr lang="en-US" altLang="zh-CN" sz="2800" dirty="0">
              <a:ea typeface="宋体" panose="02010600030101010101" pitchFamily="2" charset="-122"/>
            </a:endParaRPr>
          </a:p>
        </p:txBody>
      </p:sp>
      <p:sp>
        <p:nvSpPr>
          <p:cNvPr id="47109" name="Footer Placeholder 4">
            <a:extLst>
              <a:ext uri="{FF2B5EF4-FFF2-40B4-BE49-F238E27FC236}">
                <a16:creationId xmlns:a16="http://schemas.microsoft.com/office/drawing/2014/main" id="{899128D5-278A-40F0-9167-7B1C99D722A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47110" name="Rectangle 4">
            <a:extLst>
              <a:ext uri="{FF2B5EF4-FFF2-40B4-BE49-F238E27FC236}">
                <a16:creationId xmlns:a16="http://schemas.microsoft.com/office/drawing/2014/main" id="{1FF4BA09-1B27-4726-96A2-23451D014A78}"/>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10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10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5">
            <a:extLst>
              <a:ext uri="{FF2B5EF4-FFF2-40B4-BE49-F238E27FC236}">
                <a16:creationId xmlns:a16="http://schemas.microsoft.com/office/drawing/2014/main" id="{9C8C9AB4-E75E-44DB-9939-B3C6DA785FA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6C1ABBF9-6930-4BA9-AB50-63FD4A482B76}" type="slidenum">
              <a:rPr lang="en-US" altLang="en-US" sz="1000"/>
              <a:pPr>
                <a:spcBef>
                  <a:spcPct val="0"/>
                </a:spcBef>
                <a:buClrTx/>
                <a:buSzTx/>
                <a:buFontTx/>
                <a:buNone/>
              </a:pPr>
              <a:t>59</a:t>
            </a:fld>
            <a:endParaRPr lang="en-US" altLang="en-US" sz="1000"/>
          </a:p>
        </p:txBody>
      </p:sp>
      <p:sp>
        <p:nvSpPr>
          <p:cNvPr id="48131" name="Rectangle 2">
            <a:extLst>
              <a:ext uri="{FF2B5EF4-FFF2-40B4-BE49-F238E27FC236}">
                <a16:creationId xmlns:a16="http://schemas.microsoft.com/office/drawing/2014/main" id="{3FE74E21-5EF4-40D7-AEDB-2BD79DF20F6C}"/>
              </a:ext>
            </a:extLst>
          </p:cNvPr>
          <p:cNvSpPr>
            <a:spLocks noGrp="1" noChangeArrowheads="1"/>
          </p:cNvSpPr>
          <p:nvPr>
            <p:ph type="title"/>
          </p:nvPr>
        </p:nvSpPr>
        <p:spPr>
          <a:xfrm>
            <a:off x="304800" y="122238"/>
            <a:ext cx="7696200" cy="792162"/>
          </a:xfrm>
        </p:spPr>
        <p:txBody>
          <a:bodyPr/>
          <a:lstStyle/>
          <a:p>
            <a:pPr eaLnBrk="1" hangingPunct="1"/>
            <a:r>
              <a:rPr lang="en-US" altLang="zh-CN" sz="3600">
                <a:ea typeface="宋体" panose="02010600030101010101" pitchFamily="2" charset="-122"/>
              </a:rPr>
              <a:t>Fundamental Design Principles</a:t>
            </a:r>
          </a:p>
        </p:txBody>
      </p:sp>
      <p:sp>
        <p:nvSpPr>
          <p:cNvPr id="48132" name="Rectangle 3">
            <a:extLst>
              <a:ext uri="{FF2B5EF4-FFF2-40B4-BE49-F238E27FC236}">
                <a16:creationId xmlns:a16="http://schemas.microsoft.com/office/drawing/2014/main" id="{85E4773A-82F0-4A95-AE9A-8DF988AA7051}"/>
              </a:ext>
            </a:extLst>
          </p:cNvPr>
          <p:cNvSpPr>
            <a:spLocks noGrp="1" noChangeArrowheads="1"/>
          </p:cNvSpPr>
          <p:nvPr>
            <p:ph type="body" idx="1"/>
          </p:nvPr>
        </p:nvSpPr>
        <p:spPr>
          <a:xfrm>
            <a:off x="152400" y="914400"/>
            <a:ext cx="8686800" cy="5105400"/>
          </a:xfrm>
        </p:spPr>
        <p:txBody>
          <a:bodyPr/>
          <a:lstStyle/>
          <a:p>
            <a:pPr eaLnBrk="1" hangingPunct="1">
              <a:lnSpc>
                <a:spcPct val="90000"/>
              </a:lnSpc>
            </a:pPr>
            <a:r>
              <a:rPr lang="en-US" altLang="zh-CN" sz="3200" dirty="0">
                <a:ea typeface="宋体" panose="02010600030101010101" pitchFamily="2" charset="-122"/>
              </a:rPr>
              <a:t>Object Responsibility</a:t>
            </a:r>
            <a:r>
              <a:rPr lang="zh-CN" altLang="en-US" sz="3200" dirty="0">
                <a:ea typeface="宋体" panose="02010600030101010101" pitchFamily="2" charset="-122"/>
              </a:rPr>
              <a:t>（对象职责）</a:t>
            </a:r>
            <a:endParaRPr lang="en-US" altLang="zh-CN" sz="3200" dirty="0">
              <a:ea typeface="宋体" panose="02010600030101010101" pitchFamily="2" charset="-122"/>
            </a:endParaRPr>
          </a:p>
          <a:p>
            <a:pPr lvl="1" eaLnBrk="1" hangingPunct="1">
              <a:lnSpc>
                <a:spcPct val="90000"/>
              </a:lnSpc>
            </a:pPr>
            <a:r>
              <a:rPr lang="en-US" altLang="zh-CN" sz="2200" dirty="0">
                <a:ea typeface="宋体" panose="02010600030101010101" pitchFamily="2" charset="-122"/>
              </a:rPr>
              <a:t>A design principle that states </a:t>
            </a:r>
            <a:r>
              <a:rPr lang="en-US" altLang="zh-CN" sz="2200" u="sng" dirty="0">
                <a:solidFill>
                  <a:srgbClr val="C00000"/>
                </a:solidFill>
                <a:ea typeface="宋体" panose="02010600030101010101" pitchFamily="2" charset="-122"/>
              </a:rPr>
              <a:t>objects</a:t>
            </a:r>
            <a:r>
              <a:rPr lang="zh-CN" altLang="en-US" sz="2200" u="sng" dirty="0">
                <a:solidFill>
                  <a:srgbClr val="C00000"/>
                </a:solidFill>
                <a:ea typeface="宋体" panose="02010600030101010101" pitchFamily="2" charset="-122"/>
              </a:rPr>
              <a:t>（对象）</a:t>
            </a:r>
            <a:r>
              <a:rPr lang="en-US" altLang="zh-CN" sz="2200" dirty="0">
                <a:ea typeface="宋体" panose="02010600030101010101" pitchFamily="2" charset="-122"/>
              </a:rPr>
              <a:t> are responsible for carrying out system processing</a:t>
            </a:r>
          </a:p>
          <a:p>
            <a:pPr lvl="1" eaLnBrk="1" hangingPunct="1">
              <a:lnSpc>
                <a:spcPct val="90000"/>
              </a:lnSpc>
            </a:pPr>
            <a:r>
              <a:rPr lang="en-US" altLang="zh-CN" sz="2200" dirty="0">
                <a:ea typeface="宋体" panose="02010600030101010101" pitchFamily="2" charset="-122"/>
              </a:rPr>
              <a:t>Responsibilities include </a:t>
            </a:r>
            <a:r>
              <a:rPr lang="en-US" altLang="zh-CN" sz="2200" dirty="0">
                <a:solidFill>
                  <a:srgbClr val="C00000"/>
                </a:solidFill>
                <a:ea typeface="宋体" panose="02010600030101010101" pitchFamily="2" charset="-122"/>
              </a:rPr>
              <a:t>“knowing” </a:t>
            </a:r>
            <a:r>
              <a:rPr lang="en-US" altLang="zh-CN" sz="2200" dirty="0">
                <a:ea typeface="宋体" panose="02010600030101010101" pitchFamily="2" charset="-122"/>
              </a:rPr>
              <a:t>and </a:t>
            </a:r>
            <a:r>
              <a:rPr lang="en-US" altLang="zh-CN" sz="2200" dirty="0">
                <a:solidFill>
                  <a:srgbClr val="C00000"/>
                </a:solidFill>
                <a:ea typeface="宋体" panose="02010600030101010101" pitchFamily="2" charset="-122"/>
              </a:rPr>
              <a:t>“doing” </a:t>
            </a:r>
            <a:r>
              <a:rPr lang="zh-CN" altLang="en-US" sz="2200" dirty="0">
                <a:solidFill>
                  <a:srgbClr val="C00000"/>
                </a:solidFill>
                <a:ea typeface="宋体" panose="02010600030101010101" pitchFamily="2" charset="-122"/>
              </a:rPr>
              <a:t>（职责分为“认识”和“行动”）</a:t>
            </a:r>
            <a:endParaRPr lang="en-US" altLang="zh-CN" sz="2200" dirty="0">
              <a:solidFill>
                <a:srgbClr val="C00000"/>
              </a:solidFill>
              <a:ea typeface="宋体" panose="02010600030101010101" pitchFamily="2" charset="-122"/>
            </a:endParaRPr>
          </a:p>
          <a:p>
            <a:pPr lvl="1" eaLnBrk="1" hangingPunct="1">
              <a:lnSpc>
                <a:spcPct val="90000"/>
              </a:lnSpc>
            </a:pPr>
            <a:r>
              <a:rPr lang="en-US" altLang="zh-CN" sz="2200" dirty="0">
                <a:ea typeface="宋体" panose="02010600030101010101" pitchFamily="2" charset="-122"/>
              </a:rPr>
              <a:t>Objects know about other </a:t>
            </a:r>
            <a:r>
              <a:rPr lang="en-US" altLang="zh-CN" sz="2200" u="sng" dirty="0">
                <a:ea typeface="宋体" panose="02010600030101010101" pitchFamily="2" charset="-122"/>
              </a:rPr>
              <a:t>objects</a:t>
            </a:r>
            <a:r>
              <a:rPr lang="en-US" altLang="zh-CN" sz="2200" dirty="0">
                <a:ea typeface="宋体" panose="02010600030101010101" pitchFamily="2" charset="-122"/>
              </a:rPr>
              <a:t> (associations) and they know about their </a:t>
            </a:r>
            <a:r>
              <a:rPr lang="en-US" altLang="zh-CN" sz="2200" u="sng" dirty="0">
                <a:ea typeface="宋体" panose="02010600030101010101" pitchFamily="2" charset="-122"/>
              </a:rPr>
              <a:t>attribute values</a:t>
            </a:r>
            <a:r>
              <a:rPr lang="en-US" altLang="zh-CN" sz="2200" dirty="0">
                <a:ea typeface="宋体" panose="02010600030101010101" pitchFamily="2" charset="-122"/>
              </a:rPr>
              <a:t>. </a:t>
            </a:r>
            <a:r>
              <a:rPr lang="zh-CN" altLang="en-US" sz="2200" dirty="0">
                <a:ea typeface="宋体" panose="02010600030101010101" pitchFamily="2" charset="-122"/>
              </a:rPr>
              <a:t>（对象知道其他关联）</a:t>
            </a:r>
            <a:endParaRPr lang="en-US" altLang="zh-CN" sz="2200" dirty="0">
              <a:ea typeface="宋体" panose="02010600030101010101" pitchFamily="2" charset="-122"/>
            </a:endParaRPr>
          </a:p>
          <a:p>
            <a:pPr lvl="1" eaLnBrk="1" hangingPunct="1">
              <a:lnSpc>
                <a:spcPct val="90000"/>
              </a:lnSpc>
            </a:pPr>
            <a:r>
              <a:rPr lang="en-US" altLang="zh-CN" sz="2200" dirty="0">
                <a:ea typeface="宋体" panose="02010600030101010101" pitchFamily="2" charset="-122"/>
              </a:rPr>
              <a:t>Objects know </a:t>
            </a:r>
            <a:r>
              <a:rPr lang="en-US" altLang="zh-CN" sz="2200" u="sng" dirty="0">
                <a:ea typeface="宋体" panose="02010600030101010101" pitchFamily="2" charset="-122"/>
              </a:rPr>
              <a:t>how to carry out methods</a:t>
            </a:r>
            <a:r>
              <a:rPr lang="en-US" altLang="zh-CN" sz="2200" dirty="0">
                <a:ea typeface="宋体" panose="02010600030101010101" pitchFamily="2" charset="-122"/>
              </a:rPr>
              <a:t>, do what they are asked to do. </a:t>
            </a:r>
            <a:r>
              <a:rPr lang="zh-CN" altLang="en-US" sz="2200" dirty="0">
                <a:ea typeface="宋体" panose="02010600030101010101" pitchFamily="2" charset="-122"/>
              </a:rPr>
              <a:t>（对象知道如何执行方法）</a:t>
            </a:r>
            <a:endParaRPr lang="en-US" altLang="zh-CN" sz="2200" dirty="0">
              <a:ea typeface="宋体" panose="02010600030101010101" pitchFamily="2" charset="-122"/>
            </a:endParaRPr>
          </a:p>
          <a:p>
            <a:pPr lvl="1" eaLnBrk="1" hangingPunct="1">
              <a:lnSpc>
                <a:spcPct val="90000"/>
              </a:lnSpc>
            </a:pPr>
            <a:r>
              <a:rPr lang="zh-CN" altLang="en-US" sz="2200" dirty="0">
                <a:ea typeface="宋体" panose="02010600030101010101" pitchFamily="2" charset="-122"/>
              </a:rPr>
              <a:t> 一个对象应该具有对向它提供信息的对象的导航可见性</a:t>
            </a:r>
            <a:endParaRPr lang="en-US" altLang="zh-CN" sz="2200" dirty="0">
              <a:ea typeface="宋体" panose="02010600030101010101" pitchFamily="2" charset="-122"/>
            </a:endParaRPr>
          </a:p>
          <a:p>
            <a:pPr lvl="1" eaLnBrk="1" hangingPunct="1">
              <a:lnSpc>
                <a:spcPct val="90000"/>
              </a:lnSpc>
            </a:pPr>
            <a:endParaRPr lang="en-US" altLang="zh-CN" sz="2200" dirty="0">
              <a:ea typeface="宋体" panose="02010600030101010101" pitchFamily="2" charset="-122"/>
            </a:endParaRPr>
          </a:p>
          <a:p>
            <a:pPr lvl="1" eaLnBrk="1" hangingPunct="1">
              <a:lnSpc>
                <a:spcPct val="90000"/>
              </a:lnSpc>
            </a:pPr>
            <a:endParaRPr lang="en-US" altLang="zh-CN" sz="2200" dirty="0">
              <a:ea typeface="宋体" panose="02010600030101010101" pitchFamily="2" charset="-122"/>
            </a:endParaRPr>
          </a:p>
        </p:txBody>
      </p:sp>
      <p:sp>
        <p:nvSpPr>
          <p:cNvPr id="48133" name="Footer Placeholder 4">
            <a:extLst>
              <a:ext uri="{FF2B5EF4-FFF2-40B4-BE49-F238E27FC236}">
                <a16:creationId xmlns:a16="http://schemas.microsoft.com/office/drawing/2014/main" id="{534D88F2-B942-44C7-BEE7-53736A91A17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48134" name="Rectangle 4">
            <a:extLst>
              <a:ext uri="{FF2B5EF4-FFF2-40B4-BE49-F238E27FC236}">
                <a16:creationId xmlns:a16="http://schemas.microsoft.com/office/drawing/2014/main" id="{33D0D329-234E-4373-B8FB-FACEC9C9EDA8}"/>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13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132">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8132">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813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5">
            <a:extLst>
              <a:ext uri="{FF2B5EF4-FFF2-40B4-BE49-F238E27FC236}">
                <a16:creationId xmlns:a16="http://schemas.microsoft.com/office/drawing/2014/main" id="{1101E1A6-73BF-4B7F-B956-58FD6BD9CA9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A09EEC30-EEFA-4FD1-B0BB-7A116A7116B8}" type="slidenum">
              <a:rPr lang="en-US" altLang="en-US" sz="1000"/>
              <a:pPr>
                <a:spcBef>
                  <a:spcPct val="0"/>
                </a:spcBef>
                <a:buClrTx/>
                <a:buSzTx/>
                <a:buFontTx/>
                <a:buNone/>
              </a:pPr>
              <a:t>60</a:t>
            </a:fld>
            <a:endParaRPr lang="en-US" altLang="en-US" sz="1000"/>
          </a:p>
        </p:txBody>
      </p:sp>
      <p:sp>
        <p:nvSpPr>
          <p:cNvPr id="49155" name="Rectangle 2">
            <a:extLst>
              <a:ext uri="{FF2B5EF4-FFF2-40B4-BE49-F238E27FC236}">
                <a16:creationId xmlns:a16="http://schemas.microsoft.com/office/drawing/2014/main" id="{343B05CF-6C59-47CC-A4CE-8582F24965C3}"/>
              </a:ext>
            </a:extLst>
          </p:cNvPr>
          <p:cNvSpPr>
            <a:spLocks noGrp="1" noChangeArrowheads="1"/>
          </p:cNvSpPr>
          <p:nvPr>
            <p:ph type="title"/>
          </p:nvPr>
        </p:nvSpPr>
        <p:spPr>
          <a:xfrm>
            <a:off x="457200" y="122238"/>
            <a:ext cx="7543800" cy="868362"/>
          </a:xfrm>
        </p:spPr>
        <p:txBody>
          <a:bodyPr/>
          <a:lstStyle/>
          <a:p>
            <a:pPr eaLnBrk="1" hangingPunct="1"/>
            <a:r>
              <a:rPr lang="en-US" altLang="zh-CN">
                <a:ea typeface="宋体" panose="02010600030101010101" pitchFamily="2" charset="-122"/>
              </a:rPr>
              <a:t>Summary</a:t>
            </a:r>
            <a:endParaRPr lang="en-US" altLang="zh-CN" sz="2000">
              <a:ea typeface="宋体" panose="02010600030101010101" pitchFamily="2" charset="-122"/>
            </a:endParaRPr>
          </a:p>
        </p:txBody>
      </p:sp>
      <p:sp>
        <p:nvSpPr>
          <p:cNvPr id="49156" name="Rectangle 3">
            <a:extLst>
              <a:ext uri="{FF2B5EF4-FFF2-40B4-BE49-F238E27FC236}">
                <a16:creationId xmlns:a16="http://schemas.microsoft.com/office/drawing/2014/main" id="{4AAEFC09-7FD0-432E-9F40-E4AE619B9383}"/>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ea typeface="宋体" panose="02010600030101010101" pitchFamily="2" charset="-122"/>
            </a:endParaRPr>
          </a:p>
          <a:p>
            <a:pPr marL="571500" indent="-571500" eaLnBrk="1" hangingPunct="1"/>
            <a:endParaRPr lang="en-GB" altLang="zh-CN" sz="3200">
              <a:ea typeface="宋体" panose="02010600030101010101" pitchFamily="2" charset="-122"/>
            </a:endParaRPr>
          </a:p>
        </p:txBody>
      </p:sp>
      <p:sp>
        <p:nvSpPr>
          <p:cNvPr id="49157" name="Rectangle 4">
            <a:extLst>
              <a:ext uri="{FF2B5EF4-FFF2-40B4-BE49-F238E27FC236}">
                <a16:creationId xmlns:a16="http://schemas.microsoft.com/office/drawing/2014/main" id="{9EF0501C-CF1C-4C2C-8CB6-FBFB54AB8A4B}"/>
              </a:ext>
            </a:extLst>
          </p:cNvPr>
          <p:cNvSpPr>
            <a:spLocks noChangeArrowheads="1"/>
          </p:cNvSpPr>
          <p:nvPr/>
        </p:nvSpPr>
        <p:spPr bwMode="auto">
          <a:xfrm>
            <a:off x="609600" y="1143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buFont typeface="Wingdings" panose="05000000000000000000" pitchFamily="2" charset="2"/>
              <a:buNone/>
            </a:pPr>
            <a:endParaRPr lang="en-GB" altLang="zh-CN" sz="2400">
              <a:ea typeface="宋体" panose="02010600030101010101" pitchFamily="2" charset="-122"/>
            </a:endParaRPr>
          </a:p>
        </p:txBody>
      </p:sp>
      <p:sp>
        <p:nvSpPr>
          <p:cNvPr id="49158" name="Rectangle 5">
            <a:extLst>
              <a:ext uri="{FF2B5EF4-FFF2-40B4-BE49-F238E27FC236}">
                <a16:creationId xmlns:a16="http://schemas.microsoft.com/office/drawing/2014/main" id="{40596D81-6A7E-489D-8CD2-464B1EC44089}"/>
              </a:ext>
            </a:extLst>
          </p:cNvPr>
          <p:cNvSpPr>
            <a:spLocks noChangeArrowheads="1"/>
          </p:cNvSpPr>
          <p:nvPr/>
        </p:nvSpPr>
        <p:spPr bwMode="auto">
          <a:xfrm>
            <a:off x="533400" y="12192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zh-CN" sz="2600">
              <a:ea typeface="宋体" panose="02010600030101010101" pitchFamily="2" charset="-122"/>
            </a:endParaRPr>
          </a:p>
        </p:txBody>
      </p:sp>
      <p:sp>
        <p:nvSpPr>
          <p:cNvPr id="49159" name="Rectangle 6">
            <a:extLst>
              <a:ext uri="{FF2B5EF4-FFF2-40B4-BE49-F238E27FC236}">
                <a16:creationId xmlns:a16="http://schemas.microsoft.com/office/drawing/2014/main" id="{12FAB807-4D9C-4777-9A61-65ED7A0F572A}"/>
              </a:ext>
            </a:extLst>
          </p:cNvPr>
          <p:cNvSpPr>
            <a:spLocks noChangeArrowheads="1"/>
          </p:cNvSpPr>
          <p:nvPr/>
        </p:nvSpPr>
        <p:spPr bwMode="auto">
          <a:xfrm>
            <a:off x="304800" y="1219200"/>
            <a:ext cx="82296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zh-CN" sz="3200">
              <a:ea typeface="宋体" panose="02010600030101010101" pitchFamily="2" charset="-122"/>
            </a:endParaRPr>
          </a:p>
        </p:txBody>
      </p:sp>
      <p:sp>
        <p:nvSpPr>
          <p:cNvPr id="49160" name="Rectangle 7">
            <a:extLst>
              <a:ext uri="{FF2B5EF4-FFF2-40B4-BE49-F238E27FC236}">
                <a16:creationId xmlns:a16="http://schemas.microsoft.com/office/drawing/2014/main" id="{596080E8-2A48-4512-90D5-B1F65B914CE5}"/>
              </a:ext>
            </a:extLst>
          </p:cNvPr>
          <p:cNvSpPr>
            <a:spLocks noChangeArrowheads="1"/>
          </p:cNvSpPr>
          <p:nvPr/>
        </p:nvSpPr>
        <p:spPr bwMode="auto">
          <a:xfrm>
            <a:off x="457200" y="1066800"/>
            <a:ext cx="74676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r>
              <a:rPr lang="en-US" altLang="zh-CN" sz="2000" dirty="0">
                <a:ea typeface="宋体" panose="02010600030101010101" pitchFamily="2" charset="-122"/>
              </a:rPr>
              <a:t>This chapter focused on designing software that solves business problems by </a:t>
            </a:r>
            <a:r>
              <a:rPr lang="en-US" altLang="zh-CN" sz="2000" u="sng" dirty="0">
                <a:ea typeface="宋体" panose="02010600030101010101" pitchFamily="2" charset="-122"/>
              </a:rPr>
              <a:t>bridging the gap between analysis and implementation.</a:t>
            </a:r>
            <a:r>
              <a:rPr lang="zh-CN" altLang="en-US" sz="2000" u="sng" dirty="0">
                <a:ea typeface="宋体" panose="02010600030101010101" pitchFamily="2" charset="-122"/>
              </a:rPr>
              <a:t>（弥合分析和实现）</a:t>
            </a:r>
            <a:endParaRPr lang="en-US" altLang="zh-CN" sz="2000" u="sng" dirty="0">
              <a:ea typeface="宋体" panose="02010600030101010101" pitchFamily="2" charset="-122"/>
            </a:endParaRPr>
          </a:p>
          <a:p>
            <a:pPr eaLnBrk="1" hangingPunct="1"/>
            <a:r>
              <a:rPr lang="en-US" altLang="zh-CN" sz="2000" u="sng" dirty="0">
                <a:ea typeface="宋体" panose="02010600030101010101" pitchFamily="2" charset="-122"/>
              </a:rPr>
              <a:t>Architectural design is the first step</a:t>
            </a:r>
            <a:r>
              <a:rPr lang="en-US" altLang="zh-CN" sz="2000" dirty="0">
                <a:ea typeface="宋体" panose="02010600030101010101" pitchFamily="2" charset="-122"/>
              </a:rPr>
              <a:t>, and the UML component diagram is used to model the main components and application program interfaces (API)</a:t>
            </a:r>
            <a:r>
              <a:rPr lang="zh-CN" altLang="en-US" sz="2000" dirty="0">
                <a:ea typeface="宋体" panose="02010600030101010101" pitchFamily="2" charset="-122"/>
              </a:rPr>
              <a:t>（架构设计是第一步，</a:t>
            </a:r>
            <a:r>
              <a:rPr lang="en-US" altLang="zh-CN" sz="2000" dirty="0">
                <a:ea typeface="宋体" panose="02010600030101010101" pitchFamily="2" charset="-122"/>
              </a:rPr>
              <a:t>UML</a:t>
            </a:r>
            <a:r>
              <a:rPr lang="zh-CN" altLang="en-US" sz="2000" dirty="0">
                <a:ea typeface="宋体" panose="02010600030101010101" pitchFamily="2" charset="-122"/>
              </a:rPr>
              <a:t>组件图用于对主要组件和应用程序编程接口</a:t>
            </a:r>
            <a:r>
              <a:rPr lang="en-US" altLang="zh-CN" sz="2000" dirty="0">
                <a:ea typeface="宋体" panose="02010600030101010101" pitchFamily="2" charset="-122"/>
              </a:rPr>
              <a:t>(API)</a:t>
            </a:r>
            <a:r>
              <a:rPr lang="zh-CN" altLang="en-US" sz="2000" dirty="0">
                <a:ea typeface="宋体" panose="02010600030101010101" pitchFamily="2" charset="-122"/>
              </a:rPr>
              <a:t>建模）</a:t>
            </a:r>
            <a:endParaRPr lang="en-US" altLang="zh-CN" sz="2000" dirty="0">
              <a:ea typeface="宋体" panose="02010600030101010101" pitchFamily="2" charset="-122"/>
            </a:endParaRPr>
          </a:p>
          <a:p>
            <a:pPr eaLnBrk="1" hangingPunct="1"/>
            <a:r>
              <a:rPr lang="en-US" altLang="zh-CN" sz="2000" u="sng" dirty="0">
                <a:ea typeface="宋体" panose="02010600030101010101" pitchFamily="2" charset="-122"/>
              </a:rPr>
              <a:t>Detail design of software proceeds use case by use case</a:t>
            </a:r>
            <a:r>
              <a:rPr lang="en-US" altLang="zh-CN" sz="2000" dirty="0">
                <a:ea typeface="宋体" panose="02010600030101010101" pitchFamily="2" charset="-122"/>
              </a:rPr>
              <a:t>, sometimes called “use case driven” and the design of each use case is called use case realization.</a:t>
            </a:r>
            <a:r>
              <a:rPr lang="zh-CN" altLang="en-US" sz="2000" dirty="0">
                <a:ea typeface="宋体" panose="02010600030101010101" pitchFamily="2" charset="-122"/>
              </a:rPr>
              <a:t>（软件的详细设计是一个用例接一个用例进行的，有时称为“用例驱动”，每个用例的设计称为用例实现）</a:t>
            </a:r>
            <a:endParaRPr lang="en-US" altLang="zh-CN" sz="2000" dirty="0">
              <a:ea typeface="宋体" panose="02010600030101010101" pitchFamily="2" charset="-122"/>
            </a:endParaRPr>
          </a:p>
          <a:p>
            <a:pPr eaLnBrk="1" hangingPunct="1"/>
            <a:r>
              <a:rPr lang="en-US" altLang="zh-CN" sz="2000" dirty="0">
                <a:ea typeface="宋体" panose="02010600030101010101" pitchFamily="2" charset="-122"/>
              </a:rPr>
              <a:t>Detailed design models used are design </a:t>
            </a:r>
            <a:r>
              <a:rPr lang="en-US" altLang="zh-CN" sz="2000" u="sng" dirty="0">
                <a:ea typeface="宋体" panose="02010600030101010101" pitchFamily="2" charset="-122"/>
              </a:rPr>
              <a:t>class diagrams </a:t>
            </a:r>
            <a:r>
              <a:rPr lang="en-US" altLang="zh-CN" sz="2000" dirty="0">
                <a:ea typeface="宋体" panose="02010600030101010101" pitchFamily="2" charset="-122"/>
              </a:rPr>
              <a:t>and </a:t>
            </a:r>
            <a:r>
              <a:rPr lang="en-US" altLang="zh-CN" sz="2000" u="sng" dirty="0">
                <a:ea typeface="宋体" panose="02010600030101010101" pitchFamily="2" charset="-122"/>
              </a:rPr>
              <a:t>sequence diagrams. </a:t>
            </a:r>
            <a:r>
              <a:rPr lang="zh-CN" altLang="en-US" sz="2000" u="sng" dirty="0">
                <a:ea typeface="宋体" panose="02010600030101010101" pitchFamily="2" charset="-122"/>
              </a:rPr>
              <a:t>（详细设计模型使用的是设计类图和顺序图）</a:t>
            </a:r>
            <a:endParaRPr lang="en-US" altLang="zh-CN" sz="2000" u="sng" dirty="0">
              <a:ea typeface="宋体" panose="02010600030101010101" pitchFamily="2" charset="-122"/>
            </a:endParaRPr>
          </a:p>
        </p:txBody>
      </p:sp>
      <p:sp>
        <p:nvSpPr>
          <p:cNvPr id="49161" name="Footer Placeholder 4">
            <a:extLst>
              <a:ext uri="{FF2B5EF4-FFF2-40B4-BE49-F238E27FC236}">
                <a16:creationId xmlns:a16="http://schemas.microsoft.com/office/drawing/2014/main" id="{A810CC73-5529-4335-BB87-244E28BC757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49162" name="Rectangle 4">
            <a:extLst>
              <a:ext uri="{FF2B5EF4-FFF2-40B4-BE49-F238E27FC236}">
                <a16:creationId xmlns:a16="http://schemas.microsoft.com/office/drawing/2014/main" id="{C7248B3A-CCD4-4FE0-8AC4-D74A92B5530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16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16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16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5">
            <a:extLst>
              <a:ext uri="{FF2B5EF4-FFF2-40B4-BE49-F238E27FC236}">
                <a16:creationId xmlns:a16="http://schemas.microsoft.com/office/drawing/2014/main" id="{1101E1A6-73BF-4B7F-B956-58FD6BD9CA9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A09EEC30-EEFA-4FD1-B0BB-7A116A7116B8}" type="slidenum">
              <a:rPr lang="en-US" altLang="en-US" sz="1000"/>
              <a:pPr>
                <a:spcBef>
                  <a:spcPct val="0"/>
                </a:spcBef>
                <a:buClrTx/>
                <a:buSzTx/>
                <a:buFontTx/>
                <a:buNone/>
              </a:pPr>
              <a:t>61</a:t>
            </a:fld>
            <a:endParaRPr lang="en-US" altLang="en-US" sz="1000"/>
          </a:p>
        </p:txBody>
      </p:sp>
      <p:sp>
        <p:nvSpPr>
          <p:cNvPr id="49155" name="Rectangle 2">
            <a:extLst>
              <a:ext uri="{FF2B5EF4-FFF2-40B4-BE49-F238E27FC236}">
                <a16:creationId xmlns:a16="http://schemas.microsoft.com/office/drawing/2014/main" id="{343B05CF-6C59-47CC-A4CE-8582F24965C3}"/>
              </a:ext>
            </a:extLst>
          </p:cNvPr>
          <p:cNvSpPr>
            <a:spLocks noGrp="1" noChangeArrowheads="1"/>
          </p:cNvSpPr>
          <p:nvPr>
            <p:ph type="title"/>
          </p:nvPr>
        </p:nvSpPr>
        <p:spPr>
          <a:xfrm>
            <a:off x="457200" y="122238"/>
            <a:ext cx="7543800" cy="868362"/>
          </a:xfrm>
        </p:spPr>
        <p:txBody>
          <a:bodyPr/>
          <a:lstStyle/>
          <a:p>
            <a:pPr eaLnBrk="1" hangingPunct="1"/>
            <a:r>
              <a:rPr lang="en-US" altLang="zh-CN">
                <a:ea typeface="宋体" panose="02010600030101010101" pitchFamily="2" charset="-122"/>
              </a:rPr>
              <a:t>Summary</a:t>
            </a:r>
            <a:endParaRPr lang="en-US" altLang="zh-CN" sz="2000">
              <a:ea typeface="宋体" panose="02010600030101010101" pitchFamily="2" charset="-122"/>
            </a:endParaRPr>
          </a:p>
        </p:txBody>
      </p:sp>
      <p:sp>
        <p:nvSpPr>
          <p:cNvPr id="49156" name="Rectangle 3">
            <a:extLst>
              <a:ext uri="{FF2B5EF4-FFF2-40B4-BE49-F238E27FC236}">
                <a16:creationId xmlns:a16="http://schemas.microsoft.com/office/drawing/2014/main" id="{4AAEFC09-7FD0-432E-9F40-E4AE619B9383}"/>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ea typeface="宋体" panose="02010600030101010101" pitchFamily="2" charset="-122"/>
            </a:endParaRPr>
          </a:p>
          <a:p>
            <a:pPr marL="571500" indent="-571500" eaLnBrk="1" hangingPunct="1"/>
            <a:endParaRPr lang="en-GB" altLang="zh-CN" sz="3200">
              <a:ea typeface="宋体" panose="02010600030101010101" pitchFamily="2" charset="-122"/>
            </a:endParaRPr>
          </a:p>
        </p:txBody>
      </p:sp>
      <p:sp>
        <p:nvSpPr>
          <p:cNvPr id="49157" name="Rectangle 4">
            <a:extLst>
              <a:ext uri="{FF2B5EF4-FFF2-40B4-BE49-F238E27FC236}">
                <a16:creationId xmlns:a16="http://schemas.microsoft.com/office/drawing/2014/main" id="{9EF0501C-CF1C-4C2C-8CB6-FBFB54AB8A4B}"/>
              </a:ext>
            </a:extLst>
          </p:cNvPr>
          <p:cNvSpPr>
            <a:spLocks noChangeArrowheads="1"/>
          </p:cNvSpPr>
          <p:nvPr/>
        </p:nvSpPr>
        <p:spPr bwMode="auto">
          <a:xfrm>
            <a:off x="609600" y="1143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buFont typeface="Wingdings" panose="05000000000000000000" pitchFamily="2" charset="2"/>
              <a:buNone/>
            </a:pPr>
            <a:endParaRPr lang="en-GB" altLang="zh-CN" sz="2400">
              <a:ea typeface="宋体" panose="02010600030101010101" pitchFamily="2" charset="-122"/>
            </a:endParaRPr>
          </a:p>
        </p:txBody>
      </p:sp>
      <p:sp>
        <p:nvSpPr>
          <p:cNvPr id="49158" name="Rectangle 5">
            <a:extLst>
              <a:ext uri="{FF2B5EF4-FFF2-40B4-BE49-F238E27FC236}">
                <a16:creationId xmlns:a16="http://schemas.microsoft.com/office/drawing/2014/main" id="{40596D81-6A7E-489D-8CD2-464B1EC44089}"/>
              </a:ext>
            </a:extLst>
          </p:cNvPr>
          <p:cNvSpPr>
            <a:spLocks noChangeArrowheads="1"/>
          </p:cNvSpPr>
          <p:nvPr/>
        </p:nvSpPr>
        <p:spPr bwMode="auto">
          <a:xfrm>
            <a:off x="533400" y="12192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zh-CN" sz="2600">
              <a:ea typeface="宋体" panose="02010600030101010101" pitchFamily="2" charset="-122"/>
            </a:endParaRPr>
          </a:p>
        </p:txBody>
      </p:sp>
      <p:sp>
        <p:nvSpPr>
          <p:cNvPr id="49159" name="Rectangle 6">
            <a:extLst>
              <a:ext uri="{FF2B5EF4-FFF2-40B4-BE49-F238E27FC236}">
                <a16:creationId xmlns:a16="http://schemas.microsoft.com/office/drawing/2014/main" id="{12FAB807-4D9C-4777-9A61-65ED7A0F572A}"/>
              </a:ext>
            </a:extLst>
          </p:cNvPr>
          <p:cNvSpPr>
            <a:spLocks noChangeArrowheads="1"/>
          </p:cNvSpPr>
          <p:nvPr/>
        </p:nvSpPr>
        <p:spPr bwMode="auto">
          <a:xfrm>
            <a:off x="304800" y="1219200"/>
            <a:ext cx="82296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zh-CN" sz="3200">
              <a:ea typeface="宋体" panose="02010600030101010101" pitchFamily="2" charset="-122"/>
            </a:endParaRPr>
          </a:p>
        </p:txBody>
      </p:sp>
      <p:sp>
        <p:nvSpPr>
          <p:cNvPr id="49160" name="Rectangle 7">
            <a:extLst>
              <a:ext uri="{FF2B5EF4-FFF2-40B4-BE49-F238E27FC236}">
                <a16:creationId xmlns:a16="http://schemas.microsoft.com/office/drawing/2014/main" id="{596080E8-2A48-4512-90D5-B1F65B914CE5}"/>
              </a:ext>
            </a:extLst>
          </p:cNvPr>
          <p:cNvSpPr>
            <a:spLocks noChangeArrowheads="1"/>
          </p:cNvSpPr>
          <p:nvPr/>
        </p:nvSpPr>
        <p:spPr bwMode="auto">
          <a:xfrm>
            <a:off x="457200" y="1066800"/>
            <a:ext cx="74676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r>
              <a:rPr lang="en-US" altLang="zh-CN" sz="2000" dirty="0">
                <a:ea typeface="宋体" panose="02010600030101010101" pitchFamily="2" charset="-122"/>
              </a:rPr>
              <a:t>The design class diagram is developed is two steps: The first cut diagram is based on the </a:t>
            </a:r>
            <a:r>
              <a:rPr lang="en-US" altLang="zh-CN" sz="2000" u="sng" dirty="0">
                <a:ea typeface="宋体" panose="02010600030101010101" pitchFamily="2" charset="-122"/>
              </a:rPr>
              <a:t>domain model class diagram</a:t>
            </a:r>
            <a:r>
              <a:rPr lang="zh-CN" altLang="en-US" sz="2000" u="sng" dirty="0">
                <a:ea typeface="宋体" panose="02010600030101010101" pitchFamily="2" charset="-122"/>
              </a:rPr>
              <a:t>（设计类图）</a:t>
            </a:r>
            <a:r>
              <a:rPr lang="en-US" altLang="zh-CN" sz="2000" dirty="0">
                <a:ea typeface="宋体" panose="02010600030101010101" pitchFamily="2" charset="-122"/>
              </a:rPr>
              <a:t>, but then it is expanded as responsibilities are assigned and </a:t>
            </a:r>
            <a:r>
              <a:rPr lang="en-US" altLang="zh-CN" sz="2000" u="sng" dirty="0">
                <a:ea typeface="宋体" panose="02010600030101010101" pitchFamily="2" charset="-122"/>
              </a:rPr>
              <a:t>sequence diagrams</a:t>
            </a:r>
            <a:r>
              <a:rPr lang="zh-CN" altLang="en-US" sz="2000" u="sng" dirty="0">
                <a:ea typeface="宋体" panose="02010600030101010101" pitchFamily="2" charset="-122"/>
              </a:rPr>
              <a:t>（顺序图）</a:t>
            </a:r>
            <a:r>
              <a:rPr lang="en-US" altLang="zh-CN" sz="2000" u="sng" dirty="0">
                <a:ea typeface="宋体" panose="02010600030101010101" pitchFamily="2" charset="-122"/>
              </a:rPr>
              <a:t> </a:t>
            </a:r>
            <a:r>
              <a:rPr lang="en-US" altLang="zh-CN" sz="2000" dirty="0">
                <a:ea typeface="宋体" panose="02010600030101010101" pitchFamily="2" charset="-122"/>
              </a:rPr>
              <a:t>are developed.  </a:t>
            </a:r>
          </a:p>
          <a:p>
            <a:pPr eaLnBrk="1" hangingPunct="1"/>
            <a:r>
              <a:rPr lang="en-US" altLang="zh-CN" sz="2000" dirty="0">
                <a:ea typeface="宋体" panose="02010600030101010101" pitchFamily="2" charset="-122"/>
              </a:rPr>
              <a:t>Design class diagrams include additional notation because design classes are now </a:t>
            </a:r>
            <a:r>
              <a:rPr lang="en-US" altLang="zh-CN" sz="2000" u="sng" dirty="0">
                <a:ea typeface="宋体" panose="02010600030101010101" pitchFamily="2" charset="-122"/>
              </a:rPr>
              <a:t>software classes</a:t>
            </a:r>
            <a:r>
              <a:rPr lang="en-US" altLang="zh-CN" sz="2000" dirty="0">
                <a:ea typeface="宋体" panose="02010600030101010101" pitchFamily="2" charset="-122"/>
              </a:rPr>
              <a:t>, not just work concepts.</a:t>
            </a:r>
            <a:r>
              <a:rPr lang="zh-CN" altLang="en-US" sz="2000" dirty="0">
                <a:ea typeface="宋体" panose="02010600030101010101" pitchFamily="2" charset="-122"/>
              </a:rPr>
              <a:t>（设计类图包含了额外的标记，因为设计类现在是软件类，而不仅仅是工作概念）</a:t>
            </a:r>
            <a:endParaRPr lang="en-US" altLang="zh-CN" sz="2000" dirty="0">
              <a:ea typeface="宋体" panose="02010600030101010101" pitchFamily="2" charset="-122"/>
            </a:endParaRPr>
          </a:p>
          <a:p>
            <a:pPr eaLnBrk="1" hangingPunct="1"/>
            <a:r>
              <a:rPr lang="en-US" altLang="zh-CN" sz="2000" dirty="0">
                <a:ea typeface="宋体" panose="02010600030101010101" pitchFamily="2" charset="-122"/>
              </a:rPr>
              <a:t>Key issues are attribute elaboration and adding methods. Method signatures include </a:t>
            </a:r>
            <a:r>
              <a:rPr lang="en-US" altLang="zh-CN" sz="2000" u="sng" dirty="0">
                <a:ea typeface="宋体" panose="02010600030101010101" pitchFamily="2" charset="-122"/>
              </a:rPr>
              <a:t>visibility, method name, arguments, and return types.</a:t>
            </a:r>
            <a:r>
              <a:rPr lang="en-US" altLang="zh-CN" sz="2000" dirty="0">
                <a:ea typeface="宋体" panose="02010600030101010101" pitchFamily="2" charset="-122"/>
              </a:rPr>
              <a:t> </a:t>
            </a:r>
            <a:r>
              <a:rPr lang="zh-CN" altLang="en-US" sz="2000" dirty="0">
                <a:ea typeface="宋体" panose="02010600030101010101" pitchFamily="2" charset="-122"/>
              </a:rPr>
              <a:t>（关键问题是属性的细化和添加方法。方法签名包括可见性、方法名、参数和返回类型）</a:t>
            </a:r>
            <a:endParaRPr lang="en-US" altLang="zh-CN" sz="2000" dirty="0">
              <a:ea typeface="宋体" panose="02010600030101010101" pitchFamily="2" charset="-122"/>
            </a:endParaRPr>
          </a:p>
          <a:p>
            <a:pPr eaLnBrk="1" hangingPunct="1"/>
            <a:r>
              <a:rPr lang="en-US" altLang="zh-CN" sz="2000" dirty="0">
                <a:ea typeface="宋体" panose="02010600030101010101" pitchFamily="2" charset="-122"/>
              </a:rPr>
              <a:t>Other key terms are abstract vs. concrete classes, navigation visibility, and class level attributes and methods.</a:t>
            </a:r>
            <a:r>
              <a:rPr lang="zh-CN" altLang="en-US" sz="2000" dirty="0">
                <a:ea typeface="宋体" panose="02010600030101010101" pitchFamily="2" charset="-122"/>
              </a:rPr>
              <a:t>（其他关键问题包括抽象类与具体类、导航可见性以及类的属性和方法）</a:t>
            </a:r>
            <a:endParaRPr lang="en-US" altLang="zh-CN" sz="2000" dirty="0">
              <a:ea typeface="宋体" panose="02010600030101010101" pitchFamily="2" charset="-122"/>
            </a:endParaRPr>
          </a:p>
          <a:p>
            <a:pPr eaLnBrk="1" hangingPunct="1"/>
            <a:endParaRPr lang="en-US" altLang="zh-CN" sz="2000" dirty="0">
              <a:ea typeface="宋体" panose="02010600030101010101" pitchFamily="2" charset="-122"/>
            </a:endParaRPr>
          </a:p>
        </p:txBody>
      </p:sp>
      <p:sp>
        <p:nvSpPr>
          <p:cNvPr id="49161" name="Footer Placeholder 4">
            <a:extLst>
              <a:ext uri="{FF2B5EF4-FFF2-40B4-BE49-F238E27FC236}">
                <a16:creationId xmlns:a16="http://schemas.microsoft.com/office/drawing/2014/main" id="{A810CC73-5529-4335-BB87-244E28BC757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49162" name="Rectangle 4">
            <a:extLst>
              <a:ext uri="{FF2B5EF4-FFF2-40B4-BE49-F238E27FC236}">
                <a16:creationId xmlns:a16="http://schemas.microsoft.com/office/drawing/2014/main" id="{C7248B3A-CCD4-4FE0-8AC4-D74A92B5530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680414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16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16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16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916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5">
            <a:extLst>
              <a:ext uri="{FF2B5EF4-FFF2-40B4-BE49-F238E27FC236}">
                <a16:creationId xmlns:a16="http://schemas.microsoft.com/office/drawing/2014/main" id="{4CD7B173-7859-4F97-9089-B6D7F08C75D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FDD2ED38-33B8-4D44-840E-6492E345CFD2}" type="slidenum">
              <a:rPr lang="en-US" altLang="en-US" sz="1000"/>
              <a:pPr>
                <a:spcBef>
                  <a:spcPct val="0"/>
                </a:spcBef>
                <a:buClrTx/>
                <a:buSzTx/>
                <a:buFontTx/>
                <a:buNone/>
              </a:pPr>
              <a:t>62</a:t>
            </a:fld>
            <a:endParaRPr lang="en-US" altLang="en-US" sz="1000"/>
          </a:p>
        </p:txBody>
      </p:sp>
      <p:sp>
        <p:nvSpPr>
          <p:cNvPr id="50179" name="Rectangle 2">
            <a:extLst>
              <a:ext uri="{FF2B5EF4-FFF2-40B4-BE49-F238E27FC236}">
                <a16:creationId xmlns:a16="http://schemas.microsoft.com/office/drawing/2014/main" id="{DF4B1D87-C3BF-4009-9A23-C249E8EA4BFF}"/>
              </a:ext>
            </a:extLst>
          </p:cNvPr>
          <p:cNvSpPr>
            <a:spLocks noGrp="1" noChangeArrowheads="1"/>
          </p:cNvSpPr>
          <p:nvPr>
            <p:ph type="title"/>
          </p:nvPr>
        </p:nvSpPr>
        <p:spPr>
          <a:xfrm>
            <a:off x="457200" y="122238"/>
            <a:ext cx="7543800" cy="868362"/>
          </a:xfrm>
        </p:spPr>
        <p:txBody>
          <a:bodyPr/>
          <a:lstStyle/>
          <a:p>
            <a:pPr eaLnBrk="1" hangingPunct="1"/>
            <a:r>
              <a:rPr lang="en-US" altLang="zh-CN">
                <a:ea typeface="宋体" panose="02010600030101010101" pitchFamily="2" charset="-122"/>
              </a:rPr>
              <a:t>Summary </a:t>
            </a:r>
            <a:r>
              <a:rPr lang="en-US" altLang="zh-CN" sz="2800">
                <a:ea typeface="宋体" panose="02010600030101010101" pitchFamily="2" charset="-122"/>
              </a:rPr>
              <a:t>(continued)</a:t>
            </a:r>
          </a:p>
        </p:txBody>
      </p:sp>
      <p:sp>
        <p:nvSpPr>
          <p:cNvPr id="50180" name="Rectangle 3">
            <a:extLst>
              <a:ext uri="{FF2B5EF4-FFF2-40B4-BE49-F238E27FC236}">
                <a16:creationId xmlns:a16="http://schemas.microsoft.com/office/drawing/2014/main" id="{7AABB1C2-38F0-4FD3-9C34-911C4FC708AA}"/>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ea typeface="宋体" panose="02010600030101010101" pitchFamily="2" charset="-122"/>
            </a:endParaRPr>
          </a:p>
          <a:p>
            <a:pPr marL="571500" indent="-571500" eaLnBrk="1" hangingPunct="1"/>
            <a:endParaRPr lang="en-GB" altLang="zh-CN" sz="3200">
              <a:ea typeface="宋体" panose="02010600030101010101" pitchFamily="2" charset="-122"/>
            </a:endParaRPr>
          </a:p>
        </p:txBody>
      </p:sp>
      <p:sp>
        <p:nvSpPr>
          <p:cNvPr id="50181" name="Rectangle 4">
            <a:extLst>
              <a:ext uri="{FF2B5EF4-FFF2-40B4-BE49-F238E27FC236}">
                <a16:creationId xmlns:a16="http://schemas.microsoft.com/office/drawing/2014/main" id="{0AFFA8B0-C122-45E0-B066-69C06D4A8528}"/>
              </a:ext>
            </a:extLst>
          </p:cNvPr>
          <p:cNvSpPr>
            <a:spLocks noChangeArrowheads="1"/>
          </p:cNvSpPr>
          <p:nvPr/>
        </p:nvSpPr>
        <p:spPr bwMode="auto">
          <a:xfrm>
            <a:off x="609600" y="1143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buFont typeface="Wingdings" panose="05000000000000000000" pitchFamily="2" charset="2"/>
              <a:buNone/>
            </a:pPr>
            <a:endParaRPr lang="en-GB" altLang="zh-CN" sz="2400">
              <a:ea typeface="宋体" panose="02010600030101010101" pitchFamily="2" charset="-122"/>
            </a:endParaRPr>
          </a:p>
        </p:txBody>
      </p:sp>
      <p:sp>
        <p:nvSpPr>
          <p:cNvPr id="50182" name="Rectangle 5">
            <a:extLst>
              <a:ext uri="{FF2B5EF4-FFF2-40B4-BE49-F238E27FC236}">
                <a16:creationId xmlns:a16="http://schemas.microsoft.com/office/drawing/2014/main" id="{20041D9A-A1B9-4A5C-B0D3-44CDBAAF51A3}"/>
              </a:ext>
            </a:extLst>
          </p:cNvPr>
          <p:cNvSpPr>
            <a:spLocks noChangeArrowheads="1"/>
          </p:cNvSpPr>
          <p:nvPr/>
        </p:nvSpPr>
        <p:spPr bwMode="auto">
          <a:xfrm>
            <a:off x="533400" y="12192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zh-CN" sz="2600">
              <a:ea typeface="宋体" panose="02010600030101010101" pitchFamily="2" charset="-122"/>
            </a:endParaRPr>
          </a:p>
        </p:txBody>
      </p:sp>
      <p:sp>
        <p:nvSpPr>
          <p:cNvPr id="50183" name="Rectangle 7">
            <a:extLst>
              <a:ext uri="{FF2B5EF4-FFF2-40B4-BE49-F238E27FC236}">
                <a16:creationId xmlns:a16="http://schemas.microsoft.com/office/drawing/2014/main" id="{FB5EE1B1-FEEC-4754-BC6B-D338BB12FB68}"/>
              </a:ext>
            </a:extLst>
          </p:cNvPr>
          <p:cNvSpPr>
            <a:spLocks noChangeArrowheads="1"/>
          </p:cNvSpPr>
          <p:nvPr/>
        </p:nvSpPr>
        <p:spPr bwMode="auto">
          <a:xfrm>
            <a:off x="457200" y="1295400"/>
            <a:ext cx="74676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r>
              <a:rPr lang="en-US" altLang="zh-CN" sz="2000" dirty="0">
                <a:ea typeface="宋体" panose="02010600030101010101" pitchFamily="2" charset="-122"/>
              </a:rPr>
              <a:t>CRC Cards technique can be used to design how the classes collaborate to complete each use case</a:t>
            </a:r>
            <a:r>
              <a:rPr lang="en-US" altLang="zh-CN" sz="2000" u="sng" dirty="0">
                <a:ea typeface="宋体" panose="02010600030101010101" pitchFamily="2" charset="-122"/>
              </a:rPr>
              <a:t>. CRC stands for Classes, Responsibilities, and Collaborations.</a:t>
            </a:r>
            <a:r>
              <a:rPr lang="zh-CN" altLang="en-US" sz="2000" u="sng" dirty="0">
                <a:ea typeface="宋体" panose="02010600030101010101" pitchFamily="2" charset="-122"/>
              </a:rPr>
              <a:t>（</a:t>
            </a:r>
            <a:r>
              <a:rPr lang="en-US" altLang="zh-CN" sz="2000" u="sng" dirty="0">
                <a:ea typeface="宋体" panose="02010600030101010101" pitchFamily="2" charset="-122"/>
              </a:rPr>
              <a:t>CRC</a:t>
            </a:r>
            <a:r>
              <a:rPr lang="zh-CN" altLang="en-US" sz="2000" u="sng" dirty="0">
                <a:ea typeface="宋体" panose="02010600030101010101" pitchFamily="2" charset="-122"/>
              </a:rPr>
              <a:t>卡技术可用于设计类如何协作以完成每个用例。</a:t>
            </a:r>
            <a:r>
              <a:rPr lang="en-US" altLang="zh-CN" sz="2000" u="sng" dirty="0">
                <a:ea typeface="宋体" panose="02010600030101010101" pitchFamily="2" charset="-122"/>
              </a:rPr>
              <a:t>CRC</a:t>
            </a:r>
            <a:r>
              <a:rPr lang="zh-CN" altLang="en-US" sz="2000" u="sng" dirty="0">
                <a:ea typeface="宋体" panose="02010600030101010101" pitchFamily="2" charset="-122"/>
              </a:rPr>
              <a:t>代表类、责任和协作）</a:t>
            </a:r>
            <a:endParaRPr lang="en-US" altLang="zh-CN" sz="2000" u="sng" dirty="0">
              <a:ea typeface="宋体" panose="02010600030101010101" pitchFamily="2" charset="-122"/>
            </a:endParaRPr>
          </a:p>
          <a:p>
            <a:pPr eaLnBrk="1" hangingPunct="1"/>
            <a:r>
              <a:rPr lang="en-US" altLang="zh-CN" sz="2000" dirty="0">
                <a:ea typeface="宋体" panose="02010600030101010101" pitchFamily="2" charset="-122"/>
              </a:rPr>
              <a:t>Sometimes the CRC cards approach is used for the initial design of a use case that is further developed using sequence diagrams (as in the next chapter).</a:t>
            </a:r>
            <a:r>
              <a:rPr lang="zh-CN" altLang="en-US" sz="2000" dirty="0">
                <a:ea typeface="宋体" panose="02010600030101010101" pitchFamily="2" charset="-122"/>
              </a:rPr>
              <a:t>（有时</a:t>
            </a:r>
            <a:r>
              <a:rPr lang="en-US" altLang="zh-CN" sz="2000" dirty="0">
                <a:ea typeface="宋体" panose="02010600030101010101" pitchFamily="2" charset="-122"/>
              </a:rPr>
              <a:t>CRC</a:t>
            </a:r>
            <a:r>
              <a:rPr lang="zh-CN" altLang="en-US" sz="2000" dirty="0">
                <a:ea typeface="宋体" panose="02010600030101010101" pitchFamily="2" charset="-122"/>
              </a:rPr>
              <a:t>卡方法用于用例的初始设计，然后使用顺序图进一步开发）</a:t>
            </a:r>
            <a:endParaRPr lang="en-US" altLang="zh-CN" sz="2000" dirty="0">
              <a:ea typeface="宋体" panose="02010600030101010101" pitchFamily="2" charset="-122"/>
            </a:endParaRPr>
          </a:p>
          <a:p>
            <a:pPr eaLnBrk="1" hangingPunct="1"/>
            <a:r>
              <a:rPr lang="en-US" altLang="zh-CN" sz="2000" dirty="0">
                <a:ea typeface="宋体" panose="02010600030101010101" pitchFamily="2" charset="-122"/>
              </a:rPr>
              <a:t>Decisions about design options are guided by some fundamental design principles. Some of these are </a:t>
            </a:r>
            <a:r>
              <a:rPr lang="en-US" altLang="zh-CN" sz="2000" u="sng" dirty="0">
                <a:ea typeface="宋体" panose="02010600030101010101" pitchFamily="2" charset="-122"/>
              </a:rPr>
              <a:t>coupling, cohesion, protection from variations, indirection, and object responsibility.</a:t>
            </a:r>
            <a:r>
              <a:rPr lang="en-US" altLang="zh-CN" sz="2000" dirty="0">
                <a:ea typeface="宋体" panose="02010600030101010101" pitchFamily="2" charset="-122"/>
              </a:rPr>
              <a:t> </a:t>
            </a:r>
            <a:r>
              <a:rPr lang="zh-CN" altLang="en-US" sz="2000" dirty="0">
                <a:ea typeface="宋体" panose="02010600030101010101" pitchFamily="2" charset="-122"/>
              </a:rPr>
              <a:t>（关于设计选项的决策是由一些基本的设计原则指导的。其中一些是耦合、内聚、变量保护、间接和对象责任）</a:t>
            </a:r>
            <a:endParaRPr lang="en-GB" altLang="zh-CN" sz="2000" dirty="0">
              <a:ea typeface="宋体" panose="02010600030101010101" pitchFamily="2" charset="-122"/>
            </a:endParaRPr>
          </a:p>
          <a:p>
            <a:pPr eaLnBrk="1" hangingPunct="1"/>
            <a:endParaRPr lang="en-US" altLang="zh-CN" sz="2000" dirty="0">
              <a:ea typeface="宋体" panose="02010600030101010101" pitchFamily="2" charset="-122"/>
            </a:endParaRPr>
          </a:p>
        </p:txBody>
      </p:sp>
      <p:sp>
        <p:nvSpPr>
          <p:cNvPr id="50184" name="Footer Placeholder 4">
            <a:extLst>
              <a:ext uri="{FF2B5EF4-FFF2-40B4-BE49-F238E27FC236}">
                <a16:creationId xmlns:a16="http://schemas.microsoft.com/office/drawing/2014/main" id="{A840013A-99C5-43DB-A62A-974968389FC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50185" name="Rectangle 4">
            <a:extLst>
              <a:ext uri="{FF2B5EF4-FFF2-40B4-BE49-F238E27FC236}">
                <a16:creationId xmlns:a16="http://schemas.microsoft.com/office/drawing/2014/main" id="{2EF4FC41-3937-41C0-8EFC-8B906B8CBE41}"/>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1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18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018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4.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Capsules</Template>
  <TotalTime>14093</TotalTime>
  <Words>10029</Words>
  <Application>Microsoft Office PowerPoint</Application>
  <PresentationFormat>全屏显示(4:3)</PresentationFormat>
  <Paragraphs>802</Paragraphs>
  <Slides>62</Slides>
  <Notes>59</Notes>
  <HiddenSlides>1</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62</vt:i4>
      </vt:variant>
    </vt:vector>
  </HeadingPairs>
  <TitlesOfParts>
    <vt:vector size="70" baseType="lpstr">
      <vt:lpstr>PingFang SC</vt:lpstr>
      <vt:lpstr>Microsoft Yahei</vt:lpstr>
      <vt:lpstr>Arial</vt:lpstr>
      <vt:lpstr>Arial Black</vt:lpstr>
      <vt:lpstr>Times New Roman</vt:lpstr>
      <vt:lpstr>Wingdings</vt:lpstr>
      <vt:lpstr>Network</vt:lpstr>
      <vt:lpstr>Bitmap Image</vt:lpstr>
      <vt:lpstr>PowerPoint 演示文稿</vt:lpstr>
      <vt:lpstr>Object-Oriented Design: Principles</vt:lpstr>
      <vt:lpstr>Chapter 10 Outline</vt:lpstr>
      <vt:lpstr>Learning Objectives</vt:lpstr>
      <vt:lpstr>Overview</vt:lpstr>
      <vt:lpstr>Chapter 10 Outline</vt:lpstr>
      <vt:lpstr>OO Design:  The Bridge from Analysis to Design</vt:lpstr>
      <vt:lpstr>Object-Oriented Program Flow Three Layer Architecture</vt:lpstr>
      <vt:lpstr>UML Requirements vs. Design Models  Diagrams are enhanced and extended</vt:lpstr>
      <vt:lpstr>UML Requirements vs. Design Models  Diagrams are enhanced and extended</vt:lpstr>
      <vt:lpstr>UML Requirements vs. Design Models  Diagrams are enhanced and extended</vt:lpstr>
      <vt:lpstr>UML Requirements vs. Design Models  Diagrams are enhanced and extended</vt:lpstr>
      <vt:lpstr>Chapter 10 Outline</vt:lpstr>
      <vt:lpstr>Architectural Design</vt:lpstr>
      <vt:lpstr>Architectural Design</vt:lpstr>
      <vt:lpstr>Architectural Design</vt:lpstr>
      <vt:lpstr>Component Diagram  for Architectural Design</vt:lpstr>
      <vt:lpstr>Component Diagram  for Architectural Design</vt:lpstr>
      <vt:lpstr>Component Diagram  for Architectural Design</vt:lpstr>
      <vt:lpstr>Component Diagram  for Architectural Design</vt:lpstr>
      <vt:lpstr>Chapter 10 Outline</vt:lpstr>
      <vt:lpstr>Detailed Design（详细设计） Use Case Realization（用例实现）</vt:lpstr>
      <vt:lpstr>Detailed Design Sequence Diagram Example</vt:lpstr>
      <vt:lpstr>Design Classes in Detailed Design</vt:lpstr>
      <vt:lpstr>Write the Code for the Design Class to Implement</vt:lpstr>
      <vt:lpstr>OO Detailed Design Steps Chapters 10 and 11</vt:lpstr>
      <vt:lpstr>Chapter 10 Outline</vt:lpstr>
      <vt:lpstr>Design Class Diagrams（设计类图）</vt:lpstr>
      <vt:lpstr>Class Stereotypes in UML</vt:lpstr>
      <vt:lpstr>Notation for a Design Class</vt:lpstr>
      <vt:lpstr>Notation for Design Classes</vt:lpstr>
      <vt:lpstr>Notation for Design Classes</vt:lpstr>
      <vt:lpstr>Notation for Design Classes</vt:lpstr>
      <vt:lpstr>Notation for Design Classes</vt:lpstr>
      <vt:lpstr>Notation for Design Classes method arguments and return types not shown</vt:lpstr>
      <vt:lpstr>PowerPoint 演示文稿</vt:lpstr>
      <vt:lpstr>Notation for Design Classes</vt:lpstr>
      <vt:lpstr>Notation for Design Classes</vt:lpstr>
      <vt:lpstr>Navigation Visibility Guidelines</vt:lpstr>
      <vt:lpstr>First Cut Design Class Diagram</vt:lpstr>
      <vt:lpstr>Start with  Domain Class Diagram （域模型类图：第四章）  RMO Sales Subsystem</vt:lpstr>
      <vt:lpstr>Create First Cut Design Class Diagram   Use Case Create phone sale with controller added</vt:lpstr>
      <vt:lpstr>Chapter 10 Outline</vt:lpstr>
      <vt:lpstr>Designing With CRC Cards</vt:lpstr>
      <vt:lpstr>Example of CRC Card</vt:lpstr>
      <vt:lpstr>CRC Cards Procedure</vt:lpstr>
      <vt:lpstr>CRC Cards Procedure (continued)</vt:lpstr>
      <vt:lpstr>CRC Cards Results Several Use Cases</vt:lpstr>
      <vt:lpstr>CRC Cards Results Adding In User Interface Layer</vt:lpstr>
      <vt:lpstr>CRC Cards Results Several Use Cases</vt:lpstr>
      <vt:lpstr>CRC Cards  Update design class diagram based on CRC results  Responsibilities become methods  Arguments and return types not yet added</vt:lpstr>
      <vt:lpstr>CRC Cards  Update design class diagram based on CRC results  Responsibilities become methods  Arguments and return types not yet added</vt:lpstr>
      <vt:lpstr>CRC Cards  Update design class diagram based on CRC results  Responsibilities become methods  Arguments and return types not yet added</vt:lpstr>
      <vt:lpstr>Chapter 10 Outline</vt:lpstr>
      <vt:lpstr>Fundamental Design Principles</vt:lpstr>
      <vt:lpstr>Fundamental Design Principles</vt:lpstr>
      <vt:lpstr>Fundamental Design Principles</vt:lpstr>
      <vt:lpstr>Fundamental Design Principles</vt:lpstr>
      <vt:lpstr>Fundamental Design Principles</vt:lpstr>
      <vt:lpstr>Summary</vt:lpstr>
      <vt:lpstr>Summary</vt:lpstr>
      <vt:lpstr>Summary (continued)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From bla to bla</dc:title>
  <dc:creator>John</dc:creator>
  <cp:lastModifiedBy>鸽 王</cp:lastModifiedBy>
  <cp:revision>271</cp:revision>
  <cp:lastPrinted>1601-01-01T00:00:00Z</cp:lastPrinted>
  <dcterms:created xsi:type="dcterms:W3CDTF">2011-10-31T16:54:53Z</dcterms:created>
  <dcterms:modified xsi:type="dcterms:W3CDTF">2025-03-13T06:18:12Z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4</vt:i4>
  </property>
</Properties>
</file>
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handoutMasterIdLst>
    <p:handoutMasterId r:id="rId87"/>
  </p:handoutMasterIdLst>
  <p:sldIdLst>
    <p:sldId id="313" r:id="rId2"/>
    <p:sldId id="383" r:id="rId3"/>
    <p:sldId id="264" r:id="rId4"/>
    <p:sldId id="318" r:id="rId5"/>
    <p:sldId id="265" r:id="rId6"/>
    <p:sldId id="323" r:id="rId7"/>
    <p:sldId id="319" r:id="rId8"/>
    <p:sldId id="266" r:id="rId9"/>
    <p:sldId id="320" r:id="rId10"/>
    <p:sldId id="267" r:id="rId11"/>
    <p:sldId id="321" r:id="rId12"/>
    <p:sldId id="268" r:id="rId13"/>
    <p:sldId id="324" r:id="rId14"/>
    <p:sldId id="269" r:id="rId15"/>
    <p:sldId id="325" r:id="rId16"/>
    <p:sldId id="270" r:id="rId17"/>
    <p:sldId id="271" r:id="rId18"/>
    <p:sldId id="256" r:id="rId19"/>
    <p:sldId id="272" r:id="rId20"/>
    <p:sldId id="273" r:id="rId21"/>
    <p:sldId id="495" r:id="rId22"/>
    <p:sldId id="496" r:id="rId23"/>
    <p:sldId id="489" r:id="rId24"/>
    <p:sldId id="274" r:id="rId25"/>
    <p:sldId id="275" r:id="rId26"/>
    <p:sldId id="331" r:id="rId27"/>
    <p:sldId id="326" r:id="rId28"/>
    <p:sldId id="327" r:id="rId29"/>
    <p:sldId id="329" r:id="rId30"/>
    <p:sldId id="330" r:id="rId31"/>
    <p:sldId id="276" r:id="rId32"/>
    <p:sldId id="449" r:id="rId33"/>
    <p:sldId id="450" r:id="rId34"/>
    <p:sldId id="451" r:id="rId35"/>
    <p:sldId id="490" r:id="rId36"/>
    <p:sldId id="492" r:id="rId37"/>
    <p:sldId id="497" r:id="rId38"/>
    <p:sldId id="452" r:id="rId39"/>
    <p:sldId id="278" r:id="rId40"/>
    <p:sldId id="767" r:id="rId41"/>
    <p:sldId id="333" r:id="rId42"/>
    <p:sldId id="499" r:id="rId43"/>
    <p:sldId id="500" r:id="rId44"/>
    <p:sldId id="334" r:id="rId45"/>
    <p:sldId id="279" r:id="rId46"/>
    <p:sldId id="308" r:id="rId47"/>
    <p:sldId id="280" r:id="rId48"/>
    <p:sldId id="316" r:id="rId49"/>
    <p:sldId id="260" r:id="rId50"/>
    <p:sldId id="317" r:id="rId51"/>
    <p:sldId id="315" r:id="rId52"/>
    <p:sldId id="281" r:id="rId53"/>
    <p:sldId id="282" r:id="rId54"/>
    <p:sldId id="283" r:id="rId55"/>
    <p:sldId id="284" r:id="rId56"/>
    <p:sldId id="285" r:id="rId57"/>
    <p:sldId id="286" r:id="rId58"/>
    <p:sldId id="335" r:id="rId59"/>
    <p:sldId id="471" r:id="rId60"/>
    <p:sldId id="453" r:id="rId61"/>
    <p:sldId id="288" r:id="rId62"/>
    <p:sldId id="289" r:id="rId63"/>
    <p:sldId id="262" r:id="rId64"/>
    <p:sldId id="290" r:id="rId65"/>
    <p:sldId id="291" r:id="rId66"/>
    <p:sldId id="292" r:id="rId67"/>
    <p:sldId id="454" r:id="rId68"/>
    <p:sldId id="455" r:id="rId69"/>
    <p:sldId id="293" r:id="rId70"/>
    <p:sldId id="339" r:id="rId71"/>
    <p:sldId id="295" r:id="rId72"/>
    <p:sldId id="337" r:id="rId73"/>
    <p:sldId id="296" r:id="rId74"/>
    <p:sldId id="297" r:id="rId75"/>
    <p:sldId id="486" r:id="rId76"/>
    <p:sldId id="494" r:id="rId77"/>
    <p:sldId id="493" r:id="rId78"/>
    <p:sldId id="491" r:id="rId79"/>
    <p:sldId id="501" r:id="rId80"/>
    <p:sldId id="502" r:id="rId81"/>
    <p:sldId id="546" r:id="rId82"/>
    <p:sldId id="765" r:id="rId83"/>
    <p:sldId id="766" r:id="rId84"/>
    <p:sldId id="314" r:id="rId85"/>
  </p:sldIdLst>
  <p:sldSz cx="9144000" cy="6858000" type="screen4x3"/>
  <p:notesSz cx="7315200" cy="96012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22">
          <p15:clr>
            <a:srgbClr val="A4A3A4"/>
          </p15:clr>
        </p15:guide>
        <p15:guide id="2" pos="5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0066"/>
    <a:srgbClr val="3B7CFF"/>
    <a:srgbClr val="009900"/>
    <a:srgbClr val="5FD5FF"/>
    <a:srgbClr val="B3EBFF"/>
    <a:srgbClr val="79D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296" autoAdjust="0"/>
  </p:normalViewPr>
  <p:slideViewPr>
    <p:cSldViewPr snapToGrid="0" showGuides="1">
      <p:cViewPr varScale="1">
        <p:scale>
          <a:sx n="62" d="100"/>
          <a:sy n="62" d="100"/>
        </p:scale>
        <p:origin x="936" y="24"/>
      </p:cViewPr>
      <p:guideLst>
        <p:guide orient="horz" pos="822"/>
        <p:guide pos="50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3168650" cy="479425"/>
          </a:xfrm>
          <a:prstGeom prst="rect">
            <a:avLst/>
          </a:prstGeom>
          <a:noFill/>
          <a:ln w="9525">
            <a:noFill/>
            <a:miter lim="800000"/>
          </a:ln>
          <a:effectLst/>
        </p:spPr>
        <p:txBody>
          <a:bodyPr vert="horz" wrap="none" lIns="96660" tIns="48329" rIns="96660" bIns="48329" numCol="1" anchor="ctr" anchorCtr="0" compatLnSpc="1"/>
          <a:lstStyle>
            <a:lvl1pPr defTabSz="967105">
              <a:defRPr sz="1300">
                <a:latin typeface="Helvetica" pitchFamily="34"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88067" name="Rectangle 3"/>
          <p:cNvSpPr>
            <a:spLocks noGrp="1" noChangeArrowheads="1"/>
          </p:cNvSpPr>
          <p:nvPr>
            <p:ph type="dt" sz="quarter" idx="1"/>
          </p:nvPr>
        </p:nvSpPr>
        <p:spPr bwMode="auto">
          <a:xfrm>
            <a:off x="4146550" y="0"/>
            <a:ext cx="3168650" cy="479425"/>
          </a:xfrm>
          <a:prstGeom prst="rect">
            <a:avLst/>
          </a:prstGeom>
          <a:noFill/>
          <a:ln w="9525">
            <a:noFill/>
            <a:miter lim="800000"/>
          </a:ln>
          <a:effectLst/>
        </p:spPr>
        <p:txBody>
          <a:bodyPr vert="horz" wrap="none" lIns="96660" tIns="48329" rIns="96660" bIns="48329" numCol="1" anchor="ctr" anchorCtr="0" compatLnSpc="1"/>
          <a:lstStyle>
            <a:lvl1pPr algn="r" defTabSz="967105">
              <a:defRPr sz="1300">
                <a:latin typeface="Helvetica" pitchFamily="34" charset="0"/>
                <a:ea typeface="MS PGothic" panose="020B0600070205080204" pitchFamily="34" charset="-128"/>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88068" name="Rectangle 4"/>
          <p:cNvSpPr>
            <a:spLocks noGrp="1" noChangeArrowheads="1"/>
          </p:cNvSpPr>
          <p:nvPr>
            <p:ph type="ftr" sz="quarter" idx="2"/>
          </p:nvPr>
        </p:nvSpPr>
        <p:spPr bwMode="auto">
          <a:xfrm>
            <a:off x="0" y="9121775"/>
            <a:ext cx="3168650" cy="479425"/>
          </a:xfrm>
          <a:prstGeom prst="rect">
            <a:avLst/>
          </a:prstGeom>
          <a:noFill/>
          <a:ln w="9525">
            <a:noFill/>
            <a:miter lim="800000"/>
          </a:ln>
          <a:effectLst/>
        </p:spPr>
        <p:txBody>
          <a:bodyPr vert="horz" wrap="none" lIns="96660" tIns="48329" rIns="96660" bIns="48329" numCol="1" anchor="b" anchorCtr="0" compatLnSpc="1"/>
          <a:lstStyle>
            <a:lvl1pPr defTabSz="967105">
              <a:defRPr sz="1300">
                <a:latin typeface="Helvetica" pitchFamily="34"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88069" name="Rectangle 5"/>
          <p:cNvSpPr>
            <a:spLocks noGrp="1" noChangeArrowheads="1"/>
          </p:cNvSpPr>
          <p:nvPr>
            <p:ph type="sldNum" sz="quarter" idx="3"/>
          </p:nvPr>
        </p:nvSpPr>
        <p:spPr bwMode="auto">
          <a:xfrm>
            <a:off x="4146550" y="9121775"/>
            <a:ext cx="3168650" cy="479425"/>
          </a:xfrm>
          <a:prstGeom prst="rect">
            <a:avLst/>
          </a:prstGeom>
          <a:noFill/>
          <a:ln w="9525">
            <a:noFill/>
            <a:miter lim="800000"/>
          </a:ln>
          <a:effectLst/>
        </p:spPr>
        <p:txBody>
          <a:bodyPr vert="horz" wrap="none" lIns="96660" tIns="48329" rIns="96660" bIns="48329" numCol="1" anchor="b" anchorCtr="0" compatLnSpc="1"/>
          <a:lstStyle/>
          <a:p>
            <a:pPr lvl="0" algn="r" defTabSz="967105">
              <a:buNone/>
            </a:pPr>
            <a:fld id="{9A0DB2DC-4C9A-4742-B13C-FB6460FD3503}" type="slidenum">
              <a:rPr lang="en-US" altLang="zh-CN" sz="1300" dirty="0">
                <a:latin typeface="Helvetica" pitchFamily="34" charset="0"/>
              </a:rPr>
              <a:t>‹#›</a:t>
            </a:fld>
            <a:endParaRPr lang="en-US" altLang="zh-CN" sz="1300" dirty="0">
              <a:latin typeface="Helvetica"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68650" cy="479425"/>
          </a:xfrm>
          <a:prstGeom prst="rect">
            <a:avLst/>
          </a:prstGeom>
          <a:noFill/>
          <a:ln w="9525">
            <a:noFill/>
            <a:miter lim="800000"/>
          </a:ln>
          <a:effectLst/>
        </p:spPr>
        <p:txBody>
          <a:bodyPr vert="horz" wrap="none" lIns="96660" tIns="48329" rIns="96660" bIns="48329" numCol="1" anchor="ctr" anchorCtr="0" compatLnSpc="1"/>
          <a:lstStyle>
            <a:lvl1pPr defTabSz="967105">
              <a:defRPr sz="1300">
                <a:latin typeface="Times New Roman" panose="02020603050405020304" pitchFamily="18"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6147" name="Rectangle 3"/>
          <p:cNvSpPr>
            <a:spLocks noGrp="1" noChangeArrowheads="1"/>
          </p:cNvSpPr>
          <p:nvPr>
            <p:ph type="dt" idx="1"/>
          </p:nvPr>
        </p:nvSpPr>
        <p:spPr bwMode="auto">
          <a:xfrm>
            <a:off x="4146550" y="0"/>
            <a:ext cx="3168650" cy="479425"/>
          </a:xfrm>
          <a:prstGeom prst="rect">
            <a:avLst/>
          </a:prstGeom>
          <a:noFill/>
          <a:ln w="9525">
            <a:noFill/>
            <a:miter lim="800000"/>
          </a:ln>
          <a:effectLst/>
        </p:spPr>
        <p:txBody>
          <a:bodyPr vert="horz" wrap="none" lIns="96660" tIns="48329" rIns="96660" bIns="48329" numCol="1" anchor="ctr" anchorCtr="0" compatLnSpc="1"/>
          <a:lstStyle>
            <a:lvl1pPr algn="r" defTabSz="967105">
              <a:defRPr sz="1300">
                <a:latin typeface="Times New Roman" panose="02020603050405020304" pitchFamily="18" charset="0"/>
                <a:ea typeface="MS PGothic" panose="020B0600070205080204" pitchFamily="34" charset="-128"/>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69636" name="Rectangle 4"/>
          <p:cNvSpPr>
            <a:spLocks noGrp="1" noRot="1" noChangeAspect="1" noTextEdit="1"/>
          </p:cNvSpPr>
          <p:nvPr>
            <p:ph type="sldImg" idx="2"/>
          </p:nvPr>
        </p:nvSpPr>
        <p:spPr>
          <a:xfrm>
            <a:off x="1257300" y="720725"/>
            <a:ext cx="4800600" cy="3600450"/>
          </a:xfrm>
          <a:prstGeom prst="rect">
            <a:avLst/>
          </a:prstGeom>
          <a:noFill/>
          <a:ln w="9525" cap="flat" cmpd="sng">
            <a:solidFill>
              <a:srgbClr val="000000"/>
            </a:solidFill>
            <a:prstDash val="solid"/>
            <a:miter/>
            <a:headEnd type="none" w="med" len="med"/>
            <a:tailEnd type="none" w="med" len="med"/>
          </a:ln>
        </p:spPr>
      </p:sp>
      <p:sp>
        <p:nvSpPr>
          <p:cNvPr id="6149" name="Rectangle 5"/>
          <p:cNvSpPr>
            <a:spLocks noGrp="1" noChangeArrowheads="1"/>
          </p:cNvSpPr>
          <p:nvPr>
            <p:ph type="body" sz="quarter" idx="3"/>
          </p:nvPr>
        </p:nvSpPr>
        <p:spPr bwMode="auto">
          <a:xfrm>
            <a:off x="974725" y="4560888"/>
            <a:ext cx="5365750" cy="4319588"/>
          </a:xfrm>
          <a:prstGeom prst="rect">
            <a:avLst/>
          </a:prstGeom>
          <a:noFill/>
          <a:ln w="9525">
            <a:noFill/>
            <a:miter lim="800000"/>
          </a:ln>
          <a:effectLst/>
        </p:spPr>
        <p:txBody>
          <a:bodyPr vert="horz" wrap="none" lIns="96660" tIns="48329" rIns="96660" bIns="48329"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Fifth level</a:t>
            </a:r>
          </a:p>
        </p:txBody>
      </p:sp>
      <p:sp>
        <p:nvSpPr>
          <p:cNvPr id="6150" name="Rectangle 6"/>
          <p:cNvSpPr>
            <a:spLocks noGrp="1" noChangeArrowheads="1"/>
          </p:cNvSpPr>
          <p:nvPr>
            <p:ph type="ftr" sz="quarter" idx="4"/>
          </p:nvPr>
        </p:nvSpPr>
        <p:spPr bwMode="auto">
          <a:xfrm>
            <a:off x="0" y="9121775"/>
            <a:ext cx="3168650" cy="479425"/>
          </a:xfrm>
          <a:prstGeom prst="rect">
            <a:avLst/>
          </a:prstGeom>
          <a:noFill/>
          <a:ln w="9525">
            <a:noFill/>
            <a:miter lim="800000"/>
          </a:ln>
          <a:effectLst/>
        </p:spPr>
        <p:txBody>
          <a:bodyPr vert="horz" wrap="none" lIns="96660" tIns="48329" rIns="96660" bIns="48329" numCol="1" anchor="b" anchorCtr="0" compatLnSpc="1"/>
          <a:lstStyle>
            <a:lvl1pPr defTabSz="967105">
              <a:defRPr sz="1300">
                <a:latin typeface="Times New Roman" panose="02020603050405020304" pitchFamily="18"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6151" name="Rectangle 7"/>
          <p:cNvSpPr>
            <a:spLocks noGrp="1" noChangeArrowheads="1"/>
          </p:cNvSpPr>
          <p:nvPr>
            <p:ph type="sldNum" sz="quarter" idx="5"/>
          </p:nvPr>
        </p:nvSpPr>
        <p:spPr bwMode="auto">
          <a:xfrm>
            <a:off x="4146550" y="9121775"/>
            <a:ext cx="3168650" cy="479425"/>
          </a:xfrm>
          <a:prstGeom prst="rect">
            <a:avLst/>
          </a:prstGeom>
          <a:noFill/>
          <a:ln w="9525">
            <a:noFill/>
            <a:miter lim="800000"/>
          </a:ln>
          <a:effectLst/>
        </p:spPr>
        <p:txBody>
          <a:bodyPr vert="horz" wrap="none" lIns="96660" tIns="48329" rIns="96660" bIns="48329" numCol="1" anchor="b" anchorCtr="0" compatLnSpc="1"/>
          <a:lstStyle/>
          <a:p>
            <a:pPr lvl="0" algn="r" defTabSz="967105">
              <a:buNone/>
            </a:pPr>
            <a:fld id="{9A0DB2DC-4C9A-4742-B13C-FB6460FD3503}" type="slidenum">
              <a:rPr lang="en-US" altLang="zh-CN" sz="1300" dirty="0">
                <a:latin typeface="Times New Roman" panose="02020603050405020304" pitchFamily="18" charset="0"/>
              </a:rPr>
              <a:t>‹#›</a:t>
            </a:fld>
            <a:endParaRPr lang="en-US" altLang="zh-CN" sz="13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a:t>
            </a:fld>
            <a:endParaRPr lang="en-US" altLang="zh-CN" sz="1300" dirty="0">
              <a:latin typeface="Times New Roman" panose="02020603050405020304" pitchFamily="18" charset="0"/>
            </a:endParaRPr>
          </a:p>
        </p:txBody>
      </p:sp>
      <p:sp>
        <p:nvSpPr>
          <p:cNvPr id="70659" name="Rectangle 2"/>
          <p:cNvSpPr>
            <a:spLocks noGrp="1" noRot="1" noChangeAspect="1" noTextEdit="1"/>
          </p:cNvSpPr>
          <p:nvPr>
            <p:ph type="sldImg"/>
          </p:nvPr>
        </p:nvSpPr>
        <p:spPr/>
      </p:sp>
      <p:sp>
        <p:nvSpPr>
          <p:cNvPr id="706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3</a:t>
            </a:fld>
            <a:endParaRPr lang="en-US" altLang="zh-CN" sz="1300" dirty="0">
              <a:latin typeface="Times New Roman" panose="02020603050405020304" pitchFamily="18" charset="0"/>
            </a:endParaRPr>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a:t>
            </a:fld>
            <a:endParaRPr lang="en-US" altLang="zh-CN" sz="1300" dirty="0">
              <a:latin typeface="Times New Roman" panose="02020603050405020304" pitchFamily="18" charset="0"/>
            </a:endParaRPr>
          </a:p>
        </p:txBody>
      </p:sp>
      <p:sp>
        <p:nvSpPr>
          <p:cNvPr id="73731" name="Rectangle 2"/>
          <p:cNvSpPr>
            <a:spLocks noGrp="1" noRot="1" noChangeAspect="1" noTextEdit="1"/>
          </p:cNvSpPr>
          <p:nvPr>
            <p:ph type="sldImg"/>
          </p:nvPr>
        </p:nvSpPr>
        <p:spPr/>
      </p:sp>
      <p:sp>
        <p:nvSpPr>
          <p:cNvPr id="73732" name="Rectangle 3"/>
          <p:cNvSpPr>
            <a:spLocks noGrp="1"/>
          </p:cNvSpPr>
          <p:nvPr>
            <p:ph type="body" idx="1"/>
          </p:nvPr>
        </p:nvSpPr>
        <p:spPr>
          <a:xfrm>
            <a:off x="974725" y="4560888"/>
            <a:ext cx="5365750" cy="4319587"/>
          </a:xfrm>
        </p:spPr>
        <p:txBody>
          <a:bodyPr wrap="none" lIns="96660" tIns="48329" rIns="96660" bIns="48329" anchor="ctr" anchorCtr="0"/>
          <a:lstStyle/>
          <a:p>
            <a:pPr lvl="0" eaLnBrk="1" hangingPunct="1"/>
            <a:endParaRPr lang="zh-CN" altLang="en-US" dirty="0"/>
          </a:p>
          <a:p>
            <a:pPr lvl="0"/>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a:t>
            </a:fld>
            <a:endParaRPr lang="en-US" altLang="zh-CN" sz="1300" dirty="0">
              <a:latin typeface="Times New Roman" panose="02020603050405020304" pitchFamily="18" charset="0"/>
            </a:endParaRPr>
          </a:p>
        </p:txBody>
      </p:sp>
      <p:sp>
        <p:nvSpPr>
          <p:cNvPr id="74755" name="Rectangle 2"/>
          <p:cNvSpPr>
            <a:spLocks noGrp="1" noRot="1" noChangeAspect="1" noTextEdit="1"/>
          </p:cNvSpPr>
          <p:nvPr>
            <p:ph type="sldImg"/>
          </p:nvPr>
        </p:nvSpPr>
        <p:spPr/>
      </p:sp>
      <p:sp>
        <p:nvSpPr>
          <p:cNvPr id="74756" name="Rectangle 3"/>
          <p:cNvSpPr>
            <a:spLocks noGrp="1"/>
          </p:cNvSpPr>
          <p:nvPr>
            <p:ph type="body" idx="1"/>
          </p:nvPr>
        </p:nvSpPr>
        <p:spPr>
          <a:xfrm>
            <a:off x="974725" y="4560888"/>
            <a:ext cx="5365750" cy="4319587"/>
          </a:xfrm>
        </p:spPr>
        <p:txBody>
          <a:bodyPr wrap="none" lIns="96660" tIns="48329" rIns="96660" bIns="48329" anchor="ctr" anchorCtr="0"/>
          <a:lstStyle/>
          <a:p>
            <a:pPr lvl="0" eaLnBrk="1" hangingPunct="1"/>
            <a:endParaRPr lang="zh-CN" altLang="en-US" dirty="0"/>
          </a:p>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8</a:t>
            </a:fld>
            <a:endParaRPr lang="en-US" altLang="zh-CN" sz="1300" dirty="0">
              <a:latin typeface="Times New Roman" panose="02020603050405020304" pitchFamily="18" charset="0"/>
            </a:endParaRPr>
          </a:p>
        </p:txBody>
      </p:sp>
      <p:sp>
        <p:nvSpPr>
          <p:cNvPr id="75779" name="Rectangle 2"/>
          <p:cNvSpPr>
            <a:spLocks noGrp="1" noRot="1" noChangeAspect="1" noTextEdit="1"/>
          </p:cNvSpPr>
          <p:nvPr>
            <p:ph type="sldImg"/>
          </p:nvPr>
        </p:nvSpPr>
        <p:spPr/>
      </p:sp>
      <p:sp>
        <p:nvSpPr>
          <p:cNvPr id="7578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9</a:t>
            </a:fld>
            <a:endParaRPr lang="en-US" altLang="zh-CN" sz="1300" dirty="0">
              <a:latin typeface="Times New Roman" panose="02020603050405020304" pitchFamily="18" charset="0"/>
            </a:endParaRPr>
          </a:p>
        </p:txBody>
      </p:sp>
      <p:sp>
        <p:nvSpPr>
          <p:cNvPr id="76803" name="Rectangle 2"/>
          <p:cNvSpPr>
            <a:spLocks noGrp="1" noRot="1" noChangeAspect="1" noTextEdit="1"/>
          </p:cNvSpPr>
          <p:nvPr>
            <p:ph type="sldImg"/>
          </p:nvPr>
        </p:nvSpPr>
        <p:spPr/>
      </p:sp>
      <p:sp>
        <p:nvSpPr>
          <p:cNvPr id="7680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10</a:t>
            </a:fld>
            <a:endParaRPr lang="en-US" altLang="zh-CN" sz="1300" dirty="0">
              <a:latin typeface="Times New Roman" panose="02020603050405020304" pitchFamily="18" charset="0"/>
            </a:endParaRPr>
          </a:p>
        </p:txBody>
      </p:sp>
      <p:sp>
        <p:nvSpPr>
          <p:cNvPr id="77827" name="Rectangle 2"/>
          <p:cNvSpPr>
            <a:spLocks noGrp="1" noRot="1" noChangeAspect="1" noTextEdit="1"/>
          </p:cNvSpPr>
          <p:nvPr>
            <p:ph type="sldImg"/>
          </p:nvPr>
        </p:nvSpPr>
        <p:spPr/>
      </p:sp>
      <p:sp>
        <p:nvSpPr>
          <p:cNvPr id="7782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extLst>
      <p:ext uri="{BB962C8B-B14F-4D97-AF65-F5344CB8AC3E}">
        <p14:creationId xmlns:p14="http://schemas.microsoft.com/office/powerpoint/2010/main" val="956305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11</a:t>
            </a:fld>
            <a:endParaRPr lang="en-US" altLang="zh-CN" sz="1300" dirty="0">
              <a:latin typeface="Times New Roman" panose="02020603050405020304" pitchFamily="18" charset="0"/>
            </a:endParaRPr>
          </a:p>
        </p:txBody>
      </p:sp>
      <p:sp>
        <p:nvSpPr>
          <p:cNvPr id="78851" name="Rectangle 2"/>
          <p:cNvSpPr>
            <a:spLocks noGrp="1" noRot="1" noChangeAspect="1" noTextEdit="1"/>
          </p:cNvSpPr>
          <p:nvPr>
            <p:ph type="sldImg"/>
          </p:nvPr>
        </p:nvSpPr>
        <p:spPr/>
      </p:sp>
      <p:sp>
        <p:nvSpPr>
          <p:cNvPr id="7885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extLst>
      <p:ext uri="{BB962C8B-B14F-4D97-AF65-F5344CB8AC3E}">
        <p14:creationId xmlns:p14="http://schemas.microsoft.com/office/powerpoint/2010/main" val="450199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12</a:t>
            </a:fld>
            <a:endParaRPr lang="en-US" altLang="zh-CN" sz="1300" dirty="0">
              <a:latin typeface="Times New Roman" panose="02020603050405020304" pitchFamily="18" charset="0"/>
            </a:endParaRPr>
          </a:p>
        </p:txBody>
      </p:sp>
      <p:sp>
        <p:nvSpPr>
          <p:cNvPr id="79875" name="Rectangle 2"/>
          <p:cNvSpPr>
            <a:spLocks noGrp="1" noRot="1" noChangeAspect="1" noTextEdit="1"/>
          </p:cNvSpPr>
          <p:nvPr>
            <p:ph type="sldImg"/>
          </p:nvPr>
        </p:nvSpPr>
        <p:spPr/>
      </p:sp>
      <p:sp>
        <p:nvSpPr>
          <p:cNvPr id="7987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13</a:t>
            </a:fld>
            <a:endParaRPr lang="en-US" altLang="zh-CN" sz="1300" dirty="0">
              <a:latin typeface="Times New Roman" panose="02020603050405020304" pitchFamily="18" charset="0"/>
            </a:endParaRPr>
          </a:p>
        </p:txBody>
      </p:sp>
      <p:sp>
        <p:nvSpPr>
          <p:cNvPr id="80899" name="Rectangle 2"/>
          <p:cNvSpPr>
            <a:spLocks noGrp="1" noRot="1" noChangeAspect="1" noTextEdit="1"/>
          </p:cNvSpPr>
          <p:nvPr>
            <p:ph type="sldImg"/>
          </p:nvPr>
        </p:nvSpPr>
        <p:spPr/>
      </p:sp>
      <p:sp>
        <p:nvSpPr>
          <p:cNvPr id="8090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14</a:t>
            </a:fld>
            <a:endParaRPr lang="en-US" altLang="zh-CN" sz="1300" dirty="0">
              <a:latin typeface="Times New Roman" panose="02020603050405020304" pitchFamily="18" charset="0"/>
            </a:endParaRPr>
          </a:p>
        </p:txBody>
      </p:sp>
      <p:sp>
        <p:nvSpPr>
          <p:cNvPr id="81923" name="Rectangle 2"/>
          <p:cNvSpPr>
            <a:spLocks noGrp="1" noRot="1" noChangeAspect="1" noTextEdit="1"/>
          </p:cNvSpPr>
          <p:nvPr>
            <p:ph type="sldImg"/>
          </p:nvPr>
        </p:nvSpPr>
        <p:spPr/>
      </p:sp>
      <p:sp>
        <p:nvSpPr>
          <p:cNvPr id="8192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16</a:t>
            </a:fld>
            <a:endParaRPr lang="en-US" altLang="zh-CN" sz="1300" dirty="0">
              <a:latin typeface="Times New Roman" panose="02020603050405020304" pitchFamily="18" charset="0"/>
            </a:endParaRPr>
          </a:p>
        </p:txBody>
      </p:sp>
      <p:sp>
        <p:nvSpPr>
          <p:cNvPr id="82947" name="Rectangle 2"/>
          <p:cNvSpPr>
            <a:spLocks noGrp="1" noRot="1" noChangeAspect="1" noTextEdit="1"/>
          </p:cNvSpPr>
          <p:nvPr>
            <p:ph type="sldImg"/>
          </p:nvPr>
        </p:nvSpPr>
        <p:spPr/>
      </p:sp>
      <p:sp>
        <p:nvSpPr>
          <p:cNvPr id="8294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17</a:t>
            </a:fld>
            <a:endParaRPr lang="en-US" altLang="zh-CN" sz="1300" dirty="0">
              <a:latin typeface="Times New Roman" panose="02020603050405020304" pitchFamily="18" charset="0"/>
            </a:endParaRPr>
          </a:p>
        </p:txBody>
      </p:sp>
      <p:sp>
        <p:nvSpPr>
          <p:cNvPr id="83971" name="Rectangle 2"/>
          <p:cNvSpPr>
            <a:spLocks noGrp="1" noRot="1" noChangeAspect="1" noTextEdit="1"/>
          </p:cNvSpPr>
          <p:nvPr>
            <p:ph type="sldImg"/>
          </p:nvPr>
        </p:nvSpPr>
        <p:spPr/>
      </p:sp>
      <p:sp>
        <p:nvSpPr>
          <p:cNvPr id="8397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18</a:t>
            </a:fld>
            <a:endParaRPr lang="en-US" altLang="zh-CN" sz="1300" dirty="0">
              <a:latin typeface="Times New Roman" panose="02020603050405020304" pitchFamily="18" charset="0"/>
            </a:endParaRPr>
          </a:p>
        </p:txBody>
      </p:sp>
      <p:sp>
        <p:nvSpPr>
          <p:cNvPr id="84995" name="Rectangle 2"/>
          <p:cNvSpPr>
            <a:spLocks noGrp="1" noRot="1" noChangeAspect="1" noTextEdit="1"/>
          </p:cNvSpPr>
          <p:nvPr>
            <p:ph type="sldImg"/>
          </p:nvPr>
        </p:nvSpPr>
        <p:spPr/>
      </p:sp>
      <p:sp>
        <p:nvSpPr>
          <p:cNvPr id="8499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19</a:t>
            </a:fld>
            <a:endParaRPr lang="en-US" altLang="zh-CN" sz="1300" dirty="0">
              <a:latin typeface="Times New Roman" panose="02020603050405020304" pitchFamily="18" charset="0"/>
            </a:endParaRPr>
          </a:p>
        </p:txBody>
      </p:sp>
      <p:sp>
        <p:nvSpPr>
          <p:cNvPr id="86019" name="Rectangle 2"/>
          <p:cNvSpPr>
            <a:spLocks noGrp="1" noRot="1" noChangeAspect="1" noTextEdit="1"/>
          </p:cNvSpPr>
          <p:nvPr>
            <p:ph type="sldImg"/>
          </p:nvPr>
        </p:nvSpPr>
        <p:spPr/>
      </p:sp>
      <p:sp>
        <p:nvSpPr>
          <p:cNvPr id="8602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20</a:t>
            </a:fld>
            <a:endParaRPr lang="en-US" altLang="zh-CN" sz="1300" dirty="0">
              <a:latin typeface="Times New Roman" panose="02020603050405020304" pitchFamily="18" charset="0"/>
            </a:endParaRPr>
          </a:p>
        </p:txBody>
      </p:sp>
      <p:sp>
        <p:nvSpPr>
          <p:cNvPr id="87043" name="Rectangle 2"/>
          <p:cNvSpPr>
            <a:spLocks noGrp="1" noRot="1" noChangeAspect="1" noTextEdit="1"/>
          </p:cNvSpPr>
          <p:nvPr>
            <p:ph type="sldImg"/>
          </p:nvPr>
        </p:nvSpPr>
        <p:spPr/>
      </p:sp>
      <p:sp>
        <p:nvSpPr>
          <p:cNvPr id="8704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23</a:t>
            </a:fld>
            <a:endParaRPr lang="en-US" altLang="zh-CN" sz="1300" dirty="0">
              <a:latin typeface="Times New Roman" panose="02020603050405020304" pitchFamily="18" charset="0"/>
            </a:endParaRPr>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24</a:t>
            </a:fld>
            <a:endParaRPr lang="en-US" altLang="zh-CN" sz="1300" dirty="0">
              <a:latin typeface="Times New Roman" panose="02020603050405020304" pitchFamily="18" charset="0"/>
            </a:endParaRPr>
          </a:p>
        </p:txBody>
      </p:sp>
      <p:sp>
        <p:nvSpPr>
          <p:cNvPr id="88067" name="Rectangle 2"/>
          <p:cNvSpPr>
            <a:spLocks noGrp="1" noRot="1" noChangeAspect="1" noTextEdit="1"/>
          </p:cNvSpPr>
          <p:nvPr>
            <p:ph type="sldImg"/>
          </p:nvPr>
        </p:nvSpPr>
        <p:spPr/>
      </p:sp>
      <p:sp>
        <p:nvSpPr>
          <p:cNvPr id="8806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25</a:t>
            </a:fld>
            <a:endParaRPr lang="en-US" altLang="zh-CN" sz="1300" dirty="0">
              <a:latin typeface="Times New Roman" panose="02020603050405020304" pitchFamily="18" charset="0"/>
            </a:endParaRPr>
          </a:p>
        </p:txBody>
      </p:sp>
      <p:sp>
        <p:nvSpPr>
          <p:cNvPr id="89091" name="Rectangle 2"/>
          <p:cNvSpPr>
            <a:spLocks noGrp="1" noRot="1" noChangeAspect="1" noTextEdit="1"/>
          </p:cNvSpPr>
          <p:nvPr>
            <p:ph type="sldImg"/>
          </p:nvPr>
        </p:nvSpPr>
        <p:spPr/>
      </p:sp>
      <p:sp>
        <p:nvSpPr>
          <p:cNvPr id="89092" name="Rectangle 3"/>
          <p:cNvSpPr>
            <a:spLocks noGrp="1"/>
          </p:cNvSpPr>
          <p:nvPr>
            <p:ph type="body" idx="1"/>
          </p:nvPr>
        </p:nvSpPr>
        <p:spPr>
          <a:xfrm>
            <a:off x="974725" y="4560888"/>
            <a:ext cx="5365750" cy="4319587"/>
          </a:xfrm>
        </p:spPr>
        <p:txBody>
          <a:bodyPr wrap="none" lIns="96660" tIns="48329" rIns="96660" bIns="48329" anchor="ctr" anchorCtr="0"/>
          <a:lstStyle/>
          <a:p>
            <a:pPr lvl="0"/>
            <a:r>
              <a:rPr lang="zh-CN" altLang="en-US" dirty="0"/>
              <a:t>抑制死锁发生的必要条件</a:t>
            </a:r>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26</a:t>
            </a:fld>
            <a:endParaRPr lang="en-US" altLang="zh-CN" sz="1300" dirty="0">
              <a:latin typeface="Times New Roman" panose="02020603050405020304" pitchFamily="18" charset="0"/>
            </a:endParaRPr>
          </a:p>
        </p:txBody>
      </p:sp>
      <p:sp>
        <p:nvSpPr>
          <p:cNvPr id="90115" name="Rectangle 2"/>
          <p:cNvSpPr>
            <a:spLocks noGrp="1" noRot="1" noChangeAspect="1" noTextEdit="1"/>
          </p:cNvSpPr>
          <p:nvPr>
            <p:ph type="sldImg"/>
          </p:nvPr>
        </p:nvSpPr>
        <p:spPr/>
      </p:sp>
      <p:sp>
        <p:nvSpPr>
          <p:cNvPr id="9011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28</a:t>
            </a:fld>
            <a:endParaRPr lang="en-US" altLang="zh-CN" sz="1300" dirty="0">
              <a:latin typeface="Times New Roman" panose="02020603050405020304" pitchFamily="18" charset="0"/>
            </a:endParaRPr>
          </a:p>
        </p:txBody>
      </p:sp>
      <p:sp>
        <p:nvSpPr>
          <p:cNvPr id="91139" name="Rectangle 2"/>
          <p:cNvSpPr>
            <a:spLocks noGrp="1" noRot="1" noChangeAspect="1" noTextEdit="1"/>
          </p:cNvSpPr>
          <p:nvPr>
            <p:ph type="sldImg"/>
          </p:nvPr>
        </p:nvSpPr>
        <p:spPr/>
      </p:sp>
      <p:sp>
        <p:nvSpPr>
          <p:cNvPr id="91140" name="Rectangle 3"/>
          <p:cNvSpPr>
            <a:spLocks noGrp="1"/>
          </p:cNvSpPr>
          <p:nvPr>
            <p:ph type="body" idx="1"/>
          </p:nvPr>
        </p:nvSpPr>
        <p:spPr>
          <a:xfrm>
            <a:off x="974725" y="4560888"/>
            <a:ext cx="5365750" cy="4319587"/>
          </a:xfrm>
        </p:spPr>
        <p:txBody>
          <a:bodyPr wrap="none" lIns="96660" tIns="48329" rIns="96660" bIns="48329" anchor="ctr" anchorCtr="0"/>
          <a:lstStyle/>
          <a:p>
            <a:pPr lvl="0"/>
            <a:r>
              <a:rPr lang="zh-CN" altLang="en-US" dirty="0"/>
              <a:t>规定</a:t>
            </a:r>
            <a:r>
              <a:rPr lang="en-US" altLang="zh-CN" dirty="0"/>
              <a:t>:</a:t>
            </a:r>
          </a:p>
          <a:p>
            <a:pPr lvl="0"/>
            <a:r>
              <a:rPr lang="en-US" altLang="zh-CN" dirty="0"/>
              <a:t> </a:t>
            </a:r>
            <a:r>
              <a:rPr lang="zh-CN" altLang="en-US" dirty="0"/>
              <a:t>如果一个进程新的资源申请没有满足，它要释放占有的所有资源</a:t>
            </a:r>
            <a:endParaRPr lang="en-US" altLang="zh-CN" dirty="0"/>
          </a:p>
          <a:p>
            <a:pPr lvl="0"/>
            <a:r>
              <a:rPr lang="zh-CN" altLang="en-US" dirty="0"/>
              <a:t>这些被抢占的资源放入进程等待资源列表中</a:t>
            </a:r>
            <a:r>
              <a:rPr lang="en-US" altLang="zh-CN" dirty="0"/>
              <a:t>,</a:t>
            </a:r>
          </a:p>
          <a:p>
            <a:pPr lvl="0"/>
            <a:r>
              <a:rPr lang="zh-CN" altLang="en-US" dirty="0"/>
              <a:t>这个进程只有能够重新得到原有的资源，并且它所申请的新资源也可得到时</a:t>
            </a:r>
            <a:r>
              <a:rPr lang="en-US" altLang="zh-CN" dirty="0"/>
              <a:t>,</a:t>
            </a:r>
            <a:r>
              <a:rPr lang="zh-CN" altLang="en-US" dirty="0"/>
              <a:t>才能重新开始</a:t>
            </a:r>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31</a:t>
            </a:fld>
            <a:endParaRPr lang="en-US" altLang="zh-CN" sz="1300" dirty="0">
              <a:latin typeface="Times New Roman" panose="02020603050405020304" pitchFamily="18" charset="0"/>
            </a:endParaRPr>
          </a:p>
        </p:txBody>
      </p:sp>
      <p:sp>
        <p:nvSpPr>
          <p:cNvPr id="93187" name="Rectangle 2"/>
          <p:cNvSpPr>
            <a:spLocks noGrp="1" noRot="1" noChangeAspect="1" noTextEdit="1"/>
          </p:cNvSpPr>
          <p:nvPr>
            <p:ph type="sldImg"/>
          </p:nvPr>
        </p:nvSpPr>
        <p:spPr/>
      </p:sp>
      <p:sp>
        <p:nvSpPr>
          <p:cNvPr id="9318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39</a:t>
            </a:fld>
            <a:endParaRPr lang="en-US" altLang="zh-CN" sz="1300" dirty="0">
              <a:latin typeface="Times New Roman" panose="02020603050405020304" pitchFamily="18" charset="0"/>
            </a:endParaRPr>
          </a:p>
        </p:txBody>
      </p:sp>
      <p:sp>
        <p:nvSpPr>
          <p:cNvPr id="96259" name="Rectangle 2"/>
          <p:cNvSpPr>
            <a:spLocks noGrp="1" noRot="1" noChangeAspect="1" noTextEdit="1"/>
          </p:cNvSpPr>
          <p:nvPr>
            <p:ph type="sldImg"/>
          </p:nvPr>
        </p:nvSpPr>
        <p:spPr/>
      </p:sp>
      <p:sp>
        <p:nvSpPr>
          <p:cNvPr id="962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40</a:t>
            </a:fld>
            <a:endParaRPr lang="en-US" altLang="zh-CN" sz="1300" dirty="0">
              <a:latin typeface="Times New Roman" panose="02020603050405020304" pitchFamily="18" charset="0"/>
            </a:endParaRPr>
          </a:p>
        </p:txBody>
      </p:sp>
      <p:sp>
        <p:nvSpPr>
          <p:cNvPr id="96259" name="Rectangle 2"/>
          <p:cNvSpPr>
            <a:spLocks noGrp="1" noRot="1" noChangeAspect="1" noTextEdit="1"/>
          </p:cNvSpPr>
          <p:nvPr>
            <p:ph type="sldImg"/>
          </p:nvPr>
        </p:nvSpPr>
        <p:spPr/>
      </p:sp>
      <p:sp>
        <p:nvSpPr>
          <p:cNvPr id="962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extLst>
      <p:ext uri="{BB962C8B-B14F-4D97-AF65-F5344CB8AC3E}">
        <p14:creationId xmlns:p14="http://schemas.microsoft.com/office/powerpoint/2010/main" val="1288495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45</a:t>
            </a:fld>
            <a:endParaRPr lang="en-US" altLang="zh-CN" sz="1300" dirty="0">
              <a:latin typeface="Times New Roman" panose="02020603050405020304" pitchFamily="18" charset="0"/>
            </a:endParaRPr>
          </a:p>
        </p:txBody>
      </p:sp>
      <p:sp>
        <p:nvSpPr>
          <p:cNvPr id="97283" name="Rectangle 2"/>
          <p:cNvSpPr>
            <a:spLocks noGrp="1" noRot="1" noChangeAspect="1" noTextEdit="1"/>
          </p:cNvSpPr>
          <p:nvPr>
            <p:ph type="sldImg"/>
          </p:nvPr>
        </p:nvSpPr>
        <p:spPr/>
      </p:sp>
      <p:sp>
        <p:nvSpPr>
          <p:cNvPr id="972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46</a:t>
            </a:fld>
            <a:endParaRPr lang="en-US" altLang="zh-CN" sz="1300" dirty="0">
              <a:latin typeface="Times New Roman" panose="02020603050405020304" pitchFamily="18" charset="0"/>
            </a:endParaRPr>
          </a:p>
        </p:txBody>
      </p:sp>
      <p:sp>
        <p:nvSpPr>
          <p:cNvPr id="98307" name="Rectangle 2"/>
          <p:cNvSpPr>
            <a:spLocks noGrp="1" noRot="1" noChangeAspect="1" noTextEdit="1"/>
          </p:cNvSpPr>
          <p:nvPr>
            <p:ph type="sldImg"/>
          </p:nvPr>
        </p:nvSpPr>
        <p:spPr/>
      </p:sp>
      <p:sp>
        <p:nvSpPr>
          <p:cNvPr id="9830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47</a:t>
            </a:fld>
            <a:endParaRPr lang="en-US" altLang="zh-CN" sz="1300" dirty="0">
              <a:latin typeface="Times New Roman" panose="02020603050405020304" pitchFamily="18" charset="0"/>
            </a:endParaRPr>
          </a:p>
        </p:txBody>
      </p:sp>
      <p:sp>
        <p:nvSpPr>
          <p:cNvPr id="99331" name="Rectangle 2"/>
          <p:cNvSpPr>
            <a:spLocks noGrp="1" noRot="1" noChangeAspect="1" noTextEdit="1"/>
          </p:cNvSpPr>
          <p:nvPr>
            <p:ph type="sldImg"/>
          </p:nvPr>
        </p:nvSpPr>
        <p:spPr/>
      </p:sp>
      <p:sp>
        <p:nvSpPr>
          <p:cNvPr id="9933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48</a:t>
            </a:fld>
            <a:endParaRPr lang="en-US" altLang="zh-CN" sz="1300" dirty="0">
              <a:latin typeface="Times New Roman" panose="02020603050405020304" pitchFamily="18" charset="0"/>
            </a:endParaRPr>
          </a:p>
        </p:txBody>
      </p:sp>
      <p:sp>
        <p:nvSpPr>
          <p:cNvPr id="100355" name="Rectangle 2"/>
          <p:cNvSpPr>
            <a:spLocks noGrp="1" noRot="1" noChangeAspect="1" noTextEdit="1"/>
          </p:cNvSpPr>
          <p:nvPr>
            <p:ph type="sldImg"/>
          </p:nvPr>
        </p:nvSpPr>
        <p:spPr/>
      </p:sp>
      <p:sp>
        <p:nvSpPr>
          <p:cNvPr id="10035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49</a:t>
            </a:fld>
            <a:endParaRPr lang="en-US" altLang="zh-CN" sz="1300" dirty="0">
              <a:latin typeface="Times New Roman" panose="02020603050405020304" pitchFamily="18" charset="0"/>
            </a:endParaRPr>
          </a:p>
        </p:txBody>
      </p:sp>
      <p:sp>
        <p:nvSpPr>
          <p:cNvPr id="101379" name="Rectangle 2"/>
          <p:cNvSpPr>
            <a:spLocks noGrp="1" noRot="1" noChangeAspect="1" noTextEdit="1"/>
          </p:cNvSpPr>
          <p:nvPr>
            <p:ph type="sldImg"/>
          </p:nvPr>
        </p:nvSpPr>
        <p:spPr/>
      </p:sp>
      <p:sp>
        <p:nvSpPr>
          <p:cNvPr id="10138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50</a:t>
            </a:fld>
            <a:endParaRPr lang="en-US" altLang="zh-CN" sz="1300" dirty="0">
              <a:latin typeface="Times New Roman" panose="02020603050405020304" pitchFamily="18" charset="0"/>
            </a:endParaRPr>
          </a:p>
        </p:txBody>
      </p:sp>
      <p:sp>
        <p:nvSpPr>
          <p:cNvPr id="102403" name="Rectangle 2"/>
          <p:cNvSpPr>
            <a:spLocks noGrp="1" noRot="1" noChangeAspect="1" noTextEdit="1"/>
          </p:cNvSpPr>
          <p:nvPr>
            <p:ph type="sldImg"/>
          </p:nvPr>
        </p:nvSpPr>
        <p:spPr/>
      </p:sp>
      <p:sp>
        <p:nvSpPr>
          <p:cNvPr id="10240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51</a:t>
            </a:fld>
            <a:endParaRPr lang="en-US" altLang="zh-CN" sz="1300" dirty="0">
              <a:latin typeface="Times New Roman" panose="02020603050405020304" pitchFamily="18" charset="0"/>
            </a:endParaRPr>
          </a:p>
        </p:txBody>
      </p:sp>
      <p:sp>
        <p:nvSpPr>
          <p:cNvPr id="103427" name="Rectangle 2"/>
          <p:cNvSpPr>
            <a:spLocks noGrp="1" noRot="1" noChangeAspect="1" noTextEdit="1"/>
          </p:cNvSpPr>
          <p:nvPr>
            <p:ph type="sldImg"/>
          </p:nvPr>
        </p:nvSpPr>
        <p:spPr/>
      </p:sp>
      <p:sp>
        <p:nvSpPr>
          <p:cNvPr id="10342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52</a:t>
            </a:fld>
            <a:endParaRPr lang="en-US" altLang="zh-CN" sz="1300" dirty="0">
              <a:latin typeface="Times New Roman" panose="02020603050405020304" pitchFamily="18" charset="0"/>
            </a:endParaRPr>
          </a:p>
        </p:txBody>
      </p:sp>
      <p:sp>
        <p:nvSpPr>
          <p:cNvPr id="104451" name="Rectangle 2"/>
          <p:cNvSpPr>
            <a:spLocks noGrp="1" noRot="1" noChangeAspect="1" noTextEdit="1"/>
          </p:cNvSpPr>
          <p:nvPr>
            <p:ph type="sldImg"/>
          </p:nvPr>
        </p:nvSpPr>
        <p:spPr/>
      </p:sp>
      <p:sp>
        <p:nvSpPr>
          <p:cNvPr id="104452" name="Rectangle 3"/>
          <p:cNvSpPr>
            <a:spLocks noGrp="1"/>
          </p:cNvSpPr>
          <p:nvPr>
            <p:ph type="body" idx="1"/>
          </p:nvPr>
        </p:nvSpPr>
        <p:spPr>
          <a:xfrm>
            <a:off x="974725" y="4560888"/>
            <a:ext cx="5365750" cy="4319587"/>
          </a:xfrm>
        </p:spPr>
        <p:txBody>
          <a:bodyPr wrap="none" lIns="96660" tIns="48329" rIns="96660" bIns="48329" anchor="ctr" anchorCtr="0"/>
          <a:lstStyle/>
          <a:p>
            <a:pPr lvl="0"/>
            <a:r>
              <a:rPr lang="zh-CN" altLang="en-US" dirty="0"/>
              <a:t>要求每个进程运行前先声明对每种资源的最大需求数</a:t>
            </a:r>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53</a:t>
            </a:fld>
            <a:endParaRPr lang="en-US" altLang="zh-CN" sz="1300" dirty="0">
              <a:latin typeface="Times New Roman" panose="02020603050405020304" pitchFamily="18" charset="0"/>
            </a:endParaRPr>
          </a:p>
        </p:txBody>
      </p:sp>
      <p:sp>
        <p:nvSpPr>
          <p:cNvPr id="105475" name="Rectangle 2"/>
          <p:cNvSpPr>
            <a:spLocks noGrp="1" noRot="1" noChangeAspect="1" noTextEdit="1"/>
          </p:cNvSpPr>
          <p:nvPr>
            <p:ph type="sldImg"/>
          </p:nvPr>
        </p:nvSpPr>
        <p:spPr/>
      </p:sp>
      <p:sp>
        <p:nvSpPr>
          <p:cNvPr id="10547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54</a:t>
            </a:fld>
            <a:endParaRPr lang="en-US" altLang="zh-CN" sz="1300" dirty="0">
              <a:latin typeface="Times New Roman" panose="02020603050405020304" pitchFamily="18" charset="0"/>
            </a:endParaRPr>
          </a:p>
        </p:txBody>
      </p:sp>
      <p:sp>
        <p:nvSpPr>
          <p:cNvPr id="106499" name="Rectangle 2"/>
          <p:cNvSpPr>
            <a:spLocks noGrp="1" noRot="1" noChangeAspect="1" noTextEdit="1"/>
          </p:cNvSpPr>
          <p:nvPr>
            <p:ph type="sldImg"/>
          </p:nvPr>
        </p:nvSpPr>
        <p:spPr/>
      </p:sp>
      <p:sp>
        <p:nvSpPr>
          <p:cNvPr id="10650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55</a:t>
            </a:fld>
            <a:endParaRPr lang="en-US" altLang="zh-CN" sz="1300" dirty="0">
              <a:latin typeface="Times New Roman" panose="02020603050405020304" pitchFamily="18" charset="0"/>
            </a:endParaRPr>
          </a:p>
        </p:txBody>
      </p:sp>
      <p:sp>
        <p:nvSpPr>
          <p:cNvPr id="107523" name="Rectangle 2"/>
          <p:cNvSpPr>
            <a:spLocks noGrp="1" noRot="1" noChangeAspect="1" noTextEdit="1"/>
          </p:cNvSpPr>
          <p:nvPr>
            <p:ph type="sldImg"/>
          </p:nvPr>
        </p:nvSpPr>
        <p:spPr/>
      </p:sp>
      <p:sp>
        <p:nvSpPr>
          <p:cNvPr id="10752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56</a:t>
            </a:fld>
            <a:endParaRPr lang="en-US" altLang="zh-CN" sz="1300" dirty="0">
              <a:latin typeface="Times New Roman" panose="02020603050405020304" pitchFamily="18" charset="0"/>
            </a:endParaRPr>
          </a:p>
        </p:txBody>
      </p:sp>
      <p:sp>
        <p:nvSpPr>
          <p:cNvPr id="108547" name="Rectangle 2"/>
          <p:cNvSpPr>
            <a:spLocks noGrp="1" noRot="1" noChangeAspect="1" noTextEdit="1"/>
          </p:cNvSpPr>
          <p:nvPr>
            <p:ph type="sldImg"/>
          </p:nvPr>
        </p:nvSpPr>
        <p:spPr/>
      </p:sp>
      <p:sp>
        <p:nvSpPr>
          <p:cNvPr id="10854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57</a:t>
            </a:fld>
            <a:endParaRPr lang="en-US" altLang="zh-CN" sz="1300" dirty="0">
              <a:latin typeface="Times New Roman" panose="02020603050405020304" pitchFamily="18" charset="0"/>
            </a:endParaRPr>
          </a:p>
        </p:txBody>
      </p:sp>
      <p:sp>
        <p:nvSpPr>
          <p:cNvPr id="109571" name="Rectangle 2"/>
          <p:cNvSpPr>
            <a:spLocks noGrp="1" noRot="1" noChangeAspect="1" noTextEdit="1"/>
          </p:cNvSpPr>
          <p:nvPr>
            <p:ph type="sldImg"/>
          </p:nvPr>
        </p:nvSpPr>
        <p:spPr/>
      </p:sp>
      <p:sp>
        <p:nvSpPr>
          <p:cNvPr id="10957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幻灯片图像占位符 1">
            <a:extLst>
              <a:ext uri="{FF2B5EF4-FFF2-40B4-BE49-F238E27FC236}">
                <a16:creationId xmlns:a16="http://schemas.microsoft.com/office/drawing/2014/main" id="{4E573E54-C94F-4DC3-BD7C-4297C2C0D301}"/>
              </a:ext>
            </a:extLst>
          </p:cNvPr>
          <p:cNvSpPr>
            <a:spLocks noGrp="1" noRot="1" noChangeAspect="1" noTextEdit="1"/>
          </p:cNvSpPr>
          <p:nvPr>
            <p:ph type="sldImg"/>
          </p:nvPr>
        </p:nvSpPr>
        <p:spPr>
          <a:ln/>
        </p:spPr>
      </p:sp>
      <p:sp>
        <p:nvSpPr>
          <p:cNvPr id="270339" name="备注占位符 2">
            <a:extLst>
              <a:ext uri="{FF2B5EF4-FFF2-40B4-BE49-F238E27FC236}">
                <a16:creationId xmlns:a16="http://schemas.microsoft.com/office/drawing/2014/main" id="{C0466227-55BD-4504-AB6A-B55A55ADD5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70340" name="灯片编号占位符 3">
            <a:extLst>
              <a:ext uri="{FF2B5EF4-FFF2-40B4-BE49-F238E27FC236}">
                <a16:creationId xmlns:a16="http://schemas.microsoft.com/office/drawing/2014/main" id="{3A3395B4-9AB8-4BCA-AC01-9D5E7E843D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B5E0E37-A71B-4B57-89C7-B19AD64A342A}" type="slidenum">
              <a:rPr lang="en-US" altLang="zh-CN">
                <a:latin typeface="Helvetica" panose="020B0604020202020204" pitchFamily="34" charset="0"/>
              </a:rPr>
              <a:pPr/>
              <a:t>59</a:t>
            </a:fld>
            <a:endParaRPr lang="en-US" altLang="zh-CN">
              <a:latin typeface="Helvetica" panose="020B0604020202020204" pitchFamily="34" charset="0"/>
            </a:endParaRPr>
          </a:p>
        </p:txBody>
      </p:sp>
    </p:spTree>
    <p:extLst>
      <p:ext uri="{BB962C8B-B14F-4D97-AF65-F5344CB8AC3E}">
        <p14:creationId xmlns:p14="http://schemas.microsoft.com/office/powerpoint/2010/main" val="37086199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60</a:t>
            </a:fld>
            <a:endParaRPr lang="en-US" altLang="zh-CN" sz="1300" dirty="0">
              <a:latin typeface="Times New Roman" panose="02020603050405020304" pitchFamily="18" charset="0"/>
            </a:endParaRPr>
          </a:p>
        </p:txBody>
      </p:sp>
      <p:sp>
        <p:nvSpPr>
          <p:cNvPr id="88067" name="Rectangle 2"/>
          <p:cNvSpPr>
            <a:spLocks noGrp="1" noRot="1" noChangeAspect="1" noTextEdit="1"/>
          </p:cNvSpPr>
          <p:nvPr>
            <p:ph type="sldImg"/>
          </p:nvPr>
        </p:nvSpPr>
        <p:spPr/>
      </p:sp>
      <p:sp>
        <p:nvSpPr>
          <p:cNvPr id="8806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61</a:t>
            </a:fld>
            <a:endParaRPr lang="en-US" altLang="zh-CN" sz="1300" dirty="0">
              <a:latin typeface="Times New Roman" panose="02020603050405020304" pitchFamily="18" charset="0"/>
            </a:endParaRPr>
          </a:p>
        </p:txBody>
      </p:sp>
      <p:sp>
        <p:nvSpPr>
          <p:cNvPr id="111619" name="Rectangle 2"/>
          <p:cNvSpPr>
            <a:spLocks noGrp="1" noRot="1" noChangeAspect="1" noTextEdit="1"/>
          </p:cNvSpPr>
          <p:nvPr>
            <p:ph type="sldImg"/>
          </p:nvPr>
        </p:nvSpPr>
        <p:spPr/>
      </p:sp>
      <p:sp>
        <p:nvSpPr>
          <p:cNvPr id="11162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62</a:t>
            </a:fld>
            <a:endParaRPr lang="en-US" altLang="zh-CN" sz="1300" dirty="0">
              <a:latin typeface="Times New Roman" panose="02020603050405020304" pitchFamily="18" charset="0"/>
            </a:endParaRPr>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63</a:t>
            </a:fld>
            <a:endParaRPr lang="en-US" altLang="zh-CN" sz="1300" dirty="0">
              <a:latin typeface="Times New Roman" panose="02020603050405020304" pitchFamily="18" charset="0"/>
            </a:endParaRPr>
          </a:p>
        </p:txBody>
      </p:sp>
      <p:sp>
        <p:nvSpPr>
          <p:cNvPr id="113667" name="Rectangle 2"/>
          <p:cNvSpPr>
            <a:spLocks noGrp="1" noRot="1" noChangeAspect="1" noTextEdit="1"/>
          </p:cNvSpPr>
          <p:nvPr>
            <p:ph type="sldImg"/>
          </p:nvPr>
        </p:nvSpPr>
        <p:spPr/>
      </p:sp>
      <p:sp>
        <p:nvSpPr>
          <p:cNvPr id="11366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64</a:t>
            </a:fld>
            <a:endParaRPr lang="en-US" altLang="zh-CN" sz="1300" dirty="0">
              <a:latin typeface="Times New Roman" panose="02020603050405020304" pitchFamily="18" charset="0"/>
            </a:endParaRPr>
          </a:p>
        </p:txBody>
      </p:sp>
      <p:sp>
        <p:nvSpPr>
          <p:cNvPr id="114691" name="Rectangle 2"/>
          <p:cNvSpPr>
            <a:spLocks noGrp="1" noRot="1" noChangeAspect="1" noTextEdit="1"/>
          </p:cNvSpPr>
          <p:nvPr>
            <p:ph type="sldImg"/>
          </p:nvPr>
        </p:nvSpPr>
        <p:spPr/>
      </p:sp>
      <p:sp>
        <p:nvSpPr>
          <p:cNvPr id="114692" name="Rectangle 3"/>
          <p:cNvSpPr>
            <a:spLocks noGrp="1"/>
          </p:cNvSpPr>
          <p:nvPr>
            <p:ph type="body" idx="1"/>
          </p:nvPr>
        </p:nvSpPr>
        <p:spPr>
          <a:xfrm>
            <a:off x="974725" y="4560888"/>
            <a:ext cx="5365750" cy="4319587"/>
          </a:xfrm>
        </p:spPr>
        <p:txBody>
          <a:bodyPr wrap="none" lIns="96660" tIns="48329" rIns="96660" bIns="48329" anchor="ctr" anchorCtr="0"/>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银行家：</a:t>
            </a:r>
            <a:r>
              <a:rPr lang="en-US" altLang="zh-CN" dirty="0"/>
              <a:t>Max</a:t>
            </a:r>
            <a:r>
              <a:rPr lang="zh-CN" altLang="en-US" dirty="0"/>
              <a:t>，</a:t>
            </a:r>
            <a:r>
              <a:rPr lang="en-US" altLang="zh-CN" dirty="0"/>
              <a:t>Allocation</a:t>
            </a:r>
            <a:r>
              <a:rPr lang="zh-CN" altLang="en-US" dirty="0"/>
              <a:t>，</a:t>
            </a:r>
            <a:r>
              <a:rPr lang="en-US" altLang="zh-CN" dirty="0"/>
              <a:t>Need</a:t>
            </a:r>
            <a:endParaRPr lang="zh-CN" altLang="zh-CN" dirty="0"/>
          </a:p>
          <a:p>
            <a:pPr lvl="0"/>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65</a:t>
            </a:fld>
            <a:endParaRPr lang="en-US" altLang="zh-CN" sz="1300" dirty="0">
              <a:latin typeface="Times New Roman" panose="02020603050405020304" pitchFamily="18" charset="0"/>
            </a:endParaRPr>
          </a:p>
        </p:txBody>
      </p:sp>
      <p:sp>
        <p:nvSpPr>
          <p:cNvPr id="115715" name="Rectangle 2"/>
          <p:cNvSpPr>
            <a:spLocks noGrp="1" noRot="1" noChangeAspect="1" noTextEdit="1"/>
          </p:cNvSpPr>
          <p:nvPr>
            <p:ph type="sldImg"/>
          </p:nvPr>
        </p:nvSpPr>
        <p:spPr/>
      </p:sp>
      <p:sp>
        <p:nvSpPr>
          <p:cNvPr id="11571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66</a:t>
            </a:fld>
            <a:endParaRPr lang="en-US" altLang="zh-CN" sz="1300" dirty="0">
              <a:latin typeface="Times New Roman" panose="02020603050405020304" pitchFamily="18" charset="0"/>
            </a:endParaRPr>
          </a:p>
        </p:txBody>
      </p:sp>
      <p:sp>
        <p:nvSpPr>
          <p:cNvPr id="116739" name="Rectangle 2"/>
          <p:cNvSpPr>
            <a:spLocks noGrp="1" noRot="1" noChangeAspect="1" noTextEdit="1"/>
          </p:cNvSpPr>
          <p:nvPr>
            <p:ph type="sldImg"/>
          </p:nvPr>
        </p:nvSpPr>
        <p:spPr/>
      </p:sp>
      <p:sp>
        <p:nvSpPr>
          <p:cNvPr id="11674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69</a:t>
            </a:fld>
            <a:endParaRPr lang="en-US" altLang="zh-CN" sz="1300" dirty="0">
              <a:latin typeface="Times New Roman" panose="02020603050405020304" pitchFamily="18" charset="0"/>
            </a:endParaRPr>
          </a:p>
        </p:txBody>
      </p:sp>
      <p:sp>
        <p:nvSpPr>
          <p:cNvPr id="117763" name="Rectangle 2"/>
          <p:cNvSpPr>
            <a:spLocks noGrp="1" noRot="1" noChangeAspect="1" noTextEdit="1"/>
          </p:cNvSpPr>
          <p:nvPr>
            <p:ph type="sldImg"/>
          </p:nvPr>
        </p:nvSpPr>
        <p:spPr/>
      </p:sp>
      <p:sp>
        <p:nvSpPr>
          <p:cNvPr id="11776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70</a:t>
            </a:fld>
            <a:endParaRPr lang="en-US" altLang="zh-CN" sz="1300" dirty="0">
              <a:latin typeface="Times New Roman" panose="02020603050405020304" pitchFamily="18" charset="0"/>
            </a:endParaRPr>
          </a:p>
        </p:txBody>
      </p:sp>
      <p:sp>
        <p:nvSpPr>
          <p:cNvPr id="118787" name="Rectangle 2"/>
          <p:cNvSpPr>
            <a:spLocks noGrp="1" noRot="1" noChangeAspect="1" noTextEdit="1"/>
          </p:cNvSpPr>
          <p:nvPr>
            <p:ph type="sldImg"/>
          </p:nvPr>
        </p:nvSpPr>
        <p:spPr/>
      </p:sp>
      <p:sp>
        <p:nvSpPr>
          <p:cNvPr id="11878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71</a:t>
            </a:fld>
            <a:endParaRPr lang="en-US" altLang="zh-CN" sz="1300" dirty="0">
              <a:latin typeface="Times New Roman" panose="02020603050405020304" pitchFamily="18" charset="0"/>
            </a:endParaRPr>
          </a:p>
        </p:txBody>
      </p:sp>
      <p:sp>
        <p:nvSpPr>
          <p:cNvPr id="119811" name="Rectangle 2"/>
          <p:cNvSpPr>
            <a:spLocks noGrp="1" noRot="1" noChangeAspect="1" noTextEdit="1"/>
          </p:cNvSpPr>
          <p:nvPr>
            <p:ph type="sldImg"/>
          </p:nvPr>
        </p:nvSpPr>
        <p:spPr/>
      </p:sp>
      <p:sp>
        <p:nvSpPr>
          <p:cNvPr id="11981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72</a:t>
            </a:fld>
            <a:endParaRPr lang="en-US" altLang="zh-CN" sz="1300" dirty="0">
              <a:latin typeface="Times New Roman" panose="02020603050405020304" pitchFamily="18" charset="0"/>
            </a:endParaRPr>
          </a:p>
        </p:txBody>
      </p:sp>
      <p:sp>
        <p:nvSpPr>
          <p:cNvPr id="120835" name="Rectangle 2"/>
          <p:cNvSpPr>
            <a:spLocks noGrp="1" noRot="1" noChangeAspect="1" noTextEdit="1"/>
          </p:cNvSpPr>
          <p:nvPr>
            <p:ph type="sldImg"/>
          </p:nvPr>
        </p:nvSpPr>
        <p:spPr/>
      </p:sp>
      <p:sp>
        <p:nvSpPr>
          <p:cNvPr id="12083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73</a:t>
            </a:fld>
            <a:endParaRPr lang="en-US" altLang="zh-CN" sz="1300" dirty="0">
              <a:latin typeface="Times New Roman" panose="02020603050405020304" pitchFamily="18" charset="0"/>
            </a:endParaRPr>
          </a:p>
        </p:txBody>
      </p:sp>
      <p:sp>
        <p:nvSpPr>
          <p:cNvPr id="121859" name="Rectangle 2"/>
          <p:cNvSpPr>
            <a:spLocks noGrp="1" noRot="1" noChangeAspect="1" noTextEdit="1"/>
          </p:cNvSpPr>
          <p:nvPr>
            <p:ph type="sldImg"/>
          </p:nvPr>
        </p:nvSpPr>
        <p:spPr/>
      </p:sp>
      <p:sp>
        <p:nvSpPr>
          <p:cNvPr id="1218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74</a:t>
            </a:fld>
            <a:endParaRPr lang="en-US" altLang="zh-CN" sz="1300" dirty="0">
              <a:latin typeface="Times New Roman" panose="02020603050405020304" pitchFamily="18" charset="0"/>
            </a:endParaRPr>
          </a:p>
        </p:txBody>
      </p:sp>
      <p:sp>
        <p:nvSpPr>
          <p:cNvPr id="122883" name="Rectangle 2"/>
          <p:cNvSpPr>
            <a:spLocks noGrp="1" noRot="1" noChangeAspect="1" noTextEdit="1"/>
          </p:cNvSpPr>
          <p:nvPr>
            <p:ph type="sldImg"/>
          </p:nvPr>
        </p:nvSpPr>
        <p:spPr/>
      </p:sp>
      <p:sp>
        <p:nvSpPr>
          <p:cNvPr id="1228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75</a:t>
            </a:fld>
            <a:endParaRPr lang="en-US" altLang="zh-CN" sz="1300" dirty="0">
              <a:latin typeface="Times New Roman" panose="02020603050405020304" pitchFamily="18" charset="0"/>
            </a:endParaRPr>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a:extLst>
              <a:ext uri="{FF2B5EF4-FFF2-40B4-BE49-F238E27FC236}">
                <a16:creationId xmlns:a16="http://schemas.microsoft.com/office/drawing/2014/main" id="{CC2DC8A1-DBF9-4B14-80D5-59CB5D495F96}"/>
              </a:ext>
            </a:extLst>
          </p:cNvPr>
          <p:cNvSpPr>
            <a:spLocks noGrp="1" noRot="1" noChangeAspect="1" noChangeArrowheads="1" noTextEdit="1"/>
          </p:cNvSpPr>
          <p:nvPr>
            <p:ph type="sldImg"/>
          </p:nvPr>
        </p:nvSpPr>
        <p:spPr>
          <a:ln/>
        </p:spPr>
      </p:sp>
      <p:sp>
        <p:nvSpPr>
          <p:cNvPr id="264195" name="备注占位符 2">
            <a:extLst>
              <a:ext uri="{FF2B5EF4-FFF2-40B4-BE49-F238E27FC236}">
                <a16:creationId xmlns:a16="http://schemas.microsoft.com/office/drawing/2014/main" id="{592A7FE9-3116-4A3E-A690-E5C4788DD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64196" name="灯片编号占位符 3">
            <a:extLst>
              <a:ext uri="{FF2B5EF4-FFF2-40B4-BE49-F238E27FC236}">
                <a16:creationId xmlns:a16="http://schemas.microsoft.com/office/drawing/2014/main" id="{D3F5F081-6C31-41D3-87EF-258A61206A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CC330F1F-7F2A-4191-BC35-E51B4797DE35}" type="slidenum">
              <a:rPr lang="en-US" altLang="zh-CN">
                <a:latin typeface="Helvetica" panose="020B0604020202020204" pitchFamily="34" charset="0"/>
              </a:rPr>
              <a:pPr/>
              <a:t>81</a:t>
            </a:fld>
            <a:endParaRPr lang="en-US" altLang="zh-CN">
              <a:latin typeface="Helvetica" panose="020B0604020202020204" pitchFamily="34" charset="0"/>
            </a:endParaRPr>
          </a:p>
        </p:txBody>
      </p:sp>
    </p:spTree>
    <p:extLst>
      <p:ext uri="{BB962C8B-B14F-4D97-AF65-F5344CB8AC3E}">
        <p14:creationId xmlns:p14="http://schemas.microsoft.com/office/powerpoint/2010/main" val="35654073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a:extLst>
              <a:ext uri="{FF2B5EF4-FFF2-40B4-BE49-F238E27FC236}">
                <a16:creationId xmlns:a16="http://schemas.microsoft.com/office/drawing/2014/main" id="{E3FF9A64-B2F1-4539-A26C-B01B8AA47120}"/>
              </a:ext>
            </a:extLst>
          </p:cNvPr>
          <p:cNvSpPr>
            <a:spLocks noGrp="1" noRot="1" noChangeAspect="1" noChangeArrowheads="1" noTextEdit="1"/>
          </p:cNvSpPr>
          <p:nvPr>
            <p:ph type="sldImg"/>
          </p:nvPr>
        </p:nvSpPr>
        <p:spPr>
          <a:ln/>
        </p:spPr>
      </p:sp>
      <p:sp>
        <p:nvSpPr>
          <p:cNvPr id="266243" name="备注占位符 2">
            <a:extLst>
              <a:ext uri="{FF2B5EF4-FFF2-40B4-BE49-F238E27FC236}">
                <a16:creationId xmlns:a16="http://schemas.microsoft.com/office/drawing/2014/main" id="{17BAAA00-DCCE-4578-ADAE-B3D84B0D87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66244" name="灯片编号占位符 3">
            <a:extLst>
              <a:ext uri="{FF2B5EF4-FFF2-40B4-BE49-F238E27FC236}">
                <a16:creationId xmlns:a16="http://schemas.microsoft.com/office/drawing/2014/main" id="{ECD0BE50-AC78-4DA5-B6DF-9CF83A592F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2CDAE6F-9F7D-4FA2-8740-51D331847FD6}" type="slidenum">
              <a:rPr lang="en-US" altLang="zh-CN">
                <a:latin typeface="Helvetica" panose="020B0604020202020204" pitchFamily="34" charset="0"/>
              </a:rPr>
              <a:pPr/>
              <a:t>82</a:t>
            </a:fld>
            <a:endParaRPr lang="en-US" altLang="zh-CN">
              <a:latin typeface="Helvetica" panose="020B0604020202020204" pitchFamily="34" charset="0"/>
            </a:endParaRPr>
          </a:p>
        </p:txBody>
      </p:sp>
    </p:spTree>
    <p:extLst>
      <p:ext uri="{BB962C8B-B14F-4D97-AF65-F5344CB8AC3E}">
        <p14:creationId xmlns:p14="http://schemas.microsoft.com/office/powerpoint/2010/main" val="37910584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幻灯片图像占位符 1">
            <a:extLst>
              <a:ext uri="{FF2B5EF4-FFF2-40B4-BE49-F238E27FC236}">
                <a16:creationId xmlns:a16="http://schemas.microsoft.com/office/drawing/2014/main" id="{7AB9B88C-B9AC-4033-8FA5-AB61D6300616}"/>
              </a:ext>
            </a:extLst>
          </p:cNvPr>
          <p:cNvSpPr>
            <a:spLocks noGrp="1" noRot="1" noChangeAspect="1" noChangeArrowheads="1" noTextEdit="1"/>
          </p:cNvSpPr>
          <p:nvPr>
            <p:ph type="sldImg"/>
          </p:nvPr>
        </p:nvSpPr>
        <p:spPr>
          <a:ln/>
        </p:spPr>
      </p:sp>
      <p:sp>
        <p:nvSpPr>
          <p:cNvPr id="268291" name="备注占位符 2">
            <a:extLst>
              <a:ext uri="{FF2B5EF4-FFF2-40B4-BE49-F238E27FC236}">
                <a16:creationId xmlns:a16="http://schemas.microsoft.com/office/drawing/2014/main" id="{AA0A06E8-EF02-45A4-BB2D-A13AEEA34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68292" name="灯片编号占位符 3">
            <a:extLst>
              <a:ext uri="{FF2B5EF4-FFF2-40B4-BE49-F238E27FC236}">
                <a16:creationId xmlns:a16="http://schemas.microsoft.com/office/drawing/2014/main" id="{3B1E4251-BC04-40D5-99C2-73BFC51AE4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E216609-E769-4B32-B94F-857947EC31D6}" type="slidenum">
              <a:rPr lang="en-US" altLang="zh-CN">
                <a:latin typeface="Helvetica" panose="020B0604020202020204" pitchFamily="34" charset="0"/>
              </a:rPr>
              <a:pPr/>
              <a:t>83</a:t>
            </a:fld>
            <a:endParaRPr lang="en-US" altLang="zh-CN">
              <a:latin typeface="Helvetica" panose="020B0604020202020204" pitchFamily="34" charset="0"/>
            </a:endParaRPr>
          </a:p>
        </p:txBody>
      </p:sp>
    </p:spTree>
    <p:extLst>
      <p:ext uri="{BB962C8B-B14F-4D97-AF65-F5344CB8AC3E}">
        <p14:creationId xmlns:p14="http://schemas.microsoft.com/office/powerpoint/2010/main" val="39774812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84</a:t>
            </a:fld>
            <a:endParaRPr lang="en-US" altLang="zh-CN" sz="1300" dirty="0">
              <a:latin typeface="Times New Roman" panose="02020603050405020304" pitchFamily="18" charset="0"/>
            </a:endParaRPr>
          </a:p>
        </p:txBody>
      </p:sp>
      <p:sp>
        <p:nvSpPr>
          <p:cNvPr id="123907" name="Rectangle 2"/>
          <p:cNvSpPr>
            <a:spLocks noGrp="1" noRot="1" noChangeAspect="1" noTextEdit="1"/>
          </p:cNvSpPr>
          <p:nvPr>
            <p:ph type="sldImg"/>
          </p:nvPr>
        </p:nvSpPr>
        <p:spPr/>
      </p:sp>
      <p:sp>
        <p:nvSpPr>
          <p:cNvPr id="12390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3"/>
          <p:cNvGrpSpPr/>
          <p:nvPr/>
        </p:nvGrpSpPr>
        <p:grpSpPr>
          <a:xfrm>
            <a:off x="198438" y="2960688"/>
            <a:ext cx="8610600" cy="201612"/>
            <a:chOff x="125" y="1865"/>
            <a:chExt cx="5424" cy="127"/>
          </a:xfrm>
        </p:grpSpPr>
        <p:sp>
          <p:nvSpPr>
            <p:cNvPr id="14" name="Rectangle 4"/>
            <p:cNvSpPr>
              <a:spLocks noChangeArrowheads="1"/>
            </p:cNvSpPr>
            <p:nvPr/>
          </p:nvSpPr>
          <p:spPr bwMode="auto">
            <a:xfrm>
              <a:off x="125" y="1865"/>
              <a:ext cx="1808" cy="127"/>
            </a:xfrm>
            <a:prstGeom prst="rect">
              <a:avLst/>
            </a:prstGeom>
            <a:solidFill>
              <a:srgbClr val="336699"/>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5" name="Rectangle 5"/>
            <p:cNvSpPr>
              <a:spLocks noChangeArrowheads="1"/>
            </p:cNvSpPr>
            <p:nvPr/>
          </p:nvSpPr>
          <p:spPr bwMode="auto">
            <a:xfrm>
              <a:off x="1933" y="1865"/>
              <a:ext cx="1808" cy="127"/>
            </a:xfrm>
            <a:prstGeom prst="rect">
              <a:avLst/>
            </a:prstGeom>
            <a:solidFill>
              <a:srgbClr val="99CCFF"/>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6" name="Rectangle 6"/>
            <p:cNvSpPr>
              <a:spLocks noChangeArrowheads="1"/>
            </p:cNvSpPr>
            <p:nvPr/>
          </p:nvSpPr>
          <p:spPr bwMode="auto">
            <a:xfrm>
              <a:off x="3741" y="1865"/>
              <a:ext cx="1808" cy="127"/>
            </a:xfrm>
            <a:prstGeom prst="rect">
              <a:avLst/>
            </a:prstGeom>
            <a:solidFill>
              <a:srgbClr val="336699"/>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grpSp>
      <p:sp>
        <p:nvSpPr>
          <p:cNvPr id="17" name="Text Box 7"/>
          <p:cNvSpPr txBox="1">
            <a:spLocks noChangeArrowheads="1"/>
          </p:cNvSpPr>
          <p:nvPr/>
        </p:nvSpPr>
        <p:spPr bwMode="auto">
          <a:xfrm>
            <a:off x="6489700" y="6588125"/>
            <a:ext cx="2713038" cy="244475"/>
          </a:xfrm>
          <a:prstGeom prst="rect">
            <a:avLst/>
          </a:prstGeom>
          <a:noFill/>
          <a:ln w="9525">
            <a:noFill/>
            <a:miter lim="800000"/>
          </a:ln>
          <a:effec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Silberschatz, Galvin and Gagne ©2009</a:t>
            </a:r>
          </a:p>
        </p:txBody>
      </p:sp>
      <p:sp>
        <p:nvSpPr>
          <p:cNvPr id="18" name="Text Box 8"/>
          <p:cNvSpPr txBox="1">
            <a:spLocks noChangeArrowheads="1"/>
          </p:cNvSpPr>
          <p:nvPr/>
        </p:nvSpPr>
        <p:spPr bwMode="auto">
          <a:xfrm>
            <a:off x="26988" y="6613525"/>
            <a:ext cx="2670175" cy="244475"/>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Operating System Concepts – 8</a:t>
            </a:r>
            <a:r>
              <a:rPr kumimoji="0" lang="en-US" altLang="zh-CN" sz="1000" b="1" i="0" u="none" strike="noStrike" kern="1200" cap="none" spc="0" normalizeH="0" baseline="30000" noProof="0">
                <a:ln>
                  <a:noFill/>
                </a:ln>
                <a:solidFill>
                  <a:srgbClr val="336699"/>
                </a:solidFill>
                <a:effectLst/>
                <a:uLnTx/>
                <a:uFillTx/>
                <a:latin typeface="Helvetica" pitchFamily="34" charset="0"/>
                <a:ea typeface="MS PGothic" panose="020B0600070205080204" pitchFamily="34" charset="-128"/>
                <a:cs typeface="+mn-cs"/>
              </a:rPr>
              <a:t>th</a:t>
            </a: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 Edition,</a:t>
            </a:r>
          </a:p>
        </p:txBody>
      </p:sp>
      <p:pic>
        <p:nvPicPr>
          <p:cNvPr id="2053" name="Picture 9" descr="dino_4"/>
          <p:cNvPicPr>
            <a:picLocks noChangeAspect="1"/>
          </p:cNvPicPr>
          <p:nvPr/>
        </p:nvPicPr>
        <p:blipFill>
          <a:blip r:embed="rId2"/>
          <a:stretch>
            <a:fillRect/>
          </a:stretch>
        </p:blipFill>
        <p:spPr>
          <a:xfrm>
            <a:off x="3360738" y="4157663"/>
            <a:ext cx="2062162" cy="1593850"/>
          </a:xfrm>
          <a:prstGeom prst="rect">
            <a:avLst/>
          </a:prstGeom>
          <a:noFill/>
          <a:ln w="76200" cap="flat" cmpd="sng">
            <a:solidFill>
              <a:srgbClr val="336699"/>
            </a:solidFill>
            <a:prstDash val="solid"/>
            <a:miter/>
            <a:headEnd type="none" w="med" len="med"/>
            <a:tailEnd type="none" w="med" len="med"/>
          </a:ln>
        </p:spPr>
      </p:pic>
      <p:sp>
        <p:nvSpPr>
          <p:cNvPr id="20" name="Rectangle 10"/>
          <p:cNvSpPr>
            <a:spLocks noChangeArrowheads="1"/>
          </p:cNvSpPr>
          <p:nvPr/>
        </p:nvSpPr>
        <p:spPr bwMode="auto">
          <a:xfrm>
            <a:off x="3243263" y="4006850"/>
            <a:ext cx="2336800" cy="1887538"/>
          </a:xfrm>
          <a:prstGeom prst="rect">
            <a:avLst/>
          </a:prstGeom>
          <a:noFill/>
          <a:ln w="57150" cmpd="thinThick">
            <a:solidFill>
              <a:srgbClr val="66CCFF"/>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20834"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charset="2"/>
              <a:buNone/>
              <a:defRPr/>
            </a:pPr>
            <a:endParaRPr kumimoji="1" lang="en-US" sz="3200" b="0" i="0" u="none" strike="noStrike" kern="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p:cNvPicPr>
          <p:nvPr/>
        </p:nvPicPr>
        <p:blipFill>
          <a:blip r:embed="rId13"/>
          <a:stretch>
            <a:fillRect/>
          </a:stretch>
        </p:blipFill>
        <p:spPr>
          <a:xfrm>
            <a:off x="285750" y="0"/>
            <a:ext cx="1195388" cy="908050"/>
          </a:xfrm>
          <a:prstGeom prst="rect">
            <a:avLst/>
          </a:prstGeom>
          <a:noFill/>
          <a:ln w="9525">
            <a:noFill/>
          </a:ln>
        </p:spPr>
      </p:pic>
      <p:sp>
        <p:nvSpPr>
          <p:cNvPr id="1027" name="Rectangle 3"/>
          <p:cNvSpPr>
            <a:spLocks noGrp="1"/>
          </p:cNvSpPr>
          <p:nvPr>
            <p:ph type="title"/>
          </p:nvPr>
        </p:nvSpPr>
        <p:spPr>
          <a:xfrm>
            <a:off x="457200" y="277813"/>
            <a:ext cx="8229600" cy="576262"/>
          </a:xfrm>
          <a:prstGeom prst="rect">
            <a:avLst/>
          </a:prstGeom>
          <a:noFill/>
          <a:ln w="9525">
            <a:noFill/>
          </a:ln>
        </p:spPr>
        <p:txBody>
          <a:bodyPr anchor="b" anchorCtr="0"/>
          <a:lstStyle/>
          <a:p>
            <a:pPr lvl="0"/>
            <a:r>
              <a:rPr lang="en-US" altLang="zh-CN" dirty="0"/>
              <a:t>Click to edit Master title style</a:t>
            </a:r>
          </a:p>
        </p:txBody>
      </p:sp>
      <p:sp>
        <p:nvSpPr>
          <p:cNvPr id="1028" name="Rectangle 4"/>
          <p:cNvSpPr>
            <a:spLocks noGrp="1"/>
          </p:cNvSpPr>
          <p:nvPr>
            <p:ph type="body" idx="1"/>
          </p:nvPr>
        </p:nvSpPr>
        <p:spPr>
          <a:xfrm>
            <a:off x="806450" y="1233488"/>
            <a:ext cx="8229600" cy="4530725"/>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19813" name="Rectangle 5"/>
          <p:cNvSpPr>
            <a:spLocks noChangeArrowheads="1"/>
          </p:cNvSpPr>
          <p:nvPr/>
        </p:nvSpPr>
        <p:spPr bwMode="auto">
          <a:xfrm>
            <a:off x="0" y="0"/>
            <a:ext cx="228600" cy="2286000"/>
          </a:xfrm>
          <a:prstGeom prst="rect">
            <a:avLst/>
          </a:prstGeom>
          <a:solidFill>
            <a:srgbClr val="33669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19814" name="Line 6"/>
          <p:cNvSpPr>
            <a:spLocks noChangeShapeType="1"/>
          </p:cNvSpPr>
          <p:nvPr/>
        </p:nvSpPr>
        <p:spPr bwMode="auto">
          <a:xfrm>
            <a:off x="457200" y="860425"/>
            <a:ext cx="8077200" cy="0"/>
          </a:xfrm>
          <a:prstGeom prst="line">
            <a:avLst/>
          </a:prstGeom>
          <a:noFill/>
          <a:ln w="19050">
            <a:solidFill>
              <a:srgbClr val="336699"/>
            </a:solid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Verdana" panose="020B0604030504040204" pitchFamily="34" charset="0"/>
              <a:ea typeface="+mn-ea"/>
              <a:cs typeface="+mn-cs"/>
            </a:endParaRPr>
          </a:p>
        </p:txBody>
      </p:sp>
      <p:sp>
        <p:nvSpPr>
          <p:cNvPr id="119815" name="Rectangle 7"/>
          <p:cNvSpPr>
            <a:spLocks noChangeArrowheads="1"/>
          </p:cNvSpPr>
          <p:nvPr/>
        </p:nvSpPr>
        <p:spPr bwMode="auto">
          <a:xfrm>
            <a:off x="0" y="2286000"/>
            <a:ext cx="228600" cy="2286000"/>
          </a:xfrm>
          <a:prstGeom prst="rect">
            <a:avLst/>
          </a:prstGeom>
          <a:solidFill>
            <a:srgbClr val="99CCFF"/>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19816" name="Rectangle 8"/>
          <p:cNvSpPr>
            <a:spLocks noChangeArrowheads="1"/>
          </p:cNvSpPr>
          <p:nvPr/>
        </p:nvSpPr>
        <p:spPr bwMode="auto">
          <a:xfrm>
            <a:off x="0" y="4572000"/>
            <a:ext cx="228600" cy="2286000"/>
          </a:xfrm>
          <a:prstGeom prst="rect">
            <a:avLst/>
          </a:prstGeom>
          <a:solidFill>
            <a:srgbClr val="33669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19817" name="Text Box 9"/>
          <p:cNvSpPr txBox="1">
            <a:spLocks noChangeArrowheads="1"/>
          </p:cNvSpPr>
          <p:nvPr/>
        </p:nvSpPr>
        <p:spPr bwMode="auto">
          <a:xfrm>
            <a:off x="4257675" y="6613525"/>
            <a:ext cx="444500" cy="244475"/>
          </a:xfrm>
          <a:prstGeom prst="rect">
            <a:avLst/>
          </a:prstGeom>
          <a:noFill/>
          <a:ln w="9525">
            <a:noFill/>
            <a:miter lim="800000"/>
          </a:ln>
          <a:effectLst/>
        </p:spPr>
        <p:txBody>
          <a:bodyPr wrap="none">
            <a:spAutoFit/>
          </a:bodyPr>
          <a:lstStyle/>
          <a:p>
            <a:pPr lvl="0" algn="ctr">
              <a:spcBef>
                <a:spcPct val="50000"/>
              </a:spcBef>
              <a:buNone/>
            </a:pPr>
            <a:r>
              <a:rPr lang="en-US" altLang="zh-CN" sz="1000" b="1" dirty="0">
                <a:solidFill>
                  <a:srgbClr val="006699"/>
                </a:solidFill>
                <a:latin typeface="Helvetica" pitchFamily="34" charset="0"/>
              </a:rPr>
              <a:t>7.</a:t>
            </a:r>
            <a:fld id="{9A0DB2DC-4C9A-4742-B13C-FB6460FD3503}" type="slidenum">
              <a:rPr lang="en-US" altLang="zh-CN" sz="1000" b="1" dirty="0">
                <a:solidFill>
                  <a:srgbClr val="006699"/>
                </a:solidFill>
                <a:latin typeface="Helvetica" pitchFamily="34" charset="0"/>
              </a:rPr>
              <a:t>‹#›</a:t>
            </a:fld>
            <a:endParaRPr lang="en-US" altLang="zh-CN" sz="1000" b="1" dirty="0">
              <a:solidFill>
                <a:srgbClr val="006699"/>
              </a:solidFill>
              <a:latin typeface="Helvetica" pitchFamily="34" charset="0"/>
            </a:endParaRPr>
          </a:p>
        </p:txBody>
      </p:sp>
      <p:sp>
        <p:nvSpPr>
          <p:cNvPr id="119818" name="Text Box 10"/>
          <p:cNvSpPr txBox="1">
            <a:spLocks noChangeArrowheads="1"/>
          </p:cNvSpPr>
          <p:nvPr/>
        </p:nvSpPr>
        <p:spPr bwMode="auto">
          <a:xfrm>
            <a:off x="6489700" y="6588125"/>
            <a:ext cx="2713038" cy="244475"/>
          </a:xfrm>
          <a:prstGeom prst="rect">
            <a:avLst/>
          </a:prstGeom>
          <a:noFill/>
          <a:ln w="9525">
            <a:noFill/>
            <a:miter lim="800000"/>
          </a:ln>
          <a:effec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Silberschatz, Galvin and Gagne ©2009</a:t>
            </a:r>
          </a:p>
        </p:txBody>
      </p:sp>
      <p:sp>
        <p:nvSpPr>
          <p:cNvPr id="119819" name="Text Box 11"/>
          <p:cNvSpPr txBox="1">
            <a:spLocks noChangeArrowheads="1"/>
          </p:cNvSpPr>
          <p:nvPr/>
        </p:nvSpPr>
        <p:spPr bwMode="auto">
          <a:xfrm>
            <a:off x="185738" y="6621463"/>
            <a:ext cx="2635250" cy="244475"/>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Operating System Concepts – 8</a:t>
            </a:r>
            <a:r>
              <a:rPr kumimoji="0" lang="en-US" altLang="zh-CN" sz="1000" b="1" i="0" u="none" strike="noStrike" kern="1200" cap="none" spc="0" normalizeH="0" baseline="30000" noProof="0">
                <a:ln>
                  <a:noFill/>
                </a:ln>
                <a:solidFill>
                  <a:srgbClr val="006699"/>
                </a:solidFill>
                <a:effectLst/>
                <a:uLnTx/>
                <a:uFillTx/>
                <a:latin typeface="Helvetica" pitchFamily="34" charset="0"/>
                <a:ea typeface="MS PGothic" panose="020B0600070205080204" pitchFamily="34" charset="-128"/>
                <a:cs typeface="+mn-cs"/>
              </a:rPr>
              <a:t>th</a:t>
            </a: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 Edition</a:t>
            </a:r>
          </a:p>
        </p:txBody>
      </p:sp>
      <p:pic>
        <p:nvPicPr>
          <p:cNvPr id="1036" name="Picture 12" descr="dino_6"/>
          <p:cNvPicPr>
            <a:picLocks noChangeAspect="1"/>
          </p:cNvPicPr>
          <p:nvPr/>
        </p:nvPicPr>
        <p:blipFill>
          <a:blip r:embed="rId14"/>
          <a:stretch>
            <a:fillRect/>
          </a:stretch>
        </p:blipFill>
        <p:spPr>
          <a:xfrm>
            <a:off x="7773988" y="5849938"/>
            <a:ext cx="1284287" cy="79216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j-cs"/>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90000"/>
        <a:buFont typeface="Monotype Sorts"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p:txBody>
          <a:bodyPr vert="horz" wrap="square" lIns="91440" tIns="45720" rIns="91440" bIns="45720" anchor="b" anchorCtr="0"/>
          <a:lstStyle/>
          <a:p>
            <a:pPr eaLnBrk="1" hangingPunct="1">
              <a:buClrTx/>
              <a:buSzTx/>
              <a:buFontTx/>
            </a:pPr>
            <a:r>
              <a:rPr lang="en-US" altLang="zh-CN" dirty="0">
                <a:latin typeface="+mj-lt"/>
                <a:ea typeface="MS PGothic" panose="020B0600070205080204" pitchFamily="34" charset="-128"/>
                <a:cs typeface="+mj-cs"/>
              </a:rPr>
              <a:t>Chapter 7:  Deadlocks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内容回顾：同步</a:t>
            </a:r>
          </a:p>
        </p:txBody>
      </p:sp>
      <p:sp>
        <p:nvSpPr>
          <p:cNvPr id="3" name="内容占位符 2"/>
          <p:cNvSpPr>
            <a:spLocks noGrp="1"/>
          </p:cNvSpPr>
          <p:nvPr>
            <p:ph idx="1"/>
          </p:nvPr>
        </p:nvSpPr>
        <p:spPr>
          <a:xfrm>
            <a:off x="457200" y="875983"/>
            <a:ext cx="8229600" cy="4530725"/>
          </a:xfrm>
        </p:spPr>
        <p:txBody>
          <a:bodyPr/>
          <a:lstStyle/>
          <a:p>
            <a:r>
              <a:rPr lang="zh-CN" altLang="en-US" b="1" dirty="0">
                <a:latin typeface="宋体" panose="02010600030101010101" pitchFamily="2" charset="-122"/>
                <a:ea typeface="宋体" panose="02010600030101010101" pitchFamily="2" charset="-122"/>
                <a:cs typeface="宋体" panose="02010600030101010101" pitchFamily="2" charset="-122"/>
              </a:rPr>
              <a:t>临界区问题：</a:t>
            </a:r>
          </a:p>
          <a:p>
            <a:pPr lvl="1"/>
            <a:r>
              <a:rPr lang="zh-CN" altLang="en-US" dirty="0">
                <a:latin typeface="宋体" panose="02010600030101010101" pitchFamily="2" charset="-122"/>
                <a:ea typeface="宋体" panose="02010600030101010101" pitchFamily="2" charset="-122"/>
                <a:cs typeface="宋体" panose="02010600030101010101" pitchFamily="2" charset="-122"/>
              </a:rPr>
              <a:t>什么是临界区？（一段操作临界资源的代码）</a:t>
            </a:r>
          </a:p>
          <a:p>
            <a:pPr lvl="1"/>
            <a:r>
              <a:rPr lang="zh-CN" altLang="en-US" dirty="0">
                <a:latin typeface="宋体" panose="02010600030101010101" pitchFamily="2" charset="-122"/>
                <a:ea typeface="宋体" panose="02010600030101010101" pitchFamily="2" charset="-122"/>
                <a:cs typeface="宋体" panose="02010600030101010101" pitchFamily="2" charset="-122"/>
              </a:rPr>
              <a:t>为什么需要临界区？（互斥访问）</a:t>
            </a:r>
          </a:p>
          <a:p>
            <a:pPr lvl="0"/>
            <a:r>
              <a:rPr lang="zh-CN" altLang="en-US" b="1" dirty="0">
                <a:latin typeface="宋体" panose="02010600030101010101" pitchFamily="2" charset="-122"/>
                <a:ea typeface="宋体" panose="02010600030101010101" pitchFamily="2" charset="-122"/>
                <a:cs typeface="宋体" panose="02010600030101010101" pitchFamily="2" charset="-122"/>
              </a:rPr>
              <a:t>各类解决方案：</a:t>
            </a:r>
          </a:p>
          <a:p>
            <a:pPr lvl="1"/>
            <a:r>
              <a:rPr lang="en-US" altLang="zh-CN" dirty="0">
                <a:latin typeface="宋体" panose="02010600030101010101" pitchFamily="2" charset="-122"/>
                <a:ea typeface="宋体" panose="02010600030101010101" pitchFamily="2" charset="-122"/>
                <a:cs typeface="宋体" panose="02010600030101010101" pitchFamily="2" charset="-122"/>
              </a:rPr>
              <a:t>Peterson </a:t>
            </a:r>
            <a:r>
              <a:rPr lang="zh-CN" altLang="en-US" dirty="0">
                <a:latin typeface="宋体" panose="02010600030101010101" pitchFamily="2" charset="-122"/>
                <a:ea typeface="宋体" panose="02010600030101010101" pitchFamily="2" charset="-122"/>
                <a:cs typeface="宋体" panose="02010600030101010101" pitchFamily="2" charset="-122"/>
              </a:rPr>
              <a:t>（软件）</a:t>
            </a:r>
          </a:p>
          <a:p>
            <a:pPr lvl="1"/>
            <a:r>
              <a:rPr lang="zh-CN" altLang="en-US" dirty="0">
                <a:latin typeface="宋体" panose="02010600030101010101" pitchFamily="2" charset="-122"/>
                <a:ea typeface="宋体" panose="02010600030101010101" pitchFamily="2" charset="-122"/>
                <a:cs typeface="宋体" panose="02010600030101010101" pitchFamily="2" charset="-122"/>
              </a:rPr>
              <a:t>互斥锁（硬件）</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1"/>
            <a:r>
              <a:rPr lang="zh-CN" altLang="en-US" dirty="0">
                <a:latin typeface="宋体" panose="02010600030101010101" pitchFamily="2" charset="-122"/>
                <a:ea typeface="宋体" panose="02010600030101010101" pitchFamily="2" charset="-122"/>
                <a:cs typeface="宋体" panose="02010600030101010101" pitchFamily="2" charset="-122"/>
              </a:rPr>
              <a:t>信号量（</a:t>
            </a:r>
            <a:r>
              <a:rPr lang="en-US" altLang="zh-CN" dirty="0">
                <a:latin typeface="宋体" panose="02010600030101010101" pitchFamily="2" charset="-122"/>
                <a:ea typeface="宋体" panose="02010600030101010101" pitchFamily="2" charset="-122"/>
                <a:cs typeface="宋体" panose="02010600030101010101" pitchFamily="2" charset="-122"/>
              </a:rPr>
              <a:t>PV</a:t>
            </a:r>
            <a:r>
              <a:rPr lang="zh-CN" altLang="en-US" dirty="0">
                <a:latin typeface="宋体" panose="02010600030101010101" pitchFamily="2" charset="-122"/>
                <a:ea typeface="宋体" panose="02010600030101010101" pitchFamily="2" charset="-122"/>
                <a:cs typeface="宋体" panose="02010600030101010101" pitchFamily="2" charset="-122"/>
              </a:rPr>
              <a:t>操作）：可以计数</a:t>
            </a:r>
          </a:p>
          <a:p>
            <a:pPr lvl="1"/>
            <a:r>
              <a:rPr lang="zh-CN" altLang="en-US" dirty="0">
                <a:latin typeface="宋体" panose="02010600030101010101" pitchFamily="2" charset="-122"/>
                <a:ea typeface="宋体" panose="02010600030101010101" pitchFamily="2" charset="-122"/>
                <a:cs typeface="宋体" panose="02010600030101010101" pitchFamily="2" charset="-122"/>
              </a:rPr>
              <a:t>管程：高级语言工具，可以定义变量和对应队列</a:t>
            </a:r>
          </a:p>
          <a:p>
            <a:pPr lvl="0"/>
            <a:r>
              <a:rPr lang="zh-CN" altLang="en-US" b="1" dirty="0">
                <a:latin typeface="宋体" panose="02010600030101010101" pitchFamily="2" charset="-122"/>
                <a:ea typeface="宋体" panose="02010600030101010101" pitchFamily="2" charset="-122"/>
                <a:cs typeface="宋体" panose="02010600030101010101" pitchFamily="2" charset="-122"/>
              </a:rPr>
              <a:t>经典同步问题</a:t>
            </a:r>
          </a:p>
          <a:p>
            <a:pPr lvl="1"/>
            <a:r>
              <a:rPr lang="zh-CN" altLang="en-US" dirty="0">
                <a:latin typeface="宋体" panose="02010600030101010101" pitchFamily="2" charset="-122"/>
                <a:ea typeface="宋体" panose="02010600030101010101" pitchFamily="2" charset="-122"/>
                <a:cs typeface="宋体" panose="02010600030101010101" pitchFamily="2" charset="-122"/>
              </a:rPr>
              <a:t>有界缓冲问题（典型案例：生产者</a:t>
            </a:r>
            <a:r>
              <a:rPr lang="en-US"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消费者）</a:t>
            </a:r>
          </a:p>
          <a:p>
            <a:pPr lvl="1"/>
            <a:r>
              <a:rPr lang="zh-CN" altLang="en-US" dirty="0">
                <a:latin typeface="宋体" panose="02010600030101010101" pitchFamily="2" charset="-122"/>
                <a:ea typeface="宋体" panose="02010600030101010101" pitchFamily="2" charset="-122"/>
                <a:cs typeface="宋体" panose="02010600030101010101" pitchFamily="2" charset="-122"/>
              </a:rPr>
              <a:t>读者</a:t>
            </a:r>
            <a:r>
              <a:rPr lang="en-US"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作者问题：对临界资源的互斥要求不一样</a:t>
            </a:r>
          </a:p>
          <a:p>
            <a:pPr lvl="1"/>
            <a:r>
              <a:rPr lang="zh-CN" altLang="en-US" dirty="0">
                <a:latin typeface="宋体" panose="02010600030101010101" pitchFamily="2" charset="-122"/>
                <a:ea typeface="宋体" panose="02010600030101010101" pitchFamily="2" charset="-122"/>
                <a:cs typeface="宋体" panose="02010600030101010101" pitchFamily="2" charset="-122"/>
              </a:rPr>
              <a:t>哲学家就餐问题：为多个进程分配多个资源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b" anchorCtr="0"/>
          <a:lstStyle/>
          <a:p>
            <a:pPr eaLnBrk="1" hangingPunct="1"/>
            <a:r>
              <a:rPr lang="en-US" altLang="zh-CN" dirty="0"/>
              <a:t>Chapter 7:  Deadlocks(</a:t>
            </a:r>
            <a:r>
              <a:rPr lang="zh-CN" altLang="en-US" dirty="0"/>
              <a:t>死锁</a:t>
            </a:r>
            <a:r>
              <a:rPr lang="en-US" altLang="zh-CN" dirty="0"/>
              <a:t>)</a:t>
            </a:r>
            <a:endParaRPr lang="zh-CN" altLang="en-US" dirty="0">
              <a:ea typeface="宋体" panose="02010600030101010101" pitchFamily="2" charset="-122"/>
            </a:endParaRPr>
          </a:p>
        </p:txBody>
      </p:sp>
      <p:sp>
        <p:nvSpPr>
          <p:cNvPr id="4099" name="Rectangle 3"/>
          <p:cNvSpPr>
            <a:spLocks noGrp="1"/>
          </p:cNvSpPr>
          <p:nvPr>
            <p:ph idx="1"/>
          </p:nvPr>
        </p:nvSpPr>
        <p:spPr/>
        <p:txBody>
          <a:bodyPr vert="horz" wrap="square" lIns="91440" tIns="45720" rIns="91440" bIns="45720" anchor="t" anchorCtr="0"/>
          <a:lstStyle/>
          <a:p>
            <a:pPr>
              <a:buSzPct val="85000"/>
            </a:pPr>
            <a:r>
              <a:rPr lang="en-US" altLang="zh-CN" dirty="0"/>
              <a:t>The Deadlock Problem</a:t>
            </a:r>
          </a:p>
          <a:p>
            <a:pPr>
              <a:buSzPct val="85000"/>
            </a:pPr>
            <a:r>
              <a:rPr lang="en-US" altLang="zh-CN" dirty="0"/>
              <a:t>System Model</a:t>
            </a:r>
          </a:p>
          <a:p>
            <a:pPr>
              <a:buSzPct val="85000"/>
            </a:pPr>
            <a:r>
              <a:rPr lang="en-US" altLang="zh-CN" dirty="0"/>
              <a:t>Deadlock Characterization</a:t>
            </a:r>
          </a:p>
          <a:p>
            <a:pPr>
              <a:buSzPct val="85000"/>
            </a:pPr>
            <a:r>
              <a:rPr lang="en-US" altLang="zh-CN" dirty="0"/>
              <a:t>Methods for Handling Deadlocks</a:t>
            </a:r>
          </a:p>
          <a:p>
            <a:r>
              <a:rPr lang="en-US" altLang="zh-CN" dirty="0"/>
              <a:t>Deadlock Prevention</a:t>
            </a:r>
          </a:p>
          <a:p>
            <a:pPr>
              <a:buSzPct val="85000"/>
            </a:pPr>
            <a:r>
              <a:rPr lang="en-US" altLang="zh-CN" dirty="0"/>
              <a:t>Deadlock Avoidance</a:t>
            </a:r>
          </a:p>
          <a:p>
            <a:pPr>
              <a:buSzPct val="85000"/>
            </a:pPr>
            <a:r>
              <a:rPr lang="en-US" altLang="zh-CN" dirty="0"/>
              <a:t>Deadlock Detection </a:t>
            </a:r>
          </a:p>
          <a:p>
            <a:pPr>
              <a:buSzPct val="85000"/>
            </a:pPr>
            <a:r>
              <a:rPr lang="en-US" altLang="zh-CN" dirty="0"/>
              <a:t>Recovery from Deadlock </a:t>
            </a:r>
          </a:p>
        </p:txBody>
      </p:sp>
      <p:sp>
        <p:nvSpPr>
          <p:cNvPr id="5" name="文本框 4"/>
          <p:cNvSpPr txBox="1"/>
          <p:nvPr/>
        </p:nvSpPr>
        <p:spPr>
          <a:xfrm>
            <a:off x="5982970" y="1274445"/>
            <a:ext cx="29311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为什么：</a:t>
            </a:r>
            <a:r>
              <a:rPr lang="zh-CN" altLang="en-US">
                <a:solidFill>
                  <a:srgbClr val="FF0000"/>
                </a:solidFill>
                <a:latin typeface="黑体" panose="02010609060101010101" charset="-122"/>
                <a:ea typeface="黑体" panose="02010609060101010101" charset="-122"/>
              </a:rPr>
              <a:t>死锁为何会产生？</a:t>
            </a:r>
          </a:p>
        </p:txBody>
      </p:sp>
      <p:sp>
        <p:nvSpPr>
          <p:cNvPr id="6" name="文本框 5"/>
          <p:cNvSpPr txBox="1"/>
          <p:nvPr/>
        </p:nvSpPr>
        <p:spPr>
          <a:xfrm>
            <a:off x="5982970" y="2009775"/>
            <a:ext cx="24739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是什么：</a:t>
            </a:r>
            <a:r>
              <a:rPr lang="zh-CN" altLang="en-US">
                <a:solidFill>
                  <a:srgbClr val="FF0000"/>
                </a:solidFill>
                <a:latin typeface="黑体" panose="02010609060101010101" charset="-122"/>
                <a:ea typeface="黑体" panose="02010609060101010101" charset="-122"/>
              </a:rPr>
              <a:t>死锁的特点？</a:t>
            </a:r>
          </a:p>
        </p:txBody>
      </p:sp>
      <p:sp>
        <p:nvSpPr>
          <p:cNvPr id="7" name="文本框 6"/>
          <p:cNvSpPr txBox="1"/>
          <p:nvPr/>
        </p:nvSpPr>
        <p:spPr>
          <a:xfrm>
            <a:off x="5984240" y="3737610"/>
            <a:ext cx="27025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怎么办：</a:t>
            </a:r>
            <a:r>
              <a:rPr lang="zh-CN" altLang="en-US" sz="1800">
                <a:solidFill>
                  <a:srgbClr val="FF0000"/>
                </a:solidFill>
                <a:latin typeface="黑体" panose="02010609060101010101" charset="-122"/>
                <a:ea typeface="黑体" panose="02010609060101010101" charset="-122"/>
              </a:rPr>
              <a:t>如何解决</a:t>
            </a:r>
            <a:r>
              <a:rPr lang="zh-CN" altLang="en-US">
                <a:solidFill>
                  <a:srgbClr val="FF0000"/>
                </a:solidFill>
                <a:latin typeface="黑体" panose="02010609060101010101" charset="-122"/>
                <a:ea typeface="黑体" panose="02010609060101010101" charset="-122"/>
              </a:rPr>
              <a:t>死锁？</a:t>
            </a:r>
          </a:p>
        </p:txBody>
      </p:sp>
      <p:sp>
        <p:nvSpPr>
          <p:cNvPr id="9" name="右大括号 8"/>
          <p:cNvSpPr/>
          <p:nvPr/>
        </p:nvSpPr>
        <p:spPr>
          <a:xfrm>
            <a:off x="5828665" y="2807335"/>
            <a:ext cx="230505" cy="2228850"/>
          </a:xfrm>
          <a:prstGeom prst="rightBrace">
            <a:avLst>
              <a:gd name="adj1" fmla="val 50413"/>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0" name="右大括号 9"/>
          <p:cNvSpPr/>
          <p:nvPr/>
        </p:nvSpPr>
        <p:spPr>
          <a:xfrm>
            <a:off x="5828665" y="1835150"/>
            <a:ext cx="230505" cy="718185"/>
          </a:xfrm>
          <a:prstGeom prst="rightBrace">
            <a:avLst>
              <a:gd name="adj1" fmla="val 40495"/>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1" name="右大括号 10"/>
          <p:cNvSpPr/>
          <p:nvPr/>
        </p:nvSpPr>
        <p:spPr>
          <a:xfrm>
            <a:off x="5828665" y="1305560"/>
            <a:ext cx="230505" cy="337185"/>
          </a:xfrm>
          <a:prstGeom prst="rightBrace">
            <a:avLst>
              <a:gd name="adj1" fmla="val 20936"/>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9" grpId="0" animBg="1"/>
      <p:bldP spid="9" grpId="1" animBg="1"/>
      <p:bldP spid="10" grpId="0" animBg="1"/>
      <p:bldP spid="10" grpId="1" animBg="1"/>
      <p:bldP spid="11" grpId="0" animBg="1"/>
      <p:bldP spid="11"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8" descr="deadlock"/>
          <p:cNvPicPr>
            <a:picLocks noChangeAspect="1"/>
          </p:cNvPicPr>
          <p:nvPr/>
        </p:nvPicPr>
        <p:blipFill>
          <a:blip r:embed="rId2"/>
          <a:srcRect t="24803" b="10944"/>
          <a:stretch>
            <a:fillRect/>
          </a:stretch>
        </p:blipFill>
        <p:spPr>
          <a:xfrm>
            <a:off x="744538" y="1219200"/>
            <a:ext cx="7677150" cy="5219700"/>
          </a:xfrm>
          <a:prstGeom prst="rect">
            <a:avLst/>
          </a:prstGeom>
          <a:noFill/>
          <a:ln w="9525">
            <a:noFill/>
          </a:ln>
        </p:spPr>
      </p:pic>
      <p:sp>
        <p:nvSpPr>
          <p:cNvPr id="6147" name="矩形 2"/>
          <p:cNvSpPr/>
          <p:nvPr/>
        </p:nvSpPr>
        <p:spPr>
          <a:xfrm>
            <a:off x="1150938" y="252413"/>
            <a:ext cx="6919912" cy="585787"/>
          </a:xfrm>
          <a:prstGeom prst="rect">
            <a:avLst/>
          </a:prstGeom>
          <a:noFill/>
          <a:ln w="9525">
            <a:noFill/>
          </a:ln>
        </p:spPr>
        <p:txBody>
          <a:bodyPr>
            <a:spAutoFit/>
          </a:bodyPr>
          <a:lstStyle/>
          <a:p>
            <a:pPr algn="ctr"/>
            <a:r>
              <a:rPr lang="en-US" altLang="zh-CN" sz="3200" b="1" dirty="0">
                <a:solidFill>
                  <a:srgbClr val="0070C0"/>
                </a:solidFill>
                <a:latin typeface="Verdana" panose="020B0604030504040204" pitchFamily="34" charset="0"/>
              </a:rPr>
              <a:t>The Deadlock Problem</a:t>
            </a:r>
            <a:endParaRPr lang="zh-CN" altLang="en-US" sz="3200" b="1" dirty="0">
              <a:solidFill>
                <a:srgbClr val="0070C0"/>
              </a:solidFill>
              <a:latin typeface="Verdan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p:txBody>
          <a:bodyPr vert="horz" wrap="square" lIns="91440" tIns="45720" rIns="91440" bIns="45720" anchor="b" anchorCtr="0"/>
          <a:lstStyle/>
          <a:p>
            <a:pPr eaLnBrk="1" hangingPunct="1"/>
            <a:r>
              <a:rPr lang="en-US" altLang="zh-CN" dirty="0"/>
              <a:t>The Deadlock Problem</a:t>
            </a:r>
          </a:p>
        </p:txBody>
      </p:sp>
      <p:sp>
        <p:nvSpPr>
          <p:cNvPr id="7171" name="Rectangle 3"/>
          <p:cNvSpPr>
            <a:spLocks noGrp="1"/>
          </p:cNvSpPr>
          <p:nvPr>
            <p:ph idx="1"/>
          </p:nvPr>
        </p:nvSpPr>
        <p:spPr>
          <a:xfrm>
            <a:off x="806450" y="1233488"/>
            <a:ext cx="7756525" cy="4445000"/>
          </a:xfrm>
        </p:spPr>
        <p:txBody>
          <a:bodyPr vert="horz" wrap="square" lIns="91440" tIns="45720" rIns="91440" bIns="45720" anchor="t" anchorCtr="0"/>
          <a:lstStyle/>
          <a:p>
            <a:r>
              <a:rPr lang="en-US" altLang="zh-CN" dirty="0"/>
              <a:t>A set of blocked processes each holding a resource and waiting to acquire a resource held by another process in the set.</a:t>
            </a:r>
          </a:p>
          <a:p>
            <a:r>
              <a:rPr lang="en-US" altLang="zh-CN" dirty="0"/>
              <a:t>The resources may be either physical resources or  logical resources.</a:t>
            </a:r>
          </a:p>
          <a:p>
            <a:pPr lvl="1"/>
            <a:r>
              <a:rPr lang="en-US" altLang="zh-CN" dirty="0"/>
              <a:t>physical resources</a:t>
            </a:r>
            <a:r>
              <a:rPr lang="zh-CN" altLang="en-US" dirty="0">
                <a:ea typeface="宋体" panose="02010600030101010101" pitchFamily="2" charset="-122"/>
              </a:rPr>
              <a:t>：</a:t>
            </a:r>
            <a:r>
              <a:rPr lang="en-US" altLang="zh-CN" dirty="0">
                <a:ea typeface="宋体" panose="02010600030101010101" pitchFamily="2" charset="-122"/>
              </a:rPr>
              <a:t>printer,  memory, CPU...</a:t>
            </a:r>
          </a:p>
          <a:p>
            <a:pPr lvl="1"/>
            <a:r>
              <a:rPr lang="en-US" altLang="zh-CN" dirty="0">
                <a:ea typeface="宋体" panose="02010600030101010101" pitchFamily="2" charset="-122"/>
              </a:rPr>
              <a:t>logical resources: semaphore, lock...</a:t>
            </a:r>
          </a:p>
        </p:txBody>
      </p:sp>
      <p:cxnSp>
        <p:nvCxnSpPr>
          <p:cNvPr id="2" name="直接连接符 1"/>
          <p:cNvCxnSpPr/>
          <p:nvPr/>
        </p:nvCxnSpPr>
        <p:spPr>
          <a:xfrm>
            <a:off x="5698490" y="1648460"/>
            <a:ext cx="2492375" cy="0"/>
          </a:xfrm>
          <a:prstGeom prst="line">
            <a:avLst/>
          </a:prstGeom>
          <a:solidFill>
            <a:schemeClr val="accent1"/>
          </a:solidFill>
          <a:ln w="38100" cap="flat" cmpd="sng" algn="ctr">
            <a:solidFill>
              <a:srgbClr val="C00000"/>
            </a:solidFill>
            <a:prstDash val="solid"/>
            <a:round/>
            <a:headEnd type="none" w="med" len="med"/>
            <a:tailEnd type="none" w="med" len="med"/>
          </a:ln>
        </p:spPr>
      </p:cxnSp>
      <p:cxnSp>
        <p:nvCxnSpPr>
          <p:cNvPr id="3" name="直接连接符 2"/>
          <p:cNvCxnSpPr/>
          <p:nvPr/>
        </p:nvCxnSpPr>
        <p:spPr>
          <a:xfrm>
            <a:off x="1793240" y="2018030"/>
            <a:ext cx="3923030" cy="6350"/>
          </a:xfrm>
          <a:prstGeom prst="line">
            <a:avLst/>
          </a:prstGeom>
          <a:solidFill>
            <a:schemeClr val="accent1"/>
          </a:solidFill>
          <a:ln w="38100" cap="flat" cmpd="sng" algn="ctr">
            <a:solidFill>
              <a:srgbClr val="C00000"/>
            </a:solidFill>
            <a:prstDash val="solid"/>
            <a:round/>
            <a:headEnd type="none" w="med" len="med"/>
            <a:tailEnd type="none" w="med" len="med"/>
          </a:ln>
        </p:spPr>
      </p:cxnSp>
      <p:cxnSp>
        <p:nvCxnSpPr>
          <p:cNvPr id="4" name="直接连接符 3"/>
          <p:cNvCxnSpPr/>
          <p:nvPr/>
        </p:nvCxnSpPr>
        <p:spPr>
          <a:xfrm>
            <a:off x="5819140" y="2024380"/>
            <a:ext cx="2134870" cy="6350"/>
          </a:xfrm>
          <a:prstGeom prst="line">
            <a:avLst/>
          </a:prstGeom>
          <a:solidFill>
            <a:schemeClr val="accent1"/>
          </a:solidFill>
          <a:ln w="38100" cap="flat" cmpd="sng" algn="ctr">
            <a:solidFill>
              <a:srgbClr val="C00000"/>
            </a:solidFill>
            <a:prstDash val="solid"/>
            <a:round/>
            <a:headEnd type="none" w="med" len="med"/>
            <a:tailEnd type="none" w="med" len="med"/>
          </a:ln>
        </p:spPr>
      </p:cxnSp>
      <p:cxnSp>
        <p:nvCxnSpPr>
          <p:cNvPr id="5" name="直接连接符 4"/>
          <p:cNvCxnSpPr/>
          <p:nvPr/>
        </p:nvCxnSpPr>
        <p:spPr>
          <a:xfrm>
            <a:off x="1228090" y="2418080"/>
            <a:ext cx="1062355" cy="6350"/>
          </a:xfrm>
          <a:prstGeom prst="line">
            <a:avLst/>
          </a:prstGeom>
          <a:solidFill>
            <a:schemeClr val="accent1"/>
          </a:solidFill>
          <a:ln w="38100" cap="flat" cmpd="sng" algn="ctr">
            <a:solidFill>
              <a:srgbClr val="C0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171">
                                            <p:txEl>
                                              <p:pRg st="1" end="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171">
                                            <p:txEl>
                                              <p:pRg st="2" end="2"/>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p:txBody>
          <a:bodyPr vert="horz" wrap="square" lIns="91440" tIns="45720" rIns="91440" bIns="45720" anchor="b" anchorCtr="0"/>
          <a:lstStyle/>
          <a:p>
            <a:pPr eaLnBrk="1" hangingPunct="1"/>
            <a:r>
              <a:rPr lang="en-US" altLang="zh-CN" dirty="0"/>
              <a:t>The Deadlock Problem</a:t>
            </a:r>
          </a:p>
        </p:txBody>
      </p:sp>
      <p:sp>
        <p:nvSpPr>
          <p:cNvPr id="8195" name="Rectangle 3"/>
          <p:cNvSpPr>
            <a:spLocks noGrp="1"/>
          </p:cNvSpPr>
          <p:nvPr>
            <p:ph idx="1"/>
          </p:nvPr>
        </p:nvSpPr>
        <p:spPr>
          <a:xfrm>
            <a:off x="806450" y="1233488"/>
            <a:ext cx="7756525" cy="4935537"/>
          </a:xfrm>
        </p:spPr>
        <p:txBody>
          <a:bodyPr vert="horz" wrap="square" lIns="91440" tIns="45720" rIns="91440" bIns="45720" anchor="t" anchorCtr="0"/>
          <a:lstStyle/>
          <a:p>
            <a:pPr>
              <a:buSzPct val="85000"/>
            </a:pPr>
            <a:r>
              <a:rPr lang="en-US" altLang="zh-CN" dirty="0"/>
              <a:t>Example </a:t>
            </a:r>
          </a:p>
          <a:p>
            <a:pPr lvl="1"/>
            <a:r>
              <a:rPr lang="en-US" altLang="zh-CN" dirty="0"/>
              <a:t>System has 2 disk drives</a:t>
            </a:r>
          </a:p>
          <a:p>
            <a:pPr lvl="1"/>
            <a:r>
              <a:rPr lang="en-US" altLang="zh-CN" i="1" dirty="0"/>
              <a:t>P</a:t>
            </a:r>
            <a:r>
              <a:rPr lang="en-US" altLang="zh-CN" baseline="-25000" dirty="0"/>
              <a:t>1</a:t>
            </a:r>
            <a:r>
              <a:rPr lang="en-US" altLang="zh-CN" dirty="0"/>
              <a:t> and </a:t>
            </a:r>
            <a:r>
              <a:rPr lang="en-US" altLang="zh-CN" i="1" dirty="0"/>
              <a:t>P</a:t>
            </a:r>
            <a:r>
              <a:rPr lang="en-US" altLang="zh-CN" baseline="-25000" dirty="0"/>
              <a:t>2</a:t>
            </a:r>
            <a:r>
              <a:rPr lang="en-US" altLang="zh-CN" dirty="0"/>
              <a:t> each hold one disk drive and each needs another one</a:t>
            </a:r>
          </a:p>
          <a:p>
            <a:pPr>
              <a:buSzPct val="85000"/>
            </a:pPr>
            <a:r>
              <a:rPr lang="en-US" altLang="zh-CN" dirty="0"/>
              <a:t>Example </a:t>
            </a:r>
          </a:p>
          <a:p>
            <a:pPr lvl="1"/>
            <a:r>
              <a:rPr lang="en-US" altLang="zh-CN" dirty="0"/>
              <a:t>semaphores </a:t>
            </a:r>
            <a:r>
              <a:rPr lang="en-US" altLang="zh-CN" i="1" dirty="0"/>
              <a:t>A</a:t>
            </a:r>
            <a:r>
              <a:rPr lang="en-US" altLang="zh-CN" dirty="0"/>
              <a:t> and</a:t>
            </a:r>
            <a:r>
              <a:rPr lang="en-US" altLang="zh-CN" i="1" dirty="0"/>
              <a:t> B</a:t>
            </a:r>
            <a:r>
              <a:rPr lang="en-US" altLang="zh-CN" dirty="0"/>
              <a:t>, initialized to 1</a:t>
            </a:r>
            <a:endParaRPr lang="en-US" altLang="zh-CN" sz="2800" dirty="0"/>
          </a:p>
          <a:p>
            <a:pPr lvl="4">
              <a:buNone/>
            </a:pPr>
            <a:r>
              <a:rPr lang="en-US" altLang="zh-CN" sz="2800" dirty="0"/>
              <a:t>    </a:t>
            </a:r>
            <a:r>
              <a:rPr lang="en-US" altLang="zh-CN" i="1" dirty="0"/>
              <a:t>P</a:t>
            </a:r>
            <a:r>
              <a:rPr lang="en-US" altLang="zh-CN" baseline="-25000" dirty="0"/>
              <a:t>0</a:t>
            </a:r>
            <a:r>
              <a:rPr lang="en-US" altLang="zh-CN" dirty="0"/>
              <a:t>		   </a:t>
            </a:r>
            <a:r>
              <a:rPr lang="en-US" altLang="zh-CN" i="1" dirty="0"/>
              <a:t>P</a:t>
            </a:r>
            <a:r>
              <a:rPr lang="en-US" altLang="zh-CN" baseline="-25000" dirty="0"/>
              <a:t>1</a:t>
            </a:r>
            <a:endParaRPr lang="en-US" altLang="zh-CN" dirty="0"/>
          </a:p>
          <a:p>
            <a:pPr lvl="4">
              <a:buNone/>
            </a:pPr>
            <a:r>
              <a:rPr lang="en-US" altLang="zh-CN" dirty="0">
                <a:solidFill>
                  <a:srgbClr val="0000FF"/>
                </a:solidFill>
              </a:rPr>
              <a:t>wait (A);		wait(B)</a:t>
            </a:r>
          </a:p>
          <a:p>
            <a:pPr lvl="4">
              <a:buNone/>
            </a:pPr>
            <a:r>
              <a:rPr lang="en-US" altLang="zh-CN" dirty="0">
                <a:solidFill>
                  <a:srgbClr val="0000FF"/>
                </a:solidFill>
              </a:rPr>
              <a:t>wait (B);		wait(A)</a:t>
            </a:r>
          </a:p>
          <a:p>
            <a:pPr lvl="1"/>
            <a:endParaRPr lang="en-US" altLang="zh-CN"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a:xfrm>
            <a:off x="1089025" y="201613"/>
            <a:ext cx="6870700" cy="673100"/>
          </a:xfrm>
        </p:spPr>
        <p:txBody>
          <a:bodyPr vert="horz" wrap="square" lIns="0" tIns="0" rIns="0" bIns="0" anchor="t" anchorCtr="0"/>
          <a:lstStyle/>
          <a:p>
            <a:pPr eaLnBrk="1" hangingPunct="1"/>
            <a:r>
              <a:rPr lang="en-US" altLang="zh-CN" dirty="0"/>
              <a:t>Deadlock  Example</a:t>
            </a:r>
          </a:p>
        </p:txBody>
      </p:sp>
      <p:pic>
        <p:nvPicPr>
          <p:cNvPr id="923652" name="Picture 4"/>
          <p:cNvPicPr>
            <a:picLocks noChangeAspect="1"/>
          </p:cNvPicPr>
          <p:nvPr/>
        </p:nvPicPr>
        <p:blipFill>
          <a:blip r:embed="rId2">
            <a:clrChange>
              <a:clrFrom>
                <a:srgbClr val="FFFFFF"/>
              </a:clrFrom>
              <a:clrTo>
                <a:srgbClr val="FFFFFF">
                  <a:alpha val="0"/>
                </a:srgbClr>
              </a:clrTo>
            </a:clrChange>
          </a:blip>
          <a:stretch>
            <a:fillRect/>
          </a:stretch>
        </p:blipFill>
        <p:spPr>
          <a:xfrm>
            <a:off x="701675" y="1371600"/>
            <a:ext cx="7680325" cy="3513138"/>
          </a:xfrm>
          <a:prstGeom prst="rect">
            <a:avLst/>
          </a:prstGeom>
          <a:noFill/>
          <a:ln w="9525">
            <a:noFill/>
          </a:ln>
        </p:spPr>
      </p:pic>
      <p:sp>
        <p:nvSpPr>
          <p:cNvPr id="923651" name="Rectangle 3"/>
          <p:cNvSpPr>
            <a:spLocks noGrp="1"/>
          </p:cNvSpPr>
          <p:nvPr>
            <p:ph type="body" idx="4294967295"/>
          </p:nvPr>
        </p:nvSpPr>
        <p:spPr>
          <a:xfrm>
            <a:off x="788988" y="4979988"/>
            <a:ext cx="8221662" cy="369887"/>
          </a:xfrm>
          <a:solidFill>
            <a:schemeClr val="bg1">
              <a:alpha val="100000"/>
            </a:schemeClr>
          </a:solidFill>
        </p:spPr>
        <p:txBody>
          <a:bodyPr vert="horz" wrap="none" lIns="0" tIns="0" rIns="0" bIns="0" anchor="t" anchorCtr="0">
            <a:spAutoFit/>
          </a:bodyPr>
          <a:lstStyle/>
          <a:p>
            <a:pPr algn="ctr" eaLnBrk="1" hangingPunct="1">
              <a:buFontTx/>
              <a:buNone/>
            </a:pPr>
            <a:r>
              <a:rPr lang="en-US" altLang="zh-CN" dirty="0">
                <a:solidFill>
                  <a:srgbClr val="000066"/>
                </a:solidFill>
              </a:rPr>
              <a:t>(a) A potential deadlock                       (b) an actual deadlock</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vert="horz" wrap="square" lIns="91440" tIns="45720" rIns="91440" bIns="45720" anchor="b" anchorCtr="0"/>
          <a:lstStyle/>
          <a:p>
            <a:pPr eaLnBrk="1" hangingPunct="1"/>
            <a:r>
              <a:rPr lang="en-US" altLang="zh-CN" dirty="0"/>
              <a:t>Bridge Crossing Example</a:t>
            </a:r>
          </a:p>
        </p:txBody>
      </p:sp>
      <p:sp>
        <p:nvSpPr>
          <p:cNvPr id="10243" name="Rectangle 3"/>
          <p:cNvSpPr>
            <a:spLocks noGrp="1"/>
          </p:cNvSpPr>
          <p:nvPr>
            <p:ph idx="1"/>
          </p:nvPr>
        </p:nvSpPr>
        <p:spPr>
          <a:xfrm>
            <a:off x="712788" y="2665413"/>
            <a:ext cx="7796212" cy="3378200"/>
          </a:xfrm>
        </p:spPr>
        <p:txBody>
          <a:bodyPr vert="horz" wrap="square" lIns="91440" tIns="45720" rIns="91440" bIns="45720" anchor="t" anchorCtr="0"/>
          <a:lstStyle/>
          <a:p>
            <a:r>
              <a:rPr lang="en-US" altLang="zh-CN" dirty="0"/>
              <a:t>Traffic only in one direction</a:t>
            </a:r>
          </a:p>
          <a:p>
            <a:r>
              <a:rPr lang="en-US" altLang="zh-CN" dirty="0"/>
              <a:t>Each section of a bridge can be viewed as a resource</a:t>
            </a:r>
          </a:p>
          <a:p>
            <a:r>
              <a:rPr lang="en-US" altLang="zh-CN" dirty="0"/>
              <a:t>If a deadlock occurs, it can be resolved if one car backs up (preempt resources and rollback)</a:t>
            </a:r>
            <a:r>
              <a:rPr lang="zh-CN" altLang="en-US" dirty="0"/>
              <a:t>（如果发生死锁，可以通过一辆车回退（抢占资源和回滚）来解决）</a:t>
            </a:r>
            <a:endParaRPr lang="en-US" altLang="zh-CN" dirty="0"/>
          </a:p>
          <a:p>
            <a:r>
              <a:rPr lang="en-US" altLang="zh-CN" dirty="0"/>
              <a:t>Several cars may have to be backed up if a deadlock occurs</a:t>
            </a:r>
            <a:r>
              <a:rPr lang="zh-CN" altLang="en-US" dirty="0"/>
              <a:t>（如果发生死锁，可能需要回退几辆车）</a:t>
            </a:r>
            <a:endParaRPr lang="en-US" altLang="zh-CN" dirty="0"/>
          </a:p>
          <a:p>
            <a:r>
              <a:rPr lang="en-US" altLang="zh-CN" dirty="0"/>
              <a:t>Starvation is possible</a:t>
            </a:r>
          </a:p>
        </p:txBody>
      </p:sp>
      <p:grpSp>
        <p:nvGrpSpPr>
          <p:cNvPr id="10244" name="Group 35"/>
          <p:cNvGrpSpPr/>
          <p:nvPr/>
        </p:nvGrpSpPr>
        <p:grpSpPr>
          <a:xfrm>
            <a:off x="1266825" y="1181100"/>
            <a:ext cx="6276975" cy="1371600"/>
            <a:chOff x="798" y="1008"/>
            <a:chExt cx="3954" cy="864"/>
          </a:xfrm>
        </p:grpSpPr>
        <p:grpSp>
          <p:nvGrpSpPr>
            <p:cNvPr id="10245" name="Group 11"/>
            <p:cNvGrpSpPr/>
            <p:nvPr/>
          </p:nvGrpSpPr>
          <p:grpSpPr>
            <a:xfrm>
              <a:off x="816" y="1008"/>
              <a:ext cx="3936" cy="240"/>
              <a:chOff x="672" y="1008"/>
              <a:chExt cx="3936" cy="240"/>
            </a:xfrm>
          </p:grpSpPr>
          <p:sp>
            <p:nvSpPr>
              <p:cNvPr id="10269" name="Line 6"/>
              <p:cNvSpPr/>
              <p:nvPr/>
            </p:nvSpPr>
            <p:spPr>
              <a:xfrm>
                <a:off x="672" y="1008"/>
                <a:ext cx="1152" cy="0"/>
              </a:xfrm>
              <a:prstGeom prst="line">
                <a:avLst/>
              </a:prstGeom>
              <a:ln w="9525" cap="flat" cmpd="sng">
                <a:solidFill>
                  <a:schemeClr val="tx1"/>
                </a:solidFill>
                <a:prstDash val="solid"/>
                <a:headEnd type="none" w="med" len="med"/>
                <a:tailEnd type="none" w="med" len="med"/>
              </a:ln>
            </p:spPr>
          </p:sp>
          <p:sp>
            <p:nvSpPr>
              <p:cNvPr id="10270" name="Line 7"/>
              <p:cNvSpPr/>
              <p:nvPr/>
            </p:nvSpPr>
            <p:spPr>
              <a:xfrm>
                <a:off x="1824" y="1008"/>
                <a:ext cx="384" cy="240"/>
              </a:xfrm>
              <a:prstGeom prst="line">
                <a:avLst/>
              </a:prstGeom>
              <a:ln w="9525" cap="flat" cmpd="sng">
                <a:solidFill>
                  <a:schemeClr val="tx1"/>
                </a:solidFill>
                <a:prstDash val="solid"/>
                <a:headEnd type="none" w="med" len="med"/>
                <a:tailEnd type="none" w="med" len="med"/>
              </a:ln>
            </p:spPr>
          </p:sp>
          <p:sp>
            <p:nvSpPr>
              <p:cNvPr id="10271" name="Line 8"/>
              <p:cNvSpPr/>
              <p:nvPr/>
            </p:nvSpPr>
            <p:spPr>
              <a:xfrm>
                <a:off x="2208" y="1248"/>
                <a:ext cx="864" cy="0"/>
              </a:xfrm>
              <a:prstGeom prst="line">
                <a:avLst/>
              </a:prstGeom>
              <a:ln w="9525" cap="flat" cmpd="sng">
                <a:solidFill>
                  <a:schemeClr val="tx1"/>
                </a:solidFill>
                <a:prstDash val="solid"/>
                <a:headEnd type="none" w="med" len="med"/>
                <a:tailEnd type="none" w="med" len="med"/>
              </a:ln>
            </p:spPr>
          </p:sp>
          <p:sp>
            <p:nvSpPr>
              <p:cNvPr id="10272" name="Line 9"/>
              <p:cNvSpPr/>
              <p:nvPr/>
            </p:nvSpPr>
            <p:spPr>
              <a:xfrm flipV="1">
                <a:off x="3072" y="1026"/>
                <a:ext cx="384" cy="222"/>
              </a:xfrm>
              <a:prstGeom prst="line">
                <a:avLst/>
              </a:prstGeom>
              <a:ln w="9525" cap="flat" cmpd="sng">
                <a:solidFill>
                  <a:schemeClr val="tx1"/>
                </a:solidFill>
                <a:prstDash val="solid"/>
                <a:headEnd type="none" w="med" len="med"/>
                <a:tailEnd type="none" w="med" len="med"/>
              </a:ln>
            </p:spPr>
          </p:sp>
          <p:sp>
            <p:nvSpPr>
              <p:cNvPr id="10273" name="Line 10"/>
              <p:cNvSpPr/>
              <p:nvPr/>
            </p:nvSpPr>
            <p:spPr>
              <a:xfrm>
                <a:off x="3456" y="1020"/>
                <a:ext cx="1152" cy="0"/>
              </a:xfrm>
              <a:prstGeom prst="line">
                <a:avLst/>
              </a:prstGeom>
              <a:ln w="9525" cap="flat" cmpd="sng">
                <a:solidFill>
                  <a:schemeClr val="tx1"/>
                </a:solidFill>
                <a:prstDash val="solid"/>
                <a:headEnd type="none" w="med" len="med"/>
                <a:tailEnd type="none" w="med" len="med"/>
              </a:ln>
            </p:spPr>
          </p:sp>
        </p:grpSp>
        <p:grpSp>
          <p:nvGrpSpPr>
            <p:cNvPr id="10246" name="Group 12"/>
            <p:cNvGrpSpPr/>
            <p:nvPr/>
          </p:nvGrpSpPr>
          <p:grpSpPr>
            <a:xfrm flipV="1">
              <a:off x="816" y="1632"/>
              <a:ext cx="3936" cy="240"/>
              <a:chOff x="672" y="1008"/>
              <a:chExt cx="3936" cy="240"/>
            </a:xfrm>
          </p:grpSpPr>
          <p:sp>
            <p:nvSpPr>
              <p:cNvPr id="10264" name="Line 13"/>
              <p:cNvSpPr/>
              <p:nvPr/>
            </p:nvSpPr>
            <p:spPr>
              <a:xfrm>
                <a:off x="672" y="1008"/>
                <a:ext cx="1152" cy="0"/>
              </a:xfrm>
              <a:prstGeom prst="line">
                <a:avLst/>
              </a:prstGeom>
              <a:ln w="9525" cap="flat" cmpd="sng">
                <a:solidFill>
                  <a:schemeClr val="tx1"/>
                </a:solidFill>
                <a:prstDash val="solid"/>
                <a:headEnd type="none" w="med" len="med"/>
                <a:tailEnd type="none" w="med" len="med"/>
              </a:ln>
            </p:spPr>
          </p:sp>
          <p:sp>
            <p:nvSpPr>
              <p:cNvPr id="10265" name="Line 14"/>
              <p:cNvSpPr/>
              <p:nvPr/>
            </p:nvSpPr>
            <p:spPr>
              <a:xfrm>
                <a:off x="1824" y="1008"/>
                <a:ext cx="384" cy="240"/>
              </a:xfrm>
              <a:prstGeom prst="line">
                <a:avLst/>
              </a:prstGeom>
              <a:ln w="9525" cap="flat" cmpd="sng">
                <a:solidFill>
                  <a:schemeClr val="tx1"/>
                </a:solidFill>
                <a:prstDash val="solid"/>
                <a:headEnd type="none" w="med" len="med"/>
                <a:tailEnd type="none" w="med" len="med"/>
              </a:ln>
            </p:spPr>
          </p:sp>
          <p:sp>
            <p:nvSpPr>
              <p:cNvPr id="10266" name="Line 15"/>
              <p:cNvSpPr/>
              <p:nvPr/>
            </p:nvSpPr>
            <p:spPr>
              <a:xfrm>
                <a:off x="2208" y="1248"/>
                <a:ext cx="864" cy="0"/>
              </a:xfrm>
              <a:prstGeom prst="line">
                <a:avLst/>
              </a:prstGeom>
              <a:ln w="9525" cap="flat" cmpd="sng">
                <a:solidFill>
                  <a:schemeClr val="tx1"/>
                </a:solidFill>
                <a:prstDash val="solid"/>
                <a:headEnd type="none" w="med" len="med"/>
                <a:tailEnd type="none" w="med" len="med"/>
              </a:ln>
            </p:spPr>
          </p:sp>
          <p:sp>
            <p:nvSpPr>
              <p:cNvPr id="10267" name="Line 16"/>
              <p:cNvSpPr/>
              <p:nvPr/>
            </p:nvSpPr>
            <p:spPr>
              <a:xfrm flipV="1">
                <a:off x="3072" y="1026"/>
                <a:ext cx="384" cy="222"/>
              </a:xfrm>
              <a:prstGeom prst="line">
                <a:avLst/>
              </a:prstGeom>
              <a:ln w="9525" cap="flat" cmpd="sng">
                <a:solidFill>
                  <a:schemeClr val="tx1"/>
                </a:solidFill>
                <a:prstDash val="solid"/>
                <a:headEnd type="none" w="med" len="med"/>
                <a:tailEnd type="none" w="med" len="med"/>
              </a:ln>
            </p:spPr>
          </p:sp>
          <p:sp>
            <p:nvSpPr>
              <p:cNvPr id="10268" name="Line 17"/>
              <p:cNvSpPr/>
              <p:nvPr/>
            </p:nvSpPr>
            <p:spPr>
              <a:xfrm>
                <a:off x="3456" y="1020"/>
                <a:ext cx="1152" cy="0"/>
              </a:xfrm>
              <a:prstGeom prst="line">
                <a:avLst/>
              </a:prstGeom>
              <a:ln w="9525" cap="flat" cmpd="sng">
                <a:solidFill>
                  <a:schemeClr val="tx1"/>
                </a:solidFill>
                <a:prstDash val="solid"/>
                <a:headEnd type="none" w="med" len="med"/>
                <a:tailEnd type="none" w="med" len="med"/>
              </a:ln>
            </p:spPr>
          </p:sp>
        </p:grpSp>
        <p:grpSp>
          <p:nvGrpSpPr>
            <p:cNvPr id="10247" name="Group 22"/>
            <p:cNvGrpSpPr/>
            <p:nvPr/>
          </p:nvGrpSpPr>
          <p:grpSpPr>
            <a:xfrm>
              <a:off x="1512" y="1614"/>
              <a:ext cx="288" cy="162"/>
              <a:chOff x="1056" y="1614"/>
              <a:chExt cx="288" cy="162"/>
            </a:xfrm>
          </p:grpSpPr>
          <p:sp>
            <p:nvSpPr>
              <p:cNvPr id="10262" name="Rectangle 18"/>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63" name="Rectangle 19"/>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sp>
          <p:nvSpPr>
            <p:cNvPr id="10248" name="Line 20"/>
            <p:cNvSpPr/>
            <p:nvPr/>
          </p:nvSpPr>
          <p:spPr>
            <a:xfrm>
              <a:off x="798" y="1428"/>
              <a:ext cx="1272" cy="0"/>
            </a:xfrm>
            <a:prstGeom prst="line">
              <a:avLst/>
            </a:prstGeom>
            <a:ln w="9525" cap="flat" cmpd="sng">
              <a:solidFill>
                <a:schemeClr val="tx1"/>
              </a:solidFill>
              <a:prstDash val="dash"/>
              <a:headEnd type="none" w="med" len="med"/>
              <a:tailEnd type="none" w="med" len="med"/>
            </a:ln>
          </p:spPr>
        </p:sp>
        <p:sp>
          <p:nvSpPr>
            <p:cNvPr id="10249" name="Line 21"/>
            <p:cNvSpPr/>
            <p:nvPr/>
          </p:nvSpPr>
          <p:spPr>
            <a:xfrm>
              <a:off x="3444" y="1422"/>
              <a:ext cx="1272" cy="0"/>
            </a:xfrm>
            <a:prstGeom prst="line">
              <a:avLst/>
            </a:prstGeom>
            <a:ln w="9525" cap="flat" cmpd="sng">
              <a:solidFill>
                <a:schemeClr val="tx1"/>
              </a:solidFill>
              <a:prstDash val="dash"/>
              <a:headEnd type="none" w="med" len="med"/>
              <a:tailEnd type="none" w="med" len="med"/>
            </a:ln>
          </p:spPr>
        </p:sp>
        <p:grpSp>
          <p:nvGrpSpPr>
            <p:cNvPr id="10250" name="Group 23"/>
            <p:cNvGrpSpPr/>
            <p:nvPr/>
          </p:nvGrpSpPr>
          <p:grpSpPr>
            <a:xfrm>
              <a:off x="2382" y="1344"/>
              <a:ext cx="288" cy="162"/>
              <a:chOff x="1056" y="1614"/>
              <a:chExt cx="288" cy="162"/>
            </a:xfrm>
          </p:grpSpPr>
          <p:sp>
            <p:nvSpPr>
              <p:cNvPr id="10260" name="Rectangle 24"/>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61" name="Rectangle 25"/>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0251" name="Group 26"/>
            <p:cNvGrpSpPr/>
            <p:nvPr/>
          </p:nvGrpSpPr>
          <p:grpSpPr>
            <a:xfrm flipH="1">
              <a:off x="2838" y="1344"/>
              <a:ext cx="288" cy="162"/>
              <a:chOff x="1056" y="1614"/>
              <a:chExt cx="288" cy="162"/>
            </a:xfrm>
          </p:grpSpPr>
          <p:sp>
            <p:nvSpPr>
              <p:cNvPr id="10258" name="Rectangle 27"/>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59" name="Rectangle 28"/>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0252" name="Group 29"/>
            <p:cNvGrpSpPr/>
            <p:nvPr/>
          </p:nvGrpSpPr>
          <p:grpSpPr>
            <a:xfrm flipH="1">
              <a:off x="3822" y="1140"/>
              <a:ext cx="288" cy="162"/>
              <a:chOff x="1056" y="1614"/>
              <a:chExt cx="288" cy="162"/>
            </a:xfrm>
          </p:grpSpPr>
          <p:sp>
            <p:nvSpPr>
              <p:cNvPr id="10256" name="Rectangle 30"/>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57" name="Rectangle 31"/>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0253" name="Group 32"/>
            <p:cNvGrpSpPr/>
            <p:nvPr/>
          </p:nvGrpSpPr>
          <p:grpSpPr>
            <a:xfrm flipH="1">
              <a:off x="4248" y="1140"/>
              <a:ext cx="288" cy="162"/>
              <a:chOff x="1056" y="1614"/>
              <a:chExt cx="288" cy="162"/>
            </a:xfrm>
          </p:grpSpPr>
          <p:sp>
            <p:nvSpPr>
              <p:cNvPr id="10254" name="Rectangle 33"/>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55" name="Rectangle 34"/>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vert="horz" wrap="square" lIns="91440" tIns="45720" rIns="91440" bIns="45720" anchor="b" anchorCtr="0"/>
          <a:lstStyle/>
          <a:p>
            <a:pPr eaLnBrk="1" hangingPunct="1"/>
            <a:r>
              <a:rPr lang="en-US" altLang="zh-CN" dirty="0"/>
              <a:t>Why Deadlock?</a:t>
            </a:r>
          </a:p>
        </p:txBody>
      </p:sp>
      <p:sp>
        <p:nvSpPr>
          <p:cNvPr id="11267" name="Rectangle 3"/>
          <p:cNvSpPr>
            <a:spLocks noGrp="1"/>
          </p:cNvSpPr>
          <p:nvPr>
            <p:ph idx="1"/>
          </p:nvPr>
        </p:nvSpPr>
        <p:spPr>
          <a:xfrm>
            <a:off x="827088" y="1177925"/>
            <a:ext cx="7712075" cy="4991100"/>
          </a:xfrm>
        </p:spPr>
        <p:txBody>
          <a:bodyPr vert="horz" wrap="square" lIns="91440" tIns="45720" rIns="91440" bIns="45720" anchor="t" anchorCtr="0"/>
          <a:lstStyle/>
          <a:p>
            <a:r>
              <a:rPr lang="en-US" altLang="zh-CN" dirty="0"/>
              <a:t>Resource  competition</a:t>
            </a:r>
            <a:r>
              <a:rPr lang="zh-CN" altLang="en-US" dirty="0"/>
              <a:t>（资源竞争）</a:t>
            </a:r>
            <a:endParaRPr lang="en-US" altLang="zh-CN" baseline="-25000" dirty="0"/>
          </a:p>
          <a:p>
            <a:pPr lvl="1"/>
            <a:r>
              <a:rPr lang="en-US" altLang="zh-CN" dirty="0"/>
              <a:t>The number of resources is not sufficient  for processes  requirements</a:t>
            </a:r>
            <a:r>
              <a:rPr lang="zh-CN" altLang="en-US" dirty="0"/>
              <a:t>（资源不够）</a:t>
            </a:r>
            <a:endParaRPr lang="en-US" altLang="zh-CN" dirty="0"/>
          </a:p>
          <a:p>
            <a:r>
              <a:rPr lang="en-US" altLang="zh-CN" dirty="0"/>
              <a:t>Advance order of Concurrent  processes  is not appropriate</a:t>
            </a:r>
            <a:r>
              <a:rPr lang="zh-CN" altLang="en-US" dirty="0"/>
              <a:t>（并发进程的提前顺序不合适）</a:t>
            </a:r>
            <a:endParaRPr lang="en-US" altLang="zh-CN" dirty="0"/>
          </a:p>
          <a:p>
            <a:pPr lvl="1"/>
            <a:r>
              <a:rPr lang="en-US" altLang="zh-CN" dirty="0"/>
              <a:t>In a multiprogramming system, it is asynchronous  for concurrent processes execution</a:t>
            </a:r>
          </a:p>
          <a:p>
            <a:pPr lvl="1"/>
            <a:r>
              <a:rPr lang="en-US" altLang="zh-CN" dirty="0"/>
              <a:t>In some order, each process can complete successfully</a:t>
            </a:r>
            <a:r>
              <a:rPr lang="zh-CN" altLang="en-US" dirty="0"/>
              <a:t>（按照某种顺序，每个进程都可以成功完成）</a:t>
            </a:r>
            <a:endParaRPr lang="en-US" altLang="zh-CN" dirty="0"/>
          </a:p>
          <a:p>
            <a:pPr lvl="1"/>
            <a:r>
              <a:rPr lang="en-US" altLang="zh-CN" dirty="0"/>
              <a:t>In some order, there will be a deadlock </a:t>
            </a:r>
            <a:r>
              <a:rPr lang="zh-CN" altLang="en-US" dirty="0"/>
              <a:t>（按照某种顺序，可能会导致死锁）</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vert="horz" wrap="square" lIns="91440" tIns="45720" rIns="91440" bIns="45720" anchor="b" anchorCtr="0"/>
          <a:lstStyle/>
          <a:p>
            <a:pPr eaLnBrk="1" hangingPunct="1"/>
            <a:r>
              <a:rPr lang="en-US" altLang="zh-CN" dirty="0"/>
              <a:t>System Model</a:t>
            </a:r>
          </a:p>
        </p:txBody>
      </p:sp>
      <p:sp>
        <p:nvSpPr>
          <p:cNvPr id="13315" name="Rectangle 3"/>
          <p:cNvSpPr>
            <a:spLocks noGrp="1"/>
          </p:cNvSpPr>
          <p:nvPr>
            <p:ph idx="1"/>
          </p:nvPr>
        </p:nvSpPr>
        <p:spPr>
          <a:xfrm>
            <a:off x="827088" y="1425575"/>
            <a:ext cx="7712075" cy="4483100"/>
          </a:xfrm>
        </p:spPr>
        <p:txBody>
          <a:bodyPr vert="horz" wrap="square" lIns="91440" tIns="45720" rIns="91440" bIns="45720" anchor="t" anchorCtr="0"/>
          <a:lstStyle/>
          <a:p>
            <a:r>
              <a:rPr lang="en-US" altLang="zh-CN" dirty="0"/>
              <a:t>Resource types </a:t>
            </a:r>
            <a:r>
              <a:rPr lang="en-US" altLang="zh-CN" i="1" dirty="0"/>
              <a:t>R</a:t>
            </a:r>
            <a:r>
              <a:rPr lang="en-US" altLang="zh-CN" baseline="-25000" dirty="0"/>
              <a:t>1</a:t>
            </a:r>
            <a:r>
              <a:rPr lang="en-US" altLang="zh-CN" dirty="0"/>
              <a:t>, </a:t>
            </a:r>
            <a:r>
              <a:rPr lang="en-US" altLang="zh-CN" i="1" dirty="0"/>
              <a:t>R</a:t>
            </a:r>
            <a:r>
              <a:rPr lang="en-US" altLang="zh-CN" baseline="-25000" dirty="0"/>
              <a:t>2</a:t>
            </a:r>
            <a:r>
              <a:rPr lang="en-US" altLang="zh-CN" dirty="0"/>
              <a:t>, . . ., </a:t>
            </a:r>
            <a:r>
              <a:rPr lang="en-US" altLang="zh-CN" i="1" dirty="0"/>
              <a:t>R</a:t>
            </a:r>
            <a:r>
              <a:rPr lang="en-US" altLang="zh-CN" baseline="-25000" dirty="0"/>
              <a:t>m</a:t>
            </a:r>
          </a:p>
          <a:p>
            <a:pPr lvl="2">
              <a:buNone/>
            </a:pPr>
            <a:r>
              <a:rPr lang="en-US" altLang="zh-CN" i="1" dirty="0"/>
              <a:t>CPU cycles, memory space, I/O devices</a:t>
            </a:r>
          </a:p>
          <a:p>
            <a:r>
              <a:rPr lang="en-US" altLang="zh-CN" dirty="0"/>
              <a:t>Each resource type </a:t>
            </a:r>
            <a:r>
              <a:rPr lang="en-US" altLang="zh-CN" i="1" dirty="0"/>
              <a:t>R</a:t>
            </a:r>
            <a:r>
              <a:rPr lang="en-US" altLang="zh-CN" baseline="-25000" dirty="0"/>
              <a:t>i</a:t>
            </a:r>
            <a:r>
              <a:rPr lang="en-US" altLang="zh-CN" dirty="0"/>
              <a:t> has </a:t>
            </a:r>
            <a:r>
              <a:rPr lang="en-US" altLang="zh-CN" i="1" dirty="0"/>
              <a:t>W</a:t>
            </a:r>
            <a:r>
              <a:rPr lang="en-US" altLang="zh-CN" baseline="-25000" dirty="0"/>
              <a:t>i</a:t>
            </a:r>
            <a:r>
              <a:rPr lang="en-US" altLang="zh-CN" dirty="0"/>
              <a:t> instances.</a:t>
            </a:r>
          </a:p>
          <a:p>
            <a:r>
              <a:rPr lang="en-US" altLang="zh-CN" dirty="0"/>
              <a:t>The number of resources  requested may not exceed the total number of resources available in the system.</a:t>
            </a:r>
          </a:p>
        </p:txBody>
      </p:sp>
      <p:sp>
        <p:nvSpPr>
          <p:cNvPr id="2" name="矩形 1"/>
          <p:cNvSpPr/>
          <p:nvPr/>
        </p:nvSpPr>
        <p:spPr>
          <a:xfrm>
            <a:off x="3425825" y="4247515"/>
            <a:ext cx="988060" cy="182943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3" name="文本框 2"/>
          <p:cNvSpPr txBox="1"/>
          <p:nvPr/>
        </p:nvSpPr>
        <p:spPr>
          <a:xfrm>
            <a:off x="3701415" y="6076950"/>
            <a:ext cx="436245" cy="368300"/>
          </a:xfrm>
          <a:prstGeom prst="rect">
            <a:avLst/>
          </a:prstGeom>
          <a:noFill/>
        </p:spPr>
        <p:txBody>
          <a:bodyPr wrap="none" rtlCol="0" anchor="t">
            <a:spAutoFit/>
          </a:bodyPr>
          <a:lstStyle/>
          <a:p>
            <a:r>
              <a:rPr lang="en-US" altLang="zh-CN" i="1" dirty="0">
                <a:sym typeface="+mn-ea"/>
              </a:rPr>
              <a:t>R</a:t>
            </a:r>
            <a:r>
              <a:rPr lang="en-US" altLang="zh-CN" baseline="-25000" dirty="0">
                <a:sym typeface="+mn-ea"/>
              </a:rPr>
              <a:t>1</a:t>
            </a:r>
            <a:endParaRPr lang="zh-CN" altLang="en-US"/>
          </a:p>
        </p:txBody>
      </p:sp>
      <p:sp>
        <p:nvSpPr>
          <p:cNvPr id="4" name="矩形 3"/>
          <p:cNvSpPr/>
          <p:nvPr/>
        </p:nvSpPr>
        <p:spPr>
          <a:xfrm>
            <a:off x="4969510" y="4247515"/>
            <a:ext cx="988060" cy="182943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5" name="文本框 4"/>
          <p:cNvSpPr txBox="1"/>
          <p:nvPr/>
        </p:nvSpPr>
        <p:spPr>
          <a:xfrm>
            <a:off x="5245100" y="6076950"/>
            <a:ext cx="436245" cy="368300"/>
          </a:xfrm>
          <a:prstGeom prst="rect">
            <a:avLst/>
          </a:prstGeom>
          <a:noFill/>
        </p:spPr>
        <p:txBody>
          <a:bodyPr wrap="none" rtlCol="0" anchor="t">
            <a:spAutoFit/>
          </a:bodyPr>
          <a:lstStyle/>
          <a:p>
            <a:r>
              <a:rPr lang="en-US" altLang="zh-CN" i="1" dirty="0">
                <a:sym typeface="+mn-ea"/>
              </a:rPr>
              <a:t>R</a:t>
            </a:r>
            <a:r>
              <a:rPr lang="en-US" altLang="zh-CN" baseline="-25000" dirty="0">
                <a:sym typeface="+mn-ea"/>
              </a:rPr>
              <a:t>2</a:t>
            </a:r>
            <a:endParaRPr lang="zh-CN" altLang="en-US"/>
          </a:p>
        </p:txBody>
      </p:sp>
      <p:sp>
        <p:nvSpPr>
          <p:cNvPr id="6" name="椭圆 5"/>
          <p:cNvSpPr/>
          <p:nvPr/>
        </p:nvSpPr>
        <p:spPr>
          <a:xfrm>
            <a:off x="3796030" y="468503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7" name="椭圆 6"/>
          <p:cNvSpPr/>
          <p:nvPr/>
        </p:nvSpPr>
        <p:spPr>
          <a:xfrm>
            <a:off x="3795395" y="5309235"/>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8" name="椭圆 7"/>
          <p:cNvSpPr/>
          <p:nvPr/>
        </p:nvSpPr>
        <p:spPr>
          <a:xfrm>
            <a:off x="5339080" y="451485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9" name="椭圆 8"/>
          <p:cNvSpPr/>
          <p:nvPr/>
        </p:nvSpPr>
        <p:spPr>
          <a:xfrm>
            <a:off x="5339080" y="502539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0" name="椭圆 9"/>
          <p:cNvSpPr/>
          <p:nvPr/>
        </p:nvSpPr>
        <p:spPr>
          <a:xfrm>
            <a:off x="5339715" y="555117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1" name="文本框 10"/>
          <p:cNvSpPr txBox="1"/>
          <p:nvPr/>
        </p:nvSpPr>
        <p:spPr>
          <a:xfrm>
            <a:off x="3502025" y="3879215"/>
            <a:ext cx="836295" cy="368300"/>
          </a:xfrm>
          <a:prstGeom prst="rect">
            <a:avLst/>
          </a:prstGeom>
          <a:noFill/>
        </p:spPr>
        <p:txBody>
          <a:bodyPr wrap="none" rtlCol="0" anchor="t">
            <a:spAutoFit/>
          </a:bodyPr>
          <a:lstStyle/>
          <a:p>
            <a:pPr algn="l"/>
            <a:r>
              <a:rPr lang="en-US" altLang="zh-CN" i="1" dirty="0">
                <a:sym typeface="+mn-ea"/>
              </a:rPr>
              <a:t>W</a:t>
            </a:r>
            <a:r>
              <a:rPr lang="en-US" altLang="zh-CN" baseline="-25000" dirty="0">
                <a:sym typeface="+mn-ea"/>
              </a:rPr>
              <a:t>1</a:t>
            </a:r>
            <a:r>
              <a:rPr lang="en-US" altLang="zh-CN" i="1" dirty="0">
                <a:sym typeface="+mn-ea"/>
              </a:rPr>
              <a:t>=2</a:t>
            </a:r>
            <a:endParaRPr lang="zh-CN" altLang="en-US"/>
          </a:p>
        </p:txBody>
      </p:sp>
      <p:sp>
        <p:nvSpPr>
          <p:cNvPr id="12" name="文本框 11"/>
          <p:cNvSpPr txBox="1"/>
          <p:nvPr/>
        </p:nvSpPr>
        <p:spPr>
          <a:xfrm>
            <a:off x="5045710" y="3879215"/>
            <a:ext cx="836295" cy="368300"/>
          </a:xfrm>
          <a:prstGeom prst="rect">
            <a:avLst/>
          </a:prstGeom>
          <a:noFill/>
        </p:spPr>
        <p:txBody>
          <a:bodyPr wrap="none" rtlCol="0" anchor="t">
            <a:spAutoFit/>
          </a:bodyPr>
          <a:lstStyle/>
          <a:p>
            <a:pPr algn="l"/>
            <a:r>
              <a:rPr lang="en-US" altLang="zh-CN" i="1" dirty="0">
                <a:sym typeface="+mn-ea"/>
              </a:rPr>
              <a:t>W</a:t>
            </a:r>
            <a:r>
              <a:rPr lang="en-US" altLang="zh-CN" baseline="-25000" dirty="0">
                <a:sym typeface="+mn-ea"/>
              </a:rPr>
              <a:t>2</a:t>
            </a:r>
            <a:r>
              <a:rPr lang="en-US" altLang="zh-CN" i="1" dirty="0">
                <a:sym typeface="+mn-ea"/>
              </a:rPr>
              <a:t>=3</a:t>
            </a:r>
            <a:endParaRPr lang="zh-CN" altLang="en-US"/>
          </a:p>
        </p:txBody>
      </p:sp>
    </p:spTree>
    <p:extLst>
      <p:ext uri="{BB962C8B-B14F-4D97-AF65-F5344CB8AC3E}">
        <p14:creationId xmlns:p14="http://schemas.microsoft.com/office/powerpoint/2010/main" val="412323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P spid="3" grpId="1"/>
      <p:bldP spid="4" grpId="0" animBg="1"/>
      <p:bldP spid="4" grpId="1" animBg="1"/>
      <p:bldP spid="5" grpId="0"/>
      <p:bldP spid="5" grpId="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p:bldP spid="11" grpId="1"/>
      <p:bldP spid="12"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91440" tIns="45720" rIns="91440" bIns="45720" anchor="b" anchorCtr="0"/>
          <a:lstStyle/>
          <a:p>
            <a:pPr eaLnBrk="1" hangingPunct="1"/>
            <a:r>
              <a:rPr lang="en-US" altLang="zh-CN" dirty="0"/>
              <a:t>How  process utilizes a resource?</a:t>
            </a:r>
          </a:p>
        </p:txBody>
      </p:sp>
      <p:sp>
        <p:nvSpPr>
          <p:cNvPr id="14339" name="Rectangle 3"/>
          <p:cNvSpPr>
            <a:spLocks noGrp="1"/>
          </p:cNvSpPr>
          <p:nvPr>
            <p:ph idx="1"/>
          </p:nvPr>
        </p:nvSpPr>
        <p:spPr>
          <a:xfrm>
            <a:off x="827088" y="1425575"/>
            <a:ext cx="7712075" cy="4483100"/>
          </a:xfrm>
        </p:spPr>
        <p:txBody>
          <a:bodyPr vert="horz" wrap="square" lIns="91440" tIns="45720" rIns="91440" bIns="45720" anchor="t" anchorCtr="0"/>
          <a:lstStyle/>
          <a:p>
            <a:r>
              <a:rPr lang="en-US" altLang="zh-CN" dirty="0"/>
              <a:t>Each process utilizes a resource as follows:</a:t>
            </a:r>
          </a:p>
          <a:p>
            <a:pPr lvl="1"/>
            <a:r>
              <a:rPr lang="en-US" altLang="zh-CN" b="1" dirty="0"/>
              <a:t>request (</a:t>
            </a:r>
            <a:r>
              <a:rPr lang="zh-CN" altLang="en-US" b="1" dirty="0">
                <a:ea typeface="宋体" panose="02010600030101010101" pitchFamily="2" charset="-122"/>
              </a:rPr>
              <a:t>申请</a:t>
            </a:r>
            <a:r>
              <a:rPr lang="en-US" altLang="zh-CN" b="1" dirty="0"/>
              <a:t>) </a:t>
            </a:r>
          </a:p>
          <a:p>
            <a:pPr lvl="1"/>
            <a:r>
              <a:rPr lang="en-US" altLang="zh-CN" b="1" dirty="0"/>
              <a:t>use  </a:t>
            </a:r>
            <a:r>
              <a:rPr lang="en-US" altLang="zh-CN" b="1" dirty="0">
                <a:sym typeface="+mn-ea"/>
              </a:rPr>
              <a:t>(</a:t>
            </a:r>
            <a:r>
              <a:rPr lang="zh-CN" altLang="en-US" b="1" dirty="0">
                <a:ea typeface="宋体" panose="02010600030101010101" pitchFamily="2" charset="-122"/>
                <a:sym typeface="+mn-ea"/>
              </a:rPr>
              <a:t>使用</a:t>
            </a:r>
            <a:r>
              <a:rPr lang="en-US" altLang="zh-CN" b="1" dirty="0">
                <a:sym typeface="+mn-ea"/>
              </a:rPr>
              <a:t>)</a:t>
            </a:r>
            <a:endParaRPr lang="en-US" altLang="zh-CN" b="1" dirty="0"/>
          </a:p>
          <a:p>
            <a:pPr lvl="1"/>
            <a:r>
              <a:rPr lang="en-US" altLang="zh-CN" b="1" dirty="0"/>
              <a:t>Release (</a:t>
            </a:r>
            <a:r>
              <a:rPr lang="zh-CN" altLang="en-US" b="1" dirty="0">
                <a:ea typeface="宋体" panose="02010600030101010101" pitchFamily="2" charset="-122"/>
              </a:rPr>
              <a:t>释放</a:t>
            </a:r>
            <a:r>
              <a:rPr lang="en-US" altLang="zh-CN" b="1" dirty="0"/>
              <a:t>)</a:t>
            </a:r>
          </a:p>
          <a:p>
            <a:r>
              <a:rPr lang="en-US" altLang="zh-CN" dirty="0"/>
              <a:t>The request and release are system calls, such as open() and close() file, and allocate() and free() memory system calls.</a:t>
            </a:r>
          </a:p>
        </p:txBody>
      </p:sp>
    </p:spTree>
    <p:extLst>
      <p:ext uri="{BB962C8B-B14F-4D97-AF65-F5344CB8AC3E}">
        <p14:creationId xmlns:p14="http://schemas.microsoft.com/office/powerpoint/2010/main" val="272659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914400" y="309563"/>
            <a:ext cx="8229600" cy="576262"/>
          </a:xfrm>
        </p:spPr>
        <p:txBody>
          <a:bodyPr vert="horz" wrap="square" lIns="91440" tIns="45720" rIns="91440" bIns="45720" anchor="b" anchorCtr="0"/>
          <a:lstStyle/>
          <a:p>
            <a:pPr eaLnBrk="1" hangingPunct="1"/>
            <a:r>
              <a:rPr lang="en-US" altLang="zh-CN" dirty="0"/>
              <a:t>Necessary Conditions for Deadlock</a:t>
            </a:r>
          </a:p>
        </p:txBody>
      </p:sp>
      <p:sp>
        <p:nvSpPr>
          <p:cNvPr id="15363" name="Rectangle 3"/>
          <p:cNvSpPr>
            <a:spLocks noGrp="1"/>
          </p:cNvSpPr>
          <p:nvPr>
            <p:ph idx="1"/>
          </p:nvPr>
        </p:nvSpPr>
        <p:spPr>
          <a:xfrm>
            <a:off x="403225" y="1658938"/>
            <a:ext cx="8509000" cy="4162425"/>
          </a:xfrm>
        </p:spPr>
        <p:txBody>
          <a:bodyPr vert="horz" wrap="square" lIns="91440" tIns="45720" rIns="91440" bIns="45720" anchor="t" anchorCtr="0"/>
          <a:lstStyle/>
          <a:p>
            <a:pPr>
              <a:lnSpc>
                <a:spcPct val="90000"/>
              </a:lnSpc>
            </a:pPr>
            <a:r>
              <a:rPr lang="en-US" altLang="zh-CN" b="1" dirty="0"/>
              <a:t>Mutual exclusion(</a:t>
            </a:r>
            <a:r>
              <a:rPr lang="zh-CN" altLang="en-US" b="1" dirty="0">
                <a:ea typeface="宋体" panose="02010600030101010101" pitchFamily="2" charset="-122"/>
              </a:rPr>
              <a:t>互斥</a:t>
            </a:r>
            <a:r>
              <a:rPr lang="en-US" altLang="zh-CN" b="1" dirty="0"/>
              <a:t>):</a:t>
            </a:r>
            <a:r>
              <a:rPr lang="en-US" altLang="zh-CN" dirty="0"/>
              <a:t>  only one process at a time can use a resource</a:t>
            </a:r>
          </a:p>
          <a:p>
            <a:pPr>
              <a:lnSpc>
                <a:spcPct val="90000"/>
              </a:lnSpc>
            </a:pPr>
            <a:r>
              <a:rPr lang="en-US" altLang="zh-CN" b="1" dirty="0"/>
              <a:t>Hold and wait(</a:t>
            </a:r>
            <a:r>
              <a:rPr lang="zh-CN" altLang="en-US" b="1" dirty="0">
                <a:ea typeface="宋体" panose="02010600030101010101" pitchFamily="2" charset="-122"/>
              </a:rPr>
              <a:t>占有并等待</a:t>
            </a:r>
            <a:r>
              <a:rPr lang="en-US" altLang="zh-CN" b="1" dirty="0"/>
              <a:t>):</a:t>
            </a:r>
            <a:r>
              <a:rPr lang="en-US" altLang="zh-CN" dirty="0"/>
              <a:t>  a process holding at least one resource is waiting to acquire additional resources held by other processes</a:t>
            </a:r>
          </a:p>
          <a:p>
            <a:pPr>
              <a:lnSpc>
                <a:spcPct val="90000"/>
              </a:lnSpc>
            </a:pPr>
            <a:r>
              <a:rPr lang="en-US" altLang="zh-CN" b="1" dirty="0"/>
              <a:t>No preemption(</a:t>
            </a:r>
            <a:r>
              <a:rPr lang="zh-CN" altLang="en-US" b="1" dirty="0">
                <a:ea typeface="宋体" panose="02010600030101010101" pitchFamily="2" charset="-122"/>
              </a:rPr>
              <a:t>非抢占</a:t>
            </a:r>
            <a:r>
              <a:rPr lang="en-US" altLang="zh-CN" b="1" dirty="0"/>
              <a:t>):</a:t>
            </a:r>
            <a:r>
              <a:rPr lang="en-US" altLang="zh-CN" dirty="0"/>
              <a:t>  a resource can be released only voluntarily by the process holding it, after that process has completed its task</a:t>
            </a:r>
          </a:p>
        </p:txBody>
      </p:sp>
      <p:sp>
        <p:nvSpPr>
          <p:cNvPr id="15364" name="Text Box 5"/>
          <p:cNvSpPr txBox="1"/>
          <p:nvPr/>
        </p:nvSpPr>
        <p:spPr>
          <a:xfrm>
            <a:off x="511175" y="1055688"/>
            <a:ext cx="8632825" cy="461962"/>
          </a:xfrm>
          <a:prstGeom prst="rect">
            <a:avLst/>
          </a:prstGeom>
          <a:noFill/>
          <a:ln w="9525">
            <a:noFill/>
          </a:ln>
        </p:spPr>
        <p:txBody>
          <a:bodyPr anchor="ctr" anchorCtr="0">
            <a:spAutoFit/>
          </a:bodyPr>
          <a:lstStyle/>
          <a:p>
            <a:pPr algn="ctr">
              <a:spcBef>
                <a:spcPct val="50000"/>
              </a:spcBef>
            </a:pPr>
            <a:r>
              <a:rPr lang="en-US" altLang="zh-CN" sz="2400" dirty="0">
                <a:latin typeface="Helvetica" pitchFamily="34" charset="0"/>
              </a:rPr>
              <a:t>Deadlock can arise if four conditions hold </a:t>
            </a:r>
            <a:r>
              <a:rPr lang="en-US" altLang="zh-CN" sz="2400" dirty="0">
                <a:solidFill>
                  <a:srgbClr val="FF0000"/>
                </a:solidFill>
                <a:latin typeface="Helvetica" pitchFamily="34" charset="0"/>
              </a:rPr>
              <a:t>simultaneously</a:t>
            </a:r>
            <a:r>
              <a:rPr lang="en-US" altLang="zh-CN" sz="2400" dirty="0">
                <a:latin typeface="Helvetica"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565275" y="4617085"/>
            <a:ext cx="1376680" cy="57340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7" name="矩形 6"/>
          <p:cNvSpPr/>
          <p:nvPr/>
        </p:nvSpPr>
        <p:spPr>
          <a:xfrm>
            <a:off x="6221730" y="4617085"/>
            <a:ext cx="1376680" cy="57340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4" name="椭圆 3"/>
          <p:cNvSpPr/>
          <p:nvPr/>
        </p:nvSpPr>
        <p:spPr>
          <a:xfrm>
            <a:off x="4025900" y="3946525"/>
            <a:ext cx="1231900" cy="411480"/>
          </a:xfrm>
          <a:prstGeom prst="ellipse">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5" name="椭圆 4"/>
          <p:cNvSpPr/>
          <p:nvPr/>
        </p:nvSpPr>
        <p:spPr>
          <a:xfrm>
            <a:off x="4025900" y="5428615"/>
            <a:ext cx="1231900" cy="411480"/>
          </a:xfrm>
          <a:prstGeom prst="ellipse">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6386" name="Rectangle 2"/>
          <p:cNvSpPr>
            <a:spLocks noGrp="1"/>
          </p:cNvSpPr>
          <p:nvPr>
            <p:ph type="title"/>
          </p:nvPr>
        </p:nvSpPr>
        <p:spPr>
          <a:xfrm>
            <a:off x="914400" y="309563"/>
            <a:ext cx="8229600" cy="576262"/>
          </a:xfrm>
        </p:spPr>
        <p:txBody>
          <a:bodyPr vert="horz" wrap="square" lIns="91440" tIns="45720" rIns="91440" bIns="45720" anchor="b" anchorCtr="0"/>
          <a:lstStyle/>
          <a:p>
            <a:pPr eaLnBrk="1" hangingPunct="1"/>
            <a:r>
              <a:rPr lang="en-US" altLang="zh-CN" dirty="0"/>
              <a:t>Necessary Conditions for Deadlock(Cont)</a:t>
            </a:r>
          </a:p>
        </p:txBody>
      </p:sp>
      <p:sp>
        <p:nvSpPr>
          <p:cNvPr id="16387" name="Rectangle 3"/>
          <p:cNvSpPr>
            <a:spLocks noGrp="1"/>
          </p:cNvSpPr>
          <p:nvPr>
            <p:ph idx="1"/>
          </p:nvPr>
        </p:nvSpPr>
        <p:spPr>
          <a:xfrm>
            <a:off x="635000" y="1239838"/>
            <a:ext cx="8509000" cy="4162425"/>
          </a:xfrm>
        </p:spPr>
        <p:txBody>
          <a:bodyPr vert="horz" wrap="square" lIns="91440" tIns="45720" rIns="91440" bIns="45720" anchor="t" anchorCtr="0"/>
          <a:lstStyle/>
          <a:p>
            <a:pPr>
              <a:lnSpc>
                <a:spcPct val="90000"/>
              </a:lnSpc>
            </a:pPr>
            <a:r>
              <a:rPr lang="en-US" altLang="zh-CN" b="1" dirty="0"/>
              <a:t>Circular wait(</a:t>
            </a:r>
            <a:r>
              <a:rPr lang="zh-CN" altLang="en-US" b="1" dirty="0">
                <a:ea typeface="宋体" panose="02010600030101010101" pitchFamily="2" charset="-122"/>
              </a:rPr>
              <a:t>循环等待</a:t>
            </a:r>
            <a:r>
              <a:rPr lang="en-US" altLang="zh-CN" b="1" dirty="0"/>
              <a:t> ):</a:t>
            </a:r>
            <a:r>
              <a:rPr lang="en-US" altLang="zh-CN" dirty="0"/>
              <a:t>  there exists a set {</a:t>
            </a:r>
            <a:r>
              <a:rPr lang="en-US" altLang="zh-CN" i="1" dirty="0"/>
              <a:t>P</a:t>
            </a:r>
            <a:r>
              <a:rPr lang="en-US" altLang="zh-CN" baseline="-25000" dirty="0"/>
              <a:t>0</a:t>
            </a:r>
            <a:r>
              <a:rPr lang="en-US" altLang="zh-CN" dirty="0"/>
              <a:t>, </a:t>
            </a:r>
            <a:r>
              <a:rPr lang="en-US" altLang="zh-CN" i="1" dirty="0"/>
              <a:t>P</a:t>
            </a:r>
            <a:r>
              <a:rPr lang="en-US" altLang="zh-CN" baseline="-25000" dirty="0"/>
              <a:t>1</a:t>
            </a:r>
            <a:r>
              <a:rPr lang="en-US" altLang="zh-CN" dirty="0"/>
              <a:t>, …, </a:t>
            </a:r>
            <a:r>
              <a:rPr lang="en-US" altLang="zh-CN" i="1" dirty="0" err="1"/>
              <a:t>P</a:t>
            </a:r>
            <a:r>
              <a:rPr lang="en-US" altLang="zh-CN" baseline="-25000" dirty="0" err="1"/>
              <a:t>n</a:t>
            </a:r>
            <a:r>
              <a:rPr lang="en-US" altLang="zh-CN" dirty="0"/>
              <a:t>} of waiting processes such that </a:t>
            </a:r>
            <a:r>
              <a:rPr lang="en-US" altLang="zh-CN" i="1" dirty="0"/>
              <a:t>P</a:t>
            </a:r>
            <a:r>
              <a:rPr lang="en-US" altLang="zh-CN" baseline="-25000" dirty="0"/>
              <a:t>0 </a:t>
            </a:r>
            <a:r>
              <a:rPr lang="en-US" altLang="zh-CN" dirty="0"/>
              <a:t>is waiting for a resource that is held by </a:t>
            </a:r>
            <a:r>
              <a:rPr lang="en-US" altLang="zh-CN" i="1" dirty="0"/>
              <a:t>P</a:t>
            </a:r>
            <a:r>
              <a:rPr lang="en-US" altLang="zh-CN" baseline="-25000" dirty="0"/>
              <a:t>1</a:t>
            </a:r>
            <a:r>
              <a:rPr lang="en-US" altLang="zh-CN" dirty="0"/>
              <a:t>, </a:t>
            </a:r>
            <a:r>
              <a:rPr lang="en-US" altLang="zh-CN" i="1" dirty="0"/>
              <a:t>P</a:t>
            </a:r>
            <a:r>
              <a:rPr lang="en-US" altLang="zh-CN" baseline="-25000" dirty="0"/>
              <a:t>1</a:t>
            </a:r>
            <a:r>
              <a:rPr lang="en-US" altLang="zh-CN" dirty="0"/>
              <a:t> is waiting for a resource that is held by </a:t>
            </a:r>
            <a:r>
              <a:rPr lang="en-US" altLang="zh-CN" i="1" dirty="0"/>
              <a:t>P</a:t>
            </a:r>
            <a:r>
              <a:rPr lang="en-US" altLang="zh-CN" baseline="-25000" dirty="0"/>
              <a:t>2</a:t>
            </a:r>
            <a:r>
              <a:rPr lang="en-US" altLang="zh-CN" dirty="0"/>
              <a:t>, …, </a:t>
            </a:r>
            <a:r>
              <a:rPr lang="en-US" altLang="zh-CN" i="1" dirty="0"/>
              <a:t>P</a:t>
            </a:r>
            <a:r>
              <a:rPr lang="en-US" altLang="zh-CN" i="1" baseline="-25000" dirty="0"/>
              <a:t>n</a:t>
            </a:r>
            <a:r>
              <a:rPr lang="en-US" altLang="zh-CN" baseline="-25000" dirty="0"/>
              <a:t>–1</a:t>
            </a:r>
            <a:r>
              <a:rPr lang="en-US" altLang="zh-CN" dirty="0"/>
              <a:t> is waiting for a resource that is held by </a:t>
            </a:r>
            <a:br>
              <a:rPr lang="en-US" altLang="zh-CN" dirty="0"/>
            </a:br>
            <a:r>
              <a:rPr lang="en-US" altLang="zh-CN" i="1" dirty="0"/>
              <a:t>P</a:t>
            </a:r>
            <a:r>
              <a:rPr lang="en-US" altLang="zh-CN" baseline="-25000" dirty="0"/>
              <a:t>n</a:t>
            </a:r>
            <a:r>
              <a:rPr lang="en-US" altLang="zh-CN" dirty="0"/>
              <a:t>, and </a:t>
            </a:r>
            <a:r>
              <a:rPr lang="en-US" altLang="zh-CN" i="1" dirty="0"/>
              <a:t>P</a:t>
            </a:r>
            <a:r>
              <a:rPr lang="en-US" altLang="zh-CN" baseline="-25000" dirty="0"/>
              <a:t>n</a:t>
            </a:r>
            <a:r>
              <a:rPr lang="en-US" altLang="zh-CN" dirty="0"/>
              <a:t> is waiting for a resource that is held by </a:t>
            </a:r>
            <a:r>
              <a:rPr lang="en-US" altLang="zh-CN" i="1" dirty="0"/>
              <a:t>P</a:t>
            </a:r>
            <a:r>
              <a:rPr lang="en-US" altLang="zh-CN" baseline="-25000" dirty="0"/>
              <a:t>0</a:t>
            </a:r>
            <a:r>
              <a:rPr lang="en-US" altLang="zh-CN" dirty="0"/>
              <a:t>.</a:t>
            </a:r>
          </a:p>
          <a:p>
            <a:pPr>
              <a:lnSpc>
                <a:spcPct val="90000"/>
              </a:lnSpc>
            </a:pPr>
            <a:endParaRPr lang="en-US" altLang="zh-CN" dirty="0"/>
          </a:p>
        </p:txBody>
      </p:sp>
      <p:sp>
        <p:nvSpPr>
          <p:cNvPr id="21" name="Text Box 5"/>
          <p:cNvSpPr txBox="1"/>
          <p:nvPr/>
        </p:nvSpPr>
        <p:spPr>
          <a:xfrm>
            <a:off x="6211888" y="4705350"/>
            <a:ext cx="1362075" cy="396875"/>
          </a:xfrm>
          <a:prstGeom prst="rect">
            <a:avLst/>
          </a:prstGeom>
          <a:noFill/>
          <a:ln w="12700">
            <a:noFill/>
          </a:ln>
        </p:spPr>
        <p:txBody>
          <a:bodyPr wrap="none">
            <a:spAutoFit/>
          </a:bodyPr>
          <a:lstStyle/>
          <a:p>
            <a:r>
              <a:rPr lang="en-US" altLang="zh-CN" sz="2000" dirty="0">
                <a:latin typeface="Times New Roman" panose="02020603050405020304" pitchFamily="18" charset="0"/>
              </a:rPr>
              <a:t>Resource B</a:t>
            </a:r>
          </a:p>
        </p:txBody>
      </p:sp>
      <p:sp>
        <p:nvSpPr>
          <p:cNvPr id="22" name="Text Box 6"/>
          <p:cNvSpPr txBox="1"/>
          <p:nvPr/>
        </p:nvSpPr>
        <p:spPr>
          <a:xfrm>
            <a:off x="1565275" y="4705350"/>
            <a:ext cx="1376363" cy="396875"/>
          </a:xfrm>
          <a:prstGeom prst="rect">
            <a:avLst/>
          </a:prstGeom>
          <a:noFill/>
          <a:ln w="12700">
            <a:noFill/>
          </a:ln>
        </p:spPr>
        <p:txBody>
          <a:bodyPr wrap="none">
            <a:spAutoFit/>
          </a:bodyPr>
          <a:lstStyle/>
          <a:p>
            <a:r>
              <a:rPr lang="en-US" altLang="zh-CN" sz="2000" dirty="0">
                <a:latin typeface="Times New Roman" panose="02020603050405020304" pitchFamily="18" charset="0"/>
              </a:rPr>
              <a:t>Resource A</a:t>
            </a:r>
          </a:p>
        </p:txBody>
      </p:sp>
      <p:grpSp>
        <p:nvGrpSpPr>
          <p:cNvPr id="2" name="Group 7"/>
          <p:cNvGrpSpPr/>
          <p:nvPr/>
        </p:nvGrpSpPr>
        <p:grpSpPr>
          <a:xfrm>
            <a:off x="4025900" y="3946525"/>
            <a:ext cx="1231900" cy="1885950"/>
            <a:chOff x="2321" y="2335"/>
            <a:chExt cx="776" cy="1188"/>
          </a:xfrm>
        </p:grpSpPr>
        <p:sp>
          <p:nvSpPr>
            <p:cNvPr id="16395" name="Text Box 8"/>
            <p:cNvSpPr txBox="1"/>
            <p:nvPr/>
          </p:nvSpPr>
          <p:spPr>
            <a:xfrm>
              <a:off x="2321" y="2335"/>
              <a:ext cx="760" cy="250"/>
            </a:xfrm>
            <a:prstGeom prst="rect">
              <a:avLst/>
            </a:prstGeom>
            <a:noFill/>
            <a:ln w="12700">
              <a:noFill/>
            </a:ln>
          </p:spPr>
          <p:txBody>
            <a:bodyPr wrap="none">
              <a:spAutoFit/>
            </a:bodyPr>
            <a:lstStyle/>
            <a:p>
              <a:r>
                <a:rPr lang="en-US" altLang="zh-CN" sz="2000" dirty="0">
                  <a:latin typeface="Times New Roman" panose="02020603050405020304" pitchFamily="18" charset="0"/>
                </a:rPr>
                <a:t>Process A</a:t>
              </a:r>
            </a:p>
          </p:txBody>
        </p:sp>
        <p:sp>
          <p:nvSpPr>
            <p:cNvPr id="16396" name="Text Box 9"/>
            <p:cNvSpPr txBox="1"/>
            <p:nvPr/>
          </p:nvSpPr>
          <p:spPr>
            <a:xfrm>
              <a:off x="2321" y="3273"/>
              <a:ext cx="776" cy="250"/>
            </a:xfrm>
            <a:prstGeom prst="rect">
              <a:avLst/>
            </a:prstGeom>
            <a:noFill/>
            <a:ln w="12700">
              <a:noFill/>
            </a:ln>
          </p:spPr>
          <p:txBody>
            <a:bodyPr wrap="none">
              <a:spAutoFit/>
            </a:bodyPr>
            <a:lstStyle/>
            <a:p>
              <a:r>
                <a:rPr lang="en-US" altLang="zh-CN" dirty="0">
                  <a:latin typeface="Verdana" panose="020B0604030504040204" pitchFamily="34" charset="0"/>
                </a:rPr>
                <a:t>Process</a:t>
              </a:r>
              <a:r>
                <a:rPr lang="en-US" altLang="zh-CN" sz="2000" dirty="0">
                  <a:latin typeface="Times New Roman" panose="02020603050405020304" pitchFamily="18" charset="0"/>
                </a:rPr>
                <a:t> B</a:t>
              </a:r>
            </a:p>
          </p:txBody>
        </p:sp>
      </p:grpSp>
      <p:sp>
        <p:nvSpPr>
          <p:cNvPr id="26" name="Line 10"/>
          <p:cNvSpPr/>
          <p:nvPr/>
        </p:nvSpPr>
        <p:spPr>
          <a:xfrm flipH="1">
            <a:off x="3141980" y="4233863"/>
            <a:ext cx="817563" cy="471487"/>
          </a:xfrm>
          <a:prstGeom prst="line">
            <a:avLst/>
          </a:prstGeom>
          <a:ln w="12700" cap="flat" cmpd="sng">
            <a:solidFill>
              <a:schemeClr val="tx1"/>
            </a:solidFill>
            <a:prstDash val="solid"/>
            <a:headEnd type="none" w="med" len="med"/>
            <a:tailEnd type="triangle" w="med" len="med"/>
          </a:ln>
        </p:spPr>
      </p:sp>
      <p:sp>
        <p:nvSpPr>
          <p:cNvPr id="27" name="Line 12"/>
          <p:cNvSpPr/>
          <p:nvPr/>
        </p:nvSpPr>
        <p:spPr>
          <a:xfrm flipV="1">
            <a:off x="5468938" y="5126038"/>
            <a:ext cx="752475" cy="544512"/>
          </a:xfrm>
          <a:prstGeom prst="line">
            <a:avLst/>
          </a:prstGeom>
          <a:ln w="12700" cap="flat" cmpd="sng">
            <a:solidFill>
              <a:schemeClr val="tx1"/>
            </a:solidFill>
            <a:prstDash val="solid"/>
            <a:headEnd type="none" w="med" len="med"/>
            <a:tailEnd type="triangle" w="med" len="med"/>
          </a:ln>
        </p:spPr>
      </p:sp>
      <p:sp>
        <p:nvSpPr>
          <p:cNvPr id="28" name="Line 13"/>
          <p:cNvSpPr/>
          <p:nvPr/>
        </p:nvSpPr>
        <p:spPr>
          <a:xfrm flipH="1" flipV="1">
            <a:off x="5483225" y="4303713"/>
            <a:ext cx="677863" cy="517525"/>
          </a:xfrm>
          <a:prstGeom prst="line">
            <a:avLst/>
          </a:prstGeom>
          <a:ln w="12700" cap="flat" cmpd="sng">
            <a:solidFill>
              <a:schemeClr val="tx1"/>
            </a:solidFill>
            <a:prstDash val="solid"/>
            <a:headEnd type="none" w="med" len="med"/>
            <a:tailEnd type="triangle" w="med" len="med"/>
          </a:ln>
        </p:spPr>
      </p:sp>
      <p:sp>
        <p:nvSpPr>
          <p:cNvPr id="29" name="Line 11"/>
          <p:cNvSpPr/>
          <p:nvPr/>
        </p:nvSpPr>
        <p:spPr>
          <a:xfrm>
            <a:off x="3189288" y="5184775"/>
            <a:ext cx="722312" cy="417513"/>
          </a:xfrm>
          <a:prstGeom prst="line">
            <a:avLst/>
          </a:prstGeom>
          <a:ln w="12700" cap="flat" cmpd="sng">
            <a:solidFill>
              <a:schemeClr val="tx1"/>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4" grpId="0" animBg="1"/>
      <p:bldP spid="4" grpId="1" animBg="1"/>
      <p:bldP spid="5" grpId="0" animBg="1"/>
      <p:bldP spid="5" grpId="1" animBg="1"/>
      <p:bldP spid="21"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57070" y="3606800"/>
            <a:ext cx="333375" cy="30924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2" name="椭圆 1"/>
          <p:cNvSpPr/>
          <p:nvPr/>
        </p:nvSpPr>
        <p:spPr>
          <a:xfrm>
            <a:off x="1957070" y="2364740"/>
            <a:ext cx="333375" cy="30861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7410" name="Rectangle 2"/>
          <p:cNvSpPr>
            <a:spLocks noGrp="1"/>
          </p:cNvSpPr>
          <p:nvPr>
            <p:ph type="title"/>
          </p:nvPr>
        </p:nvSpPr>
        <p:spPr/>
        <p:txBody>
          <a:bodyPr vert="horz" wrap="square" lIns="91440" tIns="45720" rIns="91440" bIns="45720" anchor="b" anchorCtr="0"/>
          <a:lstStyle/>
          <a:p>
            <a:pPr eaLnBrk="1" hangingPunct="1"/>
            <a:r>
              <a:rPr lang="en-US" altLang="zh-CN" dirty="0"/>
              <a:t>Resource-Allocation Graph(</a:t>
            </a:r>
            <a:r>
              <a:rPr lang="zh-CN" altLang="en-US" dirty="0">
                <a:ea typeface="宋体" panose="02010600030101010101" pitchFamily="2" charset="-122"/>
              </a:rPr>
              <a:t>资源分配图</a:t>
            </a:r>
            <a:r>
              <a:rPr lang="en-US" altLang="zh-CN" dirty="0"/>
              <a:t>)</a:t>
            </a:r>
          </a:p>
        </p:txBody>
      </p:sp>
      <p:sp>
        <p:nvSpPr>
          <p:cNvPr id="17411" name="Rectangle 3"/>
          <p:cNvSpPr>
            <a:spLocks noGrp="1"/>
          </p:cNvSpPr>
          <p:nvPr>
            <p:ph idx="1"/>
          </p:nvPr>
        </p:nvSpPr>
        <p:spPr>
          <a:xfrm>
            <a:off x="1184275" y="1809750"/>
            <a:ext cx="7372350" cy="2716213"/>
          </a:xfrm>
        </p:spPr>
        <p:txBody>
          <a:bodyPr vert="horz" wrap="square" lIns="91440" tIns="45720" rIns="91440" bIns="45720" anchor="t" anchorCtr="0"/>
          <a:lstStyle/>
          <a:p>
            <a:r>
              <a:rPr lang="en-US" altLang="zh-CN" dirty="0"/>
              <a:t>V is partitioned into two types:</a:t>
            </a:r>
          </a:p>
          <a:p>
            <a:pPr lvl="1"/>
            <a:r>
              <a:rPr lang="en-US" altLang="zh-CN" i="1" dirty="0"/>
              <a:t>P</a:t>
            </a:r>
            <a:r>
              <a:rPr lang="en-US" altLang="zh-CN" dirty="0"/>
              <a:t> = {</a:t>
            </a:r>
            <a:r>
              <a:rPr lang="en-US" altLang="zh-CN" i="1" dirty="0"/>
              <a:t>P</a:t>
            </a:r>
            <a:r>
              <a:rPr lang="en-US" altLang="zh-CN" baseline="-25000" dirty="0"/>
              <a:t>1</a:t>
            </a:r>
            <a:r>
              <a:rPr lang="en-US" altLang="zh-CN" dirty="0"/>
              <a:t>, </a:t>
            </a:r>
            <a:r>
              <a:rPr lang="en-US" altLang="zh-CN" i="1" dirty="0"/>
              <a:t>P</a:t>
            </a:r>
            <a:r>
              <a:rPr lang="en-US" altLang="zh-CN" baseline="-25000" dirty="0"/>
              <a:t>2</a:t>
            </a:r>
            <a:r>
              <a:rPr lang="en-US" altLang="zh-CN" dirty="0"/>
              <a:t>, …, </a:t>
            </a:r>
            <a:r>
              <a:rPr lang="en-US" altLang="zh-CN" i="1" dirty="0"/>
              <a:t>P</a:t>
            </a:r>
            <a:r>
              <a:rPr lang="en-US" altLang="zh-CN" i="1" baseline="-25000" dirty="0"/>
              <a:t>n</a:t>
            </a:r>
            <a:r>
              <a:rPr lang="en-US" altLang="zh-CN" dirty="0"/>
              <a:t>}, the set consisting of all the processes in the system</a:t>
            </a:r>
            <a:br>
              <a:rPr lang="en-US" altLang="zh-CN" dirty="0"/>
            </a:br>
            <a:endParaRPr lang="en-US" altLang="zh-CN" dirty="0"/>
          </a:p>
          <a:p>
            <a:pPr lvl="1"/>
            <a:r>
              <a:rPr lang="en-US" altLang="zh-CN" i="1" dirty="0"/>
              <a:t>R</a:t>
            </a:r>
            <a:r>
              <a:rPr lang="en-US" altLang="zh-CN" dirty="0"/>
              <a:t> = {</a:t>
            </a:r>
            <a:r>
              <a:rPr lang="en-US" altLang="zh-CN" i="1" dirty="0"/>
              <a:t>R</a:t>
            </a:r>
            <a:r>
              <a:rPr lang="en-US" altLang="zh-CN" baseline="-25000" dirty="0"/>
              <a:t>1</a:t>
            </a:r>
            <a:r>
              <a:rPr lang="en-US" altLang="zh-CN" dirty="0"/>
              <a:t>, </a:t>
            </a:r>
            <a:r>
              <a:rPr lang="en-US" altLang="zh-CN" i="1" dirty="0"/>
              <a:t>R</a:t>
            </a:r>
            <a:r>
              <a:rPr lang="en-US" altLang="zh-CN" baseline="-25000" dirty="0"/>
              <a:t>2</a:t>
            </a:r>
            <a:r>
              <a:rPr lang="en-US" altLang="zh-CN" dirty="0"/>
              <a:t>, …, </a:t>
            </a:r>
            <a:r>
              <a:rPr lang="en-US" altLang="zh-CN" i="1" dirty="0"/>
              <a:t>R</a:t>
            </a:r>
            <a:r>
              <a:rPr lang="en-US" altLang="zh-CN" i="1" baseline="-25000" dirty="0"/>
              <a:t>m</a:t>
            </a:r>
            <a:r>
              <a:rPr lang="en-US" altLang="zh-CN" dirty="0"/>
              <a:t>}, the set consisting of all resource types in the system</a:t>
            </a:r>
          </a:p>
          <a:p>
            <a:r>
              <a:rPr lang="en-US" altLang="zh-CN" dirty="0">
                <a:solidFill>
                  <a:srgbClr val="3366FF"/>
                </a:solidFill>
              </a:rPr>
              <a:t>request edge(</a:t>
            </a:r>
            <a:r>
              <a:rPr lang="zh-CN" altLang="en-US" dirty="0">
                <a:solidFill>
                  <a:srgbClr val="3366FF"/>
                </a:solidFill>
                <a:ea typeface="宋体" panose="02010600030101010101" pitchFamily="2" charset="-122"/>
              </a:rPr>
              <a:t>申请边</a:t>
            </a:r>
            <a:r>
              <a:rPr lang="en-US" altLang="zh-CN" dirty="0">
                <a:solidFill>
                  <a:srgbClr val="3366FF"/>
                </a:solidFill>
              </a:rPr>
              <a:t>) </a:t>
            </a:r>
            <a:r>
              <a:rPr lang="en-US" altLang="zh-CN" dirty="0"/>
              <a:t>– directed edge </a:t>
            </a:r>
            <a:r>
              <a:rPr lang="en-US" altLang="zh-CN" i="1" dirty="0"/>
              <a:t>P</a:t>
            </a:r>
            <a:r>
              <a:rPr lang="en-US" altLang="zh-CN" baseline="-25000" dirty="0"/>
              <a:t>1 </a:t>
            </a:r>
            <a:r>
              <a:rPr lang="en-US" altLang="zh-CN" dirty="0">
                <a:sym typeface="Symbol" panose="05050102010706020507" pitchFamily="18" charset="2"/>
              </a:rPr>
              <a:t> </a:t>
            </a:r>
            <a:r>
              <a:rPr lang="en-US" altLang="zh-CN" i="1" dirty="0">
                <a:sym typeface="Symbol" panose="05050102010706020507" pitchFamily="18" charset="2"/>
              </a:rPr>
              <a:t>R</a:t>
            </a:r>
            <a:r>
              <a:rPr lang="en-US" altLang="zh-CN" i="1" baseline="-25000" dirty="0">
                <a:sym typeface="Symbol" panose="05050102010706020507" pitchFamily="18" charset="2"/>
              </a:rPr>
              <a:t>j</a:t>
            </a:r>
            <a:endParaRPr lang="en-US" altLang="zh-CN" i="1" dirty="0">
              <a:sym typeface="Symbol" panose="05050102010706020507" pitchFamily="18" charset="2"/>
            </a:endParaRPr>
          </a:p>
          <a:p>
            <a:r>
              <a:rPr lang="en-US" altLang="zh-CN" dirty="0">
                <a:solidFill>
                  <a:srgbClr val="3366FF"/>
                </a:solidFill>
                <a:sym typeface="Symbol" panose="05050102010706020507" pitchFamily="18" charset="2"/>
              </a:rPr>
              <a:t>assignment edge</a:t>
            </a:r>
            <a:r>
              <a:rPr lang="en-US" altLang="zh-CN" dirty="0">
                <a:solidFill>
                  <a:srgbClr val="3366FF"/>
                </a:solidFill>
                <a:sym typeface="+mn-ea"/>
              </a:rPr>
              <a:t>(</a:t>
            </a:r>
            <a:r>
              <a:rPr lang="zh-CN" altLang="en-US" dirty="0">
                <a:solidFill>
                  <a:srgbClr val="3366FF"/>
                </a:solidFill>
                <a:ea typeface="宋体" panose="02010600030101010101" pitchFamily="2" charset="-122"/>
                <a:sym typeface="+mn-ea"/>
              </a:rPr>
              <a:t>分配边</a:t>
            </a:r>
            <a:r>
              <a:rPr lang="en-US" altLang="zh-CN" dirty="0">
                <a:solidFill>
                  <a:srgbClr val="3366FF"/>
                </a:solidFill>
                <a:sym typeface="+mn-ea"/>
              </a:rPr>
              <a:t>)</a:t>
            </a:r>
            <a:r>
              <a:rPr lang="en-US" altLang="zh-CN" dirty="0">
                <a:solidFill>
                  <a:srgbClr val="3366FF"/>
                </a:solidFill>
                <a:sym typeface="Symbol" panose="05050102010706020507" pitchFamily="18" charset="2"/>
              </a:rPr>
              <a:t> </a:t>
            </a:r>
            <a:r>
              <a:rPr lang="en-US" altLang="zh-CN" dirty="0"/>
              <a:t>– directed edge </a:t>
            </a:r>
            <a:r>
              <a:rPr lang="en-US" altLang="zh-CN" i="1" dirty="0"/>
              <a:t>R</a:t>
            </a:r>
            <a:r>
              <a:rPr lang="en-US" altLang="zh-CN" i="1" baseline="-25000" dirty="0"/>
              <a:t>j</a:t>
            </a:r>
            <a:r>
              <a:rPr lang="en-US" altLang="zh-CN" i="1" dirty="0"/>
              <a:t> </a:t>
            </a:r>
            <a:r>
              <a:rPr lang="en-US" altLang="zh-CN" dirty="0">
                <a:sym typeface="Symbol" panose="05050102010706020507" pitchFamily="18" charset="2"/>
              </a:rPr>
              <a:t> </a:t>
            </a:r>
            <a:r>
              <a:rPr lang="en-US" altLang="zh-CN" i="1" dirty="0">
                <a:sym typeface="Symbol" panose="05050102010706020507" pitchFamily="18" charset="2"/>
              </a:rPr>
              <a:t>P</a:t>
            </a:r>
            <a:r>
              <a:rPr lang="en-US" altLang="zh-CN" i="1" baseline="-25000" dirty="0">
                <a:sym typeface="Symbol" panose="05050102010706020507" pitchFamily="18" charset="2"/>
              </a:rPr>
              <a:t>i</a:t>
            </a:r>
            <a:endParaRPr lang="en-US" altLang="zh-CN" dirty="0">
              <a:sym typeface="Symbol" panose="05050102010706020507" pitchFamily="18" charset="2"/>
            </a:endParaRPr>
          </a:p>
        </p:txBody>
      </p:sp>
      <p:sp>
        <p:nvSpPr>
          <p:cNvPr id="17412" name="Text Box 4"/>
          <p:cNvSpPr txBox="1"/>
          <p:nvPr/>
        </p:nvSpPr>
        <p:spPr>
          <a:xfrm>
            <a:off x="822325" y="1271588"/>
            <a:ext cx="7794625" cy="461962"/>
          </a:xfrm>
          <a:prstGeom prst="rect">
            <a:avLst/>
          </a:prstGeom>
          <a:noFill/>
          <a:ln w="9525">
            <a:noFill/>
          </a:ln>
        </p:spPr>
        <p:txBody>
          <a:bodyPr anchor="ctr" anchorCtr="0">
            <a:spAutoFit/>
          </a:bodyPr>
          <a:lstStyle/>
          <a:p>
            <a:pPr>
              <a:spcBef>
                <a:spcPct val="50000"/>
              </a:spcBef>
            </a:pPr>
            <a:r>
              <a:rPr lang="en-US" altLang="zh-CN" sz="2400" dirty="0">
                <a:latin typeface="Helvetica" pitchFamily="34" charset="0"/>
              </a:rPr>
              <a:t>A set of vertices </a:t>
            </a:r>
            <a:r>
              <a:rPr lang="en-US" altLang="zh-CN" sz="2400" i="1" dirty="0">
                <a:latin typeface="Helvetica" pitchFamily="34" charset="0"/>
              </a:rPr>
              <a:t>V</a:t>
            </a:r>
            <a:r>
              <a:rPr lang="en-US" altLang="zh-CN" sz="2400" dirty="0">
                <a:latin typeface="Helvetica" pitchFamily="34" charset="0"/>
              </a:rPr>
              <a:t> and a set of edges </a:t>
            </a:r>
            <a:r>
              <a:rPr lang="en-US" altLang="zh-CN" sz="2400" i="1" dirty="0">
                <a:latin typeface="Helvetica" pitchFamily="34" charset="0"/>
              </a:rPr>
              <a:t>E</a:t>
            </a:r>
            <a:r>
              <a:rPr lang="en-US" altLang="zh-CN" sz="2400" dirty="0">
                <a:latin typeface="Helvetica"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1336675" y="327025"/>
            <a:ext cx="6870700" cy="444500"/>
          </a:xfrm>
        </p:spPr>
        <p:txBody>
          <a:bodyPr vert="horz" wrap="square" lIns="0" tIns="0" rIns="0" bIns="0" anchor="t" anchorCtr="0"/>
          <a:lstStyle/>
          <a:p>
            <a:pPr eaLnBrk="1" hangingPunct="1"/>
            <a:r>
              <a:rPr lang="en-US" altLang="zh-CN" sz="2800" dirty="0"/>
              <a:t>Resource-Allocation Graph</a:t>
            </a:r>
          </a:p>
        </p:txBody>
      </p:sp>
      <p:pic>
        <p:nvPicPr>
          <p:cNvPr id="867332" name="Picture 4" descr="3-3"/>
          <p:cNvPicPr>
            <a:picLocks noChangeAspect="1"/>
          </p:cNvPicPr>
          <p:nvPr/>
        </p:nvPicPr>
        <p:blipFill>
          <a:blip r:embed="rId2">
            <a:clrChange>
              <a:clrFrom>
                <a:srgbClr val="FFFFFF"/>
              </a:clrFrom>
              <a:clrTo>
                <a:srgbClr val="FFFFFF">
                  <a:alpha val="0"/>
                </a:srgbClr>
              </a:clrTo>
            </a:clrChange>
          </a:blip>
          <a:stretch>
            <a:fillRect/>
          </a:stretch>
        </p:blipFill>
        <p:spPr>
          <a:xfrm>
            <a:off x="1144588" y="1644650"/>
            <a:ext cx="6348412" cy="2495550"/>
          </a:xfrm>
          <a:prstGeom prst="rect">
            <a:avLst/>
          </a:prstGeom>
          <a:noFill/>
          <a:ln w="9525">
            <a:noFill/>
          </a:ln>
        </p:spPr>
      </p:pic>
      <p:sp>
        <p:nvSpPr>
          <p:cNvPr id="867333" name="Rectangle 5"/>
          <p:cNvSpPr/>
          <p:nvPr/>
        </p:nvSpPr>
        <p:spPr>
          <a:xfrm>
            <a:off x="609600" y="4216400"/>
            <a:ext cx="8534400" cy="1447800"/>
          </a:xfrm>
          <a:prstGeom prst="rect">
            <a:avLst/>
          </a:prstGeom>
          <a:noFill/>
          <a:ln w="9525">
            <a:noFill/>
          </a:ln>
        </p:spPr>
        <p:txBody>
          <a:bodyPr lIns="0" tIns="0" rIns="0" bIns="0"/>
          <a:lstStyle/>
          <a:p>
            <a:pPr marL="342900" indent="-342900">
              <a:spcBef>
                <a:spcPct val="35000"/>
              </a:spcBef>
              <a:buClr>
                <a:schemeClr val="hlink"/>
              </a:buClr>
              <a:buSzPct val="85000"/>
              <a:buFont typeface="Wingdings" panose="05000000000000000000" pitchFamily="2" charset="2"/>
              <a:buChar char="Ü"/>
            </a:pPr>
            <a:r>
              <a:rPr lang="en-US" altLang="zh-CN" sz="2200" dirty="0">
                <a:latin typeface="Times New Roman" panose="02020603050405020304" pitchFamily="18" charset="0"/>
              </a:rPr>
              <a:t>Resource R assigned to process A</a:t>
            </a:r>
          </a:p>
          <a:p>
            <a:pPr marL="342900" indent="-342900">
              <a:spcBef>
                <a:spcPct val="35000"/>
              </a:spcBef>
              <a:buClr>
                <a:schemeClr val="hlink"/>
              </a:buClr>
              <a:buSzPct val="85000"/>
              <a:buFont typeface="Wingdings" panose="05000000000000000000" pitchFamily="2" charset="2"/>
              <a:buChar char="Ü"/>
            </a:pPr>
            <a:r>
              <a:rPr lang="en-US" altLang="zh-CN" sz="2200" dirty="0">
                <a:latin typeface="Times New Roman" panose="02020603050405020304" pitchFamily="18" charset="0"/>
              </a:rPr>
              <a:t>Process B is requesting/waiting for resource S</a:t>
            </a:r>
          </a:p>
          <a:p>
            <a:pPr marL="342900" indent="-342900">
              <a:spcBef>
                <a:spcPct val="35000"/>
              </a:spcBef>
              <a:buClr>
                <a:schemeClr val="hlink"/>
              </a:buClr>
              <a:buSzPct val="85000"/>
              <a:buFont typeface="Wingdings" panose="05000000000000000000" pitchFamily="2" charset="2"/>
              <a:buChar char="Ü"/>
            </a:pPr>
            <a:r>
              <a:rPr lang="en-US" altLang="zh-CN" sz="2200" dirty="0">
                <a:latin typeface="Times New Roman" panose="02020603050405020304" pitchFamily="18" charset="0"/>
              </a:rPr>
              <a:t>Process C and D are in deadlock over resources T and U</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67332"/>
                                        </p:tgtEl>
                                        <p:attrNameLst>
                                          <p:attrName>style.visibility</p:attrName>
                                        </p:attrNameLst>
                                      </p:cBhvr>
                                      <p:to>
                                        <p:strVal val="visible"/>
                                      </p:to>
                                    </p:set>
                                    <p:animEffect transition="in" filter="checkerboard(across)">
                                      <p:cBhvr>
                                        <p:cTn id="7" dur="500"/>
                                        <p:tgtEl>
                                          <p:spTgt spid="8673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67333">
                                            <p:txEl>
                                              <p:pRg st="0" end="0"/>
                                            </p:txEl>
                                          </p:spTgt>
                                        </p:tgtEl>
                                        <p:attrNameLst>
                                          <p:attrName>style.visibility</p:attrName>
                                        </p:attrNameLst>
                                      </p:cBhvr>
                                      <p:to>
                                        <p:strVal val="visible"/>
                                      </p:to>
                                    </p:set>
                                    <p:animEffect transition="in" filter="dissolve">
                                      <p:cBhvr>
                                        <p:cTn id="12" dur="500"/>
                                        <p:tgtEl>
                                          <p:spTgt spid="86733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7333">
                                            <p:txEl>
                                              <p:pRg st="1" end="1"/>
                                            </p:txEl>
                                          </p:spTgt>
                                        </p:tgtEl>
                                        <p:attrNameLst>
                                          <p:attrName>style.visibility</p:attrName>
                                        </p:attrNameLst>
                                      </p:cBhvr>
                                      <p:to>
                                        <p:strVal val="visible"/>
                                      </p:to>
                                    </p:set>
                                    <p:animEffect transition="in" filter="dissolve">
                                      <p:cBhvr>
                                        <p:cTn id="17" dur="500"/>
                                        <p:tgtEl>
                                          <p:spTgt spid="86733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67333">
                                            <p:txEl>
                                              <p:pRg st="2" end="2"/>
                                            </p:txEl>
                                          </p:spTgt>
                                        </p:tgtEl>
                                        <p:attrNameLst>
                                          <p:attrName>style.visibility</p:attrName>
                                        </p:attrNameLst>
                                      </p:cBhvr>
                                      <p:to>
                                        <p:strVal val="visible"/>
                                      </p:to>
                                    </p:set>
                                    <p:animEffect transition="in" filter="dissolve">
                                      <p:cBhvr>
                                        <p:cTn id="22" dur="500"/>
                                        <p:tgtEl>
                                          <p:spTgt spid="8673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733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vert="horz" wrap="square" lIns="91440" tIns="45720" rIns="91440" bIns="45720" anchor="b" anchorCtr="0"/>
          <a:lstStyle/>
          <a:p>
            <a:pPr eaLnBrk="1" hangingPunct="1"/>
            <a:r>
              <a:rPr lang="en-US" altLang="zh-CN" dirty="0"/>
              <a:t>Resource-Allocation Graph (Cont.)</a:t>
            </a:r>
          </a:p>
        </p:txBody>
      </p:sp>
      <p:sp>
        <p:nvSpPr>
          <p:cNvPr id="19459" name="Rectangle 3"/>
          <p:cNvSpPr>
            <a:spLocks noGrp="1"/>
          </p:cNvSpPr>
          <p:nvPr>
            <p:ph idx="1"/>
          </p:nvPr>
        </p:nvSpPr>
        <p:spPr>
          <a:xfrm>
            <a:off x="744855" y="769938"/>
            <a:ext cx="8229600" cy="5307012"/>
          </a:xfrm>
        </p:spPr>
        <p:txBody>
          <a:bodyPr vert="horz" wrap="square" lIns="91440" tIns="45720" rIns="91440" bIns="45720" anchor="t" anchorCtr="0"/>
          <a:lstStyle/>
          <a:p>
            <a:pPr marL="0" indent="0">
              <a:buNone/>
            </a:pPr>
            <a:endParaRPr lang="en-US" altLang="zh-CN" dirty="0"/>
          </a:p>
          <a:p>
            <a:r>
              <a:rPr lang="en-US" altLang="zh-CN" dirty="0"/>
              <a:t>Resource Type with 4 instances</a:t>
            </a:r>
          </a:p>
          <a:p>
            <a:pPr>
              <a:buNone/>
            </a:pPr>
            <a:endParaRPr lang="en-US" altLang="zh-CN" dirty="0"/>
          </a:p>
          <a:p>
            <a:r>
              <a:rPr lang="en-US" altLang="zh-CN" i="1" dirty="0"/>
              <a:t>P</a:t>
            </a:r>
            <a:r>
              <a:rPr lang="en-US" altLang="zh-CN" i="1" baseline="-25000" dirty="0"/>
              <a:t>i</a:t>
            </a:r>
            <a:r>
              <a:rPr lang="en-US" altLang="zh-CN" i="1" dirty="0"/>
              <a:t> </a:t>
            </a:r>
            <a:r>
              <a:rPr lang="en-US" altLang="zh-CN" dirty="0"/>
              <a:t>requests instance of </a:t>
            </a:r>
            <a:r>
              <a:rPr lang="en-US" altLang="zh-CN" i="1" dirty="0"/>
              <a:t>R</a:t>
            </a:r>
            <a:r>
              <a:rPr lang="en-US" altLang="zh-CN" i="1" baseline="-25000" dirty="0"/>
              <a:t>j</a:t>
            </a:r>
            <a:endParaRPr lang="en-US" altLang="zh-CN" dirty="0"/>
          </a:p>
          <a:p>
            <a:endParaRPr lang="en-US" altLang="zh-CN" dirty="0"/>
          </a:p>
          <a:p>
            <a:pPr>
              <a:buNone/>
            </a:pPr>
            <a:endParaRPr lang="en-US" altLang="zh-CN" dirty="0"/>
          </a:p>
          <a:p>
            <a:r>
              <a:rPr lang="en-US" altLang="zh-CN" i="1" dirty="0"/>
              <a:t>P</a:t>
            </a:r>
            <a:r>
              <a:rPr lang="en-US" altLang="zh-CN" i="1" baseline="-25000" dirty="0"/>
              <a:t>i</a:t>
            </a:r>
            <a:r>
              <a:rPr lang="en-US" altLang="zh-CN" dirty="0"/>
              <a:t> is holding an instance of </a:t>
            </a:r>
            <a:r>
              <a:rPr lang="en-US" altLang="zh-CN" i="1" dirty="0"/>
              <a:t>R</a:t>
            </a:r>
            <a:r>
              <a:rPr lang="en-US" altLang="zh-CN" i="1" baseline="-25000" dirty="0"/>
              <a:t>j</a:t>
            </a:r>
            <a:endParaRPr lang="en-US" altLang="zh-CN" i="1" dirty="0"/>
          </a:p>
        </p:txBody>
      </p:sp>
      <p:sp>
        <p:nvSpPr>
          <p:cNvPr id="19461" name="Oval 5"/>
          <p:cNvSpPr/>
          <p:nvPr/>
        </p:nvSpPr>
        <p:spPr>
          <a:xfrm>
            <a:off x="3657600" y="4373880"/>
            <a:ext cx="495300" cy="4953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r>
              <a:rPr lang="en-US" altLang="zh-CN" i="1" dirty="0">
                <a:latin typeface="Helvetica" pitchFamily="34" charset="0"/>
              </a:rPr>
              <a:t>P</a:t>
            </a:r>
            <a:r>
              <a:rPr lang="en-US" altLang="zh-CN" i="1" baseline="-25000" dirty="0">
                <a:latin typeface="Helvetica" pitchFamily="34" charset="0"/>
              </a:rPr>
              <a:t>i</a:t>
            </a:r>
            <a:endParaRPr lang="en-US" altLang="zh-CN" dirty="0">
              <a:latin typeface="Helvetica" pitchFamily="34" charset="0"/>
            </a:endParaRPr>
          </a:p>
        </p:txBody>
      </p:sp>
      <p:sp>
        <p:nvSpPr>
          <p:cNvPr id="19462" name="Oval 6"/>
          <p:cNvSpPr/>
          <p:nvPr/>
        </p:nvSpPr>
        <p:spPr>
          <a:xfrm>
            <a:off x="4170363" y="2860040"/>
            <a:ext cx="495300" cy="4953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r>
              <a:rPr lang="en-US" altLang="zh-CN" i="1" dirty="0">
                <a:latin typeface="Helvetica" pitchFamily="34" charset="0"/>
              </a:rPr>
              <a:t>P</a:t>
            </a:r>
            <a:r>
              <a:rPr lang="en-US" altLang="zh-CN" i="1" baseline="-25000" dirty="0">
                <a:latin typeface="Helvetica" pitchFamily="34" charset="0"/>
              </a:rPr>
              <a:t>i</a:t>
            </a:r>
            <a:endParaRPr lang="en-US" altLang="zh-CN" i="1" dirty="0">
              <a:latin typeface="Helvetica" pitchFamily="34" charset="0"/>
            </a:endParaRPr>
          </a:p>
        </p:txBody>
      </p:sp>
      <p:grpSp>
        <p:nvGrpSpPr>
          <p:cNvPr id="19463" name="Group 12"/>
          <p:cNvGrpSpPr/>
          <p:nvPr/>
        </p:nvGrpSpPr>
        <p:grpSpPr>
          <a:xfrm>
            <a:off x="4186238" y="1770698"/>
            <a:ext cx="438150" cy="419100"/>
            <a:chOff x="2666" y="1966"/>
            <a:chExt cx="276" cy="264"/>
          </a:xfrm>
        </p:grpSpPr>
        <p:sp>
          <p:nvSpPr>
            <p:cNvPr id="19480" name="Rectangle 7"/>
            <p:cNvSpPr/>
            <p:nvPr/>
          </p:nvSpPr>
          <p:spPr>
            <a:xfrm>
              <a:off x="2666" y="1966"/>
              <a:ext cx="276" cy="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1" name="Rectangle 8"/>
            <p:cNvSpPr/>
            <p:nvPr/>
          </p:nvSpPr>
          <p:spPr>
            <a:xfrm>
              <a:off x="2736"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2" name="Rectangle 9"/>
            <p:cNvSpPr/>
            <p:nvPr/>
          </p:nvSpPr>
          <p:spPr>
            <a:xfrm>
              <a:off x="2832"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3" name="Rectangle 10"/>
            <p:cNvSpPr/>
            <p:nvPr/>
          </p:nvSpPr>
          <p:spPr>
            <a:xfrm>
              <a:off x="2736"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4" name="Rectangle 11"/>
            <p:cNvSpPr/>
            <p:nvPr/>
          </p:nvSpPr>
          <p:spPr>
            <a:xfrm>
              <a:off x="2832"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9464" name="Group 13"/>
          <p:cNvGrpSpPr/>
          <p:nvPr/>
        </p:nvGrpSpPr>
        <p:grpSpPr>
          <a:xfrm>
            <a:off x="4986338" y="2923540"/>
            <a:ext cx="438150" cy="419100"/>
            <a:chOff x="2666" y="1966"/>
            <a:chExt cx="276" cy="264"/>
          </a:xfrm>
        </p:grpSpPr>
        <p:sp>
          <p:nvSpPr>
            <p:cNvPr id="19475" name="Rectangle 14"/>
            <p:cNvSpPr/>
            <p:nvPr/>
          </p:nvSpPr>
          <p:spPr>
            <a:xfrm>
              <a:off x="2666" y="1966"/>
              <a:ext cx="276" cy="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6" name="Rectangle 15"/>
            <p:cNvSpPr/>
            <p:nvPr/>
          </p:nvSpPr>
          <p:spPr>
            <a:xfrm>
              <a:off x="2736"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7" name="Rectangle 16"/>
            <p:cNvSpPr/>
            <p:nvPr/>
          </p:nvSpPr>
          <p:spPr>
            <a:xfrm>
              <a:off x="2832"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8" name="Rectangle 17"/>
            <p:cNvSpPr/>
            <p:nvPr/>
          </p:nvSpPr>
          <p:spPr>
            <a:xfrm>
              <a:off x="2736"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9" name="Rectangle 18"/>
            <p:cNvSpPr/>
            <p:nvPr/>
          </p:nvSpPr>
          <p:spPr>
            <a:xfrm>
              <a:off x="2832"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sp>
        <p:nvSpPr>
          <p:cNvPr id="19465" name="Line 19"/>
          <p:cNvSpPr/>
          <p:nvPr/>
        </p:nvSpPr>
        <p:spPr>
          <a:xfrm>
            <a:off x="4706938" y="3141028"/>
            <a:ext cx="304800" cy="0"/>
          </a:xfrm>
          <a:prstGeom prst="line">
            <a:avLst/>
          </a:prstGeom>
          <a:ln w="9525" cap="flat" cmpd="sng">
            <a:solidFill>
              <a:schemeClr val="tx1"/>
            </a:solidFill>
            <a:prstDash val="solid"/>
            <a:headEnd type="none" w="med" len="med"/>
            <a:tailEnd type="triangle" w="med" len="med"/>
          </a:ln>
        </p:spPr>
      </p:sp>
      <p:sp>
        <p:nvSpPr>
          <p:cNvPr id="19466" name="Text Box 20"/>
          <p:cNvSpPr txBox="1"/>
          <p:nvPr/>
        </p:nvSpPr>
        <p:spPr>
          <a:xfrm>
            <a:off x="5062538" y="3371215"/>
            <a:ext cx="338137" cy="304800"/>
          </a:xfrm>
          <a:prstGeom prst="rect">
            <a:avLst/>
          </a:prstGeom>
          <a:noFill/>
          <a:ln w="9525">
            <a:noFill/>
          </a:ln>
        </p:spPr>
        <p:txBody>
          <a:bodyPr wrap="none" anchor="ctr" anchorCtr="0">
            <a:spAutoFit/>
          </a:bodyPr>
          <a:lstStyle/>
          <a:p>
            <a:pPr algn="ctr">
              <a:spcBef>
                <a:spcPct val="50000"/>
              </a:spcBef>
            </a:pPr>
            <a:r>
              <a:rPr lang="en-US" altLang="zh-CN" sz="1400" i="1" dirty="0">
                <a:latin typeface="Helvetica" pitchFamily="34" charset="0"/>
              </a:rPr>
              <a:t>R</a:t>
            </a:r>
            <a:r>
              <a:rPr lang="en-US" altLang="zh-CN" sz="1400" i="1" baseline="-25000" dirty="0">
                <a:latin typeface="Helvetica" pitchFamily="34" charset="0"/>
              </a:rPr>
              <a:t>j</a:t>
            </a:r>
            <a:endParaRPr lang="en-US" altLang="zh-CN" sz="1400" i="1" dirty="0">
              <a:latin typeface="Helvetica" pitchFamily="34" charset="0"/>
            </a:endParaRPr>
          </a:p>
        </p:txBody>
      </p:sp>
      <p:grpSp>
        <p:nvGrpSpPr>
          <p:cNvPr id="19467" name="Group 21"/>
          <p:cNvGrpSpPr/>
          <p:nvPr/>
        </p:nvGrpSpPr>
        <p:grpSpPr>
          <a:xfrm>
            <a:off x="4451350" y="4437380"/>
            <a:ext cx="438150" cy="419100"/>
            <a:chOff x="2666" y="1966"/>
            <a:chExt cx="276" cy="264"/>
          </a:xfrm>
        </p:grpSpPr>
        <p:sp>
          <p:nvSpPr>
            <p:cNvPr id="19470" name="Rectangle 22"/>
            <p:cNvSpPr/>
            <p:nvPr/>
          </p:nvSpPr>
          <p:spPr>
            <a:xfrm>
              <a:off x="2666" y="1966"/>
              <a:ext cx="276" cy="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1" name="Rectangle 23"/>
            <p:cNvSpPr/>
            <p:nvPr/>
          </p:nvSpPr>
          <p:spPr>
            <a:xfrm>
              <a:off x="2736"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2" name="Rectangle 24"/>
            <p:cNvSpPr/>
            <p:nvPr/>
          </p:nvSpPr>
          <p:spPr>
            <a:xfrm>
              <a:off x="2832"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3" name="Rectangle 25"/>
            <p:cNvSpPr/>
            <p:nvPr/>
          </p:nvSpPr>
          <p:spPr>
            <a:xfrm>
              <a:off x="2736"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4" name="Rectangle 26"/>
            <p:cNvSpPr/>
            <p:nvPr/>
          </p:nvSpPr>
          <p:spPr>
            <a:xfrm>
              <a:off x="2832"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sp>
        <p:nvSpPr>
          <p:cNvPr id="19468" name="Line 27"/>
          <p:cNvSpPr/>
          <p:nvPr/>
        </p:nvSpPr>
        <p:spPr>
          <a:xfrm flipH="1">
            <a:off x="4124325" y="4583430"/>
            <a:ext cx="476250" cy="104775"/>
          </a:xfrm>
          <a:prstGeom prst="line">
            <a:avLst/>
          </a:prstGeom>
          <a:ln w="9525" cap="flat" cmpd="sng">
            <a:solidFill>
              <a:schemeClr val="tx1"/>
            </a:solidFill>
            <a:prstDash val="solid"/>
            <a:headEnd type="none" w="med" len="med"/>
            <a:tailEnd type="triangle" w="med" len="med"/>
          </a:ln>
        </p:spPr>
      </p:sp>
      <p:sp>
        <p:nvSpPr>
          <p:cNvPr id="19469" name="Text Box 28"/>
          <p:cNvSpPr txBox="1"/>
          <p:nvPr/>
        </p:nvSpPr>
        <p:spPr>
          <a:xfrm>
            <a:off x="4502150" y="4826318"/>
            <a:ext cx="338138" cy="304800"/>
          </a:xfrm>
          <a:prstGeom prst="rect">
            <a:avLst/>
          </a:prstGeom>
          <a:noFill/>
          <a:ln w="9525">
            <a:noFill/>
          </a:ln>
        </p:spPr>
        <p:txBody>
          <a:bodyPr wrap="none" anchor="ctr" anchorCtr="0">
            <a:spAutoFit/>
          </a:bodyPr>
          <a:lstStyle/>
          <a:p>
            <a:pPr algn="ctr">
              <a:spcBef>
                <a:spcPct val="50000"/>
              </a:spcBef>
            </a:pPr>
            <a:r>
              <a:rPr lang="en-US" altLang="zh-CN" sz="1400" i="1" dirty="0">
                <a:latin typeface="Helvetica" pitchFamily="34" charset="0"/>
              </a:rPr>
              <a:t>R</a:t>
            </a:r>
            <a:r>
              <a:rPr lang="en-US" altLang="zh-CN" sz="1400" i="1" baseline="-25000" dirty="0">
                <a:latin typeface="Helvetica" pitchFamily="34" charset="0"/>
              </a:rPr>
              <a:t>j</a:t>
            </a:r>
            <a:endParaRPr lang="en-US" altLang="zh-CN" sz="1400" i="1" dirty="0">
              <a:latin typeface="Helvetica"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p:cNvSpPr>
          <p:nvPr>
            <p:ph type="title"/>
          </p:nvPr>
        </p:nvSpPr>
        <p:spPr>
          <a:xfrm>
            <a:off x="690563" y="319088"/>
            <a:ext cx="8267700" cy="512762"/>
          </a:xfrm>
        </p:spPr>
        <p:txBody>
          <a:bodyPr vert="horz" wrap="square" lIns="91440" tIns="45720" rIns="91440" bIns="45720" anchor="b" anchorCtr="0"/>
          <a:lstStyle/>
          <a:p>
            <a:pPr eaLnBrk="1" hangingPunct="1"/>
            <a:r>
              <a:rPr lang="en-US" altLang="zh-CN" dirty="0"/>
              <a:t>Example of a Resource Allocation Graph</a:t>
            </a:r>
          </a:p>
        </p:txBody>
      </p:sp>
      <p:pic>
        <p:nvPicPr>
          <p:cNvPr id="20483" name="Picture 1032"/>
          <p:cNvPicPr>
            <a:picLocks noChangeAspect="1"/>
          </p:cNvPicPr>
          <p:nvPr/>
        </p:nvPicPr>
        <p:blipFill>
          <a:blip r:embed="rId3"/>
          <a:srcRect l="25287" t="926" r="25287" b="1532"/>
          <a:stretch>
            <a:fillRect/>
          </a:stretch>
        </p:blipFill>
        <p:spPr>
          <a:xfrm>
            <a:off x="3146425" y="1804988"/>
            <a:ext cx="2741613" cy="4059237"/>
          </a:xfrm>
          <a:prstGeom prst="rect">
            <a:avLst/>
          </a:prstGeom>
          <a:noFill/>
          <a:ln w="3810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463550" y="384175"/>
            <a:ext cx="8728075" cy="469900"/>
          </a:xfrm>
        </p:spPr>
        <p:txBody>
          <a:bodyPr vert="horz" wrap="square" lIns="91440" tIns="45720" rIns="91440" bIns="45720" anchor="b" anchorCtr="0"/>
          <a:lstStyle/>
          <a:p>
            <a:pPr eaLnBrk="1" hangingPunct="1"/>
            <a:r>
              <a:rPr lang="en-US" altLang="zh-CN" sz="2800" dirty="0"/>
              <a:t>Resource Allocation Graph With A Deadlock</a:t>
            </a:r>
          </a:p>
        </p:txBody>
      </p:sp>
      <p:pic>
        <p:nvPicPr>
          <p:cNvPr id="21507" name="Picture 7"/>
          <p:cNvPicPr>
            <a:picLocks noChangeAspect="1"/>
          </p:cNvPicPr>
          <p:nvPr/>
        </p:nvPicPr>
        <p:blipFill>
          <a:blip r:embed="rId3"/>
          <a:stretch>
            <a:fillRect/>
          </a:stretch>
        </p:blipFill>
        <p:spPr>
          <a:xfrm>
            <a:off x="3060700" y="1528763"/>
            <a:ext cx="2781300" cy="4098925"/>
          </a:xfrm>
          <a:prstGeom prst="rect">
            <a:avLst/>
          </a:prstGeom>
          <a:noFill/>
          <a:ln w="9525">
            <a:noFill/>
          </a:ln>
        </p:spPr>
      </p:pic>
      <p:cxnSp>
        <p:nvCxnSpPr>
          <p:cNvPr id="2" name="直接连接符 1"/>
          <p:cNvCxnSpPr/>
          <p:nvPr/>
        </p:nvCxnSpPr>
        <p:spPr>
          <a:xfrm flipH="1" flipV="1">
            <a:off x="3128010" y="3129280"/>
            <a:ext cx="652780" cy="135445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3" name="直接连接符 2"/>
          <p:cNvCxnSpPr/>
          <p:nvPr/>
        </p:nvCxnSpPr>
        <p:spPr>
          <a:xfrm flipV="1">
            <a:off x="3128010" y="1934845"/>
            <a:ext cx="600075" cy="119443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4" name="直接连接符 3"/>
          <p:cNvCxnSpPr/>
          <p:nvPr/>
        </p:nvCxnSpPr>
        <p:spPr>
          <a:xfrm>
            <a:off x="3709670" y="1958975"/>
            <a:ext cx="603885" cy="113665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5" name="直接连接符 4"/>
          <p:cNvCxnSpPr/>
          <p:nvPr/>
        </p:nvCxnSpPr>
        <p:spPr>
          <a:xfrm flipV="1">
            <a:off x="4306570" y="1934845"/>
            <a:ext cx="551815" cy="116395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6" name="直接连接符 5"/>
          <p:cNvCxnSpPr/>
          <p:nvPr/>
        </p:nvCxnSpPr>
        <p:spPr>
          <a:xfrm>
            <a:off x="4844415" y="1934845"/>
            <a:ext cx="659765" cy="127127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7" name="直接连接符 6"/>
          <p:cNvCxnSpPr/>
          <p:nvPr/>
        </p:nvCxnSpPr>
        <p:spPr>
          <a:xfrm flipV="1">
            <a:off x="4168140" y="3159125"/>
            <a:ext cx="1337310" cy="89598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8" name="直接连接符 7"/>
          <p:cNvCxnSpPr/>
          <p:nvPr/>
        </p:nvCxnSpPr>
        <p:spPr>
          <a:xfrm flipV="1">
            <a:off x="3888105" y="2117090"/>
            <a:ext cx="970280" cy="2050415"/>
          </a:xfrm>
          <a:prstGeom prst="line">
            <a:avLst/>
          </a:prstGeom>
          <a:solidFill>
            <a:schemeClr val="accent1"/>
          </a:solidFill>
          <a:ln w="28575" cap="flat" cmpd="sng" algn="ctr">
            <a:solidFill>
              <a:srgbClr val="0070C0"/>
            </a:solidFill>
            <a:prstDash val="sysDash"/>
            <a:round/>
            <a:headEnd type="none" w="med" len="med"/>
            <a:tailEnd type="none" w="med" len="med"/>
          </a:ln>
        </p:spPr>
      </p:cxnSp>
      <p:cxnSp>
        <p:nvCxnSpPr>
          <p:cNvPr id="9" name="直接连接符 8"/>
          <p:cNvCxnSpPr/>
          <p:nvPr/>
        </p:nvCxnSpPr>
        <p:spPr>
          <a:xfrm flipH="1" flipV="1">
            <a:off x="4844415" y="2121535"/>
            <a:ext cx="552450" cy="1019175"/>
          </a:xfrm>
          <a:prstGeom prst="line">
            <a:avLst/>
          </a:prstGeom>
          <a:solidFill>
            <a:schemeClr val="accent1"/>
          </a:solidFill>
          <a:ln w="28575" cap="flat" cmpd="sng" algn="ctr">
            <a:solidFill>
              <a:srgbClr val="0070C0"/>
            </a:solidFill>
            <a:prstDash val="sysDash"/>
            <a:round/>
            <a:headEnd type="none" w="med" len="med"/>
            <a:tailEnd type="none" w="med" len="med"/>
          </a:ln>
        </p:spPr>
      </p:cxnSp>
      <p:cxnSp>
        <p:nvCxnSpPr>
          <p:cNvPr id="10" name="直接连接符 9"/>
          <p:cNvCxnSpPr/>
          <p:nvPr/>
        </p:nvCxnSpPr>
        <p:spPr>
          <a:xfrm flipV="1">
            <a:off x="4067810" y="3148330"/>
            <a:ext cx="1329055" cy="906780"/>
          </a:xfrm>
          <a:prstGeom prst="line">
            <a:avLst/>
          </a:prstGeom>
          <a:solidFill>
            <a:schemeClr val="accent1"/>
          </a:solidFill>
          <a:ln w="28575" cap="flat" cmpd="sng" algn="ctr">
            <a:solidFill>
              <a:srgbClr val="0070C0"/>
            </a:solidFill>
            <a:prstDash val="sysDash"/>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638175" y="323850"/>
            <a:ext cx="8226425" cy="457200"/>
          </a:xfrm>
        </p:spPr>
        <p:txBody>
          <a:bodyPr vert="horz" wrap="square" lIns="91440" tIns="45720" rIns="91440" bIns="45720" anchor="b" anchorCtr="0"/>
          <a:lstStyle/>
          <a:p>
            <a:pPr eaLnBrk="1" hangingPunct="1"/>
            <a:r>
              <a:rPr lang="en-US" altLang="zh-CN" dirty="0"/>
              <a:t>Graph With A Cycle But No Deadlock</a:t>
            </a:r>
          </a:p>
        </p:txBody>
      </p:sp>
      <p:pic>
        <p:nvPicPr>
          <p:cNvPr id="22531" name="Picture 7"/>
          <p:cNvPicPr>
            <a:picLocks noChangeAspect="1"/>
          </p:cNvPicPr>
          <p:nvPr/>
        </p:nvPicPr>
        <p:blipFill>
          <a:blip r:embed="rId3"/>
          <a:stretch>
            <a:fillRect/>
          </a:stretch>
        </p:blipFill>
        <p:spPr>
          <a:xfrm>
            <a:off x="2919413" y="1362075"/>
            <a:ext cx="3248025" cy="4157663"/>
          </a:xfrm>
          <a:prstGeom prst="rect">
            <a:avLst/>
          </a:prstGeom>
          <a:noFill/>
          <a:ln w="9525">
            <a:noFill/>
          </a:ln>
        </p:spPr>
      </p:pic>
      <p:cxnSp>
        <p:nvCxnSpPr>
          <p:cNvPr id="2" name="直接连接符 1"/>
          <p:cNvCxnSpPr/>
          <p:nvPr/>
        </p:nvCxnSpPr>
        <p:spPr>
          <a:xfrm flipH="1" flipV="1">
            <a:off x="3281680" y="3726180"/>
            <a:ext cx="1032510" cy="95567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3" name="直接连接符 2"/>
          <p:cNvCxnSpPr/>
          <p:nvPr/>
        </p:nvCxnSpPr>
        <p:spPr>
          <a:xfrm flipH="1">
            <a:off x="3304540" y="2788920"/>
            <a:ext cx="929640" cy="92964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4" name="直接连接符 3"/>
          <p:cNvCxnSpPr/>
          <p:nvPr/>
        </p:nvCxnSpPr>
        <p:spPr>
          <a:xfrm flipH="1" flipV="1">
            <a:off x="4516120" y="2773680"/>
            <a:ext cx="1120140" cy="24384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5" name="直接连接符 4"/>
          <p:cNvCxnSpPr/>
          <p:nvPr/>
        </p:nvCxnSpPr>
        <p:spPr>
          <a:xfrm flipV="1">
            <a:off x="4554220" y="3017520"/>
            <a:ext cx="1082040" cy="1333500"/>
          </a:xfrm>
          <a:prstGeom prst="line">
            <a:avLst/>
          </a:prstGeom>
          <a:solidFill>
            <a:schemeClr val="accent1"/>
          </a:solidFill>
          <a:ln w="28575" cap="flat" cmpd="sng" algn="ctr">
            <a:solidFill>
              <a:srgbClr val="C00000"/>
            </a:solidFill>
            <a:prstDash val="dash"/>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p:txBody>
          <a:bodyPr vert="horz" wrap="square" lIns="91440" tIns="45720" rIns="91440" bIns="45720" anchor="b" anchorCtr="0"/>
          <a:lstStyle/>
          <a:p>
            <a:pPr eaLnBrk="1" hangingPunct="1"/>
            <a:r>
              <a:rPr lang="en-US" altLang="zh-CN" dirty="0"/>
              <a:t>Basic Facts</a:t>
            </a:r>
          </a:p>
        </p:txBody>
      </p:sp>
      <p:sp>
        <p:nvSpPr>
          <p:cNvPr id="23555" name="Rectangle 3"/>
          <p:cNvSpPr>
            <a:spLocks noGrp="1"/>
          </p:cNvSpPr>
          <p:nvPr>
            <p:ph idx="1"/>
          </p:nvPr>
        </p:nvSpPr>
        <p:spPr>
          <a:xfrm>
            <a:off x="827088" y="1454150"/>
            <a:ext cx="7821612" cy="4400550"/>
          </a:xfrm>
        </p:spPr>
        <p:txBody>
          <a:bodyPr vert="horz" wrap="square" lIns="91440" tIns="45720" rIns="91440" bIns="45720" anchor="t" anchorCtr="0"/>
          <a:lstStyle/>
          <a:p>
            <a:r>
              <a:rPr lang="en-US" altLang="zh-CN" dirty="0"/>
              <a:t>If graph contains no cycles </a:t>
            </a:r>
            <a:r>
              <a:rPr lang="en-US" altLang="zh-CN" dirty="0">
                <a:sym typeface="Symbol" panose="05050102010706020507" pitchFamily="18" charset="2"/>
              </a:rPr>
              <a:t> no deadlock</a:t>
            </a:r>
            <a:br>
              <a:rPr lang="en-US" altLang="zh-CN" dirty="0">
                <a:sym typeface="Symbol" panose="05050102010706020507" pitchFamily="18" charset="2"/>
              </a:rPr>
            </a:br>
            <a:endParaRPr lang="en-US" altLang="zh-CN" dirty="0">
              <a:sym typeface="Symbol" panose="05050102010706020507" pitchFamily="18" charset="2"/>
            </a:endParaRPr>
          </a:p>
          <a:p>
            <a:r>
              <a:rPr lang="en-US" altLang="zh-CN" dirty="0">
                <a:sym typeface="Symbol" panose="05050102010706020507" pitchFamily="18" charset="2"/>
              </a:rPr>
              <a:t>If graph contains a cycle </a:t>
            </a:r>
          </a:p>
          <a:p>
            <a:pPr lvl="1"/>
            <a:r>
              <a:rPr lang="en-US" altLang="zh-CN" dirty="0">
                <a:sym typeface="Symbol" panose="05050102010706020507" pitchFamily="18" charset="2"/>
              </a:rPr>
              <a:t>if only one instance per resource type, then deadlock</a:t>
            </a:r>
          </a:p>
          <a:p>
            <a:pPr lvl="1"/>
            <a:r>
              <a:rPr lang="en-US" altLang="zh-CN" dirty="0">
                <a:sym typeface="Symbol" panose="05050102010706020507" pitchFamily="18" charset="2"/>
              </a:rPr>
              <a:t>if several instances per resource type, possibility of deadlock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以下关于产生死锁的四个必要条件的叙述不正确的是（  ）</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系统中只要同时具备了产生死锁的</a:t>
            </a:r>
            <a:r>
              <a:rPr lang="en-US" altLang="zh-CN" dirty="0">
                <a:latin typeface="Helvetica" pitchFamily="34" charset="0"/>
                <a:sym typeface="+mn-ea"/>
              </a:rPr>
              <a:t>4</a:t>
            </a:r>
            <a:r>
              <a:rPr lang="zh-CN" altLang="en-US" dirty="0">
                <a:latin typeface="Helvetica" pitchFamily="34" charset="0"/>
                <a:sym typeface="+mn-ea"/>
              </a:rPr>
              <a:t>个必要条件，就一定会发生死锁</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B </a:t>
            </a:r>
            <a:r>
              <a:rPr lang="zh-CN" altLang="en-US" dirty="0">
                <a:solidFill>
                  <a:schemeClr val="tx1"/>
                </a:solidFill>
                <a:latin typeface="Helvetica" pitchFamily="34" charset="0"/>
                <a:sym typeface="+mn-ea"/>
              </a:rPr>
              <a:t>产生死锁的四个必要条件之间不是完全独立的，但也不是等价的</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解决死锁问题可以从产生死锁的四个必要条件出发</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D </a:t>
            </a:r>
            <a:r>
              <a:rPr lang="zh-CN" altLang="en-US" dirty="0">
                <a:latin typeface="Helvetica" pitchFamily="34" charset="0"/>
                <a:sym typeface="+mn-ea"/>
              </a:rPr>
              <a:t>一旦出现死锁现象，处于死锁状态的进程一定同时具备产生死锁的四个必要条件</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A</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194635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在（  ）情况下系统出现了死锁</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计算机系统发生了重大故障</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若进程因竞争资源而无休止地相互等待对方释放已占有的资源</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系统中的资源总量远远小于进程数或多个进程同时申请的资源量超过系统可分配资源量</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有多个阻塞的进程同时存在</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270768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b" anchorCtr="0"/>
          <a:lstStyle/>
          <a:p>
            <a:pPr eaLnBrk="1" hangingPunct="1"/>
            <a:r>
              <a:rPr lang="en-US" altLang="zh-CN" dirty="0"/>
              <a:t>Chapter 7:  Deadlocks(</a:t>
            </a:r>
            <a:r>
              <a:rPr lang="zh-CN" altLang="en-US" dirty="0"/>
              <a:t>死锁</a:t>
            </a:r>
            <a:r>
              <a:rPr lang="en-US" altLang="zh-CN" dirty="0"/>
              <a:t>)</a:t>
            </a:r>
            <a:endParaRPr lang="zh-CN" altLang="en-US" dirty="0">
              <a:ea typeface="宋体" panose="02010600030101010101" pitchFamily="2" charset="-122"/>
            </a:endParaRPr>
          </a:p>
        </p:txBody>
      </p:sp>
      <p:sp>
        <p:nvSpPr>
          <p:cNvPr id="4099" name="Rectangle 3"/>
          <p:cNvSpPr>
            <a:spLocks noGrp="1"/>
          </p:cNvSpPr>
          <p:nvPr>
            <p:ph idx="1"/>
          </p:nvPr>
        </p:nvSpPr>
        <p:spPr/>
        <p:txBody>
          <a:bodyPr vert="horz" wrap="square" lIns="91440" tIns="45720" rIns="91440" bIns="45720" anchor="t" anchorCtr="0"/>
          <a:lstStyle/>
          <a:p>
            <a:pPr>
              <a:buSzPct val="85000"/>
            </a:pPr>
            <a:r>
              <a:rPr lang="en-US" altLang="zh-CN" dirty="0"/>
              <a:t>The Deadlock Problem</a:t>
            </a:r>
          </a:p>
          <a:p>
            <a:pPr>
              <a:buSzPct val="85000"/>
            </a:pPr>
            <a:r>
              <a:rPr lang="en-US" altLang="zh-CN" dirty="0"/>
              <a:t>System Model</a:t>
            </a:r>
          </a:p>
          <a:p>
            <a:pPr>
              <a:buSzPct val="85000"/>
            </a:pPr>
            <a:r>
              <a:rPr lang="en-US" altLang="zh-CN" dirty="0"/>
              <a:t>Deadlock Characterization</a:t>
            </a:r>
          </a:p>
          <a:p>
            <a:pPr>
              <a:buSzPct val="85000"/>
            </a:pPr>
            <a:r>
              <a:rPr lang="en-US" altLang="zh-CN" dirty="0"/>
              <a:t>Methods for Handling Deadlocks</a:t>
            </a:r>
          </a:p>
          <a:p>
            <a:r>
              <a:rPr lang="en-US" altLang="zh-CN" dirty="0"/>
              <a:t>Deadlock Prevention</a:t>
            </a:r>
          </a:p>
          <a:p>
            <a:pPr>
              <a:buSzPct val="85000"/>
            </a:pPr>
            <a:r>
              <a:rPr lang="en-US" altLang="zh-CN" dirty="0"/>
              <a:t>Deadlock Avoidance</a:t>
            </a:r>
          </a:p>
          <a:p>
            <a:pPr>
              <a:buSzPct val="85000"/>
            </a:pPr>
            <a:r>
              <a:rPr lang="en-US" altLang="zh-CN" dirty="0"/>
              <a:t>Deadlock Detection </a:t>
            </a:r>
          </a:p>
          <a:p>
            <a:pPr>
              <a:buSzPct val="85000"/>
            </a:pPr>
            <a:r>
              <a:rPr lang="en-US" altLang="zh-CN" dirty="0"/>
              <a:t>Recovery from Deadlock </a:t>
            </a:r>
          </a:p>
        </p:txBody>
      </p:sp>
      <p:sp>
        <p:nvSpPr>
          <p:cNvPr id="7" name="文本框 6"/>
          <p:cNvSpPr txBox="1"/>
          <p:nvPr/>
        </p:nvSpPr>
        <p:spPr>
          <a:xfrm>
            <a:off x="5984240" y="3737610"/>
            <a:ext cx="27025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怎么办：</a:t>
            </a:r>
            <a:r>
              <a:rPr lang="zh-CN" altLang="en-US" sz="1800">
                <a:solidFill>
                  <a:srgbClr val="FF0000"/>
                </a:solidFill>
                <a:latin typeface="黑体" panose="02010609060101010101" charset="-122"/>
                <a:ea typeface="黑体" panose="02010609060101010101" charset="-122"/>
              </a:rPr>
              <a:t>如何解决</a:t>
            </a:r>
            <a:r>
              <a:rPr lang="zh-CN" altLang="en-US">
                <a:solidFill>
                  <a:srgbClr val="FF0000"/>
                </a:solidFill>
                <a:latin typeface="黑体" panose="02010609060101010101" charset="-122"/>
                <a:ea typeface="黑体" panose="02010609060101010101" charset="-122"/>
              </a:rPr>
              <a:t>死锁？</a:t>
            </a:r>
          </a:p>
        </p:txBody>
      </p:sp>
      <p:sp>
        <p:nvSpPr>
          <p:cNvPr id="9" name="右大括号 8"/>
          <p:cNvSpPr/>
          <p:nvPr/>
        </p:nvSpPr>
        <p:spPr>
          <a:xfrm>
            <a:off x="5828665" y="2807335"/>
            <a:ext cx="230505" cy="2228850"/>
          </a:xfrm>
          <a:prstGeom prst="rightBrace">
            <a:avLst>
              <a:gd name="adj1" fmla="val 50413"/>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vert="horz" wrap="square" lIns="91440" tIns="45720" rIns="91440" bIns="45720" anchor="b" anchorCtr="0"/>
          <a:lstStyle/>
          <a:p>
            <a:pPr eaLnBrk="1" hangingPunct="1"/>
            <a:r>
              <a:rPr lang="en-US" altLang="zh-CN" dirty="0"/>
              <a:t>Methods for Handling Deadlocks</a:t>
            </a:r>
          </a:p>
        </p:txBody>
      </p:sp>
      <p:sp>
        <p:nvSpPr>
          <p:cNvPr id="24579" name="Rectangle 3"/>
          <p:cNvSpPr>
            <a:spLocks noGrp="1"/>
          </p:cNvSpPr>
          <p:nvPr>
            <p:ph idx="1"/>
          </p:nvPr>
        </p:nvSpPr>
        <p:spPr>
          <a:xfrm>
            <a:off x="604838" y="1098550"/>
            <a:ext cx="8291512" cy="5759450"/>
          </a:xfrm>
        </p:spPr>
        <p:txBody>
          <a:bodyPr vert="horz" wrap="square" lIns="91440" tIns="45720" rIns="91440" bIns="45720" anchor="t" anchorCtr="0"/>
          <a:lstStyle/>
          <a:p>
            <a:r>
              <a:rPr lang="en-US" altLang="zh-CN" dirty="0"/>
              <a:t>Ensure that the system will </a:t>
            </a:r>
            <a:r>
              <a:rPr lang="en-US" altLang="zh-CN" i="1" dirty="0">
                <a:solidFill>
                  <a:srgbClr val="FF0066"/>
                </a:solidFill>
              </a:rPr>
              <a:t>never</a:t>
            </a:r>
            <a:r>
              <a:rPr lang="en-US" altLang="zh-CN" dirty="0"/>
              <a:t> enter a deadlock state</a:t>
            </a:r>
          </a:p>
          <a:p>
            <a:pPr lvl="1"/>
            <a:r>
              <a:rPr lang="en-US" altLang="zh-CN" dirty="0"/>
              <a:t>Deadlock prevention (</a:t>
            </a:r>
            <a:r>
              <a:rPr lang="zh-CN" altLang="en-US" dirty="0">
                <a:ea typeface="宋体" panose="02010600030101010101" pitchFamily="2" charset="-122"/>
              </a:rPr>
              <a:t>死锁预防</a:t>
            </a:r>
            <a:r>
              <a:rPr lang="en-US" altLang="zh-CN" dirty="0"/>
              <a:t>)</a:t>
            </a:r>
          </a:p>
          <a:p>
            <a:pPr lvl="1"/>
            <a:r>
              <a:rPr lang="en-US" altLang="zh-CN" dirty="0"/>
              <a:t>Deadlock avoidance (</a:t>
            </a:r>
            <a:r>
              <a:rPr lang="zh-CN" altLang="en-US" dirty="0">
                <a:ea typeface="宋体" panose="02010600030101010101" pitchFamily="2" charset="-122"/>
              </a:rPr>
              <a:t>死锁避免</a:t>
            </a:r>
            <a:r>
              <a:rPr lang="en-US" altLang="zh-CN" dirty="0"/>
              <a:t>)</a:t>
            </a:r>
          </a:p>
          <a:p>
            <a:r>
              <a:rPr lang="en-US" altLang="zh-CN" dirty="0"/>
              <a:t>Allow the system to enter a deadlock state and then recover</a:t>
            </a:r>
          </a:p>
          <a:p>
            <a:pPr lvl="1"/>
            <a:r>
              <a:rPr lang="en-US" altLang="zh-CN" dirty="0"/>
              <a:t>Deadlock detection and recovery (</a:t>
            </a:r>
            <a:r>
              <a:rPr lang="zh-CN" altLang="en-US" dirty="0">
                <a:ea typeface="宋体" panose="02010600030101010101" pitchFamily="2" charset="-122"/>
              </a:rPr>
              <a:t>死锁检测和恢复</a:t>
            </a:r>
            <a:r>
              <a:rPr lang="en-US" altLang="zh-CN" dirty="0"/>
              <a:t>)</a:t>
            </a:r>
          </a:p>
          <a:p>
            <a:r>
              <a:rPr lang="en-US" altLang="zh-CN" dirty="0"/>
              <a:t>Ignore the problem and pretend that deadlocks never occur in the system; used by most operating systems, including UNIX</a:t>
            </a:r>
          </a:p>
          <a:p>
            <a:pPr lvl="1"/>
            <a:r>
              <a:rPr lang="en-US" altLang="zh-CN" dirty="0"/>
              <a:t>Ostrich  policy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7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 (</a:t>
            </a:r>
            <a:r>
              <a:rPr lang="zh-CN" altLang="en-US" dirty="0">
                <a:ea typeface="宋体" panose="02010600030101010101" pitchFamily="2" charset="-122"/>
              </a:rPr>
              <a:t>死锁预防</a:t>
            </a:r>
            <a:r>
              <a:rPr lang="en-US" altLang="zh-CN" dirty="0"/>
              <a:t>)</a:t>
            </a:r>
            <a:endParaRPr lang="zh-CN" altLang="en-US" dirty="0">
              <a:ea typeface="宋体" panose="02010600030101010101" pitchFamily="2" charset="-122"/>
            </a:endParaRPr>
          </a:p>
        </p:txBody>
      </p:sp>
      <p:sp>
        <p:nvSpPr>
          <p:cNvPr id="25603" name="Rectangle 1027"/>
          <p:cNvSpPr>
            <a:spLocks noGrp="1"/>
          </p:cNvSpPr>
          <p:nvPr>
            <p:ph idx="1"/>
          </p:nvPr>
        </p:nvSpPr>
        <p:spPr>
          <a:xfrm>
            <a:off x="635000" y="3076868"/>
            <a:ext cx="8199438" cy="3119438"/>
          </a:xfrm>
        </p:spPr>
        <p:txBody>
          <a:bodyPr vert="horz" wrap="square" lIns="91440" tIns="45720" rIns="91440" bIns="45720" anchor="t" anchorCtr="0"/>
          <a:lstStyle/>
          <a:p>
            <a:r>
              <a:rPr lang="en-US" altLang="zh-CN" b="1" dirty="0"/>
              <a:t>Mutual Exclusion(</a:t>
            </a:r>
            <a:r>
              <a:rPr lang="zh-CN" altLang="en-US" b="1" dirty="0"/>
              <a:t>打破互斥</a:t>
            </a:r>
            <a:r>
              <a:rPr lang="en-US" altLang="zh-CN" b="1" dirty="0"/>
              <a:t>)</a:t>
            </a:r>
            <a:r>
              <a:rPr lang="en-US" altLang="zh-CN" dirty="0"/>
              <a:t> </a:t>
            </a:r>
          </a:p>
          <a:p>
            <a:pPr lvl="1"/>
            <a:r>
              <a:rPr lang="en-US" altLang="zh-CN" dirty="0"/>
              <a:t> not required for sharable resources; </a:t>
            </a:r>
            <a:r>
              <a:rPr lang="en-US" altLang="zh-CN" b="1" dirty="0"/>
              <a:t>must hold</a:t>
            </a:r>
            <a:r>
              <a:rPr lang="en-US" altLang="zh-CN" dirty="0"/>
              <a:t> for nonsharable resources.</a:t>
            </a:r>
          </a:p>
        </p:txBody>
      </p:sp>
      <p:sp>
        <p:nvSpPr>
          <p:cNvPr id="25604" name="Text Box 1028"/>
          <p:cNvSpPr txBox="1"/>
          <p:nvPr/>
        </p:nvSpPr>
        <p:spPr>
          <a:xfrm>
            <a:off x="635000" y="854075"/>
            <a:ext cx="8013700" cy="2123658"/>
          </a:xfrm>
          <a:prstGeom prst="rect">
            <a:avLst/>
          </a:prstGeom>
          <a:noFill/>
          <a:ln w="9525">
            <a:noFill/>
          </a:ln>
        </p:spPr>
        <p:txBody>
          <a:bodyPr wrap="square" anchor="ctr" anchorCtr="0">
            <a:spAutoFit/>
          </a:bodyPr>
          <a:lstStyle/>
          <a:p>
            <a:pPr>
              <a:spcBef>
                <a:spcPct val="50000"/>
              </a:spcBef>
              <a:buFont typeface="Arial" panose="020B0604020202020204" pitchFamily="34" charset="0"/>
              <a:buChar char="•"/>
            </a:pPr>
            <a:r>
              <a:rPr lang="en-US" altLang="zh-CN" sz="2400" dirty="0">
                <a:solidFill>
                  <a:srgbClr val="FF0000"/>
                </a:solidFill>
                <a:latin typeface="Helvetica" pitchFamily="34" charset="0"/>
              </a:rPr>
              <a:t>Restrain the ways request can be made, so that at least one of the necessary conditions for deadlock can not occur.(</a:t>
            </a:r>
            <a:r>
              <a:rPr lang="zh-CN" altLang="en-US" sz="2400" dirty="0">
                <a:solidFill>
                  <a:srgbClr val="FF0000"/>
                </a:solidFill>
                <a:latin typeface="Helvetica" pitchFamily="34" charset="0"/>
              </a:rPr>
              <a:t>限制可以发出请求的方式，使至少一个死锁的必要条件不会发生。</a:t>
            </a:r>
            <a:r>
              <a:rPr lang="en-US" altLang="zh-CN" sz="2400" dirty="0">
                <a:solidFill>
                  <a:srgbClr val="FF0000"/>
                </a:solidFill>
                <a:latin typeface="Helvetica" pitchFamily="34" charset="0"/>
              </a:rPr>
              <a:t>)</a:t>
            </a:r>
          </a:p>
          <a:p>
            <a:pPr>
              <a:spcBef>
                <a:spcPct val="50000"/>
              </a:spcBef>
              <a:buFont typeface="Arial" panose="020B0604020202020204" pitchFamily="34" charset="0"/>
              <a:buChar char="•"/>
            </a:pPr>
            <a:endParaRPr lang="en-US" altLang="zh-CN" sz="2400" dirty="0">
              <a:solidFill>
                <a:srgbClr val="FF0000"/>
              </a:solidFill>
              <a:latin typeface="Helvetica"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a:t>
            </a:r>
          </a:p>
        </p:txBody>
      </p:sp>
      <p:sp>
        <p:nvSpPr>
          <p:cNvPr id="26627" name="Rectangle 1027"/>
          <p:cNvSpPr>
            <a:spLocks noGrp="1"/>
          </p:cNvSpPr>
          <p:nvPr>
            <p:ph idx="1"/>
          </p:nvPr>
        </p:nvSpPr>
        <p:spPr>
          <a:xfrm>
            <a:off x="511175" y="1208405"/>
            <a:ext cx="8328660" cy="4051300"/>
          </a:xfrm>
        </p:spPr>
        <p:txBody>
          <a:bodyPr vert="horz" wrap="square" lIns="91440" tIns="45720" rIns="91440" bIns="45720" anchor="t" anchorCtr="0"/>
          <a:lstStyle/>
          <a:p>
            <a:r>
              <a:rPr lang="en-US" altLang="zh-CN" b="1" dirty="0"/>
              <a:t>Hold and Wait</a:t>
            </a:r>
            <a:r>
              <a:rPr lang="zh-CN" altLang="en-US" b="1" dirty="0"/>
              <a:t>（打破持有并等待）</a:t>
            </a:r>
            <a:r>
              <a:rPr lang="en-US" altLang="zh-CN" dirty="0"/>
              <a:t> – must guarantee that whenever a process requests a resource, it does not hold any other resources</a:t>
            </a:r>
          </a:p>
          <a:p>
            <a:pPr lvl="1"/>
            <a:r>
              <a:rPr lang="en-US" altLang="zh-CN" dirty="0"/>
              <a:t>Require process to request and be allocated all its resources before it begins execution (</a:t>
            </a:r>
            <a:r>
              <a:rPr lang="zh-CN" altLang="en-US" dirty="0">
                <a:ea typeface="宋体" panose="02010600030101010101" pitchFamily="2" charset="-122"/>
              </a:rPr>
              <a:t>执行前申请所有资源</a:t>
            </a:r>
            <a:r>
              <a:rPr lang="en-US" altLang="zh-CN" dirty="0"/>
              <a:t>)</a:t>
            </a:r>
          </a:p>
          <a:p>
            <a:pPr lvl="1"/>
            <a:r>
              <a:rPr lang="en-US" altLang="zh-CN" dirty="0"/>
              <a:t>or allow process to request resources only when the process has none (</a:t>
            </a:r>
            <a:r>
              <a:rPr lang="zh-CN" altLang="en-US" dirty="0">
                <a:ea typeface="宋体" panose="02010600030101010101" pitchFamily="2" charset="-122"/>
              </a:rPr>
              <a:t>只有不持有资源时才能申请</a:t>
            </a:r>
            <a:r>
              <a:rPr lang="en-US" altLang="zh-CN" dirty="0"/>
              <a:t>)</a:t>
            </a:r>
          </a:p>
          <a:p>
            <a:pPr lvl="1"/>
            <a:r>
              <a:rPr lang="en-US" altLang="zh-CN" dirty="0"/>
              <a:t>Drawback: </a:t>
            </a:r>
          </a:p>
          <a:p>
            <a:pPr lvl="2"/>
            <a:r>
              <a:rPr lang="en-US" altLang="zh-CN" dirty="0"/>
              <a:t>Low resource utilization; starvation possible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685800" y="419100"/>
            <a:ext cx="6870700" cy="635000"/>
          </a:xfrm>
        </p:spPr>
        <p:txBody>
          <a:bodyPr vert="horz" wrap="square" lIns="0" tIns="0" rIns="0" bIns="0" anchor="t" anchorCtr="0"/>
          <a:lstStyle/>
          <a:p>
            <a:pPr eaLnBrk="1" hangingPunct="1"/>
            <a:r>
              <a:rPr lang="en-US" altLang="zh-CN" dirty="0"/>
              <a:t>Dining Philosophers</a:t>
            </a:r>
            <a:endParaRPr lang="zh-CN" altLang="en-US" dirty="0"/>
          </a:p>
        </p:txBody>
      </p:sp>
      <p:sp>
        <p:nvSpPr>
          <p:cNvPr id="27651" name="Rectangle 3"/>
          <p:cNvSpPr>
            <a:spLocks noGrp="1"/>
          </p:cNvSpPr>
          <p:nvPr>
            <p:ph type="body" idx="4294967295"/>
          </p:nvPr>
        </p:nvSpPr>
        <p:spPr>
          <a:xfrm>
            <a:off x="387350" y="1084263"/>
            <a:ext cx="6370638" cy="4402137"/>
          </a:xfrm>
        </p:spPr>
        <p:txBody>
          <a:bodyPr vert="horz" wrap="square" lIns="0" tIns="0" rIns="0" bIns="0" anchor="t" anchorCtr="0"/>
          <a:lstStyle/>
          <a:p>
            <a:pPr eaLnBrk="1" hangingPunct="1"/>
            <a:r>
              <a:rPr lang="en-US" altLang="zh-CN" dirty="0"/>
              <a:t>5 philosophers sitting around a round table</a:t>
            </a:r>
          </a:p>
          <a:p>
            <a:pPr eaLnBrk="1" hangingPunct="1"/>
            <a:r>
              <a:rPr lang="en-US" altLang="zh-CN" dirty="0"/>
              <a:t>1 chopstick in between each pair of philosophers </a:t>
            </a:r>
          </a:p>
          <a:p>
            <a:pPr marL="857250" lvl="1" eaLnBrk="1" hangingPunct="1"/>
            <a:r>
              <a:rPr lang="en-US" altLang="zh-CN" dirty="0"/>
              <a:t>5 chopsticks total</a:t>
            </a:r>
          </a:p>
          <a:p>
            <a:pPr eaLnBrk="1" hangingPunct="1"/>
            <a:r>
              <a:rPr lang="en-US" altLang="zh-CN" dirty="0"/>
              <a:t>Each philosopher needs two chopsticks to eat</a:t>
            </a:r>
          </a:p>
          <a:p>
            <a:pPr eaLnBrk="1" hangingPunct="1"/>
            <a:r>
              <a:rPr lang="en-US" altLang="zh-CN" dirty="0"/>
              <a:t>How to prevent deadlock</a:t>
            </a:r>
          </a:p>
        </p:txBody>
      </p:sp>
      <p:sp>
        <p:nvSpPr>
          <p:cNvPr id="4" name="椭圆 3"/>
          <p:cNvSpPr/>
          <p:nvPr/>
        </p:nvSpPr>
        <p:spPr bwMode="auto">
          <a:xfrm>
            <a:off x="5680223" y="3528139"/>
            <a:ext cx="2700000" cy="2700000"/>
          </a:xfrm>
          <a:prstGeom prst="ellipse">
            <a:avLst/>
          </a:prstGeom>
          <a:solidFill>
            <a:schemeClr val="tx2">
              <a:lumMod val="40000"/>
              <a:lumOff val="60000"/>
            </a:schemeClr>
          </a:solidFill>
          <a:ln w="12700" cap="flat" cmpd="sng" algn="ctr">
            <a:solidFill>
              <a:schemeClr val="tx2">
                <a:lumMod val="40000"/>
                <a:lumOff val="60000"/>
              </a:schemeClr>
            </a:solidFill>
            <a:prstDash val="solid"/>
            <a:round/>
            <a:headEnd type="none" w="med" len="med"/>
            <a:tailEnd type="none" w="med" len="med"/>
          </a:ln>
          <a:effectLst>
            <a:glow rad="139700">
              <a:schemeClr val="tx2">
                <a:lumMod val="60000"/>
                <a:lumOff val="40000"/>
                <a:alpha val="40000"/>
              </a:schemeClr>
            </a:glow>
          </a:effectLst>
          <a:scene3d>
            <a:camera prst="orthographicFront"/>
            <a:lightRig rig="threePt" dir="t"/>
          </a:scene3d>
          <a:sp3d>
            <a:bevelT w="152400" h="50800" prst="softRound"/>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5" name="椭圆 4"/>
          <p:cNvSpPr/>
          <p:nvPr/>
        </p:nvSpPr>
        <p:spPr bwMode="auto">
          <a:xfrm>
            <a:off x="5791033" y="4319195"/>
            <a:ext cx="540000" cy="695568"/>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6" name="椭圆 5"/>
          <p:cNvSpPr/>
          <p:nvPr/>
        </p:nvSpPr>
        <p:spPr bwMode="auto">
          <a:xfrm>
            <a:off x="6760223" y="3604549"/>
            <a:ext cx="540000" cy="701849"/>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7" name="椭圆 6"/>
          <p:cNvSpPr/>
          <p:nvPr/>
        </p:nvSpPr>
        <p:spPr bwMode="auto">
          <a:xfrm>
            <a:off x="7728851" y="4319195"/>
            <a:ext cx="540000" cy="695568"/>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8" name="椭圆 7"/>
          <p:cNvSpPr/>
          <p:nvPr/>
        </p:nvSpPr>
        <p:spPr bwMode="auto">
          <a:xfrm>
            <a:off x="7311760" y="5422459"/>
            <a:ext cx="540000" cy="703362"/>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9" name="椭圆 8"/>
          <p:cNvSpPr/>
          <p:nvPr/>
        </p:nvSpPr>
        <p:spPr bwMode="auto">
          <a:xfrm>
            <a:off x="6208686" y="5422459"/>
            <a:ext cx="540000" cy="703362"/>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cxnSp>
        <p:nvCxnSpPr>
          <p:cNvPr id="27670" name="直接连接符 9"/>
          <p:cNvCxnSpPr/>
          <p:nvPr/>
        </p:nvCxnSpPr>
        <p:spPr>
          <a:xfrm rot="5400000">
            <a:off x="6759575" y="5827713"/>
            <a:ext cx="539750" cy="1587"/>
          </a:xfrm>
          <a:prstGeom prst="line">
            <a:avLst/>
          </a:prstGeom>
          <a:ln w="38100" cap="flat" cmpd="sng">
            <a:solidFill>
              <a:srgbClr val="A88000"/>
            </a:solidFill>
            <a:prstDash val="solid"/>
            <a:headEnd type="none" w="med" len="med"/>
            <a:tailEnd type="none" w="med" len="med"/>
          </a:ln>
        </p:spPr>
      </p:cxnSp>
      <p:cxnSp>
        <p:nvCxnSpPr>
          <p:cNvPr id="27671" name="直接连接符 10"/>
          <p:cNvCxnSpPr/>
          <p:nvPr/>
        </p:nvCxnSpPr>
        <p:spPr>
          <a:xfrm rot="9720000">
            <a:off x="5884863" y="5162550"/>
            <a:ext cx="539750" cy="1588"/>
          </a:xfrm>
          <a:prstGeom prst="line">
            <a:avLst/>
          </a:prstGeom>
          <a:ln w="38100" cap="flat" cmpd="sng">
            <a:solidFill>
              <a:srgbClr val="A88000"/>
            </a:solidFill>
            <a:prstDash val="solid"/>
            <a:headEnd type="none" w="med" len="med"/>
            <a:tailEnd type="none" w="med" len="med"/>
          </a:ln>
        </p:spPr>
      </p:cxnSp>
      <p:cxnSp>
        <p:nvCxnSpPr>
          <p:cNvPr id="27672" name="直接连接符 11"/>
          <p:cNvCxnSpPr/>
          <p:nvPr/>
        </p:nvCxnSpPr>
        <p:spPr>
          <a:xfrm rot="1080000">
            <a:off x="7685088" y="5183188"/>
            <a:ext cx="539750" cy="1587"/>
          </a:xfrm>
          <a:prstGeom prst="line">
            <a:avLst/>
          </a:prstGeom>
          <a:ln w="38100" cap="flat" cmpd="sng">
            <a:solidFill>
              <a:srgbClr val="A88000"/>
            </a:solidFill>
            <a:prstDash val="solid"/>
            <a:headEnd type="none" w="med" len="med"/>
            <a:tailEnd type="none" w="med" len="med"/>
          </a:ln>
        </p:spPr>
      </p:cxnSp>
      <p:cxnSp>
        <p:nvCxnSpPr>
          <p:cNvPr id="27673" name="直接连接符 12"/>
          <p:cNvCxnSpPr/>
          <p:nvPr/>
        </p:nvCxnSpPr>
        <p:spPr>
          <a:xfrm rot="-7560000">
            <a:off x="6196013" y="4094163"/>
            <a:ext cx="541337" cy="1587"/>
          </a:xfrm>
          <a:prstGeom prst="line">
            <a:avLst/>
          </a:prstGeom>
          <a:ln w="38100" cap="flat" cmpd="sng">
            <a:solidFill>
              <a:srgbClr val="A88000"/>
            </a:solidFill>
            <a:prstDash val="solid"/>
            <a:headEnd type="none" w="med" len="med"/>
            <a:tailEnd type="none" w="med" len="med"/>
          </a:ln>
        </p:spPr>
      </p:cxnSp>
      <p:cxnSp>
        <p:nvCxnSpPr>
          <p:cNvPr id="27674" name="直接连接符 13"/>
          <p:cNvCxnSpPr/>
          <p:nvPr/>
        </p:nvCxnSpPr>
        <p:spPr>
          <a:xfrm rot="-3240000">
            <a:off x="7300913" y="4102100"/>
            <a:ext cx="539750" cy="1588"/>
          </a:xfrm>
          <a:prstGeom prst="line">
            <a:avLst/>
          </a:prstGeom>
          <a:ln w="38100" cap="flat" cmpd="sng">
            <a:solidFill>
              <a:srgbClr val="A88000"/>
            </a:solidFill>
            <a:prstDash val="solid"/>
            <a:headEnd type="none" w="med" len="med"/>
            <a:tailEnd type="none" w="med" len="med"/>
          </a:ln>
        </p:spPr>
      </p:cxnSp>
      <p:pic>
        <p:nvPicPr>
          <p:cNvPr id="27675" name="图片 14" descr="philo.jpg"/>
          <p:cNvPicPr>
            <a:picLocks noChangeAspect="1"/>
          </p:cNvPicPr>
          <p:nvPr/>
        </p:nvPicPr>
        <p:blipFill>
          <a:blip r:embed="rId3">
            <a:clrChange>
              <a:clrFrom>
                <a:srgbClr val="FAF3E1"/>
              </a:clrFrom>
              <a:clrTo>
                <a:srgbClr val="FAF3E1">
                  <a:alpha val="0"/>
                </a:srgbClr>
              </a:clrTo>
            </a:clrChange>
          </a:blip>
          <a:stretch>
            <a:fillRect/>
          </a:stretch>
        </p:blipFill>
        <p:spPr>
          <a:xfrm>
            <a:off x="4879975" y="3956050"/>
            <a:ext cx="733425" cy="836613"/>
          </a:xfrm>
          <a:prstGeom prst="rect">
            <a:avLst/>
          </a:prstGeom>
          <a:noFill/>
          <a:ln w="9525">
            <a:noFill/>
          </a:ln>
        </p:spPr>
      </p:pic>
      <p:pic>
        <p:nvPicPr>
          <p:cNvPr id="27676" name="图片 15" descr="philo.jpg"/>
          <p:cNvPicPr>
            <a:picLocks noChangeAspect="1"/>
          </p:cNvPicPr>
          <p:nvPr/>
        </p:nvPicPr>
        <p:blipFill>
          <a:blip r:embed="rId3">
            <a:clrChange>
              <a:clrFrom>
                <a:srgbClr val="FAF3E1"/>
              </a:clrFrom>
              <a:clrTo>
                <a:srgbClr val="FAF3E1">
                  <a:alpha val="0"/>
                </a:srgbClr>
              </a:clrTo>
            </a:clrChange>
          </a:blip>
          <a:stretch>
            <a:fillRect/>
          </a:stretch>
        </p:blipFill>
        <p:spPr>
          <a:xfrm>
            <a:off x="6697663" y="2628900"/>
            <a:ext cx="731837" cy="836613"/>
          </a:xfrm>
          <a:prstGeom prst="rect">
            <a:avLst/>
          </a:prstGeom>
          <a:noFill/>
          <a:ln w="9525">
            <a:noFill/>
          </a:ln>
        </p:spPr>
      </p:pic>
      <p:pic>
        <p:nvPicPr>
          <p:cNvPr id="27677" name="图片 16" descr="philo.jpg"/>
          <p:cNvPicPr>
            <a:picLocks noChangeAspect="1"/>
          </p:cNvPicPr>
          <p:nvPr/>
        </p:nvPicPr>
        <p:blipFill>
          <a:blip r:embed="rId4">
            <a:clrChange>
              <a:clrFrom>
                <a:srgbClr val="FAF3E1"/>
              </a:clrFrom>
              <a:clrTo>
                <a:srgbClr val="FAF3E1">
                  <a:alpha val="0"/>
                </a:srgbClr>
              </a:clrTo>
            </a:clrChange>
          </a:blip>
          <a:stretch>
            <a:fillRect/>
          </a:stretch>
        </p:blipFill>
        <p:spPr>
          <a:xfrm>
            <a:off x="8412163" y="3892550"/>
            <a:ext cx="731837" cy="836613"/>
          </a:xfrm>
          <a:prstGeom prst="rect">
            <a:avLst/>
          </a:prstGeom>
          <a:noFill/>
          <a:ln w="9525">
            <a:noFill/>
          </a:ln>
        </p:spPr>
      </p:pic>
      <p:pic>
        <p:nvPicPr>
          <p:cNvPr id="27678" name="图片 17" descr="philo.jpg"/>
          <p:cNvPicPr>
            <a:picLocks noChangeAspect="1"/>
          </p:cNvPicPr>
          <p:nvPr/>
        </p:nvPicPr>
        <p:blipFill>
          <a:blip r:embed="rId4">
            <a:clrChange>
              <a:clrFrom>
                <a:srgbClr val="FAF3E1"/>
              </a:clrFrom>
              <a:clrTo>
                <a:srgbClr val="FAF3E1">
                  <a:alpha val="0"/>
                </a:srgbClr>
              </a:clrTo>
            </a:clrChange>
          </a:blip>
          <a:stretch>
            <a:fillRect/>
          </a:stretch>
        </p:blipFill>
        <p:spPr>
          <a:xfrm>
            <a:off x="7912100" y="5834063"/>
            <a:ext cx="731838" cy="836612"/>
          </a:xfrm>
          <a:prstGeom prst="rect">
            <a:avLst/>
          </a:prstGeom>
          <a:noFill/>
          <a:ln w="9525">
            <a:noFill/>
          </a:ln>
        </p:spPr>
      </p:pic>
      <p:pic>
        <p:nvPicPr>
          <p:cNvPr id="27679" name="图片 18" descr="philo.jpg"/>
          <p:cNvPicPr>
            <a:picLocks noChangeAspect="1"/>
          </p:cNvPicPr>
          <p:nvPr/>
        </p:nvPicPr>
        <p:blipFill>
          <a:blip r:embed="rId3">
            <a:clrChange>
              <a:clrFrom>
                <a:srgbClr val="FAF3E1"/>
              </a:clrFrom>
              <a:clrTo>
                <a:srgbClr val="FAF3E1">
                  <a:alpha val="0"/>
                </a:srgbClr>
              </a:clrTo>
            </a:clrChange>
          </a:blip>
          <a:stretch>
            <a:fillRect/>
          </a:stretch>
        </p:blipFill>
        <p:spPr>
          <a:xfrm>
            <a:off x="5411788" y="5834063"/>
            <a:ext cx="731837" cy="836612"/>
          </a:xfrm>
          <a:prstGeom prst="rect">
            <a:avLst/>
          </a:prstGeom>
          <a:noFill/>
          <a:ln w="9525">
            <a:noFill/>
          </a:ln>
        </p:spPr>
      </p:pic>
      <p:sp>
        <p:nvSpPr>
          <p:cNvPr id="2" name="文本框 1"/>
          <p:cNvSpPr txBox="1"/>
          <p:nvPr/>
        </p:nvSpPr>
        <p:spPr>
          <a:xfrm>
            <a:off x="387350" y="4577080"/>
            <a:ext cx="4378325" cy="2030095"/>
          </a:xfrm>
          <a:prstGeom prst="rect">
            <a:avLst/>
          </a:prstGeom>
          <a:noFill/>
        </p:spPr>
        <p:txBody>
          <a:bodyPr wrap="none" rtlCol="0">
            <a:spAutoFit/>
          </a:bodyPr>
          <a:lstStyle/>
          <a:p>
            <a:pPr algn="l"/>
            <a:r>
              <a:rPr lang="en-US" altLang="zh-CN"/>
              <a:t>solution: </a:t>
            </a:r>
          </a:p>
          <a:p>
            <a:pPr algn="l"/>
            <a:r>
              <a:rPr lang="en-US" altLang="zh-CN"/>
              <a:t>1. </a:t>
            </a:r>
            <a:r>
              <a:rPr lang="zh-CN" altLang="en-US">
                <a:ea typeface="宋体" panose="02010600030101010101" pitchFamily="2" charset="-122"/>
              </a:rPr>
              <a:t>只有一个哲学家的两根筷子都可用时，</a:t>
            </a:r>
          </a:p>
          <a:p>
            <a:pPr algn="l"/>
            <a:r>
              <a:rPr lang="zh-CN" altLang="en-US">
                <a:ea typeface="宋体" panose="02010600030101010101" pitchFamily="2" charset="-122"/>
              </a:rPr>
              <a:t>他才能拿起他们（执行前申请全部资源）</a:t>
            </a:r>
          </a:p>
          <a:p>
            <a:pPr algn="l"/>
            <a:r>
              <a:rPr lang="en-US" altLang="zh-CN">
                <a:sym typeface="+mn-ea"/>
              </a:rPr>
              <a:t>2. </a:t>
            </a:r>
            <a:r>
              <a:rPr lang="zh-CN" altLang="en-US">
                <a:ea typeface="宋体" panose="02010600030101010101" pitchFamily="2" charset="-122"/>
                <a:sym typeface="+mn-ea"/>
              </a:rPr>
              <a:t>如果有且仅有一根筷子，那么必须先放</a:t>
            </a:r>
          </a:p>
          <a:p>
            <a:pPr algn="l"/>
            <a:r>
              <a:rPr lang="zh-CN" altLang="en-US">
                <a:ea typeface="宋体" panose="02010600030101010101" pitchFamily="2" charset="-122"/>
                <a:sym typeface="+mn-ea"/>
              </a:rPr>
              <a:t>下这根筷子才能申请全部两根筷子</a:t>
            </a:r>
          </a:p>
          <a:p>
            <a:pPr algn="l"/>
            <a:r>
              <a:rPr lang="zh-CN" altLang="en-US">
                <a:ea typeface="宋体" panose="02010600030101010101" pitchFamily="2" charset="-122"/>
                <a:sym typeface="+mn-ea"/>
              </a:rPr>
              <a:t>（不持有资源时才能申请）</a:t>
            </a:r>
            <a:endParaRPr lang="zh-CN" altLang="en-US">
              <a:ea typeface="宋体" panose="02010600030101010101" pitchFamily="2" charset="-122"/>
            </a:endParaRPr>
          </a:p>
          <a:p>
            <a:endParaRPr lang="zh-CN" altLang="en-US">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 (Cont.)</a:t>
            </a:r>
          </a:p>
        </p:txBody>
      </p:sp>
      <p:sp>
        <p:nvSpPr>
          <p:cNvPr id="28675" name="Rectangle 1027"/>
          <p:cNvSpPr>
            <a:spLocks noGrp="1"/>
          </p:cNvSpPr>
          <p:nvPr>
            <p:ph idx="1"/>
          </p:nvPr>
        </p:nvSpPr>
        <p:spPr>
          <a:xfrm>
            <a:off x="527050" y="1146175"/>
            <a:ext cx="8275638" cy="4533900"/>
          </a:xfrm>
        </p:spPr>
        <p:txBody>
          <a:bodyPr vert="horz" wrap="square" lIns="91440" tIns="45720" rIns="91440" bIns="45720" anchor="t" anchorCtr="0"/>
          <a:lstStyle/>
          <a:p>
            <a:r>
              <a:rPr lang="en-US" altLang="zh-CN" b="1" dirty="0"/>
              <a:t>No Preemption</a:t>
            </a:r>
            <a:r>
              <a:rPr lang="en-US" altLang="zh-CN" dirty="0"/>
              <a:t> –</a:t>
            </a:r>
            <a:r>
              <a:rPr lang="zh-CN" altLang="en-US" dirty="0"/>
              <a:t>（打破非抢占）</a:t>
            </a:r>
            <a:endParaRPr lang="en-US" altLang="zh-CN" dirty="0"/>
          </a:p>
          <a:p>
            <a:pPr lvl="1"/>
            <a:r>
              <a:rPr lang="en-US" altLang="zh-CN" dirty="0"/>
              <a:t>If a process that is holding some resources requests another resource that cannot be immediately allocated to it, then all resources currently being held are released(</a:t>
            </a:r>
            <a:r>
              <a:rPr lang="zh-CN" altLang="en-US" dirty="0"/>
              <a:t>如果一个进程新的资源申请没有满足，它要释放占有的所有资源</a:t>
            </a:r>
            <a:r>
              <a:rPr lang="en-US" altLang="zh-CN" dirty="0"/>
              <a:t>)</a:t>
            </a:r>
          </a:p>
          <a:p>
            <a:pPr lvl="1"/>
            <a:r>
              <a:rPr lang="en-US" altLang="zh-CN" dirty="0"/>
              <a:t>Preempted resources are added to the list of resources for which the process is waiting(</a:t>
            </a:r>
            <a:r>
              <a:rPr lang="zh-CN" altLang="en-US" dirty="0"/>
              <a:t>这些被抢占的资源放入进程等待资源列表中</a:t>
            </a:r>
            <a:r>
              <a:rPr lang="en-US" altLang="zh-CN" dirty="0"/>
              <a:t>,)</a:t>
            </a:r>
          </a:p>
          <a:p>
            <a:pPr lvl="1"/>
            <a:r>
              <a:rPr lang="en-US" altLang="zh-CN" dirty="0"/>
              <a:t>Process will be restarted only when it can regain its old resources, as well as the new ones that it is requesting(</a:t>
            </a:r>
            <a:r>
              <a:rPr lang="zh-CN" altLang="en-US" dirty="0"/>
              <a:t>这个进程只有能够同时得到原有的资源和申请的新资源时</a:t>
            </a:r>
            <a:r>
              <a:rPr lang="en-US" altLang="zh-CN" dirty="0"/>
              <a:t>,</a:t>
            </a:r>
            <a:r>
              <a:rPr lang="zh-CN" altLang="en-US" dirty="0"/>
              <a:t>才能重新开始</a:t>
            </a:r>
            <a:r>
              <a:rPr lang="en-US" altLang="zh-CN" dirty="0"/>
              <a:t>)</a:t>
            </a:r>
            <a:br>
              <a:rPr lang="en-US" altLang="zh-CN" dirty="0"/>
            </a:b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1011238" y="269875"/>
            <a:ext cx="6870700" cy="609600"/>
          </a:xfrm>
        </p:spPr>
        <p:txBody>
          <a:bodyPr vert="horz" wrap="square" lIns="0" tIns="0" rIns="0" bIns="0" anchor="t" anchorCtr="0"/>
          <a:lstStyle/>
          <a:p>
            <a:pPr eaLnBrk="1" hangingPunct="1"/>
            <a:r>
              <a:rPr lang="en-US" altLang="zh-CN" dirty="0"/>
              <a:t>Deadlock Prevention (Cont.)</a:t>
            </a:r>
            <a:endParaRPr lang="zh-CN" altLang="en-US" dirty="0"/>
          </a:p>
        </p:txBody>
      </p:sp>
      <p:sp>
        <p:nvSpPr>
          <p:cNvPr id="30723" name="Rectangle 3"/>
          <p:cNvSpPr>
            <a:spLocks noGrp="1"/>
          </p:cNvSpPr>
          <p:nvPr>
            <p:ph type="body" idx="4294967295"/>
          </p:nvPr>
        </p:nvSpPr>
        <p:spPr/>
        <p:txBody>
          <a:bodyPr vert="horz" wrap="square" lIns="0" tIns="0" rIns="0" bIns="0" anchor="t" anchorCtr="0"/>
          <a:lstStyle/>
          <a:p>
            <a:pPr eaLnBrk="1" hangingPunct="1"/>
            <a:r>
              <a:rPr lang="en-US" altLang="zh-CN" dirty="0"/>
              <a:t>Allow Preemption!</a:t>
            </a:r>
            <a:r>
              <a:rPr lang="zh-CN" altLang="en-US" dirty="0"/>
              <a:t>（允许抢占）</a:t>
            </a:r>
            <a:endParaRPr lang="en-US" altLang="zh-CN" dirty="0"/>
          </a:p>
          <a:p>
            <a:pPr eaLnBrk="1" hangingPunct="1"/>
            <a:r>
              <a:rPr lang="en-US" altLang="zh-CN" dirty="0"/>
              <a:t>Can preempt </a:t>
            </a:r>
            <a:r>
              <a:rPr lang="en-US" altLang="zh-CN" dirty="0">
                <a:solidFill>
                  <a:srgbClr val="FF0000"/>
                </a:solidFill>
              </a:rPr>
              <a:t>CPU</a:t>
            </a:r>
            <a:r>
              <a:rPr lang="en-US" altLang="zh-CN" dirty="0"/>
              <a:t> by</a:t>
            </a:r>
          </a:p>
          <a:p>
            <a:pPr marL="857250" lvl="1" eaLnBrk="1" hangingPunct="1"/>
            <a:r>
              <a:rPr lang="en-US" altLang="zh-CN" dirty="0"/>
              <a:t>saving its state to thread control block and resuming later</a:t>
            </a:r>
            <a:r>
              <a:rPr lang="zh-CN" altLang="en-US" dirty="0"/>
              <a:t>（将其状态保存到线程控制块并稍后恢复）</a:t>
            </a:r>
            <a:endParaRPr lang="en-US" altLang="zh-CN" dirty="0"/>
          </a:p>
          <a:p>
            <a:pPr eaLnBrk="1" hangingPunct="1"/>
            <a:r>
              <a:rPr lang="en-US" altLang="zh-CN" dirty="0"/>
              <a:t>Can preempt </a:t>
            </a:r>
            <a:r>
              <a:rPr lang="en-US" altLang="zh-CN" dirty="0">
                <a:solidFill>
                  <a:srgbClr val="FF0000"/>
                </a:solidFill>
              </a:rPr>
              <a:t>memory</a:t>
            </a:r>
            <a:r>
              <a:rPr lang="en-US" altLang="zh-CN" dirty="0"/>
              <a:t> by </a:t>
            </a:r>
          </a:p>
          <a:p>
            <a:pPr marL="857250" lvl="1" eaLnBrk="1" hangingPunct="1"/>
            <a:r>
              <a:rPr lang="en-US" altLang="zh-CN" dirty="0"/>
              <a:t>swapping memory out to disk and loading it back later</a:t>
            </a:r>
            <a:r>
              <a:rPr lang="zh-CN" altLang="en-US" dirty="0"/>
              <a:t>（将内存交换到磁盘，稍后再将其加载回来）</a:t>
            </a:r>
            <a:endParaRPr lang="en-US" altLang="zh-CN" dirty="0"/>
          </a:p>
          <a:p>
            <a:pPr eaLnBrk="1" hangingPunct="1"/>
            <a:r>
              <a:rPr lang="en-US" altLang="zh-CN" dirty="0"/>
              <a:t>Can we preempt the holding of a </a:t>
            </a:r>
            <a:r>
              <a:rPr lang="en-US" altLang="zh-CN" dirty="0">
                <a:solidFill>
                  <a:srgbClr val="FF0000"/>
                </a:solidFill>
              </a:rPr>
              <a:t>lock</a:t>
            </a:r>
            <a:r>
              <a:rPr lang="en-US" altLang="zh-CN" dirty="0"/>
              <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idx="4294967295"/>
          </p:nvPr>
        </p:nvSpPr>
        <p:spPr>
          <a:xfrm>
            <a:off x="1181100" y="185738"/>
            <a:ext cx="7389813" cy="635000"/>
          </a:xfrm>
        </p:spPr>
        <p:txBody>
          <a:bodyPr vert="horz" wrap="square" lIns="0" tIns="0" rIns="0" bIns="0" anchor="t" anchorCtr="0"/>
          <a:lstStyle/>
          <a:p>
            <a:pPr eaLnBrk="1" hangingPunct="1"/>
            <a:r>
              <a:rPr lang="en-US" altLang="zh-CN" dirty="0"/>
              <a:t>Deadlock Prevention (Cont.)</a:t>
            </a:r>
          </a:p>
        </p:txBody>
      </p:sp>
      <p:sp>
        <p:nvSpPr>
          <p:cNvPr id="31747" name="Rectangle 3"/>
          <p:cNvSpPr>
            <a:spLocks noGrp="1"/>
          </p:cNvSpPr>
          <p:nvPr>
            <p:ph type="body" idx="4294967295"/>
          </p:nvPr>
        </p:nvSpPr>
        <p:spPr/>
        <p:txBody>
          <a:bodyPr vert="horz" wrap="square" lIns="0" tIns="0" rIns="0" bIns="0" anchor="t" anchorCtr="0"/>
          <a:lstStyle/>
          <a:p>
            <a:pPr eaLnBrk="1" hangingPunct="1"/>
            <a:r>
              <a:rPr lang="en-US" altLang="zh-CN" dirty="0"/>
              <a:t>Some resource cannot be preempted</a:t>
            </a:r>
          </a:p>
          <a:p>
            <a:pPr eaLnBrk="1" hangingPunct="1"/>
            <a:r>
              <a:rPr lang="en-US" altLang="zh-CN" dirty="0"/>
              <a:t>Consider a process given the printer</a:t>
            </a:r>
          </a:p>
          <a:p>
            <a:pPr marL="857250" lvl="1" eaLnBrk="1" hangingPunct="1"/>
            <a:r>
              <a:rPr lang="en-US" altLang="zh-CN" dirty="0"/>
              <a:t>halfway through its job</a:t>
            </a:r>
          </a:p>
          <a:p>
            <a:pPr marL="857250" lvl="1" eaLnBrk="1" hangingPunct="1"/>
            <a:r>
              <a:rPr lang="en-US" altLang="zh-CN" dirty="0"/>
              <a:t>now forcibly take away printer</a:t>
            </a:r>
          </a:p>
          <a:p>
            <a:pPr marL="857250" lvl="1" eaLnBrk="1" hangingPunct="1"/>
            <a:r>
              <a:rPr lang="en-US" altLang="zh-CN" dirty="0"/>
              <a:t>!!??</a:t>
            </a:r>
          </a:p>
        </p:txBody>
      </p:sp>
      <p:pic>
        <p:nvPicPr>
          <p:cNvPr id="31748" name="Picture 4"/>
          <p:cNvPicPr>
            <a:picLocks noChangeAspect="1"/>
          </p:cNvPicPr>
          <p:nvPr/>
        </p:nvPicPr>
        <p:blipFill>
          <a:blip r:embed="rId2"/>
          <a:stretch>
            <a:fillRect/>
          </a:stretch>
        </p:blipFill>
        <p:spPr>
          <a:xfrm>
            <a:off x="5300663" y="4314825"/>
            <a:ext cx="3268662" cy="2062163"/>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 (Cont.)</a:t>
            </a:r>
          </a:p>
        </p:txBody>
      </p:sp>
      <p:sp>
        <p:nvSpPr>
          <p:cNvPr id="32771" name="Rectangle 1027"/>
          <p:cNvSpPr>
            <a:spLocks noGrp="1"/>
          </p:cNvSpPr>
          <p:nvPr>
            <p:ph idx="1"/>
          </p:nvPr>
        </p:nvSpPr>
        <p:spPr>
          <a:xfrm>
            <a:off x="806450" y="1233488"/>
            <a:ext cx="7996238" cy="4446587"/>
          </a:xfrm>
        </p:spPr>
        <p:txBody>
          <a:bodyPr vert="horz" wrap="square" lIns="91440" tIns="45720" rIns="91440" bIns="45720" anchor="t" anchorCtr="0"/>
          <a:lstStyle/>
          <a:p>
            <a:r>
              <a:rPr lang="en-US" altLang="zh-CN" b="1" dirty="0"/>
              <a:t>Circular Wait</a:t>
            </a:r>
            <a:r>
              <a:rPr lang="en-US" altLang="zh-CN" dirty="0"/>
              <a:t> </a:t>
            </a:r>
            <a:r>
              <a:rPr lang="zh-CN" altLang="en-US" dirty="0"/>
              <a:t>（打破循环等待）</a:t>
            </a:r>
            <a:endParaRPr lang="en-US" altLang="zh-CN" dirty="0"/>
          </a:p>
          <a:p>
            <a:pPr lvl="1"/>
            <a:r>
              <a:rPr lang="en-US" altLang="zh-CN" dirty="0"/>
              <a:t> impose a total ordering of all resource types, and require that each process requests resources in an increasing order of enumeration</a:t>
            </a:r>
            <a:r>
              <a:rPr lang="zh-CN" altLang="en-US" dirty="0"/>
              <a:t>（强加所有资源类型的总顺序，并要求每个进程以递增的顺序请求资源）</a:t>
            </a:r>
            <a:endParaRPr lang="en-US" altLang="zh-CN" dirty="0"/>
          </a:p>
          <a:p>
            <a:pPr lvl="1"/>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Deadlock Prevention (Cont.)</a:t>
            </a:r>
            <a:endParaRPr lang="zh-CN" altLang="en-US"/>
          </a:p>
        </p:txBody>
      </p:sp>
      <p:sp>
        <p:nvSpPr>
          <p:cNvPr id="3" name="内容占位符 2"/>
          <p:cNvSpPr>
            <a:spLocks noGrp="1"/>
          </p:cNvSpPr>
          <p:nvPr>
            <p:ph idx="1"/>
          </p:nvPr>
        </p:nvSpPr>
        <p:spPr/>
        <p:txBody>
          <a:bodyPr/>
          <a:lstStyle/>
          <a:p>
            <a:r>
              <a:rPr lang="zh-CN" altLang="en-US">
                <a:ea typeface="宋体" panose="02010600030101010101" pitchFamily="2" charset="-122"/>
              </a:rPr>
              <a:t>我们定义了一个函数</a:t>
            </a:r>
            <a:r>
              <a:rPr lang="en-US" altLang="zh-CN">
                <a:ea typeface="宋体" panose="02010600030101010101" pitchFamily="2" charset="-122"/>
              </a:rPr>
              <a:t>F: R→N</a:t>
            </a:r>
            <a:r>
              <a:rPr lang="zh-CN" altLang="en-US">
                <a:ea typeface="宋体" panose="02010600030101010101" pitchFamily="2" charset="-122"/>
              </a:rPr>
              <a:t>，其中</a:t>
            </a:r>
            <a:r>
              <a:rPr lang="en-US" altLang="zh-CN">
                <a:ea typeface="宋体" panose="02010600030101010101" pitchFamily="2" charset="-122"/>
              </a:rPr>
              <a:t>N</a:t>
            </a:r>
            <a:r>
              <a:rPr lang="zh-CN" altLang="en-US">
                <a:ea typeface="宋体" panose="02010600030101010101" pitchFamily="2" charset="-122"/>
              </a:rPr>
              <a:t>是自然数的集合。例如：</a:t>
            </a:r>
          </a:p>
          <a:p>
            <a:pPr lvl="1"/>
            <a:r>
              <a:rPr lang="en-US" altLang="zh-CN">
                <a:ea typeface="宋体" panose="02010600030101010101" pitchFamily="2" charset="-122"/>
              </a:rPr>
              <a:t>F(</a:t>
            </a:r>
            <a:r>
              <a:rPr lang="zh-CN" altLang="en-US">
                <a:ea typeface="宋体" panose="02010600030101010101" pitchFamily="2" charset="-122"/>
              </a:rPr>
              <a:t>磁带驱动器</a:t>
            </a:r>
            <a:r>
              <a:rPr lang="en-US" altLang="zh-CN">
                <a:ea typeface="宋体" panose="02010600030101010101" pitchFamily="2" charset="-122"/>
              </a:rPr>
              <a:t>)=1</a:t>
            </a:r>
          </a:p>
          <a:p>
            <a:pPr lvl="1"/>
            <a:r>
              <a:rPr lang="en-US" altLang="zh-CN">
                <a:ea typeface="宋体" panose="02010600030101010101" pitchFamily="2" charset="-122"/>
              </a:rPr>
              <a:t>F(</a:t>
            </a:r>
            <a:r>
              <a:rPr lang="zh-CN" altLang="en-US">
                <a:ea typeface="宋体" panose="02010600030101010101" pitchFamily="2" charset="-122"/>
              </a:rPr>
              <a:t>磁盘驱动器</a:t>
            </a:r>
            <a:r>
              <a:rPr lang="en-US" altLang="zh-CN">
                <a:ea typeface="宋体" panose="02010600030101010101" pitchFamily="2" charset="-122"/>
              </a:rPr>
              <a:t>)=5</a:t>
            </a:r>
          </a:p>
          <a:p>
            <a:pPr lvl="1"/>
            <a:r>
              <a:rPr lang="en-US" altLang="zh-CN">
                <a:ea typeface="宋体" panose="02010600030101010101" pitchFamily="2" charset="-122"/>
              </a:rPr>
              <a:t>F(</a:t>
            </a:r>
            <a:r>
              <a:rPr lang="zh-CN" altLang="en-US">
                <a:ea typeface="宋体" panose="02010600030101010101" pitchFamily="2" charset="-122"/>
              </a:rPr>
              <a:t>打印机</a:t>
            </a:r>
            <a:r>
              <a:rPr lang="en-US" altLang="zh-CN">
                <a:ea typeface="宋体" panose="02010600030101010101" pitchFamily="2" charset="-122"/>
              </a:rPr>
              <a:t>)</a:t>
            </a:r>
            <a:r>
              <a:rPr lang="en-US" altLang="zh-CN">
                <a:ea typeface="宋体" panose="02010600030101010101" pitchFamily="2" charset="-122"/>
                <a:sym typeface="+mn-ea"/>
              </a:rPr>
              <a:t>=12</a:t>
            </a:r>
          </a:p>
          <a:p>
            <a:pPr lvl="0"/>
            <a:r>
              <a:rPr lang="zh-CN" altLang="en-US">
                <a:ea typeface="宋体" panose="02010600030101010101" pitchFamily="2" charset="-122"/>
              </a:rPr>
              <a:t>我们采用以下协议来预防死锁：每个进程只能按照递增迅速申请资源。即一个进程开始可申请任何数量的资源类型</a:t>
            </a:r>
            <a:r>
              <a:rPr lang="en-US" altLang="zh-CN">
                <a:ea typeface="宋体" panose="02010600030101010101" pitchFamily="2" charset="-122"/>
              </a:rPr>
              <a:t>Ri</a:t>
            </a:r>
            <a:r>
              <a:rPr lang="zh-CN" altLang="en-US">
                <a:ea typeface="宋体" panose="02010600030101010101" pitchFamily="2" charset="-122"/>
              </a:rPr>
              <a:t>的实例。之后，当且仅当</a:t>
            </a:r>
            <a:r>
              <a:rPr lang="en-US" altLang="zh-CN">
                <a:ea typeface="宋体" panose="02010600030101010101" pitchFamily="2" charset="-122"/>
              </a:rPr>
              <a:t>F(Rj)&gt;F(Ri)</a:t>
            </a:r>
            <a:r>
              <a:rPr lang="zh-CN" altLang="en-US">
                <a:ea typeface="宋体" panose="02010600030101010101" pitchFamily="2" charset="-122"/>
              </a:rPr>
              <a:t>时，该进程才可以申请资源类型</a:t>
            </a:r>
            <a:r>
              <a:rPr lang="en-US" altLang="zh-CN">
                <a:ea typeface="宋体" panose="02010600030101010101" pitchFamily="2" charset="-122"/>
              </a:rPr>
              <a:t>Rj</a:t>
            </a:r>
            <a:r>
              <a:rPr lang="zh-CN" altLang="en-US">
                <a:ea typeface="宋体" panose="02010600030101010101" pitchFamily="2" charset="-122"/>
              </a:rPr>
              <a:t>的实例。</a:t>
            </a:r>
          </a:p>
          <a:p>
            <a:pPr lvl="0"/>
            <a:r>
              <a:rPr lang="zh-CN" altLang="en-US">
                <a:ea typeface="宋体" panose="02010600030101010101" pitchFamily="2" charset="-122"/>
              </a:rPr>
              <a:t>也就是说，当一个进程申请资源类型</a:t>
            </a:r>
            <a:r>
              <a:rPr lang="en-US" altLang="zh-CN">
                <a:ea typeface="宋体" panose="02010600030101010101" pitchFamily="2" charset="-122"/>
              </a:rPr>
              <a:t>Rj</a:t>
            </a:r>
            <a:r>
              <a:rPr lang="zh-CN" altLang="en-US">
                <a:ea typeface="宋体" panose="02010600030101010101" pitchFamily="2" charset="-122"/>
              </a:rPr>
              <a:t>时，需要先释放所有满足</a:t>
            </a:r>
            <a:r>
              <a:rPr lang="en-US" altLang="zh-CN">
                <a:ea typeface="宋体" panose="02010600030101010101" pitchFamily="2" charset="-122"/>
              </a:rPr>
              <a:t>F(Ri)&gt;=</a:t>
            </a:r>
            <a:r>
              <a:rPr lang="en-US" altLang="zh-CN">
                <a:ea typeface="宋体" panose="02010600030101010101" pitchFamily="2" charset="-122"/>
                <a:sym typeface="+mn-ea"/>
              </a:rPr>
              <a:t>F(Rj)</a:t>
            </a:r>
            <a:r>
              <a:rPr lang="zh-CN" altLang="en-US">
                <a:ea typeface="宋体" panose="02010600030101010101" pitchFamily="2" charset="-122"/>
                <a:sym typeface="+mn-ea"/>
              </a:rPr>
              <a:t>的</a:t>
            </a:r>
            <a:r>
              <a:rPr lang="en-US" altLang="zh-CN">
                <a:ea typeface="宋体" panose="02010600030101010101" pitchFamily="2" charset="-122"/>
                <a:sym typeface="+mn-ea"/>
              </a:rPr>
              <a:t>Ri</a:t>
            </a:r>
            <a:r>
              <a:rPr lang="zh-CN" altLang="en-US">
                <a:ea typeface="宋体" panose="02010600030101010101" pitchFamily="2" charset="-12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Deadlock Prevention (Cont.)</a:t>
            </a:r>
            <a:endParaRPr lang="zh-CN" altLang="en-US"/>
          </a:p>
        </p:txBody>
      </p:sp>
      <p:sp>
        <p:nvSpPr>
          <p:cNvPr id="4" name="矩形 3"/>
          <p:cNvSpPr/>
          <p:nvPr/>
        </p:nvSpPr>
        <p:spPr>
          <a:xfrm>
            <a:off x="23977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R1</a:t>
            </a:r>
          </a:p>
        </p:txBody>
      </p:sp>
      <p:sp>
        <p:nvSpPr>
          <p:cNvPr id="5" name="矩形 4"/>
          <p:cNvSpPr/>
          <p:nvPr/>
        </p:nvSpPr>
        <p:spPr>
          <a:xfrm>
            <a:off x="33248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R2</a:t>
            </a:r>
          </a:p>
        </p:txBody>
      </p:sp>
      <p:sp>
        <p:nvSpPr>
          <p:cNvPr id="6" name="矩形 5"/>
          <p:cNvSpPr/>
          <p:nvPr/>
        </p:nvSpPr>
        <p:spPr>
          <a:xfrm>
            <a:off x="42519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R3</a:t>
            </a:r>
          </a:p>
        </p:txBody>
      </p:sp>
      <p:sp>
        <p:nvSpPr>
          <p:cNvPr id="7" name="矩形 6"/>
          <p:cNvSpPr/>
          <p:nvPr/>
        </p:nvSpPr>
        <p:spPr>
          <a:xfrm>
            <a:off x="61061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a:t>
            </a:r>
            <a:r>
              <a:rPr kumimoji="0" lang="en-US" altLang="en-US" sz="1800" b="0" i="0" u="none" strike="noStrike" cap="none" normalizeH="0" baseline="0">
                <a:ln>
                  <a:noFill/>
                </a:ln>
                <a:solidFill>
                  <a:schemeClr val="tx1"/>
                </a:solidFill>
                <a:effectLst/>
                <a:latin typeface="Verdana" panose="020B0604030504040204" pitchFamily="34" charset="0"/>
              </a:rPr>
              <a:t>n-1</a:t>
            </a:r>
          </a:p>
        </p:txBody>
      </p:sp>
      <p:sp>
        <p:nvSpPr>
          <p:cNvPr id="8" name="矩形 7"/>
          <p:cNvSpPr/>
          <p:nvPr/>
        </p:nvSpPr>
        <p:spPr>
          <a:xfrm>
            <a:off x="711962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a:t>
            </a:r>
            <a:r>
              <a:rPr kumimoji="0" lang="en-US" altLang="en-US" sz="1800" b="0" i="0" u="none" strike="noStrike" cap="none" normalizeH="0" baseline="0">
                <a:ln>
                  <a:noFill/>
                </a:ln>
                <a:solidFill>
                  <a:schemeClr val="tx1"/>
                </a:solidFill>
                <a:effectLst/>
                <a:latin typeface="Verdana" panose="020B0604030504040204" pitchFamily="34" charset="0"/>
              </a:rPr>
              <a:t>n</a:t>
            </a:r>
          </a:p>
        </p:txBody>
      </p:sp>
      <p:sp>
        <p:nvSpPr>
          <p:cNvPr id="9" name="文本框 8"/>
          <p:cNvSpPr txBox="1"/>
          <p:nvPr/>
        </p:nvSpPr>
        <p:spPr>
          <a:xfrm>
            <a:off x="1097280" y="3912235"/>
            <a:ext cx="1004570" cy="460375"/>
          </a:xfrm>
          <a:prstGeom prst="rect">
            <a:avLst/>
          </a:prstGeom>
          <a:noFill/>
        </p:spPr>
        <p:txBody>
          <a:bodyPr wrap="none" rtlCol="0" anchor="t">
            <a:spAutoFit/>
          </a:bodyPr>
          <a:lstStyle/>
          <a:p>
            <a:r>
              <a:rPr lang="zh-CN" altLang="en-US" sz="2400">
                <a:ea typeface="宋体" panose="02010600030101010101" pitchFamily="2" charset="-122"/>
                <a:sym typeface="+mn-ea"/>
              </a:rPr>
              <a:t>资源</a:t>
            </a:r>
            <a:r>
              <a:rPr lang="en-US" altLang="zh-CN" sz="2400">
                <a:ea typeface="宋体" panose="02010600030101010101" pitchFamily="2" charset="-122"/>
                <a:sym typeface="+mn-ea"/>
              </a:rPr>
              <a:t>R</a:t>
            </a:r>
          </a:p>
        </p:txBody>
      </p:sp>
      <p:sp>
        <p:nvSpPr>
          <p:cNvPr id="10" name="文本框 9"/>
          <p:cNvSpPr txBox="1"/>
          <p:nvPr/>
        </p:nvSpPr>
        <p:spPr>
          <a:xfrm>
            <a:off x="1176020" y="4603115"/>
            <a:ext cx="847090" cy="460375"/>
          </a:xfrm>
          <a:prstGeom prst="rect">
            <a:avLst/>
          </a:prstGeom>
          <a:noFill/>
        </p:spPr>
        <p:txBody>
          <a:bodyPr wrap="none" rtlCol="0" anchor="t">
            <a:spAutoFit/>
          </a:bodyPr>
          <a:lstStyle/>
          <a:p>
            <a:r>
              <a:rPr lang="en-US" altLang="zh-CN" sz="2400">
                <a:ea typeface="宋体" panose="02010600030101010101" pitchFamily="2" charset="-122"/>
                <a:sym typeface="+mn-ea"/>
              </a:rPr>
              <a:t>F(R)</a:t>
            </a:r>
          </a:p>
        </p:txBody>
      </p:sp>
      <p:sp>
        <p:nvSpPr>
          <p:cNvPr id="11" name="矩形 10"/>
          <p:cNvSpPr/>
          <p:nvPr/>
        </p:nvSpPr>
        <p:spPr>
          <a:xfrm>
            <a:off x="23977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1</a:t>
            </a:r>
          </a:p>
        </p:txBody>
      </p:sp>
      <p:sp>
        <p:nvSpPr>
          <p:cNvPr id="12" name="矩形 11"/>
          <p:cNvSpPr/>
          <p:nvPr/>
        </p:nvSpPr>
        <p:spPr>
          <a:xfrm>
            <a:off x="33248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2</a:t>
            </a:r>
          </a:p>
        </p:txBody>
      </p:sp>
      <p:sp>
        <p:nvSpPr>
          <p:cNvPr id="13" name="矩形 12"/>
          <p:cNvSpPr/>
          <p:nvPr/>
        </p:nvSpPr>
        <p:spPr>
          <a:xfrm>
            <a:off x="42519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3</a:t>
            </a:r>
          </a:p>
        </p:txBody>
      </p:sp>
      <p:sp>
        <p:nvSpPr>
          <p:cNvPr id="14" name="矩形 13"/>
          <p:cNvSpPr/>
          <p:nvPr/>
        </p:nvSpPr>
        <p:spPr>
          <a:xfrm>
            <a:off x="61061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n-1</a:t>
            </a:r>
          </a:p>
        </p:txBody>
      </p:sp>
      <p:sp>
        <p:nvSpPr>
          <p:cNvPr id="15" name="矩形 14"/>
          <p:cNvSpPr/>
          <p:nvPr/>
        </p:nvSpPr>
        <p:spPr>
          <a:xfrm>
            <a:off x="711962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n</a:t>
            </a:r>
          </a:p>
        </p:txBody>
      </p:sp>
      <p:sp>
        <p:nvSpPr>
          <p:cNvPr id="16" name="文本框 15"/>
          <p:cNvSpPr txBox="1"/>
          <p:nvPr/>
        </p:nvSpPr>
        <p:spPr>
          <a:xfrm>
            <a:off x="5074920" y="3884930"/>
            <a:ext cx="849630" cy="460375"/>
          </a:xfrm>
          <a:prstGeom prst="rect">
            <a:avLst/>
          </a:prstGeom>
          <a:noFill/>
        </p:spPr>
        <p:txBody>
          <a:bodyPr wrap="none" rtlCol="0" anchor="t">
            <a:spAutoFit/>
          </a:bodyPr>
          <a:lstStyle/>
          <a:p>
            <a:r>
              <a:rPr lang="en-US" sz="2400">
                <a:ea typeface="宋体" panose="02010600030101010101" pitchFamily="2" charset="-122"/>
                <a:sym typeface="+mn-ea"/>
              </a:rPr>
              <a:t>......</a:t>
            </a:r>
          </a:p>
        </p:txBody>
      </p:sp>
      <p:sp>
        <p:nvSpPr>
          <p:cNvPr id="17" name="文本框 16"/>
          <p:cNvSpPr txBox="1"/>
          <p:nvPr/>
        </p:nvSpPr>
        <p:spPr>
          <a:xfrm>
            <a:off x="5072380" y="4616450"/>
            <a:ext cx="849630" cy="460375"/>
          </a:xfrm>
          <a:prstGeom prst="rect">
            <a:avLst/>
          </a:prstGeom>
          <a:noFill/>
        </p:spPr>
        <p:txBody>
          <a:bodyPr wrap="none" rtlCol="0" anchor="t">
            <a:spAutoFit/>
          </a:bodyPr>
          <a:lstStyle/>
          <a:p>
            <a:r>
              <a:rPr lang="en-US" sz="2400">
                <a:ea typeface="宋体" panose="02010600030101010101" pitchFamily="2" charset="-122"/>
                <a:sym typeface="+mn-ea"/>
              </a:rPr>
              <a:t>......</a:t>
            </a:r>
          </a:p>
        </p:txBody>
      </p:sp>
      <p:sp>
        <p:nvSpPr>
          <p:cNvPr id="18" name="文本框 17"/>
          <p:cNvSpPr txBox="1"/>
          <p:nvPr/>
        </p:nvSpPr>
        <p:spPr>
          <a:xfrm>
            <a:off x="1097280" y="2367915"/>
            <a:ext cx="975995" cy="460375"/>
          </a:xfrm>
          <a:prstGeom prst="rect">
            <a:avLst/>
          </a:prstGeom>
          <a:noFill/>
        </p:spPr>
        <p:txBody>
          <a:bodyPr wrap="none" rtlCol="0" anchor="t">
            <a:spAutoFit/>
          </a:bodyPr>
          <a:lstStyle/>
          <a:p>
            <a:r>
              <a:rPr lang="zh-CN" altLang="en-US" sz="2400">
                <a:ea typeface="宋体" panose="02010600030101010101" pitchFamily="2" charset="-122"/>
                <a:sym typeface="+mn-ea"/>
              </a:rPr>
              <a:t>进程</a:t>
            </a:r>
            <a:r>
              <a:rPr lang="en-US" altLang="zh-CN" sz="2400">
                <a:ea typeface="宋体" panose="02010600030101010101" pitchFamily="2" charset="-122"/>
                <a:sym typeface="+mn-ea"/>
              </a:rPr>
              <a:t>P</a:t>
            </a:r>
          </a:p>
        </p:txBody>
      </p:sp>
      <p:sp>
        <p:nvSpPr>
          <p:cNvPr id="19" name="椭圆 18"/>
          <p:cNvSpPr/>
          <p:nvPr/>
        </p:nvSpPr>
        <p:spPr>
          <a:xfrm>
            <a:off x="2326005" y="226758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a:ln>
                  <a:noFill/>
                </a:ln>
                <a:solidFill>
                  <a:schemeClr val="bg1"/>
                </a:solidFill>
                <a:effectLst/>
                <a:latin typeface="Verdana" panose="020B0604030504040204" pitchFamily="34" charset="0"/>
              </a:rPr>
              <a:t>P1</a:t>
            </a:r>
          </a:p>
        </p:txBody>
      </p:sp>
      <p:sp>
        <p:nvSpPr>
          <p:cNvPr id="20" name="椭圆 19"/>
          <p:cNvSpPr/>
          <p:nvPr/>
        </p:nvSpPr>
        <p:spPr>
          <a:xfrm>
            <a:off x="3249295" y="227266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noAutofit/>
          </a:bodyPr>
          <a:lstStyle/>
          <a:p>
            <a:pPr marL="0" marR="0" indent="0" algn="ctr" defTabSz="914400" rtl="0" eaLnBrk="0" fontAlgn="base" latinLnBrk="0" hangingPunct="0">
              <a:lnSpc>
                <a:spcPct val="100000"/>
              </a:lnSpc>
              <a:spcBef>
                <a:spcPct val="0"/>
              </a:spcBef>
              <a:spcAft>
                <a:spcPct val="0"/>
              </a:spcAft>
              <a:buClrTx/>
              <a:buSzTx/>
              <a:buFontTx/>
              <a:buNone/>
            </a:pPr>
            <a:r>
              <a:rPr lang="en-US" altLang="en-US" sz="2800">
                <a:ln>
                  <a:noFill/>
                </a:ln>
                <a:solidFill>
                  <a:schemeClr val="bg1"/>
                </a:solidFill>
                <a:effectLst/>
                <a:sym typeface="+mn-ea"/>
              </a:rPr>
              <a:t>P2</a:t>
            </a:r>
          </a:p>
        </p:txBody>
      </p:sp>
      <p:sp>
        <p:nvSpPr>
          <p:cNvPr id="21" name="椭圆 20"/>
          <p:cNvSpPr/>
          <p:nvPr/>
        </p:nvSpPr>
        <p:spPr>
          <a:xfrm>
            <a:off x="6050280" y="226758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bg1"/>
                </a:solidFill>
                <a:effectLst/>
                <a:latin typeface="Verdana" panose="020B0604030504040204" pitchFamily="34" charset="0"/>
              </a:rPr>
              <a:t>P</a:t>
            </a:r>
            <a:r>
              <a:rPr kumimoji="0" lang="en-US" altLang="en-US" sz="2000" b="0" i="0" u="none" strike="noStrike" cap="none" normalizeH="0" baseline="0">
                <a:ln>
                  <a:noFill/>
                </a:ln>
                <a:solidFill>
                  <a:schemeClr val="bg1"/>
                </a:solidFill>
                <a:effectLst/>
                <a:latin typeface="Verdana" panose="020B0604030504040204" pitchFamily="34" charset="0"/>
              </a:rPr>
              <a:t>i-1</a:t>
            </a:r>
          </a:p>
        </p:txBody>
      </p:sp>
      <p:sp>
        <p:nvSpPr>
          <p:cNvPr id="22" name="椭圆 21"/>
          <p:cNvSpPr/>
          <p:nvPr/>
        </p:nvSpPr>
        <p:spPr>
          <a:xfrm>
            <a:off x="7011670" y="2263140"/>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noAutofit/>
          </a:bodyPr>
          <a:lstStyle/>
          <a:p>
            <a:pPr lvl="0" algn="ctr">
              <a:buClrTx/>
              <a:buSzTx/>
              <a:buFontTx/>
            </a:pPr>
            <a:r>
              <a:rPr lang="en-US" altLang="en-US" sz="2800">
                <a:ln>
                  <a:noFill/>
                </a:ln>
                <a:solidFill>
                  <a:schemeClr val="bg1"/>
                </a:solidFill>
                <a:effectLst/>
                <a:sym typeface="+mn-ea"/>
              </a:rPr>
              <a:t>P</a:t>
            </a:r>
            <a:r>
              <a:rPr lang="en-US" altLang="en-US" sz="2400">
                <a:ln>
                  <a:noFill/>
                </a:ln>
                <a:solidFill>
                  <a:schemeClr val="bg1"/>
                </a:solidFill>
                <a:effectLst/>
                <a:sym typeface="+mn-ea"/>
              </a:rPr>
              <a:t>i</a:t>
            </a:r>
          </a:p>
        </p:txBody>
      </p:sp>
      <p:sp>
        <p:nvSpPr>
          <p:cNvPr id="23" name="椭圆 22"/>
          <p:cNvSpPr/>
          <p:nvPr/>
        </p:nvSpPr>
        <p:spPr>
          <a:xfrm>
            <a:off x="4189730" y="227266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3200" b="0" i="0" u="none" strike="noStrike" cap="none" normalizeH="0" baseline="0">
                <a:ln>
                  <a:noFill/>
                </a:ln>
                <a:solidFill>
                  <a:schemeClr val="bg1"/>
                </a:solidFill>
                <a:effectLst/>
                <a:latin typeface="Verdana" panose="020B0604030504040204" pitchFamily="34" charset="0"/>
              </a:rPr>
              <a:t>P3</a:t>
            </a:r>
          </a:p>
        </p:txBody>
      </p:sp>
      <p:cxnSp>
        <p:nvCxnSpPr>
          <p:cNvPr id="24" name="直接箭头连接符 23"/>
          <p:cNvCxnSpPr/>
          <p:nvPr/>
        </p:nvCxnSpPr>
        <p:spPr>
          <a:xfrm>
            <a:off x="2665730" y="2927985"/>
            <a:ext cx="927100" cy="95694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5" name="直接箭头连接符 24"/>
          <p:cNvCxnSpPr/>
          <p:nvPr/>
        </p:nvCxnSpPr>
        <p:spPr>
          <a:xfrm>
            <a:off x="3588385" y="2927985"/>
            <a:ext cx="927100" cy="95694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6" name="直接箭头连接符 25"/>
          <p:cNvCxnSpPr>
            <a:endCxn id="7" idx="0"/>
          </p:cNvCxnSpPr>
          <p:nvPr/>
        </p:nvCxnSpPr>
        <p:spPr>
          <a:xfrm>
            <a:off x="4515485" y="2927985"/>
            <a:ext cx="1854200" cy="95694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8" name="直接箭头连接符 27"/>
          <p:cNvCxnSpPr>
            <a:stCxn id="21" idx="4"/>
          </p:cNvCxnSpPr>
          <p:nvPr/>
        </p:nvCxnSpPr>
        <p:spPr>
          <a:xfrm>
            <a:off x="6385560" y="2927985"/>
            <a:ext cx="971550" cy="92773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9" name="直接箭头连接符 28"/>
          <p:cNvCxnSpPr/>
          <p:nvPr/>
        </p:nvCxnSpPr>
        <p:spPr>
          <a:xfrm flipV="1">
            <a:off x="2645410" y="2889250"/>
            <a:ext cx="13970" cy="99568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0" name="直接箭头连接符 29"/>
          <p:cNvCxnSpPr/>
          <p:nvPr/>
        </p:nvCxnSpPr>
        <p:spPr>
          <a:xfrm flipV="1">
            <a:off x="3592830" y="2916555"/>
            <a:ext cx="14605" cy="96393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1" name="直接箭头连接符 30"/>
          <p:cNvCxnSpPr/>
          <p:nvPr/>
        </p:nvCxnSpPr>
        <p:spPr>
          <a:xfrm flipV="1">
            <a:off x="4518025" y="2924175"/>
            <a:ext cx="14605" cy="96393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2" name="直接箭头连接符 31"/>
          <p:cNvCxnSpPr>
            <a:endCxn id="21" idx="4"/>
          </p:cNvCxnSpPr>
          <p:nvPr/>
        </p:nvCxnSpPr>
        <p:spPr>
          <a:xfrm flipV="1">
            <a:off x="6358890" y="2927985"/>
            <a:ext cx="26670" cy="93535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3" name="直接箭头连接符 32"/>
          <p:cNvCxnSpPr/>
          <p:nvPr/>
        </p:nvCxnSpPr>
        <p:spPr>
          <a:xfrm flipV="1">
            <a:off x="7352030" y="2905125"/>
            <a:ext cx="14605" cy="96393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sp>
        <p:nvSpPr>
          <p:cNvPr id="34" name="文本框 33"/>
          <p:cNvSpPr txBox="1"/>
          <p:nvPr/>
        </p:nvSpPr>
        <p:spPr>
          <a:xfrm>
            <a:off x="5130165" y="2367280"/>
            <a:ext cx="849630" cy="460375"/>
          </a:xfrm>
          <a:prstGeom prst="rect">
            <a:avLst/>
          </a:prstGeom>
          <a:noFill/>
        </p:spPr>
        <p:txBody>
          <a:bodyPr wrap="none" rtlCol="0" anchor="t">
            <a:spAutoFit/>
          </a:bodyPr>
          <a:lstStyle/>
          <a:p>
            <a:r>
              <a:rPr lang="en-US" sz="2400">
                <a:ea typeface="宋体" panose="02010600030101010101" pitchFamily="2" charset="-122"/>
                <a:sym typeface="+mn-ea"/>
              </a:rPr>
              <a:t>......</a:t>
            </a:r>
          </a:p>
        </p:txBody>
      </p:sp>
      <p:grpSp>
        <p:nvGrpSpPr>
          <p:cNvPr id="39" name="组合 38"/>
          <p:cNvGrpSpPr/>
          <p:nvPr/>
        </p:nvGrpSpPr>
        <p:grpSpPr>
          <a:xfrm>
            <a:off x="2164080" y="1743075"/>
            <a:ext cx="5190490" cy="2390775"/>
            <a:chOff x="3408" y="2745"/>
            <a:chExt cx="8174" cy="3765"/>
          </a:xfrm>
        </p:grpSpPr>
        <p:cxnSp>
          <p:nvCxnSpPr>
            <p:cNvPr id="35" name="直接箭头连接符 34"/>
            <p:cNvCxnSpPr/>
            <p:nvPr/>
          </p:nvCxnSpPr>
          <p:spPr>
            <a:xfrm flipV="1">
              <a:off x="11555" y="2750"/>
              <a:ext cx="9" cy="821"/>
            </a:xfrm>
            <a:prstGeom prst="straightConnector1">
              <a:avLst/>
            </a:prstGeom>
            <a:solidFill>
              <a:schemeClr val="accent1"/>
            </a:solidFill>
            <a:ln w="28575" cap="flat" cmpd="sng" algn="ctr">
              <a:solidFill>
                <a:srgbClr val="FF0000"/>
              </a:solidFill>
              <a:prstDash val="sysDash"/>
              <a:round/>
              <a:headEnd type="none" w="med" len="med"/>
              <a:tailEnd type="none" w="med" len="med"/>
            </a:ln>
          </p:spPr>
        </p:cxnSp>
        <p:cxnSp>
          <p:nvCxnSpPr>
            <p:cNvPr id="36" name="直接箭头连接符 35"/>
            <p:cNvCxnSpPr/>
            <p:nvPr/>
          </p:nvCxnSpPr>
          <p:spPr>
            <a:xfrm flipV="1">
              <a:off x="3440" y="2745"/>
              <a:ext cx="8143" cy="15"/>
            </a:xfrm>
            <a:prstGeom prst="straightConnector1">
              <a:avLst/>
            </a:prstGeom>
            <a:solidFill>
              <a:schemeClr val="accent1"/>
            </a:solidFill>
            <a:ln w="28575" cap="flat" cmpd="sng" algn="ctr">
              <a:solidFill>
                <a:srgbClr val="FF0000"/>
              </a:solidFill>
              <a:prstDash val="sysDash"/>
              <a:round/>
              <a:headEnd type="none" w="med" len="med"/>
              <a:tailEnd type="none" w="med" len="med"/>
            </a:ln>
          </p:spPr>
        </p:cxnSp>
        <p:cxnSp>
          <p:nvCxnSpPr>
            <p:cNvPr id="37" name="直接箭头连接符 36"/>
            <p:cNvCxnSpPr/>
            <p:nvPr/>
          </p:nvCxnSpPr>
          <p:spPr>
            <a:xfrm flipV="1">
              <a:off x="3432" y="2760"/>
              <a:ext cx="17" cy="3750"/>
            </a:xfrm>
            <a:prstGeom prst="straightConnector1">
              <a:avLst/>
            </a:prstGeom>
            <a:solidFill>
              <a:schemeClr val="accent1"/>
            </a:solidFill>
            <a:ln w="28575" cap="flat" cmpd="sng" algn="ctr">
              <a:solidFill>
                <a:srgbClr val="FF0000"/>
              </a:solidFill>
              <a:prstDash val="sysDash"/>
              <a:round/>
              <a:headEnd type="none" w="med" len="med"/>
              <a:tailEnd type="none" w="med" len="med"/>
            </a:ln>
          </p:spPr>
        </p:cxnSp>
        <p:cxnSp>
          <p:nvCxnSpPr>
            <p:cNvPr id="38" name="直接箭头连接符 37"/>
            <p:cNvCxnSpPr>
              <a:stCxn id="4" idx="1"/>
            </p:cNvCxnSpPr>
            <p:nvPr/>
          </p:nvCxnSpPr>
          <p:spPr>
            <a:xfrm flipH="1" flipV="1">
              <a:off x="3408" y="6498"/>
              <a:ext cx="368" cy="4"/>
            </a:xfrm>
            <a:prstGeom prst="straightConnector1">
              <a:avLst/>
            </a:prstGeom>
            <a:solidFill>
              <a:schemeClr val="accent1"/>
            </a:solidFill>
            <a:ln w="28575" cap="flat" cmpd="sng" algn="ctr">
              <a:solidFill>
                <a:srgbClr val="FF0000"/>
              </a:solidFill>
              <a:prstDash val="sysDash"/>
              <a:round/>
              <a:headEnd type="arrow"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p:tgtEl>
                                          <p:spTgt spid="29"/>
                                        </p:tgtEl>
                                        <p:attrNameLst>
                                          <p:attrName>ppt_y</p:attrName>
                                        </p:attrNameLst>
                                      </p:cBhvr>
                                      <p:tavLst>
                                        <p:tav tm="0">
                                          <p:val>
                                            <p:strVal val="#ppt_y+#ppt_h*1.125000"/>
                                          </p:val>
                                        </p:tav>
                                        <p:tav tm="100000">
                                          <p:val>
                                            <p:strVal val="#ppt_y"/>
                                          </p:val>
                                        </p:tav>
                                      </p:tavLst>
                                    </p:anim>
                                    <p:animEffect transition="in" filter="wipe(up)">
                                      <p:cBhvr>
                                        <p:cTn id="40" dur="500"/>
                                        <p:tgtEl>
                                          <p:spTgt spid="29"/>
                                        </p:tgtEl>
                                      </p:cBhvr>
                                    </p:animEffect>
                                  </p:childTnLst>
                                </p:cTn>
                              </p:par>
                              <p:par>
                                <p:cTn id="41" presetID="12" presetClass="entr" presetSubtype="4"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p:tgtEl>
                                          <p:spTgt spid="30"/>
                                        </p:tgtEl>
                                        <p:attrNameLst>
                                          <p:attrName>ppt_y</p:attrName>
                                        </p:attrNameLst>
                                      </p:cBhvr>
                                      <p:tavLst>
                                        <p:tav tm="0">
                                          <p:val>
                                            <p:strVal val="#ppt_y+#ppt_h*1.125000"/>
                                          </p:val>
                                        </p:tav>
                                        <p:tav tm="100000">
                                          <p:val>
                                            <p:strVal val="#ppt_y"/>
                                          </p:val>
                                        </p:tav>
                                      </p:tavLst>
                                    </p:anim>
                                    <p:animEffect transition="in" filter="wipe(up)">
                                      <p:cBhvr>
                                        <p:cTn id="44" dur="500"/>
                                        <p:tgtEl>
                                          <p:spTgt spid="30"/>
                                        </p:tgtEl>
                                      </p:cBhvr>
                                    </p:animEffect>
                                  </p:childTnLst>
                                </p:cTn>
                              </p:par>
                              <p:par>
                                <p:cTn id="45" presetID="12" presetClass="entr" presetSubtype="4"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p:tgtEl>
                                          <p:spTgt spid="31"/>
                                        </p:tgtEl>
                                        <p:attrNameLst>
                                          <p:attrName>ppt_y</p:attrName>
                                        </p:attrNameLst>
                                      </p:cBhvr>
                                      <p:tavLst>
                                        <p:tav tm="0">
                                          <p:val>
                                            <p:strVal val="#ppt_y+#ppt_h*1.125000"/>
                                          </p:val>
                                        </p:tav>
                                        <p:tav tm="100000">
                                          <p:val>
                                            <p:strVal val="#ppt_y"/>
                                          </p:val>
                                        </p:tav>
                                      </p:tavLst>
                                    </p:anim>
                                    <p:animEffect transition="in" filter="wipe(up)">
                                      <p:cBhvr>
                                        <p:cTn id="48" dur="500"/>
                                        <p:tgtEl>
                                          <p:spTgt spid="31"/>
                                        </p:tgtEl>
                                      </p:cBhvr>
                                    </p:animEffect>
                                  </p:childTnLst>
                                </p:cTn>
                              </p:par>
                              <p:par>
                                <p:cTn id="49" presetID="12" presetClass="entr" presetSubtype="4"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 calcmode="lin" valueType="num">
                                      <p:cBhvr additive="base">
                                        <p:cTn id="51" dur="500"/>
                                        <p:tgtEl>
                                          <p:spTgt spid="32"/>
                                        </p:tgtEl>
                                        <p:attrNameLst>
                                          <p:attrName>ppt_y</p:attrName>
                                        </p:attrNameLst>
                                      </p:cBhvr>
                                      <p:tavLst>
                                        <p:tav tm="0">
                                          <p:val>
                                            <p:strVal val="#ppt_y+#ppt_h*1.125000"/>
                                          </p:val>
                                        </p:tav>
                                        <p:tav tm="100000">
                                          <p:val>
                                            <p:strVal val="#ppt_y"/>
                                          </p:val>
                                        </p:tav>
                                      </p:tavLst>
                                    </p:anim>
                                    <p:animEffect transition="in" filter="wipe(up)">
                                      <p:cBhvr>
                                        <p:cTn id="52" dur="500"/>
                                        <p:tgtEl>
                                          <p:spTgt spid="32"/>
                                        </p:tgtEl>
                                      </p:cBhvr>
                                    </p:animEffect>
                                  </p:childTnLst>
                                </p:cTn>
                              </p:par>
                              <p:par>
                                <p:cTn id="53" presetID="12" presetClass="entr" presetSubtype="4"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anim calcmode="lin" valueType="num">
                                      <p:cBhvr additive="base">
                                        <p:cTn id="55" dur="500"/>
                                        <p:tgtEl>
                                          <p:spTgt spid="33"/>
                                        </p:tgtEl>
                                        <p:attrNameLst>
                                          <p:attrName>ppt_y</p:attrName>
                                        </p:attrNameLst>
                                      </p:cBhvr>
                                      <p:tavLst>
                                        <p:tav tm="0">
                                          <p:val>
                                            <p:strVal val="#ppt_y+#ppt_h*1.125000"/>
                                          </p:val>
                                        </p:tav>
                                        <p:tav tm="100000">
                                          <p:val>
                                            <p:strVal val="#ppt_y"/>
                                          </p:val>
                                        </p:tav>
                                      </p:tavLst>
                                    </p:anim>
                                    <p:animEffect transition="in" filter="wipe(up)">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p:tgtEl>
                                          <p:spTgt spid="24"/>
                                        </p:tgtEl>
                                        <p:attrNameLst>
                                          <p:attrName>ppt_y</p:attrName>
                                        </p:attrNameLst>
                                      </p:cBhvr>
                                      <p:tavLst>
                                        <p:tav tm="0">
                                          <p:val>
                                            <p:strVal val="#ppt_y+#ppt_h*1.125000"/>
                                          </p:val>
                                        </p:tav>
                                        <p:tav tm="100000">
                                          <p:val>
                                            <p:strVal val="#ppt_y"/>
                                          </p:val>
                                        </p:tav>
                                      </p:tavLst>
                                    </p:anim>
                                    <p:animEffect transition="in" filter="wipe(up)">
                                      <p:cBhvr>
                                        <p:cTn id="62" dur="500"/>
                                        <p:tgtEl>
                                          <p:spTgt spid="24"/>
                                        </p:tgtEl>
                                      </p:cBhvr>
                                    </p:animEffect>
                                  </p:childTnLst>
                                </p:cTn>
                              </p:par>
                              <p:par>
                                <p:cTn id="63" presetID="12" presetClass="entr" presetSubtype="4"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p:tgtEl>
                                          <p:spTgt spid="25"/>
                                        </p:tgtEl>
                                        <p:attrNameLst>
                                          <p:attrName>ppt_y</p:attrName>
                                        </p:attrNameLst>
                                      </p:cBhvr>
                                      <p:tavLst>
                                        <p:tav tm="0">
                                          <p:val>
                                            <p:strVal val="#ppt_y+#ppt_h*1.125000"/>
                                          </p:val>
                                        </p:tav>
                                        <p:tav tm="100000">
                                          <p:val>
                                            <p:strVal val="#ppt_y"/>
                                          </p:val>
                                        </p:tav>
                                      </p:tavLst>
                                    </p:anim>
                                    <p:animEffect transition="in" filter="wipe(up)">
                                      <p:cBhvr>
                                        <p:cTn id="66" dur="500"/>
                                        <p:tgtEl>
                                          <p:spTgt spid="25"/>
                                        </p:tgtEl>
                                      </p:cBhvr>
                                    </p:animEffect>
                                  </p:childTnLst>
                                </p:cTn>
                              </p:par>
                              <p:par>
                                <p:cTn id="67" presetID="12" presetClass="entr" presetSubtype="4"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p:tgtEl>
                                          <p:spTgt spid="26"/>
                                        </p:tgtEl>
                                        <p:attrNameLst>
                                          <p:attrName>ppt_y</p:attrName>
                                        </p:attrNameLst>
                                      </p:cBhvr>
                                      <p:tavLst>
                                        <p:tav tm="0">
                                          <p:val>
                                            <p:strVal val="#ppt_y+#ppt_h*1.125000"/>
                                          </p:val>
                                        </p:tav>
                                        <p:tav tm="100000">
                                          <p:val>
                                            <p:strVal val="#ppt_y"/>
                                          </p:val>
                                        </p:tav>
                                      </p:tavLst>
                                    </p:anim>
                                    <p:animEffect transition="in" filter="wipe(up)">
                                      <p:cBhvr>
                                        <p:cTn id="70" dur="500"/>
                                        <p:tgtEl>
                                          <p:spTgt spid="26"/>
                                        </p:tgtEl>
                                      </p:cBhvr>
                                    </p:animEffect>
                                  </p:childTnLst>
                                </p:cTn>
                              </p:par>
                              <p:par>
                                <p:cTn id="71" presetID="12" presetClass="entr" presetSubtype="4"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 calcmode="lin" valueType="num">
                                      <p:cBhvr additive="base">
                                        <p:cTn id="73" dur="500"/>
                                        <p:tgtEl>
                                          <p:spTgt spid="28"/>
                                        </p:tgtEl>
                                        <p:attrNameLst>
                                          <p:attrName>ppt_y</p:attrName>
                                        </p:attrNameLst>
                                      </p:cBhvr>
                                      <p:tavLst>
                                        <p:tav tm="0">
                                          <p:val>
                                            <p:strVal val="#ppt_y+#ppt_h*1.125000"/>
                                          </p:val>
                                        </p:tav>
                                        <p:tav tm="100000">
                                          <p:val>
                                            <p:strVal val="#ppt_y"/>
                                          </p:val>
                                        </p:tav>
                                      </p:tavLst>
                                    </p:anim>
                                    <p:animEffect transition="in" filter="wipe(up)">
                                      <p:cBhvr>
                                        <p:cTn id="74" dur="500"/>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7" grpId="0"/>
      <p:bldP spid="17" grpId="1"/>
      <p:bldP spid="18" grpId="0"/>
      <p:bldP spid="18" grpId="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34" grpId="0"/>
      <p:bldP spid="34"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Deadlock Prevention </a:t>
            </a:r>
            <a:endParaRPr lang="zh-CN" altLang="en-US"/>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Possible side effects</a:t>
            </a:r>
            <a:r>
              <a:rPr lang="zh-CN" altLang="en-US" dirty="0">
                <a:solidFill>
                  <a:schemeClr val="tx1"/>
                </a:solidFill>
                <a:latin typeface="Helvetica" pitchFamily="34" charset="0"/>
                <a:sym typeface="+mn-ea"/>
              </a:rPr>
              <a:t>（副作用）</a:t>
            </a:r>
            <a:r>
              <a:rPr lang="en-US" altLang="zh-CN" dirty="0">
                <a:solidFill>
                  <a:schemeClr val="tx1"/>
                </a:solidFill>
                <a:latin typeface="Helvetica" pitchFamily="34" charset="0"/>
                <a:sym typeface="+mn-ea"/>
              </a:rPr>
              <a:t>:</a:t>
            </a:r>
            <a:endParaRPr lang="en-US" altLang="zh-CN" dirty="0">
              <a:solidFill>
                <a:schemeClr val="tx1"/>
              </a:solidFill>
              <a:latin typeface="Helvetica" pitchFamily="34" charset="0"/>
            </a:endParaRPr>
          </a:p>
          <a:p>
            <a:pPr lvl="1">
              <a:spcBef>
                <a:spcPct val="50000"/>
              </a:spcBef>
              <a:buFont typeface="Arial" panose="020B0604020202020204" pitchFamily="34" charset="0"/>
              <a:buChar char="•"/>
            </a:pPr>
            <a:r>
              <a:rPr lang="en-US" altLang="zh-CN" dirty="0">
                <a:solidFill>
                  <a:schemeClr val="tx1"/>
                </a:solidFill>
                <a:latin typeface="Helvetica" pitchFamily="34" charset="0"/>
                <a:sym typeface="+mn-ea"/>
              </a:rPr>
              <a:t>Low device utilization </a:t>
            </a:r>
            <a:r>
              <a:rPr lang="zh-CN" altLang="en-US" dirty="0">
                <a:solidFill>
                  <a:schemeClr val="tx1"/>
                </a:solidFill>
                <a:latin typeface="Helvetica" pitchFamily="34" charset="0"/>
                <a:sym typeface="+mn-ea"/>
              </a:rPr>
              <a:t>（设备利用率低）</a:t>
            </a:r>
            <a:endParaRPr lang="en-US" altLang="zh-CN" dirty="0">
              <a:solidFill>
                <a:schemeClr val="tx1"/>
              </a:solidFill>
              <a:latin typeface="Helvetica" pitchFamily="34" charset="0"/>
            </a:endParaRPr>
          </a:p>
          <a:p>
            <a:pPr lvl="1">
              <a:spcBef>
                <a:spcPct val="50000"/>
              </a:spcBef>
              <a:buFont typeface="Arial" panose="020B0604020202020204" pitchFamily="34" charset="0"/>
              <a:buChar char="•"/>
            </a:pPr>
            <a:r>
              <a:rPr lang="en-US" altLang="zh-CN" dirty="0">
                <a:solidFill>
                  <a:schemeClr val="tx1"/>
                </a:solidFill>
                <a:latin typeface="Helvetica" pitchFamily="34" charset="0"/>
                <a:sym typeface="+mn-ea"/>
              </a:rPr>
              <a:t>Reduced system throughput</a:t>
            </a:r>
            <a:r>
              <a:rPr lang="zh-CN" altLang="en-US" dirty="0">
                <a:solidFill>
                  <a:schemeClr val="tx1"/>
                </a:solidFill>
                <a:latin typeface="Helvetica" pitchFamily="34" charset="0"/>
                <a:sym typeface="+mn-ea"/>
              </a:rPr>
              <a:t>（系统吞吐量低）</a:t>
            </a:r>
            <a:endParaRPr lang="en-US" altLang="zh-CN" dirty="0">
              <a:solidFill>
                <a:schemeClr val="tx1"/>
              </a:solidFill>
              <a:latin typeface="Helvetica" pitchFamily="34" charset="0"/>
              <a:sym typeface="+mn-ea"/>
            </a:endParaRPr>
          </a:p>
          <a:p>
            <a:pPr marL="0" indent="0">
              <a:buNone/>
            </a:pPr>
            <a:endParaRPr lang="en-US" altLang="zh-CN" dirty="0">
              <a:solidFill>
                <a:schemeClr val="tx1"/>
              </a:solidFill>
              <a:latin typeface="Helvetica"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环路条件是死锁发生的（  ）</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与死锁无关</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必要条件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充分条件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充要条件</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411617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资源静态分配可以预防死锁的发生，这是由于它使死锁中四个条件中的（  ）不成立</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互斥条件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B </a:t>
            </a:r>
            <a:r>
              <a:rPr lang="zh-CN" altLang="en-US" dirty="0">
                <a:solidFill>
                  <a:schemeClr val="tx1"/>
                </a:solidFill>
                <a:latin typeface="Helvetica" pitchFamily="34" charset="0"/>
                <a:sym typeface="+mn-ea"/>
              </a:rPr>
              <a:t>请求和保持条件</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非抢占条件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D </a:t>
            </a:r>
            <a:r>
              <a:rPr lang="zh-CN" altLang="en-US" dirty="0">
                <a:solidFill>
                  <a:schemeClr val="tx1"/>
                </a:solidFill>
                <a:latin typeface="Helvetica" pitchFamily="34" charset="0"/>
                <a:sym typeface="+mn-ea"/>
              </a:rPr>
              <a:t>环路等待条件</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67109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有序分配破坏的是死锁必要条件中的（  ）</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互斥条件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请求和保持条件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非抢占条件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环路等待条件</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D</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91904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黑体" panose="02010609060101010101" charset="-122"/>
                <a:ea typeface="黑体" panose="02010609060101010101" charset="-122"/>
                <a:cs typeface="黑体" panose="02010609060101010101" charset="-122"/>
              </a:rPr>
              <a:t>死锁预防</a:t>
            </a:r>
            <a:r>
              <a:rPr lang="en-US" altLang="zh-CN">
                <a:latin typeface="黑体" panose="02010609060101010101" charset="-122"/>
                <a:ea typeface="黑体" panose="02010609060101010101" charset="-122"/>
                <a:cs typeface="黑体" panose="02010609060101010101" charset="-122"/>
              </a:rPr>
              <a:t> vs. </a:t>
            </a:r>
            <a:r>
              <a:rPr lang="zh-CN" altLang="en-US">
                <a:latin typeface="黑体" panose="02010609060101010101" charset="-122"/>
                <a:ea typeface="黑体" panose="02010609060101010101" charset="-122"/>
                <a:cs typeface="黑体" panose="02010609060101010101" charset="-122"/>
              </a:rPr>
              <a:t>死锁避免</a:t>
            </a:r>
          </a:p>
        </p:txBody>
      </p:sp>
      <p:sp>
        <p:nvSpPr>
          <p:cNvPr id="3" name="内容占位符 2"/>
          <p:cNvSpPr>
            <a:spLocks noGrp="1"/>
          </p:cNvSpPr>
          <p:nvPr>
            <p:ph idx="1"/>
          </p:nvPr>
        </p:nvSpPr>
        <p:spPr/>
        <p:txBody>
          <a:bodyPr/>
          <a:lstStyle/>
          <a:p>
            <a:r>
              <a:rPr lang="zh-CN" altLang="en-US" dirty="0">
                <a:ea typeface="宋体" panose="02010600030101010101" pitchFamily="2" charset="-122"/>
              </a:rPr>
              <a:t>死锁预防：通过限制如何申请资源来预防死锁</a:t>
            </a:r>
          </a:p>
          <a:p>
            <a:r>
              <a:rPr lang="zh-CN" altLang="en-US" dirty="0">
                <a:ea typeface="宋体" panose="02010600030101010101" pitchFamily="2" charset="-122"/>
              </a:rPr>
              <a:t>死锁避免：</a:t>
            </a:r>
            <a:r>
              <a:rPr lang="zh-CN" altLang="en-US" b="1" dirty="0">
                <a:solidFill>
                  <a:srgbClr val="FF0000"/>
                </a:solidFill>
                <a:ea typeface="宋体" panose="02010600030101010101" pitchFamily="2" charset="-122"/>
              </a:rPr>
              <a:t>动态地</a:t>
            </a:r>
            <a:r>
              <a:rPr lang="zh-CN" altLang="en-US" dirty="0">
                <a:ea typeface="宋体" panose="02010600030101010101" pitchFamily="2" charset="-122"/>
              </a:rPr>
              <a:t>检查资源分配状态，以便确保</a:t>
            </a:r>
            <a:r>
              <a:rPr lang="zh-CN" altLang="en-US" b="1" dirty="0">
                <a:solidFill>
                  <a:srgbClr val="FF0000"/>
                </a:solidFill>
                <a:ea typeface="宋体" panose="02010600030101010101" pitchFamily="2" charset="-122"/>
              </a:rPr>
              <a:t>循环等待</a:t>
            </a:r>
            <a:r>
              <a:rPr lang="zh-CN" altLang="en-US" dirty="0">
                <a:ea typeface="宋体" panose="02010600030101010101" pitchFamily="2" charset="-122"/>
              </a:rPr>
              <a:t>条件不能成立。</a:t>
            </a:r>
          </a:p>
          <a:p>
            <a:pPr lvl="1"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系统在进行资源分配之前，先计算资源分配的安全性</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2"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安全</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分配资源给进程</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2"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不安全</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进程等待</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lvl="1" eaLnBrk="1" hangingPunct="1">
              <a:spcBef>
                <a:spcPct val="0"/>
              </a:spcBef>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安全状态</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：如果系统能按照一定顺序为每个进程分配资源（不超过它的最大需求），仍然避免死锁，那么系统的状态就是安全的。</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lvl="2"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只有存在一个</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安全序列</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，系统才处于安全状态</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lvl="1" eaLnBrk="1" hangingPunct="1">
              <a:spcBef>
                <a:spcPct val="0"/>
              </a:spcBef>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不安全状态：</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如果没有这样的序列存在，那么系统状态就是非安全的</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endParaRPr lang="zh-CN" altLang="zh-CN" dirty="0"/>
          </a:p>
          <a:p>
            <a:pPr lvl="1"/>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b" anchorCtr="0"/>
          <a:lstStyle/>
          <a:p>
            <a:pPr eaLnBrk="1" hangingPunct="1"/>
            <a:r>
              <a:rPr lang="en-US" altLang="zh-CN" dirty="0"/>
              <a:t>Safe State</a:t>
            </a:r>
          </a:p>
        </p:txBody>
      </p:sp>
      <p:sp>
        <p:nvSpPr>
          <p:cNvPr id="35843" name="Rectangle 3"/>
          <p:cNvSpPr>
            <a:spLocks noGrp="1"/>
          </p:cNvSpPr>
          <p:nvPr>
            <p:ph idx="1"/>
          </p:nvPr>
        </p:nvSpPr>
        <p:spPr>
          <a:xfrm>
            <a:off x="232093" y="1109663"/>
            <a:ext cx="8678862" cy="4638675"/>
          </a:xfrm>
        </p:spPr>
        <p:txBody>
          <a:bodyPr vert="horz" wrap="square" lIns="91440" tIns="45720" rIns="91440" bIns="45720" anchor="t" anchorCtr="0"/>
          <a:lstStyle/>
          <a:p>
            <a:r>
              <a:rPr lang="en-US" altLang="zh-CN" dirty="0"/>
              <a:t>System is in </a:t>
            </a:r>
            <a:r>
              <a:rPr lang="en-US" altLang="zh-CN" dirty="0">
                <a:solidFill>
                  <a:srgbClr val="FF0000"/>
                </a:solidFill>
              </a:rPr>
              <a:t>safe state</a:t>
            </a:r>
            <a:r>
              <a:rPr lang="en-US" altLang="zh-CN" dirty="0">
                <a:solidFill>
                  <a:srgbClr val="3366FF"/>
                </a:solidFill>
              </a:rPr>
              <a:t> </a:t>
            </a:r>
            <a:r>
              <a:rPr lang="en-US" altLang="zh-CN" dirty="0"/>
              <a:t>if there</a:t>
            </a:r>
            <a:r>
              <a:rPr lang="en-US" altLang="zh-CN" dirty="0">
                <a:solidFill>
                  <a:srgbClr val="FF0000"/>
                </a:solidFill>
              </a:rPr>
              <a:t> exists a sequence</a:t>
            </a:r>
            <a:r>
              <a:rPr lang="en-US" altLang="zh-CN" dirty="0"/>
              <a:t> &lt;</a:t>
            </a:r>
            <a:r>
              <a:rPr lang="en-US" altLang="zh-CN" i="1" dirty="0"/>
              <a:t>P</a:t>
            </a:r>
            <a:r>
              <a:rPr lang="en-US" altLang="zh-CN" i="1" baseline="-25000" dirty="0"/>
              <a:t>1</a:t>
            </a:r>
            <a:r>
              <a:rPr lang="en-US" altLang="zh-CN" i="1" dirty="0"/>
              <a:t>, P</a:t>
            </a:r>
            <a:r>
              <a:rPr lang="en-US" altLang="zh-CN" i="1" baseline="-25000" dirty="0"/>
              <a:t>2</a:t>
            </a:r>
            <a:r>
              <a:rPr lang="en-US" altLang="zh-CN" i="1" dirty="0"/>
              <a:t>, …, P</a:t>
            </a:r>
            <a:r>
              <a:rPr lang="en-US" altLang="zh-CN" i="1" baseline="-25000" dirty="0"/>
              <a:t>n</a:t>
            </a:r>
            <a:r>
              <a:rPr lang="en-US" altLang="zh-CN" dirty="0"/>
              <a:t>&gt; of ALL the  processes  in the systems such that  for each P</a:t>
            </a:r>
            <a:r>
              <a:rPr lang="en-US" altLang="zh-CN" baseline="-25000" dirty="0"/>
              <a:t>i</a:t>
            </a:r>
            <a:r>
              <a:rPr lang="en-US" altLang="zh-CN" dirty="0"/>
              <a:t>, the resources that P</a:t>
            </a:r>
            <a:r>
              <a:rPr lang="en-US" altLang="zh-CN" baseline="-25000" dirty="0"/>
              <a:t>i </a:t>
            </a:r>
            <a:r>
              <a:rPr lang="en-US" altLang="zh-CN" dirty="0"/>
              <a:t>can still request can be satisfied by currently available resources + resources held by all the </a:t>
            </a:r>
            <a:r>
              <a:rPr lang="en-US" altLang="zh-CN" i="1" dirty="0"/>
              <a:t>P</a:t>
            </a:r>
            <a:r>
              <a:rPr lang="en-US" altLang="zh-CN" i="1" baseline="-25000" dirty="0"/>
              <a:t>j</a:t>
            </a:r>
            <a:r>
              <a:rPr lang="en-US" altLang="zh-CN" dirty="0"/>
              <a:t>, with</a:t>
            </a:r>
            <a:r>
              <a:rPr lang="en-US" altLang="zh-CN" i="1" dirty="0"/>
              <a:t> j </a:t>
            </a:r>
            <a:r>
              <a:rPr lang="en-US" altLang="zh-CN" dirty="0"/>
              <a:t>&lt; </a:t>
            </a:r>
            <a:r>
              <a:rPr lang="en-US" altLang="zh-CN" i="1" dirty="0"/>
              <a:t>I</a:t>
            </a:r>
          </a:p>
          <a:p>
            <a:r>
              <a:rPr lang="zh-CN" altLang="en-US" i="1" dirty="0"/>
              <a:t>（</a:t>
            </a:r>
            <a:r>
              <a:rPr lang="zh-CN" altLang="en-US" dirty="0"/>
              <a:t>如果系统中存在一个序列</a:t>
            </a:r>
            <a:r>
              <a:rPr lang="en-US" altLang="zh-CN" dirty="0"/>
              <a:t>&lt;P1, P2</a:t>
            </a:r>
            <a:r>
              <a:rPr lang="zh-CN" altLang="en-US" dirty="0"/>
              <a:t>，</a:t>
            </a:r>
            <a:r>
              <a:rPr lang="en-US" altLang="zh-CN" dirty="0"/>
              <a:t>…</a:t>
            </a:r>
            <a:r>
              <a:rPr lang="zh-CN" altLang="en-US" dirty="0"/>
              <a:t>，</a:t>
            </a:r>
            <a:r>
              <a:rPr lang="en-US" altLang="zh-CN" dirty="0" err="1"/>
              <a:t>Pn</a:t>
            </a:r>
            <a:r>
              <a:rPr lang="en-US" altLang="zh-CN" dirty="0"/>
              <a:t>&gt;</a:t>
            </a:r>
            <a:r>
              <a:rPr lang="zh-CN" altLang="en-US" dirty="0"/>
              <a:t>，使得对于每个</a:t>
            </a:r>
            <a:r>
              <a:rPr lang="en-US" altLang="zh-CN" dirty="0"/>
              <a:t>Pi</a:t>
            </a:r>
            <a:r>
              <a:rPr lang="zh-CN" altLang="en-US" dirty="0"/>
              <a:t>， </a:t>
            </a:r>
            <a:r>
              <a:rPr lang="en-US" altLang="zh-CN" dirty="0"/>
              <a:t>Pi</a:t>
            </a:r>
            <a:r>
              <a:rPr lang="zh-CN" altLang="en-US" dirty="0"/>
              <a:t>仍然可以请求的资源可以由</a:t>
            </a:r>
            <a:r>
              <a:rPr lang="zh-CN" altLang="en-US" dirty="0">
                <a:solidFill>
                  <a:srgbClr val="FF0000"/>
                </a:solidFill>
              </a:rPr>
              <a:t>当前可用资源</a:t>
            </a:r>
            <a:r>
              <a:rPr lang="en-US" altLang="zh-CN" dirty="0">
                <a:solidFill>
                  <a:srgbClr val="FF0000"/>
                </a:solidFill>
              </a:rPr>
              <a:t>+</a:t>
            </a:r>
            <a:r>
              <a:rPr lang="zh-CN" altLang="en-US" dirty="0">
                <a:solidFill>
                  <a:srgbClr val="FF0000"/>
                </a:solidFill>
              </a:rPr>
              <a:t>所有</a:t>
            </a:r>
            <a:r>
              <a:rPr lang="en-US" altLang="zh-CN" dirty="0" err="1">
                <a:solidFill>
                  <a:srgbClr val="FF0000"/>
                </a:solidFill>
              </a:rPr>
              <a:t>Pj</a:t>
            </a:r>
            <a:r>
              <a:rPr lang="zh-CN" altLang="en-US" dirty="0">
                <a:solidFill>
                  <a:srgbClr val="FF0000"/>
                </a:solidFill>
              </a:rPr>
              <a:t>持有的资源</a:t>
            </a:r>
            <a:r>
              <a:rPr lang="zh-CN" altLang="en-US" dirty="0"/>
              <a:t>来满足，且</a:t>
            </a:r>
            <a:r>
              <a:rPr lang="en-US" altLang="zh-CN" dirty="0"/>
              <a:t>j &lt; </a:t>
            </a:r>
            <a:r>
              <a:rPr lang="en-US" altLang="zh-CN" dirty="0" err="1"/>
              <a:t>i</a:t>
            </a:r>
            <a:r>
              <a:rPr lang="zh-CN" altLang="en-US" dirty="0"/>
              <a:t>，则系统处于安全状态</a:t>
            </a:r>
            <a:r>
              <a:rPr lang="zh-CN" altLang="en-US" i="1" dirty="0"/>
              <a:t>）</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b" anchorCtr="0"/>
          <a:lstStyle/>
          <a:p>
            <a:pPr eaLnBrk="1" hangingPunct="1"/>
            <a:r>
              <a:rPr lang="en-US" altLang="zh-CN" dirty="0"/>
              <a:t>Safe State</a:t>
            </a:r>
          </a:p>
        </p:txBody>
      </p:sp>
      <p:sp>
        <p:nvSpPr>
          <p:cNvPr id="35843" name="Rectangle 3"/>
          <p:cNvSpPr>
            <a:spLocks noGrp="1"/>
          </p:cNvSpPr>
          <p:nvPr>
            <p:ph idx="1"/>
          </p:nvPr>
        </p:nvSpPr>
        <p:spPr>
          <a:xfrm>
            <a:off x="232093" y="1109663"/>
            <a:ext cx="8678862" cy="4638675"/>
          </a:xfrm>
        </p:spPr>
        <p:txBody>
          <a:bodyPr vert="horz" wrap="square" lIns="91440" tIns="45720" rIns="91440" bIns="45720" anchor="t" anchorCtr="0"/>
          <a:lstStyle/>
          <a:p>
            <a:r>
              <a:rPr lang="en-US" altLang="zh-CN" dirty="0"/>
              <a:t>That is:</a:t>
            </a:r>
          </a:p>
          <a:p>
            <a:pPr lvl="1"/>
            <a:r>
              <a:rPr lang="en-US" altLang="zh-CN" dirty="0"/>
              <a:t>If P</a:t>
            </a:r>
            <a:r>
              <a:rPr lang="en-US" altLang="zh-CN" baseline="-25000" dirty="0"/>
              <a:t>i</a:t>
            </a:r>
            <a:r>
              <a:rPr lang="en-US" altLang="zh-CN" dirty="0"/>
              <a:t> resource needs are not immediately available, then </a:t>
            </a:r>
            <a:r>
              <a:rPr lang="en-US" altLang="zh-CN" i="1" dirty="0"/>
              <a:t>P</a:t>
            </a:r>
            <a:r>
              <a:rPr lang="en-US" altLang="zh-CN" i="1" baseline="-25000" dirty="0"/>
              <a:t>i</a:t>
            </a:r>
            <a:r>
              <a:rPr lang="en-US" altLang="zh-CN" dirty="0"/>
              <a:t> can wait until all </a:t>
            </a:r>
            <a:r>
              <a:rPr lang="en-US" altLang="zh-CN" i="1" dirty="0"/>
              <a:t>P</a:t>
            </a:r>
            <a:r>
              <a:rPr lang="en-US" altLang="zh-CN" i="1" baseline="-25000" dirty="0"/>
              <a:t>j</a:t>
            </a:r>
            <a:r>
              <a:rPr lang="en-US" altLang="zh-CN" i="1" dirty="0"/>
              <a:t> </a:t>
            </a:r>
            <a:r>
              <a:rPr lang="en-US" altLang="zh-CN" dirty="0"/>
              <a:t>have finished</a:t>
            </a:r>
            <a:r>
              <a:rPr lang="zh-CN" altLang="en-US" dirty="0"/>
              <a:t>（如果</a:t>
            </a:r>
            <a:r>
              <a:rPr lang="en-US" altLang="zh-CN" dirty="0"/>
              <a:t>Pi</a:t>
            </a:r>
            <a:r>
              <a:rPr lang="zh-CN" altLang="en-US" dirty="0"/>
              <a:t>资源需求不能立即可用，则</a:t>
            </a:r>
            <a:r>
              <a:rPr lang="en-US" altLang="zh-CN" dirty="0"/>
              <a:t>Pi</a:t>
            </a:r>
            <a:r>
              <a:rPr lang="zh-CN" altLang="en-US" dirty="0"/>
              <a:t>可以等到所有</a:t>
            </a:r>
            <a:r>
              <a:rPr lang="en-US" altLang="zh-CN" dirty="0" err="1"/>
              <a:t>Pj</a:t>
            </a:r>
            <a:r>
              <a:rPr lang="zh-CN" altLang="en-US" dirty="0"/>
              <a:t>都完成）</a:t>
            </a:r>
            <a:endParaRPr lang="en-US" altLang="zh-CN" dirty="0"/>
          </a:p>
          <a:p>
            <a:pPr lvl="1"/>
            <a:r>
              <a:rPr lang="en-US" altLang="zh-CN" dirty="0"/>
              <a:t>When </a:t>
            </a:r>
            <a:r>
              <a:rPr lang="en-US" altLang="zh-CN" i="1" dirty="0"/>
              <a:t>P</a:t>
            </a:r>
            <a:r>
              <a:rPr lang="en-US" altLang="zh-CN" i="1" baseline="-25000" dirty="0"/>
              <a:t>j</a:t>
            </a:r>
            <a:r>
              <a:rPr lang="en-US" altLang="zh-CN" dirty="0"/>
              <a:t> is finished, </a:t>
            </a:r>
            <a:r>
              <a:rPr lang="en-US" altLang="zh-CN" i="1" dirty="0"/>
              <a:t>P</a:t>
            </a:r>
            <a:r>
              <a:rPr lang="en-US" altLang="zh-CN" i="1" baseline="-25000" dirty="0"/>
              <a:t>i</a:t>
            </a:r>
            <a:r>
              <a:rPr lang="en-US" altLang="zh-CN" dirty="0"/>
              <a:t> can obtain needed resources, execute, return allocated resources, and terminate</a:t>
            </a:r>
            <a:r>
              <a:rPr lang="zh-CN" altLang="en-US" dirty="0"/>
              <a:t>（当</a:t>
            </a:r>
            <a:r>
              <a:rPr lang="en-US" altLang="zh-CN" dirty="0" err="1"/>
              <a:t>Pj</a:t>
            </a:r>
            <a:r>
              <a:rPr lang="zh-CN" altLang="en-US" dirty="0"/>
              <a:t>完成后，</a:t>
            </a:r>
            <a:r>
              <a:rPr lang="en-US" altLang="zh-CN" dirty="0"/>
              <a:t>Pi</a:t>
            </a:r>
            <a:r>
              <a:rPr lang="zh-CN" altLang="en-US" dirty="0"/>
              <a:t>可以获取所需的资源，执行，返回分配的资源，并终止）</a:t>
            </a:r>
            <a:endParaRPr lang="en-US" altLang="zh-CN" dirty="0"/>
          </a:p>
          <a:p>
            <a:pPr lvl="1"/>
            <a:r>
              <a:rPr lang="en-US" altLang="zh-CN" dirty="0"/>
              <a:t>When </a:t>
            </a:r>
            <a:r>
              <a:rPr lang="en-US" altLang="zh-CN" i="1" dirty="0"/>
              <a:t>P</a:t>
            </a:r>
            <a:r>
              <a:rPr lang="en-US" altLang="zh-CN" i="1" baseline="-25000" dirty="0"/>
              <a:t>i</a:t>
            </a:r>
            <a:r>
              <a:rPr lang="en-US" altLang="zh-CN" dirty="0"/>
              <a:t> terminates, </a:t>
            </a:r>
            <a:r>
              <a:rPr lang="en-US" altLang="zh-CN" i="1" dirty="0"/>
              <a:t>P</a:t>
            </a:r>
            <a:r>
              <a:rPr lang="en-US" altLang="zh-CN" i="1" baseline="-25000" dirty="0"/>
              <a:t>i </a:t>
            </a:r>
            <a:r>
              <a:rPr lang="en-US" altLang="zh-CN" baseline="-25000" dirty="0"/>
              <a:t>+1</a:t>
            </a:r>
            <a:r>
              <a:rPr lang="en-US" altLang="zh-CN" dirty="0"/>
              <a:t> can obtain its needed resources, and so on </a:t>
            </a:r>
            <a:r>
              <a:rPr lang="zh-CN" altLang="en-US" dirty="0"/>
              <a:t>（当</a:t>
            </a:r>
            <a:r>
              <a:rPr lang="en-US" altLang="zh-CN" dirty="0"/>
              <a:t>P</a:t>
            </a:r>
            <a:r>
              <a:rPr lang="en-US" altLang="zh-CN" sz="2000" dirty="0"/>
              <a:t>i</a:t>
            </a:r>
            <a:r>
              <a:rPr lang="zh-CN" altLang="en-US" dirty="0"/>
              <a:t>终止时，</a:t>
            </a:r>
            <a:r>
              <a:rPr lang="en-US" altLang="zh-CN" dirty="0"/>
              <a:t>P</a:t>
            </a:r>
            <a:r>
              <a:rPr lang="en-US" altLang="zh-CN" sz="2000" dirty="0"/>
              <a:t>i+1</a:t>
            </a:r>
            <a:r>
              <a:rPr lang="zh-CN" altLang="en-US" dirty="0"/>
              <a:t>可以获得所需的资源，以此类推）</a:t>
            </a:r>
            <a:endParaRPr lang="en-US" altLang="zh-CN" dirty="0"/>
          </a:p>
        </p:txBody>
      </p:sp>
    </p:spTree>
    <p:extLst>
      <p:ext uri="{BB962C8B-B14F-4D97-AF65-F5344CB8AC3E}">
        <p14:creationId xmlns:p14="http://schemas.microsoft.com/office/powerpoint/2010/main" val="108830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p:cNvSpPr>
          <p:nvPr>
            <p:ph idx="1"/>
          </p:nvPr>
        </p:nvSpPr>
        <p:spPr>
          <a:xfrm>
            <a:off x="538163" y="927100"/>
            <a:ext cx="8218487" cy="5930900"/>
          </a:xfrm>
        </p:spPr>
        <p:txBody>
          <a:bodyPr vert="horz" wrap="square" lIns="91440" tIns="45720" rIns="91440" bIns="45720" anchor="t" anchorCtr="0"/>
          <a:lstStyle/>
          <a:p>
            <a:pPr eaLnBrk="1" hangingPunct="1">
              <a:lnSpc>
                <a:spcPct val="120000"/>
              </a:lnSpc>
              <a:spcBef>
                <a:spcPct val="0"/>
              </a:spcBef>
            </a:pPr>
            <a:r>
              <a:rPr lang="en-US" altLang="zh-CN" dirty="0"/>
              <a:t>processes:P</a:t>
            </a:r>
            <a:r>
              <a:rPr lang="en-US" altLang="zh-CN" baseline="-25000" dirty="0"/>
              <a:t>1</a:t>
            </a:r>
            <a:r>
              <a:rPr lang="zh-CN" altLang="en-US" dirty="0"/>
              <a:t>、</a:t>
            </a:r>
            <a:r>
              <a:rPr lang="en-US" altLang="zh-CN" dirty="0"/>
              <a:t>P</a:t>
            </a:r>
            <a:r>
              <a:rPr lang="en-US" altLang="zh-CN" baseline="-25000" dirty="0"/>
              <a:t>2 </a:t>
            </a:r>
            <a:r>
              <a:rPr lang="en-US" altLang="zh-CN" dirty="0"/>
              <a:t>and P</a:t>
            </a:r>
            <a:r>
              <a:rPr lang="en-US" altLang="zh-CN" baseline="-25000" dirty="0"/>
              <a:t>3.</a:t>
            </a:r>
            <a:r>
              <a:rPr lang="en-US" altLang="zh-CN" dirty="0"/>
              <a:t>  System owned:12</a:t>
            </a:r>
            <a:r>
              <a:rPr lang="zh-CN" altLang="en-US" dirty="0"/>
              <a:t> </a:t>
            </a:r>
            <a:r>
              <a:rPr lang="en-US" altLang="zh-CN" dirty="0"/>
              <a:t>tapes. Snapshot at T</a:t>
            </a:r>
            <a:r>
              <a:rPr lang="en-US" altLang="zh-CN" baseline="-25000" dirty="0"/>
              <a:t>0 </a:t>
            </a:r>
            <a:r>
              <a:rPr lang="en-US" altLang="zh-CN" dirty="0"/>
              <a:t>:</a:t>
            </a:r>
            <a:endParaRPr lang="zh-CN" altLang="en-US" dirty="0"/>
          </a:p>
          <a:p>
            <a:pPr lvl="2" eaLnBrk="1" hangingPunct="1">
              <a:lnSpc>
                <a:spcPct val="120000"/>
              </a:lnSpc>
              <a:spcBef>
                <a:spcPct val="0"/>
              </a:spcBef>
              <a:buFontTx/>
              <a:buNone/>
            </a:pP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5                5	       3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4	          2	               2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lvl="1" eaLnBrk="1" hangingPunct="1">
              <a:lnSpc>
                <a:spcPct val="120000"/>
              </a:lnSpc>
            </a:pPr>
            <a:r>
              <a:rPr lang="en-US" altLang="zh-CN" sz="2000" dirty="0"/>
              <a:t>T</a:t>
            </a:r>
            <a:r>
              <a:rPr lang="en-US" altLang="zh-CN" sz="2000" baseline="-25000" dirty="0"/>
              <a:t>0 </a:t>
            </a:r>
            <a:r>
              <a:rPr lang="zh-CN" altLang="en-US" sz="3200" baseline="-25000" dirty="0"/>
              <a:t>时刻安全吗？</a:t>
            </a:r>
            <a:endParaRPr lang="en-US" altLang="zh-CN" sz="3200" baseline="-25000" dirty="0"/>
          </a:p>
          <a:p>
            <a:pPr lvl="1" eaLnBrk="1" hangingPunct="1">
              <a:lnSpc>
                <a:spcPct val="120000"/>
              </a:lnSpc>
            </a:pPr>
            <a:r>
              <a:rPr lang="en-US" altLang="zh-CN" sz="2000" dirty="0"/>
              <a:t>P</a:t>
            </a:r>
            <a:r>
              <a:rPr lang="en-US" altLang="zh-CN" sz="2000" baseline="-25000" dirty="0"/>
              <a:t>2 </a:t>
            </a:r>
          </a:p>
          <a:p>
            <a:pPr marL="457200" lvl="1" indent="0" eaLnBrk="1" hangingPunct="1">
              <a:lnSpc>
                <a:spcPct val="120000"/>
              </a:lnSpc>
              <a:buNone/>
            </a:pPr>
            <a:r>
              <a:rPr lang="en-US" altLang="zh-CN" sz="2000" baseline="-25000" dirty="0"/>
              <a:t>      </a:t>
            </a: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5                5	     </a:t>
            </a:r>
            <a:r>
              <a:rPr lang="en-US" altLang="zh-CN" sz="2000" dirty="0">
                <a:solidFill>
                  <a:srgbClr val="C00000"/>
                </a:solidFill>
              </a:rPr>
              <a:t>3-2=1</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4	</a:t>
            </a:r>
            <a:r>
              <a:rPr lang="en-US" altLang="zh-CN" sz="2000" dirty="0">
                <a:solidFill>
                  <a:srgbClr val="C00000"/>
                </a:solidFill>
              </a:rPr>
              <a:t>          2+2=4        2-2=0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eaLnBrk="1" hangingPunct="1">
              <a:lnSpc>
                <a:spcPct val="120000"/>
              </a:lnSpc>
              <a:spcBef>
                <a:spcPct val="0"/>
              </a:spcBef>
            </a:pPr>
            <a:endParaRPr lang="zh-CN" altLang="en-US" sz="2000" dirty="0"/>
          </a:p>
        </p:txBody>
      </p:sp>
      <p:sp>
        <p:nvSpPr>
          <p:cNvPr id="3" name="矩形 2"/>
          <p:cNvSpPr/>
          <p:nvPr/>
        </p:nvSpPr>
        <p:spPr>
          <a:xfrm>
            <a:off x="1425575" y="233363"/>
            <a:ext cx="3224213" cy="5857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70C0"/>
                </a:solidFill>
                <a:effectLst/>
                <a:uLnTx/>
                <a:uFillTx/>
                <a:latin typeface="+mn-lt"/>
                <a:ea typeface="MS PGothic" panose="020B0600070205080204" pitchFamily="34" charset="-128"/>
                <a:cs typeface="+mn-cs"/>
              </a:rPr>
              <a:t>example</a:t>
            </a:r>
            <a:endParaRPr kumimoji="0" lang="zh-CN" altLang="en-US" sz="3200" b="1" i="0" u="none" strike="noStrike" kern="1200" cap="none" spc="0" normalizeH="0" baseline="0" noProof="0" dirty="0">
              <a:ln>
                <a:noFill/>
              </a:ln>
              <a:solidFill>
                <a:srgbClr val="0070C0"/>
              </a:solidFill>
              <a:effectLst/>
              <a:uLnTx/>
              <a:uFillTx/>
              <a:latin typeface="+mn-lt"/>
              <a:ea typeface="MS PGothic"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23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23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234">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1234">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123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p:cNvSpPr>
          <p:nvPr>
            <p:ph idx="1"/>
          </p:nvPr>
        </p:nvSpPr>
        <p:spPr>
          <a:xfrm>
            <a:off x="538163" y="927100"/>
            <a:ext cx="8218487" cy="5930900"/>
          </a:xfrm>
        </p:spPr>
        <p:txBody>
          <a:bodyPr vert="horz" wrap="square" lIns="91440" tIns="45720" rIns="91440" bIns="45720" anchor="t" anchorCtr="0"/>
          <a:lstStyle/>
          <a:p>
            <a:pPr eaLnBrk="1" hangingPunct="1">
              <a:lnSpc>
                <a:spcPct val="120000"/>
              </a:lnSpc>
              <a:spcBef>
                <a:spcPct val="0"/>
              </a:spcBef>
            </a:pPr>
            <a:r>
              <a:rPr lang="en-US" altLang="zh-CN" dirty="0"/>
              <a:t>processes:P</a:t>
            </a:r>
            <a:r>
              <a:rPr lang="en-US" altLang="zh-CN" baseline="-25000" dirty="0"/>
              <a:t>1</a:t>
            </a:r>
            <a:r>
              <a:rPr lang="zh-CN" altLang="en-US" dirty="0"/>
              <a:t>、</a:t>
            </a:r>
            <a:r>
              <a:rPr lang="en-US" altLang="zh-CN" dirty="0"/>
              <a:t>P</a:t>
            </a:r>
            <a:r>
              <a:rPr lang="en-US" altLang="zh-CN" baseline="-25000" dirty="0"/>
              <a:t>2 </a:t>
            </a:r>
            <a:r>
              <a:rPr lang="en-US" altLang="zh-CN" dirty="0"/>
              <a:t>and P</a:t>
            </a:r>
            <a:r>
              <a:rPr lang="en-US" altLang="zh-CN" baseline="-25000" dirty="0"/>
              <a:t>3.</a:t>
            </a:r>
            <a:r>
              <a:rPr lang="en-US" altLang="zh-CN" dirty="0"/>
              <a:t>  System owned:12</a:t>
            </a:r>
            <a:r>
              <a:rPr lang="zh-CN" altLang="en-US" dirty="0"/>
              <a:t> </a:t>
            </a:r>
            <a:r>
              <a:rPr lang="en-US" altLang="zh-CN" dirty="0"/>
              <a:t>tapes. Snapshot at T</a:t>
            </a:r>
            <a:r>
              <a:rPr lang="en-US" altLang="zh-CN" baseline="-25000" dirty="0"/>
              <a:t>0 </a:t>
            </a:r>
            <a:r>
              <a:rPr lang="en-US" altLang="zh-CN" dirty="0"/>
              <a:t>:</a:t>
            </a:r>
            <a:endParaRPr lang="zh-CN" altLang="en-US" dirty="0"/>
          </a:p>
          <a:p>
            <a:pPr lvl="1" eaLnBrk="1" hangingPunct="1">
              <a:lnSpc>
                <a:spcPct val="120000"/>
              </a:lnSpc>
            </a:pPr>
            <a:r>
              <a:rPr lang="en-US" altLang="zh-CN" sz="2000" dirty="0"/>
              <a:t>P</a:t>
            </a:r>
            <a:r>
              <a:rPr lang="en-US" altLang="zh-CN" sz="2000" baseline="-25000" dirty="0"/>
              <a:t>2 </a:t>
            </a:r>
            <a:r>
              <a:rPr lang="en-US" altLang="zh-CN" sz="2000" dirty="0"/>
              <a:t>-&gt; P</a:t>
            </a:r>
            <a:r>
              <a:rPr lang="en-US" altLang="zh-CN" sz="2000" baseline="-25000" dirty="0"/>
              <a:t>1</a:t>
            </a:r>
          </a:p>
          <a:p>
            <a:pPr marL="457200" lvl="1" indent="0" eaLnBrk="1" hangingPunct="1">
              <a:lnSpc>
                <a:spcPct val="120000"/>
              </a:lnSpc>
              <a:buNone/>
            </a:pPr>
            <a:r>
              <a:rPr lang="en-US" altLang="zh-CN" sz="2000" baseline="-25000" dirty="0"/>
              <a:t>      </a:t>
            </a: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5                5	</a:t>
            </a:r>
            <a:r>
              <a:rPr lang="en-US" altLang="zh-CN" sz="2000" dirty="0">
                <a:solidFill>
                  <a:srgbClr val="C00000"/>
                </a:solidFill>
              </a:rPr>
              <a:t>1+4=5</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0	</a:t>
            </a:r>
            <a:r>
              <a:rPr lang="en-US" altLang="zh-CN" sz="2000" dirty="0">
                <a:solidFill>
                  <a:srgbClr val="C00000"/>
                </a:solidFill>
              </a:rPr>
              <a:t>          0                0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lvl="2" eaLnBrk="1" hangingPunct="1">
              <a:lnSpc>
                <a:spcPct val="120000"/>
              </a:lnSpc>
              <a:spcBef>
                <a:spcPct val="0"/>
              </a:spcBef>
              <a:buFontTx/>
              <a:buNone/>
            </a:pPr>
            <a:endParaRPr lang="en-US" altLang="zh-CN" sz="2000" dirty="0"/>
          </a:p>
          <a:p>
            <a:pPr marL="457200" lvl="1" indent="0" eaLnBrk="1" hangingPunct="1">
              <a:lnSpc>
                <a:spcPct val="120000"/>
              </a:lnSpc>
              <a:buNone/>
            </a:pP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a:t>
            </a:r>
            <a:r>
              <a:rPr lang="en-US" altLang="zh-CN" sz="2000" dirty="0">
                <a:solidFill>
                  <a:srgbClr val="C00000"/>
                </a:solidFill>
              </a:rPr>
              <a:t>          5+5=10      5-5=0</a:t>
            </a:r>
            <a:r>
              <a:rPr lang="en-US" altLang="zh-CN" sz="2000" dirty="0"/>
              <a:t>	  </a:t>
            </a:r>
            <a:r>
              <a:rPr lang="en-US" altLang="zh-CN" sz="2000" dirty="0">
                <a:solidFill>
                  <a:srgbClr val="C00000"/>
                </a:solidFill>
              </a:rPr>
              <a:t>5-5=0</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0	          0                0</a:t>
            </a:r>
            <a:r>
              <a:rPr lang="en-US" altLang="zh-CN" sz="2000" dirty="0">
                <a:solidFill>
                  <a:srgbClr val="C00000"/>
                </a:solidFill>
              </a:rPr>
              <a:t>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a:t>
            </a:r>
          </a:p>
          <a:p>
            <a:pPr eaLnBrk="1" hangingPunct="1">
              <a:lnSpc>
                <a:spcPct val="120000"/>
              </a:lnSpc>
              <a:spcBef>
                <a:spcPct val="0"/>
              </a:spcBef>
            </a:pPr>
            <a:endParaRPr lang="zh-CN" altLang="en-US" sz="2000" dirty="0"/>
          </a:p>
        </p:txBody>
      </p:sp>
      <p:sp>
        <p:nvSpPr>
          <p:cNvPr id="3" name="矩形 2"/>
          <p:cNvSpPr/>
          <p:nvPr/>
        </p:nvSpPr>
        <p:spPr>
          <a:xfrm>
            <a:off x="1425575" y="233363"/>
            <a:ext cx="3224213" cy="5857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70C0"/>
                </a:solidFill>
                <a:effectLst/>
                <a:uLnTx/>
                <a:uFillTx/>
                <a:latin typeface="+mn-lt"/>
                <a:ea typeface="MS PGothic" panose="020B0600070205080204" pitchFamily="34" charset="-128"/>
                <a:cs typeface="+mn-cs"/>
              </a:rPr>
              <a:t>example</a:t>
            </a:r>
            <a:endParaRPr kumimoji="0" lang="zh-CN" altLang="en-US" sz="3200" b="1" i="0" u="none" strike="noStrike" kern="1200" cap="none" spc="0" normalizeH="0" baseline="0" noProof="0" dirty="0">
              <a:ln>
                <a:noFill/>
              </a:ln>
              <a:solidFill>
                <a:srgbClr val="0070C0"/>
              </a:solidFill>
              <a:effectLst/>
              <a:uLnTx/>
              <a:uFillTx/>
              <a:latin typeface="+mn-lt"/>
              <a:ea typeface="MS PGothic" panose="020B0600070205080204" pitchFamily="34" charset="-128"/>
              <a:cs typeface="+mn-cs"/>
            </a:endParaRPr>
          </a:p>
        </p:txBody>
      </p:sp>
    </p:spTree>
    <p:extLst>
      <p:ext uri="{BB962C8B-B14F-4D97-AF65-F5344CB8AC3E}">
        <p14:creationId xmlns:p14="http://schemas.microsoft.com/office/powerpoint/2010/main" val="1819410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234">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234">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234">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123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p:cNvSpPr>
          <p:nvPr>
            <p:ph idx="1"/>
          </p:nvPr>
        </p:nvSpPr>
        <p:spPr>
          <a:xfrm>
            <a:off x="538163" y="927100"/>
            <a:ext cx="8218487" cy="5930900"/>
          </a:xfrm>
        </p:spPr>
        <p:txBody>
          <a:bodyPr vert="horz" wrap="square" lIns="91440" tIns="45720" rIns="91440" bIns="45720" anchor="t" anchorCtr="0"/>
          <a:lstStyle/>
          <a:p>
            <a:pPr eaLnBrk="1" hangingPunct="1">
              <a:lnSpc>
                <a:spcPct val="120000"/>
              </a:lnSpc>
              <a:spcBef>
                <a:spcPct val="0"/>
              </a:spcBef>
            </a:pPr>
            <a:r>
              <a:rPr lang="en-US" altLang="zh-CN" dirty="0"/>
              <a:t>processes:P</a:t>
            </a:r>
            <a:r>
              <a:rPr lang="en-US" altLang="zh-CN" baseline="-25000" dirty="0"/>
              <a:t>1</a:t>
            </a:r>
            <a:r>
              <a:rPr lang="zh-CN" altLang="en-US" dirty="0"/>
              <a:t>、</a:t>
            </a:r>
            <a:r>
              <a:rPr lang="en-US" altLang="zh-CN" dirty="0"/>
              <a:t>P</a:t>
            </a:r>
            <a:r>
              <a:rPr lang="en-US" altLang="zh-CN" baseline="-25000" dirty="0"/>
              <a:t>2 </a:t>
            </a:r>
            <a:r>
              <a:rPr lang="en-US" altLang="zh-CN" dirty="0"/>
              <a:t>and P</a:t>
            </a:r>
            <a:r>
              <a:rPr lang="en-US" altLang="zh-CN" baseline="-25000" dirty="0"/>
              <a:t>3.</a:t>
            </a:r>
            <a:r>
              <a:rPr lang="en-US" altLang="zh-CN" dirty="0"/>
              <a:t>  System owned:12</a:t>
            </a:r>
            <a:r>
              <a:rPr lang="zh-CN" altLang="en-US" dirty="0"/>
              <a:t> </a:t>
            </a:r>
            <a:r>
              <a:rPr lang="en-US" altLang="zh-CN" dirty="0"/>
              <a:t>tapes. Snapshot at T</a:t>
            </a:r>
            <a:r>
              <a:rPr lang="en-US" altLang="zh-CN" baseline="-25000" dirty="0"/>
              <a:t>0 </a:t>
            </a:r>
            <a:r>
              <a:rPr lang="en-US" altLang="zh-CN" dirty="0"/>
              <a:t>:</a:t>
            </a:r>
            <a:endParaRPr lang="zh-CN" altLang="en-US" dirty="0"/>
          </a:p>
          <a:p>
            <a:pPr lvl="1" eaLnBrk="1" hangingPunct="1">
              <a:lnSpc>
                <a:spcPct val="120000"/>
              </a:lnSpc>
            </a:pPr>
            <a:r>
              <a:rPr lang="en-US" altLang="zh-CN" sz="2000" dirty="0"/>
              <a:t>P</a:t>
            </a:r>
            <a:r>
              <a:rPr lang="en-US" altLang="zh-CN" sz="2000" baseline="-25000" dirty="0"/>
              <a:t>2 </a:t>
            </a:r>
            <a:r>
              <a:rPr lang="en-US" altLang="zh-CN" sz="2000" dirty="0"/>
              <a:t>-&gt; P</a:t>
            </a:r>
            <a:r>
              <a:rPr lang="en-US" altLang="zh-CN" sz="2000" baseline="-25000" dirty="0"/>
              <a:t>1 </a:t>
            </a:r>
            <a:r>
              <a:rPr lang="en-US" altLang="zh-CN" sz="2000" dirty="0"/>
              <a:t>-&gt; P</a:t>
            </a:r>
            <a:r>
              <a:rPr lang="en-US" altLang="zh-CN" sz="2000" baseline="-25000" dirty="0"/>
              <a:t>3</a:t>
            </a:r>
          </a:p>
          <a:p>
            <a:pPr marL="457200" lvl="1" indent="0" eaLnBrk="1" hangingPunct="1">
              <a:lnSpc>
                <a:spcPct val="120000"/>
              </a:lnSpc>
              <a:buNone/>
            </a:pPr>
            <a:r>
              <a:rPr lang="en-US" altLang="zh-CN" sz="2000" baseline="-25000" dirty="0"/>
              <a:t>      </a:t>
            </a: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a:t>
            </a:r>
            <a:r>
              <a:rPr lang="en-US" altLang="zh-CN" sz="2000" dirty="0">
                <a:solidFill>
                  <a:srgbClr val="C00000"/>
                </a:solidFill>
              </a:rPr>
              <a:t>          0                0</a:t>
            </a:r>
            <a:r>
              <a:rPr lang="en-US" altLang="zh-CN" sz="2000" dirty="0"/>
              <a:t>	</a:t>
            </a:r>
            <a:r>
              <a:rPr lang="en-US" altLang="zh-CN" sz="2000" dirty="0">
                <a:solidFill>
                  <a:srgbClr val="C00000"/>
                </a:solidFill>
              </a:rPr>
              <a:t>0+10=10</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0	          0                0</a:t>
            </a:r>
            <a:r>
              <a:rPr lang="en-US" altLang="zh-CN" sz="2000" dirty="0">
                <a:solidFill>
                  <a:srgbClr val="C00000"/>
                </a:solidFill>
              </a:rPr>
              <a:t>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lvl="2" eaLnBrk="1" hangingPunct="1">
              <a:lnSpc>
                <a:spcPct val="120000"/>
              </a:lnSpc>
              <a:spcBef>
                <a:spcPct val="0"/>
              </a:spcBef>
              <a:buNone/>
            </a:pPr>
            <a:r>
              <a:rPr lang="en-US" altLang="zh-CN" sz="2000" b="1" dirty="0">
                <a:solidFill>
                  <a:srgbClr val="FF0000"/>
                </a:solidFill>
              </a:rPr>
              <a:t>So, system is safe at T</a:t>
            </a:r>
            <a:r>
              <a:rPr lang="en-US" altLang="zh-CN" sz="2000" b="1" baseline="-25000" dirty="0">
                <a:solidFill>
                  <a:srgbClr val="FF0000"/>
                </a:solidFill>
              </a:rPr>
              <a:t>0.</a:t>
            </a:r>
            <a:endParaRPr lang="zh-CN" altLang="zh-CN" sz="2000" b="1" dirty="0">
              <a:solidFill>
                <a:srgbClr val="FF0000"/>
              </a:solidFill>
            </a:endParaRPr>
          </a:p>
          <a:p>
            <a:pPr lvl="2" eaLnBrk="1" hangingPunct="1">
              <a:lnSpc>
                <a:spcPct val="120000"/>
              </a:lnSpc>
              <a:spcBef>
                <a:spcPct val="0"/>
              </a:spcBef>
              <a:buFontTx/>
              <a:buNone/>
            </a:pPr>
            <a:endParaRPr lang="en-US" altLang="zh-CN" sz="2000" dirty="0"/>
          </a:p>
          <a:p>
            <a:pPr eaLnBrk="1" hangingPunct="1">
              <a:lnSpc>
                <a:spcPct val="120000"/>
              </a:lnSpc>
              <a:spcBef>
                <a:spcPct val="0"/>
              </a:spcBef>
            </a:pPr>
            <a:endParaRPr lang="zh-CN" altLang="en-US" sz="2000" dirty="0"/>
          </a:p>
        </p:txBody>
      </p:sp>
      <p:sp>
        <p:nvSpPr>
          <p:cNvPr id="3" name="矩形 2"/>
          <p:cNvSpPr/>
          <p:nvPr/>
        </p:nvSpPr>
        <p:spPr>
          <a:xfrm>
            <a:off x="1425575" y="233363"/>
            <a:ext cx="3224213" cy="5857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70C0"/>
                </a:solidFill>
                <a:effectLst/>
                <a:uLnTx/>
                <a:uFillTx/>
                <a:latin typeface="+mn-lt"/>
                <a:ea typeface="MS PGothic" panose="020B0600070205080204" pitchFamily="34" charset="-128"/>
                <a:cs typeface="+mn-cs"/>
              </a:rPr>
              <a:t>example</a:t>
            </a:r>
            <a:endParaRPr kumimoji="0" lang="zh-CN" altLang="en-US" sz="3200" b="1" i="0" u="none" strike="noStrike" kern="1200" cap="none" spc="0" normalizeH="0" baseline="0" noProof="0" dirty="0">
              <a:ln>
                <a:noFill/>
              </a:ln>
              <a:solidFill>
                <a:srgbClr val="0070C0"/>
              </a:solidFill>
              <a:effectLst/>
              <a:uLnTx/>
              <a:uFillTx/>
              <a:latin typeface="+mn-lt"/>
              <a:ea typeface="MS PGothic" panose="020B0600070205080204" pitchFamily="34" charset="-128"/>
              <a:cs typeface="+mn-cs"/>
            </a:endParaRPr>
          </a:p>
        </p:txBody>
      </p:sp>
    </p:spTree>
    <p:extLst>
      <p:ext uri="{BB962C8B-B14F-4D97-AF65-F5344CB8AC3E}">
        <p14:creationId xmlns:p14="http://schemas.microsoft.com/office/powerpoint/2010/main" val="23156732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2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36613" y="0"/>
            <a:ext cx="7750175" cy="80645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006699"/>
                </a:solidFill>
                <a:effectLst/>
                <a:uLnTx/>
                <a:uFillTx/>
                <a:latin typeface="+mn-lt"/>
                <a:ea typeface="MS PGothic" panose="020B0600070205080204" pitchFamily="34" charset="-128"/>
                <a:cs typeface="+mj-cs"/>
              </a:rPr>
              <a:t>System goes from a safe state to an unsafe state</a:t>
            </a:r>
            <a:endParaRPr kumimoji="0" lang="zh-CN" altLang="en-US" sz="2400" b="1" i="0" u="none" strike="noStrike" kern="0" cap="none" spc="0" normalizeH="0" baseline="0" noProof="0" dirty="0">
              <a:ln>
                <a:noFill/>
              </a:ln>
              <a:solidFill>
                <a:srgbClr val="006699"/>
              </a:solidFill>
              <a:effectLst/>
              <a:uLnTx/>
              <a:uFillTx/>
              <a:latin typeface="+mn-lt"/>
              <a:ea typeface="MS PGothic" panose="020B0600070205080204" pitchFamily="34" charset="-128"/>
              <a:cs typeface="+mj-cs"/>
            </a:endParaRPr>
          </a:p>
        </p:txBody>
      </p:sp>
      <p:sp>
        <p:nvSpPr>
          <p:cNvPr id="352259" name="Rectangle 3"/>
          <p:cNvSpPr>
            <a:spLocks noGrp="1"/>
          </p:cNvSpPr>
          <p:nvPr>
            <p:ph idx="1"/>
          </p:nvPr>
        </p:nvSpPr>
        <p:spPr>
          <a:xfrm>
            <a:off x="404813" y="884238"/>
            <a:ext cx="7764462" cy="5519737"/>
          </a:xfrm>
        </p:spPr>
        <p:txBody>
          <a:bodyPr vert="horz" wrap="square" lIns="91440" tIns="45720" rIns="91440" bIns="45720" anchor="t" anchorCtr="0"/>
          <a:lstStyle/>
          <a:p>
            <a:pPr eaLnBrk="1" hangingPunct="1">
              <a:lnSpc>
                <a:spcPct val="130000"/>
              </a:lnSpc>
            </a:pPr>
            <a:r>
              <a:rPr lang="en-US" altLang="zh-CN" dirty="0"/>
              <a:t>Suppose that, at T</a:t>
            </a:r>
            <a:r>
              <a:rPr lang="en-US" altLang="zh-CN" baseline="-25000" dirty="0"/>
              <a:t>0,</a:t>
            </a:r>
            <a:r>
              <a:rPr lang="en-US" altLang="zh-CN" dirty="0"/>
              <a:t> </a:t>
            </a:r>
            <a:r>
              <a:rPr lang="en-US" altLang="zh-CN" dirty="0">
                <a:solidFill>
                  <a:srgbClr val="FF0000"/>
                </a:solidFill>
              </a:rPr>
              <a:t>P</a:t>
            </a:r>
            <a:r>
              <a:rPr lang="en-US" altLang="zh-CN" baseline="-25000" dirty="0">
                <a:solidFill>
                  <a:srgbClr val="FF0000"/>
                </a:solidFill>
              </a:rPr>
              <a:t>3 </a:t>
            </a:r>
            <a:r>
              <a:rPr lang="en-US" altLang="zh-CN" dirty="0">
                <a:solidFill>
                  <a:srgbClr val="FF0000"/>
                </a:solidFill>
              </a:rPr>
              <a:t>requests a tape and is allocated one tape</a:t>
            </a:r>
            <a:r>
              <a:rPr lang="en-US" altLang="zh-CN" dirty="0"/>
              <a:t>. Then system goes from T</a:t>
            </a:r>
            <a:r>
              <a:rPr lang="en-US" altLang="zh-CN" baseline="-25000" dirty="0"/>
              <a:t>0</a:t>
            </a:r>
            <a:r>
              <a:rPr lang="en-US" altLang="zh-CN" dirty="0"/>
              <a:t> to T</a:t>
            </a:r>
            <a:r>
              <a:rPr lang="en-US" altLang="zh-CN" baseline="-25000" dirty="0"/>
              <a:t>1.</a:t>
            </a:r>
            <a:endParaRPr lang="zh-CN" altLang="en-US" dirty="0"/>
          </a:p>
          <a:p>
            <a:pPr marL="342900" lvl="2" indent="-342900" eaLnBrk="1" hangingPunct="1">
              <a:lnSpc>
                <a:spcPct val="130000"/>
              </a:lnSpc>
              <a:buClr>
                <a:srgbClr val="993300"/>
              </a:buClr>
              <a:buSzPct val="50000"/>
              <a:buFont typeface="Wingdings" panose="05000000000000000000" pitchFamily="2" charset="2"/>
              <a:buChar char="n"/>
            </a:pPr>
            <a:r>
              <a:rPr lang="en-US" altLang="zh-CN" sz="2000" dirty="0"/>
              <a:t>Process  max  allocated  need</a:t>
            </a:r>
            <a:r>
              <a:rPr lang="zh-CN" altLang="en-US" sz="2000" dirty="0"/>
              <a:t>      </a:t>
            </a:r>
            <a:r>
              <a:rPr lang="en-US" altLang="zh-CN" sz="2000" dirty="0"/>
              <a:t>  </a:t>
            </a:r>
            <a:r>
              <a:rPr lang="zh-CN" altLang="en-US" sz="1600" dirty="0"/>
              <a:t> </a:t>
            </a:r>
            <a:r>
              <a:rPr lang="en-US" altLang="zh-CN" sz="1600" dirty="0"/>
              <a:t>available          </a:t>
            </a:r>
          </a:p>
          <a:p>
            <a:pPr marL="0" lvl="2" indent="0" eaLnBrk="1" hangingPunct="1">
              <a:lnSpc>
                <a:spcPct val="130000"/>
              </a:lnSpc>
              <a:buClr>
                <a:srgbClr val="993300"/>
              </a:buClr>
              <a:buSzPct val="50000"/>
              <a:buFont typeface="Wingdings" panose="05000000000000000000" pitchFamily="2" charset="2"/>
              <a:buNone/>
            </a:pPr>
            <a:r>
              <a:rPr lang="zh-CN" altLang="en-US" sz="2000" b="1" dirty="0">
                <a:latin typeface="宋体" panose="02010600030101010101" pitchFamily="2" charset="-122"/>
              </a:rPr>
              <a:t>      </a:t>
            </a:r>
            <a:r>
              <a:rPr lang="en-US" altLang="zh-CN" sz="2000" b="1" dirty="0">
                <a:latin typeface="宋体" panose="02010600030101010101" pitchFamily="2" charset="-122"/>
              </a:rPr>
              <a:t>P</a:t>
            </a:r>
            <a:r>
              <a:rPr lang="en-US" altLang="zh-CN" sz="2000" b="1" baseline="-25000" dirty="0">
                <a:latin typeface="宋体" panose="02010600030101010101" pitchFamily="2" charset="-122"/>
              </a:rPr>
              <a:t>1   </a:t>
            </a:r>
            <a:r>
              <a:rPr lang="en-US" altLang="zh-CN" sz="2000" b="1" dirty="0">
                <a:latin typeface="宋体" panose="02010600030101010101" pitchFamily="2" charset="-122"/>
              </a:rPr>
              <a:t>   10    5       5    </a:t>
            </a:r>
            <a:r>
              <a:rPr lang="en-US" altLang="zh-CN" sz="2000" b="1" dirty="0">
                <a:solidFill>
                  <a:srgbClr val="FF0000"/>
                </a:solidFill>
                <a:latin typeface="宋体" panose="02010600030101010101" pitchFamily="2" charset="-122"/>
              </a:rPr>
              <a:t>	</a:t>
            </a:r>
            <a:r>
              <a:rPr lang="en-US" altLang="zh-CN" sz="2000" b="1" dirty="0">
                <a:latin typeface="宋体" panose="02010600030101010101" pitchFamily="2" charset="-122"/>
              </a:rPr>
              <a:t> 	</a:t>
            </a:r>
          </a:p>
          <a:p>
            <a:pPr eaLnBrk="1" hangingPunct="1">
              <a:lnSpc>
                <a:spcPct val="130000"/>
              </a:lnSpc>
              <a:buFontTx/>
              <a:buNone/>
            </a:pPr>
            <a:r>
              <a:rPr lang="en-US" altLang="zh-CN" sz="2000" b="1" dirty="0">
                <a:latin typeface="宋体" panose="02010600030101010101" pitchFamily="2" charset="-122"/>
              </a:rPr>
              <a:t>      P</a:t>
            </a:r>
            <a:r>
              <a:rPr lang="en-US" altLang="zh-CN" sz="2000" b="1" baseline="-25000" dirty="0">
                <a:latin typeface="宋体" panose="02010600030101010101" pitchFamily="2" charset="-122"/>
              </a:rPr>
              <a:t>2   </a:t>
            </a:r>
            <a:r>
              <a:rPr lang="en-US" altLang="zh-CN" sz="2000" b="1" dirty="0">
                <a:latin typeface="宋体" panose="02010600030101010101" pitchFamily="2" charset="-122"/>
              </a:rPr>
              <a:t>    4    2       2        </a:t>
            </a:r>
            <a:r>
              <a:rPr lang="en-US" altLang="zh-CN" sz="2000" b="1" dirty="0">
                <a:solidFill>
                  <a:srgbClr val="FF0000"/>
                </a:solidFill>
                <a:latin typeface="宋体" panose="02010600030101010101" pitchFamily="2" charset="-122"/>
              </a:rPr>
              <a:t> 2</a:t>
            </a:r>
            <a:r>
              <a:rPr lang="en-US" altLang="zh-CN" sz="2000" b="1" dirty="0">
                <a:solidFill>
                  <a:schemeClr val="accent2"/>
                </a:solidFill>
                <a:latin typeface="宋体" panose="02010600030101010101" pitchFamily="2" charset="-122"/>
              </a:rPr>
              <a:t> </a:t>
            </a:r>
            <a:r>
              <a:rPr lang="en-US" altLang="zh-CN" sz="2000" b="1" dirty="0">
                <a:latin typeface="宋体" panose="02010600030101010101" pitchFamily="2" charset="-122"/>
              </a:rPr>
              <a:t>	     </a:t>
            </a:r>
            <a:endParaRPr lang="en-US" altLang="zh-CN" sz="2000" b="1" dirty="0">
              <a:solidFill>
                <a:srgbClr val="FF0000"/>
              </a:solidFill>
              <a:latin typeface="宋体" panose="02010600030101010101" pitchFamily="2" charset="-122"/>
            </a:endParaRPr>
          </a:p>
          <a:p>
            <a:pPr eaLnBrk="1" hangingPunct="1">
              <a:lnSpc>
                <a:spcPct val="130000"/>
              </a:lnSpc>
              <a:buFontTx/>
              <a:buNone/>
            </a:pPr>
            <a:r>
              <a:rPr lang="en-US" altLang="zh-CN" sz="2000" b="1" dirty="0">
                <a:latin typeface="宋体" panose="02010600030101010101" pitchFamily="2" charset="-122"/>
              </a:rPr>
              <a:t>      P</a:t>
            </a:r>
            <a:r>
              <a:rPr lang="en-US" altLang="zh-CN" sz="2000" b="1" baseline="-25000" dirty="0">
                <a:latin typeface="宋体" panose="02010600030101010101" pitchFamily="2" charset="-122"/>
              </a:rPr>
              <a:t>3   </a:t>
            </a:r>
            <a:r>
              <a:rPr lang="en-US" altLang="zh-CN" sz="2000" b="1" dirty="0">
                <a:latin typeface="宋体" panose="02010600030101010101" pitchFamily="2" charset="-122"/>
              </a:rPr>
              <a:t>    9    </a:t>
            </a:r>
            <a:r>
              <a:rPr lang="en-US" altLang="zh-CN" sz="2000" b="1" dirty="0">
                <a:solidFill>
                  <a:srgbClr val="FF0066"/>
                </a:solidFill>
                <a:latin typeface="宋体" panose="02010600030101010101" pitchFamily="2" charset="-122"/>
              </a:rPr>
              <a:t>3</a:t>
            </a:r>
            <a:r>
              <a:rPr lang="en-US" altLang="zh-CN" sz="2000" b="1" dirty="0">
                <a:latin typeface="宋体" panose="02010600030101010101" pitchFamily="2" charset="-122"/>
              </a:rPr>
              <a:t>      </a:t>
            </a:r>
            <a:r>
              <a:rPr lang="en-US" altLang="zh-CN" sz="2000" b="1" dirty="0">
                <a:solidFill>
                  <a:schemeClr val="accent2"/>
                </a:solidFill>
                <a:latin typeface="宋体" panose="02010600030101010101" pitchFamily="2" charset="-122"/>
              </a:rPr>
              <a:t> </a:t>
            </a:r>
            <a:r>
              <a:rPr lang="en-US" altLang="zh-CN" sz="2000" b="1" dirty="0">
                <a:solidFill>
                  <a:schemeClr val="tx1"/>
                </a:solidFill>
                <a:latin typeface="宋体" panose="02010600030101010101" pitchFamily="2" charset="-122"/>
              </a:rPr>
              <a:t>6</a:t>
            </a:r>
            <a:r>
              <a:rPr lang="en-US" altLang="zh-CN" sz="2000" b="1" dirty="0">
                <a:solidFill>
                  <a:srgbClr val="FF0000"/>
                </a:solidFill>
                <a:latin typeface="宋体" panose="02010600030101010101" pitchFamily="2" charset="-122"/>
              </a:rPr>
              <a:t> </a:t>
            </a:r>
            <a:r>
              <a:rPr lang="en-US" altLang="zh-CN" sz="2000" b="1" dirty="0">
                <a:solidFill>
                  <a:schemeClr val="accent2"/>
                </a:solidFill>
                <a:latin typeface="宋体" panose="02010600030101010101" pitchFamily="2" charset="-122"/>
              </a:rPr>
              <a:t>  </a:t>
            </a:r>
            <a:r>
              <a:rPr lang="en-US" altLang="zh-CN" sz="2000" b="1" dirty="0">
                <a:latin typeface="宋体" panose="02010600030101010101" pitchFamily="2" charset="-122"/>
              </a:rPr>
              <a:t> </a:t>
            </a:r>
            <a:r>
              <a:rPr lang="en-US" altLang="zh-CN" sz="2000" b="1" dirty="0">
                <a:solidFill>
                  <a:srgbClr val="FF0000"/>
                </a:solidFill>
                <a:latin typeface="宋体" panose="02010600030101010101" pitchFamily="2" charset="-122"/>
              </a:rPr>
              <a:t>	</a:t>
            </a:r>
            <a:r>
              <a:rPr lang="en-US" altLang="zh-CN" sz="2000" b="1" dirty="0">
                <a:latin typeface="宋体" panose="02010600030101010101" pitchFamily="2" charset="-122"/>
              </a:rPr>
              <a:t>  	</a:t>
            </a:r>
          </a:p>
          <a:p>
            <a:pPr eaLnBrk="1" hangingPunct="1">
              <a:lnSpc>
                <a:spcPct val="130000"/>
              </a:lnSpc>
            </a:pPr>
            <a:r>
              <a:rPr lang="en-US" altLang="zh-CN" dirty="0"/>
              <a:t>At T</a:t>
            </a:r>
            <a:r>
              <a:rPr lang="en-US" altLang="zh-CN" baseline="-25000" dirty="0"/>
              <a:t>1, </a:t>
            </a:r>
            <a:r>
              <a:rPr lang="en-US" altLang="zh-CN" dirty="0"/>
              <a:t>we can not find a sequence satisfying safety condition,  so, it is </a:t>
            </a:r>
            <a:r>
              <a:rPr lang="en-US" altLang="zh-CN" dirty="0">
                <a:solidFill>
                  <a:srgbClr val="FF0000"/>
                </a:solidFill>
              </a:rPr>
              <a:t>unsafe</a:t>
            </a:r>
            <a:r>
              <a:rPr lang="en-US" altLang="zh-CN" dirty="0"/>
              <a:t>.</a:t>
            </a:r>
          </a:p>
          <a:p>
            <a:pPr eaLnBrk="1" hangingPunct="1">
              <a:lnSpc>
                <a:spcPct val="130000"/>
              </a:lnSpc>
            </a:pPr>
            <a:r>
              <a:rPr lang="en-US" altLang="zh-CN" dirty="0"/>
              <a:t>Therefore, when P</a:t>
            </a:r>
            <a:r>
              <a:rPr lang="en-US" altLang="zh-CN" baseline="-25000" dirty="0"/>
              <a:t>3 </a:t>
            </a:r>
            <a:r>
              <a:rPr lang="en-US" altLang="zh-CN" dirty="0"/>
              <a:t>requests a tape at T</a:t>
            </a:r>
            <a:r>
              <a:rPr lang="en-US" altLang="zh-CN" baseline="-25000" dirty="0"/>
              <a:t>0, </a:t>
            </a:r>
            <a:r>
              <a:rPr lang="en-US" altLang="zh-CN" dirty="0"/>
              <a:t>we must make it wait  to avoid deadlock.</a:t>
            </a:r>
            <a:endParaRPr lang="zh-CN" altLang="en-US" dirty="0"/>
          </a:p>
          <a:p>
            <a:pPr eaLnBrk="1" hangingPunct="1">
              <a:lnSpc>
                <a:spcPct val="130000"/>
              </a:lnSpc>
            </a:pP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225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22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vert="horz" wrap="square" lIns="91440" tIns="45720" rIns="91440" bIns="45720" anchor="b" anchorCtr="0"/>
          <a:lstStyle/>
          <a:p>
            <a:pPr eaLnBrk="1" hangingPunct="1"/>
            <a:r>
              <a:rPr lang="en-US" altLang="zh-CN" dirty="0"/>
              <a:t>Basic Facts</a:t>
            </a:r>
          </a:p>
        </p:txBody>
      </p:sp>
      <p:sp>
        <p:nvSpPr>
          <p:cNvPr id="38915" name="Rectangle 3"/>
          <p:cNvSpPr>
            <a:spLocks noGrp="1"/>
          </p:cNvSpPr>
          <p:nvPr>
            <p:ph idx="1"/>
          </p:nvPr>
        </p:nvSpPr>
        <p:spPr>
          <a:xfrm>
            <a:off x="827088" y="1411288"/>
            <a:ext cx="7572375" cy="4414837"/>
          </a:xfrm>
        </p:spPr>
        <p:txBody>
          <a:bodyPr vert="horz" wrap="square" lIns="91440" tIns="45720" rIns="91440" bIns="45720" anchor="t" anchorCtr="0"/>
          <a:lstStyle/>
          <a:p>
            <a:r>
              <a:rPr lang="en-US" altLang="zh-CN" sz="2800" dirty="0"/>
              <a:t>If a system is in safe state </a:t>
            </a:r>
            <a:r>
              <a:rPr lang="en-US" altLang="zh-CN" sz="2800" dirty="0">
                <a:sym typeface="Symbol" panose="05050102010706020507" pitchFamily="18" charset="2"/>
              </a:rPr>
              <a:t> no deadlocks</a:t>
            </a:r>
          </a:p>
          <a:p>
            <a:r>
              <a:rPr lang="zh-CN" altLang="en-US" sz="2800" dirty="0">
                <a:sym typeface="Symbol" panose="05050102010706020507" pitchFamily="18" charset="2"/>
              </a:rPr>
              <a:t>（如果系统处于安全状态没有死锁）</a:t>
            </a:r>
            <a:br>
              <a:rPr lang="en-US" altLang="zh-CN" sz="2800" dirty="0">
                <a:sym typeface="Symbol" panose="05050102010706020507" pitchFamily="18" charset="2"/>
              </a:rPr>
            </a:br>
            <a:endParaRPr lang="en-US" altLang="zh-CN" sz="2800" dirty="0">
              <a:sym typeface="Symbol" panose="05050102010706020507" pitchFamily="18" charset="2"/>
            </a:endParaRPr>
          </a:p>
          <a:p>
            <a:r>
              <a:rPr lang="en-US" altLang="zh-CN" sz="2800" dirty="0">
                <a:sym typeface="Symbol" panose="05050102010706020507" pitchFamily="18" charset="2"/>
              </a:rPr>
              <a:t>If a system is in unsafe state  </a:t>
            </a:r>
            <a:r>
              <a:rPr lang="en-US" altLang="zh-CN" sz="2800" dirty="0">
                <a:solidFill>
                  <a:srgbClr val="C00000"/>
                </a:solidFill>
                <a:sym typeface="Symbol" panose="05050102010706020507" pitchFamily="18" charset="2"/>
              </a:rPr>
              <a:t>possibility</a:t>
            </a:r>
            <a:r>
              <a:rPr lang="en-US" altLang="zh-CN" sz="2800" dirty="0">
                <a:sym typeface="Symbol" panose="05050102010706020507" pitchFamily="18" charset="2"/>
              </a:rPr>
              <a:t> of deadlock</a:t>
            </a:r>
          </a:p>
          <a:p>
            <a:r>
              <a:rPr lang="zh-CN" altLang="en-US" sz="2800" dirty="0">
                <a:sym typeface="Symbol" panose="05050102010706020507" pitchFamily="18" charset="2"/>
              </a:rPr>
              <a:t>（</a:t>
            </a:r>
            <a:r>
              <a:rPr lang="zh-CN" altLang="en-US" dirty="0"/>
              <a:t>如果系统处于不安全状态</a:t>
            </a:r>
            <a:r>
              <a:rPr lang="en-US" altLang="zh-CN" dirty="0">
                <a:sym typeface="Symbol" panose="05050102010706020507" pitchFamily="18" charset="2"/>
              </a:rPr>
              <a:t></a:t>
            </a:r>
            <a:r>
              <a:rPr lang="zh-CN" altLang="en-US" dirty="0">
                <a:sym typeface="Symbol" panose="05050102010706020507" pitchFamily="18" charset="2"/>
              </a:rPr>
              <a:t>有</a:t>
            </a:r>
            <a:r>
              <a:rPr lang="zh-CN" altLang="en-US" dirty="0"/>
              <a:t>死锁的</a:t>
            </a:r>
            <a:r>
              <a:rPr lang="zh-CN" altLang="en-US" dirty="0">
                <a:solidFill>
                  <a:srgbClr val="FF0000"/>
                </a:solidFill>
              </a:rPr>
              <a:t>可能性</a:t>
            </a:r>
            <a:r>
              <a:rPr lang="zh-CN" altLang="en-US" sz="2800" dirty="0">
                <a:solidFill>
                  <a:srgbClr val="FF0000"/>
                </a:solidFill>
                <a:sym typeface="Symbol" panose="05050102010706020507" pitchFamily="18" charset="2"/>
              </a:rPr>
              <a:t>）</a:t>
            </a:r>
            <a:br>
              <a:rPr lang="en-US" altLang="zh-CN" sz="2800" dirty="0">
                <a:sym typeface="Symbol" panose="05050102010706020507" pitchFamily="18" charset="2"/>
              </a:rPr>
            </a:br>
            <a:endParaRPr lang="en-US" altLang="zh-CN" sz="2800" dirty="0">
              <a:sym typeface="Symbol" panose="05050102010706020507" pitchFamily="18" charset="2"/>
            </a:endParaRPr>
          </a:p>
          <a:p>
            <a:r>
              <a:rPr lang="en-US" altLang="zh-CN" sz="2800" dirty="0">
                <a:sym typeface="Symbol" panose="05050102010706020507" pitchFamily="18" charset="2"/>
              </a:rPr>
              <a:t>Avoidance  ensure that a system will never enter an unsafe state.</a:t>
            </a:r>
            <a:r>
              <a:rPr lang="zh-CN" altLang="en-US" sz="2800" dirty="0">
                <a:sym typeface="Symbol" panose="05050102010706020507" pitchFamily="18" charset="2"/>
              </a:rPr>
              <a:t>（死锁避免</a:t>
            </a:r>
            <a:r>
              <a:rPr lang="en-US" altLang="zh-CN" dirty="0">
                <a:sym typeface="Symbol" panose="05050102010706020507" pitchFamily="18" charset="2"/>
              </a:rPr>
              <a:t> </a:t>
            </a:r>
            <a:r>
              <a:rPr lang="zh-CN" altLang="en-US" dirty="0"/>
              <a:t>确保系统永远不会进入不安全状态。 </a:t>
            </a:r>
            <a:r>
              <a:rPr lang="zh-CN" altLang="en-US" sz="2800" dirty="0">
                <a:sym typeface="Symbol" panose="05050102010706020507" pitchFamily="18" charset="2"/>
              </a:rPr>
              <a:t>）</a:t>
            </a:r>
            <a:endParaRPr lang="en-US" altLang="zh-CN" sz="28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vert="horz" wrap="square" lIns="91440" tIns="45720" rIns="91440" bIns="45720" anchor="b" anchorCtr="0"/>
          <a:lstStyle/>
          <a:p>
            <a:pPr eaLnBrk="1" hangingPunct="1"/>
            <a:r>
              <a:rPr lang="en-US" altLang="zh-CN" dirty="0"/>
              <a:t>Safe, Unsafe , Deadlock State </a:t>
            </a:r>
          </a:p>
        </p:txBody>
      </p:sp>
      <p:pic>
        <p:nvPicPr>
          <p:cNvPr id="39939" name="Picture 4"/>
          <p:cNvPicPr>
            <a:picLocks noChangeAspect="1"/>
          </p:cNvPicPr>
          <p:nvPr/>
        </p:nvPicPr>
        <p:blipFill>
          <a:blip r:embed="rId3"/>
          <a:srcRect l="13437" t="1572" r="13683" b="2194"/>
          <a:stretch>
            <a:fillRect/>
          </a:stretch>
        </p:blipFill>
        <p:spPr>
          <a:xfrm>
            <a:off x="2282825" y="1716088"/>
            <a:ext cx="4391025" cy="4348162"/>
          </a:xfrm>
          <a:prstGeom prst="rect">
            <a:avLst/>
          </a:prstGeom>
          <a:noFill/>
          <a:ln w="38100">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p:txBody>
          <a:bodyPr vert="horz" wrap="square" lIns="91440" tIns="45720" rIns="91440" bIns="45720" anchor="b" anchorCtr="0"/>
          <a:lstStyle/>
          <a:p>
            <a:pPr eaLnBrk="1" hangingPunct="1"/>
            <a:r>
              <a:rPr lang="en-US" altLang="zh-CN" dirty="0"/>
              <a:t>Avoidance algorithms</a:t>
            </a:r>
          </a:p>
        </p:txBody>
      </p:sp>
      <p:sp>
        <p:nvSpPr>
          <p:cNvPr id="40963" name="Rectangle 3"/>
          <p:cNvSpPr>
            <a:spLocks noGrp="1"/>
          </p:cNvSpPr>
          <p:nvPr>
            <p:ph idx="1"/>
          </p:nvPr>
        </p:nvSpPr>
        <p:spPr>
          <a:xfrm>
            <a:off x="827088" y="1439863"/>
            <a:ext cx="7437437" cy="4483100"/>
          </a:xfrm>
        </p:spPr>
        <p:txBody>
          <a:bodyPr vert="horz" wrap="square" lIns="91440" tIns="45720" rIns="91440" bIns="45720" anchor="t" anchorCtr="0"/>
          <a:lstStyle/>
          <a:p>
            <a:r>
              <a:rPr lang="en-US" altLang="zh-CN" sz="2800" dirty="0">
                <a:solidFill>
                  <a:srgbClr val="FF0066"/>
                </a:solidFill>
              </a:rPr>
              <a:t>Single </a:t>
            </a:r>
            <a:r>
              <a:rPr lang="en-US" altLang="zh-CN" sz="2800" dirty="0"/>
              <a:t>instance of a resource type</a:t>
            </a:r>
          </a:p>
          <a:p>
            <a:pPr lvl="1"/>
            <a:r>
              <a:rPr lang="en-US" altLang="zh-CN" sz="2800" dirty="0"/>
              <a:t>Use a resource-allocation graph</a:t>
            </a:r>
            <a:r>
              <a:rPr lang="zh-CN" altLang="en-US" sz="2800" dirty="0"/>
              <a:t>（资源分配图）</a:t>
            </a:r>
            <a:endParaRPr lang="en-US" altLang="zh-CN" sz="2800" dirty="0"/>
          </a:p>
          <a:p>
            <a:endParaRPr lang="en-US" altLang="zh-CN" sz="2800" dirty="0"/>
          </a:p>
          <a:p>
            <a:r>
              <a:rPr lang="en-US" altLang="zh-CN" sz="2800" dirty="0">
                <a:solidFill>
                  <a:srgbClr val="FF0066"/>
                </a:solidFill>
              </a:rPr>
              <a:t>Multiple </a:t>
            </a:r>
            <a:r>
              <a:rPr lang="en-US" altLang="zh-CN" sz="2800" dirty="0"/>
              <a:t>instances of a resource type</a:t>
            </a:r>
          </a:p>
          <a:p>
            <a:pPr lvl="1"/>
            <a:r>
              <a:rPr lang="en-US" altLang="zh-CN" sz="2800" dirty="0"/>
              <a:t> Use the banker’s algorithm (</a:t>
            </a:r>
            <a:r>
              <a:rPr lang="zh-CN" altLang="en-US" sz="2800" dirty="0">
                <a:ea typeface="宋体" panose="02010600030101010101" pitchFamily="2" charset="-122"/>
              </a:rPr>
              <a:t>银行家算法</a:t>
            </a:r>
            <a:r>
              <a:rPr lang="en-US" altLang="zh-CN" sz="2800" dirty="0"/>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901700" y="277813"/>
            <a:ext cx="8229600" cy="576262"/>
          </a:xfrm>
        </p:spPr>
        <p:txBody>
          <a:bodyPr vert="horz" wrap="square" lIns="91440" tIns="45720" rIns="91440" bIns="45720" anchor="b" anchorCtr="0"/>
          <a:lstStyle/>
          <a:p>
            <a:pPr eaLnBrk="1" hangingPunct="1"/>
            <a:r>
              <a:rPr lang="en-US" altLang="zh-CN" dirty="0"/>
              <a:t>Resource-Allocation Graph Scheme</a:t>
            </a:r>
          </a:p>
        </p:txBody>
      </p:sp>
      <p:sp>
        <p:nvSpPr>
          <p:cNvPr id="41987" name="Rectangle 3"/>
          <p:cNvSpPr>
            <a:spLocks noGrp="1"/>
          </p:cNvSpPr>
          <p:nvPr>
            <p:ph idx="1"/>
          </p:nvPr>
        </p:nvSpPr>
        <p:spPr>
          <a:xfrm>
            <a:off x="400050" y="1027113"/>
            <a:ext cx="8351838" cy="4483100"/>
          </a:xfrm>
        </p:spPr>
        <p:txBody>
          <a:bodyPr vert="horz" wrap="square" lIns="91440" tIns="45720" rIns="91440" bIns="45720" anchor="t" anchorCtr="0"/>
          <a:lstStyle/>
          <a:p>
            <a:r>
              <a:rPr lang="en-US" altLang="zh-CN" dirty="0">
                <a:solidFill>
                  <a:srgbClr val="FF0000"/>
                </a:solidFill>
              </a:rPr>
              <a:t>Claim edge(</a:t>
            </a:r>
            <a:r>
              <a:rPr lang="zh-CN" altLang="en-US" dirty="0">
                <a:solidFill>
                  <a:srgbClr val="FF0000"/>
                </a:solidFill>
                <a:ea typeface="宋体" panose="02010600030101010101" pitchFamily="2" charset="-122"/>
              </a:rPr>
              <a:t>需求边</a:t>
            </a:r>
            <a:r>
              <a:rPr lang="en-US" altLang="zh-CN" dirty="0">
                <a:solidFill>
                  <a:srgbClr val="FF0000"/>
                </a:solidFill>
              </a:rPr>
              <a:t>) </a:t>
            </a:r>
            <a:r>
              <a:rPr lang="en-US" altLang="zh-CN" i="1" dirty="0"/>
              <a:t>P</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R</a:t>
            </a:r>
            <a:r>
              <a:rPr lang="en-US" altLang="zh-CN" i="1" baseline="-25000" dirty="0">
                <a:sym typeface="Symbol" panose="05050102010706020507" pitchFamily="18" charset="2"/>
              </a:rPr>
              <a:t>j</a:t>
            </a:r>
            <a:r>
              <a:rPr lang="en-US" altLang="zh-CN" dirty="0">
                <a:sym typeface="Symbol" panose="05050102010706020507" pitchFamily="18" charset="2"/>
              </a:rPr>
              <a:t> indicated that process </a:t>
            </a:r>
            <a:r>
              <a:rPr lang="en-US" altLang="zh-CN" i="1" dirty="0">
                <a:sym typeface="Symbol" panose="05050102010706020507" pitchFamily="18" charset="2"/>
              </a:rPr>
              <a:t>P</a:t>
            </a:r>
            <a:r>
              <a:rPr lang="en-US" altLang="zh-CN" i="1" baseline="-25000" dirty="0">
                <a:sym typeface="Symbol" panose="05050102010706020507" pitchFamily="18" charset="2"/>
              </a:rPr>
              <a:t>j</a:t>
            </a:r>
            <a:r>
              <a:rPr lang="en-US" altLang="zh-CN" dirty="0">
                <a:sym typeface="Symbol" panose="05050102010706020507" pitchFamily="18" charset="2"/>
              </a:rPr>
              <a:t> may request resource </a:t>
            </a:r>
            <a:r>
              <a:rPr lang="en-US" altLang="zh-CN" i="1" dirty="0">
                <a:sym typeface="Symbol" panose="05050102010706020507" pitchFamily="18" charset="2"/>
              </a:rPr>
              <a:t>R</a:t>
            </a:r>
            <a:r>
              <a:rPr lang="en-US" altLang="zh-CN" i="1" baseline="-25000" dirty="0">
                <a:sym typeface="Symbol" panose="05050102010706020507" pitchFamily="18" charset="2"/>
              </a:rPr>
              <a:t>j</a:t>
            </a:r>
            <a:r>
              <a:rPr lang="en-US" altLang="zh-CN" dirty="0">
                <a:sym typeface="Symbol" panose="05050102010706020507" pitchFamily="18" charset="2"/>
              </a:rPr>
              <a:t>; represented by a </a:t>
            </a:r>
            <a:r>
              <a:rPr lang="en-US" altLang="zh-CN" dirty="0">
                <a:solidFill>
                  <a:srgbClr val="FF0000"/>
                </a:solidFill>
                <a:sym typeface="Symbol" panose="05050102010706020507" pitchFamily="18" charset="2"/>
              </a:rPr>
              <a:t>dashed line</a:t>
            </a:r>
            <a:endParaRPr lang="en-US" altLang="zh-CN" dirty="0">
              <a:sym typeface="Symbol" panose="05050102010706020507" pitchFamily="18" charset="2"/>
            </a:endParaRPr>
          </a:p>
          <a:p>
            <a:r>
              <a:rPr lang="en-US" altLang="zh-CN" dirty="0">
                <a:sym typeface="Symbol" panose="05050102010706020507" pitchFamily="18" charset="2"/>
              </a:rPr>
              <a:t>Claim edge converts to </a:t>
            </a:r>
            <a:r>
              <a:rPr lang="en-US" altLang="zh-CN" dirty="0">
                <a:solidFill>
                  <a:srgbClr val="FF0000"/>
                </a:solidFill>
                <a:sym typeface="Symbol" panose="05050102010706020507" pitchFamily="18" charset="2"/>
              </a:rPr>
              <a:t>request edge(</a:t>
            </a:r>
            <a:r>
              <a:rPr lang="zh-CN" altLang="en-US" dirty="0">
                <a:solidFill>
                  <a:srgbClr val="FF0000"/>
                </a:solidFill>
                <a:ea typeface="宋体" panose="02010600030101010101" pitchFamily="2" charset="-122"/>
                <a:sym typeface="Symbol" panose="05050102010706020507" pitchFamily="18" charset="2"/>
              </a:rPr>
              <a:t>申请边</a:t>
            </a:r>
            <a:r>
              <a:rPr lang="en-US" altLang="zh-CN" dirty="0">
                <a:solidFill>
                  <a:srgbClr val="FF0000"/>
                </a:solidFill>
                <a:sym typeface="Symbol" panose="05050102010706020507" pitchFamily="18" charset="2"/>
              </a:rPr>
              <a:t>) </a:t>
            </a:r>
            <a:r>
              <a:rPr lang="en-US" altLang="zh-CN" dirty="0">
                <a:sym typeface="Symbol" panose="05050102010706020507" pitchFamily="18" charset="2"/>
              </a:rPr>
              <a:t>when a process requests a resource</a:t>
            </a:r>
          </a:p>
          <a:p>
            <a:r>
              <a:rPr lang="en-US" altLang="zh-CN" dirty="0">
                <a:sym typeface="Symbol" panose="05050102010706020507" pitchFamily="18" charset="2"/>
              </a:rPr>
              <a:t>Request edge converted to an </a:t>
            </a:r>
            <a:r>
              <a:rPr lang="en-US" altLang="zh-CN" dirty="0">
                <a:solidFill>
                  <a:srgbClr val="FF0000"/>
                </a:solidFill>
                <a:sym typeface="Symbol" panose="05050102010706020507" pitchFamily="18" charset="2"/>
              </a:rPr>
              <a:t>assignment edge(</a:t>
            </a:r>
            <a:r>
              <a:rPr lang="zh-CN" altLang="en-US" dirty="0">
                <a:solidFill>
                  <a:srgbClr val="FF0000"/>
                </a:solidFill>
                <a:ea typeface="宋体" panose="02010600030101010101" pitchFamily="2" charset="-122"/>
                <a:sym typeface="Symbol" panose="05050102010706020507" pitchFamily="18" charset="2"/>
              </a:rPr>
              <a:t>分配边</a:t>
            </a:r>
            <a:r>
              <a:rPr lang="en-US" altLang="zh-CN" dirty="0">
                <a:solidFill>
                  <a:srgbClr val="FF0000"/>
                </a:solidFill>
                <a:sym typeface="Symbol" panose="05050102010706020507" pitchFamily="18" charset="2"/>
              </a:rPr>
              <a:t>) </a:t>
            </a:r>
            <a:r>
              <a:rPr lang="en-US" altLang="zh-CN" dirty="0">
                <a:sym typeface="Symbol" panose="05050102010706020507" pitchFamily="18" charset="2"/>
              </a:rPr>
              <a:t>when the  resource is allocated to the process</a:t>
            </a:r>
          </a:p>
          <a:p>
            <a:pPr>
              <a:buNone/>
            </a:pPr>
            <a:endParaRPr lang="en-US" altLang="zh-CN" dirty="0">
              <a:sym typeface="Symbol" panose="05050102010706020507" pitchFamily="18" charset="2"/>
            </a:endParaRPr>
          </a:p>
          <a:p>
            <a:r>
              <a:rPr lang="en-US" altLang="zh-CN" dirty="0">
                <a:sym typeface="Symbol" panose="05050102010706020507" pitchFamily="18" charset="2"/>
              </a:rPr>
              <a:t>When a resource is released by a process, assignment edge reconverts to a claim edge</a:t>
            </a:r>
            <a:r>
              <a:rPr lang="zh-CN" altLang="en-US" dirty="0">
                <a:sym typeface="Symbol" panose="05050102010706020507" pitchFamily="18" charset="2"/>
              </a:rPr>
              <a:t>（</a:t>
            </a:r>
            <a:r>
              <a:rPr lang="zh-CN" altLang="en-US" dirty="0"/>
              <a:t>当资源被进程释放时，分配边重新转换为需求边</a:t>
            </a:r>
            <a:r>
              <a:rPr lang="zh-CN" altLang="en-US" dirty="0">
                <a:sym typeface="Symbol" panose="05050102010706020507" pitchFamily="18" charset="2"/>
              </a:rPr>
              <a:t>）</a:t>
            </a:r>
            <a:endParaRPr lang="en-US" altLang="zh-CN" dirty="0">
              <a:sym typeface="Symbol" panose="05050102010706020507" pitchFamily="18" charset="2"/>
            </a:endParaRPr>
          </a:p>
          <a:p>
            <a:r>
              <a:rPr lang="en-US" altLang="zh-CN" dirty="0">
                <a:sym typeface="Symbol" panose="05050102010706020507" pitchFamily="18" charset="2"/>
              </a:rPr>
              <a:t>Resources must be claimed </a:t>
            </a:r>
            <a:r>
              <a:rPr lang="en-US" altLang="zh-CN" i="1" dirty="0">
                <a:sym typeface="Symbol" panose="05050102010706020507" pitchFamily="18" charset="2"/>
              </a:rPr>
              <a:t>a priori</a:t>
            </a:r>
            <a:r>
              <a:rPr lang="en-US" altLang="zh-CN" dirty="0">
                <a:sym typeface="Symbol" panose="05050102010706020507" pitchFamily="18" charset="2"/>
              </a:rPr>
              <a:t> in the system</a:t>
            </a:r>
            <a:r>
              <a:rPr lang="zh-CN" altLang="en-US" dirty="0">
                <a:sym typeface="Symbol" panose="05050102010706020507" pitchFamily="18" charset="2"/>
              </a:rPr>
              <a:t>（资源必须在系统中预先声明）</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741363" y="404813"/>
            <a:ext cx="8224837" cy="457200"/>
          </a:xfrm>
        </p:spPr>
        <p:txBody>
          <a:bodyPr vert="horz" wrap="square" lIns="91440" tIns="45720" rIns="91440" bIns="45720" anchor="b" anchorCtr="0"/>
          <a:lstStyle/>
          <a:p>
            <a:pPr eaLnBrk="1" hangingPunct="1"/>
            <a:r>
              <a:rPr lang="en-US" altLang="zh-CN" dirty="0"/>
              <a:t>Resource-Allocation Graph</a:t>
            </a:r>
          </a:p>
        </p:txBody>
      </p:sp>
      <p:pic>
        <p:nvPicPr>
          <p:cNvPr id="43011" name="Picture 7"/>
          <p:cNvPicPr>
            <a:picLocks noChangeAspect="1"/>
          </p:cNvPicPr>
          <p:nvPr/>
        </p:nvPicPr>
        <p:blipFill>
          <a:blip r:embed="rId3"/>
          <a:stretch>
            <a:fillRect/>
          </a:stretch>
        </p:blipFill>
        <p:spPr>
          <a:xfrm>
            <a:off x="2654300" y="1533525"/>
            <a:ext cx="3983038" cy="4043363"/>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900113" y="258763"/>
            <a:ext cx="8243887" cy="457200"/>
          </a:xfrm>
        </p:spPr>
        <p:txBody>
          <a:bodyPr vert="horz" wrap="square" lIns="91440" tIns="45720" rIns="91440" bIns="45720" anchor="b" anchorCtr="0"/>
          <a:lstStyle/>
          <a:p>
            <a:pPr eaLnBrk="1" hangingPunct="1"/>
            <a:r>
              <a:rPr lang="en-US" altLang="zh-CN" sz="2800" dirty="0"/>
              <a:t>Unsafe State In Resource-Allocation Graph</a:t>
            </a:r>
          </a:p>
        </p:txBody>
      </p:sp>
      <p:pic>
        <p:nvPicPr>
          <p:cNvPr id="44035" name="Picture 5"/>
          <p:cNvPicPr>
            <a:picLocks noChangeAspect="1"/>
          </p:cNvPicPr>
          <p:nvPr/>
        </p:nvPicPr>
        <p:blipFill>
          <a:blip r:embed="rId3"/>
          <a:stretch>
            <a:fillRect/>
          </a:stretch>
        </p:blipFill>
        <p:spPr>
          <a:xfrm>
            <a:off x="2624455" y="1454150"/>
            <a:ext cx="4200525" cy="4232275"/>
          </a:xfrm>
          <a:prstGeom prst="rect">
            <a:avLst/>
          </a:prstGeom>
          <a:noFill/>
          <a:ln w="9525">
            <a:noFill/>
          </a:ln>
        </p:spPr>
      </p:pic>
      <p:cxnSp>
        <p:nvCxnSpPr>
          <p:cNvPr id="3" name="直接箭头连接符 2">
            <a:extLst>
              <a:ext uri="{FF2B5EF4-FFF2-40B4-BE49-F238E27FC236}">
                <a16:creationId xmlns:a16="http://schemas.microsoft.com/office/drawing/2014/main" id="{16389FDB-E896-480B-A3A4-E40302832E05}"/>
              </a:ext>
            </a:extLst>
          </p:cNvPr>
          <p:cNvCxnSpPr>
            <a:cxnSpLocks/>
          </p:cNvCxnSpPr>
          <p:nvPr/>
        </p:nvCxnSpPr>
        <p:spPr bwMode="auto">
          <a:xfrm>
            <a:off x="3261946" y="3771900"/>
            <a:ext cx="984739" cy="984738"/>
          </a:xfrm>
          <a:prstGeom prst="straightConnector1">
            <a:avLst/>
          </a:prstGeom>
          <a:ln w="57150">
            <a:solidFill>
              <a:schemeClr val="tx1"/>
            </a:solidFill>
            <a:headEnd type="none" w="med" len="med"/>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885825" y="277813"/>
            <a:ext cx="8229600" cy="576262"/>
          </a:xfrm>
        </p:spPr>
        <p:txBody>
          <a:bodyPr vert="horz" wrap="square" lIns="91440" tIns="45720" rIns="91440" bIns="45720" anchor="b" anchorCtr="0"/>
          <a:lstStyle/>
          <a:p>
            <a:pPr eaLnBrk="1" hangingPunct="1"/>
            <a:r>
              <a:rPr lang="en-US" altLang="zh-CN" dirty="0"/>
              <a:t>Resource-Allocation Graph Algorithm</a:t>
            </a:r>
          </a:p>
        </p:txBody>
      </p:sp>
      <p:sp>
        <p:nvSpPr>
          <p:cNvPr id="45059" name="Rectangle 3"/>
          <p:cNvSpPr>
            <a:spLocks noGrp="1"/>
          </p:cNvSpPr>
          <p:nvPr>
            <p:ph idx="1"/>
          </p:nvPr>
        </p:nvSpPr>
        <p:spPr>
          <a:xfrm>
            <a:off x="806450" y="1392238"/>
            <a:ext cx="7718425" cy="4303712"/>
          </a:xfrm>
        </p:spPr>
        <p:txBody>
          <a:bodyPr vert="horz" wrap="square" lIns="91440" tIns="45720" rIns="91440" bIns="45720" anchor="t" anchorCtr="0"/>
          <a:lstStyle/>
          <a:p>
            <a:r>
              <a:rPr lang="en-US" altLang="zh-CN" dirty="0"/>
              <a:t>Suppose that process</a:t>
            </a:r>
            <a:r>
              <a:rPr lang="en-US" altLang="zh-CN" i="1" dirty="0"/>
              <a:t> P</a:t>
            </a:r>
            <a:r>
              <a:rPr lang="en-US" altLang="zh-CN" i="1" baseline="-25000" dirty="0"/>
              <a:t>i</a:t>
            </a:r>
            <a:r>
              <a:rPr lang="en-US" altLang="zh-CN" dirty="0"/>
              <a:t> requests a resource </a:t>
            </a:r>
            <a:r>
              <a:rPr lang="en-US" altLang="zh-CN" i="1" dirty="0">
                <a:sym typeface="Symbol" panose="05050102010706020507" pitchFamily="18" charset="2"/>
              </a:rPr>
              <a:t>R</a:t>
            </a:r>
            <a:r>
              <a:rPr lang="en-US" altLang="zh-CN" i="1" baseline="-25000" dirty="0">
                <a:sym typeface="Symbol" panose="05050102010706020507" pitchFamily="18" charset="2"/>
              </a:rPr>
              <a:t>j</a:t>
            </a:r>
          </a:p>
          <a:p>
            <a:endParaRPr lang="en-US" altLang="zh-CN" i="1" baseline="-25000" dirty="0">
              <a:sym typeface="Symbol" panose="05050102010706020507" pitchFamily="18" charset="2"/>
            </a:endParaRPr>
          </a:p>
          <a:p>
            <a:r>
              <a:rPr lang="en-US" altLang="zh-CN" dirty="0">
                <a:sym typeface="Symbol" panose="05050102010706020507" pitchFamily="18" charset="2"/>
              </a:rPr>
              <a:t>The request can be granted only if converting the request edge to an assignment edge </a:t>
            </a:r>
            <a:r>
              <a:rPr lang="en-US" altLang="zh-CN" dirty="0">
                <a:solidFill>
                  <a:srgbClr val="FF0000"/>
                </a:solidFill>
                <a:sym typeface="Symbol" panose="05050102010706020507" pitchFamily="18" charset="2"/>
              </a:rPr>
              <a:t>does not result in the formation of a cycle </a:t>
            </a:r>
            <a:r>
              <a:rPr lang="en-US" altLang="zh-CN" dirty="0">
                <a:sym typeface="Symbol" panose="05050102010706020507" pitchFamily="18" charset="2"/>
              </a:rPr>
              <a:t>in the resource allocation graph</a:t>
            </a:r>
            <a:r>
              <a:rPr lang="zh-CN" altLang="en-US" dirty="0">
                <a:sym typeface="Symbol" panose="05050102010706020507" pitchFamily="18" charset="2"/>
              </a:rPr>
              <a:t>（图中是否有环）</a:t>
            </a:r>
            <a:endParaRPr lang="en-US" altLang="zh-CN" dirty="0">
              <a:sym typeface="Symbol" panose="05050102010706020507" pitchFamily="18" charset="2"/>
            </a:endParaRPr>
          </a:p>
          <a:p>
            <a:r>
              <a:rPr lang="zh-CN" altLang="en-US" dirty="0">
                <a:sym typeface="Symbol" panose="05050102010706020507" pitchFamily="18" charset="2"/>
              </a:rPr>
              <a:t>如何检测环？</a:t>
            </a:r>
            <a:endParaRPr lang="en-US" altLang="zh-CN" dirty="0">
              <a:sym typeface="Symbol" panose="05050102010706020507" pitchFamily="18" charset="2"/>
            </a:endParaRPr>
          </a:p>
          <a:p>
            <a:pPr lvl="1"/>
            <a:r>
              <a:rPr lang="zh-CN" altLang="en-US" dirty="0">
                <a:sym typeface="Symbol" panose="05050102010706020507" pitchFamily="18" charset="2"/>
              </a:rPr>
              <a:t>深度遍历</a:t>
            </a:r>
            <a:endParaRPr lang="en-US" altLang="zh-CN"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p:txBody>
          <a:bodyPr vert="horz" wrap="square" lIns="91440" tIns="45720" rIns="91440" bIns="45720" anchor="b" anchorCtr="0"/>
          <a:lstStyle/>
          <a:p>
            <a:pPr eaLnBrk="1" hangingPunct="1"/>
            <a:r>
              <a:rPr lang="en-US" altLang="zh-CN" dirty="0"/>
              <a:t>Banker’s Algorithm</a:t>
            </a:r>
          </a:p>
        </p:txBody>
      </p:sp>
      <p:sp>
        <p:nvSpPr>
          <p:cNvPr id="46083" name="Rectangle 3"/>
          <p:cNvSpPr>
            <a:spLocks noGrp="1"/>
          </p:cNvSpPr>
          <p:nvPr>
            <p:ph idx="1"/>
          </p:nvPr>
        </p:nvSpPr>
        <p:spPr>
          <a:xfrm>
            <a:off x="827088" y="1397000"/>
            <a:ext cx="7829550" cy="4441825"/>
          </a:xfrm>
        </p:spPr>
        <p:txBody>
          <a:bodyPr vert="horz" wrap="square" lIns="91440" tIns="45720" rIns="91440" bIns="45720" anchor="t" anchorCtr="0"/>
          <a:lstStyle/>
          <a:p>
            <a:r>
              <a:rPr lang="en-US" altLang="zh-CN" dirty="0"/>
              <a:t>Multiple instances</a:t>
            </a:r>
            <a:r>
              <a:rPr lang="zh-CN" altLang="en-US" dirty="0"/>
              <a:t>（针对多实例的情况）</a:t>
            </a:r>
            <a:br>
              <a:rPr lang="en-US" altLang="zh-CN" dirty="0"/>
            </a:br>
            <a:endParaRPr lang="en-US" altLang="zh-CN" dirty="0"/>
          </a:p>
          <a:p>
            <a:r>
              <a:rPr lang="en-US" altLang="zh-CN" dirty="0"/>
              <a:t>Each process must claim the maximum number of each resource type it may need</a:t>
            </a:r>
            <a:r>
              <a:rPr lang="zh-CN" altLang="en-US" dirty="0"/>
              <a:t>（每个进程必须声明它可能需要的每种资源类型的最大数量）</a:t>
            </a:r>
            <a:br>
              <a:rPr lang="en-US" altLang="zh-CN" dirty="0"/>
            </a:br>
            <a:endParaRPr lang="en-US" altLang="zh-CN" dirty="0"/>
          </a:p>
          <a:p>
            <a:r>
              <a:rPr lang="en-US" altLang="zh-CN" dirty="0"/>
              <a:t>When a process requests a resource it may have to wait  </a:t>
            </a:r>
            <a:r>
              <a:rPr lang="zh-CN" altLang="en-US" dirty="0"/>
              <a:t>（当进程请求资源时，它可能需要等待）</a:t>
            </a:r>
            <a:br>
              <a:rPr lang="en-US" altLang="zh-CN" dirty="0"/>
            </a:br>
            <a:endParaRPr lang="en-US" altLang="zh-CN" dirty="0"/>
          </a:p>
          <a:p>
            <a:r>
              <a:rPr lang="en-US" altLang="zh-CN" dirty="0"/>
              <a:t>When a process gets all its resources it must return them in a finite amount of time</a:t>
            </a:r>
            <a:r>
              <a:rPr lang="zh-CN" altLang="en-US" dirty="0"/>
              <a:t>（当一个进程获得它所有的资源时，它必须在有限的时间内返回它们）</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1116013" y="422275"/>
            <a:ext cx="7685087" cy="431800"/>
          </a:xfrm>
        </p:spPr>
        <p:txBody>
          <a:bodyPr vert="horz" wrap="square" lIns="91440" tIns="45720" rIns="91440" bIns="45720" anchor="b" anchorCtr="0"/>
          <a:lstStyle/>
          <a:p>
            <a:pPr eaLnBrk="1" hangingPunct="1"/>
            <a:r>
              <a:rPr lang="en-US" altLang="zh-CN" sz="2800" dirty="0"/>
              <a:t>Data Structures for the Banker’s Algorithm </a:t>
            </a:r>
          </a:p>
        </p:txBody>
      </p:sp>
      <p:sp>
        <p:nvSpPr>
          <p:cNvPr id="47107" name="Rectangle 3"/>
          <p:cNvSpPr>
            <a:spLocks noGrp="1"/>
          </p:cNvSpPr>
          <p:nvPr>
            <p:ph idx="1"/>
          </p:nvPr>
        </p:nvSpPr>
        <p:spPr>
          <a:xfrm>
            <a:off x="506413" y="1843088"/>
            <a:ext cx="8056562" cy="3822700"/>
          </a:xfrm>
        </p:spPr>
        <p:txBody>
          <a:bodyPr vert="horz" wrap="square" lIns="91440" tIns="45720" rIns="91440" bIns="45720" anchor="t" anchorCtr="0"/>
          <a:lstStyle/>
          <a:p>
            <a:r>
              <a:rPr lang="en-US" altLang="zh-CN" b="1" dirty="0"/>
              <a:t>Available</a:t>
            </a:r>
            <a:r>
              <a:rPr lang="en-US" altLang="zh-CN" i="1" dirty="0"/>
              <a:t>:</a:t>
            </a:r>
            <a:r>
              <a:rPr lang="en-US" altLang="zh-CN" dirty="0"/>
              <a:t>  Vector of length </a:t>
            </a:r>
            <a:r>
              <a:rPr lang="en-US" altLang="zh-CN" i="1" dirty="0"/>
              <a:t>m</a:t>
            </a:r>
            <a:r>
              <a:rPr lang="en-US" altLang="zh-CN" dirty="0"/>
              <a:t>. If available [</a:t>
            </a:r>
            <a:r>
              <a:rPr lang="en-US" altLang="zh-CN" i="1" dirty="0"/>
              <a:t>j</a:t>
            </a:r>
            <a:r>
              <a:rPr lang="en-US" altLang="zh-CN" dirty="0"/>
              <a:t>] = </a:t>
            </a:r>
            <a:r>
              <a:rPr lang="en-US" altLang="zh-CN" i="1" dirty="0"/>
              <a:t>k</a:t>
            </a:r>
            <a:r>
              <a:rPr lang="en-US" altLang="zh-CN" dirty="0"/>
              <a:t>, there are</a:t>
            </a:r>
            <a:r>
              <a:rPr lang="en-US" altLang="zh-CN" i="1" dirty="0"/>
              <a:t> k</a:t>
            </a:r>
            <a:r>
              <a:rPr lang="en-US" altLang="zh-CN" dirty="0"/>
              <a:t> instances of resource type </a:t>
            </a:r>
            <a:r>
              <a:rPr lang="en-US" altLang="zh-CN" i="1" dirty="0"/>
              <a:t>R</a:t>
            </a:r>
            <a:r>
              <a:rPr lang="en-US" altLang="zh-CN" i="1" baseline="-25000" dirty="0"/>
              <a:t>j</a:t>
            </a:r>
            <a:r>
              <a:rPr lang="en-US" altLang="zh-CN" baseline="-25000" dirty="0"/>
              <a:t>  </a:t>
            </a:r>
            <a:r>
              <a:rPr lang="en-US" altLang="zh-CN" dirty="0"/>
              <a:t>available</a:t>
            </a:r>
          </a:p>
          <a:p>
            <a:r>
              <a:rPr lang="en-US" altLang="zh-CN" b="1" dirty="0">
                <a:solidFill>
                  <a:srgbClr val="000000"/>
                </a:solidFill>
              </a:rPr>
              <a:t>Max</a:t>
            </a:r>
            <a:r>
              <a:rPr lang="en-US" altLang="zh-CN" i="1" dirty="0"/>
              <a:t>: n x m</a:t>
            </a:r>
            <a:r>
              <a:rPr lang="en-US" altLang="zh-CN" dirty="0"/>
              <a:t> matrix.  If </a:t>
            </a:r>
            <a:r>
              <a:rPr lang="en-US" altLang="zh-CN" i="1" dirty="0"/>
              <a:t>Max </a:t>
            </a:r>
            <a:r>
              <a:rPr lang="en-US" altLang="zh-CN" dirty="0"/>
              <a:t>[</a:t>
            </a:r>
            <a:r>
              <a:rPr lang="en-US" altLang="zh-CN" i="1" dirty="0"/>
              <a:t>i,j</a:t>
            </a:r>
            <a:r>
              <a:rPr lang="en-US" altLang="zh-CN" dirty="0"/>
              <a:t>] = </a:t>
            </a:r>
            <a:r>
              <a:rPr lang="en-US" altLang="zh-CN" i="1" dirty="0"/>
              <a:t>k</a:t>
            </a:r>
            <a:r>
              <a:rPr lang="en-US" altLang="zh-CN" dirty="0"/>
              <a:t>, then process </a:t>
            </a:r>
            <a:r>
              <a:rPr lang="en-US" altLang="zh-CN" i="1" dirty="0"/>
              <a:t>P</a:t>
            </a:r>
            <a:r>
              <a:rPr lang="en-US" altLang="zh-CN" i="1" baseline="-25000" dirty="0"/>
              <a:t>i</a:t>
            </a:r>
            <a:r>
              <a:rPr lang="en-US" altLang="zh-CN" i="1" dirty="0"/>
              <a:t> </a:t>
            </a:r>
            <a:r>
              <a:rPr lang="en-US" altLang="zh-CN" dirty="0"/>
              <a:t>may request at most</a:t>
            </a:r>
            <a:r>
              <a:rPr lang="en-US" altLang="zh-CN" i="1" dirty="0"/>
              <a:t> k </a:t>
            </a:r>
            <a:r>
              <a:rPr lang="en-US" altLang="zh-CN" dirty="0"/>
              <a:t>instances of resource type </a:t>
            </a:r>
            <a:r>
              <a:rPr lang="en-US" altLang="zh-CN" i="1" dirty="0"/>
              <a:t>R</a:t>
            </a:r>
            <a:r>
              <a:rPr lang="en-US" altLang="zh-CN" i="1" baseline="-25000" dirty="0"/>
              <a:t>j</a:t>
            </a:r>
            <a:endParaRPr lang="en-US" altLang="zh-CN" dirty="0"/>
          </a:p>
          <a:p>
            <a:r>
              <a:rPr lang="en-US" altLang="zh-CN" b="1" dirty="0">
                <a:solidFill>
                  <a:srgbClr val="000000"/>
                </a:solidFill>
              </a:rPr>
              <a:t>Allocation</a:t>
            </a:r>
            <a:r>
              <a:rPr lang="en-US" altLang="zh-CN" i="1" dirty="0"/>
              <a:t>:  n </a:t>
            </a:r>
            <a:r>
              <a:rPr lang="en-US" altLang="zh-CN" dirty="0"/>
              <a:t>x</a:t>
            </a:r>
            <a:r>
              <a:rPr lang="en-US" altLang="zh-CN" i="1" dirty="0"/>
              <a:t> m</a:t>
            </a:r>
            <a:r>
              <a:rPr lang="en-US" altLang="zh-CN" dirty="0"/>
              <a:t> matrix.  If Allocation[</a:t>
            </a:r>
            <a:r>
              <a:rPr lang="en-US" altLang="zh-CN" i="1" dirty="0"/>
              <a:t>i,j</a:t>
            </a:r>
            <a:r>
              <a:rPr lang="en-US" altLang="zh-CN" dirty="0"/>
              <a:t>] = </a:t>
            </a:r>
            <a:r>
              <a:rPr lang="en-US" altLang="zh-CN" i="1" dirty="0"/>
              <a:t>k</a:t>
            </a:r>
            <a:r>
              <a:rPr lang="en-US" altLang="zh-CN" dirty="0"/>
              <a:t> then</a:t>
            </a:r>
            <a:r>
              <a:rPr lang="en-US" altLang="zh-CN" i="1" dirty="0"/>
              <a:t> P</a:t>
            </a:r>
            <a:r>
              <a:rPr lang="en-US" altLang="zh-CN" i="1" baseline="-25000" dirty="0"/>
              <a:t>i</a:t>
            </a:r>
            <a:r>
              <a:rPr lang="en-US" altLang="zh-CN" dirty="0"/>
              <a:t> is currently allocated </a:t>
            </a:r>
            <a:r>
              <a:rPr lang="en-US" altLang="zh-CN" i="1" dirty="0"/>
              <a:t>k</a:t>
            </a:r>
            <a:r>
              <a:rPr lang="en-US" altLang="zh-CN" dirty="0"/>
              <a:t> instances of </a:t>
            </a:r>
            <a:r>
              <a:rPr lang="en-US" altLang="zh-CN" i="1" dirty="0"/>
              <a:t>R</a:t>
            </a:r>
            <a:r>
              <a:rPr lang="en-US" altLang="zh-CN" i="1" baseline="-25000" dirty="0"/>
              <a:t>j</a:t>
            </a:r>
            <a:endParaRPr lang="en-US" altLang="zh-CN" baseline="-25000" dirty="0"/>
          </a:p>
          <a:p>
            <a:r>
              <a:rPr lang="en-US" altLang="zh-CN" b="1" dirty="0">
                <a:solidFill>
                  <a:srgbClr val="000000"/>
                </a:solidFill>
              </a:rPr>
              <a:t>Need</a:t>
            </a:r>
            <a:r>
              <a:rPr lang="en-US" altLang="zh-CN" i="1" dirty="0"/>
              <a:t>:  n </a:t>
            </a:r>
            <a:r>
              <a:rPr lang="en-US" altLang="zh-CN" dirty="0"/>
              <a:t>x</a:t>
            </a:r>
            <a:r>
              <a:rPr lang="en-US" altLang="zh-CN" i="1" dirty="0"/>
              <a:t> m</a:t>
            </a:r>
            <a:r>
              <a:rPr lang="en-US" altLang="zh-CN" dirty="0"/>
              <a:t> matrix. If </a:t>
            </a:r>
            <a:r>
              <a:rPr lang="en-US" altLang="zh-CN" i="1" dirty="0"/>
              <a:t>Need</a:t>
            </a:r>
            <a:r>
              <a:rPr lang="en-US" altLang="zh-CN" dirty="0"/>
              <a:t>[</a:t>
            </a:r>
            <a:r>
              <a:rPr lang="en-US" altLang="zh-CN" i="1" dirty="0"/>
              <a:t>i,j</a:t>
            </a:r>
            <a:r>
              <a:rPr lang="en-US" altLang="zh-CN" dirty="0"/>
              <a:t>] =</a:t>
            </a:r>
            <a:r>
              <a:rPr lang="en-US" altLang="zh-CN" i="1" dirty="0"/>
              <a:t> k</a:t>
            </a:r>
            <a:r>
              <a:rPr lang="en-US" altLang="zh-CN" dirty="0"/>
              <a:t>, then</a:t>
            </a:r>
            <a:r>
              <a:rPr lang="en-US" altLang="zh-CN" i="1" dirty="0"/>
              <a:t> P</a:t>
            </a:r>
            <a:r>
              <a:rPr lang="en-US" altLang="zh-CN" i="1" baseline="-25000" dirty="0"/>
              <a:t>i</a:t>
            </a:r>
            <a:r>
              <a:rPr lang="en-US" altLang="zh-CN" dirty="0"/>
              <a:t> may need </a:t>
            </a:r>
            <a:r>
              <a:rPr lang="en-US" altLang="zh-CN" i="1" dirty="0"/>
              <a:t>k</a:t>
            </a:r>
            <a:r>
              <a:rPr lang="en-US" altLang="zh-CN" dirty="0"/>
              <a:t> more instances of </a:t>
            </a:r>
            <a:r>
              <a:rPr lang="en-US" altLang="zh-CN" i="1" dirty="0"/>
              <a:t>R</a:t>
            </a:r>
            <a:r>
              <a:rPr lang="en-US" altLang="zh-CN" i="1" baseline="-25000" dirty="0"/>
              <a:t>j</a:t>
            </a:r>
            <a:r>
              <a:rPr lang="en-US" altLang="zh-CN" baseline="-25000" dirty="0"/>
              <a:t> </a:t>
            </a:r>
            <a:r>
              <a:rPr lang="en-US" altLang="zh-CN" dirty="0"/>
              <a:t>to complete its task</a:t>
            </a:r>
          </a:p>
          <a:p>
            <a:pPr lvl="2">
              <a:buNone/>
            </a:pPr>
            <a:br>
              <a:rPr lang="en-US" altLang="zh-CN" dirty="0"/>
            </a:br>
            <a:r>
              <a:rPr lang="en-US" altLang="zh-CN" i="1" dirty="0"/>
              <a:t>Need</a:t>
            </a:r>
            <a:r>
              <a:rPr lang="en-US" altLang="zh-CN" dirty="0"/>
              <a:t> [</a:t>
            </a:r>
            <a:r>
              <a:rPr lang="en-US" altLang="zh-CN" i="1" dirty="0"/>
              <a:t>i,j]</a:t>
            </a:r>
            <a:r>
              <a:rPr lang="en-US" altLang="zh-CN" dirty="0"/>
              <a:t> = </a:t>
            </a:r>
            <a:r>
              <a:rPr lang="en-US" altLang="zh-CN" i="1" dirty="0"/>
              <a:t>Max</a:t>
            </a:r>
            <a:r>
              <a:rPr lang="en-US" altLang="zh-CN" dirty="0"/>
              <a:t>[</a:t>
            </a:r>
            <a:r>
              <a:rPr lang="en-US" altLang="zh-CN" i="1" dirty="0"/>
              <a:t>i,j</a:t>
            </a:r>
            <a:r>
              <a:rPr lang="en-US" altLang="zh-CN" dirty="0"/>
              <a:t>] – </a:t>
            </a:r>
            <a:r>
              <a:rPr lang="en-US" altLang="zh-CN" i="1" dirty="0"/>
              <a:t>Allocation</a:t>
            </a:r>
            <a:r>
              <a:rPr lang="en-US" altLang="zh-CN" dirty="0"/>
              <a:t> [</a:t>
            </a:r>
            <a:r>
              <a:rPr lang="en-US" altLang="zh-CN" i="1" dirty="0"/>
              <a:t>i,j</a:t>
            </a:r>
            <a:r>
              <a:rPr lang="en-US" altLang="zh-CN" dirty="0"/>
              <a:t>]</a:t>
            </a:r>
          </a:p>
        </p:txBody>
      </p:sp>
      <p:sp>
        <p:nvSpPr>
          <p:cNvPr id="47108" name="Text Box 4"/>
          <p:cNvSpPr txBox="1"/>
          <p:nvPr/>
        </p:nvSpPr>
        <p:spPr>
          <a:xfrm>
            <a:off x="261938" y="801688"/>
            <a:ext cx="8882062" cy="1004887"/>
          </a:xfrm>
          <a:prstGeom prst="rect">
            <a:avLst/>
          </a:prstGeom>
          <a:noFill/>
          <a:ln w="9525">
            <a:noFill/>
          </a:ln>
        </p:spPr>
        <p:txBody>
          <a:bodyPr anchor="ctr" anchorCtr="0">
            <a:spAutoFit/>
          </a:bodyPr>
          <a:lstStyle/>
          <a:p>
            <a:pPr>
              <a:spcBef>
                <a:spcPct val="50000"/>
              </a:spcBef>
            </a:pPr>
            <a:r>
              <a:rPr lang="en-US" altLang="zh-CN" sz="2400" dirty="0">
                <a:latin typeface="Helvetica" pitchFamily="34" charset="0"/>
              </a:rPr>
              <a:t>Let </a:t>
            </a:r>
            <a:r>
              <a:rPr lang="en-US" altLang="zh-CN" sz="2400" i="1" dirty="0">
                <a:latin typeface="Helvetica" pitchFamily="34" charset="0"/>
              </a:rPr>
              <a:t>n</a:t>
            </a:r>
            <a:r>
              <a:rPr lang="en-US" altLang="zh-CN" sz="2400" dirty="0">
                <a:latin typeface="Helvetica" pitchFamily="34" charset="0"/>
              </a:rPr>
              <a:t> = number of processes, </a:t>
            </a:r>
          </a:p>
          <a:p>
            <a:pPr>
              <a:spcBef>
                <a:spcPct val="50000"/>
              </a:spcBef>
            </a:pPr>
            <a:r>
              <a:rPr lang="en-US" altLang="zh-CN" sz="2400" dirty="0">
                <a:latin typeface="Helvetica" pitchFamily="34" charset="0"/>
              </a:rPr>
              <a:t>     </a:t>
            </a:r>
            <a:r>
              <a:rPr lang="en-US" altLang="zh-CN" sz="2400" i="1" dirty="0">
                <a:latin typeface="Helvetica" pitchFamily="34" charset="0"/>
              </a:rPr>
              <a:t>m </a:t>
            </a:r>
            <a:r>
              <a:rPr lang="en-US" altLang="zh-CN" sz="2400" dirty="0">
                <a:latin typeface="Helvetica" pitchFamily="34" charset="0"/>
              </a:rPr>
              <a:t>= number of resources types.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47107" grpI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b" anchorCtr="0"/>
          <a:lstStyle/>
          <a:p>
            <a:pPr eaLnBrk="1" hangingPunct="1"/>
            <a:r>
              <a:rPr lang="en-US" altLang="zh-CN" dirty="0"/>
              <a:t>Safety Algorithm</a:t>
            </a:r>
          </a:p>
        </p:txBody>
      </p:sp>
      <p:sp>
        <p:nvSpPr>
          <p:cNvPr id="48131" name="Rectangle 3"/>
          <p:cNvSpPr>
            <a:spLocks noGrp="1"/>
          </p:cNvSpPr>
          <p:nvPr>
            <p:ph idx="1"/>
          </p:nvPr>
        </p:nvSpPr>
        <p:spPr>
          <a:xfrm>
            <a:off x="508000" y="946150"/>
            <a:ext cx="8636000" cy="3824288"/>
          </a:xfrm>
        </p:spPr>
        <p:txBody>
          <a:bodyPr vert="horz" wrap="square" lIns="91440" tIns="45720" rIns="91440" bIns="45720" anchor="t" anchorCtr="0"/>
          <a:lstStyle/>
          <a:p>
            <a:pPr>
              <a:lnSpc>
                <a:spcPct val="90000"/>
              </a:lnSpc>
              <a:buNone/>
            </a:pPr>
            <a:r>
              <a:rPr lang="en-US" altLang="zh-CN" dirty="0"/>
              <a:t>1.	Let </a:t>
            </a:r>
            <a:r>
              <a:rPr lang="en-US" altLang="zh-CN" i="1" dirty="0">
                <a:solidFill>
                  <a:srgbClr val="000000"/>
                </a:solidFill>
              </a:rPr>
              <a:t>Work </a:t>
            </a:r>
            <a:r>
              <a:rPr lang="en-US" altLang="zh-CN" dirty="0"/>
              <a:t>and </a:t>
            </a:r>
            <a:r>
              <a:rPr lang="en-US" altLang="zh-CN" i="1" dirty="0">
                <a:solidFill>
                  <a:srgbClr val="000000"/>
                </a:solidFill>
              </a:rPr>
              <a:t>Finish</a:t>
            </a:r>
            <a:r>
              <a:rPr lang="en-US" altLang="zh-CN" dirty="0">
                <a:solidFill>
                  <a:srgbClr val="000000"/>
                </a:solidFill>
              </a:rPr>
              <a:t> </a:t>
            </a:r>
            <a:r>
              <a:rPr lang="en-US" altLang="zh-CN" dirty="0"/>
              <a:t>be vectors of length</a:t>
            </a:r>
            <a:r>
              <a:rPr lang="en-US" altLang="zh-CN" i="1" dirty="0"/>
              <a:t> m</a:t>
            </a:r>
            <a:r>
              <a:rPr lang="en-US" altLang="zh-CN" dirty="0"/>
              <a:t> and</a:t>
            </a:r>
            <a:r>
              <a:rPr lang="en-US" altLang="zh-CN" i="1" dirty="0"/>
              <a:t> n</a:t>
            </a:r>
            <a:r>
              <a:rPr lang="en-US" altLang="zh-CN" dirty="0"/>
              <a:t>, respectively.  Initialize:</a:t>
            </a:r>
          </a:p>
          <a:p>
            <a:pPr lvl="3">
              <a:lnSpc>
                <a:spcPct val="90000"/>
              </a:lnSpc>
              <a:buNone/>
            </a:pPr>
            <a:r>
              <a:rPr lang="en-US" altLang="zh-CN" i="1" dirty="0"/>
              <a:t>Work </a:t>
            </a:r>
            <a:r>
              <a:rPr lang="en-US" altLang="zh-CN" dirty="0"/>
              <a:t>= </a:t>
            </a:r>
            <a:r>
              <a:rPr lang="en-US" altLang="zh-CN" i="1" dirty="0"/>
              <a:t>Available</a:t>
            </a:r>
          </a:p>
          <a:p>
            <a:pPr lvl="3">
              <a:lnSpc>
                <a:spcPct val="90000"/>
              </a:lnSpc>
              <a:buNone/>
            </a:pPr>
            <a:r>
              <a:rPr lang="en-US" altLang="zh-CN" i="1" dirty="0"/>
              <a:t>Finish </a:t>
            </a:r>
            <a:r>
              <a:rPr lang="en-US" altLang="zh-CN" dirty="0"/>
              <a:t>[</a:t>
            </a:r>
            <a:r>
              <a:rPr lang="en-US" altLang="zh-CN" i="1" dirty="0"/>
              <a:t>i</a:t>
            </a:r>
            <a:r>
              <a:rPr lang="en-US" altLang="zh-CN" dirty="0"/>
              <a:t>] =</a:t>
            </a:r>
            <a:r>
              <a:rPr lang="en-US" altLang="zh-CN" i="1" dirty="0"/>
              <a:t> false </a:t>
            </a:r>
            <a:r>
              <a:rPr lang="en-US" altLang="zh-CN" dirty="0"/>
              <a:t>for</a:t>
            </a:r>
            <a:r>
              <a:rPr lang="en-US" altLang="zh-CN" i="1" dirty="0"/>
              <a:t> i</a:t>
            </a:r>
            <a:r>
              <a:rPr lang="en-US" altLang="zh-CN" dirty="0"/>
              <a:t> = 0, 1, …, </a:t>
            </a:r>
            <a:r>
              <a:rPr lang="en-US" altLang="zh-CN" i="1" dirty="0"/>
              <a:t>n- </a:t>
            </a:r>
            <a:r>
              <a:rPr lang="en-US" altLang="zh-CN" dirty="0"/>
              <a:t>1</a:t>
            </a:r>
          </a:p>
          <a:p>
            <a:pPr>
              <a:lnSpc>
                <a:spcPct val="90000"/>
              </a:lnSpc>
              <a:buNone/>
            </a:pPr>
            <a:r>
              <a:rPr lang="en-US" altLang="zh-CN" dirty="0"/>
              <a:t>2.	Find an </a:t>
            </a:r>
            <a:r>
              <a:rPr lang="en-US" altLang="zh-CN" i="1" dirty="0"/>
              <a:t>i </a:t>
            </a:r>
            <a:r>
              <a:rPr lang="en-US" altLang="zh-CN" dirty="0"/>
              <a:t>such that both: </a:t>
            </a:r>
          </a:p>
          <a:p>
            <a:pPr lvl="1">
              <a:lnSpc>
                <a:spcPct val="90000"/>
              </a:lnSpc>
              <a:buNone/>
            </a:pPr>
            <a:r>
              <a:rPr lang="en-US" altLang="zh-CN" dirty="0"/>
              <a:t>(a) </a:t>
            </a:r>
            <a:r>
              <a:rPr lang="en-US" altLang="zh-CN" i="1" dirty="0"/>
              <a:t>Finish</a:t>
            </a:r>
            <a:r>
              <a:rPr lang="en-US" altLang="zh-CN" dirty="0"/>
              <a:t> [</a:t>
            </a:r>
            <a:r>
              <a:rPr lang="en-US" altLang="zh-CN" i="1" dirty="0"/>
              <a:t>i</a:t>
            </a:r>
            <a:r>
              <a:rPr lang="en-US" altLang="zh-CN" dirty="0"/>
              <a:t>] = </a:t>
            </a:r>
            <a:r>
              <a:rPr lang="en-US" altLang="zh-CN" i="1" dirty="0"/>
              <a:t>false</a:t>
            </a:r>
            <a:endParaRPr lang="en-US" altLang="zh-CN" dirty="0"/>
          </a:p>
          <a:p>
            <a:pPr lvl="1">
              <a:lnSpc>
                <a:spcPct val="90000"/>
              </a:lnSpc>
              <a:buNone/>
            </a:pPr>
            <a:r>
              <a:rPr lang="en-US" altLang="zh-CN" dirty="0"/>
              <a:t>(b) </a:t>
            </a:r>
            <a:r>
              <a:rPr lang="en-US" altLang="zh-CN" i="1" dirty="0"/>
              <a:t>Need</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p>
          <a:p>
            <a:pPr lvl="1">
              <a:lnSpc>
                <a:spcPct val="90000"/>
              </a:lnSpc>
              <a:buNone/>
            </a:pPr>
            <a:r>
              <a:rPr lang="en-US" altLang="zh-CN" dirty="0">
                <a:sym typeface="Symbol" panose="05050102010706020507" pitchFamily="18" charset="2"/>
              </a:rPr>
              <a:t>If no such </a:t>
            </a:r>
            <a:r>
              <a:rPr lang="en-US" altLang="zh-CN" i="1" dirty="0">
                <a:sym typeface="Symbol" panose="05050102010706020507" pitchFamily="18" charset="2"/>
              </a:rPr>
              <a:t>i </a:t>
            </a:r>
            <a:r>
              <a:rPr lang="en-US" altLang="zh-CN" dirty="0">
                <a:sym typeface="Symbol" panose="05050102010706020507" pitchFamily="18" charset="2"/>
              </a:rPr>
              <a:t>exists, go to step 4</a:t>
            </a:r>
          </a:p>
          <a:p>
            <a:pPr>
              <a:lnSpc>
                <a:spcPct val="90000"/>
              </a:lnSpc>
              <a:buNone/>
            </a:pPr>
            <a:r>
              <a:rPr lang="en-US" altLang="zh-CN" dirty="0"/>
              <a:t>3.	</a:t>
            </a:r>
            <a:r>
              <a:rPr lang="en-US" altLang="zh-CN" i="1" dirty="0"/>
              <a:t>Work</a:t>
            </a:r>
            <a:r>
              <a:rPr lang="en-US" altLang="zh-CN" dirty="0"/>
              <a:t> = </a:t>
            </a:r>
            <a:r>
              <a:rPr lang="en-US" altLang="zh-CN" i="1" dirty="0"/>
              <a:t>Work </a:t>
            </a:r>
            <a:r>
              <a:rPr lang="en-US" altLang="zh-CN" dirty="0"/>
              <a:t>+ </a:t>
            </a:r>
            <a:r>
              <a:rPr lang="en-US" altLang="zh-CN" i="1" dirty="0"/>
              <a:t>Allocation</a:t>
            </a:r>
            <a:r>
              <a:rPr lang="en-US" altLang="zh-CN" i="1" baseline="-25000" dirty="0"/>
              <a:t>i</a:t>
            </a:r>
            <a:br>
              <a:rPr lang="en-US" altLang="zh-CN" dirty="0"/>
            </a:br>
            <a:r>
              <a:rPr lang="en-US" altLang="zh-CN" i="1" dirty="0"/>
              <a:t>Finish</a:t>
            </a:r>
            <a:r>
              <a:rPr lang="en-US" altLang="zh-CN" dirty="0"/>
              <a:t>[</a:t>
            </a:r>
            <a:r>
              <a:rPr lang="en-US" altLang="zh-CN" i="1" dirty="0"/>
              <a:t>i</a:t>
            </a:r>
            <a:r>
              <a:rPr lang="en-US" altLang="zh-CN" dirty="0"/>
              <a:t>] =</a:t>
            </a:r>
            <a:r>
              <a:rPr lang="en-US" altLang="zh-CN" i="1" dirty="0"/>
              <a:t> true</a:t>
            </a:r>
            <a:br>
              <a:rPr lang="en-US" altLang="zh-CN" dirty="0"/>
            </a:br>
            <a:r>
              <a:rPr lang="en-US" altLang="zh-CN" dirty="0"/>
              <a:t>go to step 2</a:t>
            </a:r>
          </a:p>
          <a:p>
            <a:pPr>
              <a:lnSpc>
                <a:spcPct val="90000"/>
              </a:lnSpc>
              <a:buNone/>
            </a:pPr>
            <a:r>
              <a:rPr lang="en-US" altLang="zh-CN" dirty="0"/>
              <a:t>4.	If </a:t>
            </a:r>
            <a:r>
              <a:rPr lang="en-US" altLang="zh-CN" i="1" dirty="0"/>
              <a:t>Finish</a:t>
            </a:r>
            <a:r>
              <a:rPr lang="en-US" altLang="zh-CN" dirty="0"/>
              <a:t> [</a:t>
            </a:r>
            <a:r>
              <a:rPr lang="en-US" altLang="zh-CN" i="1" dirty="0"/>
              <a:t>i</a:t>
            </a:r>
            <a:r>
              <a:rPr lang="en-US" altLang="zh-CN" dirty="0"/>
              <a:t>] == true for all </a:t>
            </a:r>
            <a:r>
              <a:rPr lang="en-US" altLang="zh-CN" i="1" dirty="0"/>
              <a:t>i</a:t>
            </a:r>
            <a:r>
              <a:rPr lang="en-US" altLang="zh-CN" dirty="0"/>
              <a:t>, then the system is in a safe state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13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13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1">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131">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1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1030288" y="271463"/>
            <a:ext cx="7924800" cy="457200"/>
          </a:xfrm>
        </p:spPr>
        <p:txBody>
          <a:bodyPr vert="horz" wrap="square" lIns="91440" tIns="45720" rIns="91440" bIns="45720" anchor="b" anchorCtr="0"/>
          <a:lstStyle/>
          <a:p>
            <a:pPr eaLnBrk="1" hangingPunct="1"/>
            <a:r>
              <a:rPr lang="en-US" altLang="zh-CN" sz="2800" dirty="0"/>
              <a:t>Resource-Request Algorithm for Process </a:t>
            </a:r>
            <a:r>
              <a:rPr lang="en-US" altLang="zh-CN" sz="2800" i="1" dirty="0"/>
              <a:t>P</a:t>
            </a:r>
            <a:r>
              <a:rPr lang="en-US" altLang="zh-CN" sz="2800" i="1" baseline="-25000" dirty="0"/>
              <a:t>i</a:t>
            </a:r>
            <a:endParaRPr lang="en-US" altLang="zh-CN" sz="2800" dirty="0"/>
          </a:p>
        </p:txBody>
      </p:sp>
      <p:sp>
        <p:nvSpPr>
          <p:cNvPr id="49155" name="Rectangle 3"/>
          <p:cNvSpPr>
            <a:spLocks noGrp="1"/>
          </p:cNvSpPr>
          <p:nvPr>
            <p:ph idx="1"/>
          </p:nvPr>
        </p:nvSpPr>
        <p:spPr>
          <a:xfrm>
            <a:off x="258763" y="876300"/>
            <a:ext cx="8672512" cy="4686300"/>
          </a:xfrm>
        </p:spPr>
        <p:txBody>
          <a:bodyPr vert="horz" wrap="square" lIns="91440" tIns="45720" rIns="91440" bIns="45720" anchor="t" anchorCtr="0"/>
          <a:lstStyle/>
          <a:p>
            <a:pPr>
              <a:lnSpc>
                <a:spcPct val="90000"/>
              </a:lnSpc>
              <a:buNone/>
            </a:pPr>
            <a:r>
              <a:rPr lang="en-US" altLang="zh-CN" i="1" dirty="0"/>
              <a:t> Request</a:t>
            </a:r>
            <a:r>
              <a:rPr lang="en-US" altLang="zh-CN" i="1" baseline="-25000" dirty="0"/>
              <a:t>i</a:t>
            </a:r>
            <a:r>
              <a:rPr lang="en-US" altLang="zh-CN" dirty="0"/>
              <a:t> = request vector for process </a:t>
            </a:r>
            <a:r>
              <a:rPr lang="en-US" altLang="zh-CN" i="1" dirty="0"/>
              <a:t>P</a:t>
            </a:r>
            <a:r>
              <a:rPr lang="en-US" altLang="zh-CN" i="1" baseline="-25000" dirty="0"/>
              <a:t>i</a:t>
            </a:r>
            <a:r>
              <a:rPr lang="en-US" altLang="zh-CN" dirty="0"/>
              <a:t>.  If </a:t>
            </a:r>
            <a:r>
              <a:rPr lang="en-US" altLang="zh-CN" i="1" dirty="0"/>
              <a:t>Request</a:t>
            </a:r>
            <a:r>
              <a:rPr lang="en-US" altLang="zh-CN" i="1" baseline="-25000" dirty="0"/>
              <a:t>i</a:t>
            </a:r>
            <a:r>
              <a:rPr lang="en-US" altLang="zh-CN" baseline="-25000" dirty="0"/>
              <a:t> </a:t>
            </a:r>
            <a:r>
              <a:rPr lang="en-US" altLang="zh-CN" dirty="0"/>
              <a:t>[</a:t>
            </a:r>
            <a:r>
              <a:rPr lang="en-US" altLang="zh-CN" i="1" dirty="0"/>
              <a:t>j</a:t>
            </a:r>
            <a:r>
              <a:rPr lang="en-US" altLang="zh-CN" dirty="0"/>
              <a:t>] = </a:t>
            </a:r>
            <a:r>
              <a:rPr lang="en-US" altLang="zh-CN" i="1" dirty="0"/>
              <a:t>k</a:t>
            </a:r>
            <a:r>
              <a:rPr lang="en-US" altLang="zh-CN" dirty="0"/>
              <a:t> then process </a:t>
            </a:r>
            <a:r>
              <a:rPr lang="en-US" altLang="zh-CN" i="1" dirty="0"/>
              <a:t>P</a:t>
            </a:r>
            <a:r>
              <a:rPr lang="en-US" altLang="zh-CN" i="1" baseline="-25000" dirty="0"/>
              <a:t>i</a:t>
            </a:r>
            <a:r>
              <a:rPr lang="en-US" altLang="zh-CN" dirty="0"/>
              <a:t> wants </a:t>
            </a:r>
            <a:r>
              <a:rPr lang="en-US" altLang="zh-CN" i="1" dirty="0"/>
              <a:t>k</a:t>
            </a:r>
            <a:r>
              <a:rPr lang="en-US" altLang="zh-CN" dirty="0"/>
              <a:t> instances of resource type </a:t>
            </a:r>
            <a:r>
              <a:rPr lang="en-US" altLang="zh-CN" i="1" dirty="0"/>
              <a:t>R</a:t>
            </a:r>
            <a:r>
              <a:rPr lang="en-US" altLang="zh-CN" i="1" baseline="-25000" dirty="0"/>
              <a:t>j</a:t>
            </a:r>
            <a:endParaRPr lang="en-US" altLang="zh-CN" baseline="-25000" dirty="0"/>
          </a:p>
          <a:p>
            <a:pPr lvl="1">
              <a:lnSpc>
                <a:spcPct val="90000"/>
              </a:lnSpc>
              <a:buNone/>
            </a:pPr>
            <a:r>
              <a:rPr lang="en-US" altLang="zh-CN" dirty="0"/>
              <a:t>1.	If </a:t>
            </a:r>
            <a:r>
              <a:rPr lang="en-US" altLang="zh-CN" i="1" dirty="0">
                <a:solidFill>
                  <a:srgbClr val="FF0000"/>
                </a:solidFill>
              </a:rPr>
              <a:t>Request</a:t>
            </a:r>
            <a:r>
              <a:rPr lang="en-US" altLang="zh-CN" i="1" baseline="-25000" dirty="0">
                <a:solidFill>
                  <a:srgbClr val="FF0000"/>
                </a:solidFill>
              </a:rPr>
              <a:t>i</a:t>
            </a:r>
            <a:r>
              <a:rPr lang="en-US" altLang="zh-CN" i="1" dirty="0">
                <a:solidFill>
                  <a:srgbClr val="FF0000"/>
                </a:solidFill>
              </a:rPr>
              <a:t> </a:t>
            </a:r>
            <a:r>
              <a:rPr lang="en-US" altLang="zh-CN" dirty="0">
                <a:solidFill>
                  <a:srgbClr val="FF0000"/>
                </a:solidFill>
                <a:sym typeface="Symbol" panose="05050102010706020507" pitchFamily="18" charset="2"/>
              </a:rPr>
              <a:t> </a:t>
            </a:r>
            <a:r>
              <a:rPr lang="en-US" altLang="zh-CN" i="1" dirty="0">
                <a:solidFill>
                  <a:srgbClr val="FF0000"/>
                </a:solidFill>
                <a:sym typeface="Symbol" panose="05050102010706020507" pitchFamily="18" charset="2"/>
              </a:rPr>
              <a:t>Need</a:t>
            </a:r>
            <a:r>
              <a:rPr lang="en-US" altLang="zh-CN" i="1" baseline="-25000" dirty="0">
                <a:solidFill>
                  <a:srgbClr val="FF0000"/>
                </a:solidFill>
                <a:sym typeface="Symbol" panose="05050102010706020507" pitchFamily="18" charset="2"/>
              </a:rPr>
              <a:t>i</a:t>
            </a:r>
            <a:r>
              <a:rPr lang="en-US" altLang="zh-CN" i="1" dirty="0">
                <a:sym typeface="Symbol" panose="05050102010706020507" pitchFamily="18" charset="2"/>
              </a:rPr>
              <a:t> </a:t>
            </a:r>
            <a:r>
              <a:rPr lang="en-US" altLang="zh-CN" dirty="0">
                <a:sym typeface="Symbol" panose="05050102010706020507" pitchFamily="18" charset="2"/>
              </a:rPr>
              <a:t>go to step 2.  Otherwise, raise error condition, since process has exceeded its maximum claim</a:t>
            </a:r>
          </a:p>
          <a:p>
            <a:pPr lvl="1">
              <a:lnSpc>
                <a:spcPct val="90000"/>
              </a:lnSpc>
              <a:buNone/>
            </a:pPr>
            <a:r>
              <a:rPr lang="en-US" altLang="zh-CN" dirty="0">
                <a:sym typeface="Symbol" panose="05050102010706020507" pitchFamily="18" charset="2"/>
              </a:rPr>
              <a:t>2.	If </a:t>
            </a:r>
            <a:r>
              <a:rPr lang="en-US" altLang="zh-CN" i="1" dirty="0">
                <a:solidFill>
                  <a:srgbClr val="FF0000"/>
                </a:solidFill>
              </a:rPr>
              <a:t>Request</a:t>
            </a:r>
            <a:r>
              <a:rPr lang="en-US" altLang="zh-CN" i="1" baseline="-25000" dirty="0">
                <a:solidFill>
                  <a:srgbClr val="FF0000"/>
                </a:solidFill>
              </a:rPr>
              <a:t>i</a:t>
            </a:r>
            <a:r>
              <a:rPr lang="en-US" altLang="zh-CN" dirty="0">
                <a:solidFill>
                  <a:srgbClr val="FF0000"/>
                </a:solidFill>
              </a:rPr>
              <a:t> </a:t>
            </a:r>
            <a:r>
              <a:rPr lang="en-US" altLang="zh-CN" dirty="0">
                <a:solidFill>
                  <a:srgbClr val="FF0000"/>
                </a:solidFill>
                <a:sym typeface="Symbol" panose="05050102010706020507" pitchFamily="18" charset="2"/>
              </a:rPr>
              <a:t> </a:t>
            </a:r>
            <a:r>
              <a:rPr lang="en-US" altLang="zh-CN" i="1" dirty="0">
                <a:solidFill>
                  <a:srgbClr val="FF0000"/>
                </a:solidFill>
                <a:sym typeface="Symbol" panose="05050102010706020507" pitchFamily="18" charset="2"/>
              </a:rPr>
              <a:t>Available</a:t>
            </a:r>
            <a:r>
              <a:rPr lang="en-US" altLang="zh-CN" dirty="0">
                <a:sym typeface="Symbol" panose="05050102010706020507" pitchFamily="18" charset="2"/>
              </a:rPr>
              <a:t>, go to step 3.  Otherwise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dirty="0">
                <a:sym typeface="Symbol" panose="05050102010706020507" pitchFamily="18" charset="2"/>
              </a:rPr>
              <a:t>  must wait, since resources are not available</a:t>
            </a:r>
          </a:p>
          <a:p>
            <a:pPr lvl="1">
              <a:lnSpc>
                <a:spcPct val="90000"/>
              </a:lnSpc>
              <a:buNone/>
            </a:pPr>
            <a:r>
              <a:rPr lang="en-US" altLang="zh-CN" dirty="0">
                <a:sym typeface="Symbol" panose="05050102010706020507" pitchFamily="18" charset="2"/>
              </a:rPr>
              <a:t>3.	Pretend to allocate requested resources to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dirty="0">
                <a:sym typeface="Symbol" panose="05050102010706020507" pitchFamily="18" charset="2"/>
              </a:rPr>
              <a:t> by modifying the state as follows:</a:t>
            </a:r>
          </a:p>
          <a:p>
            <a:pPr lvl="3">
              <a:lnSpc>
                <a:spcPct val="90000"/>
              </a:lnSpc>
              <a:buNone/>
            </a:pPr>
            <a:r>
              <a:rPr lang="en-US" altLang="zh-CN" dirty="0">
                <a:sym typeface="Symbol" panose="05050102010706020507" pitchFamily="18" charset="2"/>
              </a:rPr>
              <a:t>		</a:t>
            </a:r>
            <a:r>
              <a:rPr lang="en-US" altLang="zh-CN" i="1" dirty="0">
                <a:sym typeface="Symbol" panose="05050102010706020507" pitchFamily="18" charset="2"/>
              </a:rPr>
              <a:t>Available</a:t>
            </a:r>
            <a:r>
              <a:rPr lang="en-US" altLang="zh-CN" dirty="0">
                <a:sym typeface="Symbol" panose="05050102010706020507" pitchFamily="18" charset="2"/>
              </a:rPr>
              <a:t> = </a:t>
            </a:r>
            <a:r>
              <a:rPr lang="en-US" altLang="zh-CN" i="1" dirty="0">
                <a:sym typeface="Symbol" panose="05050102010706020507" pitchFamily="18" charset="2"/>
              </a:rPr>
              <a:t>Available  </a:t>
            </a:r>
            <a:r>
              <a:rPr lang="en-US" altLang="zh-CN" dirty="0">
                <a:sym typeface="Symbol" panose="05050102010706020507" pitchFamily="18" charset="2"/>
              </a:rPr>
              <a:t>–</a:t>
            </a:r>
            <a:r>
              <a:rPr lang="en-US" altLang="zh-CN" i="1" dirty="0">
                <a:sym typeface="Symbol" panose="05050102010706020507" pitchFamily="18" charset="2"/>
              </a:rPr>
              <a:t> Request;</a:t>
            </a:r>
          </a:p>
          <a:p>
            <a:pPr lvl="3">
              <a:lnSpc>
                <a:spcPct val="90000"/>
              </a:lnSpc>
              <a:buNone/>
            </a:pPr>
            <a:r>
              <a:rPr lang="en-US" altLang="zh-CN" dirty="0">
                <a:sym typeface="Symbol" panose="05050102010706020507" pitchFamily="18" charset="2"/>
              </a:rPr>
              <a:t>		</a:t>
            </a:r>
            <a:r>
              <a:rPr lang="en-US" altLang="zh-CN" i="1" dirty="0">
                <a:sym typeface="Symbol" panose="05050102010706020507" pitchFamily="18" charset="2"/>
              </a:rPr>
              <a:t>Allocation</a:t>
            </a:r>
            <a:r>
              <a:rPr lang="en-US" altLang="zh-CN" i="1" baseline="-25000" dirty="0">
                <a:sym typeface="Symbol" panose="05050102010706020507" pitchFamily="18" charset="2"/>
              </a:rPr>
              <a:t>i</a:t>
            </a:r>
            <a:r>
              <a:rPr lang="en-US" altLang="zh-CN" baseline="-25000" dirty="0">
                <a:sym typeface="Symbol" panose="05050102010706020507" pitchFamily="18" charset="2"/>
              </a:rPr>
              <a:t> </a:t>
            </a:r>
            <a:r>
              <a:rPr lang="en-US" altLang="zh-CN" dirty="0">
                <a:sym typeface="Symbol" panose="05050102010706020507" pitchFamily="18" charset="2"/>
              </a:rPr>
              <a:t>= </a:t>
            </a:r>
            <a:r>
              <a:rPr lang="en-US" altLang="zh-CN" i="1" dirty="0">
                <a:sym typeface="Symbol" panose="05050102010706020507" pitchFamily="18" charset="2"/>
              </a:rPr>
              <a:t>Allocation</a:t>
            </a:r>
            <a:r>
              <a:rPr lang="en-US" altLang="zh-CN" i="1" baseline="-25000"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Request</a:t>
            </a:r>
            <a:r>
              <a:rPr lang="en-US" altLang="zh-CN" i="1" baseline="-25000" dirty="0">
                <a:sym typeface="Symbol" panose="05050102010706020507" pitchFamily="18" charset="2"/>
              </a:rPr>
              <a:t>i</a:t>
            </a:r>
            <a:r>
              <a:rPr lang="en-US" altLang="zh-CN" dirty="0">
                <a:sym typeface="Symbol" panose="05050102010706020507" pitchFamily="18" charset="2"/>
              </a:rPr>
              <a:t>;</a:t>
            </a:r>
          </a:p>
          <a:p>
            <a:pPr lvl="3">
              <a:lnSpc>
                <a:spcPct val="90000"/>
              </a:lnSpc>
              <a:buNone/>
            </a:pPr>
            <a:r>
              <a:rPr lang="en-US" altLang="zh-CN" dirty="0">
                <a:sym typeface="Symbol" panose="05050102010706020507" pitchFamily="18" charset="2"/>
              </a:rPr>
              <a:t>		</a:t>
            </a:r>
            <a:r>
              <a:rPr lang="en-US" altLang="zh-CN" i="1" dirty="0">
                <a:sym typeface="Symbol" panose="05050102010706020507" pitchFamily="18" charset="2"/>
              </a:rPr>
              <a:t>Need</a:t>
            </a:r>
            <a:r>
              <a:rPr lang="en-US" altLang="zh-CN" i="1" baseline="-25000" dirty="0">
                <a:sym typeface="Symbol" panose="05050102010706020507" pitchFamily="18" charset="2"/>
              </a:rPr>
              <a:t>i</a:t>
            </a:r>
            <a:r>
              <a:rPr lang="en-US" altLang="zh-CN" i="1" dirty="0">
                <a:sym typeface="Symbol" panose="05050102010706020507" pitchFamily="18" charset="2"/>
              </a:rPr>
              <a:t> </a:t>
            </a:r>
            <a:r>
              <a:rPr lang="en-US" altLang="zh-CN" dirty="0">
                <a:sym typeface="Symbol" panose="05050102010706020507" pitchFamily="18" charset="2"/>
              </a:rPr>
              <a:t>=</a:t>
            </a:r>
            <a:r>
              <a:rPr lang="en-US" altLang="zh-CN" i="1" dirty="0">
                <a:sym typeface="Symbol" panose="05050102010706020507" pitchFamily="18" charset="2"/>
              </a:rPr>
              <a:t> Need</a:t>
            </a:r>
            <a:r>
              <a:rPr lang="en-US" altLang="zh-CN" i="1" baseline="-25000"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Request</a:t>
            </a:r>
            <a:r>
              <a:rPr lang="en-US" altLang="zh-CN" i="1" baseline="-25000" dirty="0">
                <a:sym typeface="Symbol" panose="05050102010706020507" pitchFamily="18" charset="2"/>
              </a:rPr>
              <a:t>i</a:t>
            </a:r>
            <a:r>
              <a:rPr lang="en-US" altLang="zh-CN" i="1" dirty="0">
                <a:sym typeface="Symbol" panose="05050102010706020507" pitchFamily="18" charset="2"/>
              </a:rPr>
              <a:t>;</a:t>
            </a:r>
          </a:p>
          <a:p>
            <a:pPr lvl="2">
              <a:lnSpc>
                <a:spcPct val="90000"/>
              </a:lnSpc>
              <a:buClr>
                <a:srgbClr val="CC6600"/>
              </a:buClr>
              <a:buSzPct val="80000"/>
              <a:buFont typeface="Monotype Sorts" charset="2"/>
              <a:buChar char="l"/>
            </a:pPr>
            <a:r>
              <a:rPr lang="en-US" altLang="zh-CN" i="1" dirty="0">
                <a:sym typeface="Symbol" panose="05050102010706020507" pitchFamily="18" charset="2"/>
              </a:rPr>
              <a:t>If safe  the resources are allocated to Pi</a:t>
            </a:r>
          </a:p>
          <a:p>
            <a:pPr lvl="2">
              <a:lnSpc>
                <a:spcPct val="90000"/>
              </a:lnSpc>
              <a:buClr>
                <a:srgbClr val="CC6600"/>
              </a:buClr>
              <a:buSzPct val="80000"/>
              <a:buFont typeface="Monotype Sorts" charset="2"/>
              <a:buChar char="l"/>
            </a:pPr>
            <a:r>
              <a:rPr lang="en-US" altLang="zh-CN" i="1" dirty="0">
                <a:sym typeface="Symbol" panose="05050102010706020507" pitchFamily="18" charset="2"/>
              </a:rPr>
              <a:t>If unsafe  Pi must wait, and the old resource-allocation state is restored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15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5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15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915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p:txBody>
          <a:bodyPr vert="horz" wrap="square" lIns="91440" tIns="45720" rIns="91440" bIns="45720" anchor="b" anchorCtr="0"/>
          <a:lstStyle/>
          <a:p>
            <a:pPr eaLnBrk="1" hangingPunct="1"/>
            <a:r>
              <a:rPr lang="en-US" altLang="zh-CN" dirty="0"/>
              <a:t>Example of Banker’s Algorithm</a:t>
            </a:r>
          </a:p>
        </p:txBody>
      </p:sp>
      <p:sp>
        <p:nvSpPr>
          <p:cNvPr id="50179" name="Rectangle 3"/>
          <p:cNvSpPr>
            <a:spLocks noGrp="1"/>
          </p:cNvSpPr>
          <p:nvPr>
            <p:ph idx="1"/>
          </p:nvPr>
        </p:nvSpPr>
        <p:spPr>
          <a:xfrm>
            <a:off x="411163" y="858838"/>
            <a:ext cx="8350250" cy="4540250"/>
          </a:xfrm>
        </p:spPr>
        <p:txBody>
          <a:bodyPr vert="horz" wrap="square" lIns="91440" tIns="45720" rIns="91440" bIns="45720" anchor="t" anchorCtr="0"/>
          <a:lstStyle/>
          <a:p>
            <a:pPr defTabSz="914400">
              <a:tabLst>
                <a:tab pos="1371600" algn="l"/>
                <a:tab pos="2395855" algn="ctr"/>
                <a:tab pos="3594100" algn="ctr"/>
                <a:tab pos="4805680" algn="ctr"/>
              </a:tabLst>
            </a:pPr>
            <a:r>
              <a:rPr lang="en-US" altLang="zh-CN" dirty="0"/>
              <a:t>5 processes </a:t>
            </a:r>
            <a:r>
              <a:rPr lang="en-US" altLang="zh-CN" i="1" dirty="0"/>
              <a:t>P</a:t>
            </a:r>
            <a:r>
              <a:rPr lang="en-US" altLang="zh-CN" baseline="-25000" dirty="0"/>
              <a:t>0  </a:t>
            </a:r>
            <a:r>
              <a:rPr lang="en-US" altLang="zh-CN" dirty="0"/>
              <a:t>through </a:t>
            </a:r>
            <a:r>
              <a:rPr lang="en-US" altLang="zh-CN" i="1" dirty="0"/>
              <a:t>P</a:t>
            </a:r>
            <a:r>
              <a:rPr lang="en-US" altLang="zh-CN" baseline="-25000" dirty="0"/>
              <a:t>4</a:t>
            </a:r>
            <a:r>
              <a:rPr lang="en-US" altLang="zh-CN" dirty="0"/>
              <a:t>; </a:t>
            </a:r>
          </a:p>
          <a:p>
            <a:pPr defTabSz="914400">
              <a:buNone/>
              <a:tabLst>
                <a:tab pos="1371600" algn="l"/>
                <a:tab pos="2395855" algn="ctr"/>
                <a:tab pos="3594100" algn="ctr"/>
                <a:tab pos="4805680" algn="ctr"/>
              </a:tabLst>
            </a:pPr>
            <a:r>
              <a:rPr lang="en-US" altLang="zh-CN" dirty="0"/>
              <a:t>    3 resource types:</a:t>
            </a:r>
          </a:p>
          <a:p>
            <a:pPr defTabSz="914400">
              <a:buNone/>
              <a:tabLst>
                <a:tab pos="1371600" algn="l"/>
                <a:tab pos="2395855" algn="ctr"/>
                <a:tab pos="3594100" algn="ctr"/>
                <a:tab pos="4805680" algn="ctr"/>
              </a:tabLst>
            </a:pPr>
            <a:r>
              <a:rPr lang="en-US" altLang="zh-CN" dirty="0"/>
              <a:t>   </a:t>
            </a:r>
            <a:r>
              <a:rPr lang="en-US" altLang="zh-CN" i="1" dirty="0"/>
              <a:t>A</a:t>
            </a:r>
            <a:r>
              <a:rPr lang="en-US" altLang="zh-CN" dirty="0"/>
              <a:t> (10 instances),  </a:t>
            </a:r>
            <a:r>
              <a:rPr lang="en-US" altLang="zh-CN" i="1" dirty="0"/>
              <a:t>B</a:t>
            </a:r>
            <a:r>
              <a:rPr lang="en-US" altLang="zh-CN" dirty="0"/>
              <a:t> (5instances), and </a:t>
            </a:r>
            <a:r>
              <a:rPr lang="en-US" altLang="zh-CN" i="1" dirty="0"/>
              <a:t>C</a:t>
            </a:r>
            <a:r>
              <a:rPr lang="en-US" altLang="zh-CN" dirty="0"/>
              <a:t> (7 instances)</a:t>
            </a:r>
          </a:p>
          <a:p>
            <a:pPr defTabSz="914400">
              <a:buNone/>
              <a:tabLst>
                <a:tab pos="1371600" algn="l"/>
                <a:tab pos="2395855" algn="ctr"/>
                <a:tab pos="3594100" algn="ctr"/>
                <a:tab pos="4805680" algn="ctr"/>
              </a:tabLst>
            </a:pPr>
            <a:r>
              <a:rPr lang="en-US" altLang="zh-CN" dirty="0"/>
              <a:t> Snapshot at time </a:t>
            </a:r>
            <a:r>
              <a:rPr lang="en-US" altLang="zh-CN" i="1" dirty="0"/>
              <a:t>T</a:t>
            </a:r>
            <a:r>
              <a:rPr lang="en-US" altLang="zh-CN" baseline="-25000" dirty="0"/>
              <a:t>0</a:t>
            </a:r>
            <a:r>
              <a:rPr lang="en-US" altLang="zh-CN" dirty="0"/>
              <a:t>:</a:t>
            </a:r>
          </a:p>
          <a:p>
            <a:pPr defTabSz="914400">
              <a:buNone/>
              <a:tabLst>
                <a:tab pos="1371600" algn="l"/>
                <a:tab pos="2395855" algn="ctr"/>
                <a:tab pos="3594100" algn="ctr"/>
                <a:tab pos="4805680" algn="ctr"/>
              </a:tabLst>
            </a:pPr>
            <a:r>
              <a:rPr lang="en-US" altLang="zh-CN" dirty="0"/>
              <a:t>			</a:t>
            </a:r>
            <a:r>
              <a:rPr lang="en-US" altLang="zh-CN" i="1" u="sng" dirty="0"/>
              <a:t>Allocation</a:t>
            </a:r>
            <a:r>
              <a:rPr lang="en-US" altLang="zh-CN" i="1" dirty="0"/>
              <a:t>	          </a:t>
            </a:r>
            <a:r>
              <a:rPr lang="en-US" altLang="zh-CN" i="1" u="sng" dirty="0"/>
              <a:t>Max</a:t>
            </a:r>
            <a:r>
              <a:rPr lang="en-US" altLang="zh-CN" i="1" dirty="0"/>
              <a:t>	        </a:t>
            </a:r>
            <a:r>
              <a:rPr lang="en-US" altLang="zh-CN" i="1" u="sng" dirty="0"/>
              <a:t>Available</a:t>
            </a:r>
            <a:endParaRPr lang="en-US" altLang="zh-CN" i="1" dirty="0"/>
          </a:p>
          <a:p>
            <a:pPr defTabSz="914400">
              <a:buNone/>
              <a:tabLst>
                <a:tab pos="1371600" algn="l"/>
                <a:tab pos="2395855" algn="ctr"/>
                <a:tab pos="3594100" algn="ctr"/>
                <a:tab pos="4805680" algn="ctr"/>
              </a:tabLst>
            </a:pPr>
            <a:r>
              <a:rPr lang="en-US" altLang="zh-CN" i="1" dirty="0"/>
              <a:t>			A B C	          A B C            A B C</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0	</a:t>
            </a:r>
            <a:r>
              <a:rPr lang="en-US" altLang="zh-CN" dirty="0"/>
              <a:t>0 1 0	         7 5 3 	             3 3 2</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1	</a:t>
            </a:r>
            <a:r>
              <a:rPr lang="en-US" altLang="zh-CN" dirty="0"/>
              <a:t>2 0 0 	         3 2 2  </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2</a:t>
            </a:r>
            <a:r>
              <a:rPr lang="en-US" altLang="zh-CN" dirty="0"/>
              <a:t>	3 0 2 	        9 0 2</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3</a:t>
            </a:r>
            <a:r>
              <a:rPr lang="en-US" altLang="zh-CN" dirty="0"/>
              <a:t>	2 1 1 	        2 2 2</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4</a:t>
            </a:r>
            <a:r>
              <a:rPr lang="en-US" altLang="zh-CN" dirty="0"/>
              <a:t>	0 0 2	          4 3 3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vert="horz" wrap="square" lIns="91440" tIns="45720" rIns="91440" bIns="45720" anchor="b" anchorCtr="0"/>
          <a:lstStyle/>
          <a:p>
            <a:pPr eaLnBrk="1" hangingPunct="1"/>
            <a:r>
              <a:rPr lang="en-US" altLang="zh-CN" dirty="0"/>
              <a:t>Example (Cont.)</a:t>
            </a:r>
          </a:p>
        </p:txBody>
      </p:sp>
      <p:sp>
        <p:nvSpPr>
          <p:cNvPr id="51203" name="Rectangle 3"/>
          <p:cNvSpPr>
            <a:spLocks noGrp="1"/>
          </p:cNvSpPr>
          <p:nvPr>
            <p:ph idx="1"/>
          </p:nvPr>
        </p:nvSpPr>
        <p:spPr>
          <a:xfrm>
            <a:off x="760413" y="942975"/>
            <a:ext cx="7724775" cy="4640263"/>
          </a:xfrm>
        </p:spPr>
        <p:txBody>
          <a:bodyPr vert="horz" wrap="square" lIns="91440" tIns="45720" rIns="91440" bIns="45720" anchor="t" anchorCtr="0"/>
          <a:lstStyle/>
          <a:p>
            <a:pPr defTabSz="914400">
              <a:tabLst>
                <a:tab pos="2453005" algn="l"/>
                <a:tab pos="3492500" algn="ctr"/>
              </a:tabLst>
            </a:pPr>
            <a:r>
              <a:rPr lang="en-US" altLang="zh-CN" dirty="0"/>
              <a:t>The content of the matrix </a:t>
            </a:r>
            <a:r>
              <a:rPr lang="en-US" altLang="zh-CN" i="1" dirty="0"/>
              <a:t>Need</a:t>
            </a:r>
            <a:r>
              <a:rPr lang="en-US" altLang="zh-CN" dirty="0"/>
              <a:t> is defined to be</a:t>
            </a:r>
          </a:p>
          <a:p>
            <a:pPr defTabSz="914400">
              <a:buNone/>
              <a:tabLst>
                <a:tab pos="2453005" algn="l"/>
                <a:tab pos="3492500" algn="ctr"/>
              </a:tabLst>
            </a:pPr>
            <a:r>
              <a:rPr lang="en-US" altLang="zh-CN" dirty="0"/>
              <a:t> </a:t>
            </a:r>
            <a:r>
              <a:rPr lang="en-US" altLang="zh-CN" i="1" dirty="0"/>
              <a:t>Max</a:t>
            </a:r>
            <a:r>
              <a:rPr lang="en-US" altLang="zh-CN" dirty="0"/>
              <a:t> – </a:t>
            </a:r>
            <a:r>
              <a:rPr lang="en-US" altLang="zh-CN" i="1" dirty="0"/>
              <a:t>Allocation</a:t>
            </a:r>
            <a:endParaRPr lang="en-US" altLang="zh-CN" dirty="0"/>
          </a:p>
          <a:p>
            <a:pPr defTabSz="914400">
              <a:buNone/>
              <a:tabLst>
                <a:tab pos="2453005" algn="l"/>
                <a:tab pos="3492500" algn="ctr"/>
              </a:tabLst>
            </a:pPr>
            <a:r>
              <a:rPr lang="en-US" altLang="zh-CN" dirty="0"/>
              <a:t>			</a:t>
            </a:r>
            <a:r>
              <a:rPr lang="en-US" altLang="zh-CN" i="1" u="sng" dirty="0"/>
              <a:t>Need</a:t>
            </a:r>
            <a:endParaRPr lang="en-US" altLang="zh-CN" u="sng" dirty="0"/>
          </a:p>
          <a:p>
            <a:pPr defTabSz="914400">
              <a:buNone/>
              <a:tabLst>
                <a:tab pos="2453005" algn="l"/>
                <a:tab pos="3492500" algn="ctr"/>
              </a:tabLst>
            </a:pPr>
            <a:r>
              <a:rPr lang="en-US" altLang="zh-CN" dirty="0"/>
              <a:t>			</a:t>
            </a:r>
            <a:r>
              <a:rPr lang="en-US" altLang="zh-CN" i="1" dirty="0"/>
              <a:t>A B C</a:t>
            </a:r>
          </a:p>
          <a:p>
            <a:pPr defTabSz="914400">
              <a:buNone/>
              <a:tabLst>
                <a:tab pos="2453005" algn="l"/>
                <a:tab pos="3492500" algn="ctr"/>
              </a:tabLst>
            </a:pPr>
            <a:r>
              <a:rPr lang="en-US" altLang="zh-CN" dirty="0"/>
              <a:t>		 </a:t>
            </a:r>
            <a:r>
              <a:rPr lang="en-US" altLang="zh-CN" i="1" dirty="0"/>
              <a:t>P</a:t>
            </a:r>
            <a:r>
              <a:rPr lang="en-US" altLang="zh-CN" baseline="-25000" dirty="0"/>
              <a:t>0	</a:t>
            </a:r>
            <a:r>
              <a:rPr lang="en-US" altLang="zh-CN" dirty="0"/>
              <a:t>7 4 3 </a:t>
            </a:r>
          </a:p>
          <a:p>
            <a:pPr defTabSz="914400">
              <a:buNone/>
              <a:tabLst>
                <a:tab pos="2453005" algn="l"/>
                <a:tab pos="3492500" algn="ctr"/>
              </a:tabLst>
            </a:pPr>
            <a:r>
              <a:rPr lang="en-US" altLang="zh-CN" dirty="0"/>
              <a:t>		 </a:t>
            </a:r>
            <a:r>
              <a:rPr lang="en-US" altLang="zh-CN" i="1" dirty="0"/>
              <a:t>P</a:t>
            </a:r>
            <a:r>
              <a:rPr lang="en-US" altLang="zh-CN" baseline="-25000" dirty="0"/>
              <a:t>1	</a:t>
            </a:r>
            <a:r>
              <a:rPr lang="en-US" altLang="zh-CN" dirty="0"/>
              <a:t>1 2 2 </a:t>
            </a:r>
          </a:p>
          <a:p>
            <a:pPr defTabSz="914400">
              <a:buNone/>
              <a:tabLst>
                <a:tab pos="2453005" algn="l"/>
                <a:tab pos="3492500" algn="ctr"/>
              </a:tabLst>
            </a:pPr>
            <a:r>
              <a:rPr lang="en-US" altLang="zh-CN" dirty="0"/>
              <a:t>		 </a:t>
            </a:r>
            <a:r>
              <a:rPr lang="en-US" altLang="zh-CN" i="1" dirty="0"/>
              <a:t>P</a:t>
            </a:r>
            <a:r>
              <a:rPr lang="en-US" altLang="zh-CN" baseline="-25000" dirty="0"/>
              <a:t>2</a:t>
            </a:r>
            <a:r>
              <a:rPr lang="en-US" altLang="zh-CN" dirty="0"/>
              <a:t>	6 0 0 </a:t>
            </a:r>
          </a:p>
          <a:p>
            <a:pPr defTabSz="914400">
              <a:buNone/>
              <a:tabLst>
                <a:tab pos="2453005" algn="l"/>
                <a:tab pos="3492500" algn="ctr"/>
              </a:tabLst>
            </a:pPr>
            <a:r>
              <a:rPr lang="en-US" altLang="zh-CN" dirty="0"/>
              <a:t>		 </a:t>
            </a:r>
            <a:r>
              <a:rPr lang="en-US" altLang="zh-CN" i="1" dirty="0"/>
              <a:t>P</a:t>
            </a:r>
            <a:r>
              <a:rPr lang="en-US" altLang="zh-CN" baseline="-25000" dirty="0"/>
              <a:t>3</a:t>
            </a:r>
            <a:r>
              <a:rPr lang="en-US" altLang="zh-CN" dirty="0"/>
              <a:t>	0 1 1</a:t>
            </a:r>
          </a:p>
          <a:p>
            <a:pPr defTabSz="914400">
              <a:buNone/>
              <a:tabLst>
                <a:tab pos="2453005" algn="l"/>
                <a:tab pos="3492500" algn="ctr"/>
              </a:tabLst>
            </a:pPr>
            <a:r>
              <a:rPr lang="en-US" altLang="zh-CN" dirty="0"/>
              <a:t>		 </a:t>
            </a:r>
            <a:r>
              <a:rPr lang="en-US" altLang="zh-CN" i="1" dirty="0"/>
              <a:t>P</a:t>
            </a:r>
            <a:r>
              <a:rPr lang="en-US" altLang="zh-CN" baseline="-25000" dirty="0"/>
              <a:t>4</a:t>
            </a:r>
            <a:r>
              <a:rPr lang="en-US" altLang="zh-CN" dirty="0"/>
              <a:t>	4 3 1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idx="1"/>
          </p:nvPr>
        </p:nvSpPr>
        <p:spPr>
          <a:xfrm>
            <a:off x="314325" y="1036638"/>
            <a:ext cx="8540750" cy="5413375"/>
          </a:xfrm>
        </p:spPr>
        <p:txBody>
          <a:bodyPr vert="horz" wrap="square" lIns="91440" tIns="45720" rIns="91440" bIns="45720" anchor="t" anchorCtr="0"/>
          <a:lstStyle/>
          <a:p>
            <a:pPr>
              <a:lnSpc>
                <a:spcPct val="90000"/>
              </a:lnSpc>
            </a:pPr>
            <a:r>
              <a:rPr lang="en-US" altLang="zh-CN" dirty="0"/>
              <a:t>To find a safe sequence using safety algorithm </a:t>
            </a:r>
          </a:p>
          <a:p>
            <a:pPr lvl="1">
              <a:lnSpc>
                <a:spcPct val="90000"/>
              </a:lnSpc>
            </a:pPr>
            <a:r>
              <a:rPr lang="en-US" altLang="zh-CN" dirty="0"/>
              <a:t>Work[]=available=(3,3,2)</a:t>
            </a:r>
          </a:p>
          <a:p>
            <a:pPr lvl="1">
              <a:lnSpc>
                <a:spcPct val="90000"/>
              </a:lnSpc>
            </a:pPr>
            <a:r>
              <a:rPr lang="en-US" altLang="zh-CN" dirty="0"/>
              <a:t>Finish[i]=false  (i=0..4)</a:t>
            </a:r>
          </a:p>
          <a:p>
            <a:pPr marL="457200" lvl="1" indent="0">
              <a:lnSpc>
                <a:spcPct val="90000"/>
              </a:lnSpc>
              <a:buNone/>
            </a:pPr>
            <a:r>
              <a:rPr lang="en-US" altLang="zh-CN" sz="2000" dirty="0"/>
              <a:t>   </a:t>
            </a:r>
          </a:p>
          <a:p>
            <a:pPr marL="457200" lvl="1" indent="0">
              <a:lnSpc>
                <a:spcPct val="90000"/>
              </a:lnSpc>
              <a:buNone/>
            </a:pPr>
            <a:r>
              <a:rPr lang="en-US" altLang="zh-CN" sz="2000" dirty="0"/>
              <a:t>         </a:t>
            </a:r>
            <a:r>
              <a:rPr lang="en-US" altLang="zh-CN" dirty="0"/>
              <a:t>Work    need   allocation   finish</a:t>
            </a:r>
          </a:p>
          <a:p>
            <a:pPr marL="457200" lvl="1" indent="0">
              <a:lnSpc>
                <a:spcPct val="90000"/>
              </a:lnSpc>
              <a:buNone/>
            </a:pPr>
            <a:r>
              <a:rPr lang="en-US" altLang="zh-CN" dirty="0"/>
              <a:t> P1   3 3 2    1 2 2    2 0 0           </a:t>
            </a:r>
          </a:p>
          <a:p>
            <a:pPr marL="457200" lvl="1" indent="0">
              <a:lnSpc>
                <a:spcPct val="90000"/>
              </a:lnSpc>
              <a:buNone/>
            </a:pPr>
            <a:r>
              <a:rPr lang="en-US" altLang="zh-CN" dirty="0"/>
              <a:t> P3   5 3 2    0 1 1    2 1 1           </a:t>
            </a:r>
          </a:p>
          <a:p>
            <a:pPr marL="457200" lvl="1" indent="0">
              <a:lnSpc>
                <a:spcPct val="90000"/>
              </a:lnSpc>
              <a:buNone/>
            </a:pPr>
            <a:r>
              <a:rPr lang="en-US" altLang="zh-CN" dirty="0"/>
              <a:t> P4   7 4 3    4 3 1    0 0 2           </a:t>
            </a:r>
          </a:p>
          <a:p>
            <a:pPr marL="457200" lvl="1" indent="0">
              <a:lnSpc>
                <a:spcPct val="90000"/>
              </a:lnSpc>
              <a:buNone/>
            </a:pPr>
            <a:r>
              <a:rPr lang="en-US" altLang="zh-CN" dirty="0"/>
              <a:t> P2   7 4 5    6 0 0    3 0 2           </a:t>
            </a:r>
          </a:p>
          <a:p>
            <a:pPr marL="457200" lvl="1" indent="0">
              <a:lnSpc>
                <a:spcPct val="90000"/>
              </a:lnSpc>
              <a:buNone/>
            </a:pPr>
            <a:r>
              <a:rPr lang="en-US" altLang="zh-CN" dirty="0"/>
              <a:t> P0  10 4 7   7 4 3    0 1 0           </a:t>
            </a:r>
          </a:p>
          <a:p>
            <a:pPr>
              <a:lnSpc>
                <a:spcPct val="90000"/>
              </a:lnSpc>
            </a:pPr>
            <a:r>
              <a:rPr lang="en-US" altLang="zh-CN" sz="2800" dirty="0"/>
              <a:t>The system is in a safe state since the sequence &lt; </a:t>
            </a:r>
            <a:r>
              <a:rPr lang="en-US" altLang="zh-CN" sz="2800" i="1" dirty="0"/>
              <a:t>P</a:t>
            </a:r>
            <a:r>
              <a:rPr lang="en-US" altLang="zh-CN" sz="2800" baseline="-25000" dirty="0"/>
              <a:t>1</a:t>
            </a:r>
            <a:r>
              <a:rPr lang="en-US" altLang="zh-CN" sz="2800" dirty="0"/>
              <a:t>, </a:t>
            </a:r>
            <a:r>
              <a:rPr lang="en-US" altLang="zh-CN" sz="2800" i="1" dirty="0"/>
              <a:t>P</a:t>
            </a:r>
            <a:r>
              <a:rPr lang="en-US" altLang="zh-CN" sz="2800" baseline="-25000" dirty="0"/>
              <a:t>3</a:t>
            </a:r>
            <a:r>
              <a:rPr lang="en-US" altLang="zh-CN" sz="2800" dirty="0"/>
              <a:t>, </a:t>
            </a:r>
            <a:r>
              <a:rPr lang="en-US" altLang="zh-CN" sz="2800" i="1" dirty="0"/>
              <a:t>P</a:t>
            </a:r>
            <a:r>
              <a:rPr lang="en-US" altLang="zh-CN" sz="2800" baseline="-25000" dirty="0"/>
              <a:t>4</a:t>
            </a:r>
            <a:r>
              <a:rPr lang="en-US" altLang="zh-CN" sz="2800" dirty="0"/>
              <a:t>, </a:t>
            </a:r>
            <a:r>
              <a:rPr lang="en-US" altLang="zh-CN" sz="2800" i="1" dirty="0"/>
              <a:t>P</a:t>
            </a:r>
            <a:r>
              <a:rPr lang="en-US" altLang="zh-CN" sz="2800" baseline="-25000" dirty="0"/>
              <a:t>2</a:t>
            </a:r>
            <a:r>
              <a:rPr lang="en-US" altLang="zh-CN" sz="2800" dirty="0"/>
              <a:t>, </a:t>
            </a:r>
            <a:r>
              <a:rPr lang="en-US" altLang="zh-CN" sz="2800" i="1" dirty="0"/>
              <a:t>P</a:t>
            </a:r>
            <a:r>
              <a:rPr lang="en-US" altLang="zh-CN" sz="2800" baseline="-25000" dirty="0"/>
              <a:t>0</a:t>
            </a:r>
            <a:r>
              <a:rPr lang="en-US" altLang="zh-CN" sz="2800" dirty="0"/>
              <a:t>&gt; satisfies safety criteria</a:t>
            </a:r>
          </a:p>
        </p:txBody>
      </p:sp>
      <p:sp>
        <p:nvSpPr>
          <p:cNvPr id="52227" name="Rectangle 3"/>
          <p:cNvSpPr>
            <a:spLocks noGrp="1" noRot="1"/>
          </p:cNvSpPr>
          <p:nvPr>
            <p:ph type="title"/>
          </p:nvPr>
        </p:nvSpPr>
        <p:spPr/>
        <p:txBody>
          <a:bodyPr vert="horz" wrap="square" lIns="91440" tIns="45720" rIns="91440" bIns="45720" anchor="ctr" anchorCtr="0"/>
          <a:lstStyle/>
          <a:p>
            <a:r>
              <a:rPr lang="en-US" altLang="zh-CN" dirty="0"/>
              <a:t>Example (Cont.)</a:t>
            </a:r>
          </a:p>
        </p:txBody>
      </p:sp>
      <p:sp>
        <p:nvSpPr>
          <p:cNvPr id="2" name="文本框 1"/>
          <p:cNvSpPr txBox="1"/>
          <p:nvPr/>
        </p:nvSpPr>
        <p:spPr>
          <a:xfrm>
            <a:off x="5182235" y="3244850"/>
            <a:ext cx="323850" cy="368300"/>
          </a:xfrm>
          <a:prstGeom prst="rect">
            <a:avLst/>
          </a:prstGeom>
          <a:noFill/>
        </p:spPr>
        <p:txBody>
          <a:bodyPr wrap="none" rtlCol="0">
            <a:spAutoFit/>
          </a:bodyPr>
          <a:lstStyle/>
          <a:p>
            <a:r>
              <a:rPr lang="en-US" altLang="zh-CN"/>
              <a:t>T</a:t>
            </a:r>
          </a:p>
        </p:txBody>
      </p:sp>
      <p:sp>
        <p:nvSpPr>
          <p:cNvPr id="4" name="文本框 3"/>
          <p:cNvSpPr txBox="1"/>
          <p:nvPr/>
        </p:nvSpPr>
        <p:spPr>
          <a:xfrm>
            <a:off x="5182235" y="3613150"/>
            <a:ext cx="323850" cy="368300"/>
          </a:xfrm>
          <a:prstGeom prst="rect">
            <a:avLst/>
          </a:prstGeom>
          <a:noFill/>
        </p:spPr>
        <p:txBody>
          <a:bodyPr wrap="none" rtlCol="0">
            <a:spAutoFit/>
          </a:bodyPr>
          <a:lstStyle/>
          <a:p>
            <a:r>
              <a:rPr lang="en-US" altLang="zh-CN"/>
              <a:t>T</a:t>
            </a:r>
          </a:p>
        </p:txBody>
      </p:sp>
      <p:sp>
        <p:nvSpPr>
          <p:cNvPr id="5" name="文本框 4"/>
          <p:cNvSpPr txBox="1"/>
          <p:nvPr/>
        </p:nvSpPr>
        <p:spPr>
          <a:xfrm>
            <a:off x="5182235" y="4124325"/>
            <a:ext cx="323850" cy="368300"/>
          </a:xfrm>
          <a:prstGeom prst="rect">
            <a:avLst/>
          </a:prstGeom>
          <a:noFill/>
        </p:spPr>
        <p:txBody>
          <a:bodyPr wrap="none" rtlCol="0">
            <a:spAutoFit/>
          </a:bodyPr>
          <a:lstStyle/>
          <a:p>
            <a:r>
              <a:rPr lang="en-US" altLang="zh-CN"/>
              <a:t>T</a:t>
            </a:r>
          </a:p>
        </p:txBody>
      </p:sp>
      <p:sp>
        <p:nvSpPr>
          <p:cNvPr id="6" name="文本框 5"/>
          <p:cNvSpPr txBox="1"/>
          <p:nvPr/>
        </p:nvSpPr>
        <p:spPr>
          <a:xfrm>
            <a:off x="5182235" y="4635500"/>
            <a:ext cx="323850" cy="368300"/>
          </a:xfrm>
          <a:prstGeom prst="rect">
            <a:avLst/>
          </a:prstGeom>
          <a:noFill/>
        </p:spPr>
        <p:txBody>
          <a:bodyPr wrap="none" rtlCol="0">
            <a:spAutoFit/>
          </a:bodyPr>
          <a:lstStyle/>
          <a:p>
            <a:r>
              <a:rPr lang="en-US" altLang="zh-CN"/>
              <a:t>T</a:t>
            </a:r>
          </a:p>
        </p:txBody>
      </p:sp>
      <p:sp>
        <p:nvSpPr>
          <p:cNvPr id="7" name="文本框 6"/>
          <p:cNvSpPr txBox="1"/>
          <p:nvPr/>
        </p:nvSpPr>
        <p:spPr>
          <a:xfrm>
            <a:off x="5182235" y="5086350"/>
            <a:ext cx="323850" cy="368300"/>
          </a:xfrm>
          <a:prstGeom prst="rect">
            <a:avLst/>
          </a:prstGeom>
          <a:noFill/>
        </p:spPr>
        <p:txBody>
          <a:bodyPr wrap="none" rtlCol="0">
            <a:spAutoFit/>
          </a:bodyPr>
          <a:lstStyle/>
          <a:p>
            <a:r>
              <a:rPr lang="en-US" altLang="zh-CN"/>
              <a:t>T</a:t>
            </a:r>
          </a:p>
        </p:txBody>
      </p:sp>
      <p:sp>
        <p:nvSpPr>
          <p:cNvPr id="3" name="矩形 2">
            <a:extLst>
              <a:ext uri="{FF2B5EF4-FFF2-40B4-BE49-F238E27FC236}">
                <a16:creationId xmlns:a16="http://schemas.microsoft.com/office/drawing/2014/main" id="{D12AE034-9FD7-4C96-8A6D-CB6BA45854D7}"/>
              </a:ext>
            </a:extLst>
          </p:cNvPr>
          <p:cNvSpPr/>
          <p:nvPr/>
        </p:nvSpPr>
        <p:spPr bwMode="auto">
          <a:xfrm>
            <a:off x="1529862" y="3244850"/>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0" name="矩形 9">
            <a:extLst>
              <a:ext uri="{FF2B5EF4-FFF2-40B4-BE49-F238E27FC236}">
                <a16:creationId xmlns:a16="http://schemas.microsoft.com/office/drawing/2014/main" id="{FA4C337F-639E-48B0-BECB-C6E54EAAA389}"/>
              </a:ext>
            </a:extLst>
          </p:cNvPr>
          <p:cNvSpPr/>
          <p:nvPr/>
        </p:nvSpPr>
        <p:spPr bwMode="auto">
          <a:xfrm>
            <a:off x="1529862" y="3734044"/>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1" name="矩形 10">
            <a:extLst>
              <a:ext uri="{FF2B5EF4-FFF2-40B4-BE49-F238E27FC236}">
                <a16:creationId xmlns:a16="http://schemas.microsoft.com/office/drawing/2014/main" id="{98B736CE-C1A1-4F55-B45E-08C4A336966B}"/>
              </a:ext>
            </a:extLst>
          </p:cNvPr>
          <p:cNvSpPr/>
          <p:nvPr/>
        </p:nvSpPr>
        <p:spPr bwMode="auto">
          <a:xfrm>
            <a:off x="1433195" y="4196373"/>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2" name="矩形 11">
            <a:extLst>
              <a:ext uri="{FF2B5EF4-FFF2-40B4-BE49-F238E27FC236}">
                <a16:creationId xmlns:a16="http://schemas.microsoft.com/office/drawing/2014/main" id="{0ADD50D3-A689-4C2D-BB44-87BC9C6F4CF3}"/>
              </a:ext>
            </a:extLst>
          </p:cNvPr>
          <p:cNvSpPr/>
          <p:nvPr/>
        </p:nvSpPr>
        <p:spPr bwMode="auto">
          <a:xfrm>
            <a:off x="1548130" y="4658702"/>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3" name="矩形 12">
            <a:extLst>
              <a:ext uri="{FF2B5EF4-FFF2-40B4-BE49-F238E27FC236}">
                <a16:creationId xmlns:a16="http://schemas.microsoft.com/office/drawing/2014/main" id="{35B7310D-ADE1-4007-86AC-98D1AD644CC7}"/>
              </a:ext>
            </a:extLst>
          </p:cNvPr>
          <p:cNvSpPr/>
          <p:nvPr/>
        </p:nvSpPr>
        <p:spPr bwMode="auto">
          <a:xfrm>
            <a:off x="1433194" y="5063514"/>
            <a:ext cx="915035" cy="391135"/>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09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09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209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098">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098">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2098">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209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3" grpId="0" animBg="1"/>
      <p:bldP spid="10" grpId="0" animBg="1"/>
      <p:bldP spid="11" grpId="0" animBg="1"/>
      <p:bldP spid="12" grpId="0" animBg="1"/>
      <p:bldP spid="1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5ED446D1-8DA6-4B71-BD44-765752F094E2}"/>
              </a:ext>
            </a:extLst>
          </p:cNvPr>
          <p:cNvGraphicFramePr>
            <a:graphicFrameLocks noGrp="1"/>
          </p:cNvGraphicFramePr>
          <p:nvPr/>
        </p:nvGraphicFramePr>
        <p:xfrm>
          <a:off x="2211388" y="2071688"/>
          <a:ext cx="5219701" cy="2270126"/>
        </p:xfrm>
        <a:graphic>
          <a:graphicData uri="http://schemas.openxmlformats.org/drawingml/2006/table">
            <a:tbl>
              <a:tblPr>
                <a:tableStyleId>{5C22544A-7EE6-4342-B048-85BDC9FD1C3A}</a:tableStyleId>
              </a:tblPr>
              <a:tblGrid>
                <a:gridCol w="870702">
                  <a:extLst>
                    <a:ext uri="{9D8B030D-6E8A-4147-A177-3AD203B41FA5}">
                      <a16:colId xmlns:a16="http://schemas.microsoft.com/office/drawing/2014/main" val="20000"/>
                    </a:ext>
                  </a:extLst>
                </a:gridCol>
                <a:gridCol w="1027097">
                  <a:extLst>
                    <a:ext uri="{9D8B030D-6E8A-4147-A177-3AD203B41FA5}">
                      <a16:colId xmlns:a16="http://schemas.microsoft.com/office/drawing/2014/main" val="20001"/>
                    </a:ext>
                  </a:extLst>
                </a:gridCol>
                <a:gridCol w="1226401">
                  <a:extLst>
                    <a:ext uri="{9D8B030D-6E8A-4147-A177-3AD203B41FA5}">
                      <a16:colId xmlns:a16="http://schemas.microsoft.com/office/drawing/2014/main" val="20002"/>
                    </a:ext>
                  </a:extLst>
                </a:gridCol>
                <a:gridCol w="994716">
                  <a:extLst>
                    <a:ext uri="{9D8B030D-6E8A-4147-A177-3AD203B41FA5}">
                      <a16:colId xmlns:a16="http://schemas.microsoft.com/office/drawing/2014/main" val="20003"/>
                    </a:ext>
                  </a:extLst>
                </a:gridCol>
                <a:gridCol w="1100785">
                  <a:extLst>
                    <a:ext uri="{9D8B030D-6E8A-4147-A177-3AD203B41FA5}">
                      <a16:colId xmlns:a16="http://schemas.microsoft.com/office/drawing/2014/main" val="20004"/>
                    </a:ext>
                  </a:extLst>
                </a:gridCol>
              </a:tblGrid>
              <a:tr h="648606">
                <a:tc>
                  <a:txBody>
                    <a:bodyPr/>
                    <a:lstStyle/>
                    <a:p>
                      <a:pPr indent="266700" algn="ctr">
                        <a:spcBef>
                          <a:spcPts val="400"/>
                        </a:spcBef>
                        <a:spcAft>
                          <a:spcPts val="300"/>
                        </a:spcAft>
                      </a:pPr>
                      <a:r>
                        <a:rPr lang="zh-CN" sz="1200" b="1" kern="100" dirty="0">
                          <a:effectLst/>
                        </a:rPr>
                        <a:t>进程</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MAX </a:t>
                      </a:r>
                    </a:p>
                    <a:p>
                      <a:pPr indent="266700" algn="ctr">
                        <a:spcBef>
                          <a:spcPts val="400"/>
                        </a:spcBef>
                        <a:spcAft>
                          <a:spcPts val="300"/>
                        </a:spcAft>
                      </a:pPr>
                      <a:r>
                        <a:rPr lang="en-US" sz="1200" b="1" kern="100" dirty="0">
                          <a:effectLst/>
                        </a:rPr>
                        <a:t>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Allocation</a:t>
                      </a:r>
                    </a:p>
                    <a:p>
                      <a:pPr indent="266700" algn="ctr">
                        <a:spcBef>
                          <a:spcPts val="400"/>
                        </a:spcBef>
                        <a:spcAft>
                          <a:spcPts val="300"/>
                        </a:spcAft>
                      </a:pPr>
                      <a:r>
                        <a:rPr lang="en-US" sz="1200" b="1" kern="100" dirty="0">
                          <a:effectLst/>
                        </a:rPr>
                        <a:t>   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Need  </a:t>
                      </a:r>
                    </a:p>
                    <a:p>
                      <a:pPr indent="266700" algn="ctr">
                        <a:spcBef>
                          <a:spcPts val="400"/>
                        </a:spcBef>
                        <a:spcAft>
                          <a:spcPts val="300"/>
                        </a:spcAft>
                      </a:pPr>
                      <a:r>
                        <a:rPr lang="en-US" sz="1200" b="1" kern="100" dirty="0">
                          <a:effectLst/>
                        </a:rPr>
                        <a:t>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Available</a:t>
                      </a:r>
                    </a:p>
                    <a:p>
                      <a:pPr indent="266700" algn="ctr">
                        <a:spcBef>
                          <a:spcPts val="400"/>
                        </a:spcBef>
                        <a:spcAft>
                          <a:spcPts val="300"/>
                        </a:spcAft>
                      </a:pPr>
                      <a:r>
                        <a:rPr lang="en-US" sz="1200" b="1" kern="100" dirty="0">
                          <a:effectLst/>
                        </a:rPr>
                        <a:t> 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extLst>
                  <a:ext uri="{0D108BD9-81ED-4DB2-BD59-A6C34878D82A}">
                    <a16:rowId xmlns:a16="http://schemas.microsoft.com/office/drawing/2014/main" val="10000"/>
                  </a:ext>
                </a:extLst>
              </a:tr>
              <a:tr h="324304">
                <a:tc>
                  <a:txBody>
                    <a:bodyPr/>
                    <a:lstStyle/>
                    <a:p>
                      <a:pPr indent="266700" algn="ctr">
                        <a:spcBef>
                          <a:spcPts val="400"/>
                        </a:spcBef>
                        <a:spcAft>
                          <a:spcPts val="300"/>
                        </a:spcAft>
                      </a:pPr>
                      <a:r>
                        <a:rPr lang="en-US" sz="1200" b="1" kern="100">
                          <a:effectLst/>
                        </a:rPr>
                        <a:t>P0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7 5 3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0 1 0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7 4 3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rowSpan="5">
                  <a:txBody>
                    <a:bodyPr/>
                    <a:lstStyle/>
                    <a:p>
                      <a:pPr indent="266700" algn="ctr">
                        <a:spcBef>
                          <a:spcPts val="400"/>
                        </a:spcBef>
                        <a:spcAft>
                          <a:spcPts val="300"/>
                        </a:spcAft>
                      </a:pPr>
                      <a:r>
                        <a:rPr lang="en-US" sz="1200" b="1" kern="100" dirty="0">
                          <a:effectLst/>
                        </a:rPr>
                        <a:t>3 3 2</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extLst>
                  <a:ext uri="{0D108BD9-81ED-4DB2-BD59-A6C34878D82A}">
                    <a16:rowId xmlns:a16="http://schemas.microsoft.com/office/drawing/2014/main" val="10001"/>
                  </a:ext>
                </a:extLst>
              </a:tr>
              <a:tr h="324304">
                <a:tc>
                  <a:txBody>
                    <a:bodyPr/>
                    <a:lstStyle/>
                    <a:p>
                      <a:pPr indent="266700" algn="ctr">
                        <a:spcBef>
                          <a:spcPts val="400"/>
                        </a:spcBef>
                        <a:spcAft>
                          <a:spcPts val="300"/>
                        </a:spcAft>
                      </a:pPr>
                      <a:r>
                        <a:rPr lang="en-US" sz="1200" b="1" kern="100">
                          <a:effectLst/>
                        </a:rPr>
                        <a:t>P1</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3 2 2</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2 0 0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1 2 2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2"/>
                  </a:ext>
                </a:extLst>
              </a:tr>
              <a:tr h="324304">
                <a:tc>
                  <a:txBody>
                    <a:bodyPr/>
                    <a:lstStyle/>
                    <a:p>
                      <a:pPr indent="266700" algn="ctr">
                        <a:spcBef>
                          <a:spcPts val="400"/>
                        </a:spcBef>
                        <a:spcAft>
                          <a:spcPts val="300"/>
                        </a:spcAft>
                      </a:pPr>
                      <a:r>
                        <a:rPr lang="en-US" sz="1200" b="1" kern="100">
                          <a:effectLst/>
                        </a:rPr>
                        <a:t>P2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9 0 2</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3 0 2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6 0 0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3"/>
                  </a:ext>
                </a:extLst>
              </a:tr>
              <a:tr h="324304">
                <a:tc>
                  <a:txBody>
                    <a:bodyPr/>
                    <a:lstStyle/>
                    <a:p>
                      <a:pPr indent="266700" algn="ctr">
                        <a:spcBef>
                          <a:spcPts val="400"/>
                        </a:spcBef>
                        <a:spcAft>
                          <a:spcPts val="300"/>
                        </a:spcAft>
                      </a:pPr>
                      <a:r>
                        <a:rPr lang="en-US" sz="1200" b="1" kern="100">
                          <a:effectLst/>
                        </a:rPr>
                        <a:t>P3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2 2 2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2 1 1</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0 1 1</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4"/>
                  </a:ext>
                </a:extLst>
              </a:tr>
              <a:tr h="324304">
                <a:tc>
                  <a:txBody>
                    <a:bodyPr/>
                    <a:lstStyle/>
                    <a:p>
                      <a:pPr indent="266700" algn="ctr">
                        <a:spcBef>
                          <a:spcPts val="400"/>
                        </a:spcBef>
                        <a:spcAft>
                          <a:spcPts val="300"/>
                        </a:spcAft>
                      </a:pPr>
                      <a:r>
                        <a:rPr lang="en-US" sz="1200" b="1" kern="100">
                          <a:effectLst/>
                        </a:rPr>
                        <a:t>P4</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4 3 3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0 0 2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4 3 1</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269354" name="Rectangle 3">
            <a:extLst>
              <a:ext uri="{FF2B5EF4-FFF2-40B4-BE49-F238E27FC236}">
                <a16:creationId xmlns:a16="http://schemas.microsoft.com/office/drawing/2014/main" id="{A1A73567-A281-4338-A442-15CBF634CAEE}"/>
              </a:ext>
            </a:extLst>
          </p:cNvPr>
          <p:cNvSpPr>
            <a:spLocks noChangeArrowheads="1"/>
          </p:cNvSpPr>
          <p:nvPr/>
        </p:nvSpPr>
        <p:spPr bwMode="auto">
          <a:xfrm>
            <a:off x="368300" y="979488"/>
            <a:ext cx="840740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en-US" altLang="zh-CN" sz="2800">
                <a:latin typeface="Verdana" panose="020B0604030504040204" pitchFamily="34" charset="0"/>
              </a:rPr>
              <a:t>【</a:t>
            </a:r>
            <a:r>
              <a:rPr kumimoji="0" lang="zh-CN" altLang="en-US" sz="2800">
                <a:latin typeface="Verdana" panose="020B0604030504040204" pitchFamily="34" charset="0"/>
              </a:rPr>
              <a:t>解答题</a:t>
            </a:r>
            <a:r>
              <a:rPr kumimoji="0" lang="en-US" altLang="zh-CN" sz="2800">
                <a:latin typeface="Verdana" panose="020B0604030504040204" pitchFamily="34" charset="0"/>
              </a:rPr>
              <a:t>】</a:t>
            </a:r>
            <a:r>
              <a:rPr kumimoji="0" lang="zh-CN" altLang="en-US" sz="2800">
                <a:latin typeface="Verdana" panose="020B0604030504040204" pitchFamily="34" charset="0"/>
              </a:rPr>
              <a:t>系统的资源数量为：（</a:t>
            </a:r>
            <a:r>
              <a:rPr kumimoji="0" lang="en-US" altLang="zh-CN" sz="2800">
                <a:latin typeface="Verdana" panose="020B0604030504040204" pitchFamily="34" charset="0"/>
              </a:rPr>
              <a:t>10</a:t>
            </a:r>
            <a:r>
              <a:rPr kumimoji="0" lang="zh-CN" altLang="en-US" sz="2800">
                <a:latin typeface="Verdana" panose="020B0604030504040204" pitchFamily="34" charset="0"/>
              </a:rPr>
              <a:t>，</a:t>
            </a:r>
            <a:r>
              <a:rPr kumimoji="0" lang="en-US" altLang="zh-CN" sz="2800">
                <a:latin typeface="Verdana" panose="020B0604030504040204" pitchFamily="34" charset="0"/>
              </a:rPr>
              <a:t>5</a:t>
            </a:r>
            <a:r>
              <a:rPr kumimoji="0" lang="zh-CN" altLang="en-US" sz="2800">
                <a:latin typeface="Verdana" panose="020B0604030504040204" pitchFamily="34" charset="0"/>
              </a:rPr>
              <a:t>，</a:t>
            </a:r>
            <a:r>
              <a:rPr kumimoji="0" lang="en-US" altLang="zh-CN" sz="2800">
                <a:latin typeface="Verdana" panose="020B0604030504040204" pitchFamily="34" charset="0"/>
              </a:rPr>
              <a:t>7</a:t>
            </a:r>
            <a:r>
              <a:rPr kumimoji="0" lang="zh-CN" altLang="en-US" sz="2800">
                <a:latin typeface="Verdana" panose="020B0604030504040204" pitchFamily="34" charset="0"/>
              </a:rPr>
              <a:t>）。经过一段时间的分配后，资源分配与占用情况见下表所示。</a:t>
            </a:r>
          </a:p>
          <a:p>
            <a:pPr>
              <a:spcBef>
                <a:spcPct val="0"/>
              </a:spcBef>
              <a:buClrTx/>
              <a:buSzTx/>
              <a:buFontTx/>
              <a:buNone/>
            </a:pPr>
            <a:endParaRPr kumimoji="0" lang="zh-CN" altLang="en-US" sz="1600">
              <a:latin typeface="Verdana" panose="020B0604030504040204" pitchFamily="34" charset="0"/>
            </a:endParaRPr>
          </a:p>
        </p:txBody>
      </p:sp>
      <p:sp>
        <p:nvSpPr>
          <p:cNvPr id="269355" name="Rectangle 3">
            <a:extLst>
              <a:ext uri="{FF2B5EF4-FFF2-40B4-BE49-F238E27FC236}">
                <a16:creationId xmlns:a16="http://schemas.microsoft.com/office/drawing/2014/main" id="{A30AB00F-1181-4EE7-A7F2-8400BD84D73E}"/>
              </a:ext>
            </a:extLst>
          </p:cNvPr>
          <p:cNvSpPr>
            <a:spLocks noChangeArrowheads="1"/>
          </p:cNvSpPr>
          <p:nvPr/>
        </p:nvSpPr>
        <p:spPr bwMode="auto">
          <a:xfrm>
            <a:off x="368300" y="4648200"/>
            <a:ext cx="84074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sz="2400">
                <a:latin typeface="Verdana" panose="020B0604030504040204" pitchFamily="34" charset="0"/>
              </a:rPr>
              <a:t>以下请求是否能得到满足：</a:t>
            </a:r>
            <a:endParaRPr kumimoji="0" lang="en-US" altLang="zh-CN" sz="2400">
              <a:latin typeface="Verdana" panose="020B0604030504040204" pitchFamily="34" charset="0"/>
            </a:endParaRPr>
          </a:p>
          <a:p>
            <a:pPr>
              <a:spcBef>
                <a:spcPct val="0"/>
              </a:spcBef>
              <a:buClrTx/>
              <a:buSzTx/>
              <a:buFontTx/>
              <a:buNone/>
            </a:pPr>
            <a:r>
              <a:rPr kumimoji="0" lang="en-US" altLang="zh-CN" sz="2400">
                <a:latin typeface="Verdana" panose="020B0604030504040204" pitchFamily="34" charset="0"/>
              </a:rPr>
              <a:t>1</a:t>
            </a:r>
            <a:r>
              <a:rPr kumimoji="0" lang="zh-CN" altLang="en-US" sz="2400">
                <a:latin typeface="Verdana" panose="020B0604030504040204" pitchFamily="34" charset="0"/>
              </a:rPr>
              <a:t>） </a:t>
            </a:r>
            <a:r>
              <a:rPr kumimoji="0" lang="en-US" altLang="zh-CN" sz="2400">
                <a:latin typeface="Verdana" panose="020B0604030504040204" pitchFamily="34" charset="0"/>
              </a:rPr>
              <a:t>Request 1</a:t>
            </a:r>
            <a:r>
              <a:rPr kumimoji="0" lang="zh-CN" altLang="en-US" sz="2400">
                <a:latin typeface="Verdana" panose="020B0604030504040204" pitchFamily="34" charset="0"/>
              </a:rPr>
              <a:t>（</a:t>
            </a:r>
            <a:r>
              <a:rPr kumimoji="0" lang="en-US" altLang="zh-CN" sz="2400">
                <a:latin typeface="Verdana" panose="020B0604030504040204" pitchFamily="34" charset="0"/>
              </a:rPr>
              <a:t>1,0,2</a:t>
            </a:r>
            <a:r>
              <a:rPr kumimoji="0" lang="zh-CN" altLang="en-US" sz="2400">
                <a:latin typeface="Verdana" panose="020B0604030504040204" pitchFamily="34" charset="0"/>
              </a:rPr>
              <a:t>）</a:t>
            </a:r>
            <a:endParaRPr kumimoji="0" lang="en-US" altLang="zh-CN" sz="2400">
              <a:latin typeface="Verdana" panose="020B0604030504040204" pitchFamily="34" charset="0"/>
            </a:endParaRPr>
          </a:p>
          <a:p>
            <a:pPr>
              <a:spcBef>
                <a:spcPct val="0"/>
              </a:spcBef>
              <a:buClrTx/>
              <a:buSzTx/>
              <a:buFontTx/>
              <a:buNone/>
            </a:pPr>
            <a:r>
              <a:rPr kumimoji="0" lang="en-US" altLang="zh-CN" sz="2400">
                <a:latin typeface="Verdana" panose="020B0604030504040204" pitchFamily="34" charset="0"/>
              </a:rPr>
              <a:t>2</a:t>
            </a:r>
            <a:r>
              <a:rPr kumimoji="0" lang="zh-CN" altLang="en-US" sz="2400">
                <a:latin typeface="Verdana" panose="020B0604030504040204" pitchFamily="34" charset="0"/>
              </a:rPr>
              <a:t>） </a:t>
            </a:r>
            <a:r>
              <a:rPr kumimoji="0" lang="en-US" altLang="zh-CN" sz="2400">
                <a:latin typeface="Verdana" panose="020B0604030504040204" pitchFamily="34" charset="0"/>
              </a:rPr>
              <a:t>Request 4(3,3,0)</a:t>
            </a:r>
          </a:p>
          <a:p>
            <a:pPr>
              <a:spcBef>
                <a:spcPct val="0"/>
              </a:spcBef>
              <a:buClrTx/>
              <a:buSzTx/>
              <a:buFontTx/>
              <a:buNone/>
            </a:pPr>
            <a:r>
              <a:rPr kumimoji="0" lang="en-US" altLang="zh-CN" sz="2400">
                <a:latin typeface="Verdana" panose="020B0604030504040204" pitchFamily="34" charset="0"/>
              </a:rPr>
              <a:t>3) Request 3</a:t>
            </a:r>
            <a:r>
              <a:rPr kumimoji="0" lang="zh-CN" altLang="en-US" sz="2400">
                <a:latin typeface="Verdana" panose="020B0604030504040204" pitchFamily="34" charset="0"/>
              </a:rPr>
              <a:t>（</a:t>
            </a:r>
            <a:r>
              <a:rPr kumimoji="0" lang="en-US" altLang="zh-CN" sz="2400">
                <a:latin typeface="Verdana" panose="020B0604030504040204" pitchFamily="34" charset="0"/>
              </a:rPr>
              <a:t>0,1,0)</a:t>
            </a:r>
            <a:endParaRPr kumimoji="0" lang="zh-CN" altLang="en-US" sz="2400">
              <a:latin typeface="Verdana" panose="020B0604030504040204" pitchFamily="34" charset="0"/>
            </a:endParaRPr>
          </a:p>
        </p:txBody>
      </p:sp>
      <p:sp>
        <p:nvSpPr>
          <p:cNvPr id="269356" name="文本框 2">
            <a:extLst>
              <a:ext uri="{FF2B5EF4-FFF2-40B4-BE49-F238E27FC236}">
                <a16:creationId xmlns:a16="http://schemas.microsoft.com/office/drawing/2014/main" id="{4571A6C6-49AC-4E7C-B4CA-29FD54FBF27E}"/>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3394075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vert="horz" wrap="square" lIns="91440" tIns="45720" rIns="91440" bIns="45720" anchor="b" anchorCtr="0"/>
          <a:lstStyle/>
          <a:p>
            <a:pPr eaLnBrk="1" hangingPunct="1"/>
            <a:r>
              <a:rPr lang="en-US" altLang="zh-CN" dirty="0"/>
              <a:t>Methods for Handling Deadlocks</a:t>
            </a:r>
          </a:p>
        </p:txBody>
      </p:sp>
      <p:sp>
        <p:nvSpPr>
          <p:cNvPr id="24579" name="Rectangle 3"/>
          <p:cNvSpPr>
            <a:spLocks noGrp="1"/>
          </p:cNvSpPr>
          <p:nvPr>
            <p:ph idx="1"/>
          </p:nvPr>
        </p:nvSpPr>
        <p:spPr>
          <a:xfrm>
            <a:off x="604838" y="1098550"/>
            <a:ext cx="8291512" cy="5759450"/>
          </a:xfrm>
        </p:spPr>
        <p:txBody>
          <a:bodyPr vert="horz" wrap="square" lIns="91440" tIns="45720" rIns="91440" bIns="45720" anchor="t" anchorCtr="0"/>
          <a:lstStyle/>
          <a:p>
            <a:r>
              <a:rPr lang="en-US" altLang="zh-CN" dirty="0"/>
              <a:t>Ensure that the system will </a:t>
            </a:r>
            <a:r>
              <a:rPr lang="en-US" altLang="zh-CN" i="1" dirty="0">
                <a:solidFill>
                  <a:srgbClr val="FF0066"/>
                </a:solidFill>
              </a:rPr>
              <a:t>never</a:t>
            </a:r>
            <a:r>
              <a:rPr lang="en-US" altLang="zh-CN" dirty="0"/>
              <a:t> enter a deadlock state</a:t>
            </a:r>
          </a:p>
          <a:p>
            <a:pPr lvl="1"/>
            <a:r>
              <a:rPr lang="en-US" altLang="zh-CN" dirty="0"/>
              <a:t>Deadlock prevention (</a:t>
            </a:r>
            <a:r>
              <a:rPr lang="zh-CN" altLang="en-US" dirty="0">
                <a:ea typeface="宋体" panose="02010600030101010101" pitchFamily="2" charset="-122"/>
              </a:rPr>
              <a:t>死锁预防</a:t>
            </a:r>
            <a:r>
              <a:rPr lang="en-US" altLang="zh-CN" dirty="0"/>
              <a:t>)</a:t>
            </a:r>
          </a:p>
          <a:p>
            <a:pPr lvl="1"/>
            <a:r>
              <a:rPr lang="en-US" altLang="zh-CN" dirty="0"/>
              <a:t>Deadlock avoidance (</a:t>
            </a:r>
            <a:r>
              <a:rPr lang="zh-CN" altLang="en-US" dirty="0">
                <a:ea typeface="宋体" panose="02010600030101010101" pitchFamily="2" charset="-122"/>
              </a:rPr>
              <a:t>死锁避免</a:t>
            </a:r>
            <a:r>
              <a:rPr lang="en-US" altLang="zh-CN" dirty="0"/>
              <a:t>)</a:t>
            </a:r>
          </a:p>
          <a:p>
            <a:r>
              <a:rPr lang="en-US" altLang="zh-CN" dirty="0"/>
              <a:t>Allow the system to enter a deadlock state and then recover</a:t>
            </a:r>
          </a:p>
          <a:p>
            <a:pPr lvl="1"/>
            <a:r>
              <a:rPr lang="en-US" altLang="zh-CN" dirty="0"/>
              <a:t>Deadlock detection and recovery (</a:t>
            </a:r>
            <a:r>
              <a:rPr lang="zh-CN" altLang="en-US" dirty="0">
                <a:ea typeface="宋体" panose="02010600030101010101" pitchFamily="2" charset="-122"/>
              </a:rPr>
              <a:t>死锁检测和恢复</a:t>
            </a:r>
            <a:r>
              <a:rPr lang="en-US" altLang="zh-CN" dirty="0"/>
              <a:t>)</a:t>
            </a:r>
          </a:p>
          <a:p>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p:txBody>
          <a:bodyPr vert="horz" wrap="square" lIns="91440" tIns="45720" rIns="91440" bIns="45720" anchor="b" anchorCtr="0"/>
          <a:lstStyle/>
          <a:p>
            <a:pPr eaLnBrk="1" hangingPunct="1"/>
            <a:r>
              <a:rPr lang="en-US" altLang="zh-CN" dirty="0"/>
              <a:t>Deadlock Detection(</a:t>
            </a:r>
            <a:r>
              <a:rPr lang="zh-CN" altLang="en-US" dirty="0">
                <a:ea typeface="宋体" panose="02010600030101010101" pitchFamily="2" charset="-122"/>
              </a:rPr>
              <a:t>死锁检测</a:t>
            </a:r>
            <a:r>
              <a:rPr lang="en-US" altLang="zh-CN" dirty="0"/>
              <a:t>)</a:t>
            </a:r>
          </a:p>
        </p:txBody>
      </p:sp>
      <p:sp>
        <p:nvSpPr>
          <p:cNvPr id="55299" name="Rectangle 3"/>
          <p:cNvSpPr>
            <a:spLocks noGrp="1"/>
          </p:cNvSpPr>
          <p:nvPr>
            <p:ph idx="1"/>
          </p:nvPr>
        </p:nvSpPr>
        <p:spPr/>
        <p:txBody>
          <a:bodyPr vert="horz" wrap="square" lIns="91440" tIns="45720" rIns="91440" bIns="45720" anchor="t" anchorCtr="0"/>
          <a:lstStyle/>
          <a:p>
            <a:r>
              <a:rPr lang="en-US" altLang="zh-CN" dirty="0"/>
              <a:t>Allow system to enter deadlock state </a:t>
            </a:r>
            <a:br>
              <a:rPr lang="en-US" altLang="zh-CN" dirty="0"/>
            </a:br>
            <a:endParaRPr lang="en-US" altLang="zh-CN" dirty="0"/>
          </a:p>
          <a:p>
            <a:r>
              <a:rPr lang="en-US" altLang="zh-CN" dirty="0"/>
              <a:t>Detection algorithm</a:t>
            </a:r>
            <a:br>
              <a:rPr lang="en-US" altLang="zh-CN" dirty="0"/>
            </a:br>
            <a:endParaRPr lang="en-US" altLang="zh-CN" dirty="0"/>
          </a:p>
          <a:p>
            <a:r>
              <a:rPr lang="en-US" altLang="zh-CN" dirty="0"/>
              <a:t>Recovery scheme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1222375" y="0"/>
            <a:ext cx="7772400" cy="844550"/>
          </a:xfrm>
        </p:spPr>
        <p:txBody>
          <a:bodyPr vert="horz" wrap="square" lIns="91440" tIns="45720" rIns="91440" bIns="45720" anchor="b" anchorCtr="0"/>
          <a:lstStyle/>
          <a:p>
            <a:pPr eaLnBrk="1" hangingPunct="1"/>
            <a:r>
              <a:rPr lang="en-US" altLang="zh-CN" sz="2800" dirty="0"/>
              <a:t>Single Instance of Each Resource Type</a:t>
            </a:r>
          </a:p>
        </p:txBody>
      </p:sp>
      <p:sp>
        <p:nvSpPr>
          <p:cNvPr id="56323" name="Rectangle 3"/>
          <p:cNvSpPr>
            <a:spLocks noGrp="1"/>
          </p:cNvSpPr>
          <p:nvPr>
            <p:ph idx="1"/>
          </p:nvPr>
        </p:nvSpPr>
        <p:spPr>
          <a:xfrm>
            <a:off x="307975" y="968375"/>
            <a:ext cx="8512175" cy="5227638"/>
          </a:xfrm>
        </p:spPr>
        <p:txBody>
          <a:bodyPr vert="horz" wrap="square" lIns="91440" tIns="45720" rIns="91440" bIns="45720" anchor="t" anchorCtr="0"/>
          <a:lstStyle/>
          <a:p>
            <a:r>
              <a:rPr lang="en-US" altLang="zh-CN" dirty="0"/>
              <a:t>Maintain </a:t>
            </a:r>
            <a:r>
              <a:rPr lang="en-US" altLang="zh-CN" i="1" dirty="0"/>
              <a:t>wait-for</a:t>
            </a:r>
            <a:r>
              <a:rPr lang="en-US" altLang="zh-CN" dirty="0"/>
              <a:t> graph</a:t>
            </a:r>
          </a:p>
          <a:p>
            <a:pPr lvl="1"/>
            <a:r>
              <a:rPr lang="en-US" altLang="zh-CN" dirty="0"/>
              <a:t>Nodes are processes</a:t>
            </a:r>
          </a:p>
          <a:p>
            <a:pPr lvl="1"/>
            <a:r>
              <a:rPr lang="en-US" altLang="zh-CN" i="1" dirty="0"/>
              <a:t>P</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P</a:t>
            </a:r>
            <a:r>
              <a:rPr lang="en-US" altLang="zh-CN" i="1" baseline="-25000" dirty="0">
                <a:sym typeface="Symbol" panose="05050102010706020507" pitchFamily="18" charset="2"/>
              </a:rPr>
              <a:t>j   </a:t>
            </a:r>
            <a:r>
              <a:rPr lang="en-US" altLang="zh-CN" dirty="0">
                <a:sym typeface="Symbol" panose="05050102010706020507" pitchFamily="18" charset="2"/>
              </a:rPr>
              <a:t>if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i="1" dirty="0">
                <a:sym typeface="Symbol" panose="05050102010706020507" pitchFamily="18" charset="2"/>
              </a:rPr>
              <a:t> </a:t>
            </a:r>
            <a:r>
              <a:rPr lang="en-US" altLang="zh-CN" dirty="0">
                <a:sym typeface="Symbol" panose="05050102010706020507" pitchFamily="18" charset="2"/>
              </a:rPr>
              <a:t>is waiting for</a:t>
            </a:r>
            <a:r>
              <a:rPr lang="en-US" altLang="zh-CN" i="1" dirty="0">
                <a:sym typeface="Symbol" panose="05050102010706020507" pitchFamily="18" charset="2"/>
              </a:rPr>
              <a:t> P</a:t>
            </a:r>
            <a:r>
              <a:rPr lang="en-US" altLang="zh-CN" i="1" baseline="-25000" dirty="0">
                <a:sym typeface="Symbol" panose="05050102010706020507" pitchFamily="18" charset="2"/>
              </a:rPr>
              <a:t>j</a:t>
            </a:r>
            <a:br>
              <a:rPr lang="en-US" altLang="zh-CN" i="1" dirty="0">
                <a:sym typeface="Symbol" panose="05050102010706020507" pitchFamily="18" charset="2"/>
              </a:rPr>
            </a:br>
            <a:endParaRPr lang="en-US" altLang="zh-CN" i="1" dirty="0">
              <a:sym typeface="Symbol" panose="05050102010706020507" pitchFamily="18" charset="2"/>
            </a:endParaRPr>
          </a:p>
          <a:p>
            <a:r>
              <a:rPr lang="en-US" altLang="zh-CN" dirty="0"/>
              <a:t>Periodically invoke an algorithm that searches for a cycle in the graph. If there is a cycle, there exists a deadlock</a:t>
            </a:r>
            <a:r>
              <a:rPr lang="zh-CN" altLang="en-US" dirty="0"/>
              <a:t>（定期调用在图中搜索循环的算法。如果存在循环，则存在死锁）</a:t>
            </a:r>
            <a:endParaRPr lang="en-US" altLang="zh-CN" dirty="0"/>
          </a:p>
          <a:p>
            <a:pPr>
              <a:buNone/>
            </a:pPr>
            <a:endParaRPr lang="en-US" altLang="zh-CN" dirty="0"/>
          </a:p>
          <a:p>
            <a:r>
              <a:rPr lang="en-US" altLang="zh-CN" dirty="0"/>
              <a:t>An algorithm to detect a cycle in a graph requires an order of</a:t>
            </a:r>
            <a:r>
              <a:rPr lang="en-US" altLang="zh-CN" i="1" dirty="0"/>
              <a:t> n</a:t>
            </a:r>
            <a:r>
              <a:rPr lang="en-US" altLang="zh-CN" baseline="30000" dirty="0"/>
              <a:t>2</a:t>
            </a:r>
            <a:r>
              <a:rPr lang="en-US" altLang="zh-CN" dirty="0"/>
              <a:t> operations, where </a:t>
            </a:r>
            <a:r>
              <a:rPr lang="en-US" altLang="zh-CN" i="1" dirty="0"/>
              <a:t>n</a:t>
            </a:r>
            <a:r>
              <a:rPr lang="en-US" altLang="zh-CN" dirty="0"/>
              <a:t> is the number of vertices in the graph</a:t>
            </a:r>
            <a:r>
              <a:rPr lang="zh-CN" altLang="en-US" dirty="0"/>
              <a:t>（</a:t>
            </a:r>
            <a:r>
              <a:rPr lang="zh-CN" altLang="en-US" b="0" i="0" dirty="0">
                <a:effectLst/>
                <a:latin typeface="PingFang SC"/>
              </a:rPr>
              <a:t>在图中检测循环的算法需要进行</a:t>
            </a:r>
            <a:r>
              <a:rPr lang="en-US" altLang="zh-CN" b="0" i="0" dirty="0">
                <a:effectLst/>
                <a:latin typeface="PingFang SC"/>
              </a:rPr>
              <a:t>n^2</a:t>
            </a:r>
            <a:r>
              <a:rPr lang="zh-CN" altLang="en-US" b="0" i="0" dirty="0">
                <a:effectLst/>
                <a:latin typeface="PingFang SC"/>
              </a:rPr>
              <a:t>次操作，其中</a:t>
            </a:r>
            <a:r>
              <a:rPr lang="en-US" altLang="zh-CN" b="0" i="0" dirty="0">
                <a:effectLst/>
                <a:latin typeface="PingFang SC"/>
              </a:rPr>
              <a:t>n</a:t>
            </a:r>
            <a:r>
              <a:rPr lang="zh-CN" altLang="en-US" b="0" i="0" dirty="0">
                <a:effectLst/>
                <a:latin typeface="PingFang SC"/>
              </a:rPr>
              <a:t>是图中顶点的数量</a:t>
            </a:r>
            <a:r>
              <a:rPr lang="zh-CN" altLang="en-US" dirty="0"/>
              <a:t>）</a:t>
            </a:r>
            <a:endParaRPr lang="en-US" altLang="zh-C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xfrm>
            <a:off x="1258888" y="298450"/>
            <a:ext cx="7285037" cy="457200"/>
          </a:xfrm>
        </p:spPr>
        <p:txBody>
          <a:bodyPr vert="horz" wrap="square" lIns="91440" tIns="45720" rIns="91440" bIns="45720" anchor="b" anchorCtr="0"/>
          <a:lstStyle/>
          <a:p>
            <a:pPr eaLnBrk="1" hangingPunct="1"/>
            <a:r>
              <a:rPr lang="en-US" altLang="zh-CN" sz="2400" dirty="0"/>
              <a:t>Resource-Allocation Graph and Wait-for Graph</a:t>
            </a:r>
          </a:p>
        </p:txBody>
      </p:sp>
      <p:sp>
        <p:nvSpPr>
          <p:cNvPr id="57347" name="Text Box 5"/>
          <p:cNvSpPr txBox="1"/>
          <p:nvPr/>
        </p:nvSpPr>
        <p:spPr>
          <a:xfrm>
            <a:off x="1647825" y="5294313"/>
            <a:ext cx="2927350" cy="366712"/>
          </a:xfrm>
          <a:prstGeom prst="rect">
            <a:avLst/>
          </a:prstGeom>
          <a:noFill/>
          <a:ln w="9525">
            <a:noFill/>
          </a:ln>
        </p:spPr>
        <p:txBody>
          <a:bodyPr wrap="none" anchor="ctr" anchorCtr="0">
            <a:spAutoFit/>
          </a:bodyPr>
          <a:lstStyle/>
          <a:p>
            <a:pPr algn="ctr">
              <a:spcBef>
                <a:spcPct val="50000"/>
              </a:spcBef>
            </a:pPr>
            <a:r>
              <a:rPr lang="en-US" altLang="zh-CN" dirty="0">
                <a:latin typeface="Helvetica" pitchFamily="34" charset="0"/>
              </a:rPr>
              <a:t>Resource-Allocation Graph</a:t>
            </a:r>
          </a:p>
        </p:txBody>
      </p:sp>
      <p:sp>
        <p:nvSpPr>
          <p:cNvPr id="57348" name="Text Box 6"/>
          <p:cNvSpPr txBox="1"/>
          <p:nvPr/>
        </p:nvSpPr>
        <p:spPr>
          <a:xfrm>
            <a:off x="4810125" y="5294313"/>
            <a:ext cx="3143250" cy="366712"/>
          </a:xfrm>
          <a:prstGeom prst="rect">
            <a:avLst/>
          </a:prstGeom>
          <a:noFill/>
          <a:ln w="9525">
            <a:noFill/>
          </a:ln>
        </p:spPr>
        <p:txBody>
          <a:bodyPr wrap="none" anchor="ctr" anchorCtr="0">
            <a:spAutoFit/>
          </a:bodyPr>
          <a:lstStyle/>
          <a:p>
            <a:pPr algn="ctr">
              <a:spcBef>
                <a:spcPct val="50000"/>
              </a:spcBef>
            </a:pPr>
            <a:r>
              <a:rPr lang="en-US" altLang="zh-CN" dirty="0">
                <a:latin typeface="Helvetica" pitchFamily="34" charset="0"/>
              </a:rPr>
              <a:t>Corresponding wait-for graph</a:t>
            </a:r>
          </a:p>
        </p:txBody>
      </p:sp>
      <p:pic>
        <p:nvPicPr>
          <p:cNvPr id="57349" name="Picture 10"/>
          <p:cNvPicPr>
            <a:picLocks noChangeAspect="1"/>
          </p:cNvPicPr>
          <p:nvPr/>
        </p:nvPicPr>
        <p:blipFill>
          <a:blip r:embed="rId3"/>
          <a:stretch>
            <a:fillRect/>
          </a:stretch>
        </p:blipFill>
        <p:spPr>
          <a:xfrm>
            <a:off x="1597025" y="1395413"/>
            <a:ext cx="5807075" cy="3762375"/>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1171575" y="-85725"/>
            <a:ext cx="7772400" cy="844550"/>
          </a:xfrm>
        </p:spPr>
        <p:txBody>
          <a:bodyPr vert="horz" wrap="square" lIns="91440" tIns="45720" rIns="91440" bIns="45720" anchor="b" anchorCtr="0"/>
          <a:lstStyle/>
          <a:p>
            <a:pPr eaLnBrk="1" hangingPunct="1"/>
            <a:r>
              <a:rPr lang="en-US" altLang="zh-CN" dirty="0"/>
              <a:t>Several Instances of a Resource Type</a:t>
            </a:r>
          </a:p>
        </p:txBody>
      </p:sp>
      <p:sp>
        <p:nvSpPr>
          <p:cNvPr id="58371" name="Rectangle 3"/>
          <p:cNvSpPr>
            <a:spLocks noGrp="1"/>
          </p:cNvSpPr>
          <p:nvPr>
            <p:ph idx="1"/>
          </p:nvPr>
        </p:nvSpPr>
        <p:spPr>
          <a:xfrm>
            <a:off x="835025" y="1344613"/>
            <a:ext cx="7594600" cy="3851275"/>
          </a:xfrm>
        </p:spPr>
        <p:txBody>
          <a:bodyPr vert="horz" wrap="square" lIns="91440" tIns="45720" rIns="91440" bIns="45720" anchor="t" anchorCtr="0"/>
          <a:lstStyle/>
          <a:p>
            <a:r>
              <a:rPr lang="en-US" altLang="zh-CN" b="1" dirty="0">
                <a:solidFill>
                  <a:srgbClr val="000000"/>
                </a:solidFill>
              </a:rPr>
              <a:t>Available</a:t>
            </a:r>
            <a:r>
              <a:rPr lang="en-US" altLang="zh-CN" i="1" dirty="0"/>
              <a:t>:</a:t>
            </a:r>
            <a:r>
              <a:rPr lang="en-US" altLang="zh-CN" dirty="0"/>
              <a:t>  A vector of length </a:t>
            </a:r>
            <a:r>
              <a:rPr lang="en-US" altLang="zh-CN" i="1" dirty="0"/>
              <a:t>m</a:t>
            </a:r>
            <a:r>
              <a:rPr lang="en-US" altLang="zh-CN" dirty="0"/>
              <a:t> indicates the number of available resources of each type.</a:t>
            </a:r>
            <a:br>
              <a:rPr lang="en-US" altLang="zh-CN" dirty="0"/>
            </a:br>
            <a:endParaRPr lang="en-US" altLang="zh-CN" dirty="0"/>
          </a:p>
          <a:p>
            <a:r>
              <a:rPr lang="en-US" altLang="zh-CN" b="1" dirty="0">
                <a:solidFill>
                  <a:srgbClr val="000000"/>
                </a:solidFill>
              </a:rPr>
              <a:t>Allocation</a:t>
            </a:r>
            <a:r>
              <a:rPr lang="en-US" altLang="zh-CN" i="1" dirty="0"/>
              <a:t>:</a:t>
            </a:r>
            <a:r>
              <a:rPr lang="en-US" altLang="zh-CN" dirty="0"/>
              <a:t>  An </a:t>
            </a:r>
            <a:r>
              <a:rPr lang="en-US" altLang="zh-CN" i="1" dirty="0"/>
              <a:t>n </a:t>
            </a:r>
            <a:r>
              <a:rPr lang="en-US" altLang="zh-CN" dirty="0"/>
              <a:t>x</a:t>
            </a:r>
            <a:r>
              <a:rPr lang="en-US" altLang="zh-CN" i="1" dirty="0"/>
              <a:t> m</a:t>
            </a:r>
            <a:r>
              <a:rPr lang="en-US" altLang="zh-CN" dirty="0"/>
              <a:t> matrix defines the number of resources of each type currently allocated to each process.</a:t>
            </a:r>
            <a:br>
              <a:rPr lang="en-US" altLang="zh-CN" dirty="0"/>
            </a:br>
            <a:endParaRPr lang="en-US" altLang="zh-CN" dirty="0"/>
          </a:p>
          <a:p>
            <a:r>
              <a:rPr lang="en-US" altLang="zh-CN" b="1" dirty="0">
                <a:solidFill>
                  <a:srgbClr val="000000"/>
                </a:solidFill>
              </a:rPr>
              <a:t>Request</a:t>
            </a:r>
            <a:r>
              <a:rPr lang="en-US" altLang="zh-CN" i="1" dirty="0"/>
              <a:t>:</a:t>
            </a:r>
            <a:r>
              <a:rPr lang="en-US" altLang="zh-CN" dirty="0"/>
              <a:t>  An </a:t>
            </a:r>
            <a:r>
              <a:rPr lang="en-US" altLang="zh-CN" i="1" dirty="0"/>
              <a:t>n </a:t>
            </a:r>
            <a:r>
              <a:rPr lang="en-US" altLang="zh-CN" dirty="0"/>
              <a:t>x</a:t>
            </a:r>
            <a:r>
              <a:rPr lang="en-US" altLang="zh-CN" i="1" dirty="0"/>
              <a:t> m</a:t>
            </a:r>
            <a:r>
              <a:rPr lang="en-US" altLang="zh-CN" dirty="0"/>
              <a:t> matrix indicates the current request  of each process.  If </a:t>
            </a:r>
            <a:r>
              <a:rPr lang="en-US" altLang="zh-CN" i="1" dirty="0"/>
              <a:t>Request </a:t>
            </a:r>
            <a:r>
              <a:rPr lang="en-US" altLang="zh-CN" dirty="0"/>
              <a:t>[</a:t>
            </a:r>
            <a:r>
              <a:rPr lang="en-US" altLang="zh-CN" i="1" dirty="0"/>
              <a:t>i</a:t>
            </a:r>
            <a:r>
              <a:rPr lang="en-US" altLang="zh-CN" i="1" baseline="-25000" dirty="0"/>
              <a:t>j</a:t>
            </a:r>
            <a:r>
              <a:rPr lang="en-US" altLang="zh-CN" dirty="0"/>
              <a:t>] = </a:t>
            </a:r>
            <a:r>
              <a:rPr lang="en-US" altLang="zh-CN" i="1" dirty="0"/>
              <a:t>k</a:t>
            </a:r>
            <a:r>
              <a:rPr lang="en-US" altLang="zh-CN" dirty="0"/>
              <a:t>, then process</a:t>
            </a:r>
            <a:r>
              <a:rPr lang="en-US" altLang="zh-CN" i="1" dirty="0"/>
              <a:t> P</a:t>
            </a:r>
            <a:r>
              <a:rPr lang="en-US" altLang="zh-CN" i="1" baseline="-25000" dirty="0"/>
              <a:t>i</a:t>
            </a:r>
            <a:r>
              <a:rPr lang="en-US" altLang="zh-CN" dirty="0"/>
              <a:t> is requesting</a:t>
            </a:r>
            <a:r>
              <a:rPr lang="en-US" altLang="zh-CN" i="1" dirty="0"/>
              <a:t> k</a:t>
            </a:r>
            <a:r>
              <a:rPr lang="en-US" altLang="zh-CN" dirty="0"/>
              <a:t> more instances of resource type. </a:t>
            </a:r>
            <a:r>
              <a:rPr lang="en-US" altLang="zh-CN" i="1" dirty="0"/>
              <a:t>R</a:t>
            </a:r>
            <a:r>
              <a:rPr lang="en-US" altLang="zh-CN" i="1" baseline="-25000" dirty="0"/>
              <a:t>j</a:t>
            </a:r>
            <a:r>
              <a:rPr lang="en-US" altLang="zh-CN" dirty="0"/>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p:txBody>
          <a:bodyPr vert="horz" wrap="square" lIns="91440" tIns="45720" rIns="91440" bIns="45720" anchor="b" anchorCtr="0"/>
          <a:lstStyle/>
          <a:p>
            <a:pPr eaLnBrk="1" hangingPunct="1"/>
            <a:r>
              <a:rPr lang="en-US" altLang="zh-CN" dirty="0"/>
              <a:t>Detection Algorithm</a:t>
            </a:r>
          </a:p>
        </p:txBody>
      </p:sp>
      <p:sp>
        <p:nvSpPr>
          <p:cNvPr id="59395" name="Rectangle 3"/>
          <p:cNvSpPr>
            <a:spLocks noGrp="1"/>
          </p:cNvSpPr>
          <p:nvPr>
            <p:ph idx="1"/>
          </p:nvPr>
        </p:nvSpPr>
        <p:spPr/>
        <p:txBody>
          <a:bodyPr vert="horz" wrap="square" lIns="91440" tIns="45720" rIns="91440" bIns="45720" anchor="t" anchorCtr="0"/>
          <a:lstStyle/>
          <a:p>
            <a:pPr>
              <a:buNone/>
            </a:pPr>
            <a:r>
              <a:rPr lang="en-US" altLang="zh-CN" dirty="0"/>
              <a:t>1.	Let </a:t>
            </a:r>
            <a:r>
              <a:rPr lang="en-US" altLang="zh-CN" i="1" dirty="0"/>
              <a:t>Work</a:t>
            </a:r>
            <a:r>
              <a:rPr lang="en-US" altLang="zh-CN" dirty="0"/>
              <a:t> and </a:t>
            </a:r>
            <a:r>
              <a:rPr lang="en-US" altLang="zh-CN" i="1" dirty="0"/>
              <a:t>Finish</a:t>
            </a:r>
            <a:r>
              <a:rPr lang="en-US" altLang="zh-CN" dirty="0"/>
              <a:t> be vectors of length </a:t>
            </a:r>
            <a:r>
              <a:rPr lang="en-US" altLang="zh-CN" i="1" dirty="0"/>
              <a:t>m</a:t>
            </a:r>
            <a:r>
              <a:rPr lang="en-US" altLang="zh-CN" dirty="0"/>
              <a:t> and </a:t>
            </a:r>
            <a:r>
              <a:rPr lang="en-US" altLang="zh-CN" i="1" dirty="0"/>
              <a:t>n</a:t>
            </a:r>
            <a:r>
              <a:rPr lang="en-US" altLang="zh-CN" dirty="0"/>
              <a:t>, respectively Initialize:</a:t>
            </a:r>
          </a:p>
          <a:p>
            <a:pPr marL="850900" lvl="1" indent="-393700">
              <a:buNone/>
            </a:pPr>
            <a:r>
              <a:rPr lang="en-US" altLang="zh-CN" dirty="0"/>
              <a:t>(a) </a:t>
            </a:r>
            <a:r>
              <a:rPr lang="en-US" altLang="zh-CN" i="1" dirty="0"/>
              <a:t>Work</a:t>
            </a:r>
            <a:r>
              <a:rPr lang="en-US" altLang="zh-CN" dirty="0"/>
              <a:t> = </a:t>
            </a:r>
            <a:r>
              <a:rPr lang="en-US" altLang="zh-CN" i="1" dirty="0"/>
              <a:t>Available</a:t>
            </a:r>
            <a:endParaRPr lang="en-US" altLang="zh-CN" dirty="0"/>
          </a:p>
          <a:p>
            <a:pPr marL="850900" lvl="1" indent="-393700">
              <a:buNone/>
            </a:pPr>
            <a:r>
              <a:rPr lang="en-US" altLang="zh-CN" dirty="0"/>
              <a:t>(b)	For </a:t>
            </a:r>
            <a:r>
              <a:rPr lang="en-US" altLang="zh-CN" i="1" dirty="0"/>
              <a:t>i</a:t>
            </a:r>
            <a:r>
              <a:rPr lang="en-US" altLang="zh-CN" dirty="0"/>
              <a:t> = 1,2, …,</a:t>
            </a:r>
            <a:r>
              <a:rPr lang="en-US" altLang="zh-CN" i="1" dirty="0"/>
              <a:t> n</a:t>
            </a:r>
            <a:r>
              <a:rPr lang="en-US" altLang="zh-CN" dirty="0"/>
              <a:t>, if </a:t>
            </a:r>
            <a:r>
              <a:rPr lang="en-US" altLang="zh-CN" i="1" dirty="0"/>
              <a:t>Allocation</a:t>
            </a:r>
            <a:r>
              <a:rPr lang="en-US" altLang="zh-CN" i="1" baseline="-25000" dirty="0"/>
              <a:t>i</a:t>
            </a:r>
            <a:r>
              <a:rPr lang="en-US" altLang="zh-CN" dirty="0"/>
              <a:t> </a:t>
            </a:r>
            <a:r>
              <a:rPr lang="en-US" altLang="zh-CN" dirty="0">
                <a:sym typeface="Symbol" panose="05050102010706020507" pitchFamily="18" charset="2"/>
              </a:rPr>
              <a:t> 0, then </a:t>
            </a:r>
            <a:br>
              <a:rPr lang="en-US" altLang="zh-CN" dirty="0">
                <a:sym typeface="Symbol" panose="05050102010706020507" pitchFamily="18" charset="2"/>
              </a:rPr>
            </a:br>
            <a:r>
              <a:rPr lang="en-US" altLang="zh-CN" i="1" dirty="0">
                <a:sym typeface="Symbol" panose="05050102010706020507" pitchFamily="18" charset="2"/>
              </a:rPr>
              <a:t>Finish</a:t>
            </a:r>
            <a:r>
              <a:rPr lang="en-US" altLang="zh-CN" dirty="0">
                <a:sym typeface="Symbol" panose="05050102010706020507" pitchFamily="18" charset="2"/>
              </a:rPr>
              <a:t>[i] = false;otherwise, </a:t>
            </a:r>
            <a:r>
              <a:rPr lang="en-US" altLang="zh-CN" i="1" dirty="0">
                <a:sym typeface="Symbol" panose="05050102010706020507" pitchFamily="18" charset="2"/>
              </a:rPr>
              <a:t>Finish</a:t>
            </a:r>
            <a:r>
              <a:rPr lang="en-US" altLang="zh-CN" dirty="0">
                <a:sym typeface="Symbol" panose="05050102010706020507" pitchFamily="18" charset="2"/>
              </a:rPr>
              <a:t>[i] = </a:t>
            </a:r>
            <a:r>
              <a:rPr lang="en-US" altLang="zh-CN" i="1" dirty="0">
                <a:sym typeface="Symbol" panose="05050102010706020507" pitchFamily="18" charset="2"/>
              </a:rPr>
              <a:t>true</a:t>
            </a:r>
            <a:endParaRPr lang="en-US" altLang="zh-CN" dirty="0">
              <a:sym typeface="Symbol" panose="05050102010706020507" pitchFamily="18" charset="2"/>
            </a:endParaRPr>
          </a:p>
          <a:p>
            <a:pPr>
              <a:buNone/>
            </a:pPr>
            <a:r>
              <a:rPr lang="en-US" altLang="zh-CN" dirty="0"/>
              <a:t>2.	Find an index </a:t>
            </a:r>
            <a:r>
              <a:rPr lang="en-US" altLang="zh-CN" i="1" dirty="0"/>
              <a:t>i </a:t>
            </a:r>
            <a:r>
              <a:rPr lang="en-US" altLang="zh-CN" dirty="0"/>
              <a:t>such that both:</a:t>
            </a:r>
          </a:p>
          <a:p>
            <a:pPr marL="850900" lvl="1" indent="-393700">
              <a:buNone/>
            </a:pPr>
            <a:r>
              <a:rPr lang="en-US" altLang="zh-CN" dirty="0"/>
              <a:t>(a)	</a:t>
            </a:r>
            <a:r>
              <a:rPr lang="en-US" altLang="zh-CN" i="1" dirty="0"/>
              <a:t>Finish</a:t>
            </a:r>
            <a:r>
              <a:rPr lang="en-US" altLang="zh-CN" dirty="0"/>
              <a:t>[</a:t>
            </a:r>
            <a:r>
              <a:rPr lang="en-US" altLang="zh-CN" i="1" dirty="0"/>
              <a:t>i</a:t>
            </a:r>
            <a:r>
              <a:rPr lang="en-US" altLang="zh-CN" dirty="0"/>
              <a:t>] == </a:t>
            </a:r>
            <a:r>
              <a:rPr lang="en-US" altLang="zh-CN" i="1" dirty="0"/>
              <a:t>false</a:t>
            </a:r>
            <a:endParaRPr lang="en-US" altLang="zh-CN" dirty="0"/>
          </a:p>
          <a:p>
            <a:pPr marL="850900" lvl="1" indent="-393700">
              <a:buNone/>
            </a:pPr>
            <a:r>
              <a:rPr lang="en-US" altLang="zh-CN" dirty="0"/>
              <a:t>(b)	</a:t>
            </a:r>
            <a:r>
              <a:rPr lang="en-US" altLang="zh-CN" i="1" dirty="0"/>
              <a:t>Request</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br>
              <a:rPr lang="en-US" altLang="zh-CN" i="1" dirty="0">
                <a:sym typeface="Symbol" panose="05050102010706020507" pitchFamily="18" charset="2"/>
              </a:rPr>
            </a:br>
            <a:endParaRPr lang="en-US" altLang="zh-CN" dirty="0">
              <a:sym typeface="Symbol" panose="05050102010706020507" pitchFamily="18" charset="2"/>
            </a:endParaRPr>
          </a:p>
          <a:p>
            <a:pPr marL="850900" lvl="1" indent="-393700">
              <a:buNone/>
            </a:pPr>
            <a:r>
              <a:rPr lang="en-US" altLang="zh-CN" dirty="0">
                <a:sym typeface="Symbol" panose="05050102010706020507" pitchFamily="18" charset="2"/>
              </a:rPr>
              <a:t>If no such </a:t>
            </a:r>
            <a:r>
              <a:rPr lang="en-US" altLang="zh-CN" i="1" dirty="0">
                <a:sym typeface="Symbol" panose="05050102010706020507" pitchFamily="18" charset="2"/>
              </a:rPr>
              <a:t>i</a:t>
            </a:r>
            <a:r>
              <a:rPr lang="en-US" altLang="zh-CN" dirty="0">
                <a:sym typeface="Symbol" panose="05050102010706020507" pitchFamily="18" charset="2"/>
              </a:rPr>
              <a:t> exists, go to step 4</a:t>
            </a:r>
            <a:endParaRPr lang="en-US" altLang="zh-CN" dirty="0"/>
          </a:p>
        </p:txBody>
      </p:sp>
      <p:sp>
        <p:nvSpPr>
          <p:cNvPr id="2" name="文本框 1"/>
          <p:cNvSpPr txBox="1"/>
          <p:nvPr/>
        </p:nvSpPr>
        <p:spPr>
          <a:xfrm>
            <a:off x="4417060" y="3995420"/>
            <a:ext cx="225171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（还有资源未释放）</a:t>
            </a:r>
          </a:p>
        </p:txBody>
      </p:sp>
      <p:sp>
        <p:nvSpPr>
          <p:cNvPr id="3" name="文本框 2"/>
          <p:cNvSpPr txBox="1"/>
          <p:nvPr/>
        </p:nvSpPr>
        <p:spPr>
          <a:xfrm>
            <a:off x="4417060" y="4498340"/>
            <a:ext cx="225171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（需求能够被满足）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p:txBody>
          <a:bodyPr vert="horz" wrap="square" lIns="91440" tIns="45720" rIns="91440" bIns="45720" anchor="b" anchorCtr="0"/>
          <a:lstStyle/>
          <a:p>
            <a:pPr eaLnBrk="1" hangingPunct="1"/>
            <a:r>
              <a:rPr lang="en-US" altLang="zh-CN" dirty="0"/>
              <a:t>Detection Algorithm (Cont.)</a:t>
            </a:r>
          </a:p>
        </p:txBody>
      </p:sp>
      <p:sp>
        <p:nvSpPr>
          <p:cNvPr id="60419" name="Rectangle 3"/>
          <p:cNvSpPr>
            <a:spLocks noGrp="1"/>
          </p:cNvSpPr>
          <p:nvPr>
            <p:ph idx="1"/>
          </p:nvPr>
        </p:nvSpPr>
        <p:spPr>
          <a:xfrm>
            <a:off x="806450" y="1449388"/>
            <a:ext cx="8229600" cy="2297112"/>
          </a:xfrm>
        </p:spPr>
        <p:txBody>
          <a:bodyPr vert="horz" wrap="square" lIns="91440" tIns="45720" rIns="91440" bIns="45720" anchor="t" anchorCtr="0"/>
          <a:lstStyle/>
          <a:p>
            <a:pPr>
              <a:lnSpc>
                <a:spcPct val="90000"/>
              </a:lnSpc>
              <a:buNone/>
            </a:pPr>
            <a:r>
              <a:rPr lang="en-US" altLang="zh-CN" dirty="0"/>
              <a:t>3.	</a:t>
            </a:r>
            <a:r>
              <a:rPr lang="en-US" altLang="zh-CN" i="1" dirty="0"/>
              <a:t>Work</a:t>
            </a:r>
            <a:r>
              <a:rPr lang="en-US" altLang="zh-CN" dirty="0"/>
              <a:t> = </a:t>
            </a:r>
            <a:r>
              <a:rPr lang="en-US" altLang="zh-CN" i="1" dirty="0"/>
              <a:t>Work</a:t>
            </a:r>
            <a:r>
              <a:rPr lang="en-US" altLang="zh-CN" dirty="0"/>
              <a:t> + </a:t>
            </a:r>
            <a:r>
              <a:rPr lang="en-US" altLang="zh-CN" i="1" dirty="0"/>
              <a:t>Allocation</a:t>
            </a:r>
            <a:r>
              <a:rPr lang="en-US" altLang="zh-CN" i="1" baseline="-25000" dirty="0"/>
              <a:t>i</a:t>
            </a:r>
            <a:br>
              <a:rPr lang="en-US" altLang="zh-CN" dirty="0"/>
            </a:br>
            <a:r>
              <a:rPr lang="en-US" altLang="zh-CN" i="1" dirty="0"/>
              <a:t>Finish</a:t>
            </a:r>
            <a:r>
              <a:rPr lang="en-US" altLang="zh-CN" dirty="0"/>
              <a:t>[</a:t>
            </a:r>
            <a:r>
              <a:rPr lang="en-US" altLang="zh-CN" i="1" dirty="0"/>
              <a:t>i</a:t>
            </a:r>
            <a:r>
              <a:rPr lang="en-US" altLang="zh-CN" dirty="0"/>
              <a:t>] = </a:t>
            </a:r>
            <a:r>
              <a:rPr lang="en-US" altLang="zh-CN" i="1" dirty="0"/>
              <a:t>true</a:t>
            </a:r>
            <a:br>
              <a:rPr lang="en-US" altLang="zh-CN" dirty="0"/>
            </a:br>
            <a:r>
              <a:rPr lang="en-US" altLang="zh-CN" dirty="0"/>
              <a:t>go to step 2</a:t>
            </a:r>
            <a:br>
              <a:rPr lang="en-US" altLang="zh-CN" dirty="0"/>
            </a:br>
            <a:endParaRPr lang="en-US" altLang="zh-CN" dirty="0"/>
          </a:p>
          <a:p>
            <a:pPr>
              <a:lnSpc>
                <a:spcPct val="90000"/>
              </a:lnSpc>
              <a:buNone/>
            </a:pPr>
            <a:r>
              <a:rPr lang="en-US" altLang="zh-CN" dirty="0"/>
              <a:t>4.	If </a:t>
            </a:r>
            <a:r>
              <a:rPr lang="en-US" altLang="zh-CN" i="1" dirty="0"/>
              <a:t>Finish</a:t>
            </a:r>
            <a:r>
              <a:rPr lang="en-US" altLang="zh-CN" dirty="0"/>
              <a:t>[</a:t>
            </a:r>
            <a:r>
              <a:rPr lang="en-US" altLang="zh-CN" i="1" dirty="0"/>
              <a:t>i</a:t>
            </a:r>
            <a:r>
              <a:rPr lang="en-US" altLang="zh-CN" dirty="0"/>
              <a:t>] == false, for some </a:t>
            </a:r>
            <a:r>
              <a:rPr lang="en-US" altLang="zh-CN" i="1" dirty="0"/>
              <a:t>i</a:t>
            </a:r>
            <a:r>
              <a:rPr lang="en-US" altLang="zh-CN" dirty="0"/>
              <a:t>, 1 </a:t>
            </a:r>
            <a:r>
              <a:rPr lang="en-US" altLang="zh-CN" dirty="0">
                <a:sym typeface="Symbol" panose="05050102010706020507" pitchFamily="18" charset="2"/>
              </a:rPr>
              <a:t> </a:t>
            </a:r>
            <a:r>
              <a:rPr lang="en-US" altLang="zh-CN" i="1"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n</a:t>
            </a:r>
            <a:r>
              <a:rPr lang="en-US" altLang="zh-CN" dirty="0">
                <a:sym typeface="Symbol" panose="05050102010706020507" pitchFamily="18" charset="2"/>
              </a:rPr>
              <a:t>, then the system is in deadlock state. Moreover, if </a:t>
            </a:r>
            <a:r>
              <a:rPr lang="en-US" altLang="zh-CN" i="1" dirty="0">
                <a:sym typeface="Symbol" panose="05050102010706020507" pitchFamily="18" charset="2"/>
              </a:rPr>
              <a:t>Finish</a:t>
            </a:r>
            <a:r>
              <a:rPr lang="en-US" altLang="zh-CN" dirty="0">
                <a:sym typeface="Symbol" panose="05050102010706020507" pitchFamily="18" charset="2"/>
              </a:rPr>
              <a:t>[</a:t>
            </a:r>
            <a:r>
              <a:rPr lang="en-US" altLang="zh-CN" i="1"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false</a:t>
            </a:r>
            <a:r>
              <a:rPr lang="en-US" altLang="zh-CN" dirty="0">
                <a:sym typeface="Symbol" panose="05050102010706020507" pitchFamily="18" charset="2"/>
              </a:rPr>
              <a:t>, then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dirty="0">
                <a:sym typeface="Symbol" panose="05050102010706020507" pitchFamily="18" charset="2"/>
              </a:rPr>
              <a:t> is deadlocked</a:t>
            </a:r>
          </a:p>
          <a:p>
            <a:pPr>
              <a:lnSpc>
                <a:spcPct val="90000"/>
              </a:lnSpc>
              <a:buNone/>
            </a:pPr>
            <a:r>
              <a:rPr lang="en-US" altLang="zh-CN" dirty="0">
                <a:sym typeface="Symbol" panose="05050102010706020507" pitchFamily="18" charset="2"/>
              </a:rPr>
              <a:t>	</a:t>
            </a:r>
            <a:endParaRPr lang="en-US" altLang="zh-CN" dirty="0"/>
          </a:p>
        </p:txBody>
      </p:sp>
      <p:sp>
        <p:nvSpPr>
          <p:cNvPr id="60420" name="Text Box 4"/>
          <p:cNvSpPr txBox="1"/>
          <p:nvPr/>
        </p:nvSpPr>
        <p:spPr>
          <a:xfrm>
            <a:off x="425450" y="4402138"/>
            <a:ext cx="8718550" cy="1370012"/>
          </a:xfrm>
          <a:prstGeom prst="rect">
            <a:avLst/>
          </a:prstGeom>
          <a:noFill/>
          <a:ln w="9525">
            <a:noFill/>
          </a:ln>
        </p:spPr>
        <p:txBody>
          <a:bodyPr anchor="ctr" anchorCtr="0">
            <a:spAutoFit/>
          </a:bodyPr>
          <a:lstStyle/>
          <a:p>
            <a:r>
              <a:rPr lang="en-US" altLang="zh-CN" sz="2400" b="1" dirty="0">
                <a:solidFill>
                  <a:srgbClr val="FF0066"/>
                </a:solidFill>
                <a:latin typeface="Helvetica" pitchFamily="34" charset="0"/>
                <a:sym typeface="Symbol" panose="05050102010706020507" pitchFamily="18" charset="2"/>
              </a:rPr>
              <a:t>Algorithm requires an order of O(</a:t>
            </a:r>
            <a:r>
              <a:rPr lang="en-US" altLang="zh-CN" sz="2400" b="1" i="1" dirty="0">
                <a:solidFill>
                  <a:srgbClr val="FF0066"/>
                </a:solidFill>
                <a:latin typeface="Helvetica" pitchFamily="34" charset="0"/>
                <a:sym typeface="Symbol" panose="05050102010706020507" pitchFamily="18" charset="2"/>
              </a:rPr>
              <a:t>m </a:t>
            </a:r>
            <a:r>
              <a:rPr lang="en-US" altLang="zh-CN" sz="2400" b="1" dirty="0">
                <a:solidFill>
                  <a:srgbClr val="FF0066"/>
                </a:solidFill>
                <a:latin typeface="Helvetica" pitchFamily="34" charset="0"/>
                <a:sym typeface="Symbol" panose="05050102010706020507" pitchFamily="18" charset="2"/>
              </a:rPr>
              <a:t>x</a:t>
            </a:r>
            <a:r>
              <a:rPr lang="en-US" altLang="zh-CN" sz="2400" b="1" i="1" dirty="0">
                <a:solidFill>
                  <a:srgbClr val="FF0066"/>
                </a:solidFill>
                <a:latin typeface="Helvetica" pitchFamily="34" charset="0"/>
                <a:sym typeface="Symbol" panose="05050102010706020507" pitchFamily="18" charset="2"/>
              </a:rPr>
              <a:t> n</a:t>
            </a:r>
            <a:r>
              <a:rPr lang="en-US" altLang="zh-CN" sz="2400" b="1" baseline="30000" dirty="0">
                <a:solidFill>
                  <a:srgbClr val="FF0066"/>
                </a:solidFill>
                <a:latin typeface="Helvetica" pitchFamily="34" charset="0"/>
                <a:sym typeface="Symbol" panose="05050102010706020507" pitchFamily="18" charset="2"/>
              </a:rPr>
              <a:t>2)</a:t>
            </a:r>
            <a:r>
              <a:rPr lang="en-US" altLang="zh-CN" sz="2400" b="1" dirty="0">
                <a:solidFill>
                  <a:srgbClr val="FF0066"/>
                </a:solidFill>
                <a:latin typeface="Helvetica" pitchFamily="34" charset="0"/>
                <a:sym typeface="Symbol" panose="05050102010706020507" pitchFamily="18" charset="2"/>
              </a:rPr>
              <a:t> operations to detect whether the system is in deadlocked state</a:t>
            </a:r>
            <a:endParaRPr lang="en-US" altLang="zh-CN" sz="2400" dirty="0">
              <a:solidFill>
                <a:srgbClr val="FF0066"/>
              </a:solidFill>
              <a:latin typeface="Helvetica" pitchFamily="34" charset="0"/>
            </a:endParaRPr>
          </a:p>
          <a:p>
            <a:pPr>
              <a:spcBef>
                <a:spcPct val="50000"/>
              </a:spcBef>
            </a:pPr>
            <a:endParaRPr lang="en-US" altLang="zh-CN" sz="2400" dirty="0">
              <a:solidFill>
                <a:srgbClr val="FF0066"/>
              </a:solidFill>
              <a:latin typeface="Helvetica" pitchFamily="34" charset="0"/>
            </a:endParaRPr>
          </a:p>
        </p:txBody>
      </p:sp>
      <p:sp>
        <p:nvSpPr>
          <p:cNvPr id="2" name="文本框 1"/>
          <p:cNvSpPr txBox="1"/>
          <p:nvPr/>
        </p:nvSpPr>
        <p:spPr>
          <a:xfrm>
            <a:off x="4864100" y="1449705"/>
            <a:ext cx="202184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（释放已有资源）</a:t>
            </a:r>
          </a:p>
        </p:txBody>
      </p:sp>
      <p:sp>
        <p:nvSpPr>
          <p:cNvPr id="3" name="文本框 2"/>
          <p:cNvSpPr txBox="1"/>
          <p:nvPr/>
        </p:nvSpPr>
        <p:spPr>
          <a:xfrm>
            <a:off x="4864100" y="1818005"/>
            <a:ext cx="317119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（认为该进程可以执行完毕）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宋体" panose="02010600030101010101" pitchFamily="2" charset="-122"/>
                <a:ea typeface="宋体" panose="02010600030101010101" pitchFamily="2" charset="-122"/>
              </a:rPr>
              <a:t>与银行家算法对比</a:t>
            </a:r>
          </a:p>
        </p:txBody>
      </p:sp>
      <p:sp>
        <p:nvSpPr>
          <p:cNvPr id="59395" name="Rectangle 3"/>
          <p:cNvSpPr>
            <a:spLocks noGrp="1"/>
          </p:cNvSpPr>
          <p:nvPr>
            <p:ph idx="1"/>
          </p:nvPr>
        </p:nvSpPr>
        <p:spPr>
          <a:xfrm>
            <a:off x="267970" y="1402080"/>
            <a:ext cx="4846320" cy="4530725"/>
          </a:xfrm>
        </p:spPr>
        <p:txBody>
          <a:bodyPr vert="horz" wrap="square" lIns="91440" tIns="45720" rIns="91440" bIns="45720" anchor="t" anchorCtr="0"/>
          <a:lstStyle/>
          <a:p>
            <a:pPr>
              <a:buNone/>
            </a:pPr>
            <a:r>
              <a:rPr lang="en-US" altLang="zh-CN" dirty="0"/>
              <a:t>1.	(a) </a:t>
            </a:r>
            <a:r>
              <a:rPr lang="en-US" altLang="zh-CN" i="1" dirty="0"/>
              <a:t>Work</a:t>
            </a:r>
            <a:r>
              <a:rPr lang="en-US" altLang="zh-CN" dirty="0"/>
              <a:t> = </a:t>
            </a:r>
            <a:r>
              <a:rPr lang="en-US" altLang="zh-CN" i="1" dirty="0"/>
              <a:t>Available</a:t>
            </a:r>
          </a:p>
          <a:p>
            <a:pPr>
              <a:buNone/>
            </a:pPr>
            <a:r>
              <a:rPr lang="en-US" altLang="zh-CN" dirty="0"/>
              <a:t>    (b)For </a:t>
            </a:r>
            <a:r>
              <a:rPr lang="en-US" altLang="zh-CN" i="1" dirty="0"/>
              <a:t>i</a:t>
            </a:r>
            <a:r>
              <a:rPr lang="en-US" altLang="zh-CN" dirty="0"/>
              <a:t> = 1,2, …,</a:t>
            </a:r>
            <a:r>
              <a:rPr lang="en-US" altLang="zh-CN" i="1" dirty="0"/>
              <a:t> n</a:t>
            </a:r>
            <a:r>
              <a:rPr lang="en-US" altLang="zh-CN" dirty="0"/>
              <a:t>, if </a:t>
            </a:r>
            <a:r>
              <a:rPr lang="en-US" altLang="zh-CN" i="1" dirty="0"/>
              <a:t>Allocation</a:t>
            </a:r>
            <a:r>
              <a:rPr lang="en-US" altLang="zh-CN" i="1" baseline="-25000" dirty="0"/>
              <a:t>i</a:t>
            </a:r>
            <a:r>
              <a:rPr lang="en-US" altLang="zh-CN" dirty="0">
                <a:solidFill>
                  <a:srgbClr val="FF0000"/>
                </a:solidFill>
              </a:rPr>
              <a:t> </a:t>
            </a:r>
            <a:r>
              <a:rPr lang="en-US" altLang="zh-CN" dirty="0">
                <a:sym typeface="Symbol" panose="05050102010706020507" pitchFamily="18" charset="2"/>
              </a:rPr>
              <a:t> 0, then </a:t>
            </a:r>
            <a:br>
              <a:rPr lang="en-US" altLang="zh-CN" dirty="0">
                <a:sym typeface="Symbol" panose="05050102010706020507" pitchFamily="18" charset="2"/>
              </a:rPr>
            </a:br>
            <a:r>
              <a:rPr lang="en-US" altLang="zh-CN" i="1" dirty="0">
                <a:sym typeface="Symbol" panose="05050102010706020507" pitchFamily="18" charset="2"/>
              </a:rPr>
              <a:t>Finish</a:t>
            </a:r>
            <a:r>
              <a:rPr lang="en-US" altLang="zh-CN" dirty="0">
                <a:sym typeface="Symbol" panose="05050102010706020507" pitchFamily="18" charset="2"/>
              </a:rPr>
              <a:t>[i] = false;otherwise, </a:t>
            </a:r>
            <a:r>
              <a:rPr lang="en-US" altLang="zh-CN" i="1" dirty="0">
                <a:sym typeface="Symbol" panose="05050102010706020507" pitchFamily="18" charset="2"/>
              </a:rPr>
              <a:t>Finish</a:t>
            </a:r>
            <a:r>
              <a:rPr lang="en-US" altLang="zh-CN" dirty="0">
                <a:sym typeface="Symbol" panose="05050102010706020507" pitchFamily="18" charset="2"/>
              </a:rPr>
              <a:t>[i] = </a:t>
            </a:r>
            <a:r>
              <a:rPr lang="en-US" altLang="zh-CN" i="1" dirty="0">
                <a:sym typeface="Symbol" panose="05050102010706020507" pitchFamily="18" charset="2"/>
              </a:rPr>
              <a:t>true</a:t>
            </a:r>
            <a:endParaRPr lang="en-US" altLang="zh-CN" dirty="0">
              <a:sym typeface="Symbol" panose="05050102010706020507" pitchFamily="18" charset="2"/>
            </a:endParaRPr>
          </a:p>
          <a:p>
            <a:pPr>
              <a:buNone/>
            </a:pPr>
            <a:r>
              <a:rPr lang="en-US" altLang="zh-CN" dirty="0"/>
              <a:t>2.	Find an index </a:t>
            </a:r>
            <a:r>
              <a:rPr lang="en-US" altLang="zh-CN" i="1" dirty="0"/>
              <a:t>i </a:t>
            </a:r>
            <a:r>
              <a:rPr lang="en-US" altLang="zh-CN" dirty="0"/>
              <a:t>such that both:</a:t>
            </a:r>
          </a:p>
          <a:p>
            <a:pPr marL="850900" lvl="1" indent="-393700">
              <a:buNone/>
            </a:pPr>
            <a:r>
              <a:rPr lang="en-US" altLang="zh-CN" dirty="0"/>
              <a:t>(a)	</a:t>
            </a:r>
            <a:r>
              <a:rPr lang="en-US" altLang="zh-CN" i="1" dirty="0"/>
              <a:t>Finish</a:t>
            </a:r>
            <a:r>
              <a:rPr lang="en-US" altLang="zh-CN" dirty="0"/>
              <a:t>[</a:t>
            </a:r>
            <a:r>
              <a:rPr lang="en-US" altLang="zh-CN" i="1" dirty="0"/>
              <a:t>i</a:t>
            </a:r>
            <a:r>
              <a:rPr lang="en-US" altLang="zh-CN" dirty="0"/>
              <a:t>] == </a:t>
            </a:r>
            <a:r>
              <a:rPr lang="en-US" altLang="zh-CN" i="1" dirty="0"/>
              <a:t>false</a:t>
            </a:r>
            <a:endParaRPr lang="en-US" altLang="zh-CN" dirty="0"/>
          </a:p>
          <a:p>
            <a:pPr marL="850900" lvl="1" indent="-393700">
              <a:buNone/>
            </a:pPr>
            <a:r>
              <a:rPr lang="en-US" altLang="zh-CN" dirty="0"/>
              <a:t>(b)	</a:t>
            </a:r>
            <a:r>
              <a:rPr lang="en-US" altLang="zh-CN" i="1" dirty="0">
                <a:solidFill>
                  <a:srgbClr val="FF0000"/>
                </a:solidFill>
              </a:rPr>
              <a:t>Request</a:t>
            </a:r>
            <a:r>
              <a:rPr lang="en-US" altLang="zh-CN" i="1" baseline="-25000" dirty="0">
                <a:solidFill>
                  <a:srgbClr val="FF0000"/>
                </a:solidFill>
              </a:rPr>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endParaRPr lang="en-US" altLang="zh-CN" dirty="0">
              <a:sym typeface="Symbol" panose="05050102010706020507" pitchFamily="18" charset="2"/>
            </a:endParaRPr>
          </a:p>
          <a:p>
            <a:pPr marL="850900" lvl="1" indent="-393700">
              <a:buNone/>
            </a:pPr>
            <a:r>
              <a:rPr lang="en-US" altLang="zh-CN" dirty="0">
                <a:sym typeface="Symbol" panose="05050102010706020507" pitchFamily="18" charset="2"/>
              </a:rPr>
              <a:t>If no such </a:t>
            </a:r>
            <a:r>
              <a:rPr lang="en-US" altLang="zh-CN" i="1" dirty="0">
                <a:sym typeface="Symbol" panose="05050102010706020507" pitchFamily="18" charset="2"/>
              </a:rPr>
              <a:t>i</a:t>
            </a:r>
            <a:r>
              <a:rPr lang="en-US" altLang="zh-CN" dirty="0">
                <a:sym typeface="Symbol" panose="05050102010706020507" pitchFamily="18" charset="2"/>
              </a:rPr>
              <a:t> exists, go to step 4</a:t>
            </a:r>
            <a:endParaRPr lang="en-US" altLang="zh-CN" dirty="0"/>
          </a:p>
        </p:txBody>
      </p:sp>
      <p:sp>
        <p:nvSpPr>
          <p:cNvPr id="48131" name="Rectangle 3"/>
          <p:cNvSpPr>
            <a:spLocks noGrp="1"/>
          </p:cNvSpPr>
          <p:nvPr/>
        </p:nvSpPr>
        <p:spPr>
          <a:xfrm>
            <a:off x="4988560" y="1402080"/>
            <a:ext cx="4155440" cy="38246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9pPr>
          </a:lstStyle>
          <a:p>
            <a:pPr>
              <a:lnSpc>
                <a:spcPct val="90000"/>
              </a:lnSpc>
              <a:buNone/>
            </a:pPr>
            <a:r>
              <a:rPr lang="en-US" altLang="zh-CN" dirty="0"/>
              <a:t>1.	(a) </a:t>
            </a:r>
            <a:r>
              <a:rPr lang="en-US" altLang="zh-CN" i="1" dirty="0"/>
              <a:t>Work </a:t>
            </a:r>
            <a:r>
              <a:rPr lang="en-US" altLang="zh-CN" dirty="0"/>
              <a:t>= </a:t>
            </a:r>
            <a:r>
              <a:rPr lang="en-US" altLang="zh-CN" i="1" dirty="0"/>
              <a:t>Available</a:t>
            </a:r>
          </a:p>
          <a:p>
            <a:pPr>
              <a:lnSpc>
                <a:spcPct val="90000"/>
              </a:lnSpc>
              <a:buNone/>
            </a:pPr>
            <a:r>
              <a:rPr lang="en-US" altLang="zh-CN" i="1" dirty="0"/>
              <a:t>     (b)Finish </a:t>
            </a:r>
            <a:r>
              <a:rPr lang="en-US" altLang="zh-CN" dirty="0"/>
              <a:t>[</a:t>
            </a:r>
            <a:r>
              <a:rPr lang="en-US" altLang="zh-CN" i="1" dirty="0"/>
              <a:t>i</a:t>
            </a:r>
            <a:r>
              <a:rPr lang="en-US" altLang="zh-CN" dirty="0"/>
              <a:t>] =</a:t>
            </a:r>
            <a:r>
              <a:rPr lang="en-US" altLang="zh-CN" i="1" dirty="0"/>
              <a:t> false </a:t>
            </a:r>
            <a:r>
              <a:rPr lang="en-US" altLang="zh-CN" dirty="0"/>
              <a:t>for</a:t>
            </a:r>
            <a:r>
              <a:rPr lang="en-US" altLang="zh-CN" i="1" dirty="0"/>
              <a:t> i</a:t>
            </a:r>
            <a:r>
              <a:rPr lang="en-US" altLang="zh-CN" dirty="0"/>
              <a:t> = 0, 1, …, </a:t>
            </a:r>
            <a:r>
              <a:rPr lang="en-US" altLang="zh-CN" i="1" dirty="0"/>
              <a:t>n- </a:t>
            </a:r>
            <a:r>
              <a:rPr lang="en-US" altLang="zh-CN" dirty="0"/>
              <a:t>1</a:t>
            </a:r>
          </a:p>
          <a:p>
            <a:pPr>
              <a:lnSpc>
                <a:spcPct val="90000"/>
              </a:lnSpc>
              <a:buNone/>
            </a:pPr>
            <a:endParaRPr lang="en-US" altLang="zh-CN" dirty="0">
              <a:solidFill>
                <a:srgbClr val="FF0000"/>
              </a:solidFill>
            </a:endParaRPr>
          </a:p>
          <a:p>
            <a:pPr>
              <a:lnSpc>
                <a:spcPct val="90000"/>
              </a:lnSpc>
              <a:buNone/>
            </a:pPr>
            <a:endParaRPr lang="en-US" altLang="zh-CN" dirty="0">
              <a:solidFill>
                <a:srgbClr val="FF0000"/>
              </a:solidFill>
            </a:endParaRPr>
          </a:p>
          <a:p>
            <a:pPr>
              <a:lnSpc>
                <a:spcPct val="90000"/>
              </a:lnSpc>
              <a:buNone/>
            </a:pPr>
            <a:r>
              <a:rPr lang="en-US" altLang="zh-CN" dirty="0"/>
              <a:t>2.	Find an </a:t>
            </a:r>
            <a:r>
              <a:rPr lang="en-US" altLang="zh-CN" i="1" dirty="0"/>
              <a:t>i </a:t>
            </a:r>
            <a:r>
              <a:rPr lang="en-US" altLang="zh-CN" dirty="0"/>
              <a:t>such that both: </a:t>
            </a:r>
          </a:p>
          <a:p>
            <a:pPr lvl="1">
              <a:lnSpc>
                <a:spcPct val="90000"/>
              </a:lnSpc>
              <a:buNone/>
            </a:pPr>
            <a:r>
              <a:rPr lang="en-US" altLang="zh-CN" dirty="0"/>
              <a:t>(a) </a:t>
            </a:r>
            <a:r>
              <a:rPr lang="en-US" altLang="zh-CN" i="1" dirty="0"/>
              <a:t>Finish</a:t>
            </a:r>
            <a:r>
              <a:rPr lang="en-US" altLang="zh-CN" dirty="0"/>
              <a:t> [</a:t>
            </a:r>
            <a:r>
              <a:rPr lang="en-US" altLang="zh-CN" i="1" dirty="0"/>
              <a:t>i</a:t>
            </a:r>
            <a:r>
              <a:rPr lang="en-US" altLang="zh-CN" dirty="0"/>
              <a:t>] == </a:t>
            </a:r>
            <a:r>
              <a:rPr lang="en-US" altLang="zh-CN" i="1" dirty="0"/>
              <a:t>false</a:t>
            </a:r>
            <a:endParaRPr lang="en-US" altLang="zh-CN" dirty="0"/>
          </a:p>
          <a:p>
            <a:pPr lvl="1">
              <a:lnSpc>
                <a:spcPct val="90000"/>
              </a:lnSpc>
              <a:buNone/>
            </a:pPr>
            <a:r>
              <a:rPr lang="en-US" altLang="zh-CN" dirty="0"/>
              <a:t>(b) </a:t>
            </a:r>
            <a:r>
              <a:rPr lang="en-US" altLang="zh-CN" i="1" dirty="0">
                <a:solidFill>
                  <a:srgbClr val="FF0000"/>
                </a:solidFill>
              </a:rPr>
              <a:t>Need</a:t>
            </a:r>
            <a:r>
              <a:rPr lang="en-US" altLang="zh-CN" i="1" baseline="-25000" dirty="0">
                <a:solidFill>
                  <a:srgbClr val="FF0000"/>
                </a:solidFill>
              </a:rPr>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p>
          <a:p>
            <a:pPr lvl="1">
              <a:lnSpc>
                <a:spcPct val="90000"/>
              </a:lnSpc>
              <a:buNone/>
            </a:pPr>
            <a:r>
              <a:rPr lang="en-US" altLang="zh-CN" dirty="0">
                <a:sym typeface="Symbol" panose="05050102010706020507" pitchFamily="18" charset="2"/>
              </a:rPr>
              <a:t>If no such </a:t>
            </a:r>
            <a:r>
              <a:rPr lang="en-US" altLang="zh-CN" i="1" dirty="0">
                <a:sym typeface="Symbol" panose="05050102010706020507" pitchFamily="18" charset="2"/>
              </a:rPr>
              <a:t>i </a:t>
            </a:r>
            <a:r>
              <a:rPr lang="en-US" altLang="zh-CN" dirty="0">
                <a:sym typeface="Symbol" panose="05050102010706020507" pitchFamily="18" charset="2"/>
              </a:rPr>
              <a:t>exists, go to step 4</a:t>
            </a:r>
          </a:p>
          <a:p>
            <a:pPr>
              <a:lnSpc>
                <a:spcPct val="90000"/>
              </a:lnSpc>
              <a:buNone/>
            </a:pPr>
            <a:endParaRPr lang="en-US" altLang="zh-CN" dirty="0"/>
          </a:p>
        </p:txBody>
      </p:sp>
      <p:sp>
        <p:nvSpPr>
          <p:cNvPr id="4" name="文本框 3"/>
          <p:cNvSpPr txBox="1"/>
          <p:nvPr/>
        </p:nvSpPr>
        <p:spPr>
          <a:xfrm>
            <a:off x="5114290" y="897890"/>
            <a:ext cx="201930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银行家算法：</a:t>
            </a:r>
          </a:p>
        </p:txBody>
      </p:sp>
      <p:sp>
        <p:nvSpPr>
          <p:cNvPr id="5" name="文本框 4"/>
          <p:cNvSpPr txBox="1"/>
          <p:nvPr/>
        </p:nvSpPr>
        <p:spPr>
          <a:xfrm>
            <a:off x="457200" y="941705"/>
            <a:ext cx="232537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死锁检测算法：</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81195" y="1684020"/>
            <a:ext cx="4662805" cy="1753235"/>
          </a:xfrm>
          <a:prstGeom prst="rect">
            <a:avLst/>
          </a:prstGeom>
          <a:noFill/>
        </p:spPr>
        <p:txBody>
          <a:bodyPr wrap="square" rtlCol="0" anchor="t">
            <a:spAutoFit/>
          </a:bodyPr>
          <a:lstStyle/>
          <a:p>
            <a:pPr>
              <a:lnSpc>
                <a:spcPct val="90000"/>
              </a:lnSpc>
              <a:buNone/>
            </a:pPr>
            <a:r>
              <a:rPr lang="en-US" altLang="zh-CN" sz="2000" dirty="0">
                <a:sym typeface="+mn-ea"/>
              </a:rPr>
              <a:t>3. </a:t>
            </a:r>
            <a:r>
              <a:rPr lang="en-US" altLang="zh-CN" sz="2000" i="1" dirty="0">
                <a:sym typeface="+mn-ea"/>
              </a:rPr>
              <a:t>Work</a:t>
            </a:r>
            <a:r>
              <a:rPr lang="en-US" altLang="zh-CN" sz="2000" dirty="0">
                <a:sym typeface="+mn-ea"/>
              </a:rPr>
              <a:t> = </a:t>
            </a:r>
            <a:r>
              <a:rPr lang="en-US" altLang="zh-CN" sz="2000" i="1" dirty="0">
                <a:sym typeface="+mn-ea"/>
              </a:rPr>
              <a:t>Work </a:t>
            </a:r>
            <a:r>
              <a:rPr lang="en-US" altLang="zh-CN" sz="2000" dirty="0">
                <a:sym typeface="+mn-ea"/>
              </a:rPr>
              <a:t>+ </a:t>
            </a:r>
            <a:r>
              <a:rPr lang="en-US" altLang="zh-CN" sz="2000" i="1" dirty="0">
                <a:sym typeface="+mn-ea"/>
              </a:rPr>
              <a:t>Allocation</a:t>
            </a:r>
            <a:r>
              <a:rPr lang="en-US" altLang="zh-CN" sz="2000" i="1" baseline="-25000" dirty="0">
                <a:sym typeface="+mn-ea"/>
              </a:rPr>
              <a:t>i</a:t>
            </a:r>
            <a:br>
              <a:rPr lang="en-US" altLang="zh-CN" sz="2000" dirty="0">
                <a:sym typeface="+mn-ea"/>
              </a:rPr>
            </a:br>
            <a:r>
              <a:rPr lang="en-US" altLang="zh-CN" sz="2000" i="1" dirty="0">
                <a:sym typeface="+mn-ea"/>
              </a:rPr>
              <a:t>Finish</a:t>
            </a:r>
            <a:r>
              <a:rPr lang="en-US" altLang="zh-CN" sz="2000" dirty="0">
                <a:sym typeface="+mn-ea"/>
              </a:rPr>
              <a:t>[</a:t>
            </a:r>
            <a:r>
              <a:rPr lang="en-US" altLang="zh-CN" sz="2000" i="1" dirty="0">
                <a:sym typeface="+mn-ea"/>
              </a:rPr>
              <a:t>i</a:t>
            </a:r>
            <a:r>
              <a:rPr lang="en-US" altLang="zh-CN" sz="2000" dirty="0">
                <a:sym typeface="+mn-ea"/>
              </a:rPr>
              <a:t>] =</a:t>
            </a:r>
            <a:r>
              <a:rPr lang="en-US" altLang="zh-CN" sz="2000" i="1" dirty="0">
                <a:sym typeface="+mn-ea"/>
              </a:rPr>
              <a:t> true</a:t>
            </a:r>
            <a:br>
              <a:rPr lang="en-US" altLang="zh-CN" sz="2000" dirty="0">
                <a:sym typeface="+mn-ea"/>
              </a:rPr>
            </a:br>
            <a:r>
              <a:rPr lang="en-US" altLang="zh-CN" sz="2000" dirty="0">
                <a:sym typeface="+mn-ea"/>
              </a:rPr>
              <a:t>go to step 2</a:t>
            </a:r>
          </a:p>
          <a:p>
            <a:pPr>
              <a:lnSpc>
                <a:spcPct val="90000"/>
              </a:lnSpc>
              <a:buNone/>
            </a:pPr>
            <a:endParaRPr lang="en-US" altLang="zh-CN" sz="2000" dirty="0"/>
          </a:p>
          <a:p>
            <a:pPr>
              <a:lnSpc>
                <a:spcPct val="90000"/>
              </a:lnSpc>
              <a:buNone/>
            </a:pPr>
            <a:r>
              <a:rPr lang="en-US" altLang="zh-CN" sz="2000" dirty="0">
                <a:sym typeface="+mn-ea"/>
              </a:rPr>
              <a:t>4. If </a:t>
            </a:r>
            <a:r>
              <a:rPr lang="en-US" altLang="zh-CN" sz="2000" i="1" dirty="0">
                <a:sym typeface="+mn-ea"/>
              </a:rPr>
              <a:t>Finish</a:t>
            </a:r>
            <a:r>
              <a:rPr lang="en-US" altLang="zh-CN" sz="2000" dirty="0">
                <a:sym typeface="+mn-ea"/>
              </a:rPr>
              <a:t> [</a:t>
            </a:r>
            <a:r>
              <a:rPr lang="en-US" altLang="zh-CN" sz="2000" i="1" dirty="0">
                <a:sym typeface="+mn-ea"/>
              </a:rPr>
              <a:t>i</a:t>
            </a:r>
            <a:r>
              <a:rPr lang="en-US" altLang="zh-CN" sz="2000" dirty="0">
                <a:sym typeface="+mn-ea"/>
              </a:rPr>
              <a:t>] == true for all </a:t>
            </a:r>
            <a:r>
              <a:rPr lang="en-US" altLang="zh-CN" sz="2000" i="1" dirty="0">
                <a:sym typeface="+mn-ea"/>
              </a:rPr>
              <a:t>i</a:t>
            </a:r>
            <a:r>
              <a:rPr lang="en-US" altLang="zh-CN" sz="2000" dirty="0">
                <a:sym typeface="+mn-ea"/>
              </a:rPr>
              <a:t>, then the system</a:t>
            </a:r>
            <a:r>
              <a:rPr lang="en-US" altLang="zh-CN" sz="2000" dirty="0">
                <a:solidFill>
                  <a:srgbClr val="FF0000"/>
                </a:solidFill>
                <a:sym typeface="+mn-ea"/>
              </a:rPr>
              <a:t> is in a safe state</a:t>
            </a:r>
          </a:p>
        </p:txBody>
      </p:sp>
      <p:sp>
        <p:nvSpPr>
          <p:cNvPr id="60419" name="Rectangle 3"/>
          <p:cNvSpPr>
            <a:spLocks noGrp="1"/>
          </p:cNvSpPr>
          <p:nvPr>
            <p:ph idx="1"/>
          </p:nvPr>
        </p:nvSpPr>
        <p:spPr>
          <a:xfrm>
            <a:off x="199390" y="1684020"/>
            <a:ext cx="4281805" cy="2296795"/>
          </a:xfrm>
        </p:spPr>
        <p:txBody>
          <a:bodyPr vert="horz" wrap="square" lIns="91440" tIns="45720" rIns="91440" bIns="45720" anchor="t" anchorCtr="0"/>
          <a:lstStyle/>
          <a:p>
            <a:pPr>
              <a:lnSpc>
                <a:spcPct val="90000"/>
              </a:lnSpc>
              <a:buNone/>
            </a:pPr>
            <a:r>
              <a:rPr lang="en-US" altLang="zh-CN" sz="2000" dirty="0"/>
              <a:t>3.	</a:t>
            </a:r>
            <a:r>
              <a:rPr lang="en-US" altLang="zh-CN" sz="2000" i="1" dirty="0"/>
              <a:t>Work</a:t>
            </a:r>
            <a:r>
              <a:rPr lang="en-US" altLang="zh-CN" sz="2000" dirty="0"/>
              <a:t> = </a:t>
            </a:r>
            <a:r>
              <a:rPr lang="en-US" altLang="zh-CN" sz="2000" i="1" dirty="0"/>
              <a:t>Work</a:t>
            </a:r>
            <a:r>
              <a:rPr lang="en-US" altLang="zh-CN" sz="2000" dirty="0"/>
              <a:t> + </a:t>
            </a:r>
            <a:r>
              <a:rPr lang="en-US" altLang="zh-CN" sz="2000" i="1" dirty="0"/>
              <a:t>Allocation</a:t>
            </a:r>
            <a:r>
              <a:rPr lang="en-US" altLang="zh-CN" sz="2000" i="1" baseline="-25000" dirty="0"/>
              <a:t>i</a:t>
            </a:r>
            <a:br>
              <a:rPr lang="en-US" altLang="zh-CN" sz="2000" dirty="0"/>
            </a:br>
            <a:r>
              <a:rPr lang="en-US" altLang="zh-CN" sz="2000" i="1" dirty="0"/>
              <a:t>Finish</a:t>
            </a:r>
            <a:r>
              <a:rPr lang="en-US" altLang="zh-CN" sz="2000" dirty="0"/>
              <a:t>[</a:t>
            </a:r>
            <a:r>
              <a:rPr lang="en-US" altLang="zh-CN" sz="2000" i="1" dirty="0"/>
              <a:t>i</a:t>
            </a:r>
            <a:r>
              <a:rPr lang="en-US" altLang="zh-CN" sz="2000" dirty="0"/>
              <a:t>] = </a:t>
            </a:r>
            <a:r>
              <a:rPr lang="en-US" altLang="zh-CN" sz="2000" i="1" dirty="0"/>
              <a:t>true</a:t>
            </a:r>
            <a:br>
              <a:rPr lang="en-US" altLang="zh-CN" sz="2000" dirty="0"/>
            </a:br>
            <a:r>
              <a:rPr lang="en-US" altLang="zh-CN" sz="2000" dirty="0"/>
              <a:t>go to step 2</a:t>
            </a:r>
            <a:br>
              <a:rPr lang="en-US" altLang="zh-CN" sz="2000" dirty="0"/>
            </a:br>
            <a:endParaRPr lang="en-US" altLang="zh-CN" sz="2000" dirty="0"/>
          </a:p>
          <a:p>
            <a:pPr>
              <a:lnSpc>
                <a:spcPct val="90000"/>
              </a:lnSpc>
              <a:buNone/>
            </a:pPr>
            <a:r>
              <a:rPr lang="en-US" altLang="zh-CN" sz="2000" dirty="0"/>
              <a:t>4.	If </a:t>
            </a:r>
            <a:r>
              <a:rPr lang="en-US" altLang="zh-CN" sz="2000" i="1" dirty="0"/>
              <a:t>Finish</a:t>
            </a:r>
            <a:r>
              <a:rPr lang="en-US" altLang="zh-CN" sz="2000" dirty="0"/>
              <a:t>[</a:t>
            </a:r>
            <a:r>
              <a:rPr lang="en-US" altLang="zh-CN" sz="2000" i="1" dirty="0"/>
              <a:t>i</a:t>
            </a:r>
            <a:r>
              <a:rPr lang="en-US" altLang="zh-CN" sz="2000" dirty="0"/>
              <a:t>] == false, for some </a:t>
            </a:r>
            <a:r>
              <a:rPr lang="en-US" altLang="zh-CN" sz="2000" i="1" dirty="0"/>
              <a:t>i</a:t>
            </a:r>
            <a:r>
              <a:rPr lang="en-US" altLang="zh-CN" sz="2000" dirty="0"/>
              <a:t>, 1 </a:t>
            </a:r>
            <a:r>
              <a:rPr lang="en-US" altLang="zh-CN" sz="2000" dirty="0">
                <a:sym typeface="Symbol" panose="05050102010706020507" pitchFamily="18" charset="2"/>
              </a:rPr>
              <a:t> </a:t>
            </a:r>
            <a:r>
              <a:rPr lang="en-US" altLang="zh-CN" sz="2000" i="1" dirty="0">
                <a:sym typeface="Symbol" panose="05050102010706020507" pitchFamily="18" charset="2"/>
              </a:rPr>
              <a:t>i</a:t>
            </a:r>
            <a:r>
              <a:rPr lang="en-US" altLang="zh-CN" sz="2000" dirty="0">
                <a:sym typeface="Symbol" panose="05050102010706020507" pitchFamily="18" charset="2"/>
              </a:rPr>
              <a:t>   </a:t>
            </a:r>
            <a:r>
              <a:rPr lang="en-US" altLang="zh-CN" sz="2000" i="1" dirty="0">
                <a:sym typeface="Symbol" panose="05050102010706020507" pitchFamily="18" charset="2"/>
              </a:rPr>
              <a:t>n</a:t>
            </a:r>
            <a:r>
              <a:rPr lang="en-US" altLang="zh-CN" sz="2000" dirty="0">
                <a:sym typeface="Symbol" panose="05050102010706020507" pitchFamily="18" charset="2"/>
              </a:rPr>
              <a:t>, </a:t>
            </a:r>
            <a:r>
              <a:rPr lang="en-US" altLang="zh-CN" sz="2000" dirty="0">
                <a:solidFill>
                  <a:srgbClr val="FF0000"/>
                </a:solidFill>
                <a:sym typeface="Symbol" panose="05050102010706020507" pitchFamily="18" charset="2"/>
              </a:rPr>
              <a:t>then the system is in deadlock state.</a:t>
            </a:r>
            <a:r>
              <a:rPr lang="en-US" altLang="zh-CN" sz="2000" dirty="0">
                <a:sym typeface="Symbol" panose="05050102010706020507" pitchFamily="18" charset="2"/>
              </a:rPr>
              <a:t> </a:t>
            </a:r>
            <a:r>
              <a:rPr lang="en-US" altLang="zh-CN" sz="2000" dirty="0">
                <a:gradFill>
                  <a:gsLst>
                    <a:gs pos="0">
                      <a:srgbClr val="007BD3"/>
                    </a:gs>
                    <a:gs pos="100000">
                      <a:srgbClr val="034373"/>
                    </a:gs>
                  </a:gsLst>
                  <a:lin scaled="0"/>
                </a:gradFill>
                <a:sym typeface="Symbol" panose="05050102010706020507" pitchFamily="18" charset="2"/>
              </a:rPr>
              <a:t>Moreover, if </a:t>
            </a:r>
            <a:r>
              <a:rPr lang="en-US" altLang="zh-CN" sz="2000" i="1" dirty="0">
                <a:gradFill>
                  <a:gsLst>
                    <a:gs pos="0">
                      <a:srgbClr val="007BD3"/>
                    </a:gs>
                    <a:gs pos="100000">
                      <a:srgbClr val="034373"/>
                    </a:gs>
                  </a:gsLst>
                  <a:lin scaled="0"/>
                </a:gradFill>
                <a:sym typeface="Symbol" panose="05050102010706020507" pitchFamily="18" charset="2"/>
              </a:rPr>
              <a:t>Finish</a:t>
            </a:r>
            <a:r>
              <a:rPr lang="en-US" altLang="zh-CN" sz="2000" dirty="0">
                <a:gradFill>
                  <a:gsLst>
                    <a:gs pos="0">
                      <a:srgbClr val="007BD3"/>
                    </a:gs>
                    <a:gs pos="100000">
                      <a:srgbClr val="034373"/>
                    </a:gs>
                  </a:gsLst>
                  <a:lin scaled="0"/>
                </a:gradFill>
                <a:sym typeface="Symbol" panose="05050102010706020507" pitchFamily="18" charset="2"/>
              </a:rPr>
              <a:t>[</a:t>
            </a:r>
            <a:r>
              <a:rPr lang="en-US" altLang="zh-CN" sz="2000" i="1" dirty="0">
                <a:gradFill>
                  <a:gsLst>
                    <a:gs pos="0">
                      <a:srgbClr val="007BD3"/>
                    </a:gs>
                    <a:gs pos="100000">
                      <a:srgbClr val="034373"/>
                    </a:gs>
                  </a:gsLst>
                  <a:lin scaled="0"/>
                </a:gradFill>
                <a:sym typeface="Symbol" panose="05050102010706020507" pitchFamily="18" charset="2"/>
              </a:rPr>
              <a:t>i</a:t>
            </a:r>
            <a:r>
              <a:rPr lang="en-US" altLang="zh-CN" sz="2000" dirty="0">
                <a:gradFill>
                  <a:gsLst>
                    <a:gs pos="0">
                      <a:srgbClr val="007BD3"/>
                    </a:gs>
                    <a:gs pos="100000">
                      <a:srgbClr val="034373"/>
                    </a:gs>
                  </a:gsLst>
                  <a:lin scaled="0"/>
                </a:gradFill>
                <a:sym typeface="Symbol" panose="05050102010706020507" pitchFamily="18" charset="2"/>
              </a:rPr>
              <a:t>] == </a:t>
            </a:r>
            <a:r>
              <a:rPr lang="en-US" altLang="zh-CN" sz="2000" i="1" dirty="0">
                <a:gradFill>
                  <a:gsLst>
                    <a:gs pos="0">
                      <a:srgbClr val="007BD3"/>
                    </a:gs>
                    <a:gs pos="100000">
                      <a:srgbClr val="034373"/>
                    </a:gs>
                  </a:gsLst>
                  <a:lin scaled="0"/>
                </a:gradFill>
                <a:sym typeface="Symbol" panose="05050102010706020507" pitchFamily="18" charset="2"/>
              </a:rPr>
              <a:t>false</a:t>
            </a:r>
            <a:r>
              <a:rPr lang="en-US" altLang="zh-CN" sz="2000" dirty="0">
                <a:gradFill>
                  <a:gsLst>
                    <a:gs pos="0">
                      <a:srgbClr val="007BD3"/>
                    </a:gs>
                    <a:gs pos="100000">
                      <a:srgbClr val="034373"/>
                    </a:gs>
                  </a:gsLst>
                  <a:lin scaled="0"/>
                </a:gradFill>
                <a:sym typeface="Symbol" panose="05050102010706020507" pitchFamily="18" charset="2"/>
              </a:rPr>
              <a:t>, then </a:t>
            </a:r>
            <a:r>
              <a:rPr lang="en-US" altLang="zh-CN" sz="2000" i="1" dirty="0">
                <a:gradFill>
                  <a:gsLst>
                    <a:gs pos="0">
                      <a:srgbClr val="007BD3"/>
                    </a:gs>
                    <a:gs pos="100000">
                      <a:srgbClr val="034373"/>
                    </a:gs>
                  </a:gsLst>
                  <a:lin scaled="0"/>
                </a:gradFill>
                <a:sym typeface="Symbol" panose="05050102010706020507" pitchFamily="18" charset="2"/>
              </a:rPr>
              <a:t>P</a:t>
            </a:r>
            <a:r>
              <a:rPr lang="en-US" altLang="zh-CN" sz="2000" i="1" baseline="-25000" dirty="0">
                <a:gradFill>
                  <a:gsLst>
                    <a:gs pos="0">
                      <a:srgbClr val="007BD3"/>
                    </a:gs>
                    <a:gs pos="100000">
                      <a:srgbClr val="034373"/>
                    </a:gs>
                  </a:gsLst>
                  <a:lin scaled="0"/>
                </a:gradFill>
                <a:sym typeface="Symbol" panose="05050102010706020507" pitchFamily="18" charset="2"/>
              </a:rPr>
              <a:t>i</a:t>
            </a:r>
            <a:r>
              <a:rPr lang="en-US" altLang="zh-CN" sz="2000" dirty="0">
                <a:gradFill>
                  <a:gsLst>
                    <a:gs pos="0">
                      <a:srgbClr val="007BD3"/>
                    </a:gs>
                    <a:gs pos="100000">
                      <a:srgbClr val="034373"/>
                    </a:gs>
                  </a:gsLst>
                  <a:lin scaled="0"/>
                </a:gradFill>
                <a:sym typeface="Symbol" panose="05050102010706020507" pitchFamily="18" charset="2"/>
              </a:rPr>
              <a:t> is deadlocked</a:t>
            </a:r>
          </a:p>
          <a:p>
            <a:pPr>
              <a:lnSpc>
                <a:spcPct val="90000"/>
              </a:lnSpc>
              <a:buNone/>
            </a:pPr>
            <a:r>
              <a:rPr lang="en-US" altLang="zh-CN" sz="2000" dirty="0">
                <a:sym typeface="Symbol" panose="05050102010706020507" pitchFamily="18" charset="2"/>
              </a:rPr>
              <a:t>	</a:t>
            </a:r>
          </a:p>
        </p:txBody>
      </p:sp>
      <p:sp>
        <p:nvSpPr>
          <p:cNvPr id="5" name="文本框 4"/>
          <p:cNvSpPr txBox="1"/>
          <p:nvPr/>
        </p:nvSpPr>
        <p:spPr>
          <a:xfrm>
            <a:off x="5114290" y="897890"/>
            <a:ext cx="201930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银行家算法：</a:t>
            </a:r>
          </a:p>
        </p:txBody>
      </p:sp>
      <p:sp>
        <p:nvSpPr>
          <p:cNvPr id="6" name="文本框 5"/>
          <p:cNvSpPr txBox="1"/>
          <p:nvPr/>
        </p:nvSpPr>
        <p:spPr>
          <a:xfrm>
            <a:off x="457200" y="941705"/>
            <a:ext cx="232537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死锁检测算法：</a:t>
            </a:r>
          </a:p>
        </p:txBody>
      </p:sp>
      <p:sp>
        <p:nvSpPr>
          <p:cNvPr id="7" name="标题 6"/>
          <p:cNvSpPr>
            <a:spLocks noGrp="1"/>
          </p:cNvSpPr>
          <p:nvPr>
            <p:ph type="title"/>
          </p:nvPr>
        </p:nvSpPr>
        <p:spPr/>
        <p:txBody>
          <a:bodyPr/>
          <a:lstStyle/>
          <a:p>
            <a:r>
              <a:rPr lang="zh-CN" altLang="en-US">
                <a:latin typeface="宋体" panose="02010600030101010101" pitchFamily="2" charset="-122"/>
                <a:ea typeface="宋体" panose="02010600030101010101" pitchFamily="2" charset="-122"/>
              </a:rPr>
              <a:t>与银行家算法对比</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p:txBody>
          <a:bodyPr vert="horz" wrap="square" lIns="91440" tIns="45720" rIns="91440" bIns="45720" anchor="b" anchorCtr="0"/>
          <a:lstStyle/>
          <a:p>
            <a:pPr eaLnBrk="1" hangingPunct="1"/>
            <a:r>
              <a:rPr lang="en-US" altLang="zh-CN" dirty="0"/>
              <a:t>Example of Detection Algorithm</a:t>
            </a:r>
          </a:p>
        </p:txBody>
      </p:sp>
      <p:sp>
        <p:nvSpPr>
          <p:cNvPr id="61443" name="Rectangle 3"/>
          <p:cNvSpPr>
            <a:spLocks noGrp="1"/>
          </p:cNvSpPr>
          <p:nvPr>
            <p:ph idx="1"/>
          </p:nvPr>
        </p:nvSpPr>
        <p:spPr>
          <a:xfrm>
            <a:off x="228600" y="896938"/>
            <a:ext cx="8720138" cy="4530725"/>
          </a:xfrm>
        </p:spPr>
        <p:txBody>
          <a:bodyPr vert="horz" wrap="square" lIns="91440" tIns="45720" rIns="91440" bIns="45720" anchor="t" anchorCtr="0"/>
          <a:lstStyle/>
          <a:p>
            <a:pPr defTabSz="914400">
              <a:tabLst>
                <a:tab pos="1428750" algn="l"/>
                <a:tab pos="2338705" algn="ctr"/>
                <a:tab pos="3594100" algn="ctr"/>
                <a:tab pos="4921250" algn="ctr"/>
              </a:tabLst>
            </a:pPr>
            <a:r>
              <a:rPr lang="en-US" altLang="zh-CN" dirty="0"/>
              <a:t>Five processes </a:t>
            </a:r>
            <a:r>
              <a:rPr lang="en-US" altLang="zh-CN" i="1" dirty="0"/>
              <a:t>P</a:t>
            </a:r>
            <a:r>
              <a:rPr lang="en-US" altLang="zh-CN" baseline="-25000" dirty="0"/>
              <a:t>0</a:t>
            </a:r>
            <a:r>
              <a:rPr lang="en-US" altLang="zh-CN" dirty="0"/>
              <a:t> through </a:t>
            </a:r>
            <a:r>
              <a:rPr lang="en-US" altLang="zh-CN" i="1" dirty="0"/>
              <a:t>P</a:t>
            </a:r>
            <a:r>
              <a:rPr lang="en-US" altLang="zh-CN" baseline="-25000" dirty="0"/>
              <a:t>4</a:t>
            </a:r>
            <a:r>
              <a:rPr lang="en-US" altLang="zh-CN" dirty="0"/>
              <a:t>;</a:t>
            </a:r>
            <a:r>
              <a:rPr lang="en-US" altLang="zh-CN" baseline="-25000" dirty="0"/>
              <a:t> </a:t>
            </a:r>
            <a:r>
              <a:rPr lang="en-US" altLang="zh-CN" dirty="0"/>
              <a:t>three resource types </a:t>
            </a:r>
            <a:br>
              <a:rPr lang="en-US" altLang="zh-CN" dirty="0"/>
            </a:br>
            <a:r>
              <a:rPr lang="en-US" altLang="zh-CN" dirty="0"/>
              <a:t>A (7 instances), </a:t>
            </a:r>
            <a:r>
              <a:rPr lang="en-US" altLang="zh-CN" i="1" dirty="0"/>
              <a:t>B </a:t>
            </a:r>
            <a:r>
              <a:rPr lang="en-US" altLang="zh-CN" dirty="0"/>
              <a:t>(2 instances), and </a:t>
            </a:r>
            <a:r>
              <a:rPr lang="en-US" altLang="zh-CN" i="1" dirty="0"/>
              <a:t>C</a:t>
            </a:r>
            <a:r>
              <a:rPr lang="en-US" altLang="zh-CN" dirty="0"/>
              <a:t> (6 instances)</a:t>
            </a:r>
          </a:p>
          <a:p>
            <a:pPr defTabSz="914400">
              <a:tabLst>
                <a:tab pos="1428750" algn="l"/>
                <a:tab pos="2338705" algn="ctr"/>
                <a:tab pos="3594100" algn="ctr"/>
                <a:tab pos="4921250" algn="ctr"/>
              </a:tabLst>
            </a:pPr>
            <a:r>
              <a:rPr lang="en-US" altLang="zh-CN" dirty="0"/>
              <a:t>Snapshot at time </a:t>
            </a:r>
            <a:r>
              <a:rPr lang="en-US" altLang="zh-CN" i="1" dirty="0"/>
              <a:t>T</a:t>
            </a:r>
            <a:r>
              <a:rPr lang="en-US" altLang="zh-CN" baseline="-25000" dirty="0"/>
              <a:t>0</a:t>
            </a:r>
            <a:r>
              <a:rPr lang="en-US" altLang="zh-CN" dirty="0"/>
              <a:t>:</a:t>
            </a:r>
          </a:p>
          <a:p>
            <a:pPr defTabSz="914400">
              <a:buNone/>
              <a:tabLst>
                <a:tab pos="1428750" algn="l"/>
                <a:tab pos="2338705" algn="ctr"/>
                <a:tab pos="3594100" algn="ctr"/>
                <a:tab pos="4921250" algn="ctr"/>
              </a:tabLst>
            </a:pPr>
            <a:r>
              <a:rPr lang="en-US" altLang="zh-CN" dirty="0"/>
              <a:t>			 </a:t>
            </a:r>
            <a:r>
              <a:rPr lang="en-US" altLang="zh-CN" i="1" u="sng" dirty="0"/>
              <a:t>Allocation</a:t>
            </a:r>
            <a:r>
              <a:rPr lang="en-US" altLang="zh-CN" i="1" dirty="0"/>
              <a:t>	  </a:t>
            </a:r>
            <a:r>
              <a:rPr lang="en-US" altLang="zh-CN" i="1" u="sng" dirty="0"/>
              <a:t>Request</a:t>
            </a:r>
            <a:r>
              <a:rPr lang="en-US" altLang="zh-CN" i="1" dirty="0"/>
              <a:t>	     </a:t>
            </a:r>
            <a:r>
              <a:rPr lang="en-US" altLang="zh-CN" i="1" u="sng" dirty="0"/>
              <a:t>Available</a:t>
            </a:r>
          </a:p>
          <a:p>
            <a:pPr defTabSz="914400">
              <a:buNone/>
              <a:tabLst>
                <a:tab pos="1428750" algn="l"/>
                <a:tab pos="2338705" algn="ctr"/>
                <a:tab pos="3594100" algn="ctr"/>
                <a:tab pos="4921250" algn="ctr"/>
              </a:tabLst>
            </a:pPr>
            <a:r>
              <a:rPr lang="en-US" altLang="zh-CN" dirty="0"/>
              <a:t>			</a:t>
            </a:r>
            <a:r>
              <a:rPr lang="en-US" altLang="zh-CN" i="1" dirty="0"/>
              <a:t>A B C 	    A B C 	        A B C</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0</a:t>
            </a:r>
            <a:r>
              <a:rPr lang="en-US" altLang="zh-CN" dirty="0"/>
              <a:t>	   0 1 0        0 0 0 	         0 0 0</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1</a:t>
            </a:r>
            <a:r>
              <a:rPr lang="en-US" altLang="zh-CN" dirty="0"/>
              <a:t>	 2 0 0 	    2 0 2</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2</a:t>
            </a:r>
            <a:r>
              <a:rPr lang="en-US" altLang="zh-CN" dirty="0"/>
              <a:t>	   3 0 3         0 0 0 </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3</a:t>
            </a:r>
            <a:r>
              <a:rPr lang="en-US" altLang="zh-CN" dirty="0"/>
              <a:t>	 2 1 1 	    1 0 0 </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4</a:t>
            </a:r>
            <a:r>
              <a:rPr lang="en-US" altLang="zh-CN" dirty="0"/>
              <a:t>	 0 0 2 	     0 0 2</a:t>
            </a:r>
          </a:p>
          <a:p>
            <a:pPr defTabSz="914400">
              <a:tabLst>
                <a:tab pos="1428750" algn="l"/>
                <a:tab pos="2338705" algn="ctr"/>
                <a:tab pos="3594100" algn="ctr"/>
                <a:tab pos="4921250" algn="ctr"/>
              </a:tabLst>
            </a:pPr>
            <a:r>
              <a:rPr lang="en-US" altLang="zh-CN" dirty="0"/>
              <a:t>Sequence &lt;</a:t>
            </a:r>
            <a:r>
              <a:rPr lang="en-US" altLang="zh-CN" i="1" dirty="0"/>
              <a:t>P</a:t>
            </a:r>
            <a:r>
              <a:rPr lang="en-US" altLang="zh-CN" baseline="-25000" dirty="0"/>
              <a:t>0</a:t>
            </a:r>
            <a:r>
              <a:rPr lang="en-US" altLang="zh-CN" dirty="0"/>
              <a:t>, </a:t>
            </a:r>
            <a:r>
              <a:rPr lang="en-US" altLang="zh-CN" i="1" dirty="0"/>
              <a:t>P</a:t>
            </a:r>
            <a:r>
              <a:rPr lang="en-US" altLang="zh-CN" baseline="-25000" dirty="0"/>
              <a:t>2</a:t>
            </a:r>
            <a:r>
              <a:rPr lang="en-US" altLang="zh-CN" dirty="0"/>
              <a:t>, </a:t>
            </a:r>
            <a:r>
              <a:rPr lang="en-US" altLang="zh-CN" i="1" dirty="0"/>
              <a:t>P</a:t>
            </a:r>
            <a:r>
              <a:rPr lang="en-US" altLang="zh-CN" baseline="-25000" dirty="0"/>
              <a:t>3</a:t>
            </a:r>
            <a:r>
              <a:rPr lang="en-US" altLang="zh-CN" dirty="0"/>
              <a:t>, </a:t>
            </a:r>
            <a:r>
              <a:rPr lang="en-US" altLang="zh-CN" i="1" dirty="0"/>
              <a:t>P</a:t>
            </a:r>
            <a:r>
              <a:rPr lang="en-US" altLang="zh-CN" baseline="-25000" dirty="0"/>
              <a:t>1</a:t>
            </a:r>
            <a:r>
              <a:rPr lang="en-US" altLang="zh-CN" dirty="0"/>
              <a:t>, </a:t>
            </a:r>
            <a:r>
              <a:rPr lang="en-US" altLang="zh-CN" i="1" dirty="0"/>
              <a:t>P</a:t>
            </a:r>
            <a:r>
              <a:rPr lang="en-US" altLang="zh-CN" baseline="-25000" dirty="0"/>
              <a:t>4</a:t>
            </a:r>
            <a:r>
              <a:rPr lang="en-US" altLang="zh-CN" dirty="0"/>
              <a:t>&gt; will result in </a:t>
            </a:r>
            <a:r>
              <a:rPr lang="en-US" altLang="zh-CN" i="1" dirty="0"/>
              <a:t>Finish</a:t>
            </a:r>
            <a:r>
              <a:rPr lang="en-US" altLang="zh-CN" dirty="0"/>
              <a:t>[</a:t>
            </a:r>
            <a:r>
              <a:rPr lang="en-US" altLang="zh-CN" i="1" dirty="0"/>
              <a:t>i</a:t>
            </a:r>
            <a:r>
              <a:rPr lang="en-US" altLang="zh-CN" dirty="0"/>
              <a:t>] = true for all </a:t>
            </a:r>
            <a:r>
              <a:rPr lang="en-US" altLang="zh-CN" i="1" dirty="0"/>
              <a:t>i</a:t>
            </a:r>
            <a:endParaRPr lang="en-US" altLang="zh-CN" dirty="0"/>
          </a:p>
          <a:p>
            <a:pPr defTabSz="914400">
              <a:buNone/>
              <a:tabLst>
                <a:tab pos="1428750" algn="l"/>
                <a:tab pos="2338705" algn="ctr"/>
                <a:tab pos="3594100" algn="ctr"/>
                <a:tab pos="4921250" algn="ctr"/>
              </a:tabLst>
            </a:pPr>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vert="horz" wrap="square" lIns="91440" tIns="45720" rIns="91440" bIns="45720" anchor="b" anchorCtr="0"/>
          <a:lstStyle/>
          <a:p>
            <a:pPr eaLnBrk="1" hangingPunct="1"/>
            <a:r>
              <a:rPr lang="en-US" altLang="zh-CN" dirty="0"/>
              <a:t>Example (Cont.)</a:t>
            </a:r>
          </a:p>
        </p:txBody>
      </p:sp>
      <p:sp>
        <p:nvSpPr>
          <p:cNvPr id="62467" name="Rectangle 3"/>
          <p:cNvSpPr>
            <a:spLocks noGrp="1"/>
          </p:cNvSpPr>
          <p:nvPr>
            <p:ph idx="1"/>
          </p:nvPr>
        </p:nvSpPr>
        <p:spPr>
          <a:xfrm>
            <a:off x="0" y="914400"/>
            <a:ext cx="9144000" cy="4530725"/>
          </a:xfrm>
        </p:spPr>
        <p:txBody>
          <a:bodyPr vert="horz" wrap="square" lIns="91440" tIns="45720" rIns="91440" bIns="45720" anchor="t" anchorCtr="0"/>
          <a:lstStyle/>
          <a:p>
            <a:pPr defTabSz="914400">
              <a:lnSpc>
                <a:spcPct val="80000"/>
              </a:lnSpc>
              <a:tabLst>
                <a:tab pos="2800350" algn="l"/>
                <a:tab pos="3708400" algn="ctr"/>
              </a:tabLst>
            </a:pPr>
            <a:r>
              <a:rPr lang="en-US" altLang="zh-CN" i="1" dirty="0"/>
              <a:t>P</a:t>
            </a:r>
            <a:r>
              <a:rPr lang="en-US" altLang="zh-CN" baseline="-25000" dirty="0"/>
              <a:t>2</a:t>
            </a:r>
            <a:r>
              <a:rPr lang="en-US" altLang="zh-CN" dirty="0"/>
              <a:t> requests an additional instance of type</a:t>
            </a:r>
            <a:r>
              <a:rPr lang="en-US" altLang="zh-CN" i="1" dirty="0"/>
              <a:t> C</a:t>
            </a:r>
            <a:endParaRPr lang="en-US" altLang="zh-CN" dirty="0"/>
          </a:p>
          <a:p>
            <a:pPr defTabSz="914400">
              <a:lnSpc>
                <a:spcPct val="80000"/>
              </a:lnSpc>
              <a:buNone/>
              <a:tabLst>
                <a:tab pos="2800350" algn="l"/>
                <a:tab pos="3708400" algn="ctr"/>
              </a:tabLst>
            </a:pPr>
            <a:r>
              <a:rPr lang="en-US" altLang="zh-CN" dirty="0"/>
              <a:t>		  </a:t>
            </a:r>
            <a:r>
              <a:rPr lang="en-US" altLang="zh-CN" u="sng" dirty="0"/>
              <a:t>	Allocation</a:t>
            </a:r>
            <a:r>
              <a:rPr lang="en-US" altLang="zh-CN" dirty="0"/>
              <a:t>   </a:t>
            </a:r>
            <a:r>
              <a:rPr lang="en-US" altLang="zh-CN" i="1" u="sng" dirty="0"/>
              <a:t>Request   Available</a:t>
            </a:r>
          </a:p>
          <a:p>
            <a:pPr defTabSz="914400">
              <a:lnSpc>
                <a:spcPct val="80000"/>
              </a:lnSpc>
              <a:buNone/>
              <a:tabLst>
                <a:tab pos="2800350" algn="l"/>
                <a:tab pos="3708400" algn="ctr"/>
              </a:tabLst>
            </a:pPr>
            <a:endParaRPr lang="en-US" altLang="zh-CN" i="1" dirty="0"/>
          </a:p>
          <a:p>
            <a:pPr defTabSz="914400">
              <a:lnSpc>
                <a:spcPct val="80000"/>
              </a:lnSpc>
              <a:buNone/>
              <a:tabLst>
                <a:tab pos="2800350" algn="l"/>
                <a:tab pos="3708400" algn="ctr"/>
              </a:tabLst>
            </a:pPr>
            <a:r>
              <a:rPr lang="en-US" altLang="zh-CN" i="1" dirty="0"/>
              <a:t>			      A B C      A B C        A B C</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0    </a:t>
            </a:r>
            <a:r>
              <a:rPr lang="en-US" altLang="zh-CN" dirty="0"/>
              <a:t>0 1 0</a:t>
            </a:r>
            <a:r>
              <a:rPr lang="en-US" altLang="zh-CN" baseline="-25000" dirty="0"/>
              <a:t>         </a:t>
            </a:r>
            <a:r>
              <a:rPr lang="en-US" altLang="zh-CN" dirty="0"/>
              <a:t> 0 0 0           0 0 0</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1</a:t>
            </a:r>
            <a:r>
              <a:rPr lang="en-US" altLang="zh-CN" dirty="0"/>
              <a:t>   2 0 0       2 0 1</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2</a:t>
            </a:r>
            <a:r>
              <a:rPr lang="en-US" altLang="zh-CN" dirty="0"/>
              <a:t>   3 0 3       </a:t>
            </a:r>
            <a:r>
              <a:rPr lang="en-US" altLang="zh-CN" dirty="0">
                <a:solidFill>
                  <a:srgbClr val="FF0000"/>
                </a:solidFill>
              </a:rPr>
              <a:t>0 0 1</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3</a:t>
            </a:r>
            <a:r>
              <a:rPr lang="en-US" altLang="zh-CN" dirty="0"/>
              <a:t>	   2 1 1       1 0 0 </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4</a:t>
            </a:r>
            <a:r>
              <a:rPr lang="en-US" altLang="zh-CN" dirty="0"/>
              <a:t>	   0 0 2       0 0 2</a:t>
            </a:r>
          </a:p>
          <a:p>
            <a:pPr defTabSz="914400">
              <a:lnSpc>
                <a:spcPct val="80000"/>
              </a:lnSpc>
              <a:tabLst>
                <a:tab pos="2800350" algn="l"/>
                <a:tab pos="3708400" algn="ctr"/>
              </a:tabLst>
            </a:pPr>
            <a:r>
              <a:rPr lang="en-US" altLang="zh-CN" dirty="0"/>
              <a:t>State of system?</a:t>
            </a:r>
          </a:p>
          <a:p>
            <a:pPr lvl="1" defTabSz="914400">
              <a:lnSpc>
                <a:spcPct val="80000"/>
              </a:lnSpc>
              <a:tabLst>
                <a:tab pos="2800350" algn="l"/>
                <a:tab pos="3708400" algn="ctr"/>
              </a:tabLst>
            </a:pPr>
            <a:r>
              <a:rPr lang="en-US" altLang="zh-CN" dirty="0"/>
              <a:t>Can reclaim resources held by process </a:t>
            </a:r>
            <a:r>
              <a:rPr lang="en-US" altLang="zh-CN" i="1" dirty="0"/>
              <a:t>P</a:t>
            </a:r>
            <a:r>
              <a:rPr lang="en-US" altLang="zh-CN" baseline="-25000" dirty="0"/>
              <a:t>0</a:t>
            </a:r>
            <a:r>
              <a:rPr lang="en-US" altLang="zh-CN" dirty="0"/>
              <a:t>, but insufficient resources to fulfill other processes requests</a:t>
            </a:r>
          </a:p>
          <a:p>
            <a:pPr lvl="1" defTabSz="914400">
              <a:lnSpc>
                <a:spcPct val="80000"/>
              </a:lnSpc>
              <a:tabLst>
                <a:tab pos="2800350" algn="l"/>
                <a:tab pos="3708400" algn="ctr"/>
              </a:tabLst>
            </a:pPr>
            <a:r>
              <a:rPr lang="en-US" altLang="zh-CN" dirty="0"/>
              <a:t>Deadlock exists, consisting of processes </a:t>
            </a:r>
            <a:r>
              <a:rPr lang="en-US" altLang="zh-CN" i="1" dirty="0"/>
              <a:t>P</a:t>
            </a:r>
            <a:r>
              <a:rPr lang="en-US" altLang="zh-CN" baseline="-25000" dirty="0"/>
              <a:t>1</a:t>
            </a:r>
            <a:r>
              <a:rPr lang="en-US" altLang="zh-CN" dirty="0"/>
              <a:t>, </a:t>
            </a:r>
            <a:r>
              <a:rPr lang="en-US" altLang="zh-CN" baseline="-25000" dirty="0"/>
              <a:t> </a:t>
            </a:r>
            <a:r>
              <a:rPr lang="en-US" altLang="zh-CN" i="1" dirty="0"/>
              <a:t>P</a:t>
            </a:r>
            <a:r>
              <a:rPr lang="en-US" altLang="zh-CN" baseline="-25000" dirty="0"/>
              <a:t>2</a:t>
            </a:r>
            <a:r>
              <a:rPr lang="en-US" altLang="zh-CN" dirty="0"/>
              <a:t>, </a:t>
            </a:r>
            <a:r>
              <a:rPr lang="en-US" altLang="zh-CN" i="1" dirty="0"/>
              <a:t>P</a:t>
            </a:r>
            <a:r>
              <a:rPr lang="en-US" altLang="zh-CN" baseline="-25000" dirty="0"/>
              <a:t>3</a:t>
            </a:r>
            <a:r>
              <a:rPr lang="en-US" altLang="zh-CN" dirty="0"/>
              <a:t>, and </a:t>
            </a:r>
            <a:r>
              <a:rPr lang="en-US" altLang="zh-CN" i="1" dirty="0"/>
              <a:t>P</a:t>
            </a:r>
            <a:r>
              <a:rPr lang="en-US" altLang="zh-CN" baseline="-25000" dirty="0"/>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67">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46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p:txBody>
          <a:bodyPr vert="horz" wrap="square" lIns="91440" tIns="45720" rIns="91440" bIns="45720" anchor="b" anchorCtr="0"/>
          <a:lstStyle/>
          <a:p>
            <a:pPr eaLnBrk="1" hangingPunct="1"/>
            <a:r>
              <a:rPr lang="en-US" altLang="zh-CN" dirty="0"/>
              <a:t>Detection-Algorithm Usage</a:t>
            </a:r>
          </a:p>
        </p:txBody>
      </p:sp>
      <p:sp>
        <p:nvSpPr>
          <p:cNvPr id="63491" name="Rectangle 3"/>
          <p:cNvSpPr>
            <a:spLocks noGrp="1"/>
          </p:cNvSpPr>
          <p:nvPr>
            <p:ph idx="1"/>
          </p:nvPr>
        </p:nvSpPr>
        <p:spPr>
          <a:xfrm>
            <a:off x="654050" y="1431925"/>
            <a:ext cx="8229600" cy="4530725"/>
          </a:xfrm>
        </p:spPr>
        <p:txBody>
          <a:bodyPr vert="horz" wrap="square" lIns="91440" tIns="45720" rIns="91440" bIns="45720" anchor="t" anchorCtr="0"/>
          <a:lstStyle/>
          <a:p>
            <a:r>
              <a:rPr lang="en-US" altLang="zh-CN" dirty="0"/>
              <a:t>When, and how often, to invoke depends on</a:t>
            </a:r>
            <a:r>
              <a:rPr lang="zh-CN" altLang="en-US" dirty="0"/>
              <a:t>（调用的时间和频率取决于）</a:t>
            </a:r>
            <a:r>
              <a:rPr lang="en-US" altLang="zh-CN" dirty="0"/>
              <a:t>:</a:t>
            </a:r>
          </a:p>
          <a:p>
            <a:pPr lvl="1"/>
            <a:r>
              <a:rPr lang="en-US" altLang="zh-CN" dirty="0"/>
              <a:t>How often a deadlock is likely to occur?</a:t>
            </a:r>
            <a:r>
              <a:rPr lang="zh-CN" altLang="en-US" dirty="0"/>
              <a:t>（死锁发生的频率有多高</a:t>
            </a:r>
            <a:r>
              <a:rPr lang="en-US" altLang="zh-CN" dirty="0"/>
              <a:t>?</a:t>
            </a:r>
            <a:r>
              <a:rPr lang="zh-CN" altLang="en-US" dirty="0"/>
              <a:t>）</a:t>
            </a:r>
            <a:endParaRPr lang="en-US" altLang="zh-CN" dirty="0"/>
          </a:p>
          <a:p>
            <a:pPr lvl="1"/>
            <a:r>
              <a:rPr lang="en-US" altLang="zh-CN" dirty="0"/>
              <a:t>How many processes will need to be rolled back?</a:t>
            </a:r>
            <a:r>
              <a:rPr lang="zh-CN" altLang="en-US" dirty="0"/>
              <a:t>（需要回滚多少进程？）</a:t>
            </a:r>
            <a:endParaRPr lang="en-US" altLang="zh-CN" dirty="0"/>
          </a:p>
          <a:p>
            <a:pPr lvl="2"/>
            <a:r>
              <a:rPr lang="en-US" altLang="zh-CN" dirty="0"/>
              <a:t>one for each disjoint cycle</a:t>
            </a:r>
            <a:r>
              <a:rPr lang="zh-CN" altLang="en-US" dirty="0"/>
              <a:t>（每个不相交的循环一个）</a:t>
            </a:r>
            <a:br>
              <a:rPr lang="en-US" altLang="zh-CN" dirty="0"/>
            </a:br>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idx="4294967295"/>
          </p:nvPr>
        </p:nvSpPr>
        <p:spPr/>
        <p:txBody>
          <a:bodyPr vert="horz" wrap="square" lIns="91440" tIns="45720" rIns="91440" bIns="45720" anchor="b" anchorCtr="0"/>
          <a:lstStyle/>
          <a:p>
            <a:pPr eaLnBrk="1" hangingPunct="1"/>
            <a:r>
              <a:rPr lang="en-US" altLang="zh-CN" dirty="0"/>
              <a:t>Detection-Algorithm Usage</a:t>
            </a:r>
          </a:p>
        </p:txBody>
      </p:sp>
      <p:sp>
        <p:nvSpPr>
          <p:cNvPr id="64515" name="Rectangle 3"/>
          <p:cNvSpPr>
            <a:spLocks noGrp="1"/>
          </p:cNvSpPr>
          <p:nvPr>
            <p:ph type="body" idx="4294967295"/>
          </p:nvPr>
        </p:nvSpPr>
        <p:spPr/>
        <p:txBody>
          <a:bodyPr vert="horz" wrap="square" lIns="91440" tIns="45720" rIns="91440" bIns="45720" anchor="t" anchorCtr="0"/>
          <a:lstStyle/>
          <a:p>
            <a:r>
              <a:rPr lang="en-US" altLang="zh-CN" dirty="0"/>
              <a:t>We can invoke deadlock detection algorithm every time a  resource request cannot be granted immediately.</a:t>
            </a:r>
            <a:r>
              <a:rPr lang="zh-CN" altLang="en-US" dirty="0"/>
              <a:t>（在每次不能立即授予资源请求时调用死锁检测算法）</a:t>
            </a:r>
            <a:endParaRPr lang="en-US" altLang="zh-CN" dirty="0"/>
          </a:p>
          <a:p>
            <a:pPr lvl="1"/>
            <a:r>
              <a:rPr lang="en-US" altLang="zh-CN" dirty="0"/>
              <a:t>Lead to a considerable overhead in computation time.</a:t>
            </a:r>
          </a:p>
          <a:p>
            <a:r>
              <a:rPr lang="en-US" altLang="zh-CN" dirty="0"/>
              <a:t>A less expensive alternative is to invoke the algorithm at less frequent intervals.</a:t>
            </a:r>
            <a:r>
              <a:rPr lang="zh-CN" altLang="en-US" dirty="0"/>
              <a:t>（更简单的方法：）</a:t>
            </a:r>
            <a:endParaRPr lang="en-US" altLang="zh-CN" dirty="0"/>
          </a:p>
          <a:p>
            <a:pPr lvl="1"/>
            <a:r>
              <a:rPr lang="en-US" altLang="zh-CN" dirty="0"/>
              <a:t>Once per hour</a:t>
            </a:r>
            <a:r>
              <a:rPr lang="zh-CN" altLang="en-US" dirty="0"/>
              <a:t>（每小时）</a:t>
            </a:r>
            <a:endParaRPr lang="en-US" altLang="zh-CN" dirty="0"/>
          </a:p>
          <a:p>
            <a:pPr lvl="1"/>
            <a:r>
              <a:rPr lang="en-US" altLang="zh-CN" dirty="0"/>
              <a:t>Whenever CPU utilization drops below 40%.</a:t>
            </a:r>
            <a:r>
              <a:rPr lang="zh-CN" altLang="en-US" dirty="0"/>
              <a:t>（</a:t>
            </a:r>
            <a:r>
              <a:rPr lang="en-US" altLang="zh-CN" dirty="0"/>
              <a:t>CPU</a:t>
            </a:r>
            <a:r>
              <a:rPr lang="zh-CN" altLang="en-US" dirty="0"/>
              <a:t>利用率低于</a:t>
            </a:r>
            <a:r>
              <a:rPr lang="en-US" altLang="zh-CN" dirty="0"/>
              <a:t>40%</a:t>
            </a:r>
            <a:r>
              <a:rPr lang="zh-CN" altLang="en-US"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5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742950" y="350838"/>
            <a:ext cx="8763000" cy="457200"/>
          </a:xfrm>
        </p:spPr>
        <p:txBody>
          <a:bodyPr vert="horz" wrap="square" lIns="91440" tIns="45720" rIns="91440" bIns="45720" anchor="b" anchorCtr="0"/>
          <a:lstStyle/>
          <a:p>
            <a:pPr eaLnBrk="1" hangingPunct="1"/>
            <a:br>
              <a:rPr lang="en-US" altLang="zh-CN" sz="2700" dirty="0"/>
            </a:br>
            <a:r>
              <a:rPr lang="en-US" altLang="zh-CN" sz="2700" dirty="0"/>
              <a:t>Recovery from Deadlock:  Process Termination</a:t>
            </a:r>
          </a:p>
        </p:txBody>
      </p:sp>
      <p:sp>
        <p:nvSpPr>
          <p:cNvPr id="65539" name="Rectangle 3"/>
          <p:cNvSpPr>
            <a:spLocks noGrp="1"/>
          </p:cNvSpPr>
          <p:nvPr>
            <p:ph idx="1"/>
          </p:nvPr>
        </p:nvSpPr>
        <p:spPr>
          <a:xfrm>
            <a:off x="273050" y="974725"/>
            <a:ext cx="8870950" cy="4530725"/>
          </a:xfrm>
        </p:spPr>
        <p:txBody>
          <a:bodyPr vert="horz" wrap="square" lIns="91440" tIns="45720" rIns="91440" bIns="45720" anchor="t" anchorCtr="0"/>
          <a:lstStyle/>
          <a:p>
            <a:r>
              <a:rPr lang="en-US" altLang="zh-CN" dirty="0"/>
              <a:t>Abort all deadlocked processes</a:t>
            </a:r>
            <a:r>
              <a:rPr lang="zh-CN" altLang="en-US" dirty="0"/>
              <a:t>（中止所有死锁进程）</a:t>
            </a:r>
            <a:endParaRPr lang="en-US" altLang="zh-CN" dirty="0"/>
          </a:p>
          <a:p>
            <a:r>
              <a:rPr lang="en-US" altLang="zh-CN" dirty="0"/>
              <a:t>Abort one process at a time until the deadlock cycle is eliminated</a:t>
            </a:r>
            <a:r>
              <a:rPr lang="zh-CN" altLang="en-US" dirty="0"/>
              <a:t>（每次中止一个进程，直到死锁周期消除）</a:t>
            </a:r>
            <a:endParaRPr lang="en-US" altLang="zh-CN" dirty="0"/>
          </a:p>
          <a:p>
            <a:r>
              <a:rPr lang="en-US" altLang="zh-CN" dirty="0"/>
              <a:t>In which order should we choose to abort?</a:t>
            </a:r>
            <a:r>
              <a:rPr lang="zh-CN" altLang="en-US" dirty="0"/>
              <a:t>（按什么顺序中止）</a:t>
            </a:r>
            <a:endParaRPr lang="en-US" altLang="zh-CN" dirty="0"/>
          </a:p>
          <a:p>
            <a:pPr lvl="1"/>
            <a:r>
              <a:rPr lang="en-US" altLang="zh-CN" dirty="0"/>
              <a:t>Priority of the process</a:t>
            </a:r>
          </a:p>
          <a:p>
            <a:pPr lvl="1"/>
            <a:r>
              <a:rPr lang="en-US" altLang="zh-CN" dirty="0"/>
              <a:t>How long process has computed, and how much longer to completion</a:t>
            </a:r>
          </a:p>
          <a:p>
            <a:pPr lvl="1"/>
            <a:r>
              <a:rPr lang="en-US" altLang="zh-CN" dirty="0"/>
              <a:t>Resources the process has used</a:t>
            </a:r>
          </a:p>
          <a:p>
            <a:pPr lvl="1"/>
            <a:r>
              <a:rPr lang="en-US" altLang="zh-CN" dirty="0"/>
              <a:t>Resources process needs to complete</a:t>
            </a:r>
          </a:p>
          <a:p>
            <a:pPr lvl="1"/>
            <a:r>
              <a:rPr lang="en-US" altLang="zh-CN" dirty="0"/>
              <a:t>How many processes will need to be terminated</a:t>
            </a:r>
          </a:p>
          <a:p>
            <a:pPr lvl="1"/>
            <a:r>
              <a:rPr lang="en-US" altLang="zh-CN" dirty="0"/>
              <a:t>Is process interactive or batch?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53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53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53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53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5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1138238" y="312738"/>
            <a:ext cx="8020050" cy="457200"/>
          </a:xfrm>
        </p:spPr>
        <p:txBody>
          <a:bodyPr vert="horz" wrap="square" lIns="91440" tIns="45720" rIns="91440" bIns="45720" anchor="b" anchorCtr="0"/>
          <a:lstStyle/>
          <a:p>
            <a:pPr eaLnBrk="1" hangingPunct="1"/>
            <a:r>
              <a:rPr lang="en-US" altLang="zh-CN" sz="2700" dirty="0"/>
              <a:t>Recovery from Deadlock: Resource Preemption</a:t>
            </a:r>
          </a:p>
        </p:txBody>
      </p:sp>
      <p:sp>
        <p:nvSpPr>
          <p:cNvPr id="66563" name="Rectangle 3"/>
          <p:cNvSpPr>
            <a:spLocks noGrp="1"/>
          </p:cNvSpPr>
          <p:nvPr>
            <p:ph idx="1"/>
          </p:nvPr>
        </p:nvSpPr>
        <p:spPr>
          <a:xfrm>
            <a:off x="827088" y="1482725"/>
            <a:ext cx="7854950" cy="4483100"/>
          </a:xfrm>
        </p:spPr>
        <p:txBody>
          <a:bodyPr vert="horz" wrap="square" lIns="91440" tIns="45720" rIns="91440" bIns="45720" anchor="t" anchorCtr="0"/>
          <a:lstStyle/>
          <a:p>
            <a:r>
              <a:rPr lang="en-US" altLang="zh-CN" dirty="0"/>
              <a:t>Selecting a victim – minimize cost</a:t>
            </a:r>
            <a:br>
              <a:rPr lang="en-US" altLang="zh-CN" dirty="0"/>
            </a:br>
            <a:endParaRPr lang="en-US" altLang="zh-CN" dirty="0"/>
          </a:p>
          <a:p>
            <a:r>
              <a:rPr lang="en-US" altLang="zh-CN" dirty="0"/>
              <a:t>Rollback – return to some safe state, restart process for that state</a:t>
            </a:r>
            <a:r>
              <a:rPr lang="zh-CN" altLang="en-US" dirty="0"/>
              <a:t>（回滚</a:t>
            </a:r>
            <a:r>
              <a:rPr lang="en-US" altLang="zh-CN" dirty="0"/>
              <a:t>-</a:t>
            </a:r>
            <a:r>
              <a:rPr lang="zh-CN" altLang="en-US" dirty="0"/>
              <a:t>返回到某个安全状态，重新启动该状态的进程）</a:t>
            </a:r>
            <a:br>
              <a:rPr lang="en-US" altLang="zh-CN" dirty="0"/>
            </a:br>
            <a:endParaRPr lang="en-US" altLang="zh-CN" dirty="0"/>
          </a:p>
          <a:p>
            <a:r>
              <a:rPr lang="en-US" altLang="zh-CN" dirty="0"/>
              <a:t>Starvation –  same process may always be picked as victim, include number of rollback in cost factor</a:t>
            </a:r>
            <a:r>
              <a:rPr lang="zh-CN" altLang="en-US" dirty="0"/>
              <a:t>（饥饿</a:t>
            </a:r>
            <a:r>
              <a:rPr lang="en-US" altLang="zh-CN" dirty="0"/>
              <a:t>-</a:t>
            </a:r>
            <a:r>
              <a:rPr lang="zh-CN" altLang="en-US" dirty="0"/>
              <a:t>同一进程可能总是被选为受害者）</a:t>
            </a: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b" anchorCtr="0"/>
          <a:lstStyle/>
          <a:p>
            <a:pPr eaLnBrk="1" hangingPunct="1"/>
            <a:r>
              <a:rPr lang="en-US" altLang="zh-CN" dirty="0"/>
              <a:t>Chapter 7:  Deadlocks(</a:t>
            </a:r>
            <a:r>
              <a:rPr lang="zh-CN" altLang="en-US" dirty="0"/>
              <a:t>死锁</a:t>
            </a:r>
            <a:r>
              <a:rPr lang="en-US" altLang="zh-CN" dirty="0"/>
              <a:t>)</a:t>
            </a:r>
            <a:endParaRPr lang="zh-CN" altLang="en-US" dirty="0">
              <a:ea typeface="宋体" panose="02010600030101010101" pitchFamily="2" charset="-122"/>
            </a:endParaRPr>
          </a:p>
        </p:txBody>
      </p:sp>
      <p:sp>
        <p:nvSpPr>
          <p:cNvPr id="4099" name="Rectangle 3"/>
          <p:cNvSpPr>
            <a:spLocks noGrp="1"/>
          </p:cNvSpPr>
          <p:nvPr>
            <p:ph idx="1"/>
          </p:nvPr>
        </p:nvSpPr>
        <p:spPr/>
        <p:txBody>
          <a:bodyPr vert="horz" wrap="square" lIns="91440" tIns="45720" rIns="91440" bIns="45720" anchor="t" anchorCtr="0"/>
          <a:lstStyle/>
          <a:p>
            <a:pPr>
              <a:buSzPct val="85000"/>
            </a:pPr>
            <a:r>
              <a:rPr lang="en-US" altLang="zh-CN" dirty="0"/>
              <a:t>The Deadlock Problem</a:t>
            </a:r>
          </a:p>
          <a:p>
            <a:pPr>
              <a:buSzPct val="85000"/>
            </a:pPr>
            <a:r>
              <a:rPr lang="en-US" altLang="zh-CN" dirty="0"/>
              <a:t>System Model</a:t>
            </a:r>
          </a:p>
          <a:p>
            <a:pPr>
              <a:buSzPct val="85000"/>
            </a:pPr>
            <a:r>
              <a:rPr lang="en-US" altLang="zh-CN" dirty="0"/>
              <a:t>Deadlock Characterization</a:t>
            </a:r>
          </a:p>
          <a:p>
            <a:pPr>
              <a:buSzPct val="85000"/>
            </a:pPr>
            <a:r>
              <a:rPr lang="en-US" altLang="zh-CN" dirty="0"/>
              <a:t>Methods for Handling Deadlocks</a:t>
            </a:r>
          </a:p>
          <a:p>
            <a:r>
              <a:rPr lang="en-US" altLang="zh-CN" dirty="0"/>
              <a:t>Deadlock Prevention</a:t>
            </a:r>
          </a:p>
          <a:p>
            <a:pPr>
              <a:buSzPct val="85000"/>
            </a:pPr>
            <a:r>
              <a:rPr lang="en-US" altLang="zh-CN" dirty="0"/>
              <a:t>Deadlock Avoidance</a:t>
            </a:r>
          </a:p>
          <a:p>
            <a:pPr>
              <a:buSzPct val="85000"/>
            </a:pPr>
            <a:r>
              <a:rPr lang="en-US" altLang="zh-CN" dirty="0"/>
              <a:t>Deadlock Detection </a:t>
            </a:r>
          </a:p>
          <a:p>
            <a:pPr>
              <a:buSzPct val="85000"/>
            </a:pPr>
            <a:r>
              <a:rPr lang="en-US" altLang="zh-CN" dirty="0"/>
              <a:t>Recovery from Deadlock </a:t>
            </a:r>
          </a:p>
        </p:txBody>
      </p:sp>
      <p:sp>
        <p:nvSpPr>
          <p:cNvPr id="5" name="文本框 4"/>
          <p:cNvSpPr txBox="1"/>
          <p:nvPr/>
        </p:nvSpPr>
        <p:spPr>
          <a:xfrm>
            <a:off x="5810250" y="1240155"/>
            <a:ext cx="271145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为什么：死锁为什么产生</a:t>
            </a:r>
            <a:endParaRPr lang="zh-CN" altLang="en-US">
              <a:solidFill>
                <a:srgbClr val="FF0000"/>
              </a:solidFill>
              <a:latin typeface="黑体" panose="02010609060101010101" charset="-122"/>
              <a:ea typeface="黑体" panose="02010609060101010101" charset="-122"/>
            </a:endParaRPr>
          </a:p>
        </p:txBody>
      </p:sp>
      <p:sp>
        <p:nvSpPr>
          <p:cNvPr id="6" name="文本框 5"/>
          <p:cNvSpPr txBox="1"/>
          <p:nvPr/>
        </p:nvSpPr>
        <p:spPr>
          <a:xfrm>
            <a:off x="5811520" y="1608455"/>
            <a:ext cx="2808605" cy="1198880"/>
          </a:xfrm>
          <a:prstGeom prst="rect">
            <a:avLst/>
          </a:prstGeom>
          <a:noFill/>
        </p:spPr>
        <p:txBody>
          <a:bodyPr wrap="square" rtlCol="0">
            <a:spAutoFit/>
          </a:bodyPr>
          <a:lstStyle/>
          <a:p>
            <a:r>
              <a:rPr lang="zh-CN" altLang="en-US" b="1">
                <a:solidFill>
                  <a:srgbClr val="FF0000"/>
                </a:solidFill>
                <a:latin typeface="黑体" panose="02010609060101010101" charset="-122"/>
                <a:ea typeface="黑体" panose="02010609060101010101" charset="-122"/>
              </a:rPr>
              <a:t>是什么：</a:t>
            </a:r>
            <a:r>
              <a:rPr lang="zh-CN" altLang="en-US">
                <a:solidFill>
                  <a:srgbClr val="FF0000"/>
                </a:solidFill>
                <a:latin typeface="黑体" panose="02010609060101010101" charset="-122"/>
                <a:ea typeface="黑体" panose="02010609060101010101" charset="-122"/>
              </a:rPr>
              <a:t>死锁的特点？</a:t>
            </a:r>
          </a:p>
          <a:p>
            <a:r>
              <a:rPr lang="zh-CN" altLang="en-US">
                <a:solidFill>
                  <a:srgbClr val="FF0000"/>
                </a:solidFill>
                <a:latin typeface="黑体" panose="02010609060101010101" charset="-122"/>
                <a:ea typeface="黑体" panose="02010609060101010101" charset="-122"/>
              </a:rPr>
              <a:t>四大必要条件：互斥、占有并等待、非抢占、循环等待</a:t>
            </a:r>
          </a:p>
        </p:txBody>
      </p:sp>
      <p:sp>
        <p:nvSpPr>
          <p:cNvPr id="7" name="文本框 6"/>
          <p:cNvSpPr txBox="1"/>
          <p:nvPr/>
        </p:nvSpPr>
        <p:spPr>
          <a:xfrm>
            <a:off x="5811520" y="2807335"/>
            <a:ext cx="3383280" cy="258445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怎么办：</a:t>
            </a:r>
            <a:r>
              <a:rPr lang="zh-CN" altLang="en-US" sz="1800">
                <a:solidFill>
                  <a:srgbClr val="FF0000"/>
                </a:solidFill>
                <a:latin typeface="黑体" panose="02010609060101010101" charset="-122"/>
                <a:ea typeface="黑体" panose="02010609060101010101" charset="-122"/>
              </a:rPr>
              <a:t>如何解决</a:t>
            </a:r>
            <a:r>
              <a:rPr lang="zh-CN" altLang="en-US">
                <a:solidFill>
                  <a:srgbClr val="FF0000"/>
                </a:solidFill>
                <a:latin typeface="黑体" panose="02010609060101010101" charset="-122"/>
                <a:ea typeface="黑体" panose="02010609060101010101" charset="-122"/>
              </a:rPr>
              <a:t>死锁？</a:t>
            </a:r>
          </a:p>
          <a:p>
            <a:r>
              <a:rPr lang="zh-CN" altLang="en-US" b="1">
                <a:solidFill>
                  <a:srgbClr val="FF0000"/>
                </a:solidFill>
                <a:latin typeface="黑体" panose="02010609060101010101" charset="-122"/>
                <a:ea typeface="黑体" panose="02010609060101010101" charset="-122"/>
              </a:rPr>
              <a:t>死锁预防</a:t>
            </a:r>
            <a:r>
              <a:rPr lang="zh-CN" altLang="en-US">
                <a:solidFill>
                  <a:srgbClr val="FF0000"/>
                </a:solidFill>
                <a:latin typeface="黑体" panose="02010609060101010101" charset="-122"/>
                <a:ea typeface="黑体" panose="02010609060101010101" charset="-122"/>
              </a:rPr>
              <a:t>：破坏四个必要条件</a:t>
            </a:r>
          </a:p>
          <a:p>
            <a:r>
              <a:rPr lang="zh-CN" altLang="en-US" b="1">
                <a:solidFill>
                  <a:srgbClr val="FF0000"/>
                </a:solidFill>
                <a:latin typeface="黑体" panose="02010609060101010101" charset="-122"/>
                <a:ea typeface="黑体" panose="02010609060101010101" charset="-122"/>
              </a:rPr>
              <a:t>死锁避免：</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单实例：检测环</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多实例：银行家算法</a:t>
            </a:r>
          </a:p>
          <a:p>
            <a:r>
              <a:rPr lang="zh-CN" altLang="en-US" b="1">
                <a:solidFill>
                  <a:srgbClr val="FF0000"/>
                </a:solidFill>
                <a:latin typeface="黑体" panose="02010609060101010101" charset="-122"/>
                <a:ea typeface="黑体" panose="02010609060101010101" charset="-122"/>
              </a:rPr>
              <a:t>死锁检测：</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单实例：检测环</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多实例：死锁检测算法</a:t>
            </a:r>
          </a:p>
          <a:p>
            <a:r>
              <a:rPr lang="zh-CN" altLang="en-US" b="1">
                <a:solidFill>
                  <a:srgbClr val="FF0000"/>
                </a:solidFill>
                <a:latin typeface="黑体" panose="02010609060101010101" charset="-122"/>
                <a:ea typeface="黑体" panose="02010609060101010101" charset="-122"/>
              </a:rPr>
              <a:t>死锁恢复：</a:t>
            </a:r>
            <a:r>
              <a:rPr lang="zh-CN" altLang="en-US">
                <a:solidFill>
                  <a:srgbClr val="FF0000"/>
                </a:solidFill>
                <a:latin typeface="黑体" panose="02010609060101010101" charset="-122"/>
                <a:ea typeface="黑体" panose="02010609060101010101" charset="-122"/>
              </a:rPr>
              <a:t>牺牲某个</a:t>
            </a:r>
            <a:r>
              <a:rPr lang="en-US" altLang="zh-CN">
                <a:solidFill>
                  <a:srgbClr val="FF0000"/>
                </a:solidFill>
                <a:latin typeface="黑体" panose="02010609060101010101" charset="-122"/>
                <a:ea typeface="黑体" panose="02010609060101010101" charset="-122"/>
              </a:rPr>
              <a:t>/</a:t>
            </a:r>
            <a:r>
              <a:rPr lang="zh-CN" altLang="en-US">
                <a:solidFill>
                  <a:srgbClr val="FF0000"/>
                </a:solidFill>
                <a:latin typeface="黑体" panose="02010609060101010101" charset="-122"/>
                <a:ea typeface="黑体" panose="02010609060101010101" charset="-122"/>
              </a:rPr>
              <a:t>多个进程</a:t>
            </a:r>
          </a:p>
        </p:txBody>
      </p:sp>
      <p:sp>
        <p:nvSpPr>
          <p:cNvPr id="9" name="右大括号 8"/>
          <p:cNvSpPr/>
          <p:nvPr/>
        </p:nvSpPr>
        <p:spPr>
          <a:xfrm>
            <a:off x="5657215" y="2807335"/>
            <a:ext cx="230505" cy="2228850"/>
          </a:xfrm>
          <a:prstGeom prst="rightBrace">
            <a:avLst>
              <a:gd name="adj1" fmla="val 50413"/>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0" name="右大括号 9"/>
          <p:cNvSpPr/>
          <p:nvPr/>
        </p:nvSpPr>
        <p:spPr>
          <a:xfrm>
            <a:off x="5655945" y="1800860"/>
            <a:ext cx="230505" cy="718185"/>
          </a:xfrm>
          <a:prstGeom prst="rightBrace">
            <a:avLst>
              <a:gd name="adj1" fmla="val 40495"/>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1" name="右大括号 10"/>
          <p:cNvSpPr/>
          <p:nvPr/>
        </p:nvSpPr>
        <p:spPr>
          <a:xfrm>
            <a:off x="5655945" y="1271270"/>
            <a:ext cx="230505" cy="337185"/>
          </a:xfrm>
          <a:prstGeom prst="rightBrace">
            <a:avLst>
              <a:gd name="adj1" fmla="val 20936"/>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9" grpId="0" bldLvl="0" animBg="1"/>
      <p:bldP spid="9" grpId="1" animBg="1"/>
      <p:bldP spid="10" grpId="0" bldLvl="0" animBg="1"/>
      <p:bldP spid="10" grpId="1" animBg="1"/>
      <p:bldP spid="11" grpId="0" bldLvl="0" animBg="1"/>
      <p:bldP spid="11"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死锁与安全状态的关系是（  ）</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A </a:t>
            </a:r>
            <a:r>
              <a:rPr lang="zh-CN" altLang="en-US" dirty="0">
                <a:solidFill>
                  <a:schemeClr val="tx1"/>
                </a:solidFill>
                <a:latin typeface="Helvetica" pitchFamily="34" charset="0"/>
                <a:sym typeface="+mn-ea"/>
              </a:rPr>
              <a:t>死锁状态一定是不安全状态</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不安全状态就是死锁状态</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C </a:t>
            </a:r>
            <a:r>
              <a:rPr lang="zh-CN" altLang="en-US" dirty="0">
                <a:solidFill>
                  <a:schemeClr val="tx1"/>
                </a:solidFill>
                <a:latin typeface="Helvetica" pitchFamily="34" charset="0"/>
                <a:sym typeface="+mn-ea"/>
              </a:rPr>
              <a:t>安全状态有可能成为死锁状态</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死锁状态有可能是安全状态</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latin typeface="Helvetica" pitchFamily="34" charset="0"/>
                <a:sym typeface="+mn-ea"/>
              </a:rPr>
              <a:t>答案：</a:t>
            </a:r>
            <a:r>
              <a:rPr lang="en-US" altLang="zh-CN" dirty="0">
                <a:latin typeface="Helvetica" pitchFamily="34" charset="0"/>
                <a:sym typeface="+mn-ea"/>
              </a:rPr>
              <a:t>A</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94581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设系统中有</a:t>
            </a:r>
            <a:r>
              <a:rPr lang="en-US" altLang="zh-CN" dirty="0">
                <a:latin typeface="Helvetica" pitchFamily="34" charset="0"/>
                <a:sym typeface="+mn-ea"/>
              </a:rPr>
              <a:t>N</a:t>
            </a:r>
            <a:r>
              <a:rPr lang="zh-CN" altLang="en-US" dirty="0">
                <a:latin typeface="Helvetica" pitchFamily="34" charset="0"/>
                <a:sym typeface="+mn-ea"/>
              </a:rPr>
              <a:t>（</a:t>
            </a:r>
            <a:r>
              <a:rPr lang="en-US" altLang="zh-CN" dirty="0">
                <a:latin typeface="Helvetica" pitchFamily="34" charset="0"/>
                <a:sym typeface="+mn-ea"/>
              </a:rPr>
              <a:t>N&gt;2</a:t>
            </a:r>
            <a:r>
              <a:rPr lang="zh-CN" altLang="en-US" dirty="0">
                <a:latin typeface="Helvetica" pitchFamily="34" charset="0"/>
                <a:sym typeface="+mn-ea"/>
              </a:rPr>
              <a:t>）个进程，则系统中最不可能的是有</a:t>
            </a:r>
            <a:r>
              <a:rPr lang="zh-CN" altLang="en-US" dirty="0">
                <a:solidFill>
                  <a:schemeClr val="tx1"/>
                </a:solidFill>
                <a:latin typeface="Helvetica" pitchFamily="34" charset="0"/>
                <a:sym typeface="+mn-ea"/>
              </a:rPr>
              <a:t>（  ）个进程处于死锁状态</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0</a:t>
            </a:r>
          </a:p>
          <a:p>
            <a:pPr>
              <a:spcBef>
                <a:spcPct val="50000"/>
              </a:spcBef>
              <a:buFont typeface="Arial" panose="020B0604020202020204" pitchFamily="34" charset="0"/>
              <a:buChar char="•"/>
            </a:pPr>
            <a:r>
              <a:rPr lang="en-US" altLang="zh-CN" dirty="0">
                <a:latin typeface="Helvetica" pitchFamily="34" charset="0"/>
                <a:sym typeface="+mn-ea"/>
              </a:rPr>
              <a:t>B 1</a:t>
            </a:r>
          </a:p>
          <a:p>
            <a:pPr>
              <a:spcBef>
                <a:spcPct val="50000"/>
              </a:spcBef>
              <a:buFont typeface="Arial" panose="020B0604020202020204" pitchFamily="34" charset="0"/>
              <a:buChar char="•"/>
            </a:pPr>
            <a:r>
              <a:rPr lang="en-US" altLang="zh-CN" dirty="0">
                <a:latin typeface="Helvetica" pitchFamily="34" charset="0"/>
                <a:sym typeface="+mn-ea"/>
              </a:rPr>
              <a:t>C 2</a:t>
            </a:r>
          </a:p>
          <a:p>
            <a:pPr>
              <a:spcBef>
                <a:spcPct val="50000"/>
              </a:spcBef>
              <a:buFont typeface="Arial" panose="020B0604020202020204" pitchFamily="34" charset="0"/>
              <a:buChar char="•"/>
            </a:pPr>
            <a:r>
              <a:rPr lang="en-US" altLang="zh-CN" dirty="0">
                <a:latin typeface="Helvetica" pitchFamily="34" charset="0"/>
                <a:sym typeface="+mn-ea"/>
              </a:rPr>
              <a:t>D M</a:t>
            </a:r>
            <a:r>
              <a:rPr lang="zh-CN" altLang="en-US" dirty="0">
                <a:latin typeface="Helvetica" pitchFamily="34" charset="0"/>
                <a:sym typeface="+mn-ea"/>
              </a:rPr>
              <a:t>（</a:t>
            </a:r>
            <a:r>
              <a:rPr lang="en-US" altLang="zh-CN" dirty="0">
                <a:latin typeface="Helvetica" pitchFamily="34" charset="0"/>
                <a:sym typeface="+mn-ea"/>
              </a:rPr>
              <a:t>2&lt;M&lt;=N</a:t>
            </a:r>
            <a:r>
              <a:rPr lang="zh-CN" altLang="en-US" dirty="0">
                <a:latin typeface="Helvetica" pitchFamily="34" charset="0"/>
                <a:sym typeface="+mn-ea"/>
              </a:rPr>
              <a:t>）</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1976603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假设现在有</a:t>
            </a:r>
            <a:r>
              <a:rPr lang="en-US" altLang="zh-CN" dirty="0">
                <a:solidFill>
                  <a:schemeClr val="tx1"/>
                </a:solidFill>
                <a:latin typeface="Helvetica" pitchFamily="34" charset="0"/>
                <a:sym typeface="+mn-ea"/>
              </a:rPr>
              <a:t>p</a:t>
            </a:r>
            <a:r>
              <a:rPr lang="zh-CN" altLang="en-US" dirty="0">
                <a:solidFill>
                  <a:schemeClr val="tx1"/>
                </a:solidFill>
                <a:latin typeface="Helvetica" pitchFamily="34" charset="0"/>
                <a:sym typeface="+mn-ea"/>
              </a:rPr>
              <a:t>个进程，每个进程最多需要</a:t>
            </a:r>
            <a:r>
              <a:rPr lang="en-US" altLang="zh-CN" dirty="0">
                <a:solidFill>
                  <a:schemeClr val="tx1"/>
                </a:solidFill>
                <a:latin typeface="Helvetica" pitchFamily="34" charset="0"/>
                <a:sym typeface="+mn-ea"/>
              </a:rPr>
              <a:t>m</a:t>
            </a:r>
            <a:r>
              <a:rPr lang="zh-CN" altLang="en-US" dirty="0">
                <a:solidFill>
                  <a:schemeClr val="tx1"/>
                </a:solidFill>
                <a:latin typeface="Helvetica" pitchFamily="34" charset="0"/>
                <a:sym typeface="+mn-ea"/>
              </a:rPr>
              <a:t>个资源，请问资源个数为多少个时，死锁一定不会发生？</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答案：如果一个进程有</a:t>
            </a:r>
            <a:r>
              <a:rPr lang="en-US" altLang="zh-CN" dirty="0">
                <a:solidFill>
                  <a:schemeClr val="tx1"/>
                </a:solidFill>
                <a:latin typeface="Helvetica" pitchFamily="34" charset="0"/>
                <a:sym typeface="+mn-ea"/>
              </a:rPr>
              <a:t>m</a:t>
            </a:r>
            <a:r>
              <a:rPr lang="zh-CN" altLang="en-US" dirty="0">
                <a:solidFill>
                  <a:schemeClr val="tx1"/>
                </a:solidFill>
                <a:latin typeface="Helvetica" pitchFamily="34" charset="0"/>
                <a:sym typeface="+mn-ea"/>
              </a:rPr>
              <a:t>个资源，它就能够结束，不会使自己陷入死锁中。因此，最差的情况是每个进程有</a:t>
            </a:r>
            <a:r>
              <a:rPr lang="en-US" altLang="zh-CN" dirty="0">
                <a:solidFill>
                  <a:schemeClr val="tx1"/>
                </a:solidFill>
                <a:latin typeface="Helvetica" pitchFamily="34" charset="0"/>
                <a:sym typeface="+mn-ea"/>
              </a:rPr>
              <a:t>m-1</a:t>
            </a:r>
            <a:r>
              <a:rPr lang="zh-CN" altLang="en-US" dirty="0">
                <a:solidFill>
                  <a:schemeClr val="tx1"/>
                </a:solidFill>
                <a:latin typeface="Helvetica" pitchFamily="34" charset="0"/>
                <a:sym typeface="+mn-ea"/>
              </a:rPr>
              <a:t>个资源并且需要另一个资源。如果留一下有一个资源可用，那么其中某一个进程就能够结束并释放它所有的资源，使其他进程也能结束。所以避免死锁的条件是：</a:t>
            </a:r>
            <a:r>
              <a:rPr lang="en-US" altLang="zh-CN" dirty="0">
                <a:solidFill>
                  <a:schemeClr val="tx1"/>
                </a:solidFill>
                <a:latin typeface="Helvetica" pitchFamily="34" charset="0"/>
                <a:sym typeface="+mn-ea"/>
              </a:rPr>
              <a:t>r&gt;=p(m-1)+1</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21683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一台计算机有</a:t>
            </a:r>
            <a:r>
              <a:rPr lang="en-US" altLang="zh-CN" dirty="0">
                <a:latin typeface="Helvetica" pitchFamily="34" charset="0"/>
                <a:sym typeface="+mn-ea"/>
              </a:rPr>
              <a:t>6</a:t>
            </a:r>
            <a:r>
              <a:rPr lang="zh-CN" altLang="en-US" dirty="0">
                <a:latin typeface="Helvetica" pitchFamily="34" charset="0"/>
                <a:sym typeface="+mn-ea"/>
              </a:rPr>
              <a:t>台磁带机，由</a:t>
            </a:r>
            <a:r>
              <a:rPr lang="en-US" altLang="zh-CN" dirty="0">
                <a:latin typeface="Helvetica" pitchFamily="34" charset="0"/>
                <a:sym typeface="+mn-ea"/>
              </a:rPr>
              <a:t>n</a:t>
            </a:r>
            <a:r>
              <a:rPr lang="zh-CN" altLang="en-US" dirty="0">
                <a:latin typeface="Helvetica" pitchFamily="34" charset="0"/>
                <a:sym typeface="+mn-ea"/>
              </a:rPr>
              <a:t>个进程竞争使用，每个进程可能需要两台磁带机，那么</a:t>
            </a:r>
            <a:r>
              <a:rPr lang="en-US" altLang="zh-CN" dirty="0">
                <a:latin typeface="Helvetica" pitchFamily="34" charset="0"/>
                <a:sym typeface="+mn-ea"/>
              </a:rPr>
              <a:t>n</a:t>
            </a:r>
            <a:r>
              <a:rPr lang="zh-CN" altLang="en-US" dirty="0">
                <a:latin typeface="Helvetica" pitchFamily="34" charset="0"/>
                <a:sym typeface="+mn-ea"/>
              </a:rPr>
              <a:t>是多少时，系统才没有死锁的危险？</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对于</a:t>
            </a:r>
            <a:r>
              <a:rPr lang="en-US" altLang="zh-CN" dirty="0">
                <a:latin typeface="Helvetica" pitchFamily="34" charset="0"/>
                <a:sym typeface="+mn-ea"/>
              </a:rPr>
              <a:t>3</a:t>
            </a:r>
            <a:r>
              <a:rPr lang="zh-CN" altLang="en-US" dirty="0">
                <a:solidFill>
                  <a:schemeClr val="tx1"/>
                </a:solidFill>
                <a:latin typeface="Helvetica" pitchFamily="34" charset="0"/>
                <a:sym typeface="+mn-ea"/>
              </a:rPr>
              <a:t>个进程，每个进程能够有两个驱动器。</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latin typeface="Helvetica" pitchFamily="34" charset="0"/>
                <a:sym typeface="+mn-ea"/>
              </a:rPr>
              <a:t>对于</a:t>
            </a:r>
            <a:r>
              <a:rPr lang="en-US" altLang="zh-CN" dirty="0">
                <a:latin typeface="Helvetica" pitchFamily="34" charset="0"/>
                <a:sym typeface="+mn-ea"/>
              </a:rPr>
              <a:t>4</a:t>
            </a:r>
            <a:r>
              <a:rPr lang="zh-CN" altLang="en-US" dirty="0">
                <a:latin typeface="Helvetica" pitchFamily="34" charset="0"/>
                <a:sym typeface="+mn-ea"/>
              </a:rPr>
              <a:t>个进程，驱动器可以按照（</a:t>
            </a:r>
            <a:r>
              <a:rPr lang="en-US" altLang="zh-CN" dirty="0">
                <a:latin typeface="Helvetica" pitchFamily="34" charset="0"/>
                <a:sym typeface="+mn-ea"/>
              </a:rPr>
              <a:t>2,2,1,1</a:t>
            </a:r>
            <a:r>
              <a:rPr lang="zh-CN" altLang="en-US" dirty="0">
                <a:latin typeface="Helvetica" pitchFamily="34" charset="0"/>
                <a:sym typeface="+mn-ea"/>
              </a:rPr>
              <a:t>）分配</a:t>
            </a: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对于</a:t>
            </a:r>
            <a:r>
              <a:rPr lang="en-US" altLang="zh-CN" dirty="0">
                <a:solidFill>
                  <a:schemeClr val="tx1"/>
                </a:solidFill>
                <a:latin typeface="Helvetica" pitchFamily="34" charset="0"/>
                <a:sym typeface="+mn-ea"/>
              </a:rPr>
              <a:t>5</a:t>
            </a:r>
            <a:r>
              <a:rPr lang="zh-CN" altLang="en-US" dirty="0">
                <a:solidFill>
                  <a:schemeClr val="tx1"/>
                </a:solidFill>
                <a:latin typeface="Helvetica" pitchFamily="34" charset="0"/>
                <a:sym typeface="+mn-ea"/>
              </a:rPr>
              <a:t>个进程，可以按照（</a:t>
            </a:r>
            <a:r>
              <a:rPr lang="en-US" altLang="zh-CN" dirty="0">
                <a:solidFill>
                  <a:schemeClr val="tx1"/>
                </a:solidFill>
                <a:latin typeface="Helvetica" pitchFamily="34" charset="0"/>
                <a:sym typeface="+mn-ea"/>
              </a:rPr>
              <a:t>2</a:t>
            </a:r>
            <a:r>
              <a:rPr lang="en-US" altLang="zh-CN" dirty="0">
                <a:latin typeface="Helvetica" pitchFamily="34" charset="0"/>
                <a:sym typeface="+mn-ea"/>
              </a:rPr>
              <a:t>,1,1,1,1</a:t>
            </a:r>
            <a:r>
              <a:rPr lang="zh-CN" altLang="en-US" dirty="0">
                <a:solidFill>
                  <a:schemeClr val="tx1"/>
                </a:solidFill>
                <a:latin typeface="Helvetica" pitchFamily="34" charset="0"/>
                <a:sym typeface="+mn-ea"/>
              </a:rPr>
              <a:t>）的方法进行分发</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latin typeface="Helvetica" pitchFamily="34" charset="0"/>
                <a:sym typeface="+mn-ea"/>
              </a:rPr>
              <a:t>对于</a:t>
            </a:r>
            <a:r>
              <a:rPr lang="en-US" altLang="zh-CN" dirty="0">
                <a:latin typeface="Helvetica" pitchFamily="34" charset="0"/>
                <a:sym typeface="+mn-ea"/>
              </a:rPr>
              <a:t>6</a:t>
            </a:r>
            <a:r>
              <a:rPr lang="zh-CN" altLang="en-US" dirty="0">
                <a:latin typeface="Helvetica" pitchFamily="34" charset="0"/>
                <a:sym typeface="+mn-ea"/>
              </a:rPr>
              <a:t>个进程，如果每个进程都有</a:t>
            </a:r>
            <a:r>
              <a:rPr lang="en-US" altLang="zh-CN" dirty="0">
                <a:latin typeface="Helvetica" pitchFamily="34" charset="0"/>
                <a:sym typeface="+mn-ea"/>
              </a:rPr>
              <a:t>1</a:t>
            </a:r>
            <a:r>
              <a:rPr lang="zh-CN" altLang="en-US" dirty="0">
                <a:latin typeface="Helvetica" pitchFamily="34" charset="0"/>
                <a:sym typeface="+mn-ea"/>
              </a:rPr>
              <a:t>个磁带机，，同时需要另一个磁带机，产生死锁。</a:t>
            </a: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因此，</a:t>
            </a:r>
            <a:r>
              <a:rPr lang="en-US" altLang="zh-CN" dirty="0">
                <a:solidFill>
                  <a:schemeClr val="tx1"/>
                </a:solidFill>
                <a:latin typeface="Helvetica" pitchFamily="34" charset="0"/>
                <a:sym typeface="+mn-ea"/>
              </a:rPr>
              <a:t>n&lt;6</a:t>
            </a:r>
            <a:r>
              <a:rPr lang="zh-CN" altLang="en-US" dirty="0">
                <a:solidFill>
                  <a:schemeClr val="tx1"/>
                </a:solidFill>
                <a:latin typeface="Helvetica" pitchFamily="34" charset="0"/>
                <a:sym typeface="+mn-ea"/>
              </a:rPr>
              <a:t>时系统没有死锁危险</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285698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某系统中有</a:t>
            </a:r>
            <a:r>
              <a:rPr lang="en-US" altLang="zh-CN" dirty="0">
                <a:latin typeface="Helvetica" pitchFamily="34" charset="0"/>
                <a:sym typeface="+mn-ea"/>
              </a:rPr>
              <a:t>3</a:t>
            </a:r>
            <a:r>
              <a:rPr lang="zh-CN" altLang="en-US" dirty="0">
                <a:latin typeface="Helvetica" pitchFamily="34" charset="0"/>
                <a:sym typeface="+mn-ea"/>
              </a:rPr>
              <a:t>个并发进程，都需要同类资源</a:t>
            </a:r>
            <a:r>
              <a:rPr lang="en-US" altLang="zh-CN" dirty="0">
                <a:latin typeface="Helvetica" pitchFamily="34" charset="0"/>
                <a:sym typeface="+mn-ea"/>
              </a:rPr>
              <a:t>4</a:t>
            </a:r>
            <a:r>
              <a:rPr lang="zh-CN" altLang="en-US" dirty="0">
                <a:latin typeface="Helvetica" pitchFamily="34" charset="0"/>
                <a:sym typeface="+mn-ea"/>
              </a:rPr>
              <a:t>个，试问该系统不会发生死锁的最少资源数量是</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9</a:t>
            </a:r>
          </a:p>
          <a:p>
            <a:pPr>
              <a:spcBef>
                <a:spcPct val="50000"/>
              </a:spcBef>
              <a:buFont typeface="Arial" panose="020B0604020202020204" pitchFamily="34" charset="0"/>
              <a:buChar char="•"/>
            </a:pPr>
            <a:r>
              <a:rPr lang="en-US" altLang="zh-CN" dirty="0">
                <a:latin typeface="Helvetica" pitchFamily="34" charset="0"/>
                <a:sym typeface="+mn-ea"/>
              </a:rPr>
              <a:t>B 10</a:t>
            </a:r>
          </a:p>
          <a:p>
            <a:pPr>
              <a:spcBef>
                <a:spcPct val="50000"/>
              </a:spcBef>
              <a:buFont typeface="Arial" panose="020B0604020202020204" pitchFamily="34" charset="0"/>
              <a:buChar char="•"/>
            </a:pPr>
            <a:r>
              <a:rPr lang="en-US" altLang="zh-CN" dirty="0">
                <a:latin typeface="Helvetica" pitchFamily="34" charset="0"/>
                <a:sym typeface="+mn-ea"/>
              </a:rPr>
              <a:t>C 11</a:t>
            </a:r>
          </a:p>
          <a:p>
            <a:pPr>
              <a:spcBef>
                <a:spcPct val="50000"/>
              </a:spcBef>
              <a:buFont typeface="Arial" panose="020B0604020202020204" pitchFamily="34" charset="0"/>
              <a:buChar char="•"/>
            </a:pPr>
            <a:r>
              <a:rPr lang="en-US" altLang="zh-CN" dirty="0">
                <a:latin typeface="Helvetica" pitchFamily="34" charset="0"/>
                <a:sym typeface="+mn-ea"/>
              </a:rPr>
              <a:t>D 12</a:t>
            </a: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zh-CN" altLang="en-US" dirty="0">
                <a:latin typeface="Helvetica" pitchFamily="34" charset="0"/>
                <a:sym typeface="Wingdings" panose="05000000000000000000" pitchFamily="2" charset="2"/>
              </a:rPr>
              <a:t>：</a:t>
            </a:r>
            <a:r>
              <a:rPr lang="en-US" altLang="zh-CN" dirty="0">
                <a:latin typeface="Helvetica" pitchFamily="34" charset="0"/>
                <a:sym typeface="+mn-ea"/>
              </a:rPr>
              <a:t>B</a:t>
            </a:r>
          </a:p>
          <a:p>
            <a:pPr>
              <a:spcBef>
                <a:spcPct val="50000"/>
              </a:spcBef>
              <a:buFont typeface="Arial" panose="020B0604020202020204" pitchFamily="34" charset="0"/>
              <a:buChar char="•"/>
            </a:pPr>
            <a:r>
              <a:rPr lang="en-US" altLang="zh-CN" dirty="0">
                <a:latin typeface="Helvetica" pitchFamily="34" charset="0"/>
                <a:sym typeface="Wingdings" panose="05000000000000000000" pitchFamily="2" charset="2"/>
              </a:rPr>
              <a:t>3</a:t>
            </a:r>
            <a:r>
              <a:rPr lang="zh-CN" altLang="en-US" dirty="0">
                <a:latin typeface="Helvetica" pitchFamily="34" charset="0"/>
                <a:sym typeface="Wingdings" panose="05000000000000000000" pitchFamily="2" charset="2"/>
              </a:rPr>
              <a:t>个进程</a:t>
            </a:r>
            <a:r>
              <a:rPr lang="en-US" altLang="zh-CN" dirty="0">
                <a:latin typeface="Helvetica" pitchFamily="34" charset="0"/>
                <a:sym typeface="Wingdings" panose="05000000000000000000" pitchFamily="2" charset="2"/>
              </a:rPr>
              <a:t>*</a:t>
            </a:r>
            <a:r>
              <a:rPr lang="zh-CN" altLang="en-US" dirty="0">
                <a:latin typeface="Helvetica" pitchFamily="34" charset="0"/>
                <a:sym typeface="Wingdings" panose="05000000000000000000" pitchFamily="2" charset="2"/>
              </a:rPr>
              <a:t>（</a:t>
            </a:r>
            <a:r>
              <a:rPr lang="en-US" altLang="zh-CN" dirty="0">
                <a:latin typeface="Helvetica" pitchFamily="34" charset="0"/>
                <a:sym typeface="Wingdings" panose="05000000000000000000" pitchFamily="2" charset="2"/>
              </a:rPr>
              <a:t>4</a:t>
            </a:r>
            <a:r>
              <a:rPr lang="zh-CN" altLang="en-US" dirty="0">
                <a:latin typeface="Helvetica" pitchFamily="34" charset="0"/>
                <a:sym typeface="Wingdings" panose="05000000000000000000" pitchFamily="2" charset="2"/>
              </a:rPr>
              <a:t>个资源</a:t>
            </a:r>
            <a:r>
              <a:rPr lang="en-US" altLang="zh-CN" dirty="0">
                <a:latin typeface="Helvetica" pitchFamily="34" charset="0"/>
                <a:sym typeface="Wingdings" panose="05000000000000000000" pitchFamily="2" charset="2"/>
              </a:rPr>
              <a:t>-1</a:t>
            </a:r>
            <a:r>
              <a:rPr lang="zh-CN" altLang="en-US" dirty="0">
                <a:solidFill>
                  <a:schemeClr val="tx1"/>
                </a:solidFill>
                <a:latin typeface="Helvetica" pitchFamily="34" charset="0"/>
                <a:sym typeface="+mn-ea"/>
              </a:rPr>
              <a:t>）</a:t>
            </a:r>
            <a:r>
              <a:rPr lang="en-US" altLang="zh-CN" dirty="0">
                <a:solidFill>
                  <a:schemeClr val="tx1"/>
                </a:solidFill>
                <a:latin typeface="Helvetica" pitchFamily="34" charset="0"/>
                <a:sym typeface="+mn-ea"/>
              </a:rPr>
              <a:t>+1=3*</a:t>
            </a:r>
            <a:r>
              <a:rPr lang="en-US" altLang="zh-CN" dirty="0">
                <a:latin typeface="Helvetica" pitchFamily="34" charset="0"/>
                <a:sym typeface="+mn-ea"/>
              </a:rPr>
              <a:t>3+1=10</a:t>
            </a:r>
          </a:p>
        </p:txBody>
      </p:sp>
    </p:spTree>
    <p:extLst>
      <p:ext uri="{BB962C8B-B14F-4D97-AF65-F5344CB8AC3E}">
        <p14:creationId xmlns:p14="http://schemas.microsoft.com/office/powerpoint/2010/main" val="166234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F3CDFEF-6BDD-4F3D-AFF0-BAC0917802D6}"/>
              </a:ext>
            </a:extLst>
          </p:cNvPr>
          <p:cNvSpPr txBox="1">
            <a:spLocks noChangeArrowheads="1"/>
          </p:cNvSpPr>
          <p:nvPr/>
        </p:nvSpPr>
        <p:spPr bwMode="auto">
          <a:xfrm>
            <a:off x="358775" y="958850"/>
            <a:ext cx="83439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dirty="0">
                <a:latin typeface="Verdana" panose="020B0604030504040204" pitchFamily="34" charset="0"/>
              </a:rPr>
              <a:t>在下列选项中，属于检测死锁的方法是（</a:t>
            </a:r>
            <a:r>
              <a:rPr kumimoji="0" lang="en-US" altLang="zh-CN" dirty="0">
                <a:latin typeface="Verdana" panose="020B0604030504040204" pitchFamily="34" charset="0"/>
              </a:rPr>
              <a:t>   </a:t>
            </a:r>
            <a:r>
              <a:rPr kumimoji="0" lang="zh-CN" altLang="en-US" dirty="0">
                <a:latin typeface="Verdana" panose="020B0604030504040204" pitchFamily="34" charset="0"/>
              </a:rPr>
              <a:t>）。</a:t>
            </a:r>
          </a:p>
          <a:p>
            <a:pPr>
              <a:spcBef>
                <a:spcPct val="0"/>
              </a:spcBef>
              <a:buClrTx/>
              <a:buSzTx/>
              <a:buFontTx/>
              <a:buNone/>
            </a:pPr>
            <a:r>
              <a:rPr kumimoji="0" lang="en-US" altLang="zh-CN" dirty="0">
                <a:latin typeface="Verdana" panose="020B0604030504040204" pitchFamily="34" charset="0"/>
              </a:rPr>
              <a:t>A.</a:t>
            </a:r>
            <a:r>
              <a:rPr kumimoji="0" lang="zh-CN" altLang="en-US" dirty="0">
                <a:latin typeface="Verdana" panose="020B0604030504040204" pitchFamily="34" charset="0"/>
              </a:rPr>
              <a:t>银行家算法 		</a:t>
            </a:r>
            <a:r>
              <a:rPr kumimoji="0" lang="en-US" altLang="zh-CN" dirty="0">
                <a:latin typeface="Verdana" panose="020B0604030504040204" pitchFamily="34" charset="0"/>
              </a:rPr>
              <a:t>B.</a:t>
            </a:r>
            <a:r>
              <a:rPr kumimoji="0" lang="zh-CN" altLang="en-US" dirty="0">
                <a:latin typeface="Verdana" panose="020B0604030504040204" pitchFamily="34" charset="0"/>
              </a:rPr>
              <a:t>消进程法 </a:t>
            </a:r>
          </a:p>
          <a:p>
            <a:pPr>
              <a:spcBef>
                <a:spcPct val="0"/>
              </a:spcBef>
              <a:buClrTx/>
              <a:buSzTx/>
              <a:buFontTx/>
              <a:buNone/>
            </a:pPr>
            <a:r>
              <a:rPr kumimoji="0" lang="en-US" altLang="zh-CN" dirty="0">
                <a:latin typeface="Verdana" panose="020B0604030504040204" pitchFamily="34" charset="0"/>
              </a:rPr>
              <a:t>C.</a:t>
            </a:r>
            <a:r>
              <a:rPr kumimoji="0" lang="zh-CN" altLang="en-US" dirty="0">
                <a:latin typeface="Verdana" panose="020B0604030504040204" pitchFamily="34" charset="0"/>
              </a:rPr>
              <a:t>资源静态分配法 	</a:t>
            </a:r>
            <a:r>
              <a:rPr kumimoji="0" lang="en-US" altLang="zh-CN" dirty="0">
                <a:latin typeface="Verdana" panose="020B0604030504040204" pitchFamily="34" charset="0"/>
              </a:rPr>
              <a:t>D.</a:t>
            </a:r>
            <a:r>
              <a:rPr kumimoji="0" lang="zh-CN" altLang="en-US" dirty="0">
                <a:latin typeface="Verdana" panose="020B0604030504040204" pitchFamily="34" charset="0"/>
              </a:rPr>
              <a:t>资源分配图简化法</a:t>
            </a:r>
          </a:p>
          <a:p>
            <a:pPr>
              <a:spcBef>
                <a:spcPct val="0"/>
              </a:spcBef>
              <a:buClrTx/>
              <a:buSzTx/>
              <a:buFontTx/>
              <a:buNone/>
            </a:pPr>
            <a:endParaRPr kumimoji="0" lang="en-US" altLang="zh-CN" dirty="0">
              <a:latin typeface="Verdana" panose="020B0604030504040204" pitchFamily="34" charset="0"/>
            </a:endParaRPr>
          </a:p>
          <a:p>
            <a:pPr>
              <a:spcBef>
                <a:spcPct val="0"/>
              </a:spcBef>
              <a:buClrTx/>
              <a:buSzTx/>
              <a:buFontTx/>
              <a:buNone/>
            </a:pPr>
            <a:endParaRPr kumimoji="0" lang="en-US" altLang="zh-CN" sz="2800" dirty="0">
              <a:latin typeface="Verdana" panose="020B0604030504040204" pitchFamily="34" charset="0"/>
            </a:endParaRPr>
          </a:p>
          <a:p>
            <a:pPr>
              <a:spcBef>
                <a:spcPct val="0"/>
              </a:spcBef>
              <a:buClrTx/>
              <a:buSzTx/>
              <a:buFontTx/>
              <a:buNone/>
            </a:pPr>
            <a:r>
              <a:rPr kumimoji="0" lang="zh-CN" altLang="en-US" sz="2800" dirty="0">
                <a:latin typeface="Verdana" panose="020B0604030504040204" pitchFamily="34" charset="0"/>
              </a:rPr>
              <a:t>答案：</a:t>
            </a:r>
            <a:r>
              <a:rPr kumimoji="0" lang="en-US" altLang="zh-CN" sz="2800" dirty="0">
                <a:latin typeface="Verdana" panose="020B0604030504040204" pitchFamily="34" charset="0"/>
              </a:rPr>
              <a:t>D</a:t>
            </a:r>
            <a:endParaRPr kumimoji="0" lang="zh-CN" altLang="en-US" sz="2800" dirty="0">
              <a:latin typeface="Verdana" panose="020B0604030504040204" pitchFamily="34" charset="0"/>
            </a:endParaRPr>
          </a:p>
        </p:txBody>
      </p:sp>
      <p:sp>
        <p:nvSpPr>
          <p:cNvPr id="263171" name="文本框 2">
            <a:extLst>
              <a:ext uri="{FF2B5EF4-FFF2-40B4-BE49-F238E27FC236}">
                <a16:creationId xmlns:a16="http://schemas.microsoft.com/office/drawing/2014/main" id="{9B8430B9-9231-4B16-8CFE-D14C27856CAA}"/>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2421225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4F91B06-0C77-4F39-B822-FE8AD1135E53}"/>
              </a:ext>
            </a:extLst>
          </p:cNvPr>
          <p:cNvSpPr txBox="1">
            <a:spLocks noChangeArrowheads="1"/>
          </p:cNvSpPr>
          <p:nvPr/>
        </p:nvSpPr>
        <p:spPr bwMode="auto">
          <a:xfrm>
            <a:off x="358775" y="958850"/>
            <a:ext cx="83439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下面列出的选项中，属于可抢占性资源的有（ ）</a:t>
            </a:r>
          </a:p>
          <a:p>
            <a:pPr>
              <a:spcBef>
                <a:spcPct val="0"/>
              </a:spcBef>
              <a:buClrTx/>
              <a:buSzTx/>
              <a:buFontTx/>
              <a:buNone/>
            </a:pPr>
            <a:r>
              <a:rPr kumimoji="0" lang="en-US" altLang="zh-CN">
                <a:latin typeface="Verdana" panose="020B0604030504040204" pitchFamily="34" charset="0"/>
              </a:rPr>
              <a:t>A.CPU  						B.</a:t>
            </a:r>
            <a:r>
              <a:rPr kumimoji="0" lang="zh-CN" altLang="en-US">
                <a:latin typeface="Verdana" panose="020B0604030504040204" pitchFamily="34" charset="0"/>
              </a:rPr>
              <a:t>内存  </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磁盘  						</a:t>
            </a:r>
            <a:r>
              <a:rPr kumimoji="0" lang="en-US" altLang="zh-CN">
                <a:latin typeface="Verdana" panose="020B0604030504040204" pitchFamily="34" charset="0"/>
              </a:rPr>
              <a:t>D.</a:t>
            </a:r>
            <a:r>
              <a:rPr kumimoji="0" lang="zh-CN" altLang="en-US">
                <a:latin typeface="Verdana" panose="020B0604030504040204" pitchFamily="34" charset="0"/>
              </a:rPr>
              <a:t>磁带机</a:t>
            </a:r>
          </a:p>
          <a:p>
            <a:pPr>
              <a:spcBef>
                <a:spcPct val="0"/>
              </a:spcBef>
              <a:buClrTx/>
              <a:buSzTx/>
              <a:buFontTx/>
              <a:buNone/>
            </a:pPr>
            <a:endParaRPr kumimoji="0" lang="en-US" altLang="zh-CN">
              <a:latin typeface="Verdana" panose="020B0604030504040204" pitchFamily="34" charset="0"/>
            </a:endParaRP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 ABC</a:t>
            </a:r>
            <a:endParaRPr kumimoji="0" lang="zh-CN" altLang="en-US" sz="2800">
              <a:latin typeface="Verdana" panose="020B0604030504040204" pitchFamily="34" charset="0"/>
            </a:endParaRPr>
          </a:p>
        </p:txBody>
      </p:sp>
      <p:sp>
        <p:nvSpPr>
          <p:cNvPr id="265219" name="文本框 2">
            <a:extLst>
              <a:ext uri="{FF2B5EF4-FFF2-40B4-BE49-F238E27FC236}">
                <a16:creationId xmlns:a16="http://schemas.microsoft.com/office/drawing/2014/main" id="{D3BA9861-7AE7-458E-80FD-B127328A0864}"/>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4221233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D5148AE-E0E2-49AE-9737-E3F10AB2ECF2}"/>
              </a:ext>
            </a:extLst>
          </p:cNvPr>
          <p:cNvSpPr txBox="1">
            <a:spLocks noChangeArrowheads="1"/>
          </p:cNvSpPr>
          <p:nvPr/>
        </p:nvSpPr>
        <p:spPr bwMode="auto">
          <a:xfrm>
            <a:off x="358775" y="958850"/>
            <a:ext cx="83439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下面列出的选项中，属于可抢占性资源的有（ ）</a:t>
            </a:r>
          </a:p>
          <a:p>
            <a:pPr>
              <a:spcBef>
                <a:spcPct val="0"/>
              </a:spcBef>
              <a:buClrTx/>
              <a:buSzTx/>
              <a:buFontTx/>
              <a:buNone/>
            </a:pPr>
            <a:r>
              <a:rPr kumimoji="0" lang="en-US" altLang="zh-CN">
                <a:latin typeface="Verdana" panose="020B0604030504040204" pitchFamily="34" charset="0"/>
              </a:rPr>
              <a:t>A.CPU  						B.</a:t>
            </a:r>
            <a:r>
              <a:rPr kumimoji="0" lang="zh-CN" altLang="en-US">
                <a:latin typeface="Verdana" panose="020B0604030504040204" pitchFamily="34" charset="0"/>
              </a:rPr>
              <a:t>内存  </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磁盘  						</a:t>
            </a:r>
            <a:r>
              <a:rPr kumimoji="0" lang="en-US" altLang="zh-CN">
                <a:latin typeface="Verdana" panose="020B0604030504040204" pitchFamily="34" charset="0"/>
              </a:rPr>
              <a:t>D.</a:t>
            </a:r>
            <a:r>
              <a:rPr kumimoji="0" lang="zh-CN" altLang="en-US">
                <a:latin typeface="Verdana" panose="020B0604030504040204" pitchFamily="34" charset="0"/>
              </a:rPr>
              <a:t>磁带机</a:t>
            </a:r>
          </a:p>
          <a:p>
            <a:pPr>
              <a:spcBef>
                <a:spcPct val="0"/>
              </a:spcBef>
              <a:buClrTx/>
              <a:buSzTx/>
              <a:buFontTx/>
              <a:buNone/>
            </a:pPr>
            <a:endParaRPr kumimoji="0" lang="en-US" altLang="zh-CN">
              <a:latin typeface="Verdana" panose="020B0604030504040204" pitchFamily="34" charset="0"/>
            </a:endParaRP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 ABC</a:t>
            </a:r>
            <a:endParaRPr kumimoji="0" lang="zh-CN" altLang="en-US" sz="2800">
              <a:latin typeface="Verdana" panose="020B0604030504040204" pitchFamily="34" charset="0"/>
            </a:endParaRPr>
          </a:p>
        </p:txBody>
      </p:sp>
      <p:sp>
        <p:nvSpPr>
          <p:cNvPr id="267267" name="文本框 2">
            <a:extLst>
              <a:ext uri="{FF2B5EF4-FFF2-40B4-BE49-F238E27FC236}">
                <a16:creationId xmlns:a16="http://schemas.microsoft.com/office/drawing/2014/main" id="{521358F5-BD5C-4A90-A9D0-35E1B3A61076}"/>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3084941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ctrTitle"/>
          </p:nvPr>
        </p:nvSpPr>
        <p:spPr/>
        <p:txBody>
          <a:bodyPr vert="horz" wrap="square" lIns="91440" tIns="45720" rIns="91440" bIns="45720" anchor="b" anchorCtr="0"/>
          <a:lstStyle/>
          <a:p>
            <a:pPr eaLnBrk="1" hangingPunct="1">
              <a:buClrTx/>
              <a:buSzTx/>
              <a:buFontTx/>
            </a:pPr>
            <a:r>
              <a:rPr lang="en-US" altLang="zh-CN" dirty="0">
                <a:latin typeface="+mj-lt"/>
                <a:ea typeface="MS PGothic" panose="020B0600070205080204" pitchFamily="34" charset="-128"/>
                <a:cs typeface="+mj-cs"/>
              </a:rPr>
              <a:t>End of Chapter 7</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725</TotalTime>
  <Words>6064</Words>
  <Application>Microsoft Office PowerPoint</Application>
  <PresentationFormat>全屏显示(4:3)</PresentationFormat>
  <Paragraphs>700</Paragraphs>
  <Slides>84</Slides>
  <Notes>57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84</vt:i4>
      </vt:variant>
    </vt:vector>
  </HeadingPairs>
  <TitlesOfParts>
    <vt:vector size="95" baseType="lpstr">
      <vt:lpstr>Monotype Sorts</vt:lpstr>
      <vt:lpstr>PingFang SC</vt:lpstr>
      <vt:lpstr>黑体</vt:lpstr>
      <vt:lpstr>宋体</vt:lpstr>
      <vt:lpstr>Arial</vt:lpstr>
      <vt:lpstr>Helvetica</vt:lpstr>
      <vt:lpstr>Times New Roman</vt:lpstr>
      <vt:lpstr>Verdana</vt:lpstr>
      <vt:lpstr>Webdings</vt:lpstr>
      <vt:lpstr>Wingdings</vt:lpstr>
      <vt:lpstr>os-8</vt:lpstr>
      <vt:lpstr>Chapter 7:  Deadlocks</vt:lpstr>
      <vt:lpstr>内容回顾：同步</vt:lpstr>
      <vt:lpstr>Chapter 7:  Deadlocks(死锁)</vt:lpstr>
      <vt:lpstr>PowerPoint 演示文稿</vt:lpstr>
      <vt:lpstr>The Deadlock Problem</vt:lpstr>
      <vt:lpstr>The Deadlock Problem</vt:lpstr>
      <vt:lpstr>Deadlock  Example</vt:lpstr>
      <vt:lpstr>Bridge Crossing Example</vt:lpstr>
      <vt:lpstr>Why Deadlock?</vt:lpstr>
      <vt:lpstr>System Model</vt:lpstr>
      <vt:lpstr>How  process utilizes a resource?</vt:lpstr>
      <vt:lpstr>Necessary Conditions for Deadlock</vt:lpstr>
      <vt:lpstr>Necessary Conditions for Deadlock(Cont)</vt:lpstr>
      <vt:lpstr>Resource-Allocation Graph(资源分配图)</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例题</vt:lpstr>
      <vt:lpstr>例题</vt:lpstr>
      <vt:lpstr>Chapter 7:  Deadlocks(死锁)</vt:lpstr>
      <vt:lpstr>Methods for Handling Deadlocks</vt:lpstr>
      <vt:lpstr>Deadlock Prevention (死锁预防)</vt:lpstr>
      <vt:lpstr>Deadlock Prevention</vt:lpstr>
      <vt:lpstr>Dining Philosophers</vt:lpstr>
      <vt:lpstr>Deadlock Prevention (Cont.)</vt:lpstr>
      <vt:lpstr>Deadlock Prevention (Cont.)</vt:lpstr>
      <vt:lpstr>Deadlock Prevention (Cont.)</vt:lpstr>
      <vt:lpstr>Deadlock Prevention (Cont.)</vt:lpstr>
      <vt:lpstr>Deadlock Prevention (Cont.)</vt:lpstr>
      <vt:lpstr>Deadlock Prevention (Cont.)</vt:lpstr>
      <vt:lpstr>Deadlock Prevention </vt:lpstr>
      <vt:lpstr>例题</vt:lpstr>
      <vt:lpstr>例题</vt:lpstr>
      <vt:lpstr>例题</vt:lpstr>
      <vt:lpstr>死锁预防 vs. 死锁避免</vt:lpstr>
      <vt:lpstr>Safe State</vt:lpstr>
      <vt:lpstr>Safe State</vt:lpstr>
      <vt:lpstr>PowerPoint 演示文稿</vt:lpstr>
      <vt:lpstr>PowerPoint 演示文稿</vt:lpstr>
      <vt:lpstr>PowerPoint 演示文稿</vt:lpstr>
      <vt:lpstr>System goes from a safe state to an unsafe state</vt:lpstr>
      <vt:lpstr>Basic Facts</vt:lpstr>
      <vt:lpstr>Safe, Unsafe ,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(Cont.)</vt:lpstr>
      <vt:lpstr>PowerPoint 演示文稿</vt:lpstr>
      <vt:lpstr>Methods for Handling Deadlocks</vt:lpstr>
      <vt:lpstr>Deadlock Detection(死锁检测)</vt:lpstr>
      <vt:lpstr>Single Instance of Each Resource Type</vt:lpstr>
      <vt:lpstr>Resource-Allocation Graph and Wait-for Graph</vt:lpstr>
      <vt:lpstr>Several Instances of a Resource Type</vt:lpstr>
      <vt:lpstr>Detection Algorithm</vt:lpstr>
      <vt:lpstr>Detection Algorithm (Cont.)</vt:lpstr>
      <vt:lpstr>与银行家算法对比</vt:lpstr>
      <vt:lpstr>与银行家算法对比</vt:lpstr>
      <vt:lpstr>Example of Detection Algorithm</vt:lpstr>
      <vt:lpstr>Example (Cont.)</vt:lpstr>
      <vt:lpstr>Detection-Algorithm Usage</vt:lpstr>
      <vt:lpstr>Detection-Algorithm Usage</vt:lpstr>
      <vt:lpstr> Recovery from Deadlock:  Process Termination</vt:lpstr>
      <vt:lpstr>Recovery from Deadlock: Resource Preemption</vt:lpstr>
      <vt:lpstr>Chapter 7:  Deadlocks(死锁)</vt:lpstr>
      <vt:lpstr>例题</vt:lpstr>
      <vt:lpstr>例题</vt:lpstr>
      <vt:lpstr>例题</vt:lpstr>
      <vt:lpstr>例题</vt:lpstr>
      <vt:lpstr>例题</vt:lpstr>
      <vt:lpstr>PowerPoint 演示文稿</vt:lpstr>
      <vt:lpstr>PowerPoint 演示文稿</vt:lpstr>
      <vt:lpstr>PowerPoint 演示文稿</vt:lpstr>
      <vt:lpstr>End of Chapter 7</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鸽 王</cp:lastModifiedBy>
  <cp:revision>258</cp:revision>
  <cp:lastPrinted>2001-06-14T19:16:00Z</cp:lastPrinted>
  <dcterms:created xsi:type="dcterms:W3CDTF">2008-08-18T22:49:00Z</dcterms:created>
  <dcterms:modified xsi:type="dcterms:W3CDTF">2025-10-21T16:17:45Z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1B064FB595AB474087ABEE188D338B54</vt:lpwstr>
  </property>
  <property fmtid="{D5CDD505-2E9C-101B-9397-08002B2CF9AE}" pid="3" name="KSOProductBuildVer">
    <vt:lpwstr>2052-11.1.0.11045</vt:lpwstr>
  </property>
</Properties>
</file>
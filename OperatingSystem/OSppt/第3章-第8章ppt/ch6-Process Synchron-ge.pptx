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4"/>
  </p:notesMasterIdLst>
  <p:handoutMasterIdLst>
    <p:handoutMasterId r:id="rId175"/>
  </p:handoutMasterIdLst>
  <p:sldIdLst>
    <p:sldId id="327" r:id="rId2"/>
    <p:sldId id="263" r:id="rId3"/>
    <p:sldId id="391" r:id="rId4"/>
    <p:sldId id="737" r:id="rId5"/>
    <p:sldId id="388" r:id="rId6"/>
    <p:sldId id="389" r:id="rId7"/>
    <p:sldId id="378" r:id="rId8"/>
    <p:sldId id="739" r:id="rId9"/>
    <p:sldId id="738" r:id="rId10"/>
    <p:sldId id="464" r:id="rId11"/>
    <p:sldId id="502" r:id="rId12"/>
    <p:sldId id="503" r:id="rId13"/>
    <p:sldId id="390" r:id="rId14"/>
    <p:sldId id="465" r:id="rId15"/>
    <p:sldId id="466" r:id="rId16"/>
    <p:sldId id="379" r:id="rId17"/>
    <p:sldId id="504" r:id="rId18"/>
    <p:sldId id="505" r:id="rId19"/>
    <p:sldId id="506" r:id="rId20"/>
    <p:sldId id="507" r:id="rId21"/>
    <p:sldId id="508" r:id="rId22"/>
    <p:sldId id="620" r:id="rId23"/>
    <p:sldId id="740" r:id="rId24"/>
    <p:sldId id="741" r:id="rId25"/>
    <p:sldId id="742" r:id="rId26"/>
    <p:sldId id="743" r:id="rId27"/>
    <p:sldId id="380" r:id="rId28"/>
    <p:sldId id="445" r:id="rId29"/>
    <p:sldId id="747" r:id="rId30"/>
    <p:sldId id="755" r:id="rId31"/>
    <p:sldId id="343" r:id="rId32"/>
    <p:sldId id="340" r:id="rId33"/>
    <p:sldId id="341" r:id="rId34"/>
    <p:sldId id="446" r:id="rId35"/>
    <p:sldId id="342" r:id="rId36"/>
    <p:sldId id="377" r:id="rId37"/>
    <p:sldId id="447" r:id="rId38"/>
    <p:sldId id="285" r:id="rId39"/>
    <p:sldId id="748" r:id="rId40"/>
    <p:sldId id="749" r:id="rId41"/>
    <p:sldId id="750" r:id="rId42"/>
    <p:sldId id="751" r:id="rId43"/>
    <p:sldId id="752" r:id="rId44"/>
    <p:sldId id="753" r:id="rId45"/>
    <p:sldId id="624" r:id="rId46"/>
    <p:sldId id="754" r:id="rId47"/>
    <p:sldId id="736" r:id="rId48"/>
    <p:sldId id="744" r:id="rId49"/>
    <p:sldId id="745" r:id="rId50"/>
    <p:sldId id="746" r:id="rId51"/>
    <p:sldId id="552" r:id="rId52"/>
    <p:sldId id="758" r:id="rId53"/>
    <p:sldId id="392" r:id="rId54"/>
    <p:sldId id="394" r:id="rId55"/>
    <p:sldId id="395" r:id="rId56"/>
    <p:sldId id="396" r:id="rId57"/>
    <p:sldId id="393" r:id="rId58"/>
    <p:sldId id="759" r:id="rId59"/>
    <p:sldId id="397" r:id="rId60"/>
    <p:sldId id="761" r:id="rId61"/>
    <p:sldId id="760" r:id="rId62"/>
    <p:sldId id="516" r:id="rId63"/>
    <p:sldId id="517" r:id="rId64"/>
    <p:sldId id="448" r:id="rId65"/>
    <p:sldId id="467" r:id="rId66"/>
    <p:sldId id="509" r:id="rId67"/>
    <p:sldId id="510" r:id="rId68"/>
    <p:sldId id="511" r:id="rId69"/>
    <p:sldId id="512" r:id="rId70"/>
    <p:sldId id="762" r:id="rId71"/>
    <p:sldId id="398" r:id="rId72"/>
    <p:sldId id="450" r:id="rId73"/>
    <p:sldId id="451" r:id="rId74"/>
    <p:sldId id="513" r:id="rId75"/>
    <p:sldId id="399" r:id="rId76"/>
    <p:sldId id="452" r:id="rId77"/>
    <p:sldId id="400" r:id="rId78"/>
    <p:sldId id="401" r:id="rId79"/>
    <p:sldId id="453" r:id="rId80"/>
    <p:sldId id="454" r:id="rId81"/>
    <p:sldId id="455" r:id="rId82"/>
    <p:sldId id="456" r:id="rId83"/>
    <p:sldId id="515" r:id="rId84"/>
    <p:sldId id="514" r:id="rId85"/>
    <p:sldId id="518" r:id="rId86"/>
    <p:sldId id="402" r:id="rId87"/>
    <p:sldId id="457" r:id="rId88"/>
    <p:sldId id="519" r:id="rId89"/>
    <p:sldId id="458" r:id="rId90"/>
    <p:sldId id="460" r:id="rId91"/>
    <p:sldId id="461" r:id="rId92"/>
    <p:sldId id="462" r:id="rId93"/>
    <p:sldId id="463" r:id="rId94"/>
    <p:sldId id="405" r:id="rId95"/>
    <p:sldId id="406" r:id="rId96"/>
    <p:sldId id="520" r:id="rId97"/>
    <p:sldId id="468" r:id="rId98"/>
    <p:sldId id="469" r:id="rId99"/>
    <p:sldId id="763" r:id="rId100"/>
    <p:sldId id="775" r:id="rId101"/>
    <p:sldId id="764" r:id="rId102"/>
    <p:sldId id="767" r:id="rId103"/>
    <p:sldId id="768" r:id="rId104"/>
    <p:sldId id="521" r:id="rId105"/>
    <p:sldId id="522" r:id="rId106"/>
    <p:sldId id="523" r:id="rId107"/>
    <p:sldId id="770" r:id="rId108"/>
    <p:sldId id="409" r:id="rId109"/>
    <p:sldId id="441" r:id="rId110"/>
    <p:sldId id="410" r:id="rId111"/>
    <p:sldId id="442" r:id="rId112"/>
    <p:sldId id="411" r:id="rId113"/>
    <p:sldId id="412" r:id="rId114"/>
    <p:sldId id="524" r:id="rId115"/>
    <p:sldId id="525" r:id="rId116"/>
    <p:sldId id="413" r:id="rId117"/>
    <p:sldId id="414" r:id="rId118"/>
    <p:sldId id="415" r:id="rId119"/>
    <p:sldId id="470" r:id="rId120"/>
    <p:sldId id="416" r:id="rId121"/>
    <p:sldId id="526" r:id="rId122"/>
    <p:sldId id="533" r:id="rId123"/>
    <p:sldId id="534" r:id="rId124"/>
    <p:sldId id="535" r:id="rId125"/>
    <p:sldId id="542" r:id="rId126"/>
    <p:sldId id="543" r:id="rId127"/>
    <p:sldId id="784" r:id="rId128"/>
    <p:sldId id="544" r:id="rId129"/>
    <p:sldId id="788" r:id="rId130"/>
    <p:sldId id="789" r:id="rId131"/>
    <p:sldId id="785" r:id="rId132"/>
    <p:sldId id="786" r:id="rId133"/>
    <p:sldId id="787" r:id="rId134"/>
    <p:sldId id="769" r:id="rId135"/>
    <p:sldId id="419" r:id="rId136"/>
    <p:sldId id="420" r:id="rId137"/>
    <p:sldId id="471" r:id="rId138"/>
    <p:sldId id="472" r:id="rId139"/>
    <p:sldId id="421" r:id="rId140"/>
    <p:sldId id="422" r:id="rId141"/>
    <p:sldId id="423" r:id="rId142"/>
    <p:sldId id="473" r:id="rId143"/>
    <p:sldId id="501" r:id="rId144"/>
    <p:sldId id="475" r:id="rId145"/>
    <p:sldId id="476" r:id="rId146"/>
    <p:sldId id="477" r:id="rId147"/>
    <p:sldId id="478" r:id="rId148"/>
    <p:sldId id="479" r:id="rId149"/>
    <p:sldId id="480" r:id="rId150"/>
    <p:sldId id="482" r:id="rId151"/>
    <p:sldId id="771" r:id="rId152"/>
    <p:sldId id="481" r:id="rId153"/>
    <p:sldId id="483" r:id="rId154"/>
    <p:sldId id="486" r:id="rId155"/>
    <p:sldId id="487" r:id="rId156"/>
    <p:sldId id="488" r:id="rId157"/>
    <p:sldId id="489" r:id="rId158"/>
    <p:sldId id="492" r:id="rId159"/>
    <p:sldId id="490" r:id="rId160"/>
    <p:sldId id="491" r:id="rId161"/>
    <p:sldId id="493" r:id="rId162"/>
    <p:sldId id="495" r:id="rId163"/>
    <p:sldId id="496" r:id="rId164"/>
    <p:sldId id="497" r:id="rId165"/>
    <p:sldId id="498" r:id="rId166"/>
    <p:sldId id="499" r:id="rId167"/>
    <p:sldId id="500" r:id="rId168"/>
    <p:sldId id="772" r:id="rId169"/>
    <p:sldId id="780" r:id="rId170"/>
    <p:sldId id="773" r:id="rId171"/>
    <p:sldId id="778" r:id="rId172"/>
    <p:sldId id="328" r:id="rId173"/>
  </p:sldIdLst>
  <p:sldSz cx="9144000" cy="6858000" type="screen4x3"/>
  <p:notesSz cx="6881813" cy="9296400"/>
  <p:defaultTextStyle>
    <a:defPPr>
      <a:defRPr lang="en-US"/>
    </a:defPPr>
    <a:lvl1pPr marL="0" lvl="0"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Verdana" panose="020B0604030504040204" pitchFamily="34" charset="0"/>
        <a:ea typeface="MS PGothic" panose="020B0600070205080204" pitchFamily="34" charset="-128"/>
        <a:cs typeface="+mn-cs"/>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Verdana" panose="020B0604030504040204" pitchFamily="34" charset="0"/>
        <a:ea typeface="MS PGothic" panose="020B0600070205080204" pitchFamily="34" charset="-128"/>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Verdana" panose="020B0604030504040204" pitchFamily="34" charset="0"/>
        <a:ea typeface="MS PGothic" panose="020B0600070205080204" pitchFamily="34" charset="-128"/>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Verdana" panose="020B0604030504040204" pitchFamily="34" charset="0"/>
        <a:ea typeface="MS PGothic" panose="020B0600070205080204" pitchFamily="34" charset="-128"/>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Verdana" panose="020B0604030504040204" pitchFamily="34" charset="0"/>
        <a:ea typeface="MS PGothic" panose="020B0600070205080204" pitchFamily="34" charset="-128"/>
        <a:cs typeface="+mn-cs"/>
      </a:defRPr>
    </a:lvl5pPr>
    <a:lvl6pPr marL="2286000" lvl="5"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Verdana" panose="020B0604030504040204" pitchFamily="34" charset="0"/>
        <a:ea typeface="MS PGothic" panose="020B0600070205080204" pitchFamily="34" charset="-128"/>
        <a:cs typeface="+mn-cs"/>
      </a:defRPr>
    </a:lvl6pPr>
    <a:lvl7pPr marL="2743200" lvl="6"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Verdana" panose="020B0604030504040204" pitchFamily="34" charset="0"/>
        <a:ea typeface="MS PGothic" panose="020B0600070205080204" pitchFamily="34" charset="-128"/>
        <a:cs typeface="+mn-cs"/>
      </a:defRPr>
    </a:lvl7pPr>
    <a:lvl8pPr marL="3200400" lvl="7"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Verdana" panose="020B0604030504040204" pitchFamily="34" charset="0"/>
        <a:ea typeface="MS PGothic" panose="020B0600070205080204" pitchFamily="34" charset="-128"/>
        <a:cs typeface="+mn-cs"/>
      </a:defRPr>
    </a:lvl8pPr>
    <a:lvl9pPr marL="3657600" lvl="8"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28">
          <p15:clr>
            <a:srgbClr val="A4A3A4"/>
          </p15:clr>
        </p15:guide>
        <p15:guide id="2" pos="55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82C34"/>
    <a:srgbClr val="0000FF"/>
    <a:srgbClr val="0066FF"/>
    <a:srgbClr val="FF3300"/>
    <a:srgbClr val="006699"/>
    <a:srgbClr val="8C320E"/>
    <a:srgbClr val="930728"/>
    <a:srgbClr val="9A0B00"/>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846" autoAdjust="0"/>
  </p:normalViewPr>
  <p:slideViewPr>
    <p:cSldViewPr snapToGrid="0" showGuides="1">
      <p:cViewPr varScale="1">
        <p:scale>
          <a:sx n="59" d="100"/>
          <a:sy n="59" d="100"/>
        </p:scale>
        <p:origin x="1022" y="34"/>
      </p:cViewPr>
      <p:guideLst>
        <p:guide orient="horz" pos="828"/>
        <p:guide pos="558"/>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4956"/>
    </p:cViewPr>
  </p:sorterViewPr>
  <p:gridSpacing cx="76198" cy="7619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viewProps" Target="viewProps.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notesMaster" Target="notesMasters/notesMaster1.xml"/><Relationship Id="rId179"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handoutMaster" Target="handoutMasters/handoutMaster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presProps" Target="pres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bwMode="auto">
          <a:xfrm>
            <a:off x="0" y="0"/>
            <a:ext cx="2998788" cy="458788"/>
          </a:xfrm>
          <a:prstGeom prst="rect">
            <a:avLst/>
          </a:prstGeom>
          <a:noFill/>
          <a:ln w="9525">
            <a:noFill/>
            <a:miter lim="800000"/>
          </a:ln>
        </p:spPr>
        <p:txBody>
          <a:bodyPr vert="horz" wrap="none" lIns="90892" tIns="45445" rIns="90892" bIns="45445" numCol="1" anchor="ctr" anchorCtr="0" compatLnSpc="1"/>
          <a:lstStyle>
            <a:lvl1pPr defTabSz="908050">
              <a:defRPr sz="1200">
                <a:latin typeface="Helvetica" pitchFamily="34" charset="0"/>
              </a:defRPr>
            </a:lvl1pPr>
          </a:lstStyle>
          <a:p>
            <a:pPr marL="0" marR="0" lvl="0" indent="0" algn="l" defTabSz="908050" rtl="0" eaLnBrk="0" fontAlgn="base" latinLnBrk="0" hangingPunct="0">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Helvetica" pitchFamily="34" charset="0"/>
              <a:ea typeface="MS PGothic" panose="020B0600070205080204" pitchFamily="34" charset="-128"/>
              <a:cs typeface="+mn-cs"/>
            </a:endParaRPr>
          </a:p>
        </p:txBody>
      </p:sp>
      <p:sp>
        <p:nvSpPr>
          <p:cNvPr id="37891" name="Rectangle 3"/>
          <p:cNvSpPr>
            <a:spLocks noGrp="1" noChangeArrowheads="1"/>
          </p:cNvSpPr>
          <p:nvPr>
            <p:ph type="dt" sz="quarter" idx="1"/>
          </p:nvPr>
        </p:nvSpPr>
        <p:spPr bwMode="auto">
          <a:xfrm>
            <a:off x="3900488" y="0"/>
            <a:ext cx="3000375" cy="458788"/>
          </a:xfrm>
          <a:prstGeom prst="rect">
            <a:avLst/>
          </a:prstGeom>
          <a:noFill/>
          <a:ln w="9525">
            <a:noFill/>
            <a:miter lim="800000"/>
          </a:ln>
        </p:spPr>
        <p:txBody>
          <a:bodyPr vert="horz" wrap="none" lIns="90892" tIns="45445" rIns="90892" bIns="45445" numCol="1" anchor="ctr" anchorCtr="0" compatLnSpc="1"/>
          <a:lstStyle>
            <a:lvl1pPr algn="r" defTabSz="908050">
              <a:defRPr sz="1200">
                <a:latin typeface="Helvetica" pitchFamily="34" charset="0"/>
              </a:defRPr>
            </a:lvl1pPr>
          </a:lstStyle>
          <a:p>
            <a:pPr marL="0" marR="0" lvl="0" indent="0" algn="r" defTabSz="908050" rtl="0" eaLnBrk="0" fontAlgn="base" latinLnBrk="0" hangingPunct="0">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Helvetica" pitchFamily="34" charset="0"/>
              <a:ea typeface="MS PGothic" panose="020B0600070205080204" pitchFamily="34" charset="-128"/>
              <a:cs typeface="+mn-cs"/>
            </a:endParaRPr>
          </a:p>
        </p:txBody>
      </p:sp>
      <p:sp>
        <p:nvSpPr>
          <p:cNvPr id="37892" name="Rectangle 4"/>
          <p:cNvSpPr>
            <a:spLocks noGrp="1" noChangeArrowheads="1"/>
          </p:cNvSpPr>
          <p:nvPr>
            <p:ph type="ftr" sz="quarter" idx="2"/>
          </p:nvPr>
        </p:nvSpPr>
        <p:spPr bwMode="auto">
          <a:xfrm>
            <a:off x="0" y="8853488"/>
            <a:ext cx="2998788" cy="457200"/>
          </a:xfrm>
          <a:prstGeom prst="rect">
            <a:avLst/>
          </a:prstGeom>
          <a:noFill/>
          <a:ln w="9525">
            <a:noFill/>
            <a:miter lim="800000"/>
          </a:ln>
        </p:spPr>
        <p:txBody>
          <a:bodyPr vert="horz" wrap="none" lIns="90892" tIns="45445" rIns="90892" bIns="45445" numCol="1" anchor="b" anchorCtr="0" compatLnSpc="1"/>
          <a:lstStyle>
            <a:lvl1pPr defTabSz="908050">
              <a:defRPr sz="1200">
                <a:latin typeface="Helvetica" pitchFamily="34" charset="0"/>
              </a:defRPr>
            </a:lvl1pPr>
          </a:lstStyle>
          <a:p>
            <a:pPr marL="0" marR="0" lvl="0" indent="0" algn="l" defTabSz="908050" rtl="0" eaLnBrk="0" fontAlgn="base" latinLnBrk="0" hangingPunct="0">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Helvetica" pitchFamily="34" charset="0"/>
              <a:ea typeface="MS PGothic" panose="020B0600070205080204" pitchFamily="34" charset="-128"/>
              <a:cs typeface="+mn-cs"/>
            </a:endParaRPr>
          </a:p>
        </p:txBody>
      </p:sp>
      <p:sp>
        <p:nvSpPr>
          <p:cNvPr id="37893" name="Rectangle 5"/>
          <p:cNvSpPr>
            <a:spLocks noGrp="1" noChangeArrowheads="1"/>
          </p:cNvSpPr>
          <p:nvPr>
            <p:ph type="sldNum" sz="quarter" idx="3"/>
          </p:nvPr>
        </p:nvSpPr>
        <p:spPr bwMode="auto">
          <a:xfrm>
            <a:off x="3900488" y="8853488"/>
            <a:ext cx="3000375" cy="457200"/>
          </a:xfrm>
          <a:prstGeom prst="rect">
            <a:avLst/>
          </a:prstGeom>
          <a:noFill/>
          <a:ln w="9525">
            <a:noFill/>
            <a:miter lim="800000"/>
          </a:ln>
        </p:spPr>
        <p:txBody>
          <a:bodyPr vert="horz" wrap="none" lIns="90892" tIns="45445" rIns="90892" bIns="45445" numCol="1" anchor="b" anchorCtr="0" compatLnSpc="1"/>
          <a:lstStyle/>
          <a:p>
            <a:pPr lvl="0" algn="r" defTabSz="908050" fontAlgn="base">
              <a:buNone/>
            </a:pPr>
            <a:fld id="{9A0DB2DC-4C9A-4742-B13C-FB6460FD3503}" type="slidenum">
              <a:rPr lang="en-US" altLang="zh-CN" sz="1200" strike="noStrike" noProof="1" dirty="0">
                <a:latin typeface="Helvetica" pitchFamily="34" charset="0"/>
                <a:ea typeface="MS PGothic" panose="020B0600070205080204" pitchFamily="34" charset="-128"/>
                <a:cs typeface="+mn-cs"/>
              </a:rPr>
              <a:t>‹#›</a:t>
            </a:fld>
            <a:endParaRPr lang="en-US" altLang="zh-CN" sz="1200" strike="noStrike" noProof="1">
              <a:latin typeface="Helvetica"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bwMode="auto">
          <a:xfrm>
            <a:off x="0" y="0"/>
            <a:ext cx="2998788" cy="458788"/>
          </a:xfrm>
          <a:prstGeom prst="rect">
            <a:avLst/>
          </a:prstGeom>
          <a:noFill/>
          <a:ln w="9525">
            <a:noFill/>
            <a:miter lim="800000"/>
          </a:ln>
        </p:spPr>
        <p:txBody>
          <a:bodyPr vert="horz" wrap="none" lIns="90892" tIns="45445" rIns="90892" bIns="45445" numCol="1" anchor="ctr" anchorCtr="0" compatLnSpc="1"/>
          <a:lstStyle>
            <a:lvl1pPr defTabSz="908050">
              <a:defRPr sz="1200">
                <a:latin typeface="Helvetica" pitchFamily="34" charset="0"/>
              </a:defRPr>
            </a:lvl1pPr>
          </a:lstStyle>
          <a:p>
            <a:pPr marL="0" marR="0" lvl="0" indent="0" algn="l" defTabSz="908050" rtl="0" eaLnBrk="0" fontAlgn="base" latinLnBrk="0" hangingPunct="0">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Helvetica" pitchFamily="34" charset="0"/>
              <a:ea typeface="MS PGothic" panose="020B0600070205080204" pitchFamily="34" charset="-128"/>
              <a:cs typeface="+mn-cs"/>
            </a:endParaRPr>
          </a:p>
        </p:txBody>
      </p:sp>
      <p:sp>
        <p:nvSpPr>
          <p:cNvPr id="76803" name="Rectangle 3"/>
          <p:cNvSpPr>
            <a:spLocks noGrp="1" noChangeArrowheads="1"/>
          </p:cNvSpPr>
          <p:nvPr>
            <p:ph type="dt" idx="1"/>
          </p:nvPr>
        </p:nvSpPr>
        <p:spPr bwMode="auto">
          <a:xfrm>
            <a:off x="3900488" y="0"/>
            <a:ext cx="3000375" cy="458788"/>
          </a:xfrm>
          <a:prstGeom prst="rect">
            <a:avLst/>
          </a:prstGeom>
          <a:noFill/>
          <a:ln w="9525">
            <a:noFill/>
            <a:miter lim="800000"/>
          </a:ln>
        </p:spPr>
        <p:txBody>
          <a:bodyPr vert="horz" wrap="none" lIns="90892" tIns="45445" rIns="90892" bIns="45445" numCol="1" anchor="ctr" anchorCtr="0" compatLnSpc="1"/>
          <a:lstStyle>
            <a:lvl1pPr algn="r" defTabSz="908050">
              <a:defRPr sz="1200">
                <a:latin typeface="Helvetica" pitchFamily="34" charset="0"/>
              </a:defRPr>
            </a:lvl1pPr>
          </a:lstStyle>
          <a:p>
            <a:pPr marL="0" marR="0" lvl="0" indent="0" algn="r" defTabSz="908050" rtl="0" eaLnBrk="0" fontAlgn="base" latinLnBrk="0" hangingPunct="0">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Helvetica" pitchFamily="34" charset="0"/>
              <a:ea typeface="MS PGothic" panose="020B0600070205080204" pitchFamily="34" charset="-128"/>
              <a:cs typeface="+mn-cs"/>
            </a:endParaRPr>
          </a:p>
        </p:txBody>
      </p:sp>
      <p:sp>
        <p:nvSpPr>
          <p:cNvPr id="6148" name="Rectangle 4"/>
          <p:cNvSpPr>
            <a:spLocks noGrp="1" noRot="1" noChangeAspect="1" noTextEdit="1"/>
          </p:cNvSpPr>
          <p:nvPr>
            <p:ph type="sldImg"/>
          </p:nvPr>
        </p:nvSpPr>
        <p:spPr>
          <a:xfrm>
            <a:off x="1073150" y="688975"/>
            <a:ext cx="4678363" cy="3508375"/>
          </a:xfrm>
          <a:prstGeom prst="rect">
            <a:avLst/>
          </a:prstGeom>
          <a:noFill/>
          <a:ln w="9525" cap="flat" cmpd="sng">
            <a:solidFill>
              <a:srgbClr val="000000"/>
            </a:solidFill>
            <a:prstDash val="solid"/>
            <a:miter/>
            <a:headEnd type="none" w="med" len="med"/>
            <a:tailEnd type="none" w="med" len="med"/>
          </a:ln>
        </p:spPr>
      </p:sp>
      <p:sp>
        <p:nvSpPr>
          <p:cNvPr id="76805" name="Rectangle 5"/>
          <p:cNvSpPr>
            <a:spLocks noGrp="1" noChangeArrowheads="1"/>
          </p:cNvSpPr>
          <p:nvPr>
            <p:ph type="body" sz="quarter" idx="3"/>
          </p:nvPr>
        </p:nvSpPr>
        <p:spPr bwMode="auto">
          <a:xfrm>
            <a:off x="900113" y="4427538"/>
            <a:ext cx="5100638" cy="4195763"/>
          </a:xfrm>
          <a:prstGeom prst="rect">
            <a:avLst/>
          </a:prstGeom>
          <a:noFill/>
          <a:ln w="9525">
            <a:noFill/>
            <a:miter lim="800000"/>
          </a:ln>
        </p:spPr>
        <p:txBody>
          <a:bodyPr vert="horz" wrap="none" lIns="90892" tIns="45445" rIns="90892" bIns="45445"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rPr>
              <a:t>Fifth level</a:t>
            </a:r>
          </a:p>
        </p:txBody>
      </p:sp>
      <p:sp>
        <p:nvSpPr>
          <p:cNvPr id="76806" name="Rectangle 6"/>
          <p:cNvSpPr>
            <a:spLocks noGrp="1" noChangeArrowheads="1"/>
          </p:cNvSpPr>
          <p:nvPr>
            <p:ph type="ftr" sz="quarter" idx="4"/>
          </p:nvPr>
        </p:nvSpPr>
        <p:spPr bwMode="auto">
          <a:xfrm>
            <a:off x="0" y="8853488"/>
            <a:ext cx="2998788" cy="457200"/>
          </a:xfrm>
          <a:prstGeom prst="rect">
            <a:avLst/>
          </a:prstGeom>
          <a:noFill/>
          <a:ln w="9525">
            <a:noFill/>
            <a:miter lim="800000"/>
          </a:ln>
        </p:spPr>
        <p:txBody>
          <a:bodyPr vert="horz" wrap="none" lIns="90892" tIns="45445" rIns="90892" bIns="45445" numCol="1" anchor="b" anchorCtr="0" compatLnSpc="1"/>
          <a:lstStyle>
            <a:lvl1pPr defTabSz="908050">
              <a:defRPr sz="1200">
                <a:latin typeface="Helvetica" pitchFamily="34" charset="0"/>
              </a:defRPr>
            </a:lvl1pPr>
          </a:lstStyle>
          <a:p>
            <a:pPr marL="0" marR="0" lvl="0" indent="0" algn="l" defTabSz="908050" rtl="0" eaLnBrk="0" fontAlgn="base" latinLnBrk="0" hangingPunct="0">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Helvetica" pitchFamily="34" charset="0"/>
              <a:ea typeface="MS PGothic" panose="020B0600070205080204" pitchFamily="34" charset="-128"/>
              <a:cs typeface="+mn-cs"/>
            </a:endParaRPr>
          </a:p>
        </p:txBody>
      </p:sp>
      <p:sp>
        <p:nvSpPr>
          <p:cNvPr id="76807" name="Rectangle 7"/>
          <p:cNvSpPr>
            <a:spLocks noGrp="1" noChangeArrowheads="1"/>
          </p:cNvSpPr>
          <p:nvPr>
            <p:ph type="sldNum" sz="quarter" idx="5"/>
          </p:nvPr>
        </p:nvSpPr>
        <p:spPr bwMode="auto">
          <a:xfrm>
            <a:off x="3900488" y="8853488"/>
            <a:ext cx="3000375" cy="457200"/>
          </a:xfrm>
          <a:prstGeom prst="rect">
            <a:avLst/>
          </a:prstGeom>
          <a:noFill/>
          <a:ln w="9525">
            <a:noFill/>
            <a:miter lim="800000"/>
          </a:ln>
        </p:spPr>
        <p:txBody>
          <a:bodyPr vert="horz" wrap="none" lIns="90892" tIns="45445" rIns="90892" bIns="45445" numCol="1" anchor="b" anchorCtr="0" compatLnSpc="1"/>
          <a:lstStyle/>
          <a:p>
            <a:pPr lvl="0" algn="r" defTabSz="908050" fontAlgn="base">
              <a:buNone/>
            </a:pPr>
            <a:fld id="{9A0DB2DC-4C9A-4742-B13C-FB6460FD3503}" type="slidenum">
              <a:rPr lang="en-US" altLang="zh-CN" sz="1200" strike="noStrike" noProof="1" dirty="0">
                <a:latin typeface="Helvetica" pitchFamily="34" charset="0"/>
                <a:ea typeface="MS PGothic" panose="020B0600070205080204" pitchFamily="34" charset="-128"/>
                <a:cs typeface="+mn-cs"/>
              </a:rPr>
              <a:t>‹#›</a:t>
            </a:fld>
            <a:endParaRPr lang="en-US" altLang="zh-CN" sz="1200" strike="noStrike" noProof="1">
              <a:latin typeface="Helvetica"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ea typeface="宋体" panose="02010600030101010101" pitchFamily="2" charset="-122"/>
              </a:rPr>
              <a:t>1</a:t>
            </a:fld>
            <a:endParaRPr lang="en-US" altLang="zh-CN" sz="1200" dirty="0">
              <a:latin typeface="Helvetica" pitchFamily="34" charset="0"/>
              <a:ea typeface="宋体" panose="02010600030101010101" pitchFamily="2" charset="-122"/>
            </a:endParaRPr>
          </a:p>
        </p:txBody>
      </p:sp>
      <p:sp>
        <p:nvSpPr>
          <p:cNvPr id="8194" name="Rectangle 2"/>
          <p:cNvSpPr>
            <a:spLocks noGrp="1" noRot="1" noChangeAspect="1" noTextEdit="1"/>
          </p:cNvSpPr>
          <p:nvPr>
            <p:ph type="sldImg"/>
          </p:nvPr>
        </p:nvSpPr>
        <p:spPr>
          <a:ln/>
        </p:spPr>
      </p:sp>
      <p:sp>
        <p:nvSpPr>
          <p:cNvPr id="8195"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2</a:t>
            </a:fld>
            <a:endParaRPr lang="en-US" altLang="zh-CN" sz="1200" dirty="0">
              <a:latin typeface="Helvetica" pitchFamily="34" charset="0"/>
            </a:endParaRPr>
          </a:p>
        </p:txBody>
      </p:sp>
      <p:sp>
        <p:nvSpPr>
          <p:cNvPr id="10242" name="Rectangle 2"/>
          <p:cNvSpPr>
            <a:spLocks noGrp="1" noRot="1" noChangeAspect="1" noTextEdit="1"/>
          </p:cNvSpPr>
          <p:nvPr>
            <p:ph type="sldImg"/>
          </p:nvPr>
        </p:nvSpPr>
        <p:spPr>
          <a:ln/>
        </p:spPr>
      </p:sp>
      <p:sp>
        <p:nvSpPr>
          <p:cNvPr id="10243"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3</a:t>
            </a:fld>
            <a:endParaRPr lang="en-US" altLang="zh-CN" sz="1200" dirty="0">
              <a:latin typeface="Helvetica" pitchFamily="34" charset="0"/>
            </a:endParaRPr>
          </a:p>
        </p:txBody>
      </p:sp>
      <p:sp>
        <p:nvSpPr>
          <p:cNvPr id="14338" name="Rectangle 1026"/>
          <p:cNvSpPr>
            <a:spLocks noGrp="1" noRot="1" noChangeAspect="1" noTextEdit="1"/>
          </p:cNvSpPr>
          <p:nvPr>
            <p:ph type="sldImg"/>
          </p:nvPr>
        </p:nvSpPr>
        <p:spPr>
          <a:solidFill>
            <a:srgbClr val="FFFFFF"/>
          </a:solidFill>
          <a:ln/>
        </p:spPr>
      </p:sp>
      <p:sp>
        <p:nvSpPr>
          <p:cNvPr id="14339" name="Rectangle 1027"/>
          <p:cNvSpPr>
            <a:spLocks noGrp="1"/>
          </p:cNvSpPr>
          <p:nvPr>
            <p:ph type="body"/>
          </p:nvPr>
        </p:nvSpPr>
        <p:spPr>
          <a:xfrm>
            <a:off x="900113" y="4427538"/>
            <a:ext cx="5100637" cy="4195762"/>
          </a:xfrm>
          <a:solidFill>
            <a:srgbClr val="FFFFFF"/>
          </a:solidFill>
          <a:ln>
            <a:solidFill>
              <a:srgbClr val="000000"/>
            </a:solidFill>
            <a:miter/>
          </a:ln>
        </p:spPr>
        <p:txBody>
          <a:bodyPr wrap="none" lIns="90892" tIns="45445" rIns="90892" bIns="45445" anchor="ctr" anchorCtr="0"/>
          <a:lstStyle/>
          <a:p>
            <a:pPr lvl="0" eaLnBrk="1" hangingPunct="1"/>
            <a:endParaRPr lang="zh-CN" altLang="zh-CN" dirty="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4</a:t>
            </a:fld>
            <a:endParaRPr lang="en-US" altLang="zh-CN" sz="1200" dirty="0">
              <a:latin typeface="Helvetica" pitchFamily="34" charset="0"/>
            </a:endParaRPr>
          </a:p>
        </p:txBody>
      </p:sp>
      <p:sp>
        <p:nvSpPr>
          <p:cNvPr id="14338" name="Rectangle 1026"/>
          <p:cNvSpPr>
            <a:spLocks noGrp="1" noRot="1" noChangeAspect="1" noTextEdit="1"/>
          </p:cNvSpPr>
          <p:nvPr>
            <p:ph type="sldImg"/>
          </p:nvPr>
        </p:nvSpPr>
        <p:spPr>
          <a:solidFill>
            <a:srgbClr val="FFFFFF"/>
          </a:solidFill>
          <a:ln/>
        </p:spPr>
      </p:sp>
      <p:sp>
        <p:nvSpPr>
          <p:cNvPr id="14339" name="Rectangle 1027"/>
          <p:cNvSpPr>
            <a:spLocks noGrp="1"/>
          </p:cNvSpPr>
          <p:nvPr>
            <p:ph type="body"/>
          </p:nvPr>
        </p:nvSpPr>
        <p:spPr>
          <a:xfrm>
            <a:off x="900113" y="4427538"/>
            <a:ext cx="5100637" cy="4195762"/>
          </a:xfrm>
          <a:solidFill>
            <a:srgbClr val="FFFFFF"/>
          </a:solidFill>
          <a:ln>
            <a:solidFill>
              <a:srgbClr val="000000"/>
            </a:solidFill>
            <a:miter/>
          </a:ln>
        </p:spPr>
        <p:txBody>
          <a:bodyPr wrap="none" lIns="90892" tIns="45445" rIns="90892" bIns="45445" anchor="ctr" anchorCtr="0"/>
          <a:lstStyle/>
          <a:p>
            <a:pPr lvl="0" eaLnBrk="1" hangingPunct="1"/>
            <a:endParaRPr lang="zh-CN" altLang="zh-CN" dirty="0">
              <a:latin typeface="Arial" panose="020B0604020202020204" pitchFamily="34" charset="0"/>
            </a:endParaRPr>
          </a:p>
        </p:txBody>
      </p:sp>
    </p:spTree>
    <p:extLst>
      <p:ext uri="{BB962C8B-B14F-4D97-AF65-F5344CB8AC3E}">
        <p14:creationId xmlns:p14="http://schemas.microsoft.com/office/powerpoint/2010/main" val="18936760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5</a:t>
            </a:fld>
            <a:endParaRPr lang="en-US" altLang="zh-CN" sz="1200" dirty="0">
              <a:latin typeface="Helvetica" pitchFamily="34" charset="0"/>
            </a:endParaRPr>
          </a:p>
        </p:txBody>
      </p:sp>
      <p:sp>
        <p:nvSpPr>
          <p:cNvPr id="16386" name="Rectangle 1026"/>
          <p:cNvSpPr>
            <a:spLocks noGrp="1" noRot="1" noChangeAspect="1" noTextEdit="1"/>
          </p:cNvSpPr>
          <p:nvPr>
            <p:ph type="sldImg"/>
          </p:nvPr>
        </p:nvSpPr>
        <p:spPr>
          <a:solidFill>
            <a:srgbClr val="FFFFFF"/>
          </a:solidFill>
          <a:ln/>
        </p:spPr>
      </p:sp>
      <p:sp>
        <p:nvSpPr>
          <p:cNvPr id="16387" name="Rectangle 1027"/>
          <p:cNvSpPr>
            <a:spLocks noGrp="1"/>
          </p:cNvSpPr>
          <p:nvPr>
            <p:ph type="body"/>
          </p:nvPr>
        </p:nvSpPr>
        <p:spPr>
          <a:xfrm>
            <a:off x="900113" y="4427538"/>
            <a:ext cx="5100637" cy="4195762"/>
          </a:xfrm>
          <a:solidFill>
            <a:srgbClr val="FFFFFF"/>
          </a:solidFill>
          <a:ln>
            <a:solidFill>
              <a:srgbClr val="000000"/>
            </a:solidFill>
            <a:miter/>
          </a:ln>
        </p:spPr>
        <p:txBody>
          <a:bodyPr wrap="none" lIns="90892" tIns="45445" rIns="90892" bIns="45445" anchor="ctr" anchorCtr="0"/>
          <a:lstStyle/>
          <a:p>
            <a:pPr lvl="0" eaLnBrk="1" hangingPunct="1"/>
            <a:endParaRPr lang="zh-CN" altLang="zh-CN" dirty="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txBox="1">
            <a:spLocks noGrp="1"/>
          </p:cNvSpPr>
          <p:nvPr/>
        </p:nvSpPr>
        <p:spPr>
          <a:xfrm>
            <a:off x="3900488" y="8853488"/>
            <a:ext cx="3000375" cy="457200"/>
          </a:xfrm>
          <a:prstGeom prst="rect">
            <a:avLst/>
          </a:prstGeom>
          <a:noFill/>
          <a:ln w="9525">
            <a:noFill/>
          </a:ln>
        </p:spPr>
        <p:txBody>
          <a:bodyPr wrap="none" lIns="90892" tIns="45445" rIns="90892" bIns="45445" anchor="b" anchorCtr="0"/>
          <a:lstStyle/>
          <a:p>
            <a:pPr lvl="0" algn="r" defTabSz="908050"/>
            <a:fld id="{9A0DB2DC-4C9A-4742-B13C-FB6460FD3503}" type="slidenum">
              <a:rPr lang="en-US" altLang="zh-CN" sz="1200" dirty="0">
                <a:latin typeface="Helvetica" pitchFamily="34" charset="0"/>
              </a:rPr>
              <a:t>6</a:t>
            </a:fld>
            <a:endParaRPr lang="en-US" altLang="zh-CN" sz="1200" dirty="0">
              <a:latin typeface="Helvetica" pitchFamily="34" charset="0"/>
            </a:endParaRPr>
          </a:p>
        </p:txBody>
      </p:sp>
      <p:sp>
        <p:nvSpPr>
          <p:cNvPr id="18434" name="Rectangle 2"/>
          <p:cNvSpPr>
            <a:spLocks noGrp="1" noRot="1" noChangeAspect="1" noTextEdit="1"/>
          </p:cNvSpPr>
          <p:nvPr>
            <p:ph type="sldImg"/>
          </p:nvPr>
        </p:nvSpPr>
        <p:spPr>
          <a:ln/>
        </p:spPr>
      </p:sp>
      <p:sp>
        <p:nvSpPr>
          <p:cNvPr id="18435" name="Rectangle 3"/>
          <p:cNvSpPr>
            <a:spLocks noGrp="1"/>
          </p:cNvSpPr>
          <p:nvPr>
            <p:ph type="body"/>
          </p:nvPr>
        </p:nvSpPr>
        <p:spPr>
          <a:xfrm>
            <a:off x="900113" y="4427538"/>
            <a:ext cx="5100637" cy="4195762"/>
          </a:xfrm>
          <a:ln/>
        </p:spPr>
        <p:txBody>
          <a:bodyPr wrap="none" lIns="90892" tIns="45445" rIns="90892" bIns="45445" anchor="ctr" anchorCtr="0"/>
          <a:lstStyle/>
          <a:p>
            <a:pPr lvl="0" eaLnBrk="1" hangingPunct="1"/>
            <a:endParaRPr lang="zh-CN" altLang="zh-CN" dirty="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7</a:t>
            </a:fld>
            <a:endParaRPr lang="en-US" altLang="zh-CN" sz="1200" dirty="0">
              <a:latin typeface="Helvetica" pitchFamily="34" charset="0"/>
            </a:endParaRPr>
          </a:p>
        </p:txBody>
      </p:sp>
      <p:sp>
        <p:nvSpPr>
          <p:cNvPr id="20482" name="Rectangle 2"/>
          <p:cNvSpPr>
            <a:spLocks noGrp="1" noRot="1" noChangeAspect="1" noTextEdit="1"/>
          </p:cNvSpPr>
          <p:nvPr>
            <p:ph type="sldImg"/>
          </p:nvPr>
        </p:nvSpPr>
        <p:spPr>
          <a:ln/>
        </p:spPr>
      </p:sp>
      <p:sp>
        <p:nvSpPr>
          <p:cNvPr id="20483" name="Rectangle 3"/>
          <p:cNvSpPr>
            <a:spLocks noGrp="1"/>
          </p:cNvSpPr>
          <p:nvPr>
            <p:ph type="body"/>
          </p:nvPr>
        </p:nvSpPr>
        <p:spPr>
          <a:xfrm>
            <a:off x="900113" y="4427538"/>
            <a:ext cx="5100637" cy="4195762"/>
          </a:xfrm>
          <a:ln/>
        </p:spPr>
        <p:txBody>
          <a:bodyPr wrap="none" lIns="90892" tIns="45445" rIns="90892" bIns="45445" anchor="ctr" anchorCtr="0"/>
          <a:lstStyle/>
          <a:p>
            <a:pPr lvl="0" eaLnBrk="1" hangingPunct="1"/>
            <a:r>
              <a:rPr lang="en-US" altLang="zh-CN" dirty="0">
                <a:latin typeface="Arial" panose="020B0604020202020204" pitchFamily="34" charset="0"/>
              </a:rPr>
              <a:t>Register</a:t>
            </a:r>
            <a:r>
              <a:rPr lang="zh-CN" altLang="en-US" dirty="0">
                <a:latin typeface="Arial" panose="020B0604020202020204" pitchFamily="34" charset="0"/>
              </a:rPr>
              <a:t>是</a:t>
            </a:r>
            <a:r>
              <a:rPr lang="en-US" altLang="zh-CN" dirty="0" err="1">
                <a:latin typeface="Arial" panose="020B0604020202020204" pitchFamily="34" charset="0"/>
              </a:rPr>
              <a:t>cpu</a:t>
            </a:r>
            <a:r>
              <a:rPr lang="zh-CN" altLang="en-US" dirty="0">
                <a:latin typeface="Arial" panose="020B0604020202020204" pitchFamily="34" charset="0"/>
              </a:rPr>
              <a:t>本地寄存器</a:t>
            </a:r>
            <a:endParaRPr lang="zh-CN" altLang="zh-CN" dirty="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8</a:t>
            </a:fld>
            <a:endParaRPr lang="en-US" altLang="zh-CN" sz="1200" dirty="0">
              <a:latin typeface="Helvetica" pitchFamily="34" charset="0"/>
            </a:endParaRPr>
          </a:p>
        </p:txBody>
      </p:sp>
      <p:sp>
        <p:nvSpPr>
          <p:cNvPr id="20482" name="Rectangle 2"/>
          <p:cNvSpPr>
            <a:spLocks noGrp="1" noRot="1" noChangeAspect="1" noTextEdit="1"/>
          </p:cNvSpPr>
          <p:nvPr>
            <p:ph type="sldImg"/>
          </p:nvPr>
        </p:nvSpPr>
        <p:spPr>
          <a:ln/>
        </p:spPr>
      </p:sp>
      <p:sp>
        <p:nvSpPr>
          <p:cNvPr id="20483" name="Rectangle 3"/>
          <p:cNvSpPr>
            <a:spLocks noGrp="1"/>
          </p:cNvSpPr>
          <p:nvPr>
            <p:ph type="body"/>
          </p:nvPr>
        </p:nvSpPr>
        <p:spPr>
          <a:xfrm>
            <a:off x="900113" y="4427538"/>
            <a:ext cx="5100637" cy="4195762"/>
          </a:xfrm>
          <a:ln/>
        </p:spPr>
        <p:txBody>
          <a:bodyPr wrap="none" lIns="90892" tIns="45445" rIns="90892" bIns="45445" anchor="ctr" anchorCtr="0"/>
          <a:lstStyle/>
          <a:p>
            <a:pPr lvl="0" eaLnBrk="1" hangingPunct="1"/>
            <a:r>
              <a:rPr lang="en-US" altLang="zh-CN" dirty="0">
                <a:latin typeface="Arial" panose="020B0604020202020204" pitchFamily="34" charset="0"/>
              </a:rPr>
              <a:t>Register</a:t>
            </a:r>
            <a:r>
              <a:rPr lang="zh-CN" altLang="en-US" dirty="0">
                <a:latin typeface="Arial" panose="020B0604020202020204" pitchFamily="34" charset="0"/>
              </a:rPr>
              <a:t>是</a:t>
            </a:r>
            <a:r>
              <a:rPr lang="en-US" altLang="zh-CN" dirty="0" err="1">
                <a:latin typeface="Arial" panose="020B0604020202020204" pitchFamily="34" charset="0"/>
              </a:rPr>
              <a:t>cpu</a:t>
            </a:r>
            <a:r>
              <a:rPr lang="zh-CN" altLang="en-US" dirty="0">
                <a:latin typeface="Arial" panose="020B0604020202020204" pitchFamily="34" charset="0"/>
              </a:rPr>
              <a:t>本地寄存器</a:t>
            </a:r>
            <a:endParaRPr lang="en-US" altLang="zh-CN" dirty="0">
              <a:latin typeface="Arial" panose="020B0604020202020204" pitchFamily="34" charset="0"/>
            </a:endParaRPr>
          </a:p>
          <a:p>
            <a:pPr lvl="0" eaLnBrk="1" hangingPunct="1"/>
            <a:r>
              <a:rPr lang="zh-CN" altLang="en-US" dirty="0"/>
              <a:t>并发执行：多个进程在使用同一个</a:t>
            </a:r>
            <a:r>
              <a:rPr lang="en-US" altLang="zh-CN" dirty="0" err="1"/>
              <a:t>cpu</a:t>
            </a:r>
            <a:r>
              <a:rPr lang="zh-CN" altLang="en-US" dirty="0"/>
              <a:t>，每个进程都独占</a:t>
            </a:r>
            <a:r>
              <a:rPr lang="en-US" altLang="zh-CN" dirty="0" err="1"/>
              <a:t>cpu</a:t>
            </a:r>
            <a:r>
              <a:rPr lang="zh-CN" altLang="en-US" dirty="0"/>
              <a:t>一会，然后让出</a:t>
            </a:r>
            <a:r>
              <a:rPr lang="en-US" altLang="zh-CN" dirty="0" err="1"/>
              <a:t>cpu</a:t>
            </a:r>
            <a:r>
              <a:rPr lang="zh-CN" altLang="en-US" dirty="0"/>
              <a:t>资源，供其他进程执行</a:t>
            </a:r>
            <a:br>
              <a:rPr lang="zh-CN" altLang="en-US" dirty="0"/>
            </a:br>
            <a:r>
              <a:rPr lang="zh-CN" altLang="en-US" dirty="0"/>
              <a:t>并行执行：多个进程，在同一时刻，每个进程都有一个</a:t>
            </a:r>
            <a:r>
              <a:rPr lang="en-US" altLang="zh-CN" dirty="0" err="1"/>
              <a:t>cpu</a:t>
            </a:r>
            <a:r>
              <a:rPr lang="zh-CN" altLang="en-US" dirty="0"/>
              <a:t>进行运算。</a:t>
            </a:r>
            <a:endParaRPr lang="zh-CN" altLang="zh-CN" dirty="0">
              <a:latin typeface="Arial" panose="020B0604020202020204" pitchFamily="34" charset="0"/>
            </a:endParaRPr>
          </a:p>
        </p:txBody>
      </p:sp>
    </p:spTree>
    <p:extLst>
      <p:ext uri="{BB962C8B-B14F-4D97-AF65-F5344CB8AC3E}">
        <p14:creationId xmlns:p14="http://schemas.microsoft.com/office/powerpoint/2010/main" val="25124977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9</a:t>
            </a:fld>
            <a:endParaRPr lang="en-US" altLang="zh-CN" sz="1200" dirty="0">
              <a:latin typeface="Helvetica" pitchFamily="34" charset="0"/>
            </a:endParaRPr>
          </a:p>
        </p:txBody>
      </p:sp>
      <p:sp>
        <p:nvSpPr>
          <p:cNvPr id="20482" name="Rectangle 2"/>
          <p:cNvSpPr>
            <a:spLocks noGrp="1" noRot="1" noChangeAspect="1" noTextEdit="1"/>
          </p:cNvSpPr>
          <p:nvPr>
            <p:ph type="sldImg"/>
          </p:nvPr>
        </p:nvSpPr>
        <p:spPr>
          <a:ln/>
        </p:spPr>
      </p:sp>
      <p:sp>
        <p:nvSpPr>
          <p:cNvPr id="20483" name="Rectangle 3"/>
          <p:cNvSpPr>
            <a:spLocks noGrp="1"/>
          </p:cNvSpPr>
          <p:nvPr>
            <p:ph type="body"/>
          </p:nvPr>
        </p:nvSpPr>
        <p:spPr>
          <a:xfrm>
            <a:off x="900113" y="4427538"/>
            <a:ext cx="5100637" cy="4195762"/>
          </a:xfrm>
          <a:ln/>
        </p:spPr>
        <p:txBody>
          <a:bodyPr wrap="none" lIns="90892" tIns="45445" rIns="90892" bIns="45445" anchor="ctr" anchorCtr="0"/>
          <a:lstStyle/>
          <a:p>
            <a:pPr lvl="0" eaLnBrk="1" hangingPunct="1"/>
            <a:r>
              <a:rPr lang="en-US" altLang="zh-CN" dirty="0">
                <a:latin typeface="Arial" panose="020B0604020202020204" pitchFamily="34" charset="0"/>
              </a:rPr>
              <a:t>Register</a:t>
            </a:r>
            <a:r>
              <a:rPr lang="zh-CN" altLang="en-US" dirty="0">
                <a:latin typeface="Arial" panose="020B0604020202020204" pitchFamily="34" charset="0"/>
              </a:rPr>
              <a:t>是</a:t>
            </a:r>
            <a:r>
              <a:rPr lang="en-US" altLang="zh-CN" dirty="0" err="1">
                <a:latin typeface="Arial" panose="020B0604020202020204" pitchFamily="34" charset="0"/>
              </a:rPr>
              <a:t>cpu</a:t>
            </a:r>
            <a:r>
              <a:rPr lang="zh-CN" altLang="en-US" dirty="0">
                <a:latin typeface="Arial" panose="020B0604020202020204" pitchFamily="34" charset="0"/>
              </a:rPr>
              <a:t>本地寄存器</a:t>
            </a:r>
            <a:endParaRPr lang="zh-CN" altLang="zh-CN" dirty="0">
              <a:latin typeface="Arial" panose="020B0604020202020204" pitchFamily="34" charset="0"/>
            </a:endParaRPr>
          </a:p>
        </p:txBody>
      </p:sp>
    </p:spTree>
    <p:extLst>
      <p:ext uri="{BB962C8B-B14F-4D97-AF65-F5344CB8AC3E}">
        <p14:creationId xmlns:p14="http://schemas.microsoft.com/office/powerpoint/2010/main" val="35370167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txBox="1">
            <a:spLocks noGrp="1"/>
          </p:cNvSpPr>
          <p:nvPr/>
        </p:nvSpPr>
        <p:spPr>
          <a:xfrm>
            <a:off x="3900488" y="8853488"/>
            <a:ext cx="3000375" cy="457200"/>
          </a:xfrm>
          <a:prstGeom prst="rect">
            <a:avLst/>
          </a:prstGeom>
          <a:noFill/>
          <a:ln w="9525">
            <a:noFill/>
          </a:ln>
        </p:spPr>
        <p:txBody>
          <a:bodyPr wrap="none" lIns="90892" tIns="45445" rIns="90892" bIns="45445" anchor="b" anchorCtr="0"/>
          <a:lstStyle/>
          <a:p>
            <a:pPr lvl="0" algn="r" defTabSz="908050"/>
            <a:fld id="{9A0DB2DC-4C9A-4742-B13C-FB6460FD3503}" type="slidenum">
              <a:rPr lang="en-US" altLang="zh-CN" sz="1200" dirty="0">
                <a:latin typeface="Helvetica" pitchFamily="34" charset="0"/>
              </a:rPr>
              <a:t>10</a:t>
            </a:fld>
            <a:endParaRPr lang="en-US" altLang="zh-CN" sz="1200" dirty="0">
              <a:latin typeface="Helvetica" pitchFamily="34" charset="0"/>
            </a:endParaRPr>
          </a:p>
        </p:txBody>
      </p:sp>
      <p:sp>
        <p:nvSpPr>
          <p:cNvPr id="22530" name="Rectangle 2"/>
          <p:cNvSpPr>
            <a:spLocks noGrp="1" noRot="1" noChangeAspect="1" noTextEdit="1"/>
          </p:cNvSpPr>
          <p:nvPr>
            <p:ph type="sldImg"/>
          </p:nvPr>
        </p:nvSpPr>
        <p:spPr>
          <a:ln/>
        </p:spPr>
      </p:sp>
      <p:sp>
        <p:nvSpPr>
          <p:cNvPr id="22531" name="Rectangle 3"/>
          <p:cNvSpPr>
            <a:spLocks noGrp="1"/>
          </p:cNvSpPr>
          <p:nvPr>
            <p:ph type="body"/>
          </p:nvPr>
        </p:nvSpPr>
        <p:spPr>
          <a:xfrm>
            <a:off x="900113" y="4427538"/>
            <a:ext cx="5100637" cy="4195762"/>
          </a:xfrm>
          <a:ln/>
        </p:spPr>
        <p:txBody>
          <a:bodyPr wrap="none" lIns="90892" tIns="45445" rIns="90892" bIns="45445" anchor="ctr" anchorCtr="0"/>
          <a:lstStyle/>
          <a:p>
            <a:pPr lvl="0" eaLnBrk="1" hangingPunct="1">
              <a:lnSpc>
                <a:spcPct val="125000"/>
              </a:lnSpc>
            </a:pPr>
            <a:r>
              <a:rPr lang="en-US" altLang="zh-CN" dirty="0"/>
              <a:t>race condition</a:t>
            </a:r>
            <a:r>
              <a:rPr lang="zh-CN" altLang="en-US" dirty="0"/>
              <a:t>竞争条件</a:t>
            </a:r>
          </a:p>
          <a:p>
            <a:pPr marL="742950" lvl="1" indent="-285750" eaLnBrk="1" hangingPunct="1">
              <a:lnSpc>
                <a:spcPct val="125000"/>
              </a:lnSpc>
            </a:pPr>
            <a:r>
              <a:rPr lang="zh-CN" altLang="en-US" sz="1400" dirty="0"/>
              <a:t>若干个并发的进程(线程)都可以访问和操纵同一个共享数据,从而执行结果就取决于并发进程对这个数据的访问次序.</a:t>
            </a:r>
          </a:p>
          <a:p>
            <a:pPr marL="742950" lvl="1" indent="-285750" eaLnBrk="1" hangingPunct="1">
              <a:lnSpc>
                <a:spcPct val="125000"/>
              </a:lnSpc>
            </a:pPr>
            <a:r>
              <a:rPr lang="zh-CN" altLang="en-US" sz="1400" dirty="0"/>
              <a:t>为了保证数据的一致性,需要有同步机制来保证多个进程对共享数据的互斥访问.</a:t>
            </a:r>
          </a:p>
          <a:p>
            <a:pPr lvl="0" eaLnBrk="1" hangingPunct="1"/>
            <a:endParaRPr lang="zh-CN" altLang="zh-CN" dirty="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txBox="1">
            <a:spLocks noGrp="1"/>
          </p:cNvSpPr>
          <p:nvPr/>
        </p:nvSpPr>
        <p:spPr>
          <a:xfrm>
            <a:off x="3900488" y="8832850"/>
            <a:ext cx="2981325" cy="463550"/>
          </a:xfrm>
          <a:prstGeom prst="rect">
            <a:avLst/>
          </a:prstGeom>
          <a:noFill/>
          <a:ln w="9525">
            <a:noFill/>
          </a:ln>
        </p:spPr>
        <p:txBody>
          <a:bodyPr wrap="none" lIns="92436" tIns="46217" rIns="92436" bIns="46217" anchor="b" anchorCtr="0"/>
          <a:lstStyle/>
          <a:p>
            <a:pPr lvl="0" algn="r" defTabSz="923925"/>
            <a:fld id="{9A0DB2DC-4C9A-4742-B13C-FB6460FD3503}" type="slidenum">
              <a:rPr lang="en-US" altLang="zh-CN" sz="1200" dirty="0">
                <a:latin typeface="Times New Roman" panose="02020603050405020304" pitchFamily="18" charset="0"/>
              </a:rPr>
              <a:t>11</a:t>
            </a:fld>
            <a:endParaRPr lang="en-US" altLang="zh-CN" sz="1200" dirty="0">
              <a:latin typeface="Times New Roman" panose="02020603050405020304" pitchFamily="18" charset="0"/>
            </a:endParaRPr>
          </a:p>
        </p:txBody>
      </p:sp>
      <p:sp>
        <p:nvSpPr>
          <p:cNvPr id="24578" name="Rectangle 2"/>
          <p:cNvSpPr>
            <a:spLocks noGrp="1" noRot="1" noChangeAspect="1" noTextEdit="1"/>
          </p:cNvSpPr>
          <p:nvPr>
            <p:ph type="sldImg"/>
          </p:nvPr>
        </p:nvSpPr>
        <p:spPr>
          <a:xfrm>
            <a:off x="1117600" y="698500"/>
            <a:ext cx="4648200" cy="3486150"/>
          </a:xfrm>
          <a:ln/>
        </p:spPr>
      </p:sp>
      <p:sp>
        <p:nvSpPr>
          <p:cNvPr id="24579" name="Rectangle 3"/>
          <p:cNvSpPr>
            <a:spLocks noGrp="1"/>
          </p:cNvSpPr>
          <p:nvPr>
            <p:ph type="body"/>
          </p:nvPr>
        </p:nvSpPr>
        <p:spPr>
          <a:xfrm>
            <a:off x="917575" y="4416425"/>
            <a:ext cx="5046663" cy="4181475"/>
          </a:xfrm>
          <a:ln/>
        </p:spPr>
        <p:txBody>
          <a:bodyPr wrap="none" lIns="92436" tIns="46217" rIns="92436" bIns="46217" anchor="ctr" anchorCtr="0"/>
          <a:lstStyle/>
          <a:p>
            <a:pPr lvl="0" eaLnBrk="1" hangingPunct="1"/>
            <a:endParaRPr lang="zh-CN" altLang="zh-CN" dirty="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txBox="1">
            <a:spLocks noGrp="1"/>
          </p:cNvSpPr>
          <p:nvPr/>
        </p:nvSpPr>
        <p:spPr>
          <a:xfrm>
            <a:off x="3900488" y="8832850"/>
            <a:ext cx="2981325" cy="463550"/>
          </a:xfrm>
          <a:prstGeom prst="rect">
            <a:avLst/>
          </a:prstGeom>
          <a:noFill/>
          <a:ln w="9525">
            <a:noFill/>
          </a:ln>
        </p:spPr>
        <p:txBody>
          <a:bodyPr wrap="none" lIns="92436" tIns="46217" rIns="92436" bIns="46217" anchor="b" anchorCtr="0"/>
          <a:lstStyle/>
          <a:p>
            <a:pPr lvl="0" algn="r" defTabSz="923925"/>
            <a:fld id="{9A0DB2DC-4C9A-4742-B13C-FB6460FD3503}" type="slidenum">
              <a:rPr lang="en-US" altLang="zh-CN" sz="1200" dirty="0">
                <a:latin typeface="Times New Roman" panose="02020603050405020304" pitchFamily="18" charset="0"/>
              </a:rPr>
              <a:t>12</a:t>
            </a:fld>
            <a:endParaRPr lang="en-US" altLang="zh-CN" sz="1200" dirty="0">
              <a:latin typeface="Times New Roman" panose="02020603050405020304" pitchFamily="18" charset="0"/>
            </a:endParaRPr>
          </a:p>
        </p:txBody>
      </p:sp>
      <p:sp>
        <p:nvSpPr>
          <p:cNvPr id="26626" name="Rectangle 2"/>
          <p:cNvSpPr>
            <a:spLocks noGrp="1" noRot="1" noChangeAspect="1" noTextEdit="1"/>
          </p:cNvSpPr>
          <p:nvPr>
            <p:ph type="sldImg"/>
          </p:nvPr>
        </p:nvSpPr>
        <p:spPr>
          <a:xfrm>
            <a:off x="1077913" y="685800"/>
            <a:ext cx="4683125" cy="3511550"/>
          </a:xfrm>
          <a:ln/>
        </p:spPr>
      </p:sp>
      <p:sp>
        <p:nvSpPr>
          <p:cNvPr id="26627" name="Rectangle 3"/>
          <p:cNvSpPr>
            <a:spLocks noGrp="1"/>
          </p:cNvSpPr>
          <p:nvPr>
            <p:ph type="body"/>
          </p:nvPr>
        </p:nvSpPr>
        <p:spPr>
          <a:xfrm>
            <a:off x="900113" y="4427538"/>
            <a:ext cx="5030787" cy="4195762"/>
          </a:xfrm>
          <a:ln/>
        </p:spPr>
        <p:txBody>
          <a:bodyPr wrap="none" lIns="90756" tIns="45378" rIns="90756" bIns="45378" anchor="ctr" anchorCtr="0"/>
          <a:lstStyle/>
          <a:p>
            <a:pPr lvl="0" eaLnBrk="1" hangingPunct="1"/>
            <a:endParaRPr lang="zh-CN" altLang="zh-CN" dirty="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13</a:t>
            </a:fld>
            <a:endParaRPr lang="en-US" altLang="zh-CN" sz="1200" dirty="0">
              <a:latin typeface="Helvetica" pitchFamily="34" charset="0"/>
            </a:endParaRPr>
          </a:p>
        </p:txBody>
      </p:sp>
      <p:sp>
        <p:nvSpPr>
          <p:cNvPr id="12290" name="Rectangle 1026"/>
          <p:cNvSpPr>
            <a:spLocks noGrp="1" noRot="1" noChangeAspect="1" noTextEdit="1"/>
          </p:cNvSpPr>
          <p:nvPr>
            <p:ph type="sldImg"/>
          </p:nvPr>
        </p:nvSpPr>
        <p:spPr>
          <a:solidFill>
            <a:srgbClr val="FFFFFF"/>
          </a:solidFill>
          <a:ln/>
        </p:spPr>
      </p:sp>
      <p:sp>
        <p:nvSpPr>
          <p:cNvPr id="12291" name="Rectangle 1027"/>
          <p:cNvSpPr>
            <a:spLocks noGrp="1"/>
          </p:cNvSpPr>
          <p:nvPr>
            <p:ph type="body"/>
          </p:nvPr>
        </p:nvSpPr>
        <p:spPr>
          <a:xfrm>
            <a:off x="900113" y="4427538"/>
            <a:ext cx="5100637" cy="4195762"/>
          </a:xfrm>
          <a:solidFill>
            <a:srgbClr val="FFFFFF"/>
          </a:solidFill>
          <a:ln>
            <a:solidFill>
              <a:srgbClr val="000000"/>
            </a:solidFill>
            <a:miter/>
          </a:ln>
        </p:spPr>
        <p:txBody>
          <a:bodyPr wrap="none" lIns="90892" tIns="45445" rIns="90892" bIns="45445" anchor="ctr" anchorCtr="0"/>
          <a:lstStyle/>
          <a:p>
            <a:pPr lvl="0" eaLnBrk="1" hangingPunct="1"/>
            <a:endParaRPr lang="zh-CN" altLang="zh-CN" dirty="0">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txBox="1">
            <a:spLocks noGrp="1"/>
          </p:cNvSpPr>
          <p:nvPr/>
        </p:nvSpPr>
        <p:spPr>
          <a:xfrm>
            <a:off x="3900488" y="8853488"/>
            <a:ext cx="3000375" cy="457200"/>
          </a:xfrm>
          <a:prstGeom prst="rect">
            <a:avLst/>
          </a:prstGeom>
          <a:noFill/>
          <a:ln w="9525">
            <a:noFill/>
          </a:ln>
        </p:spPr>
        <p:txBody>
          <a:bodyPr wrap="none" lIns="90892" tIns="45445" rIns="90892" bIns="45445" anchor="b" anchorCtr="0"/>
          <a:lstStyle/>
          <a:p>
            <a:pPr lvl="0" algn="r" defTabSz="908050"/>
            <a:fld id="{9A0DB2DC-4C9A-4742-B13C-FB6460FD3503}" type="slidenum">
              <a:rPr lang="en-US" altLang="zh-CN" sz="1200" dirty="0">
                <a:latin typeface="Helvetica" pitchFamily="34" charset="0"/>
              </a:rPr>
              <a:t>14</a:t>
            </a:fld>
            <a:endParaRPr lang="en-US" altLang="zh-CN" sz="1200" dirty="0">
              <a:latin typeface="Helvetica" pitchFamily="34" charset="0"/>
            </a:endParaRPr>
          </a:p>
        </p:txBody>
      </p:sp>
      <p:sp>
        <p:nvSpPr>
          <p:cNvPr id="28674" name="Rectangle 2"/>
          <p:cNvSpPr>
            <a:spLocks noGrp="1" noRot="1" noChangeAspect="1" noTextEdit="1"/>
          </p:cNvSpPr>
          <p:nvPr>
            <p:ph type="sldImg"/>
          </p:nvPr>
        </p:nvSpPr>
        <p:spPr>
          <a:ln/>
        </p:spPr>
      </p:sp>
      <p:sp>
        <p:nvSpPr>
          <p:cNvPr id="28675" name="Rectangle 3"/>
          <p:cNvSpPr>
            <a:spLocks noGrp="1"/>
          </p:cNvSpPr>
          <p:nvPr>
            <p:ph type="body"/>
          </p:nvPr>
        </p:nvSpPr>
        <p:spPr>
          <a:xfrm>
            <a:off x="900113" y="4427538"/>
            <a:ext cx="5100637" cy="4195762"/>
          </a:xfrm>
          <a:ln/>
        </p:spPr>
        <p:txBody>
          <a:bodyPr wrap="none" lIns="90892" tIns="45445" rIns="90892" bIns="45445" anchor="ctr" anchorCtr="0"/>
          <a:lstStyle/>
          <a:p>
            <a:pPr lvl="0" eaLnBrk="1" hangingPunct="1"/>
            <a:endParaRPr lang="zh-CN" altLang="zh-CN" dirty="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txBox="1">
            <a:spLocks noGrp="1"/>
          </p:cNvSpPr>
          <p:nvPr/>
        </p:nvSpPr>
        <p:spPr>
          <a:xfrm>
            <a:off x="3900488" y="8853488"/>
            <a:ext cx="3000375" cy="457200"/>
          </a:xfrm>
          <a:prstGeom prst="rect">
            <a:avLst/>
          </a:prstGeom>
          <a:noFill/>
          <a:ln w="9525">
            <a:noFill/>
          </a:ln>
        </p:spPr>
        <p:txBody>
          <a:bodyPr wrap="none" lIns="90892" tIns="45445" rIns="90892" bIns="45445" anchor="b" anchorCtr="0"/>
          <a:lstStyle/>
          <a:p>
            <a:pPr lvl="0" algn="r" defTabSz="908050"/>
            <a:fld id="{9A0DB2DC-4C9A-4742-B13C-FB6460FD3503}" type="slidenum">
              <a:rPr lang="en-US" altLang="zh-CN" sz="1200" dirty="0">
                <a:latin typeface="Helvetica" pitchFamily="34" charset="0"/>
              </a:rPr>
              <a:t>15</a:t>
            </a:fld>
            <a:endParaRPr lang="en-US" altLang="zh-CN" sz="1200" dirty="0">
              <a:latin typeface="Helvetica" pitchFamily="34" charset="0"/>
            </a:endParaRPr>
          </a:p>
        </p:txBody>
      </p:sp>
      <p:sp>
        <p:nvSpPr>
          <p:cNvPr id="30722" name="Rectangle 2"/>
          <p:cNvSpPr>
            <a:spLocks noGrp="1" noRot="1" noChangeAspect="1" noTextEdit="1"/>
          </p:cNvSpPr>
          <p:nvPr>
            <p:ph type="sldImg"/>
          </p:nvPr>
        </p:nvSpPr>
        <p:spPr>
          <a:ln/>
        </p:spPr>
      </p:sp>
      <p:sp>
        <p:nvSpPr>
          <p:cNvPr id="30723" name="Rectangle 3"/>
          <p:cNvSpPr>
            <a:spLocks noGrp="1"/>
          </p:cNvSpPr>
          <p:nvPr>
            <p:ph type="body"/>
          </p:nvPr>
        </p:nvSpPr>
        <p:spPr>
          <a:xfrm>
            <a:off x="900113" y="4427538"/>
            <a:ext cx="5100637" cy="4195762"/>
          </a:xfrm>
          <a:ln/>
        </p:spPr>
        <p:txBody>
          <a:bodyPr wrap="none" lIns="90892" tIns="45445" rIns="90892" bIns="45445" anchor="ctr" anchorCtr="0"/>
          <a:lstStyle/>
          <a:p>
            <a:pPr lvl="0" eaLnBrk="1" hangingPunct="1"/>
            <a:endParaRPr lang="zh-CN" altLang="zh-CN" dirty="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16</a:t>
            </a:fld>
            <a:endParaRPr lang="en-US" altLang="zh-CN" sz="1200" dirty="0">
              <a:latin typeface="Helvetica" pitchFamily="34" charset="0"/>
            </a:endParaRPr>
          </a:p>
        </p:txBody>
      </p:sp>
      <p:sp>
        <p:nvSpPr>
          <p:cNvPr id="32770" name="Rectangle 2"/>
          <p:cNvSpPr>
            <a:spLocks noGrp="1" noRot="1" noChangeAspect="1" noTextEdit="1"/>
          </p:cNvSpPr>
          <p:nvPr>
            <p:ph type="sldImg"/>
          </p:nvPr>
        </p:nvSpPr>
        <p:spPr>
          <a:ln/>
        </p:spPr>
      </p:sp>
      <p:sp>
        <p:nvSpPr>
          <p:cNvPr id="32771" name="Rectangle 3"/>
          <p:cNvSpPr>
            <a:spLocks noGrp="1"/>
          </p:cNvSpPr>
          <p:nvPr>
            <p:ph type="body"/>
          </p:nvPr>
        </p:nvSpPr>
        <p:spPr>
          <a:xfrm>
            <a:off x="900113" y="4427538"/>
            <a:ext cx="5100637" cy="4195762"/>
          </a:xfrm>
          <a:ln/>
        </p:spPr>
        <p:txBody>
          <a:bodyPr wrap="none" lIns="90892" tIns="45445" rIns="90892" bIns="45445" anchor="ctr" anchorCtr="0"/>
          <a:lstStyle/>
          <a:p>
            <a:pPr lvl="0" eaLnBrk="1" hangingPunct="1"/>
            <a:r>
              <a:rPr lang="zh-CN" altLang="en-US" dirty="0">
                <a:latin typeface="Arial" panose="020B0604020202020204" pitchFamily="34" charset="0"/>
              </a:rPr>
              <a:t>互斥</a:t>
            </a:r>
            <a:r>
              <a:rPr lang="en-US" altLang="zh-CN" dirty="0">
                <a:latin typeface="Arial" panose="020B0604020202020204" pitchFamily="34" charset="0"/>
              </a:rPr>
              <a:t>(</a:t>
            </a:r>
            <a:r>
              <a:rPr lang="zh-CN" altLang="en-US" dirty="0">
                <a:latin typeface="Arial" panose="020B0604020202020204" pitchFamily="34" charset="0"/>
              </a:rPr>
              <a:t>保证安全</a:t>
            </a:r>
            <a:r>
              <a:rPr lang="en-US" altLang="zh-CN" dirty="0">
                <a:latin typeface="Arial" panose="020B0604020202020204" pitchFamily="34" charset="0"/>
              </a:rPr>
              <a:t>),</a:t>
            </a:r>
            <a:r>
              <a:rPr lang="zh-CN" altLang="en-US" dirty="0">
                <a:latin typeface="Arial" panose="020B0604020202020204" pitchFamily="34" charset="0"/>
              </a:rPr>
              <a:t>有空让进</a:t>
            </a:r>
            <a:r>
              <a:rPr lang="en-US" altLang="zh-CN" dirty="0">
                <a:latin typeface="Arial" panose="020B0604020202020204" pitchFamily="34" charset="0"/>
              </a:rPr>
              <a:t>(</a:t>
            </a:r>
            <a:r>
              <a:rPr lang="zh-CN" altLang="en-US" dirty="0">
                <a:latin typeface="Arial" panose="020B0604020202020204" pitchFamily="34" charset="0"/>
              </a:rPr>
              <a:t>保证资源的利用率</a:t>
            </a:r>
            <a:r>
              <a:rPr lang="en-US" altLang="zh-CN" dirty="0">
                <a:latin typeface="Arial" panose="020B0604020202020204" pitchFamily="34" charset="0"/>
              </a:rPr>
              <a:t>),</a:t>
            </a:r>
            <a:r>
              <a:rPr lang="zh-CN" altLang="en-US" dirty="0">
                <a:latin typeface="Arial" panose="020B0604020202020204" pitchFamily="34" charset="0"/>
              </a:rPr>
              <a:t>有限等待</a:t>
            </a:r>
            <a:r>
              <a:rPr lang="en-US" altLang="zh-CN" dirty="0">
                <a:latin typeface="Arial" panose="020B0604020202020204" pitchFamily="34" charset="0"/>
              </a:rPr>
              <a:t>(</a:t>
            </a:r>
            <a:r>
              <a:rPr lang="zh-CN" altLang="en-US" dirty="0">
                <a:latin typeface="Arial" panose="020B0604020202020204" pitchFamily="34" charset="0"/>
              </a:rPr>
              <a:t>防止饥饿</a:t>
            </a:r>
            <a:r>
              <a:rPr lang="en-US" altLang="zh-CN" dirty="0">
                <a:latin typeface="Arial" panose="020B0604020202020204" pitchFamily="34" charset="0"/>
              </a:rPr>
              <a:t>)</a:t>
            </a:r>
            <a:endParaRPr lang="zh-CN" altLang="zh-CN" dirty="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txBox="1">
            <a:spLocks noGrp="1"/>
          </p:cNvSpPr>
          <p:nvPr/>
        </p:nvSpPr>
        <p:spPr>
          <a:xfrm>
            <a:off x="3900488" y="8832850"/>
            <a:ext cx="2981325" cy="463550"/>
          </a:xfrm>
          <a:prstGeom prst="rect">
            <a:avLst/>
          </a:prstGeom>
          <a:noFill/>
          <a:ln w="9525">
            <a:noFill/>
          </a:ln>
        </p:spPr>
        <p:txBody>
          <a:bodyPr wrap="none" lIns="92436" tIns="46217" rIns="92436" bIns="46217" anchor="b" anchorCtr="0"/>
          <a:lstStyle/>
          <a:p>
            <a:pPr lvl="0" algn="r" defTabSz="923925"/>
            <a:fld id="{9A0DB2DC-4C9A-4742-B13C-FB6460FD3503}" type="slidenum">
              <a:rPr lang="en-US" altLang="zh-CN" sz="1200" dirty="0">
                <a:latin typeface="Times New Roman" panose="02020603050405020304" pitchFamily="18" charset="0"/>
              </a:rPr>
              <a:t>17</a:t>
            </a:fld>
            <a:endParaRPr lang="en-US" altLang="zh-CN" sz="1200" dirty="0">
              <a:latin typeface="Times New Roman" panose="02020603050405020304" pitchFamily="18" charset="0"/>
            </a:endParaRPr>
          </a:p>
        </p:txBody>
      </p:sp>
      <p:sp>
        <p:nvSpPr>
          <p:cNvPr id="34818" name="Rectangle 2"/>
          <p:cNvSpPr>
            <a:spLocks noGrp="1" noRot="1" noChangeAspect="1" noTextEdit="1"/>
          </p:cNvSpPr>
          <p:nvPr>
            <p:ph type="sldImg"/>
          </p:nvPr>
        </p:nvSpPr>
        <p:spPr>
          <a:xfrm>
            <a:off x="1117600" y="698500"/>
            <a:ext cx="4648200" cy="3486150"/>
          </a:xfrm>
          <a:ln/>
        </p:spPr>
      </p:sp>
      <p:sp>
        <p:nvSpPr>
          <p:cNvPr id="34819" name="Rectangle 3"/>
          <p:cNvSpPr>
            <a:spLocks noGrp="1"/>
          </p:cNvSpPr>
          <p:nvPr>
            <p:ph type="body"/>
          </p:nvPr>
        </p:nvSpPr>
        <p:spPr>
          <a:xfrm>
            <a:off x="917575" y="4416425"/>
            <a:ext cx="5046663" cy="4181475"/>
          </a:xfrm>
          <a:ln/>
        </p:spPr>
        <p:txBody>
          <a:bodyPr wrap="none" lIns="92436" tIns="46217" rIns="92436" bIns="46217" anchor="ctr" anchorCtr="0"/>
          <a:lstStyle/>
          <a:p>
            <a:pPr lvl="0" eaLnBrk="1" hangingPunct="1"/>
            <a:endParaRPr lang="zh-CN" altLang="zh-CN" dirty="0">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txBox="1">
            <a:spLocks noGrp="1"/>
          </p:cNvSpPr>
          <p:nvPr/>
        </p:nvSpPr>
        <p:spPr>
          <a:xfrm>
            <a:off x="3900488" y="8832850"/>
            <a:ext cx="2981325" cy="463550"/>
          </a:xfrm>
          <a:prstGeom prst="rect">
            <a:avLst/>
          </a:prstGeom>
          <a:noFill/>
          <a:ln w="9525">
            <a:noFill/>
          </a:ln>
        </p:spPr>
        <p:txBody>
          <a:bodyPr wrap="none" lIns="92436" tIns="46217" rIns="92436" bIns="46217" anchor="b" anchorCtr="0"/>
          <a:lstStyle/>
          <a:p>
            <a:pPr lvl="0" algn="r" defTabSz="923925"/>
            <a:fld id="{9A0DB2DC-4C9A-4742-B13C-FB6460FD3503}" type="slidenum">
              <a:rPr lang="en-US" altLang="zh-CN" sz="1200" dirty="0">
                <a:latin typeface="Times New Roman" panose="02020603050405020304" pitchFamily="18" charset="0"/>
              </a:rPr>
              <a:t>18</a:t>
            </a:fld>
            <a:endParaRPr lang="en-US" altLang="zh-CN" sz="1200" dirty="0">
              <a:latin typeface="Times New Roman" panose="02020603050405020304" pitchFamily="18" charset="0"/>
            </a:endParaRPr>
          </a:p>
        </p:txBody>
      </p:sp>
      <p:sp>
        <p:nvSpPr>
          <p:cNvPr id="36866" name="Rectangle 2"/>
          <p:cNvSpPr>
            <a:spLocks noGrp="1" noRot="1" noChangeAspect="1" noTextEdit="1"/>
          </p:cNvSpPr>
          <p:nvPr>
            <p:ph type="sldImg"/>
          </p:nvPr>
        </p:nvSpPr>
        <p:spPr>
          <a:xfrm>
            <a:off x="1117600" y="698500"/>
            <a:ext cx="4648200" cy="3486150"/>
          </a:xfrm>
          <a:ln/>
        </p:spPr>
      </p:sp>
      <p:sp>
        <p:nvSpPr>
          <p:cNvPr id="36867" name="Rectangle 3"/>
          <p:cNvSpPr>
            <a:spLocks noGrp="1"/>
          </p:cNvSpPr>
          <p:nvPr>
            <p:ph type="body"/>
          </p:nvPr>
        </p:nvSpPr>
        <p:spPr>
          <a:xfrm>
            <a:off x="917575" y="4416425"/>
            <a:ext cx="5046663" cy="4181475"/>
          </a:xfrm>
          <a:ln/>
        </p:spPr>
        <p:txBody>
          <a:bodyPr wrap="none" lIns="92436" tIns="46217" rIns="92436" bIns="46217" anchor="ctr" anchorCtr="0"/>
          <a:lstStyle/>
          <a:p>
            <a:pPr lvl="0" eaLnBrk="1" hangingPunct="1"/>
            <a:endParaRPr lang="zh-CN" altLang="zh-CN" dirty="0">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txBox="1">
            <a:spLocks noGrp="1"/>
          </p:cNvSpPr>
          <p:nvPr/>
        </p:nvSpPr>
        <p:spPr>
          <a:xfrm>
            <a:off x="3900488" y="8832850"/>
            <a:ext cx="2981325" cy="463550"/>
          </a:xfrm>
          <a:prstGeom prst="rect">
            <a:avLst/>
          </a:prstGeom>
          <a:noFill/>
          <a:ln w="9525">
            <a:noFill/>
          </a:ln>
        </p:spPr>
        <p:txBody>
          <a:bodyPr wrap="none" lIns="92436" tIns="46217" rIns="92436" bIns="46217" anchor="b" anchorCtr="0"/>
          <a:lstStyle/>
          <a:p>
            <a:pPr lvl="0" algn="r" defTabSz="923925"/>
            <a:fld id="{9A0DB2DC-4C9A-4742-B13C-FB6460FD3503}" type="slidenum">
              <a:rPr lang="en-US" altLang="zh-CN" sz="1200" dirty="0">
                <a:latin typeface="Times New Roman" panose="02020603050405020304" pitchFamily="18" charset="0"/>
              </a:rPr>
              <a:t>19</a:t>
            </a:fld>
            <a:endParaRPr lang="en-US" altLang="zh-CN" sz="1200" dirty="0">
              <a:latin typeface="Times New Roman" panose="02020603050405020304" pitchFamily="18" charset="0"/>
            </a:endParaRPr>
          </a:p>
        </p:txBody>
      </p:sp>
      <p:sp>
        <p:nvSpPr>
          <p:cNvPr id="38914" name="Rectangle 2"/>
          <p:cNvSpPr>
            <a:spLocks noGrp="1" noRot="1" noChangeAspect="1" noTextEdit="1"/>
          </p:cNvSpPr>
          <p:nvPr>
            <p:ph type="sldImg"/>
          </p:nvPr>
        </p:nvSpPr>
        <p:spPr>
          <a:xfrm>
            <a:off x="1117600" y="698500"/>
            <a:ext cx="4648200" cy="3486150"/>
          </a:xfrm>
          <a:ln/>
        </p:spPr>
      </p:sp>
      <p:sp>
        <p:nvSpPr>
          <p:cNvPr id="38915" name="Rectangle 3"/>
          <p:cNvSpPr>
            <a:spLocks noGrp="1"/>
          </p:cNvSpPr>
          <p:nvPr>
            <p:ph type="body"/>
          </p:nvPr>
        </p:nvSpPr>
        <p:spPr>
          <a:xfrm>
            <a:off x="917575" y="4416425"/>
            <a:ext cx="5046663" cy="4181475"/>
          </a:xfrm>
          <a:ln/>
        </p:spPr>
        <p:txBody>
          <a:bodyPr wrap="none" lIns="92436" tIns="46217" rIns="92436" bIns="46217" anchor="ctr" anchorCtr="0"/>
          <a:lstStyle/>
          <a:p>
            <a:pPr lvl="0" eaLnBrk="1" hangingPunct="1"/>
            <a:endParaRPr lang="zh-CN" altLang="zh-CN" dirty="0">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txBox="1">
            <a:spLocks noGrp="1"/>
          </p:cNvSpPr>
          <p:nvPr/>
        </p:nvSpPr>
        <p:spPr>
          <a:xfrm>
            <a:off x="3900488" y="8832850"/>
            <a:ext cx="2981325" cy="463550"/>
          </a:xfrm>
          <a:prstGeom prst="rect">
            <a:avLst/>
          </a:prstGeom>
          <a:noFill/>
          <a:ln w="9525">
            <a:noFill/>
          </a:ln>
        </p:spPr>
        <p:txBody>
          <a:bodyPr wrap="none" lIns="92436" tIns="46217" rIns="92436" bIns="46217" anchor="b" anchorCtr="0"/>
          <a:lstStyle/>
          <a:p>
            <a:pPr lvl="0" algn="r" defTabSz="923925"/>
            <a:fld id="{9A0DB2DC-4C9A-4742-B13C-FB6460FD3503}" type="slidenum">
              <a:rPr lang="en-US" altLang="zh-CN" sz="1200" dirty="0">
                <a:latin typeface="Times New Roman" panose="02020603050405020304" pitchFamily="18" charset="0"/>
              </a:rPr>
              <a:t>20</a:t>
            </a:fld>
            <a:endParaRPr lang="en-US" altLang="zh-CN" sz="1200" dirty="0">
              <a:latin typeface="Times New Roman" panose="02020603050405020304" pitchFamily="18" charset="0"/>
            </a:endParaRPr>
          </a:p>
        </p:txBody>
      </p:sp>
      <p:sp>
        <p:nvSpPr>
          <p:cNvPr id="40962" name="Rectangle 2"/>
          <p:cNvSpPr>
            <a:spLocks noGrp="1" noRot="1" noChangeAspect="1" noTextEdit="1"/>
          </p:cNvSpPr>
          <p:nvPr>
            <p:ph type="sldImg"/>
          </p:nvPr>
        </p:nvSpPr>
        <p:spPr>
          <a:xfrm>
            <a:off x="1117600" y="698500"/>
            <a:ext cx="4648200" cy="3486150"/>
          </a:xfrm>
          <a:ln/>
        </p:spPr>
      </p:sp>
      <p:sp>
        <p:nvSpPr>
          <p:cNvPr id="40963" name="Rectangle 3"/>
          <p:cNvSpPr>
            <a:spLocks noGrp="1"/>
          </p:cNvSpPr>
          <p:nvPr>
            <p:ph type="body"/>
          </p:nvPr>
        </p:nvSpPr>
        <p:spPr>
          <a:xfrm>
            <a:off x="917575" y="4416425"/>
            <a:ext cx="5046663" cy="4181475"/>
          </a:xfrm>
          <a:ln/>
        </p:spPr>
        <p:txBody>
          <a:bodyPr wrap="none" lIns="92436" tIns="46217" rIns="92436" bIns="46217" anchor="ctr" anchorCtr="0"/>
          <a:lstStyle/>
          <a:p>
            <a:pPr lvl="0" eaLnBrk="1" hangingPunct="1"/>
            <a:r>
              <a:rPr lang="en-US" altLang="zh-CN" dirty="0"/>
              <a:t>^ </a:t>
            </a:r>
            <a:r>
              <a:rPr lang="zh-CN" altLang="en-US" dirty="0"/>
              <a:t>异或 两个位相同为</a:t>
            </a:r>
            <a:r>
              <a:rPr lang="en-US" altLang="zh-CN" dirty="0"/>
              <a:t>0</a:t>
            </a:r>
            <a:r>
              <a:rPr lang="zh-CN" altLang="en-US" dirty="0"/>
              <a:t>，相异为</a:t>
            </a:r>
            <a:r>
              <a:rPr lang="en-US" altLang="zh-CN" dirty="0"/>
              <a:t>1</a:t>
            </a:r>
            <a:endParaRPr lang="zh-CN" altLang="zh-CN" dirty="0">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txBox="1">
            <a:spLocks noGrp="1"/>
          </p:cNvSpPr>
          <p:nvPr/>
        </p:nvSpPr>
        <p:spPr>
          <a:xfrm>
            <a:off x="3900488" y="8832850"/>
            <a:ext cx="2981325" cy="463550"/>
          </a:xfrm>
          <a:prstGeom prst="rect">
            <a:avLst/>
          </a:prstGeom>
          <a:noFill/>
          <a:ln w="9525">
            <a:noFill/>
          </a:ln>
        </p:spPr>
        <p:txBody>
          <a:bodyPr wrap="none" lIns="92436" tIns="46217" rIns="92436" bIns="46217" anchor="b" anchorCtr="0"/>
          <a:lstStyle/>
          <a:p>
            <a:pPr lvl="0" algn="r" defTabSz="923925"/>
            <a:fld id="{9A0DB2DC-4C9A-4742-B13C-FB6460FD3503}" type="slidenum">
              <a:rPr lang="en-US" altLang="zh-CN" sz="1200" dirty="0">
                <a:latin typeface="Times New Roman" panose="02020603050405020304" pitchFamily="18" charset="0"/>
              </a:rPr>
              <a:t>21</a:t>
            </a:fld>
            <a:endParaRPr lang="en-US" altLang="zh-CN" sz="1200" dirty="0">
              <a:latin typeface="Times New Roman" panose="02020603050405020304" pitchFamily="18" charset="0"/>
            </a:endParaRPr>
          </a:p>
        </p:txBody>
      </p:sp>
      <p:sp>
        <p:nvSpPr>
          <p:cNvPr id="43010" name="Rectangle 2"/>
          <p:cNvSpPr>
            <a:spLocks noGrp="1" noRot="1" noChangeAspect="1" noTextEdit="1"/>
          </p:cNvSpPr>
          <p:nvPr>
            <p:ph type="sldImg"/>
          </p:nvPr>
        </p:nvSpPr>
        <p:spPr>
          <a:xfrm>
            <a:off x="1117600" y="698500"/>
            <a:ext cx="4648200" cy="3486150"/>
          </a:xfrm>
          <a:ln/>
        </p:spPr>
      </p:sp>
      <p:sp>
        <p:nvSpPr>
          <p:cNvPr id="43011" name="Rectangle 3"/>
          <p:cNvSpPr>
            <a:spLocks noGrp="1"/>
          </p:cNvSpPr>
          <p:nvPr>
            <p:ph type="body"/>
          </p:nvPr>
        </p:nvSpPr>
        <p:spPr>
          <a:xfrm>
            <a:off x="917575" y="4416425"/>
            <a:ext cx="5046663" cy="4181475"/>
          </a:xfrm>
          <a:ln/>
        </p:spPr>
        <p:txBody>
          <a:bodyPr wrap="none" lIns="92436" tIns="46217" rIns="92436" bIns="46217" anchor="ctr" anchorCtr="0"/>
          <a:lstStyle/>
          <a:p>
            <a:pPr lvl="0" eaLnBrk="1" hangingPunct="1"/>
            <a:r>
              <a:rPr lang="zh-CN" altLang="en-US" dirty="0">
                <a:latin typeface="Arial" panose="020B0604020202020204" pitchFamily="34" charset="0"/>
              </a:rPr>
              <a:t>限制两个线程交替进入临界区</a:t>
            </a:r>
            <a:r>
              <a:rPr lang="en-US" altLang="zh-CN" dirty="0">
                <a:latin typeface="Arial" panose="020B0604020202020204" pitchFamily="34" charset="0"/>
              </a:rPr>
              <a:t>,</a:t>
            </a:r>
            <a:r>
              <a:rPr lang="zh-CN" altLang="en-US" dirty="0"/>
              <a:t> </a:t>
            </a:r>
            <a:r>
              <a:rPr lang="en-US" altLang="zh-CN" dirty="0"/>
              <a:t>^</a:t>
            </a:r>
            <a:r>
              <a:rPr lang="zh-CN" altLang="en-US" dirty="0"/>
              <a:t>也可以表示特殊的二元运算符</a:t>
            </a:r>
            <a:r>
              <a:rPr lang="en-US" altLang="zh-CN" dirty="0"/>
              <a:t>——</a:t>
            </a:r>
            <a:r>
              <a:rPr lang="zh-CN" altLang="en-US" dirty="0"/>
              <a:t>逐位逻辑运算符（用于对数据的位进行操作），它表示的含义是逐位非或，要求两个整型操作数。从最小（即最右）的位开始，对操作数逐位操作；如果只有其中一个位为</a:t>
            </a:r>
            <a:r>
              <a:rPr lang="en-US" altLang="zh-CN" dirty="0"/>
              <a:t>1</a:t>
            </a:r>
            <a:r>
              <a:rPr lang="zh-CN" altLang="en-US" dirty="0"/>
              <a:t>，那么结果为</a:t>
            </a:r>
            <a:r>
              <a:rPr lang="en-US" altLang="zh-CN" dirty="0"/>
              <a:t>1</a:t>
            </a:r>
            <a:r>
              <a:rPr lang="zh-CN" altLang="en-US" dirty="0"/>
              <a:t>；否则为</a:t>
            </a:r>
            <a:r>
              <a:rPr lang="en-US" altLang="zh-CN" dirty="0"/>
              <a:t>0</a:t>
            </a:r>
            <a:r>
              <a:rPr lang="zh-CN" altLang="en-US" dirty="0"/>
              <a:t>。</a:t>
            </a:r>
            <a:endParaRPr lang="zh-CN" altLang="zh-CN" dirty="0">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txBox="1">
            <a:spLocks noGrp="1"/>
          </p:cNvSpPr>
          <p:nvPr/>
        </p:nvSpPr>
        <p:spPr>
          <a:xfrm>
            <a:off x="3900488" y="8832850"/>
            <a:ext cx="2981325" cy="463550"/>
          </a:xfrm>
          <a:prstGeom prst="rect">
            <a:avLst/>
          </a:prstGeom>
          <a:noFill/>
          <a:ln w="9525">
            <a:noFill/>
          </a:ln>
        </p:spPr>
        <p:txBody>
          <a:bodyPr wrap="none" lIns="92436" tIns="46217" rIns="92436" bIns="46217" anchor="b" anchorCtr="0"/>
          <a:lstStyle/>
          <a:p>
            <a:pPr lvl="0" algn="r" defTabSz="923925"/>
            <a:fld id="{9A0DB2DC-4C9A-4742-B13C-FB6460FD3503}" type="slidenum">
              <a:rPr lang="en-US" altLang="zh-CN" sz="1200" dirty="0">
                <a:latin typeface="Times New Roman" panose="02020603050405020304" pitchFamily="18" charset="0"/>
              </a:rPr>
              <a:t>23</a:t>
            </a:fld>
            <a:endParaRPr lang="en-US" altLang="zh-CN" sz="1200" dirty="0">
              <a:latin typeface="Times New Roman" panose="02020603050405020304" pitchFamily="18" charset="0"/>
            </a:endParaRPr>
          </a:p>
        </p:txBody>
      </p:sp>
      <p:sp>
        <p:nvSpPr>
          <p:cNvPr id="38914" name="Rectangle 2"/>
          <p:cNvSpPr>
            <a:spLocks noGrp="1" noRot="1" noChangeAspect="1" noTextEdit="1"/>
          </p:cNvSpPr>
          <p:nvPr>
            <p:ph type="sldImg"/>
          </p:nvPr>
        </p:nvSpPr>
        <p:spPr>
          <a:xfrm>
            <a:off x="1117600" y="698500"/>
            <a:ext cx="4648200" cy="3486150"/>
          </a:xfrm>
          <a:ln/>
        </p:spPr>
      </p:sp>
      <p:sp>
        <p:nvSpPr>
          <p:cNvPr id="38915" name="Rectangle 3"/>
          <p:cNvSpPr>
            <a:spLocks noGrp="1"/>
          </p:cNvSpPr>
          <p:nvPr>
            <p:ph type="body"/>
          </p:nvPr>
        </p:nvSpPr>
        <p:spPr>
          <a:xfrm>
            <a:off x="917575" y="4416425"/>
            <a:ext cx="5046663" cy="4181475"/>
          </a:xfrm>
          <a:ln/>
        </p:spPr>
        <p:txBody>
          <a:bodyPr wrap="none" lIns="92436" tIns="46217" rIns="92436" bIns="46217" anchor="ctr" anchorCtr="0"/>
          <a:lstStyle/>
          <a:p>
            <a:pPr lvl="0" eaLnBrk="1" hangingPunct="1"/>
            <a:endParaRPr lang="zh-CN" altLang="zh-CN" dirty="0">
              <a:latin typeface="Arial" panose="020B0604020202020204" pitchFamily="34" charset="0"/>
            </a:endParaRPr>
          </a:p>
        </p:txBody>
      </p:sp>
    </p:spTree>
    <p:extLst>
      <p:ext uri="{BB962C8B-B14F-4D97-AF65-F5344CB8AC3E}">
        <p14:creationId xmlns:p14="http://schemas.microsoft.com/office/powerpoint/2010/main" val="38407341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txBox="1">
            <a:spLocks noGrp="1"/>
          </p:cNvSpPr>
          <p:nvPr/>
        </p:nvSpPr>
        <p:spPr>
          <a:xfrm>
            <a:off x="3900488" y="8832850"/>
            <a:ext cx="2981325" cy="463550"/>
          </a:xfrm>
          <a:prstGeom prst="rect">
            <a:avLst/>
          </a:prstGeom>
          <a:noFill/>
          <a:ln w="9525">
            <a:noFill/>
          </a:ln>
        </p:spPr>
        <p:txBody>
          <a:bodyPr wrap="none" lIns="92436" tIns="46217" rIns="92436" bIns="46217" anchor="b" anchorCtr="0"/>
          <a:lstStyle/>
          <a:p>
            <a:pPr lvl="0" algn="r" defTabSz="923925"/>
            <a:fld id="{9A0DB2DC-4C9A-4742-B13C-FB6460FD3503}" type="slidenum">
              <a:rPr lang="en-US" altLang="zh-CN" sz="1200" dirty="0">
                <a:latin typeface="Times New Roman" panose="02020603050405020304" pitchFamily="18" charset="0"/>
              </a:rPr>
              <a:t>24</a:t>
            </a:fld>
            <a:endParaRPr lang="en-US" altLang="zh-CN" sz="1200" dirty="0">
              <a:latin typeface="Times New Roman" panose="02020603050405020304" pitchFamily="18" charset="0"/>
            </a:endParaRPr>
          </a:p>
        </p:txBody>
      </p:sp>
      <p:sp>
        <p:nvSpPr>
          <p:cNvPr id="40962" name="Rectangle 2"/>
          <p:cNvSpPr>
            <a:spLocks noGrp="1" noRot="1" noChangeAspect="1" noTextEdit="1"/>
          </p:cNvSpPr>
          <p:nvPr>
            <p:ph type="sldImg"/>
          </p:nvPr>
        </p:nvSpPr>
        <p:spPr>
          <a:xfrm>
            <a:off x="1117600" y="698500"/>
            <a:ext cx="4648200" cy="3486150"/>
          </a:xfrm>
          <a:ln/>
        </p:spPr>
      </p:sp>
      <p:sp>
        <p:nvSpPr>
          <p:cNvPr id="40963" name="Rectangle 3"/>
          <p:cNvSpPr>
            <a:spLocks noGrp="1"/>
          </p:cNvSpPr>
          <p:nvPr>
            <p:ph type="body"/>
          </p:nvPr>
        </p:nvSpPr>
        <p:spPr>
          <a:xfrm>
            <a:off x="917575" y="4416425"/>
            <a:ext cx="5046663" cy="4181475"/>
          </a:xfrm>
          <a:ln/>
        </p:spPr>
        <p:txBody>
          <a:bodyPr wrap="none" lIns="92436" tIns="46217" rIns="92436" bIns="46217" anchor="ctr" anchorCtr="0"/>
          <a:lstStyle/>
          <a:p>
            <a:pPr lvl="0" eaLnBrk="1" hangingPunct="1"/>
            <a:endParaRPr lang="zh-CN" altLang="zh-CN" dirty="0">
              <a:latin typeface="Arial" panose="020B0604020202020204" pitchFamily="34" charset="0"/>
            </a:endParaRPr>
          </a:p>
        </p:txBody>
      </p:sp>
    </p:spTree>
    <p:extLst>
      <p:ext uri="{BB962C8B-B14F-4D97-AF65-F5344CB8AC3E}">
        <p14:creationId xmlns:p14="http://schemas.microsoft.com/office/powerpoint/2010/main" val="20672849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txBox="1">
            <a:spLocks noGrp="1"/>
          </p:cNvSpPr>
          <p:nvPr/>
        </p:nvSpPr>
        <p:spPr>
          <a:xfrm>
            <a:off x="3900488" y="8832850"/>
            <a:ext cx="2981325" cy="463550"/>
          </a:xfrm>
          <a:prstGeom prst="rect">
            <a:avLst/>
          </a:prstGeom>
          <a:noFill/>
          <a:ln w="9525">
            <a:noFill/>
          </a:ln>
        </p:spPr>
        <p:txBody>
          <a:bodyPr wrap="none" lIns="92436" tIns="46217" rIns="92436" bIns="46217" anchor="b" anchorCtr="0"/>
          <a:lstStyle/>
          <a:p>
            <a:pPr lvl="0" algn="r" defTabSz="923925"/>
            <a:fld id="{9A0DB2DC-4C9A-4742-B13C-FB6460FD3503}" type="slidenum">
              <a:rPr lang="en-US" altLang="zh-CN" sz="1200" dirty="0">
                <a:latin typeface="Times New Roman" panose="02020603050405020304" pitchFamily="18" charset="0"/>
              </a:rPr>
              <a:t>25</a:t>
            </a:fld>
            <a:endParaRPr lang="en-US" altLang="zh-CN" sz="1200" dirty="0">
              <a:latin typeface="Times New Roman" panose="02020603050405020304" pitchFamily="18" charset="0"/>
            </a:endParaRPr>
          </a:p>
        </p:txBody>
      </p:sp>
      <p:sp>
        <p:nvSpPr>
          <p:cNvPr id="43010" name="Rectangle 2"/>
          <p:cNvSpPr>
            <a:spLocks noGrp="1" noRot="1" noChangeAspect="1" noTextEdit="1"/>
          </p:cNvSpPr>
          <p:nvPr>
            <p:ph type="sldImg"/>
          </p:nvPr>
        </p:nvSpPr>
        <p:spPr>
          <a:xfrm>
            <a:off x="1117600" y="698500"/>
            <a:ext cx="4648200" cy="3486150"/>
          </a:xfrm>
          <a:ln/>
        </p:spPr>
      </p:sp>
      <p:sp>
        <p:nvSpPr>
          <p:cNvPr id="43011" name="Rectangle 3"/>
          <p:cNvSpPr>
            <a:spLocks noGrp="1"/>
          </p:cNvSpPr>
          <p:nvPr>
            <p:ph type="body"/>
          </p:nvPr>
        </p:nvSpPr>
        <p:spPr>
          <a:xfrm>
            <a:off x="917575" y="4416425"/>
            <a:ext cx="5046663" cy="4181475"/>
          </a:xfrm>
          <a:ln/>
        </p:spPr>
        <p:txBody>
          <a:bodyPr wrap="none" lIns="92436" tIns="46217" rIns="92436" bIns="46217" anchor="ctr" anchorCtr="0"/>
          <a:lstStyle/>
          <a:p>
            <a:pPr lvl="0" eaLnBrk="1" hangingPunct="1"/>
            <a:r>
              <a:rPr lang="zh-CN" altLang="en-US" dirty="0">
                <a:latin typeface="Arial" panose="020B0604020202020204" pitchFamily="34" charset="0"/>
              </a:rPr>
              <a:t>限制两个线程交替进入临界区</a:t>
            </a:r>
            <a:r>
              <a:rPr lang="en-US" altLang="zh-CN" dirty="0">
                <a:latin typeface="Arial" panose="020B0604020202020204" pitchFamily="34" charset="0"/>
              </a:rPr>
              <a:t>,</a:t>
            </a:r>
            <a:r>
              <a:rPr lang="zh-CN" altLang="en-US" dirty="0"/>
              <a:t> </a:t>
            </a:r>
            <a:r>
              <a:rPr lang="en-US" altLang="zh-CN" dirty="0"/>
              <a:t>^</a:t>
            </a:r>
            <a:r>
              <a:rPr lang="zh-CN" altLang="en-US" dirty="0"/>
              <a:t>也可以表示特殊的二元运算符</a:t>
            </a:r>
            <a:r>
              <a:rPr lang="en-US" altLang="zh-CN" dirty="0"/>
              <a:t>——</a:t>
            </a:r>
            <a:r>
              <a:rPr lang="zh-CN" altLang="en-US" dirty="0"/>
              <a:t>逐位逻辑运算符（用于对数据的位进行操作），它表示的含义是逐位非或，要求两个整型操作数。从最小（即最右）的位开始，对操作数逐位操作；如果只有其中一个位为</a:t>
            </a:r>
            <a:r>
              <a:rPr lang="en-US" altLang="zh-CN" dirty="0"/>
              <a:t>1</a:t>
            </a:r>
            <a:r>
              <a:rPr lang="zh-CN" altLang="en-US" dirty="0"/>
              <a:t>，那么结果为</a:t>
            </a:r>
            <a:r>
              <a:rPr lang="en-US" altLang="zh-CN" dirty="0"/>
              <a:t>1</a:t>
            </a:r>
            <a:r>
              <a:rPr lang="zh-CN" altLang="en-US" dirty="0"/>
              <a:t>；否则为</a:t>
            </a:r>
            <a:r>
              <a:rPr lang="en-US" altLang="zh-CN" dirty="0"/>
              <a:t>0</a:t>
            </a:r>
            <a:r>
              <a:rPr lang="zh-CN" altLang="en-US" dirty="0"/>
              <a:t>。</a:t>
            </a:r>
            <a:endParaRPr lang="zh-CN" altLang="zh-CN" dirty="0">
              <a:latin typeface="Arial" panose="020B0604020202020204" pitchFamily="34" charset="0"/>
            </a:endParaRPr>
          </a:p>
        </p:txBody>
      </p:sp>
    </p:spTree>
    <p:extLst>
      <p:ext uri="{BB962C8B-B14F-4D97-AF65-F5344CB8AC3E}">
        <p14:creationId xmlns:p14="http://schemas.microsoft.com/office/powerpoint/2010/main" val="12752501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26</a:t>
            </a:fld>
            <a:endParaRPr lang="en-US" altLang="zh-CN" sz="1200" dirty="0">
              <a:latin typeface="Helvetica" pitchFamily="34" charset="0"/>
            </a:endParaRPr>
          </a:p>
        </p:txBody>
      </p:sp>
      <p:sp>
        <p:nvSpPr>
          <p:cNvPr id="12290" name="Rectangle 1026"/>
          <p:cNvSpPr>
            <a:spLocks noGrp="1" noRot="1" noChangeAspect="1" noTextEdit="1"/>
          </p:cNvSpPr>
          <p:nvPr>
            <p:ph type="sldImg"/>
          </p:nvPr>
        </p:nvSpPr>
        <p:spPr>
          <a:solidFill>
            <a:srgbClr val="FFFFFF"/>
          </a:solidFill>
          <a:ln/>
        </p:spPr>
      </p:sp>
      <p:sp>
        <p:nvSpPr>
          <p:cNvPr id="12291" name="Rectangle 1027"/>
          <p:cNvSpPr>
            <a:spLocks noGrp="1"/>
          </p:cNvSpPr>
          <p:nvPr>
            <p:ph type="body"/>
          </p:nvPr>
        </p:nvSpPr>
        <p:spPr>
          <a:xfrm>
            <a:off x="900113" y="4427538"/>
            <a:ext cx="5100637" cy="4195762"/>
          </a:xfrm>
          <a:solidFill>
            <a:srgbClr val="FFFFFF"/>
          </a:solidFill>
          <a:ln>
            <a:solidFill>
              <a:srgbClr val="000000"/>
            </a:solidFill>
            <a:miter/>
          </a:ln>
        </p:spPr>
        <p:txBody>
          <a:bodyPr wrap="none" lIns="90892" tIns="45445" rIns="90892" bIns="45445" anchor="ctr" anchorCtr="0"/>
          <a:lstStyle/>
          <a:p>
            <a:pPr lvl="0" eaLnBrk="1" hangingPunct="1"/>
            <a:endParaRPr lang="zh-CN" altLang="zh-CN" dirty="0">
              <a:latin typeface="Arial" panose="020B0604020202020204" pitchFamily="34" charset="0"/>
            </a:endParaRPr>
          </a:p>
        </p:txBody>
      </p:sp>
    </p:spTree>
    <p:extLst>
      <p:ext uri="{BB962C8B-B14F-4D97-AF65-F5344CB8AC3E}">
        <p14:creationId xmlns:p14="http://schemas.microsoft.com/office/powerpoint/2010/main" val="1439084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27</a:t>
            </a:fld>
            <a:endParaRPr lang="en-US" altLang="zh-CN" sz="1200" dirty="0">
              <a:latin typeface="Helvetica" pitchFamily="34" charset="0"/>
            </a:endParaRPr>
          </a:p>
        </p:txBody>
      </p:sp>
      <p:sp>
        <p:nvSpPr>
          <p:cNvPr id="52226" name="Rectangle 2"/>
          <p:cNvSpPr>
            <a:spLocks noGrp="1" noRot="1" noChangeAspect="1" noTextEdit="1"/>
          </p:cNvSpPr>
          <p:nvPr>
            <p:ph type="sldImg"/>
          </p:nvPr>
        </p:nvSpPr>
        <p:spPr>
          <a:ln/>
        </p:spPr>
      </p:sp>
      <p:sp>
        <p:nvSpPr>
          <p:cNvPr id="52227" name="Rectangle 3"/>
          <p:cNvSpPr>
            <a:spLocks noGrp="1"/>
          </p:cNvSpPr>
          <p:nvPr>
            <p:ph type="body"/>
          </p:nvPr>
        </p:nvSpPr>
        <p:spPr>
          <a:xfrm>
            <a:off x="900113" y="4427538"/>
            <a:ext cx="5100637" cy="4195762"/>
          </a:xfrm>
          <a:ln/>
        </p:spPr>
        <p:txBody>
          <a:bodyPr wrap="none" lIns="90892" tIns="45445" rIns="90892" bIns="45445" anchor="ctr" anchorCtr="0"/>
          <a:lstStyle/>
          <a:p>
            <a:pPr lvl="0" eaLnBrk="1" hangingPunct="1"/>
            <a:endParaRPr lang="zh-CN" altLang="zh-CN" dirty="0">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Rot="1" noChangeAspect="1" noTextEdit="1"/>
          </p:cNvSpPr>
          <p:nvPr>
            <p:ph type="sldImg"/>
          </p:nvPr>
        </p:nvSpPr>
        <p:spPr>
          <a:ln/>
        </p:spPr>
      </p:sp>
      <p:sp>
        <p:nvSpPr>
          <p:cNvPr id="54274" name="Rectangle 3"/>
          <p:cNvSpPr>
            <a:spLocks noGrp="1"/>
          </p:cNvSpPr>
          <p:nvPr>
            <p:ph type="body"/>
          </p:nvPr>
        </p:nvSpPr>
        <p:spPr>
          <a:xfrm>
            <a:off x="900113" y="4427538"/>
            <a:ext cx="5100637" cy="4195762"/>
          </a:xfrm>
          <a:ln/>
        </p:spPr>
        <p:txBody>
          <a:bodyPr wrap="none" lIns="90892" tIns="45445" rIns="90892" bIns="45445" anchor="ctr" anchorCtr="0"/>
          <a:lstStyle/>
          <a:p>
            <a:pPr lvl="0"/>
            <a:r>
              <a:rPr lang="zh-CN" altLang="en-US" dirty="0"/>
              <a:t>要求两个进程共享两个数据项</a:t>
            </a:r>
            <a:r>
              <a:rPr lang="en-US" altLang="zh-CN" dirty="0"/>
              <a:t>flag</a:t>
            </a:r>
            <a:r>
              <a:rPr lang="zh-CN" altLang="en-US" dirty="0">
                <a:ea typeface="宋体" panose="02010600030101010101" pitchFamily="2" charset="-122"/>
              </a:rPr>
              <a:t>和</a:t>
            </a:r>
            <a:r>
              <a:rPr lang="en-US" altLang="zh-CN" dirty="0">
                <a:ea typeface="宋体" panose="02010600030101010101" pitchFamily="2" charset="-122"/>
              </a:rPr>
              <a:t>turn</a:t>
            </a:r>
          </a:p>
          <a:p>
            <a:pPr lvl="0"/>
            <a:endParaRPr lang="en-US" altLang="zh-CN" dirty="0">
              <a:ea typeface="宋体" panose="02010600030101010101" pitchFamily="2" charset="-122"/>
            </a:endParaRPr>
          </a:p>
          <a:p>
            <a:pPr lvl="0"/>
            <a:r>
              <a:rPr lang="zh-CN" altLang="en-US" dirty="0">
                <a:ea typeface="宋体" panose="02010600030101010101" pitchFamily="2" charset="-122"/>
              </a:rPr>
              <a:t>改动：</a:t>
            </a:r>
            <a:r>
              <a:rPr lang="en-US" altLang="zh-CN" dirty="0">
                <a:ea typeface="宋体" panose="02010600030101010101" pitchFamily="2" charset="-122"/>
              </a:rPr>
              <a:t>turn=turn+1</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30</a:t>
            </a:fld>
            <a:endParaRPr lang="en-US" altLang="zh-CN" sz="1200" dirty="0">
              <a:latin typeface="Helvetica" pitchFamily="34" charset="0"/>
            </a:endParaRPr>
          </a:p>
        </p:txBody>
      </p:sp>
      <p:sp>
        <p:nvSpPr>
          <p:cNvPr id="12290" name="Rectangle 1026"/>
          <p:cNvSpPr>
            <a:spLocks noGrp="1" noRot="1" noChangeAspect="1" noTextEdit="1"/>
          </p:cNvSpPr>
          <p:nvPr>
            <p:ph type="sldImg"/>
          </p:nvPr>
        </p:nvSpPr>
        <p:spPr>
          <a:solidFill>
            <a:srgbClr val="FFFFFF"/>
          </a:solidFill>
          <a:ln/>
        </p:spPr>
      </p:sp>
      <p:sp>
        <p:nvSpPr>
          <p:cNvPr id="12291" name="Rectangle 1027"/>
          <p:cNvSpPr>
            <a:spLocks noGrp="1"/>
          </p:cNvSpPr>
          <p:nvPr>
            <p:ph type="body"/>
          </p:nvPr>
        </p:nvSpPr>
        <p:spPr>
          <a:xfrm>
            <a:off x="900113" y="4427538"/>
            <a:ext cx="5100637" cy="4195762"/>
          </a:xfrm>
          <a:solidFill>
            <a:srgbClr val="FFFFFF"/>
          </a:solidFill>
          <a:ln>
            <a:solidFill>
              <a:srgbClr val="000000"/>
            </a:solidFill>
            <a:miter/>
          </a:ln>
        </p:spPr>
        <p:txBody>
          <a:bodyPr wrap="none" lIns="90892" tIns="45445" rIns="90892" bIns="45445" anchor="ctr" anchorCtr="0"/>
          <a:lstStyle/>
          <a:p>
            <a:pPr lvl="0" eaLnBrk="1" hangingPunct="1"/>
            <a:endParaRPr lang="zh-CN" altLang="zh-CN" dirty="0">
              <a:latin typeface="Arial" panose="020B0604020202020204" pitchFamily="34" charset="0"/>
            </a:endParaRPr>
          </a:p>
        </p:txBody>
      </p:sp>
    </p:spTree>
    <p:extLst>
      <p:ext uri="{BB962C8B-B14F-4D97-AF65-F5344CB8AC3E}">
        <p14:creationId xmlns:p14="http://schemas.microsoft.com/office/powerpoint/2010/main" val="17333969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幻灯片图像占位符 1"/>
          <p:cNvSpPr>
            <a:spLocks noGrp="1" noRot="1" noChangeAspect="1" noTextEdit="1"/>
          </p:cNvSpPr>
          <p:nvPr>
            <p:ph type="sldImg"/>
          </p:nvPr>
        </p:nvSpPr>
        <p:spPr>
          <a:ln/>
        </p:spPr>
      </p:sp>
      <p:sp>
        <p:nvSpPr>
          <p:cNvPr id="57346" name="备注占位符 2"/>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en-US" dirty="0"/>
          </a:p>
        </p:txBody>
      </p:sp>
      <p:sp>
        <p:nvSpPr>
          <p:cNvPr id="57347" name="灯片编号占位符 3"/>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31</a:t>
            </a:fld>
            <a:endParaRPr lang="en-US" altLang="zh-CN" sz="1200" dirty="0">
              <a:latin typeface="Helvetica"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Rot="1" noChangeAspect="1" noTextEdit="1"/>
          </p:cNvSpPr>
          <p:nvPr>
            <p:ph type="sldImg"/>
          </p:nvPr>
        </p:nvSpPr>
        <p:spPr>
          <a:ln/>
        </p:spPr>
      </p:sp>
      <p:sp>
        <p:nvSpPr>
          <p:cNvPr id="59394" name="Rectangle 3"/>
          <p:cNvSpPr>
            <a:spLocks noGrp="1"/>
          </p:cNvSpPr>
          <p:nvPr>
            <p:ph type="body"/>
          </p:nvPr>
        </p:nvSpPr>
        <p:spPr>
          <a:xfrm>
            <a:off x="900113" y="4427538"/>
            <a:ext cx="5100637" cy="4195762"/>
          </a:xfrm>
          <a:ln/>
        </p:spPr>
        <p:txBody>
          <a:bodyPr wrap="none" lIns="90892" tIns="45445" rIns="90892" bIns="45445" anchor="ctr" anchorCtr="0"/>
          <a:lstStyle/>
          <a:p>
            <a:pPr lvl="0" eaLnBrk="1" hangingPunct="1">
              <a:lnSpc>
                <a:spcPct val="120000"/>
              </a:lnSpc>
            </a:pPr>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Rot="1" noChangeAspect="1" noTextEdit="1"/>
          </p:cNvSpPr>
          <p:nvPr>
            <p:ph type="sldImg"/>
          </p:nvPr>
        </p:nvSpPr>
        <p:spPr>
          <a:ln/>
        </p:spPr>
      </p:sp>
      <p:sp>
        <p:nvSpPr>
          <p:cNvPr id="61442" name="Rectangle 3"/>
          <p:cNvSpPr>
            <a:spLocks noGrp="1"/>
          </p:cNvSpPr>
          <p:nvPr>
            <p:ph type="body"/>
          </p:nvPr>
        </p:nvSpPr>
        <p:spPr>
          <a:xfrm>
            <a:off x="900113" y="4427538"/>
            <a:ext cx="5100637" cy="4195762"/>
          </a:xfrm>
          <a:ln/>
        </p:spPr>
        <p:txBody>
          <a:bodyPr wrap="none" lIns="90892" tIns="45445" rIns="90892" bIns="45445" anchor="ctr" anchorCtr="0"/>
          <a:lstStyle/>
          <a:p>
            <a:pPr lvl="0" eaLnBrk="1" hangingPunct="1"/>
            <a:endParaRPr lang="zh-CN" altLang="en-US" sz="14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幻灯片图像占位符 1"/>
          <p:cNvSpPr>
            <a:spLocks noGrp="1" noRot="1" noChangeAspect="1" noTextEdit="1"/>
          </p:cNvSpPr>
          <p:nvPr>
            <p:ph type="sldImg"/>
          </p:nvPr>
        </p:nvSpPr>
        <p:spPr>
          <a:ln/>
        </p:spPr>
      </p:sp>
      <p:sp>
        <p:nvSpPr>
          <p:cNvPr id="63490" name="备注占位符 2"/>
          <p:cNvSpPr>
            <a:spLocks noGrp="1"/>
          </p:cNvSpPr>
          <p:nvPr>
            <p:ph type="body"/>
          </p:nvPr>
        </p:nvSpPr>
        <p:spPr>
          <a:xfrm>
            <a:off x="900113" y="4427538"/>
            <a:ext cx="5100637" cy="4195762"/>
          </a:xfrm>
          <a:ln/>
        </p:spPr>
        <p:txBody>
          <a:bodyPr wrap="none" lIns="90892" tIns="45445" rIns="90892" bIns="45445" anchor="ctr" anchorCtr="0"/>
          <a:lstStyle/>
          <a:p>
            <a:pPr lvl="0" eaLnBrk="1" hangingPunct="1"/>
            <a:r>
              <a:rPr lang="zh-CN" altLang="en-US" dirty="0"/>
              <a:t>在进入区利用</a:t>
            </a:r>
            <a:r>
              <a:rPr lang="en-US" altLang="zh-CN" dirty="0"/>
              <a:t>TS</a:t>
            </a:r>
            <a:r>
              <a:rPr lang="zh-CN" altLang="en-US" dirty="0"/>
              <a:t>进行检查：有进程在临界区时，重复检查；直到其它进程退出时，检查通过；</a:t>
            </a:r>
          </a:p>
          <a:p>
            <a:pPr lvl="0" eaLnBrk="1" hangingPunct="1"/>
            <a:r>
              <a:rPr lang="zh-CN" altLang="en-US" dirty="0"/>
              <a:t>在退出区置</a:t>
            </a:r>
            <a:r>
              <a:rPr lang="en-US" altLang="zh-CN" dirty="0"/>
              <a:t>lock</a:t>
            </a:r>
            <a:r>
              <a:rPr lang="zh-CN" altLang="en-US" dirty="0"/>
              <a:t>为</a:t>
            </a:r>
            <a:r>
              <a:rPr lang="en-US" altLang="zh-CN" dirty="0"/>
              <a:t>FALSE</a:t>
            </a:r>
            <a:endParaRPr lang="zh-CN" altLang="en-US" dirty="0"/>
          </a:p>
          <a:p>
            <a:pPr lvl="0"/>
            <a:endParaRPr lang="zh-CN" altLang="en-US" dirty="0"/>
          </a:p>
        </p:txBody>
      </p:sp>
      <p:sp>
        <p:nvSpPr>
          <p:cNvPr id="63491" name="灯片编号占位符 3"/>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34</a:t>
            </a:fld>
            <a:endParaRPr lang="en-US" altLang="zh-CN" sz="1200" dirty="0">
              <a:latin typeface="Helvetica"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Rot="1" noChangeAspect="1" noTextEdit="1"/>
          </p:cNvSpPr>
          <p:nvPr>
            <p:ph type="sldImg"/>
          </p:nvPr>
        </p:nvSpPr>
        <p:spPr>
          <a:ln/>
        </p:spPr>
      </p:sp>
      <p:sp>
        <p:nvSpPr>
          <p:cNvPr id="65538"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36</a:t>
            </a:fld>
            <a:endParaRPr lang="en-US" altLang="zh-CN" sz="1200" dirty="0">
              <a:latin typeface="Helvetica" pitchFamily="34" charset="0"/>
            </a:endParaRPr>
          </a:p>
        </p:txBody>
      </p:sp>
      <p:sp>
        <p:nvSpPr>
          <p:cNvPr id="67586" name="Rectangle 2"/>
          <p:cNvSpPr>
            <a:spLocks noGrp="1" noRot="1" noChangeAspect="1" noTextEdit="1"/>
          </p:cNvSpPr>
          <p:nvPr>
            <p:ph type="sldImg"/>
          </p:nvPr>
        </p:nvSpPr>
        <p:spPr>
          <a:ln/>
        </p:spPr>
      </p:sp>
      <p:sp>
        <p:nvSpPr>
          <p:cNvPr id="67587" name="Rectangle 3"/>
          <p:cNvSpPr>
            <a:spLocks noGrp="1"/>
          </p:cNvSpPr>
          <p:nvPr>
            <p:ph type="body"/>
          </p:nvPr>
        </p:nvSpPr>
        <p:spPr>
          <a:xfrm>
            <a:off x="900113" y="4427538"/>
            <a:ext cx="5100637" cy="4195762"/>
          </a:xfrm>
          <a:ln/>
        </p:spPr>
        <p:txBody>
          <a:bodyPr wrap="none" lIns="90892" tIns="45445" rIns="90892" bIns="45445" anchor="ctr" anchorCtr="0"/>
          <a:lstStyle/>
          <a:p>
            <a:pPr lvl="0" eaLnBrk="1" hangingPunct="1"/>
            <a:endParaRPr lang="zh-CN" altLang="zh-CN" dirty="0">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幻灯片图像占位符 1"/>
          <p:cNvSpPr>
            <a:spLocks noGrp="1" noRot="1" noChangeAspect="1" noTextEdit="1"/>
          </p:cNvSpPr>
          <p:nvPr>
            <p:ph type="sldImg"/>
          </p:nvPr>
        </p:nvSpPr>
        <p:spPr>
          <a:ln/>
        </p:spPr>
      </p:sp>
      <p:sp>
        <p:nvSpPr>
          <p:cNvPr id="69634" name="备注占位符 2"/>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en-US" dirty="0"/>
          </a:p>
        </p:txBody>
      </p:sp>
      <p:sp>
        <p:nvSpPr>
          <p:cNvPr id="69635" name="灯片编号占位符 3"/>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37</a:t>
            </a:fld>
            <a:endParaRPr lang="en-US" altLang="zh-CN" sz="1200" dirty="0">
              <a:latin typeface="Helvetica"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zh-CN" altLang="en-US" sz="1200" dirty="0">
                <a:latin typeface="Helvetica" pitchFamily="34" charset="0"/>
              </a:rPr>
              <a:t>38</a:t>
            </a:fld>
            <a:endParaRPr lang="zh-CN" altLang="en-US" sz="1200" dirty="0">
              <a:latin typeface="Helvetica" pitchFamily="34" charset="0"/>
            </a:endParaRPr>
          </a:p>
        </p:txBody>
      </p:sp>
      <p:sp>
        <p:nvSpPr>
          <p:cNvPr id="71682" name="Rectangle 2"/>
          <p:cNvSpPr>
            <a:spLocks noGrp="1" noRot="1" noChangeAspect="1" noTextEdit="1"/>
          </p:cNvSpPr>
          <p:nvPr>
            <p:ph type="sldImg"/>
          </p:nvPr>
        </p:nvSpPr>
        <p:spPr>
          <a:ln/>
        </p:spPr>
      </p:sp>
      <p:sp>
        <p:nvSpPr>
          <p:cNvPr id="71683"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1554959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幻灯片图像占位符 1">
            <a:extLst>
              <a:ext uri="{FF2B5EF4-FFF2-40B4-BE49-F238E27FC236}">
                <a16:creationId xmlns:a16="http://schemas.microsoft.com/office/drawing/2014/main" id="{62C5E548-E0A7-46C4-B4B1-62FA2C7A4C60}"/>
              </a:ext>
            </a:extLst>
          </p:cNvPr>
          <p:cNvSpPr>
            <a:spLocks noGrp="1" noRot="1" noChangeAspect="1" noChangeArrowheads="1" noTextEdit="1"/>
          </p:cNvSpPr>
          <p:nvPr>
            <p:ph type="sldImg"/>
          </p:nvPr>
        </p:nvSpPr>
        <p:spPr>
          <a:ln/>
        </p:spPr>
      </p:sp>
      <p:sp>
        <p:nvSpPr>
          <p:cNvPr id="232451" name="备注占位符 2">
            <a:extLst>
              <a:ext uri="{FF2B5EF4-FFF2-40B4-BE49-F238E27FC236}">
                <a16:creationId xmlns:a16="http://schemas.microsoft.com/office/drawing/2014/main" id="{E2185805-884A-47A2-BD07-28A7E919E2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232452" name="灯片编号占位符 3">
            <a:extLst>
              <a:ext uri="{FF2B5EF4-FFF2-40B4-BE49-F238E27FC236}">
                <a16:creationId xmlns:a16="http://schemas.microsoft.com/office/drawing/2014/main" id="{B76412C3-A6B1-47A5-AF08-2E78AFC63D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E0923E0-2C68-4AB4-8903-F74EFC6EFB03}" type="slidenum">
              <a:rPr lang="en-US" altLang="zh-CN">
                <a:latin typeface="Helvetica" panose="020B0604020202020204" pitchFamily="34" charset="0"/>
              </a:rPr>
              <a:pPr/>
              <a:t>51</a:t>
            </a:fld>
            <a:endParaRPr lang="en-US" altLang="zh-CN">
              <a:latin typeface="Helvetica"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52</a:t>
            </a:fld>
            <a:endParaRPr lang="en-US" altLang="zh-CN" sz="1200" dirty="0">
              <a:latin typeface="Helvetica" pitchFamily="34" charset="0"/>
            </a:endParaRPr>
          </a:p>
        </p:txBody>
      </p:sp>
      <p:sp>
        <p:nvSpPr>
          <p:cNvPr id="10242" name="Rectangle 2"/>
          <p:cNvSpPr>
            <a:spLocks noGrp="1" noRot="1" noChangeAspect="1" noTextEdit="1"/>
          </p:cNvSpPr>
          <p:nvPr>
            <p:ph type="sldImg"/>
          </p:nvPr>
        </p:nvSpPr>
        <p:spPr>
          <a:ln/>
        </p:spPr>
      </p:sp>
      <p:sp>
        <p:nvSpPr>
          <p:cNvPr id="10243"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extLst>
      <p:ext uri="{BB962C8B-B14F-4D97-AF65-F5344CB8AC3E}">
        <p14:creationId xmlns:p14="http://schemas.microsoft.com/office/powerpoint/2010/main" val="28701028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53</a:t>
            </a:fld>
            <a:endParaRPr lang="en-US" altLang="zh-CN" sz="1200" dirty="0">
              <a:latin typeface="Helvetica" pitchFamily="34" charset="0"/>
            </a:endParaRPr>
          </a:p>
        </p:txBody>
      </p:sp>
      <p:sp>
        <p:nvSpPr>
          <p:cNvPr id="74754" name="Rectangle 2"/>
          <p:cNvSpPr>
            <a:spLocks noGrp="1" noRot="1" noChangeAspect="1" noTextEdit="1"/>
          </p:cNvSpPr>
          <p:nvPr>
            <p:ph type="sldImg"/>
          </p:nvPr>
        </p:nvSpPr>
        <p:spPr>
          <a:ln/>
        </p:spPr>
      </p:sp>
      <p:sp>
        <p:nvSpPr>
          <p:cNvPr id="74755"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54</a:t>
            </a:fld>
            <a:endParaRPr lang="en-US" altLang="zh-CN" sz="1200" dirty="0">
              <a:latin typeface="Helvetica" pitchFamily="34" charset="0"/>
            </a:endParaRPr>
          </a:p>
        </p:txBody>
      </p:sp>
      <p:sp>
        <p:nvSpPr>
          <p:cNvPr id="78850" name="Rectangle 2"/>
          <p:cNvSpPr>
            <a:spLocks noGrp="1" noRot="1" noChangeAspect="1" noTextEdit="1"/>
          </p:cNvSpPr>
          <p:nvPr>
            <p:ph type="sldImg"/>
          </p:nvPr>
        </p:nvSpPr>
        <p:spPr>
          <a:ln/>
        </p:spPr>
      </p:sp>
      <p:sp>
        <p:nvSpPr>
          <p:cNvPr id="78851" name="Rectangle 3"/>
          <p:cNvSpPr>
            <a:spLocks noGrp="1"/>
          </p:cNvSpPr>
          <p:nvPr>
            <p:ph type="body"/>
          </p:nvPr>
        </p:nvSpPr>
        <p:spPr>
          <a:xfrm>
            <a:off x="900113" y="4427538"/>
            <a:ext cx="5100637" cy="4195762"/>
          </a:xfrm>
          <a:ln/>
        </p:spPr>
        <p:txBody>
          <a:bodyPr wrap="none" lIns="90892" tIns="45445" rIns="90892" bIns="45445" anchor="ctr" anchorCtr="0"/>
          <a:lstStyle/>
          <a:p>
            <a:pPr>
              <a:buFont typeface="Arial" panose="020B0604020202020204" pitchFamily="34" charset="0"/>
              <a:buChar char="•"/>
            </a:pPr>
            <a:r>
              <a:rPr lang="zh-CN" altLang="en-US" dirty="0"/>
              <a:t>自旋锁：一直占用 </a:t>
            </a:r>
            <a:r>
              <a:rPr lang="en-US" altLang="zh-CN" dirty="0"/>
              <a:t>CPU </a:t>
            </a:r>
            <a:r>
              <a:rPr lang="zh-CN" altLang="en-US" dirty="0"/>
              <a:t>的时间片去循环获取锁，直到获取到为止。</a:t>
            </a:r>
          </a:p>
          <a:p>
            <a:pPr>
              <a:buFont typeface="Arial" panose="020B0604020202020204" pitchFamily="34" charset="0"/>
              <a:buChar char="•"/>
            </a:pPr>
            <a:r>
              <a:rPr lang="zh-CN" altLang="en-US" dirty="0"/>
              <a:t>非自旋锁：当前线程进入阻塞，</a:t>
            </a:r>
            <a:r>
              <a:rPr lang="en-US" altLang="zh-CN" dirty="0"/>
              <a:t>CPU </a:t>
            </a:r>
            <a:r>
              <a:rPr lang="zh-CN" altLang="en-US" dirty="0"/>
              <a:t>可以去干别的事情。等待 </a:t>
            </a:r>
            <a:r>
              <a:rPr lang="en-US" altLang="zh-CN" dirty="0"/>
              <a:t>CPU </a:t>
            </a:r>
            <a:r>
              <a:rPr lang="zh-CN" altLang="en-US"/>
              <a:t>唤醒了，线程才去获取非自旋锁。</a:t>
            </a:r>
          </a:p>
          <a:p>
            <a:pPr lvl="0"/>
            <a:endParaRPr lang="zh-CN"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55</a:t>
            </a:fld>
            <a:endParaRPr lang="en-US" altLang="zh-CN" sz="1200" dirty="0">
              <a:latin typeface="Helvetica" pitchFamily="34" charset="0"/>
            </a:endParaRPr>
          </a:p>
        </p:txBody>
      </p:sp>
      <p:sp>
        <p:nvSpPr>
          <p:cNvPr id="80898" name="Rectangle 2"/>
          <p:cNvSpPr>
            <a:spLocks noGrp="1" noRot="1" noChangeAspect="1" noTextEdit="1"/>
          </p:cNvSpPr>
          <p:nvPr>
            <p:ph type="sldImg"/>
          </p:nvPr>
        </p:nvSpPr>
        <p:spPr>
          <a:ln/>
        </p:spPr>
      </p:sp>
      <p:sp>
        <p:nvSpPr>
          <p:cNvPr id="80899"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56</a:t>
            </a:fld>
            <a:endParaRPr lang="en-US" altLang="zh-CN" sz="1200" dirty="0">
              <a:latin typeface="Helvetica" pitchFamily="34" charset="0"/>
            </a:endParaRPr>
          </a:p>
        </p:txBody>
      </p:sp>
      <p:sp>
        <p:nvSpPr>
          <p:cNvPr id="82946" name="Rectangle 2"/>
          <p:cNvSpPr>
            <a:spLocks noGrp="1" noRot="1" noChangeAspect="1" noTextEdit="1"/>
          </p:cNvSpPr>
          <p:nvPr>
            <p:ph type="sldImg"/>
          </p:nvPr>
        </p:nvSpPr>
        <p:spPr>
          <a:ln/>
        </p:spPr>
      </p:sp>
      <p:sp>
        <p:nvSpPr>
          <p:cNvPr id="82947"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57</a:t>
            </a:fld>
            <a:endParaRPr lang="en-US" altLang="zh-CN" sz="1200" dirty="0">
              <a:latin typeface="Helvetica" pitchFamily="34" charset="0"/>
            </a:endParaRPr>
          </a:p>
        </p:txBody>
      </p:sp>
      <p:sp>
        <p:nvSpPr>
          <p:cNvPr id="76802" name="Rectangle 2"/>
          <p:cNvSpPr>
            <a:spLocks noGrp="1" noRot="1" noChangeAspect="1" noTextEdit="1"/>
          </p:cNvSpPr>
          <p:nvPr>
            <p:ph type="sldImg"/>
          </p:nvPr>
        </p:nvSpPr>
        <p:spPr>
          <a:ln/>
        </p:spPr>
      </p:sp>
      <p:sp>
        <p:nvSpPr>
          <p:cNvPr id="76803"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58</a:t>
            </a:fld>
            <a:endParaRPr lang="en-US" altLang="zh-CN" sz="1200" dirty="0">
              <a:latin typeface="Helvetica" pitchFamily="34" charset="0"/>
            </a:endParaRPr>
          </a:p>
        </p:txBody>
      </p:sp>
      <p:sp>
        <p:nvSpPr>
          <p:cNvPr id="84994" name="Rectangle 2"/>
          <p:cNvSpPr>
            <a:spLocks noGrp="1" noRot="1" noChangeAspect="1" noTextEdit="1"/>
          </p:cNvSpPr>
          <p:nvPr>
            <p:ph type="sldImg"/>
          </p:nvPr>
        </p:nvSpPr>
        <p:spPr>
          <a:ln/>
        </p:spPr>
      </p:sp>
      <p:sp>
        <p:nvSpPr>
          <p:cNvPr id="84995"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extLst>
      <p:ext uri="{BB962C8B-B14F-4D97-AF65-F5344CB8AC3E}">
        <p14:creationId xmlns:p14="http://schemas.microsoft.com/office/powerpoint/2010/main" val="213813420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59</a:t>
            </a:fld>
            <a:endParaRPr lang="en-US" altLang="zh-CN" sz="1200" dirty="0">
              <a:latin typeface="Helvetica" pitchFamily="34" charset="0"/>
            </a:endParaRPr>
          </a:p>
        </p:txBody>
      </p:sp>
      <p:sp>
        <p:nvSpPr>
          <p:cNvPr id="84994" name="Rectangle 2"/>
          <p:cNvSpPr>
            <a:spLocks noGrp="1" noRot="1" noChangeAspect="1" noTextEdit="1"/>
          </p:cNvSpPr>
          <p:nvPr>
            <p:ph type="sldImg"/>
          </p:nvPr>
        </p:nvSpPr>
        <p:spPr>
          <a:ln/>
        </p:spPr>
      </p:sp>
      <p:sp>
        <p:nvSpPr>
          <p:cNvPr id="84995"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60</a:t>
            </a:fld>
            <a:endParaRPr lang="en-US" altLang="zh-CN" sz="1200" dirty="0">
              <a:latin typeface="Helvetica" pitchFamily="34" charset="0"/>
            </a:endParaRPr>
          </a:p>
        </p:txBody>
      </p:sp>
      <p:sp>
        <p:nvSpPr>
          <p:cNvPr id="84994" name="Rectangle 2"/>
          <p:cNvSpPr>
            <a:spLocks noGrp="1" noRot="1" noChangeAspect="1" noTextEdit="1"/>
          </p:cNvSpPr>
          <p:nvPr>
            <p:ph type="sldImg"/>
          </p:nvPr>
        </p:nvSpPr>
        <p:spPr>
          <a:ln/>
        </p:spPr>
      </p:sp>
      <p:sp>
        <p:nvSpPr>
          <p:cNvPr id="84995"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extLst>
      <p:ext uri="{BB962C8B-B14F-4D97-AF65-F5344CB8AC3E}">
        <p14:creationId xmlns:p14="http://schemas.microsoft.com/office/powerpoint/2010/main" val="25223409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61</a:t>
            </a:fld>
            <a:endParaRPr lang="en-US" altLang="zh-CN" sz="1200" dirty="0">
              <a:latin typeface="Helvetica" pitchFamily="34" charset="0"/>
            </a:endParaRPr>
          </a:p>
        </p:txBody>
      </p:sp>
      <p:sp>
        <p:nvSpPr>
          <p:cNvPr id="84994" name="Rectangle 2"/>
          <p:cNvSpPr>
            <a:spLocks noGrp="1" noRot="1" noChangeAspect="1" noTextEdit="1"/>
          </p:cNvSpPr>
          <p:nvPr>
            <p:ph type="sldImg"/>
          </p:nvPr>
        </p:nvSpPr>
        <p:spPr>
          <a:ln/>
        </p:spPr>
      </p:sp>
      <p:sp>
        <p:nvSpPr>
          <p:cNvPr id="84995"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extLst>
      <p:ext uri="{BB962C8B-B14F-4D97-AF65-F5344CB8AC3E}">
        <p14:creationId xmlns:p14="http://schemas.microsoft.com/office/powerpoint/2010/main" val="17233827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幻灯片图像占位符 1"/>
          <p:cNvSpPr>
            <a:spLocks noGrp="1" noRot="1" noChangeAspect="1" noTextEdit="1"/>
          </p:cNvSpPr>
          <p:nvPr>
            <p:ph type="sldImg"/>
          </p:nvPr>
        </p:nvSpPr>
        <p:spPr>
          <a:ln/>
        </p:spPr>
      </p:sp>
      <p:sp>
        <p:nvSpPr>
          <p:cNvPr id="87042" name="备注占位符 2"/>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en-US" dirty="0"/>
          </a:p>
        </p:txBody>
      </p:sp>
      <p:sp>
        <p:nvSpPr>
          <p:cNvPr id="87043" name="灯片编号占位符 3"/>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62</a:t>
            </a:fld>
            <a:endParaRPr lang="en-US" altLang="zh-CN" sz="1200" dirty="0">
              <a:latin typeface="Helvetica"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zh-CN" altLang="en-US" sz="1200" dirty="0">
                <a:latin typeface="Helvetica" pitchFamily="34" charset="0"/>
              </a:rPr>
              <a:t>64</a:t>
            </a:fld>
            <a:endParaRPr lang="zh-CN" altLang="en-US" sz="1200" dirty="0">
              <a:latin typeface="Helvetica" pitchFamily="34" charset="0"/>
            </a:endParaRPr>
          </a:p>
        </p:txBody>
      </p:sp>
      <p:sp>
        <p:nvSpPr>
          <p:cNvPr id="90114" name="Rectangle 2"/>
          <p:cNvSpPr>
            <a:spLocks noGrp="1" noRot="1" noChangeAspect="1" noTextEdit="1"/>
          </p:cNvSpPr>
          <p:nvPr>
            <p:ph type="sldImg"/>
          </p:nvPr>
        </p:nvSpPr>
        <p:spPr>
          <a:ln/>
        </p:spPr>
      </p:sp>
      <p:sp>
        <p:nvSpPr>
          <p:cNvPr id="90115" name="Rectangle 3"/>
          <p:cNvSpPr>
            <a:spLocks noGrp="1"/>
          </p:cNvSpPr>
          <p:nvPr>
            <p:ph type="body"/>
          </p:nvPr>
        </p:nvSpPr>
        <p:spPr>
          <a:xfrm>
            <a:off x="900113" y="4427538"/>
            <a:ext cx="5100637" cy="4195762"/>
          </a:xfrm>
          <a:ln/>
        </p:spPr>
        <p:txBody>
          <a:bodyPr wrap="none" lIns="90892" tIns="45445" rIns="90892" bIns="45445" anchor="ctr" anchorCtr="0"/>
          <a:lstStyle/>
          <a:p>
            <a:pPr lvl="0">
              <a:lnSpc>
                <a:spcPct val="150000"/>
              </a:lnSpc>
              <a:buClr>
                <a:srgbClr val="FF0000"/>
              </a:buClr>
              <a:buSzPct val="50000"/>
              <a:buFont typeface="Wingdings" panose="05000000000000000000" pitchFamily="2" charset="2"/>
              <a:buChar char="l"/>
            </a:pPr>
            <a:endParaRPr lang="zh-CN" altLang="en-US" b="1"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p:cNvSpPr txBox="1">
            <a:spLocks noGrp="1"/>
          </p:cNvSpPr>
          <p:nvPr/>
        </p:nvSpPr>
        <p:spPr>
          <a:xfrm>
            <a:off x="3900488" y="8853488"/>
            <a:ext cx="3000375" cy="457200"/>
          </a:xfrm>
          <a:prstGeom prst="rect">
            <a:avLst/>
          </a:prstGeom>
          <a:noFill/>
          <a:ln w="9525">
            <a:noFill/>
          </a:ln>
        </p:spPr>
        <p:txBody>
          <a:bodyPr wrap="none" lIns="90892" tIns="45445" rIns="90892" bIns="45445" anchor="b" anchorCtr="0"/>
          <a:lstStyle/>
          <a:p>
            <a:pPr lvl="0" algn="r" defTabSz="908050"/>
            <a:fld id="{9A0DB2DC-4C9A-4742-B13C-FB6460FD3503}" type="slidenum">
              <a:rPr lang="en-US" altLang="zh-CN" sz="1200" dirty="0">
                <a:latin typeface="Helvetica" pitchFamily="34" charset="0"/>
              </a:rPr>
              <a:t>65</a:t>
            </a:fld>
            <a:endParaRPr lang="en-US" altLang="zh-CN" sz="1200" dirty="0">
              <a:latin typeface="Helvetica" pitchFamily="34" charset="0"/>
            </a:endParaRPr>
          </a:p>
        </p:txBody>
      </p:sp>
      <p:sp>
        <p:nvSpPr>
          <p:cNvPr id="92162" name="Rectangle 2"/>
          <p:cNvSpPr>
            <a:spLocks noGrp="1" noRot="1" noChangeAspect="1" noTextEdit="1"/>
          </p:cNvSpPr>
          <p:nvPr>
            <p:ph type="sldImg"/>
          </p:nvPr>
        </p:nvSpPr>
        <p:spPr>
          <a:ln/>
        </p:spPr>
      </p:sp>
      <p:sp>
        <p:nvSpPr>
          <p:cNvPr id="92163"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70</a:t>
            </a:fld>
            <a:endParaRPr lang="en-US" altLang="zh-CN" sz="1200" dirty="0">
              <a:latin typeface="Helvetica" pitchFamily="34" charset="0"/>
            </a:endParaRPr>
          </a:p>
        </p:txBody>
      </p:sp>
      <p:sp>
        <p:nvSpPr>
          <p:cNvPr id="10242" name="Rectangle 2"/>
          <p:cNvSpPr>
            <a:spLocks noGrp="1" noRot="1" noChangeAspect="1" noTextEdit="1"/>
          </p:cNvSpPr>
          <p:nvPr>
            <p:ph type="sldImg"/>
          </p:nvPr>
        </p:nvSpPr>
        <p:spPr>
          <a:ln/>
        </p:spPr>
      </p:sp>
      <p:sp>
        <p:nvSpPr>
          <p:cNvPr id="10243"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extLst>
      <p:ext uri="{BB962C8B-B14F-4D97-AF65-F5344CB8AC3E}">
        <p14:creationId xmlns:p14="http://schemas.microsoft.com/office/powerpoint/2010/main" val="342528311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71</a:t>
            </a:fld>
            <a:endParaRPr lang="en-US" altLang="zh-CN" sz="1200" dirty="0">
              <a:latin typeface="Helvetica" pitchFamily="34" charset="0"/>
            </a:endParaRPr>
          </a:p>
        </p:txBody>
      </p:sp>
      <p:sp>
        <p:nvSpPr>
          <p:cNvPr id="98306" name="Rectangle 2"/>
          <p:cNvSpPr>
            <a:spLocks noGrp="1" noRot="1" noChangeAspect="1" noTextEdit="1"/>
          </p:cNvSpPr>
          <p:nvPr>
            <p:ph type="sldImg"/>
          </p:nvPr>
        </p:nvSpPr>
        <p:spPr>
          <a:ln/>
        </p:spPr>
      </p:sp>
      <p:sp>
        <p:nvSpPr>
          <p:cNvPr id="98307"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7"/>
          <p:cNvSpPr txBox="1">
            <a:spLocks noGrp="1"/>
          </p:cNvSpPr>
          <p:nvPr/>
        </p:nvSpPr>
        <p:spPr>
          <a:xfrm>
            <a:off x="3900488" y="8832850"/>
            <a:ext cx="2981325" cy="463550"/>
          </a:xfrm>
          <a:prstGeom prst="rect">
            <a:avLst/>
          </a:prstGeom>
          <a:noFill/>
          <a:ln w="9525">
            <a:noFill/>
          </a:ln>
        </p:spPr>
        <p:txBody>
          <a:bodyPr wrap="none" lIns="92436" tIns="46217" rIns="92436" bIns="46217" anchor="b" anchorCtr="0"/>
          <a:lstStyle/>
          <a:p>
            <a:pPr lvl="0" algn="r" defTabSz="923925"/>
            <a:fld id="{9A0DB2DC-4C9A-4742-B13C-FB6460FD3503}" type="slidenum">
              <a:rPr lang="en-US" altLang="zh-CN" sz="1200" dirty="0">
                <a:latin typeface="Times New Roman" panose="02020603050405020304" pitchFamily="18" charset="0"/>
              </a:rPr>
              <a:t>74</a:t>
            </a:fld>
            <a:endParaRPr lang="en-US" altLang="zh-CN" sz="1200" dirty="0">
              <a:latin typeface="Times New Roman" panose="02020603050405020304" pitchFamily="18" charset="0"/>
            </a:endParaRPr>
          </a:p>
        </p:txBody>
      </p:sp>
      <p:sp>
        <p:nvSpPr>
          <p:cNvPr id="102402" name="Rectangle 2"/>
          <p:cNvSpPr>
            <a:spLocks noGrp="1" noRot="1" noChangeAspect="1" noTextEdit="1"/>
          </p:cNvSpPr>
          <p:nvPr>
            <p:ph type="sldImg"/>
          </p:nvPr>
        </p:nvSpPr>
        <p:spPr>
          <a:xfrm>
            <a:off x="1117600" y="698500"/>
            <a:ext cx="4648200" cy="3486150"/>
          </a:xfrm>
          <a:ln/>
        </p:spPr>
      </p:sp>
      <p:sp>
        <p:nvSpPr>
          <p:cNvPr id="102403" name="Rectangle 3"/>
          <p:cNvSpPr>
            <a:spLocks noGrp="1"/>
          </p:cNvSpPr>
          <p:nvPr>
            <p:ph type="body"/>
          </p:nvPr>
        </p:nvSpPr>
        <p:spPr>
          <a:xfrm>
            <a:off x="917575" y="4416425"/>
            <a:ext cx="5046663" cy="4181475"/>
          </a:xfrm>
          <a:ln/>
        </p:spPr>
        <p:txBody>
          <a:bodyPr wrap="none" lIns="92436" tIns="46217" rIns="92436" bIns="46217" anchor="ctr" anchorCtr="0"/>
          <a:lstStyle/>
          <a:p>
            <a:pPr lvl="0" eaLnBrk="1" hangingPunct="1"/>
            <a:endParaRPr lang="zh-CN" altLang="zh-CN" dirty="0">
              <a:latin typeface="Arial" panose="020B0604020202020204"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75</a:t>
            </a:fld>
            <a:endParaRPr lang="en-US" altLang="zh-CN" sz="1200" dirty="0">
              <a:latin typeface="Helvetica" pitchFamily="34" charset="0"/>
            </a:endParaRPr>
          </a:p>
        </p:txBody>
      </p:sp>
      <p:sp>
        <p:nvSpPr>
          <p:cNvPr id="104450" name="Rectangle 2"/>
          <p:cNvSpPr>
            <a:spLocks noGrp="1" noRot="1" noChangeAspect="1" noTextEdit="1"/>
          </p:cNvSpPr>
          <p:nvPr>
            <p:ph type="sldImg"/>
          </p:nvPr>
        </p:nvSpPr>
        <p:spPr>
          <a:ln/>
        </p:spPr>
      </p:sp>
      <p:sp>
        <p:nvSpPr>
          <p:cNvPr id="104451"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77</a:t>
            </a:fld>
            <a:endParaRPr lang="en-US" altLang="zh-CN" sz="1200" dirty="0">
              <a:latin typeface="Helvetica" pitchFamily="34" charset="0"/>
            </a:endParaRPr>
          </a:p>
        </p:txBody>
      </p:sp>
      <p:sp>
        <p:nvSpPr>
          <p:cNvPr id="107522" name="Rectangle 2"/>
          <p:cNvSpPr>
            <a:spLocks noGrp="1" noRot="1" noChangeAspect="1" noTextEdit="1"/>
          </p:cNvSpPr>
          <p:nvPr>
            <p:ph type="sldImg"/>
          </p:nvPr>
        </p:nvSpPr>
        <p:spPr>
          <a:ln/>
        </p:spPr>
      </p:sp>
      <p:sp>
        <p:nvSpPr>
          <p:cNvPr id="107523"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78</a:t>
            </a:fld>
            <a:endParaRPr lang="en-US" altLang="zh-CN" sz="1200" dirty="0">
              <a:latin typeface="Helvetica" pitchFamily="34" charset="0"/>
            </a:endParaRPr>
          </a:p>
        </p:txBody>
      </p:sp>
      <p:sp>
        <p:nvSpPr>
          <p:cNvPr id="109570" name="Rectangle 2"/>
          <p:cNvSpPr>
            <a:spLocks noGrp="1" noRot="1" noChangeAspect="1" noTextEdit="1"/>
          </p:cNvSpPr>
          <p:nvPr>
            <p:ph type="sldImg"/>
          </p:nvPr>
        </p:nvSpPr>
        <p:spPr>
          <a:ln/>
        </p:spPr>
      </p:sp>
      <p:sp>
        <p:nvSpPr>
          <p:cNvPr id="109571"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7"/>
          <p:cNvSpPr txBox="1">
            <a:spLocks noGrp="1"/>
          </p:cNvSpPr>
          <p:nvPr/>
        </p:nvSpPr>
        <p:spPr>
          <a:xfrm>
            <a:off x="3900488" y="8832850"/>
            <a:ext cx="2981325" cy="463550"/>
          </a:xfrm>
          <a:prstGeom prst="rect">
            <a:avLst/>
          </a:prstGeom>
          <a:noFill/>
          <a:ln w="9525">
            <a:noFill/>
          </a:ln>
        </p:spPr>
        <p:txBody>
          <a:bodyPr wrap="none" lIns="92436" tIns="46217" rIns="92436" bIns="46217" anchor="b" anchorCtr="0"/>
          <a:lstStyle/>
          <a:p>
            <a:pPr lvl="0" algn="r" defTabSz="923925"/>
            <a:fld id="{9A0DB2DC-4C9A-4742-B13C-FB6460FD3503}" type="slidenum">
              <a:rPr lang="en-US" altLang="zh-CN" sz="1200" dirty="0">
                <a:latin typeface="Times New Roman" panose="02020603050405020304" pitchFamily="18" charset="0"/>
              </a:rPr>
              <a:t>83</a:t>
            </a:fld>
            <a:endParaRPr lang="en-US" altLang="zh-CN" sz="1200" dirty="0">
              <a:latin typeface="Times New Roman" panose="02020603050405020304" pitchFamily="18" charset="0"/>
            </a:endParaRPr>
          </a:p>
        </p:txBody>
      </p:sp>
      <p:sp>
        <p:nvSpPr>
          <p:cNvPr id="115714" name="Rectangle 2"/>
          <p:cNvSpPr>
            <a:spLocks noGrp="1" noRot="1" noChangeAspect="1" noTextEdit="1"/>
          </p:cNvSpPr>
          <p:nvPr>
            <p:ph type="sldImg"/>
          </p:nvPr>
        </p:nvSpPr>
        <p:spPr>
          <a:xfrm>
            <a:off x="1117600" y="698500"/>
            <a:ext cx="4648200" cy="3486150"/>
          </a:xfrm>
          <a:solidFill>
            <a:srgbClr val="FFFFFF"/>
          </a:solidFill>
          <a:ln/>
        </p:spPr>
      </p:sp>
      <p:sp>
        <p:nvSpPr>
          <p:cNvPr id="115715" name="Rectangle 3"/>
          <p:cNvSpPr>
            <a:spLocks noGrp="1"/>
          </p:cNvSpPr>
          <p:nvPr>
            <p:ph type="body"/>
          </p:nvPr>
        </p:nvSpPr>
        <p:spPr>
          <a:xfrm>
            <a:off x="917575" y="4416425"/>
            <a:ext cx="5046663" cy="4181475"/>
          </a:xfrm>
          <a:solidFill>
            <a:srgbClr val="FFFFFF"/>
          </a:solidFill>
          <a:ln>
            <a:solidFill>
              <a:srgbClr val="000000"/>
            </a:solidFill>
            <a:miter/>
          </a:ln>
        </p:spPr>
        <p:txBody>
          <a:bodyPr wrap="none" lIns="92436" tIns="46217" rIns="92436" bIns="46217" anchor="ctr" anchorCtr="0"/>
          <a:lstStyle/>
          <a:p>
            <a:pPr lvl="0" eaLnBrk="1" hangingPunct="1"/>
            <a:endParaRPr lang="zh-CN" altLang="zh-CN" dirty="0">
              <a:latin typeface="Arial" panose="020B0604020202020204"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7"/>
          <p:cNvSpPr txBox="1">
            <a:spLocks noGrp="1"/>
          </p:cNvSpPr>
          <p:nvPr/>
        </p:nvSpPr>
        <p:spPr>
          <a:xfrm>
            <a:off x="3900488" y="8832850"/>
            <a:ext cx="2981325" cy="463550"/>
          </a:xfrm>
          <a:prstGeom prst="rect">
            <a:avLst/>
          </a:prstGeom>
          <a:noFill/>
          <a:ln w="9525">
            <a:noFill/>
          </a:ln>
        </p:spPr>
        <p:txBody>
          <a:bodyPr wrap="none" lIns="92436" tIns="46217" rIns="92436" bIns="46217" anchor="b" anchorCtr="0"/>
          <a:lstStyle/>
          <a:p>
            <a:pPr lvl="0" algn="r" defTabSz="923925"/>
            <a:fld id="{9A0DB2DC-4C9A-4742-B13C-FB6460FD3503}" type="slidenum">
              <a:rPr lang="en-US" altLang="zh-CN" sz="1200" dirty="0">
                <a:latin typeface="Times New Roman" panose="02020603050405020304" pitchFamily="18" charset="0"/>
              </a:rPr>
              <a:t>84</a:t>
            </a:fld>
            <a:endParaRPr lang="en-US" altLang="zh-CN" sz="1200" dirty="0">
              <a:latin typeface="Times New Roman" panose="02020603050405020304" pitchFamily="18" charset="0"/>
            </a:endParaRPr>
          </a:p>
        </p:txBody>
      </p:sp>
      <p:sp>
        <p:nvSpPr>
          <p:cNvPr id="117762" name="Rectangle 2"/>
          <p:cNvSpPr>
            <a:spLocks noGrp="1" noRot="1" noChangeAspect="1" noTextEdit="1"/>
          </p:cNvSpPr>
          <p:nvPr>
            <p:ph type="sldImg"/>
          </p:nvPr>
        </p:nvSpPr>
        <p:spPr>
          <a:xfrm>
            <a:off x="1116013" y="696913"/>
            <a:ext cx="4652962" cy="3489325"/>
          </a:xfrm>
          <a:solidFill>
            <a:srgbClr val="FFFFFF"/>
          </a:solidFill>
          <a:ln/>
        </p:spPr>
      </p:sp>
      <p:sp>
        <p:nvSpPr>
          <p:cNvPr id="117763" name="Rectangle 3"/>
          <p:cNvSpPr>
            <a:spLocks noGrp="1"/>
          </p:cNvSpPr>
          <p:nvPr>
            <p:ph type="body"/>
          </p:nvPr>
        </p:nvSpPr>
        <p:spPr>
          <a:xfrm>
            <a:off x="919163" y="4416425"/>
            <a:ext cx="5043487" cy="4183063"/>
          </a:xfrm>
          <a:solidFill>
            <a:srgbClr val="FFFFFF"/>
          </a:solidFill>
          <a:ln>
            <a:solidFill>
              <a:srgbClr val="000000"/>
            </a:solidFill>
            <a:miter/>
          </a:ln>
        </p:spPr>
        <p:txBody>
          <a:bodyPr wrap="none" lIns="92436" tIns="46217" rIns="92436" bIns="46217" anchor="ctr" anchorCtr="0"/>
          <a:lstStyle/>
          <a:p>
            <a:pPr lvl="0" eaLnBrk="1" hangingPunct="1"/>
            <a:r>
              <a:rPr lang="zh-CN" altLang="en-US" dirty="0">
                <a:latin typeface="Arial" panose="020B0604020202020204" pitchFamily="34" charset="0"/>
              </a:rPr>
              <a:t>不用改变</a:t>
            </a:r>
            <a:endParaRPr lang="zh-CN" altLang="zh-CN" dirty="0">
              <a:latin typeface="Arial" panose="020B0604020202020204"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7"/>
          <p:cNvSpPr txBox="1">
            <a:spLocks noGrp="1"/>
          </p:cNvSpPr>
          <p:nvPr/>
        </p:nvSpPr>
        <p:spPr>
          <a:xfrm>
            <a:off x="3900488" y="8832850"/>
            <a:ext cx="2981325" cy="463550"/>
          </a:xfrm>
          <a:prstGeom prst="rect">
            <a:avLst/>
          </a:prstGeom>
          <a:noFill/>
          <a:ln w="9525">
            <a:noFill/>
          </a:ln>
        </p:spPr>
        <p:txBody>
          <a:bodyPr wrap="none" lIns="92436" tIns="46217" rIns="92436" bIns="46217" anchor="b" anchorCtr="0"/>
          <a:lstStyle/>
          <a:p>
            <a:pPr lvl="0" algn="r" defTabSz="923925"/>
            <a:fld id="{9A0DB2DC-4C9A-4742-B13C-FB6460FD3503}" type="slidenum">
              <a:rPr lang="en-US" altLang="zh-CN" sz="1200" dirty="0">
                <a:latin typeface="Times New Roman" panose="02020603050405020304" pitchFamily="18" charset="0"/>
              </a:rPr>
              <a:t>85</a:t>
            </a:fld>
            <a:endParaRPr lang="en-US" altLang="zh-CN" sz="1200" dirty="0">
              <a:latin typeface="Times New Roman" panose="02020603050405020304" pitchFamily="18" charset="0"/>
            </a:endParaRPr>
          </a:p>
        </p:txBody>
      </p:sp>
      <p:sp>
        <p:nvSpPr>
          <p:cNvPr id="119810" name="Rectangle 2"/>
          <p:cNvSpPr>
            <a:spLocks noGrp="1" noRot="1" noChangeAspect="1" noTextEdit="1"/>
          </p:cNvSpPr>
          <p:nvPr>
            <p:ph type="sldImg"/>
          </p:nvPr>
        </p:nvSpPr>
        <p:spPr>
          <a:xfrm>
            <a:off x="1116013" y="696913"/>
            <a:ext cx="4652962" cy="3489325"/>
          </a:xfrm>
          <a:solidFill>
            <a:srgbClr val="FFFFFF"/>
          </a:solidFill>
          <a:ln/>
        </p:spPr>
      </p:sp>
      <p:sp>
        <p:nvSpPr>
          <p:cNvPr id="119811" name="Rectangle 3"/>
          <p:cNvSpPr>
            <a:spLocks noGrp="1"/>
          </p:cNvSpPr>
          <p:nvPr>
            <p:ph type="body"/>
          </p:nvPr>
        </p:nvSpPr>
        <p:spPr>
          <a:xfrm>
            <a:off x="919163" y="4416425"/>
            <a:ext cx="5043487" cy="4183063"/>
          </a:xfrm>
          <a:solidFill>
            <a:srgbClr val="FFFFFF"/>
          </a:solidFill>
          <a:ln>
            <a:solidFill>
              <a:srgbClr val="000000"/>
            </a:solidFill>
            <a:miter/>
          </a:ln>
        </p:spPr>
        <p:txBody>
          <a:bodyPr wrap="none" lIns="92436" tIns="46217" rIns="92436" bIns="46217" anchor="ctr" anchorCtr="0"/>
          <a:lstStyle/>
          <a:p>
            <a:pPr lvl="0" eaLnBrk="1" hangingPunct="1"/>
            <a:endParaRPr lang="zh-CN" altLang="zh-CN" dirty="0">
              <a:latin typeface="Arial" panose="020B0604020202020204"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86</a:t>
            </a:fld>
            <a:endParaRPr lang="en-US" altLang="zh-CN" sz="1200" dirty="0">
              <a:latin typeface="Helvetica" pitchFamily="34" charset="0"/>
            </a:endParaRPr>
          </a:p>
        </p:txBody>
      </p:sp>
      <p:sp>
        <p:nvSpPr>
          <p:cNvPr id="121858" name="Rectangle 2"/>
          <p:cNvSpPr>
            <a:spLocks noGrp="1" noRot="1" noChangeAspect="1" noTextEdit="1"/>
          </p:cNvSpPr>
          <p:nvPr>
            <p:ph type="sldImg"/>
          </p:nvPr>
        </p:nvSpPr>
        <p:spPr>
          <a:ln/>
        </p:spPr>
      </p:sp>
      <p:sp>
        <p:nvSpPr>
          <p:cNvPr id="121859"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幻灯片图像占位符 1"/>
          <p:cNvSpPr>
            <a:spLocks noGrp="1" noRot="1" noChangeAspect="1" noTextEdit="1"/>
          </p:cNvSpPr>
          <p:nvPr>
            <p:ph type="sldImg"/>
          </p:nvPr>
        </p:nvSpPr>
        <p:spPr>
          <a:ln/>
        </p:spPr>
      </p:sp>
      <p:sp>
        <p:nvSpPr>
          <p:cNvPr id="123906" name="备注占位符 2"/>
          <p:cNvSpPr>
            <a:spLocks noGrp="1"/>
          </p:cNvSpPr>
          <p:nvPr>
            <p:ph type="body"/>
          </p:nvPr>
        </p:nvSpPr>
        <p:spPr>
          <a:xfrm>
            <a:off x="900113" y="4427538"/>
            <a:ext cx="5100637" cy="4195762"/>
          </a:xfrm>
          <a:ln/>
        </p:spPr>
        <p:txBody>
          <a:bodyPr wrap="none" lIns="90892" tIns="45445" rIns="90892" bIns="45445" anchor="ctr" anchorCtr="0"/>
          <a:lstStyle/>
          <a:p>
            <a:pPr lvl="0" algn="l"/>
            <a:r>
              <a:rPr lang="en-US" altLang="zh-CN" dirty="0" err="1"/>
              <a:t>Rmutex</a:t>
            </a:r>
            <a:r>
              <a:rPr lang="zh-CN" altLang="en-US" dirty="0"/>
              <a:t>保护的是</a:t>
            </a:r>
            <a:r>
              <a:rPr lang="en-US" altLang="zh-CN" dirty="0" err="1"/>
              <a:t>Rcount</a:t>
            </a:r>
            <a:endParaRPr lang="en-US" altLang="zh-CN" dirty="0"/>
          </a:p>
          <a:p>
            <a:pPr lvl="0" algn="l"/>
            <a:r>
              <a:rPr lang="en-US" altLang="zh-CN" dirty="0" err="1"/>
              <a:t>Wmutex</a:t>
            </a:r>
            <a:r>
              <a:rPr lang="zh-CN" altLang="en-US" dirty="0"/>
              <a:t>保护的是互斥资源</a:t>
            </a:r>
          </a:p>
        </p:txBody>
      </p:sp>
      <p:sp>
        <p:nvSpPr>
          <p:cNvPr id="123907" name="灯片编号占位符 3"/>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87</a:t>
            </a:fld>
            <a:endParaRPr lang="en-US" altLang="zh-CN" sz="1200" dirty="0">
              <a:latin typeface="Helvetica"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p:cNvSpPr txBox="1">
            <a:spLocks noGrp="1"/>
          </p:cNvSpPr>
          <p:nvPr/>
        </p:nvSpPr>
        <p:spPr>
          <a:xfrm>
            <a:off x="3900488" y="8832850"/>
            <a:ext cx="2981325" cy="463550"/>
          </a:xfrm>
          <a:prstGeom prst="rect">
            <a:avLst/>
          </a:prstGeom>
          <a:noFill/>
          <a:ln w="9525">
            <a:noFill/>
          </a:ln>
        </p:spPr>
        <p:txBody>
          <a:bodyPr wrap="none" lIns="92436" tIns="46217" rIns="92436" bIns="46217" anchor="b" anchorCtr="0"/>
          <a:lstStyle/>
          <a:p>
            <a:pPr lvl="0" algn="r" defTabSz="923925"/>
            <a:fld id="{9A0DB2DC-4C9A-4742-B13C-FB6460FD3503}" type="slidenum">
              <a:rPr lang="en-US" altLang="zh-CN" sz="1200" dirty="0">
                <a:latin typeface="Times New Roman" panose="02020603050405020304" pitchFamily="18" charset="0"/>
              </a:rPr>
              <a:t>88</a:t>
            </a:fld>
            <a:endParaRPr lang="en-US" altLang="zh-CN" sz="1200" dirty="0">
              <a:latin typeface="Times New Roman" panose="02020603050405020304" pitchFamily="18" charset="0"/>
            </a:endParaRPr>
          </a:p>
        </p:txBody>
      </p:sp>
      <p:sp>
        <p:nvSpPr>
          <p:cNvPr id="125954" name="Rectangle 2"/>
          <p:cNvSpPr>
            <a:spLocks noGrp="1" noRot="1" noChangeAspect="1" noTextEdit="1"/>
          </p:cNvSpPr>
          <p:nvPr>
            <p:ph type="sldImg"/>
          </p:nvPr>
        </p:nvSpPr>
        <p:spPr>
          <a:xfrm>
            <a:off x="1117600" y="698500"/>
            <a:ext cx="4648200" cy="3486150"/>
          </a:xfrm>
          <a:ln/>
        </p:spPr>
      </p:sp>
      <p:sp>
        <p:nvSpPr>
          <p:cNvPr id="125955" name="Rectangle 3"/>
          <p:cNvSpPr>
            <a:spLocks noGrp="1"/>
          </p:cNvSpPr>
          <p:nvPr>
            <p:ph type="body"/>
          </p:nvPr>
        </p:nvSpPr>
        <p:spPr>
          <a:xfrm>
            <a:off x="917575" y="4416425"/>
            <a:ext cx="5046663" cy="4181475"/>
          </a:xfrm>
          <a:ln/>
        </p:spPr>
        <p:txBody>
          <a:bodyPr wrap="none" lIns="92436" tIns="46217" rIns="92436" bIns="46217" anchor="ctr" anchorCtr="0"/>
          <a:lstStyle/>
          <a:p>
            <a:pPr lvl="0" eaLnBrk="1" hangingPunct="1"/>
            <a:endParaRPr lang="zh-CN" altLang="zh-CN" dirty="0">
              <a:latin typeface="Arial" panose="020B0604020202020204"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8476395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94</a:t>
            </a:fld>
            <a:endParaRPr lang="en-US" altLang="zh-CN" sz="1200" dirty="0">
              <a:latin typeface="Helvetica" pitchFamily="34" charset="0"/>
            </a:endParaRPr>
          </a:p>
        </p:txBody>
      </p:sp>
      <p:sp>
        <p:nvSpPr>
          <p:cNvPr id="134146" name="Rectangle 2"/>
          <p:cNvSpPr>
            <a:spLocks noGrp="1" noRot="1" noChangeAspect="1" noTextEdit="1"/>
          </p:cNvSpPr>
          <p:nvPr>
            <p:ph type="sldImg"/>
          </p:nvPr>
        </p:nvSpPr>
        <p:spPr>
          <a:ln/>
        </p:spPr>
      </p:sp>
      <p:sp>
        <p:nvSpPr>
          <p:cNvPr id="134147"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95</a:t>
            </a:fld>
            <a:endParaRPr lang="en-US" altLang="zh-CN" sz="1200" dirty="0">
              <a:latin typeface="Helvetica" pitchFamily="34" charset="0"/>
            </a:endParaRPr>
          </a:p>
        </p:txBody>
      </p:sp>
      <p:sp>
        <p:nvSpPr>
          <p:cNvPr id="136194" name="Rectangle 2"/>
          <p:cNvSpPr>
            <a:spLocks noGrp="1" noRot="1" noChangeAspect="1" noTextEdit="1"/>
          </p:cNvSpPr>
          <p:nvPr>
            <p:ph type="sldImg"/>
          </p:nvPr>
        </p:nvSpPr>
        <p:spPr>
          <a:ln/>
        </p:spPr>
      </p:sp>
      <p:sp>
        <p:nvSpPr>
          <p:cNvPr id="136195"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7"/>
          <p:cNvSpPr txBox="1">
            <a:spLocks noGrp="1"/>
          </p:cNvSpPr>
          <p:nvPr/>
        </p:nvSpPr>
        <p:spPr>
          <a:xfrm>
            <a:off x="3900488" y="8853488"/>
            <a:ext cx="3000375" cy="457200"/>
          </a:xfrm>
          <a:prstGeom prst="rect">
            <a:avLst/>
          </a:prstGeom>
          <a:noFill/>
          <a:ln w="9525">
            <a:noFill/>
          </a:ln>
        </p:spPr>
        <p:txBody>
          <a:bodyPr wrap="none" lIns="90892" tIns="45445" rIns="90892" bIns="45445" anchor="b" anchorCtr="0"/>
          <a:lstStyle/>
          <a:p>
            <a:pPr lvl="0" algn="r" defTabSz="908050"/>
            <a:fld id="{9A0DB2DC-4C9A-4742-B13C-FB6460FD3503}" type="slidenum">
              <a:rPr lang="en-US" altLang="zh-CN" sz="1200" dirty="0">
                <a:latin typeface="Helvetica" pitchFamily="34" charset="0"/>
              </a:rPr>
              <a:t>97</a:t>
            </a:fld>
            <a:endParaRPr lang="en-US" altLang="zh-CN" sz="1200" dirty="0">
              <a:latin typeface="Helvetica" pitchFamily="34" charset="0"/>
            </a:endParaRPr>
          </a:p>
        </p:txBody>
      </p:sp>
      <p:sp>
        <p:nvSpPr>
          <p:cNvPr id="139266" name="Rectangle 2"/>
          <p:cNvSpPr>
            <a:spLocks noGrp="1" noRot="1" noChangeAspect="1" noTextEdit="1"/>
          </p:cNvSpPr>
          <p:nvPr>
            <p:ph type="sldImg"/>
          </p:nvPr>
        </p:nvSpPr>
        <p:spPr>
          <a:ln/>
        </p:spPr>
      </p:sp>
      <p:sp>
        <p:nvSpPr>
          <p:cNvPr id="139267"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p:cNvSpPr txBox="1">
            <a:spLocks noGrp="1"/>
          </p:cNvSpPr>
          <p:nvPr/>
        </p:nvSpPr>
        <p:spPr>
          <a:xfrm>
            <a:off x="3900488" y="8853488"/>
            <a:ext cx="3000375" cy="457200"/>
          </a:xfrm>
          <a:prstGeom prst="rect">
            <a:avLst/>
          </a:prstGeom>
          <a:noFill/>
          <a:ln w="9525">
            <a:noFill/>
          </a:ln>
        </p:spPr>
        <p:txBody>
          <a:bodyPr wrap="none" lIns="90892" tIns="45445" rIns="90892" bIns="45445" anchor="b" anchorCtr="0"/>
          <a:lstStyle/>
          <a:p>
            <a:pPr lvl="0" algn="r" defTabSz="908050"/>
            <a:fld id="{9A0DB2DC-4C9A-4742-B13C-FB6460FD3503}" type="slidenum">
              <a:rPr lang="en-US" altLang="zh-CN" sz="1200" dirty="0">
                <a:latin typeface="Helvetica" pitchFamily="34" charset="0"/>
              </a:rPr>
              <a:t>98</a:t>
            </a:fld>
            <a:endParaRPr lang="en-US" altLang="zh-CN" sz="1200" dirty="0">
              <a:latin typeface="Helvetica" pitchFamily="34" charset="0"/>
            </a:endParaRPr>
          </a:p>
        </p:txBody>
      </p:sp>
      <p:sp>
        <p:nvSpPr>
          <p:cNvPr id="141314" name="Rectangle 2"/>
          <p:cNvSpPr>
            <a:spLocks noGrp="1" noRot="1" noChangeAspect="1" noTextEdit="1"/>
          </p:cNvSpPr>
          <p:nvPr>
            <p:ph type="sldImg"/>
          </p:nvPr>
        </p:nvSpPr>
        <p:spPr>
          <a:ln/>
        </p:spPr>
      </p:sp>
      <p:sp>
        <p:nvSpPr>
          <p:cNvPr id="141315"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p:cNvSpPr txBox="1">
            <a:spLocks noGrp="1"/>
          </p:cNvSpPr>
          <p:nvPr/>
        </p:nvSpPr>
        <p:spPr>
          <a:xfrm>
            <a:off x="3900488" y="8853488"/>
            <a:ext cx="3000375" cy="457200"/>
          </a:xfrm>
          <a:prstGeom prst="rect">
            <a:avLst/>
          </a:prstGeom>
          <a:noFill/>
          <a:ln w="9525">
            <a:noFill/>
          </a:ln>
        </p:spPr>
        <p:txBody>
          <a:bodyPr wrap="none" lIns="90892" tIns="45445" rIns="90892" bIns="45445" anchor="b" anchorCtr="0"/>
          <a:lstStyle/>
          <a:p>
            <a:pPr lvl="0" algn="r" defTabSz="908050"/>
            <a:fld id="{9A0DB2DC-4C9A-4742-B13C-FB6460FD3503}" type="slidenum">
              <a:rPr lang="en-US" altLang="zh-CN" sz="1200" dirty="0">
                <a:latin typeface="Helvetica" pitchFamily="34" charset="0"/>
              </a:rPr>
              <a:t>99</a:t>
            </a:fld>
            <a:endParaRPr lang="en-US" altLang="zh-CN" sz="1200" dirty="0">
              <a:latin typeface="Helvetica" pitchFamily="34" charset="0"/>
            </a:endParaRPr>
          </a:p>
        </p:txBody>
      </p:sp>
      <p:sp>
        <p:nvSpPr>
          <p:cNvPr id="141314" name="Rectangle 2"/>
          <p:cNvSpPr>
            <a:spLocks noGrp="1" noRot="1" noChangeAspect="1" noTextEdit="1"/>
          </p:cNvSpPr>
          <p:nvPr>
            <p:ph type="sldImg"/>
          </p:nvPr>
        </p:nvSpPr>
        <p:spPr>
          <a:ln/>
        </p:spPr>
      </p:sp>
      <p:sp>
        <p:nvSpPr>
          <p:cNvPr id="141315"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extLst>
      <p:ext uri="{BB962C8B-B14F-4D97-AF65-F5344CB8AC3E}">
        <p14:creationId xmlns:p14="http://schemas.microsoft.com/office/powerpoint/2010/main" val="384651160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幻灯片图像占位符 1"/>
          <p:cNvSpPr>
            <a:spLocks noGrp="1" noRot="1" noChangeAspect="1" noTextEdit="1"/>
          </p:cNvSpPr>
          <p:nvPr>
            <p:ph type="sldImg"/>
          </p:nvPr>
        </p:nvSpPr>
        <p:spPr>
          <a:ln/>
        </p:spPr>
      </p:sp>
      <p:sp>
        <p:nvSpPr>
          <p:cNvPr id="143362" name="备注占位符 2"/>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en-US" dirty="0"/>
          </a:p>
        </p:txBody>
      </p:sp>
      <p:sp>
        <p:nvSpPr>
          <p:cNvPr id="143363" name="灯片编号占位符 3"/>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101</a:t>
            </a:fld>
            <a:endParaRPr lang="en-US" altLang="zh-CN" sz="1200" dirty="0">
              <a:latin typeface="Helvetica" pitchFamily="34" charset="0"/>
            </a:endParaRPr>
          </a:p>
        </p:txBody>
      </p:sp>
    </p:spTree>
    <p:extLst>
      <p:ext uri="{BB962C8B-B14F-4D97-AF65-F5344CB8AC3E}">
        <p14:creationId xmlns:p14="http://schemas.microsoft.com/office/powerpoint/2010/main" val="366609802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p:cNvSpPr txBox="1">
            <a:spLocks noGrp="1"/>
          </p:cNvSpPr>
          <p:nvPr/>
        </p:nvSpPr>
        <p:spPr>
          <a:xfrm>
            <a:off x="3900488" y="8853488"/>
            <a:ext cx="3000375" cy="457200"/>
          </a:xfrm>
          <a:prstGeom prst="rect">
            <a:avLst/>
          </a:prstGeom>
          <a:noFill/>
          <a:ln w="9525">
            <a:noFill/>
          </a:ln>
        </p:spPr>
        <p:txBody>
          <a:bodyPr wrap="none" lIns="90892" tIns="45445" rIns="90892" bIns="45445" anchor="b" anchorCtr="0"/>
          <a:lstStyle/>
          <a:p>
            <a:pPr lvl="0" algn="r" defTabSz="908050"/>
            <a:fld id="{9A0DB2DC-4C9A-4742-B13C-FB6460FD3503}" type="slidenum">
              <a:rPr lang="en-US" altLang="zh-CN" sz="1200" dirty="0">
                <a:latin typeface="Helvetica" pitchFamily="34" charset="0"/>
              </a:rPr>
              <a:t>102</a:t>
            </a:fld>
            <a:endParaRPr lang="en-US" altLang="zh-CN" sz="1200" dirty="0">
              <a:latin typeface="Helvetica" pitchFamily="34" charset="0"/>
            </a:endParaRPr>
          </a:p>
        </p:txBody>
      </p:sp>
      <p:sp>
        <p:nvSpPr>
          <p:cNvPr id="141314" name="Rectangle 2"/>
          <p:cNvSpPr>
            <a:spLocks noGrp="1" noRot="1" noChangeAspect="1" noTextEdit="1"/>
          </p:cNvSpPr>
          <p:nvPr>
            <p:ph type="sldImg"/>
          </p:nvPr>
        </p:nvSpPr>
        <p:spPr>
          <a:ln/>
        </p:spPr>
      </p:sp>
      <p:sp>
        <p:nvSpPr>
          <p:cNvPr id="141315"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extLst>
      <p:ext uri="{BB962C8B-B14F-4D97-AF65-F5344CB8AC3E}">
        <p14:creationId xmlns:p14="http://schemas.microsoft.com/office/powerpoint/2010/main" val="13516146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幻灯片图像占位符 1"/>
          <p:cNvSpPr>
            <a:spLocks noGrp="1" noRot="1" noChangeAspect="1" noTextEdit="1"/>
          </p:cNvSpPr>
          <p:nvPr>
            <p:ph type="sldImg"/>
          </p:nvPr>
        </p:nvSpPr>
        <p:spPr>
          <a:ln/>
        </p:spPr>
      </p:sp>
      <p:sp>
        <p:nvSpPr>
          <p:cNvPr id="143362" name="备注占位符 2"/>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en-US" dirty="0"/>
          </a:p>
        </p:txBody>
      </p:sp>
      <p:sp>
        <p:nvSpPr>
          <p:cNvPr id="143363" name="灯片编号占位符 3"/>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104</a:t>
            </a:fld>
            <a:endParaRPr lang="en-US" altLang="zh-CN" sz="1200" dirty="0">
              <a:latin typeface="Helvetica" pitchFamily="34"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107</a:t>
            </a:fld>
            <a:endParaRPr lang="en-US" altLang="zh-CN" sz="1200" dirty="0">
              <a:latin typeface="Helvetica" pitchFamily="34" charset="0"/>
            </a:endParaRPr>
          </a:p>
        </p:txBody>
      </p:sp>
      <p:sp>
        <p:nvSpPr>
          <p:cNvPr id="10242" name="Rectangle 2"/>
          <p:cNvSpPr>
            <a:spLocks noGrp="1" noRot="1" noChangeAspect="1" noTextEdit="1"/>
          </p:cNvSpPr>
          <p:nvPr>
            <p:ph type="sldImg"/>
          </p:nvPr>
        </p:nvSpPr>
        <p:spPr>
          <a:ln/>
        </p:spPr>
      </p:sp>
      <p:sp>
        <p:nvSpPr>
          <p:cNvPr id="10243"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extLst>
      <p:ext uri="{BB962C8B-B14F-4D97-AF65-F5344CB8AC3E}">
        <p14:creationId xmlns:p14="http://schemas.microsoft.com/office/powerpoint/2010/main" val="117069267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108</a:t>
            </a:fld>
            <a:endParaRPr lang="en-US" altLang="zh-CN" sz="1200" dirty="0">
              <a:latin typeface="Helvetica" pitchFamily="34" charset="0"/>
            </a:endParaRPr>
          </a:p>
        </p:txBody>
      </p:sp>
      <p:sp>
        <p:nvSpPr>
          <p:cNvPr id="149506" name="Rectangle 2"/>
          <p:cNvSpPr>
            <a:spLocks noGrp="1" noRot="1" noChangeAspect="1" noTextEdit="1"/>
          </p:cNvSpPr>
          <p:nvPr>
            <p:ph type="sldImg"/>
          </p:nvPr>
        </p:nvSpPr>
        <p:spPr>
          <a:ln/>
        </p:spPr>
      </p:sp>
      <p:sp>
        <p:nvSpPr>
          <p:cNvPr id="149507"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109</a:t>
            </a:fld>
            <a:endParaRPr lang="en-US" altLang="zh-CN" sz="1200" dirty="0">
              <a:latin typeface="Helvetica" pitchFamily="34" charset="0"/>
            </a:endParaRPr>
          </a:p>
        </p:txBody>
      </p:sp>
      <p:sp>
        <p:nvSpPr>
          <p:cNvPr id="151554" name="Rectangle 2"/>
          <p:cNvSpPr>
            <a:spLocks noGrp="1" noRot="1" noChangeAspect="1" noTextEdit="1"/>
          </p:cNvSpPr>
          <p:nvPr>
            <p:ph type="sldImg"/>
          </p:nvPr>
        </p:nvSpPr>
        <p:spPr>
          <a:ln/>
        </p:spPr>
      </p:sp>
      <p:sp>
        <p:nvSpPr>
          <p:cNvPr id="151555" name="Rectangle 3"/>
          <p:cNvSpPr>
            <a:spLocks noGrp="1"/>
          </p:cNvSpPr>
          <p:nvPr>
            <p:ph type="body"/>
          </p:nvPr>
        </p:nvSpPr>
        <p:spPr>
          <a:xfrm>
            <a:off x="900113" y="4427538"/>
            <a:ext cx="5100637" cy="4195762"/>
          </a:xfrm>
          <a:ln/>
        </p:spPr>
        <p:txBody>
          <a:bodyPr wrap="none" lIns="90892" tIns="45445" rIns="90892" bIns="45445" anchor="ctr" anchorCtr="0"/>
          <a:lstStyle/>
          <a:p>
            <a:pPr lvl="0" eaLnBrk="1" hangingPunct="1"/>
            <a:r>
              <a:rPr lang="zh-CN" altLang="en-US" dirty="0"/>
              <a:t>管程的定义：一个管程定义了一个数据结构和能为并发进程调用的在该数据结构上的一组操作过程，这组互斥操作的过程，能同步进程和改变管程中的数据。 </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110</a:t>
            </a:fld>
            <a:endParaRPr lang="en-US" altLang="zh-CN" sz="1200" dirty="0">
              <a:latin typeface="Helvetica" pitchFamily="34" charset="0"/>
            </a:endParaRPr>
          </a:p>
        </p:txBody>
      </p:sp>
      <p:sp>
        <p:nvSpPr>
          <p:cNvPr id="153602" name="Rectangle 2"/>
          <p:cNvSpPr>
            <a:spLocks noGrp="1" noRot="1" noChangeAspect="1" noTextEdit="1"/>
          </p:cNvSpPr>
          <p:nvPr>
            <p:ph type="sldImg"/>
          </p:nvPr>
        </p:nvSpPr>
        <p:spPr>
          <a:ln/>
        </p:spPr>
      </p:sp>
      <p:sp>
        <p:nvSpPr>
          <p:cNvPr id="153603"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111</a:t>
            </a:fld>
            <a:endParaRPr lang="en-US" altLang="zh-CN" sz="1200" dirty="0">
              <a:latin typeface="Helvetica" pitchFamily="34" charset="0"/>
            </a:endParaRPr>
          </a:p>
        </p:txBody>
      </p:sp>
      <p:sp>
        <p:nvSpPr>
          <p:cNvPr id="155650" name="Rectangle 2"/>
          <p:cNvSpPr>
            <a:spLocks noGrp="1" noRot="1" noChangeAspect="1" noTextEdit="1"/>
          </p:cNvSpPr>
          <p:nvPr>
            <p:ph type="sldImg"/>
          </p:nvPr>
        </p:nvSpPr>
        <p:spPr>
          <a:ln/>
        </p:spPr>
      </p:sp>
      <p:sp>
        <p:nvSpPr>
          <p:cNvPr id="155651" name="Rectangle 3"/>
          <p:cNvSpPr>
            <a:spLocks noGrp="1"/>
          </p:cNvSpPr>
          <p:nvPr>
            <p:ph type="body"/>
          </p:nvPr>
        </p:nvSpPr>
        <p:spPr>
          <a:xfrm>
            <a:off x="900113" y="4427538"/>
            <a:ext cx="5100637" cy="4195762"/>
          </a:xfrm>
          <a:ln/>
        </p:spPr>
        <p:txBody>
          <a:bodyPr wrap="none" lIns="90892" tIns="45445" rIns="90892" bIns="45445" anchor="ctr" anchorCtr="0"/>
          <a:lstStyle/>
          <a:p>
            <a:pPr lvl="0" eaLnBrk="1" hangingPunct="1"/>
            <a:endParaRPr lang="zh-CN" altLang="zh-CN"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112</a:t>
            </a:fld>
            <a:endParaRPr lang="en-US" altLang="zh-CN" sz="1200" dirty="0">
              <a:latin typeface="Helvetica" pitchFamily="34" charset="0"/>
            </a:endParaRPr>
          </a:p>
        </p:txBody>
      </p:sp>
      <p:sp>
        <p:nvSpPr>
          <p:cNvPr id="157698" name="Rectangle 2"/>
          <p:cNvSpPr>
            <a:spLocks noGrp="1" noRot="1" noChangeAspect="1" noTextEdit="1"/>
          </p:cNvSpPr>
          <p:nvPr>
            <p:ph type="sldImg"/>
          </p:nvPr>
        </p:nvSpPr>
        <p:spPr>
          <a:ln/>
        </p:spPr>
      </p:sp>
      <p:sp>
        <p:nvSpPr>
          <p:cNvPr id="157699" name="Rectangle 3"/>
          <p:cNvSpPr>
            <a:spLocks noGrp="1"/>
          </p:cNvSpPr>
          <p:nvPr>
            <p:ph type="body"/>
          </p:nvPr>
        </p:nvSpPr>
        <p:spPr>
          <a:xfrm>
            <a:off x="900113" y="4427538"/>
            <a:ext cx="5100637" cy="4195762"/>
          </a:xfrm>
          <a:ln/>
        </p:spPr>
        <p:txBody>
          <a:bodyPr wrap="none" lIns="90892" tIns="45445" rIns="90892" bIns="45445" anchor="ctr" anchorCtr="0"/>
          <a:lstStyle/>
          <a:p>
            <a:pPr lvl="0"/>
            <a:r>
              <a:rPr lang="zh-CN" altLang="en-US" dirty="0"/>
              <a:t>每个条件变量都需要在管程中说明</a:t>
            </a:r>
            <a:endParaRPr lang="en-US" altLang="zh-CN" dirty="0"/>
          </a:p>
          <a:p>
            <a:pPr lvl="0"/>
            <a:r>
              <a:rPr lang="zh-CN" altLang="en-US" dirty="0"/>
              <a:t>条件变量没有具体取值</a:t>
            </a:r>
            <a:endParaRPr lang="en-US" altLang="zh-CN"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113</a:t>
            </a:fld>
            <a:endParaRPr lang="en-US" altLang="zh-CN" sz="1200" dirty="0">
              <a:latin typeface="Helvetica" pitchFamily="34" charset="0"/>
            </a:endParaRPr>
          </a:p>
        </p:txBody>
      </p:sp>
      <p:sp>
        <p:nvSpPr>
          <p:cNvPr id="159746" name="Rectangle 2"/>
          <p:cNvSpPr>
            <a:spLocks noGrp="1" noRot="1" noChangeAspect="1" noTextEdit="1"/>
          </p:cNvSpPr>
          <p:nvPr>
            <p:ph type="sldImg"/>
          </p:nvPr>
        </p:nvSpPr>
        <p:spPr>
          <a:ln/>
        </p:spPr>
      </p:sp>
      <p:sp>
        <p:nvSpPr>
          <p:cNvPr id="159747"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7"/>
          <p:cNvSpPr txBox="1">
            <a:spLocks noGrp="1"/>
          </p:cNvSpPr>
          <p:nvPr/>
        </p:nvSpPr>
        <p:spPr>
          <a:xfrm>
            <a:off x="3900488" y="8832850"/>
            <a:ext cx="2981325" cy="463550"/>
          </a:xfrm>
          <a:prstGeom prst="rect">
            <a:avLst/>
          </a:prstGeom>
          <a:noFill/>
          <a:ln w="9525">
            <a:noFill/>
          </a:ln>
        </p:spPr>
        <p:txBody>
          <a:bodyPr wrap="none" lIns="92436" tIns="46217" rIns="92436" bIns="46217" anchor="b" anchorCtr="0"/>
          <a:lstStyle/>
          <a:p>
            <a:pPr lvl="0" algn="r" defTabSz="923925"/>
            <a:fld id="{9A0DB2DC-4C9A-4742-B13C-FB6460FD3503}" type="slidenum">
              <a:rPr lang="en-US" altLang="zh-CN" sz="1200" dirty="0">
                <a:latin typeface="Times New Roman" panose="02020603050405020304" pitchFamily="18" charset="0"/>
              </a:rPr>
              <a:t>114</a:t>
            </a:fld>
            <a:endParaRPr lang="en-US" altLang="zh-CN" sz="1200" dirty="0">
              <a:latin typeface="Times New Roman" panose="02020603050405020304" pitchFamily="18" charset="0"/>
            </a:endParaRPr>
          </a:p>
        </p:txBody>
      </p:sp>
      <p:sp>
        <p:nvSpPr>
          <p:cNvPr id="161794" name="Rectangle 2"/>
          <p:cNvSpPr>
            <a:spLocks noGrp="1" noRot="1" noChangeAspect="1" noTextEdit="1"/>
          </p:cNvSpPr>
          <p:nvPr>
            <p:ph type="sldImg"/>
          </p:nvPr>
        </p:nvSpPr>
        <p:spPr>
          <a:xfrm>
            <a:off x="1117600" y="698500"/>
            <a:ext cx="4648200" cy="3486150"/>
          </a:xfrm>
          <a:ln/>
        </p:spPr>
      </p:sp>
      <p:sp>
        <p:nvSpPr>
          <p:cNvPr id="161795" name="Rectangle 3"/>
          <p:cNvSpPr>
            <a:spLocks noGrp="1"/>
          </p:cNvSpPr>
          <p:nvPr>
            <p:ph type="body"/>
          </p:nvPr>
        </p:nvSpPr>
        <p:spPr>
          <a:xfrm>
            <a:off x="917575" y="4416425"/>
            <a:ext cx="5046663" cy="4181475"/>
          </a:xfrm>
          <a:ln/>
        </p:spPr>
        <p:txBody>
          <a:bodyPr wrap="none" lIns="92436" tIns="46217" rIns="92436" bIns="46217" anchor="ctr" anchorCtr="0"/>
          <a:lstStyle/>
          <a:p>
            <a:pPr lvl="0" eaLnBrk="1" hangingPunct="1"/>
            <a:r>
              <a:rPr lang="en-US" altLang="zh-CN" sz="1200" b="1" dirty="0">
                <a:latin typeface="Verdana" panose="020B0604030504040204" pitchFamily="34" charset="0"/>
              </a:rPr>
              <a:t>no-op:</a:t>
            </a:r>
            <a:r>
              <a:rPr lang="zh-CN" altLang="en-US" sz="1200" b="1" dirty="0">
                <a:latin typeface="Verdana" panose="020B0604030504040204" pitchFamily="34" charset="0"/>
              </a:rPr>
              <a:t>空操作</a:t>
            </a:r>
            <a:endParaRPr lang="zh-CN" altLang="zh-CN" dirty="0">
              <a:latin typeface="Arial" panose="020B0604020202020204" pitchFamily="34"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7"/>
          <p:cNvSpPr txBox="1">
            <a:spLocks noGrp="1"/>
          </p:cNvSpPr>
          <p:nvPr/>
        </p:nvSpPr>
        <p:spPr>
          <a:xfrm>
            <a:off x="3900488" y="8832850"/>
            <a:ext cx="2981325" cy="463550"/>
          </a:xfrm>
          <a:prstGeom prst="rect">
            <a:avLst/>
          </a:prstGeom>
          <a:noFill/>
          <a:ln w="9525">
            <a:noFill/>
          </a:ln>
        </p:spPr>
        <p:txBody>
          <a:bodyPr wrap="none" lIns="92436" tIns="46217" rIns="92436" bIns="46217" anchor="b" anchorCtr="0"/>
          <a:lstStyle/>
          <a:p>
            <a:pPr lvl="0" algn="r" defTabSz="923925"/>
            <a:fld id="{9A0DB2DC-4C9A-4742-B13C-FB6460FD3503}" type="slidenum">
              <a:rPr lang="en-US" altLang="zh-CN" sz="1200" dirty="0">
                <a:latin typeface="Times New Roman" panose="02020603050405020304" pitchFamily="18" charset="0"/>
              </a:rPr>
              <a:t>115</a:t>
            </a:fld>
            <a:endParaRPr lang="en-US" altLang="zh-CN" sz="1200" dirty="0">
              <a:latin typeface="Times New Roman" panose="02020603050405020304" pitchFamily="18" charset="0"/>
            </a:endParaRPr>
          </a:p>
        </p:txBody>
      </p:sp>
      <p:sp>
        <p:nvSpPr>
          <p:cNvPr id="163842" name="Rectangle 2"/>
          <p:cNvSpPr>
            <a:spLocks noGrp="1" noRot="1" noChangeAspect="1" noTextEdit="1"/>
          </p:cNvSpPr>
          <p:nvPr>
            <p:ph type="sldImg"/>
          </p:nvPr>
        </p:nvSpPr>
        <p:spPr>
          <a:xfrm>
            <a:off x="1117600" y="698500"/>
            <a:ext cx="4648200" cy="3486150"/>
          </a:xfrm>
          <a:ln/>
        </p:spPr>
      </p:sp>
      <p:sp>
        <p:nvSpPr>
          <p:cNvPr id="163843" name="Rectangle 3"/>
          <p:cNvSpPr>
            <a:spLocks noGrp="1"/>
          </p:cNvSpPr>
          <p:nvPr>
            <p:ph type="body"/>
          </p:nvPr>
        </p:nvSpPr>
        <p:spPr>
          <a:xfrm>
            <a:off x="917575" y="4416425"/>
            <a:ext cx="5046663" cy="4181475"/>
          </a:xfrm>
          <a:ln/>
        </p:spPr>
        <p:txBody>
          <a:bodyPr wrap="none" lIns="92436" tIns="46217" rIns="92436" bIns="46217" anchor="ctr" anchorCtr="0"/>
          <a:lstStyle/>
          <a:p>
            <a:pPr lvl="0" eaLnBrk="1" hangingPunct="1"/>
            <a:endParaRPr lang="zh-CN" altLang="zh-CN" dirty="0">
              <a:latin typeface="Arial" panose="020B0604020202020204" pitchFamily="34"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116</a:t>
            </a:fld>
            <a:endParaRPr lang="en-US" altLang="zh-CN" sz="1200" dirty="0">
              <a:latin typeface="Helvetica" pitchFamily="34" charset="0"/>
            </a:endParaRPr>
          </a:p>
        </p:txBody>
      </p:sp>
      <p:sp>
        <p:nvSpPr>
          <p:cNvPr id="165890" name="Rectangle 2"/>
          <p:cNvSpPr>
            <a:spLocks noGrp="1" noRot="1" noChangeAspect="1" noTextEdit="1"/>
          </p:cNvSpPr>
          <p:nvPr>
            <p:ph type="sldImg"/>
          </p:nvPr>
        </p:nvSpPr>
        <p:spPr>
          <a:ln/>
        </p:spPr>
      </p:sp>
      <p:sp>
        <p:nvSpPr>
          <p:cNvPr id="165891"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extLst>
      <p:ext uri="{BB962C8B-B14F-4D97-AF65-F5344CB8AC3E}">
        <p14:creationId xmlns:p14="http://schemas.microsoft.com/office/powerpoint/2010/main" val="410394905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117</a:t>
            </a:fld>
            <a:endParaRPr lang="en-US" altLang="zh-CN" sz="1200" dirty="0">
              <a:latin typeface="Helvetica" pitchFamily="34" charset="0"/>
            </a:endParaRPr>
          </a:p>
        </p:txBody>
      </p:sp>
      <p:sp>
        <p:nvSpPr>
          <p:cNvPr id="167938" name="Rectangle 2"/>
          <p:cNvSpPr>
            <a:spLocks noGrp="1" noRot="1" noChangeAspect="1" noTextEdit="1"/>
          </p:cNvSpPr>
          <p:nvPr>
            <p:ph type="sldImg"/>
          </p:nvPr>
        </p:nvSpPr>
        <p:spPr>
          <a:ln/>
        </p:spPr>
      </p:sp>
      <p:sp>
        <p:nvSpPr>
          <p:cNvPr id="167939"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extLst>
      <p:ext uri="{BB962C8B-B14F-4D97-AF65-F5344CB8AC3E}">
        <p14:creationId xmlns:p14="http://schemas.microsoft.com/office/powerpoint/2010/main" val="411030282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118</a:t>
            </a:fld>
            <a:endParaRPr lang="en-US" altLang="zh-CN" sz="1200" dirty="0">
              <a:latin typeface="Helvetica" pitchFamily="34" charset="0"/>
            </a:endParaRPr>
          </a:p>
        </p:txBody>
      </p:sp>
      <p:sp>
        <p:nvSpPr>
          <p:cNvPr id="169986" name="Rectangle 2"/>
          <p:cNvSpPr>
            <a:spLocks noGrp="1" noRot="1" noChangeAspect="1" noTextEdit="1"/>
          </p:cNvSpPr>
          <p:nvPr>
            <p:ph type="sldImg"/>
          </p:nvPr>
        </p:nvSpPr>
        <p:spPr>
          <a:ln/>
        </p:spPr>
      </p:sp>
      <p:sp>
        <p:nvSpPr>
          <p:cNvPr id="169987"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extLst>
      <p:ext uri="{BB962C8B-B14F-4D97-AF65-F5344CB8AC3E}">
        <p14:creationId xmlns:p14="http://schemas.microsoft.com/office/powerpoint/2010/main" val="320204976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7"/>
          <p:cNvSpPr txBox="1">
            <a:spLocks noGrp="1"/>
          </p:cNvSpPr>
          <p:nvPr/>
        </p:nvSpPr>
        <p:spPr>
          <a:xfrm>
            <a:off x="3900488" y="8853488"/>
            <a:ext cx="3000375" cy="457200"/>
          </a:xfrm>
          <a:prstGeom prst="rect">
            <a:avLst/>
          </a:prstGeom>
          <a:noFill/>
          <a:ln w="9525">
            <a:noFill/>
          </a:ln>
        </p:spPr>
        <p:txBody>
          <a:bodyPr wrap="none" lIns="90892" tIns="45445" rIns="90892" bIns="45445" anchor="b" anchorCtr="0"/>
          <a:lstStyle/>
          <a:p>
            <a:pPr lvl="0" algn="r" defTabSz="908050"/>
            <a:fld id="{9A0DB2DC-4C9A-4742-B13C-FB6460FD3503}" type="slidenum">
              <a:rPr lang="en-US" altLang="zh-CN" sz="1200" dirty="0">
                <a:latin typeface="Helvetica" pitchFamily="34" charset="0"/>
              </a:rPr>
              <a:t>119</a:t>
            </a:fld>
            <a:endParaRPr lang="en-US" altLang="zh-CN" sz="1200" dirty="0">
              <a:latin typeface="Helvetica" pitchFamily="34" charset="0"/>
            </a:endParaRPr>
          </a:p>
        </p:txBody>
      </p:sp>
      <p:sp>
        <p:nvSpPr>
          <p:cNvPr id="172034" name="Rectangle 2"/>
          <p:cNvSpPr>
            <a:spLocks noGrp="1" noRot="1" noChangeAspect="1" noTextEdit="1"/>
          </p:cNvSpPr>
          <p:nvPr>
            <p:ph type="sldImg"/>
          </p:nvPr>
        </p:nvSpPr>
        <p:spPr>
          <a:ln/>
        </p:spPr>
      </p:sp>
      <p:sp>
        <p:nvSpPr>
          <p:cNvPr id="172035"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ea typeface="宋体" panose="02010600030101010101" pitchFamily="2" charset="-122"/>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120</a:t>
            </a:fld>
            <a:endParaRPr lang="en-US" altLang="zh-CN" sz="1200" dirty="0">
              <a:latin typeface="Helvetica" pitchFamily="34" charset="0"/>
            </a:endParaRPr>
          </a:p>
        </p:txBody>
      </p:sp>
      <p:sp>
        <p:nvSpPr>
          <p:cNvPr id="174082" name="Rectangle 2"/>
          <p:cNvSpPr>
            <a:spLocks noGrp="1" noRot="1" noChangeAspect="1" noTextEdit="1"/>
          </p:cNvSpPr>
          <p:nvPr>
            <p:ph type="sldImg"/>
          </p:nvPr>
        </p:nvSpPr>
        <p:spPr>
          <a:ln/>
        </p:spPr>
      </p:sp>
      <p:sp>
        <p:nvSpPr>
          <p:cNvPr id="174083"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7"/>
          <p:cNvSpPr txBox="1">
            <a:spLocks noGrp="1"/>
          </p:cNvSpPr>
          <p:nvPr/>
        </p:nvSpPr>
        <p:spPr>
          <a:xfrm>
            <a:off x="3900488" y="8832850"/>
            <a:ext cx="2981325" cy="463550"/>
          </a:xfrm>
          <a:prstGeom prst="rect">
            <a:avLst/>
          </a:prstGeom>
          <a:noFill/>
          <a:ln w="9525">
            <a:noFill/>
          </a:ln>
        </p:spPr>
        <p:txBody>
          <a:bodyPr wrap="none" lIns="92436" tIns="46217" rIns="92436" bIns="46217" anchor="b" anchorCtr="0"/>
          <a:lstStyle/>
          <a:p>
            <a:pPr lvl="0" algn="r" defTabSz="923925"/>
            <a:fld id="{9A0DB2DC-4C9A-4742-B13C-FB6460FD3503}" type="slidenum">
              <a:rPr lang="en-US" altLang="zh-CN" sz="1200" dirty="0">
                <a:latin typeface="Times New Roman" panose="02020603050405020304" pitchFamily="18" charset="0"/>
              </a:rPr>
              <a:t>121</a:t>
            </a:fld>
            <a:endParaRPr lang="en-US" altLang="zh-CN" sz="1200" dirty="0">
              <a:latin typeface="Times New Roman" panose="02020603050405020304" pitchFamily="18" charset="0"/>
            </a:endParaRPr>
          </a:p>
        </p:txBody>
      </p:sp>
      <p:sp>
        <p:nvSpPr>
          <p:cNvPr id="176130" name="Rectangle 2"/>
          <p:cNvSpPr>
            <a:spLocks noGrp="1" noRot="1" noChangeAspect="1" noTextEdit="1"/>
          </p:cNvSpPr>
          <p:nvPr>
            <p:ph type="sldImg"/>
          </p:nvPr>
        </p:nvSpPr>
        <p:spPr>
          <a:xfrm>
            <a:off x="1117600" y="698500"/>
            <a:ext cx="4648200" cy="3486150"/>
          </a:xfrm>
          <a:ln/>
        </p:spPr>
      </p:sp>
      <p:sp>
        <p:nvSpPr>
          <p:cNvPr id="176131" name="Rectangle 3"/>
          <p:cNvSpPr>
            <a:spLocks noGrp="1"/>
          </p:cNvSpPr>
          <p:nvPr>
            <p:ph type="body"/>
          </p:nvPr>
        </p:nvSpPr>
        <p:spPr>
          <a:xfrm>
            <a:off x="917575" y="4416425"/>
            <a:ext cx="5046663" cy="4181475"/>
          </a:xfrm>
          <a:ln/>
        </p:spPr>
        <p:txBody>
          <a:bodyPr wrap="none" lIns="92436" tIns="46217" rIns="92436" bIns="46217" anchor="ctr" anchorCtr="0"/>
          <a:lstStyle/>
          <a:p>
            <a:pPr lvl="0"/>
            <a:r>
              <a:rPr lang="zh-CN" altLang="en-US" dirty="0"/>
              <a:t>给每一个条件变量定义一个信号量</a:t>
            </a:r>
          </a:p>
          <a:p>
            <a:pPr lvl="0"/>
            <a:r>
              <a:rPr lang="zh-CN" altLang="en-US" dirty="0"/>
              <a:t>因管程中只允许一个进程活动</a:t>
            </a:r>
            <a:r>
              <a:rPr lang="en-US" altLang="zh-CN" dirty="0"/>
              <a:t>,</a:t>
            </a:r>
            <a:r>
              <a:rPr lang="zh-CN" altLang="en-US" dirty="0"/>
              <a:t>执行了</a:t>
            </a:r>
            <a:r>
              <a:rPr lang="en-US" altLang="zh-CN" dirty="0"/>
              <a:t>signal</a:t>
            </a:r>
            <a:r>
              <a:rPr lang="zh-CN" altLang="en-US" dirty="0"/>
              <a:t>的进程要进入等待状态</a:t>
            </a:r>
            <a:r>
              <a:rPr lang="en-US" altLang="zh-CN" dirty="0"/>
              <a:t>, </a:t>
            </a:r>
            <a:r>
              <a:rPr lang="zh-CN" altLang="en-US" dirty="0"/>
              <a:t>这里用信号量</a:t>
            </a:r>
            <a:r>
              <a:rPr lang="en-US" altLang="zh-CN" dirty="0"/>
              <a:t>wait(next)</a:t>
            </a:r>
            <a:r>
              <a:rPr lang="zh-CN" altLang="en-US" dirty="0"/>
              <a:t>来实现</a:t>
            </a:r>
            <a:r>
              <a:rPr lang="en-US" altLang="zh-CN" dirty="0"/>
              <a:t>, </a:t>
            </a:r>
            <a:r>
              <a:rPr lang="zh-CN" altLang="en-US" dirty="0"/>
              <a:t>整型变量</a:t>
            </a:r>
            <a:r>
              <a:rPr lang="en-US" altLang="zh-CN" dirty="0">
                <a:solidFill>
                  <a:srgbClr val="FF0000"/>
                </a:solidFill>
                <a:ea typeface="宋体" panose="02010600030101010101" pitchFamily="2" charset="-122"/>
              </a:rPr>
              <a:t>Next-count</a:t>
            </a:r>
            <a:r>
              <a:rPr lang="zh-CN" altLang="en-US" dirty="0">
                <a:solidFill>
                  <a:srgbClr val="FF0000"/>
                </a:solidFill>
                <a:ea typeface="宋体" panose="02010600030101010101" pitchFamily="2" charset="-122"/>
              </a:rPr>
              <a:t>表示在</a:t>
            </a:r>
            <a:r>
              <a:rPr lang="en-US" altLang="zh-CN" dirty="0">
                <a:solidFill>
                  <a:srgbClr val="FF0000"/>
                </a:solidFill>
                <a:ea typeface="宋体" panose="02010600030101010101" pitchFamily="2" charset="-122"/>
              </a:rPr>
              <a:t>next</a:t>
            </a:r>
            <a:r>
              <a:rPr lang="zh-CN" altLang="en-US" dirty="0">
                <a:solidFill>
                  <a:srgbClr val="FF0000"/>
                </a:solidFill>
                <a:ea typeface="宋体" panose="02010600030101010101" pitchFamily="2" charset="-122"/>
              </a:rPr>
              <a:t>等待的进程数</a:t>
            </a:r>
            <a:r>
              <a:rPr lang="zh-CN" altLang="en-US" dirty="0">
                <a:ea typeface="宋体" panose="02010600030101010101" pitchFamily="2" charset="-122"/>
              </a:rPr>
              <a:t> </a:t>
            </a:r>
            <a:endParaRPr lang="zh-CN" altLang="zh-CN" dirty="0">
              <a:ea typeface="宋体" panose="02010600030101010101" pitchFamily="2" charset="-122"/>
            </a:endParaRPr>
          </a:p>
          <a:p>
            <a:pPr lvl="0"/>
            <a:endParaRPr lang="zh-CN" altLang="zh-CN"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幻灯片图像占位符 1">
            <a:extLst>
              <a:ext uri="{FF2B5EF4-FFF2-40B4-BE49-F238E27FC236}">
                <a16:creationId xmlns:a16="http://schemas.microsoft.com/office/drawing/2014/main" id="{15E3F4B0-F1D2-4CE3-BA64-47B7920DD75A}"/>
              </a:ext>
            </a:extLst>
          </p:cNvPr>
          <p:cNvSpPr>
            <a:spLocks noGrp="1" noRot="1" noChangeAspect="1" noChangeArrowheads="1" noTextEdit="1"/>
          </p:cNvSpPr>
          <p:nvPr>
            <p:ph type="sldImg"/>
          </p:nvPr>
        </p:nvSpPr>
        <p:spPr>
          <a:ln/>
        </p:spPr>
      </p:sp>
      <p:sp>
        <p:nvSpPr>
          <p:cNvPr id="228355" name="备注占位符 2">
            <a:extLst>
              <a:ext uri="{FF2B5EF4-FFF2-40B4-BE49-F238E27FC236}">
                <a16:creationId xmlns:a16="http://schemas.microsoft.com/office/drawing/2014/main" id="{533BCA13-4DA9-45F0-91B7-3A4AFDEEE6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228356" name="灯片编号占位符 3">
            <a:extLst>
              <a:ext uri="{FF2B5EF4-FFF2-40B4-BE49-F238E27FC236}">
                <a16:creationId xmlns:a16="http://schemas.microsoft.com/office/drawing/2014/main" id="{331EDD03-4ED6-4255-88DB-3BD32E36E5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3D69A89F-573A-4568-B997-2425E1F46811}" type="slidenum">
              <a:rPr lang="en-US" altLang="zh-CN">
                <a:latin typeface="Helvetica" panose="020B0604020202020204" pitchFamily="34" charset="0"/>
              </a:rPr>
              <a:pPr/>
              <a:t>122</a:t>
            </a:fld>
            <a:endParaRPr lang="en-US" altLang="zh-CN">
              <a:latin typeface="Helvetica" panose="020B0604020202020204" pitchFamily="34" charset="0"/>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幻灯片图像占位符 1">
            <a:extLst>
              <a:ext uri="{FF2B5EF4-FFF2-40B4-BE49-F238E27FC236}">
                <a16:creationId xmlns:a16="http://schemas.microsoft.com/office/drawing/2014/main" id="{A2E673BC-29A2-48F0-9488-06A2A1FD7B6C}"/>
              </a:ext>
            </a:extLst>
          </p:cNvPr>
          <p:cNvSpPr>
            <a:spLocks noGrp="1" noRot="1" noChangeAspect="1" noChangeArrowheads="1" noTextEdit="1"/>
          </p:cNvSpPr>
          <p:nvPr>
            <p:ph type="sldImg"/>
          </p:nvPr>
        </p:nvSpPr>
        <p:spPr>
          <a:ln/>
        </p:spPr>
      </p:sp>
      <p:sp>
        <p:nvSpPr>
          <p:cNvPr id="230403" name="备注占位符 2">
            <a:extLst>
              <a:ext uri="{FF2B5EF4-FFF2-40B4-BE49-F238E27FC236}">
                <a16:creationId xmlns:a16="http://schemas.microsoft.com/office/drawing/2014/main" id="{9BD5CDB9-5F33-4E8F-AD98-D1DDF4FAF4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230404" name="灯片编号占位符 3">
            <a:extLst>
              <a:ext uri="{FF2B5EF4-FFF2-40B4-BE49-F238E27FC236}">
                <a16:creationId xmlns:a16="http://schemas.microsoft.com/office/drawing/2014/main" id="{201C4757-0D41-481F-8D3A-ECF488741F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843CD0AA-916B-4F18-8F2D-DE67BB96ABEC}" type="slidenum">
              <a:rPr lang="en-US" altLang="zh-CN">
                <a:latin typeface="Helvetica" panose="020B0604020202020204" pitchFamily="34" charset="0"/>
              </a:rPr>
              <a:pPr/>
              <a:t>123</a:t>
            </a:fld>
            <a:endParaRPr lang="en-US" altLang="zh-CN">
              <a:latin typeface="Helvetica" panose="020B0604020202020204" pitchFamily="34" charset="0"/>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幻灯片图像占位符 1">
            <a:extLst>
              <a:ext uri="{FF2B5EF4-FFF2-40B4-BE49-F238E27FC236}">
                <a16:creationId xmlns:a16="http://schemas.microsoft.com/office/drawing/2014/main" id="{4302E9E6-219E-4AD1-B44F-369D6399C25A}"/>
              </a:ext>
            </a:extLst>
          </p:cNvPr>
          <p:cNvSpPr>
            <a:spLocks noGrp="1" noRot="1" noChangeAspect="1" noChangeArrowheads="1" noTextEdit="1"/>
          </p:cNvSpPr>
          <p:nvPr>
            <p:ph type="sldImg"/>
          </p:nvPr>
        </p:nvSpPr>
        <p:spPr>
          <a:ln/>
        </p:spPr>
      </p:sp>
      <p:sp>
        <p:nvSpPr>
          <p:cNvPr id="234499" name="备注占位符 2">
            <a:extLst>
              <a:ext uri="{FF2B5EF4-FFF2-40B4-BE49-F238E27FC236}">
                <a16:creationId xmlns:a16="http://schemas.microsoft.com/office/drawing/2014/main" id="{63A191E2-F217-4999-9A96-C87417B919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234500" name="灯片编号占位符 3">
            <a:extLst>
              <a:ext uri="{FF2B5EF4-FFF2-40B4-BE49-F238E27FC236}">
                <a16:creationId xmlns:a16="http://schemas.microsoft.com/office/drawing/2014/main" id="{165D5842-D0FF-404E-A383-24F4AD9590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EA11CB7A-71F8-4623-B5BA-0A1B2DA08AF2}" type="slidenum">
              <a:rPr lang="en-US" altLang="zh-CN">
                <a:latin typeface="Helvetica" panose="020B0604020202020204" pitchFamily="34" charset="0"/>
              </a:rPr>
              <a:pPr/>
              <a:t>124</a:t>
            </a:fld>
            <a:endParaRPr lang="en-US" altLang="zh-CN">
              <a:latin typeface="Helvetica" panose="020B0604020202020204" pitchFamily="34" charset="0"/>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幻灯片图像占位符 1">
            <a:extLst>
              <a:ext uri="{FF2B5EF4-FFF2-40B4-BE49-F238E27FC236}">
                <a16:creationId xmlns:a16="http://schemas.microsoft.com/office/drawing/2014/main" id="{DF567205-A383-4868-BCEE-EF7340840191}"/>
              </a:ext>
            </a:extLst>
          </p:cNvPr>
          <p:cNvSpPr>
            <a:spLocks noGrp="1" noRot="1" noChangeAspect="1" noChangeArrowheads="1" noTextEdit="1"/>
          </p:cNvSpPr>
          <p:nvPr>
            <p:ph type="sldImg"/>
          </p:nvPr>
        </p:nvSpPr>
        <p:spPr>
          <a:ln/>
        </p:spPr>
      </p:sp>
      <p:sp>
        <p:nvSpPr>
          <p:cNvPr id="3" name="备注占位符 2">
            <a:extLst>
              <a:ext uri="{FF2B5EF4-FFF2-40B4-BE49-F238E27FC236}">
                <a16:creationId xmlns:a16="http://schemas.microsoft.com/office/drawing/2014/main" id="{039507EF-91CA-4F7E-A76F-9C528FE1D1D9}"/>
              </a:ext>
            </a:extLst>
          </p:cNvPr>
          <p:cNvSpPr>
            <a:spLocks noGrp="1"/>
          </p:cNvSpPr>
          <p:nvPr>
            <p:ph type="body" idx="1"/>
          </p:nvPr>
        </p:nvSpPr>
        <p:spPr/>
        <p:txBody>
          <a:bodyPr/>
          <a:lstStyle/>
          <a:p>
            <a:pPr indent="266700" algn="just">
              <a:defRPr/>
            </a:pPr>
            <a:r>
              <a:rPr lang="zh-CN" altLang="zh-CN" sz="1800" kern="100" dirty="0">
                <a:latin typeface="Times New Roman" panose="02020603050405020304" pitchFamily="18" charset="0"/>
                <a:ea typeface="宋体" panose="02010600030101010101" pitchFamily="2" charset="-122"/>
              </a:rPr>
              <a:t>因为</a:t>
            </a:r>
            <a:r>
              <a:rPr lang="en-US" altLang="zh-CN" sz="1800" kern="100" dirty="0">
                <a:latin typeface="Times New Roman" panose="02020603050405020304" pitchFamily="18" charset="0"/>
                <a:ea typeface="宋体" panose="02010600030101010101" pitchFamily="2" charset="-122"/>
              </a:rPr>
              <a:t>P1</a:t>
            </a:r>
            <a:r>
              <a:rPr lang="zh-CN" altLang="zh-CN" sz="1800" kern="100" dirty="0">
                <a:latin typeface="Times New Roman" panose="02020603050405020304" pitchFamily="18" charset="0"/>
                <a:ea typeface="宋体" panose="02010600030101010101" pitchFamily="2" charset="-122"/>
              </a:rPr>
              <a:t>和</a:t>
            </a:r>
            <a:r>
              <a:rPr lang="en-US" altLang="zh-CN" sz="1800" kern="100" dirty="0">
                <a:latin typeface="Times New Roman" panose="02020603050405020304" pitchFamily="18" charset="0"/>
                <a:ea typeface="宋体" panose="02010600030101010101" pitchFamily="2" charset="-122"/>
              </a:rPr>
              <a:t>P2</a:t>
            </a:r>
            <a:r>
              <a:rPr lang="zh-CN" altLang="zh-CN" sz="1800" kern="100" dirty="0">
                <a:latin typeface="Times New Roman" panose="02020603050405020304" pitchFamily="18" charset="0"/>
                <a:ea typeface="宋体" panose="02010600030101010101" pitchFamily="2" charset="-122"/>
              </a:rPr>
              <a:t>是两个并发进程，所以进程调度程序调度</a:t>
            </a:r>
            <a:r>
              <a:rPr lang="en-US" altLang="zh-CN" sz="1800" kern="100" dirty="0">
                <a:latin typeface="Times New Roman" panose="02020603050405020304" pitchFamily="18" charset="0"/>
                <a:ea typeface="宋体" panose="02010600030101010101" pitchFamily="2" charset="-122"/>
              </a:rPr>
              <a:t>P1</a:t>
            </a:r>
            <a:r>
              <a:rPr lang="zh-CN" altLang="zh-CN" sz="1800" kern="100" dirty="0">
                <a:latin typeface="Times New Roman" panose="02020603050405020304" pitchFamily="18" charset="0"/>
                <a:ea typeface="宋体" panose="02010600030101010101" pitchFamily="2" charset="-122"/>
              </a:rPr>
              <a:t>和</a:t>
            </a:r>
            <a:r>
              <a:rPr lang="en-US" altLang="zh-CN" sz="1800" kern="100" dirty="0">
                <a:latin typeface="Times New Roman" panose="02020603050405020304" pitchFamily="18" charset="0"/>
                <a:ea typeface="宋体" panose="02010600030101010101" pitchFamily="2" charset="-122"/>
              </a:rPr>
              <a:t>P2</a:t>
            </a:r>
            <a:r>
              <a:rPr lang="zh-CN" altLang="zh-CN" sz="1800" kern="100" dirty="0">
                <a:latin typeface="Times New Roman" panose="02020603050405020304" pitchFamily="18" charset="0"/>
                <a:ea typeface="宋体" panose="02010600030101010101" pitchFamily="2" charset="-122"/>
              </a:rPr>
              <a:t>的顺序是不确定的。</a:t>
            </a:r>
          </a:p>
          <a:p>
            <a:pPr indent="266700" algn="just">
              <a:defRPr/>
            </a:pPr>
            <a:r>
              <a:rPr lang="zh-CN" altLang="zh-CN" sz="1800" kern="100" dirty="0">
                <a:latin typeface="Times New Roman" panose="02020603050405020304" pitchFamily="18" charset="0"/>
                <a:ea typeface="宋体" panose="02010600030101010101" pitchFamily="2" charset="-122"/>
              </a:rPr>
              <a:t>这里不妨假设</a:t>
            </a:r>
            <a:r>
              <a:rPr lang="en-US" altLang="zh-CN" sz="1800" kern="100" dirty="0">
                <a:latin typeface="Times New Roman" panose="02020603050405020304" pitchFamily="18" charset="0"/>
                <a:ea typeface="宋体" panose="02010600030101010101" pitchFamily="2" charset="-122"/>
              </a:rPr>
              <a:t>P1</a:t>
            </a:r>
            <a:r>
              <a:rPr lang="zh-CN" altLang="zh-CN" sz="1800" kern="100" dirty="0">
                <a:latin typeface="Times New Roman" panose="02020603050405020304" pitchFamily="18" charset="0"/>
                <a:ea typeface="宋体" panose="02010600030101010101" pitchFamily="2" charset="-122"/>
              </a:rPr>
              <a:t>先执行。进程</a:t>
            </a:r>
            <a:r>
              <a:rPr lang="en-US" altLang="zh-CN" sz="1800" kern="100" dirty="0">
                <a:latin typeface="Times New Roman" panose="02020603050405020304" pitchFamily="18" charset="0"/>
                <a:ea typeface="宋体" panose="02010600030101010101" pitchFamily="2" charset="-122"/>
              </a:rPr>
              <a:t>P1</a:t>
            </a:r>
            <a:r>
              <a:rPr lang="zh-CN" altLang="zh-CN" sz="1800" kern="100" dirty="0">
                <a:latin typeface="Times New Roman" panose="02020603050405020304" pitchFamily="18" charset="0"/>
                <a:ea typeface="宋体" panose="02010600030101010101" pitchFamily="2" charset="-122"/>
              </a:rPr>
              <a:t>执行到语句</a:t>
            </a:r>
            <a:r>
              <a:rPr lang="en-US" altLang="zh-CN" sz="1800" kern="100" dirty="0">
                <a:latin typeface="Times New Roman" panose="02020603050405020304" pitchFamily="18" charset="0"/>
                <a:ea typeface="宋体" panose="02010600030101010101" pitchFamily="2" charset="-122"/>
              </a:rPr>
              <a:t>P(S2)</a:t>
            </a:r>
            <a:r>
              <a:rPr lang="zh-CN" altLang="zh-CN" sz="1800" kern="100" dirty="0">
                <a:latin typeface="Times New Roman" panose="02020603050405020304" pitchFamily="18" charset="0"/>
                <a:ea typeface="宋体" panose="02010600030101010101" pitchFamily="2" charset="-122"/>
              </a:rPr>
              <a:t>时，</a:t>
            </a:r>
            <a:r>
              <a:rPr lang="en-US" altLang="zh-CN" sz="1800" kern="100" dirty="0">
                <a:latin typeface="Times New Roman" panose="02020603050405020304" pitchFamily="18" charset="0"/>
                <a:ea typeface="宋体" panose="02010600030101010101" pitchFamily="2" charset="-122"/>
              </a:rPr>
              <a:t>S2</a:t>
            </a: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-1</a:t>
            </a:r>
            <a:r>
              <a:rPr lang="zh-CN" altLang="zh-CN" sz="1800" kern="100" dirty="0">
                <a:latin typeface="Times New Roman" panose="02020603050405020304" pitchFamily="18" charset="0"/>
                <a:ea typeface="宋体" panose="02010600030101010101" pitchFamily="2" charset="-122"/>
              </a:rPr>
              <a:t>，进程</a:t>
            </a:r>
            <a:r>
              <a:rPr lang="en-US" altLang="zh-CN" sz="1800" kern="100" dirty="0">
                <a:latin typeface="Times New Roman" panose="02020603050405020304" pitchFamily="18" charset="0"/>
                <a:ea typeface="宋体" panose="02010600030101010101" pitchFamily="2" charset="-122"/>
              </a:rPr>
              <a:t>P1</a:t>
            </a:r>
            <a:r>
              <a:rPr lang="zh-CN" altLang="zh-CN" sz="1800" kern="100" dirty="0">
                <a:latin typeface="Times New Roman" panose="02020603050405020304" pitchFamily="18" charset="0"/>
                <a:ea typeface="宋体" panose="02010600030101010101" pitchFamily="2" charset="-122"/>
              </a:rPr>
              <a:t>阻塞。此时，</a:t>
            </a:r>
            <a:r>
              <a:rPr lang="en-US" altLang="zh-CN" sz="1800" kern="100" dirty="0">
                <a:latin typeface="Times New Roman" panose="02020603050405020304" pitchFamily="18" charset="0"/>
                <a:ea typeface="宋体" panose="02010600030101010101" pitchFamily="2" charset="-122"/>
              </a:rPr>
              <a:t>y=3</a:t>
            </a: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z=4</a:t>
            </a:r>
            <a:r>
              <a:rPr lang="zh-CN" altLang="zh-CN" sz="1800" kern="100" dirty="0">
                <a:latin typeface="Times New Roman" panose="02020603050405020304" pitchFamily="18" charset="0"/>
                <a:ea typeface="宋体" panose="02010600030101010101" pitchFamily="2" charset="-122"/>
              </a:rPr>
              <a:t>。当进程调度程序调度到进程</a:t>
            </a:r>
            <a:r>
              <a:rPr lang="en-US" altLang="zh-CN" sz="1800" kern="100" dirty="0">
                <a:latin typeface="Times New Roman" panose="02020603050405020304" pitchFamily="18" charset="0"/>
                <a:ea typeface="宋体" panose="02010600030101010101" pitchFamily="2" charset="-122"/>
              </a:rPr>
              <a:t>P2</a:t>
            </a:r>
            <a:r>
              <a:rPr lang="zh-CN" altLang="zh-CN" sz="1800" kern="100" dirty="0">
                <a:latin typeface="Times New Roman" panose="02020603050405020304" pitchFamily="18" charset="0"/>
                <a:ea typeface="宋体" panose="02010600030101010101" pitchFamily="2" charset="-122"/>
              </a:rPr>
              <a:t>时，由于进程</a:t>
            </a:r>
            <a:r>
              <a:rPr lang="en-US" altLang="zh-CN" sz="1800" kern="100" dirty="0">
                <a:latin typeface="Times New Roman" panose="02020603050405020304" pitchFamily="18" charset="0"/>
                <a:ea typeface="宋体" panose="02010600030101010101" pitchFamily="2" charset="-122"/>
              </a:rPr>
              <a:t>P1</a:t>
            </a:r>
            <a:r>
              <a:rPr lang="zh-CN" altLang="zh-CN" sz="1800" kern="100" dirty="0">
                <a:latin typeface="Times New Roman" panose="02020603050405020304" pitchFamily="18" charset="0"/>
                <a:ea typeface="宋体" panose="02010600030101010101" pitchFamily="2" charset="-122"/>
              </a:rPr>
              <a:t>已执行了</a:t>
            </a:r>
            <a:r>
              <a:rPr lang="en-US" altLang="zh-CN" sz="1800" kern="100" dirty="0">
                <a:latin typeface="Times New Roman" panose="02020603050405020304" pitchFamily="18" charset="0"/>
                <a:ea typeface="宋体" panose="02010600030101010101" pitchFamily="2" charset="-122"/>
              </a:rPr>
              <a:t>V(S1)</a:t>
            </a:r>
            <a:r>
              <a:rPr lang="zh-CN" altLang="zh-CN" sz="1800" kern="100" dirty="0">
                <a:latin typeface="Times New Roman" panose="02020603050405020304" pitchFamily="18" charset="0"/>
                <a:ea typeface="宋体" panose="02010600030101010101" pitchFamily="2" charset="-122"/>
              </a:rPr>
              <a:t>，进程</a:t>
            </a:r>
            <a:r>
              <a:rPr lang="en-US" altLang="zh-CN" sz="1800" kern="100" dirty="0">
                <a:latin typeface="Times New Roman" panose="02020603050405020304" pitchFamily="18" charset="0"/>
                <a:ea typeface="宋体" panose="02010600030101010101" pitchFamily="2" charset="-122"/>
              </a:rPr>
              <a:t>P2</a:t>
            </a:r>
            <a:r>
              <a:rPr lang="zh-CN" altLang="zh-CN" sz="1800" kern="100" dirty="0">
                <a:latin typeface="Times New Roman" panose="02020603050405020304" pitchFamily="18" charset="0"/>
                <a:ea typeface="宋体" panose="02010600030101010101" pitchFamily="2" charset="-122"/>
              </a:rPr>
              <a:t>在执行</a:t>
            </a:r>
            <a:r>
              <a:rPr lang="en-US" altLang="zh-CN" sz="1800" kern="100" dirty="0">
                <a:latin typeface="Times New Roman" panose="02020603050405020304" pitchFamily="18" charset="0"/>
                <a:ea typeface="宋体" panose="02010600030101010101" pitchFamily="2" charset="-122"/>
              </a:rPr>
              <a:t>P(S1)</a:t>
            </a:r>
            <a:r>
              <a:rPr lang="zh-CN" altLang="zh-CN" sz="1800" kern="100" dirty="0">
                <a:latin typeface="Times New Roman" panose="02020603050405020304" pitchFamily="18" charset="0"/>
                <a:ea typeface="宋体" panose="02010600030101010101" pitchFamily="2" charset="-122"/>
              </a:rPr>
              <a:t>时并未阻塞而继续执行，当执行到</a:t>
            </a:r>
            <a:r>
              <a:rPr lang="en-US" altLang="zh-CN" sz="1800" kern="100" dirty="0">
                <a:latin typeface="Times New Roman" panose="02020603050405020304" pitchFamily="18" charset="0"/>
                <a:ea typeface="宋体" panose="02010600030101010101" pitchFamily="2" charset="-122"/>
              </a:rPr>
              <a:t>V(S2)</a:t>
            </a:r>
            <a:r>
              <a:rPr lang="zh-CN" altLang="zh-CN" sz="1800" kern="100" dirty="0">
                <a:latin typeface="Times New Roman" panose="02020603050405020304" pitchFamily="18" charset="0"/>
                <a:ea typeface="宋体" panose="02010600030101010101" pitchFamily="2" charset="-122"/>
              </a:rPr>
              <a:t>时，将</a:t>
            </a:r>
            <a:r>
              <a:rPr lang="en-US" altLang="zh-CN" sz="1800" kern="100" dirty="0">
                <a:latin typeface="Times New Roman" panose="02020603050405020304" pitchFamily="18" charset="0"/>
                <a:ea typeface="宋体" panose="02010600030101010101" pitchFamily="2" charset="-122"/>
              </a:rPr>
              <a:t>P1</a:t>
            </a:r>
            <a:r>
              <a:rPr lang="zh-CN" altLang="zh-CN" sz="1800" kern="100" dirty="0">
                <a:latin typeface="Times New Roman" panose="02020603050405020304" pitchFamily="18" charset="0"/>
                <a:ea typeface="宋体" panose="02010600030101010101" pitchFamily="2" charset="-122"/>
              </a:rPr>
              <a:t>唤醒，然后执行最后一个语句</a:t>
            </a:r>
            <a:r>
              <a:rPr lang="en-US" altLang="zh-CN" sz="1800" kern="100" dirty="0">
                <a:latin typeface="Times New Roman" panose="02020603050405020304" pitchFamily="18" charset="0"/>
                <a:ea typeface="宋体" panose="02010600030101010101" pitchFamily="2" charset="-122"/>
              </a:rPr>
              <a:t>z:=x+z</a:t>
            </a:r>
            <a:r>
              <a:rPr lang="zh-CN" altLang="zh-CN" sz="1800" kern="100" dirty="0">
                <a:latin typeface="Times New Roman" panose="02020603050405020304" pitchFamily="18" charset="0"/>
                <a:ea typeface="宋体" panose="02010600030101010101" pitchFamily="2" charset="-122"/>
              </a:rPr>
              <a:t>，此时</a:t>
            </a:r>
            <a:r>
              <a:rPr lang="en-US" altLang="zh-CN" sz="1800" kern="100" dirty="0">
                <a:latin typeface="Times New Roman" panose="02020603050405020304" pitchFamily="18" charset="0"/>
                <a:ea typeface="宋体" panose="02010600030101010101" pitchFamily="2" charset="-122"/>
              </a:rPr>
              <a:t>x=5</a:t>
            </a: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z=9</a:t>
            </a:r>
            <a:r>
              <a:rPr lang="zh-CN" altLang="zh-CN" sz="1800" kern="100" dirty="0">
                <a:latin typeface="Times New Roman" panose="02020603050405020304" pitchFamily="18" charset="0"/>
                <a:ea typeface="宋体" panose="02010600030101010101" pitchFamily="2" charset="-122"/>
              </a:rPr>
              <a:t>。当进程</a:t>
            </a:r>
            <a:r>
              <a:rPr lang="en-US" altLang="zh-CN" sz="1800" kern="100" dirty="0">
                <a:latin typeface="Times New Roman" panose="02020603050405020304" pitchFamily="18" charset="0"/>
                <a:ea typeface="宋体" panose="02010600030101010101" pitchFamily="2" charset="-122"/>
              </a:rPr>
              <a:t>P1</a:t>
            </a:r>
            <a:r>
              <a:rPr lang="zh-CN" altLang="zh-CN" sz="1800" kern="100" dirty="0">
                <a:latin typeface="Times New Roman" panose="02020603050405020304" pitchFamily="18" charset="0"/>
                <a:ea typeface="宋体" panose="02010600030101010101" pitchFamily="2" charset="-122"/>
              </a:rPr>
              <a:t>再次被调度时，继续执行</a:t>
            </a:r>
            <a:r>
              <a:rPr lang="en-US" altLang="zh-CN" sz="1800" kern="100" dirty="0">
                <a:latin typeface="Times New Roman" panose="02020603050405020304" pitchFamily="18" charset="0"/>
                <a:ea typeface="宋体" panose="02010600030101010101" pitchFamily="2" charset="-122"/>
              </a:rPr>
              <a:t>P1</a:t>
            </a:r>
            <a:r>
              <a:rPr lang="zh-CN" altLang="zh-CN" sz="1800" kern="100" dirty="0">
                <a:latin typeface="Times New Roman" panose="02020603050405020304" pitchFamily="18" charset="0"/>
                <a:ea typeface="宋体" panose="02010600030101010101" pitchFamily="2" charset="-122"/>
              </a:rPr>
              <a:t>的最后一个语句，此时</a:t>
            </a:r>
            <a:r>
              <a:rPr lang="en-US" altLang="zh-CN" sz="1800" kern="100" dirty="0">
                <a:latin typeface="Times New Roman" panose="02020603050405020304" pitchFamily="18" charset="0"/>
                <a:ea typeface="宋体" panose="02010600030101010101" pitchFamily="2" charset="-122"/>
              </a:rPr>
              <a:t>y=12,</a:t>
            </a:r>
            <a:r>
              <a:rPr lang="zh-CN" altLang="zh-CN" sz="1800" kern="100" dirty="0">
                <a:latin typeface="Times New Roman" panose="02020603050405020304" pitchFamily="18" charset="0"/>
                <a:ea typeface="宋体" panose="02010600030101010101" pitchFamily="2" charset="-122"/>
              </a:rPr>
              <a:t>最终结果是：</a:t>
            </a:r>
            <a:r>
              <a:rPr lang="en-US" altLang="zh-CN" sz="1800" kern="100" dirty="0">
                <a:latin typeface="Times New Roman" panose="02020603050405020304" pitchFamily="18" charset="0"/>
                <a:ea typeface="宋体" panose="02010600030101010101" pitchFamily="2" charset="-122"/>
              </a:rPr>
              <a:t>x=5</a:t>
            </a: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y=12</a:t>
            </a: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z=9</a:t>
            </a:r>
            <a:r>
              <a:rPr lang="zh-CN" altLang="zh-CN" sz="1800" kern="100" dirty="0">
                <a:latin typeface="Times New Roman" panose="02020603050405020304" pitchFamily="18" charset="0"/>
                <a:ea typeface="宋体" panose="02010600030101010101" pitchFamily="2" charset="-122"/>
              </a:rPr>
              <a:t>。</a:t>
            </a:r>
          </a:p>
          <a:p>
            <a:pPr>
              <a:defRPr/>
            </a:pPr>
            <a:endParaRPr lang="zh-CN" altLang="en-US" dirty="0"/>
          </a:p>
        </p:txBody>
      </p:sp>
      <p:sp>
        <p:nvSpPr>
          <p:cNvPr id="236548" name="灯片编号占位符 3">
            <a:extLst>
              <a:ext uri="{FF2B5EF4-FFF2-40B4-BE49-F238E27FC236}">
                <a16:creationId xmlns:a16="http://schemas.microsoft.com/office/drawing/2014/main" id="{6FD08AA2-C2E9-49E0-9DD7-14BC0180758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FB093C9A-05F8-42AB-B41F-5E18BC30F6AC}" type="slidenum">
              <a:rPr lang="en-US" altLang="zh-CN">
                <a:latin typeface="Helvetica" panose="020B0604020202020204" pitchFamily="34" charset="0"/>
              </a:rPr>
              <a:pPr/>
              <a:t>125</a:t>
            </a:fld>
            <a:endParaRPr lang="en-US" altLang="zh-CN">
              <a:latin typeface="Helvetica" panose="020B0604020202020204" pitchFamily="34" charset="0"/>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幻灯片图像占位符 1">
            <a:extLst>
              <a:ext uri="{FF2B5EF4-FFF2-40B4-BE49-F238E27FC236}">
                <a16:creationId xmlns:a16="http://schemas.microsoft.com/office/drawing/2014/main" id="{78D1347F-319B-49D5-8568-BD0B1D6F4E8B}"/>
              </a:ext>
            </a:extLst>
          </p:cNvPr>
          <p:cNvSpPr>
            <a:spLocks noGrp="1" noRot="1" noChangeAspect="1" noChangeArrowheads="1" noTextEdit="1"/>
          </p:cNvSpPr>
          <p:nvPr>
            <p:ph type="sldImg"/>
          </p:nvPr>
        </p:nvSpPr>
        <p:spPr>
          <a:ln/>
        </p:spPr>
      </p:sp>
      <p:sp>
        <p:nvSpPr>
          <p:cNvPr id="238595" name="备注占位符 2">
            <a:extLst>
              <a:ext uri="{FF2B5EF4-FFF2-40B4-BE49-F238E27FC236}">
                <a16:creationId xmlns:a16="http://schemas.microsoft.com/office/drawing/2014/main" id="{15B379B1-C461-44DB-84A1-F041126D4F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238596" name="灯片编号占位符 3">
            <a:extLst>
              <a:ext uri="{FF2B5EF4-FFF2-40B4-BE49-F238E27FC236}">
                <a16:creationId xmlns:a16="http://schemas.microsoft.com/office/drawing/2014/main" id="{117A3BF8-0FFE-4816-B3C7-63A9A1C886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54FAD0E4-31C8-4F4D-A564-C580BC5D76FE}" type="slidenum">
              <a:rPr lang="en-US" altLang="zh-CN">
                <a:latin typeface="Helvetica" panose="020B0604020202020204" pitchFamily="34" charset="0"/>
              </a:rPr>
              <a:pPr/>
              <a:t>126</a:t>
            </a:fld>
            <a:endParaRPr lang="en-US" altLang="zh-CN">
              <a:latin typeface="Helvetica" panose="020B0604020202020204" pitchFamily="34" charset="0"/>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7">
            <a:extLst>
              <a:ext uri="{FF2B5EF4-FFF2-40B4-BE49-F238E27FC236}">
                <a16:creationId xmlns:a16="http://schemas.microsoft.com/office/drawing/2014/main" id="{C275E77F-1BC7-4A46-8008-810D3664D6CB}"/>
              </a:ext>
            </a:extLst>
          </p:cNvPr>
          <p:cNvSpPr txBox="1">
            <a:spLocks noGrp="1" noChangeArrowheads="1"/>
          </p:cNvSpPr>
          <p:nvPr/>
        </p:nvSpPr>
        <p:spPr bwMode="auto">
          <a:xfrm>
            <a:off x="3900488" y="8853488"/>
            <a:ext cx="3000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892" tIns="45445" rIns="90892" bIns="45445" anchor="b"/>
          <a:lstStyle>
            <a:lvl1pPr defTabSz="908050">
              <a:defRPr>
                <a:solidFill>
                  <a:schemeClr val="tx1"/>
                </a:solidFill>
                <a:latin typeface="Verdana" panose="020B0604030504040204" pitchFamily="34" charset="0"/>
                <a:ea typeface="ＭＳ Ｐゴシック" panose="020B0600070205080204" pitchFamily="34" charset="-128"/>
              </a:defRPr>
            </a:lvl1pPr>
            <a:lvl2pPr marL="742950" indent="-285750" defTabSz="908050">
              <a:defRPr>
                <a:solidFill>
                  <a:schemeClr val="tx1"/>
                </a:solidFill>
                <a:latin typeface="Verdana" panose="020B0604030504040204" pitchFamily="34" charset="0"/>
                <a:ea typeface="ＭＳ Ｐゴシック" panose="020B0600070205080204" pitchFamily="34" charset="-128"/>
              </a:defRPr>
            </a:lvl2pPr>
            <a:lvl3pPr marL="1143000" indent="-228600" defTabSz="908050">
              <a:defRPr>
                <a:solidFill>
                  <a:schemeClr val="tx1"/>
                </a:solidFill>
                <a:latin typeface="Verdana" panose="020B0604030504040204" pitchFamily="34" charset="0"/>
                <a:ea typeface="ＭＳ Ｐゴシック" panose="020B0600070205080204" pitchFamily="34" charset="-128"/>
              </a:defRPr>
            </a:lvl3pPr>
            <a:lvl4pPr marL="1600200" indent="-228600" defTabSz="908050">
              <a:defRPr>
                <a:solidFill>
                  <a:schemeClr val="tx1"/>
                </a:solidFill>
                <a:latin typeface="Verdana" panose="020B0604030504040204" pitchFamily="34" charset="0"/>
                <a:ea typeface="ＭＳ Ｐゴシック" panose="020B0600070205080204" pitchFamily="34" charset="-128"/>
              </a:defRPr>
            </a:lvl4pPr>
            <a:lvl5pPr marL="2057400" indent="-228600" defTabSz="908050">
              <a:defRPr>
                <a:solidFill>
                  <a:schemeClr val="tx1"/>
                </a:solidFill>
                <a:latin typeface="Verdana" panose="020B0604030504040204" pitchFamily="34" charset="0"/>
                <a:ea typeface="ＭＳ Ｐゴシック" panose="020B0600070205080204" pitchFamily="34" charset="-128"/>
              </a:defRPr>
            </a:lvl5pPr>
            <a:lvl6pPr marL="2514600" indent="-228600" defTabSz="90805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0805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0805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0805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r"/>
            <a:fld id="{C615C1B7-4A1B-4373-A72A-B5BCABC92B55}" type="slidenum">
              <a:rPr lang="en-US" altLang="zh-CN" sz="1200">
                <a:latin typeface="Helvetica" panose="020B0604020202020204" pitchFamily="34" charset="0"/>
              </a:rPr>
              <a:pPr algn="r"/>
              <a:t>127</a:t>
            </a:fld>
            <a:endParaRPr lang="en-US" altLang="zh-CN" sz="1200">
              <a:latin typeface="Helvetica" panose="020B0604020202020204" pitchFamily="34" charset="0"/>
            </a:endParaRPr>
          </a:p>
        </p:txBody>
      </p:sp>
      <p:sp>
        <p:nvSpPr>
          <p:cNvPr id="240643" name="Rectangle 2">
            <a:extLst>
              <a:ext uri="{FF2B5EF4-FFF2-40B4-BE49-F238E27FC236}">
                <a16:creationId xmlns:a16="http://schemas.microsoft.com/office/drawing/2014/main" id="{856688C3-3673-44CB-B45F-1E3CEE9A021C}"/>
              </a:ext>
            </a:extLst>
          </p:cNvPr>
          <p:cNvSpPr>
            <a:spLocks noGrp="1" noRot="1" noChangeAspect="1" noChangeArrowheads="1" noTextEdit="1"/>
          </p:cNvSpPr>
          <p:nvPr>
            <p:ph type="sldImg"/>
          </p:nvPr>
        </p:nvSpPr>
        <p:spPr>
          <a:ln/>
        </p:spPr>
      </p:sp>
      <p:sp>
        <p:nvSpPr>
          <p:cNvPr id="240644" name="Rectangle 3">
            <a:extLst>
              <a:ext uri="{FF2B5EF4-FFF2-40B4-BE49-F238E27FC236}">
                <a16:creationId xmlns:a16="http://schemas.microsoft.com/office/drawing/2014/main" id="{1DB9F558-2EF8-4EC5-B951-32C4EB6048AA}"/>
              </a:ext>
            </a:extLst>
          </p:cNvPr>
          <p:cNvSpPr>
            <a:spLocks noGrp="1" noChangeArrowheads="1"/>
          </p:cNvSpPr>
          <p:nvPr>
            <p:ph type="body"/>
          </p:nvPr>
        </p:nvSpPr>
        <p:spPr>
          <a:xfrm>
            <a:off x="900113" y="4427538"/>
            <a:ext cx="5100637" cy="41957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892" tIns="45445" rIns="90892" bIns="45445"/>
          <a:lstStyle/>
          <a:p>
            <a:endParaRPr lang="zh-CN" altLang="zh-CN">
              <a:latin typeface="Times New Roman" panose="02020603050405020304" pitchFamily="18" charset="0"/>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幻灯片图像占位符 1">
            <a:extLst>
              <a:ext uri="{FF2B5EF4-FFF2-40B4-BE49-F238E27FC236}">
                <a16:creationId xmlns:a16="http://schemas.microsoft.com/office/drawing/2014/main" id="{10027D63-48A9-403A-833F-32455D4327DA}"/>
              </a:ext>
            </a:extLst>
          </p:cNvPr>
          <p:cNvSpPr>
            <a:spLocks noGrp="1" noRot="1" noChangeAspect="1" noChangeArrowheads="1" noTextEdit="1"/>
          </p:cNvSpPr>
          <p:nvPr>
            <p:ph type="sldImg"/>
          </p:nvPr>
        </p:nvSpPr>
        <p:spPr>
          <a:ln/>
        </p:spPr>
      </p:sp>
      <p:sp>
        <p:nvSpPr>
          <p:cNvPr id="242691" name="备注占位符 2">
            <a:extLst>
              <a:ext uri="{FF2B5EF4-FFF2-40B4-BE49-F238E27FC236}">
                <a16:creationId xmlns:a16="http://schemas.microsoft.com/office/drawing/2014/main" id="{CC36861F-B82F-49FA-B6EF-8A75AF40A4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242692" name="灯片编号占位符 3">
            <a:extLst>
              <a:ext uri="{FF2B5EF4-FFF2-40B4-BE49-F238E27FC236}">
                <a16:creationId xmlns:a16="http://schemas.microsoft.com/office/drawing/2014/main" id="{24C3485D-0AB4-4279-A12A-21C08212DD9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BDDD9DBE-5DFE-4ED6-936D-14D6174907E7}" type="slidenum">
              <a:rPr lang="en-US" altLang="zh-CN">
                <a:latin typeface="Helvetica" panose="020B0604020202020204" pitchFamily="34" charset="0"/>
              </a:rPr>
              <a:pPr/>
              <a:t>128</a:t>
            </a:fld>
            <a:endParaRPr lang="en-US" altLang="zh-CN">
              <a:latin typeface="Helvetica" panose="020B0604020202020204" pitchFamily="34" charset="0"/>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幻灯片图像占位符 1">
            <a:extLst>
              <a:ext uri="{FF2B5EF4-FFF2-40B4-BE49-F238E27FC236}">
                <a16:creationId xmlns:a16="http://schemas.microsoft.com/office/drawing/2014/main" id="{2790DE91-3D0F-495C-92C0-6FAB712CE668}"/>
              </a:ext>
            </a:extLst>
          </p:cNvPr>
          <p:cNvSpPr>
            <a:spLocks noGrp="1" noRot="1" noChangeAspect="1" noChangeArrowheads="1" noTextEdit="1"/>
          </p:cNvSpPr>
          <p:nvPr>
            <p:ph type="sldImg"/>
          </p:nvPr>
        </p:nvSpPr>
        <p:spPr>
          <a:ln/>
        </p:spPr>
      </p:sp>
      <p:sp>
        <p:nvSpPr>
          <p:cNvPr id="250883" name="备注占位符 2">
            <a:extLst>
              <a:ext uri="{FF2B5EF4-FFF2-40B4-BE49-F238E27FC236}">
                <a16:creationId xmlns:a16="http://schemas.microsoft.com/office/drawing/2014/main" id="{1FD9EBAE-A765-47F9-96C6-7A9A7D5CA6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250884" name="灯片编号占位符 3">
            <a:extLst>
              <a:ext uri="{FF2B5EF4-FFF2-40B4-BE49-F238E27FC236}">
                <a16:creationId xmlns:a16="http://schemas.microsoft.com/office/drawing/2014/main" id="{7A248D55-ABAA-4793-873C-0E6E1D8E5F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D7A21F48-23C5-41DA-9F16-383EFF4FCA5E}" type="slidenum">
              <a:rPr lang="en-US" altLang="zh-CN">
                <a:latin typeface="Helvetica" panose="020B0604020202020204" pitchFamily="34" charset="0"/>
              </a:rPr>
              <a:pPr/>
              <a:t>129</a:t>
            </a:fld>
            <a:endParaRPr lang="en-US" altLang="zh-CN">
              <a:latin typeface="Helvetica" panose="020B0604020202020204" pitchFamily="34" charset="0"/>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幻灯片图像占位符 1">
            <a:extLst>
              <a:ext uri="{FF2B5EF4-FFF2-40B4-BE49-F238E27FC236}">
                <a16:creationId xmlns:a16="http://schemas.microsoft.com/office/drawing/2014/main" id="{D83A20F2-D624-4178-946A-D44F55C0EC5F}"/>
              </a:ext>
            </a:extLst>
          </p:cNvPr>
          <p:cNvSpPr>
            <a:spLocks noGrp="1" noRot="1" noChangeAspect="1" noChangeArrowheads="1" noTextEdit="1"/>
          </p:cNvSpPr>
          <p:nvPr>
            <p:ph type="sldImg"/>
          </p:nvPr>
        </p:nvSpPr>
        <p:spPr>
          <a:ln/>
        </p:spPr>
      </p:sp>
      <p:sp>
        <p:nvSpPr>
          <p:cNvPr id="252931" name="备注占位符 2">
            <a:extLst>
              <a:ext uri="{FF2B5EF4-FFF2-40B4-BE49-F238E27FC236}">
                <a16:creationId xmlns:a16="http://schemas.microsoft.com/office/drawing/2014/main" id="{214509E3-6903-448B-8D93-0AA00A4F8E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252932" name="灯片编号占位符 3">
            <a:extLst>
              <a:ext uri="{FF2B5EF4-FFF2-40B4-BE49-F238E27FC236}">
                <a16:creationId xmlns:a16="http://schemas.microsoft.com/office/drawing/2014/main" id="{1F9B100B-DFF2-4996-84F9-9F1F75C7D6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2E5B31B3-D933-4696-815F-5590C2E3CBAD}" type="slidenum">
              <a:rPr lang="en-US" altLang="zh-CN">
                <a:latin typeface="Helvetica" panose="020B0604020202020204" pitchFamily="34" charset="0"/>
              </a:rPr>
              <a:pPr/>
              <a:t>130</a:t>
            </a:fld>
            <a:endParaRPr lang="en-US" altLang="zh-CN">
              <a:latin typeface="Helvetica" panose="020B0604020202020204" pitchFamily="34" charset="0"/>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幻灯片图像占位符 1">
            <a:extLst>
              <a:ext uri="{FF2B5EF4-FFF2-40B4-BE49-F238E27FC236}">
                <a16:creationId xmlns:a16="http://schemas.microsoft.com/office/drawing/2014/main" id="{DCE7FFA2-3BEE-4F50-90E8-FE5485555578}"/>
              </a:ext>
            </a:extLst>
          </p:cNvPr>
          <p:cNvSpPr>
            <a:spLocks noGrp="1" noRot="1" noChangeAspect="1" noChangeArrowheads="1" noTextEdit="1"/>
          </p:cNvSpPr>
          <p:nvPr>
            <p:ph type="sldImg"/>
          </p:nvPr>
        </p:nvSpPr>
        <p:spPr>
          <a:ln/>
        </p:spPr>
      </p:sp>
      <p:sp>
        <p:nvSpPr>
          <p:cNvPr id="244739" name="备注占位符 2">
            <a:extLst>
              <a:ext uri="{FF2B5EF4-FFF2-40B4-BE49-F238E27FC236}">
                <a16:creationId xmlns:a16="http://schemas.microsoft.com/office/drawing/2014/main" id="{43C4B37E-7017-488A-A4F3-D20F811D54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244740" name="灯片编号占位符 3">
            <a:extLst>
              <a:ext uri="{FF2B5EF4-FFF2-40B4-BE49-F238E27FC236}">
                <a16:creationId xmlns:a16="http://schemas.microsoft.com/office/drawing/2014/main" id="{CA9F5270-18B1-45EB-8893-68000AE5FC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5CCC6299-8449-437C-9E42-8BF50A3B6151}" type="slidenum">
              <a:rPr lang="en-US" altLang="zh-CN">
                <a:latin typeface="Helvetica" panose="020B0604020202020204" pitchFamily="34" charset="0"/>
              </a:rPr>
              <a:pPr/>
              <a:t>131</a:t>
            </a:fld>
            <a:endParaRPr lang="en-US" altLang="zh-CN">
              <a:latin typeface="Helvetica" panose="020B0604020202020204" pitchFamily="34" charset="0"/>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幻灯片图像占位符 1">
            <a:extLst>
              <a:ext uri="{FF2B5EF4-FFF2-40B4-BE49-F238E27FC236}">
                <a16:creationId xmlns:a16="http://schemas.microsoft.com/office/drawing/2014/main" id="{B2C2124F-B479-4913-BAB0-D76F75383DFA}"/>
              </a:ext>
            </a:extLst>
          </p:cNvPr>
          <p:cNvSpPr>
            <a:spLocks noGrp="1" noRot="1" noChangeAspect="1" noChangeArrowheads="1" noTextEdit="1"/>
          </p:cNvSpPr>
          <p:nvPr>
            <p:ph type="sldImg"/>
          </p:nvPr>
        </p:nvSpPr>
        <p:spPr>
          <a:ln/>
        </p:spPr>
      </p:sp>
      <p:sp>
        <p:nvSpPr>
          <p:cNvPr id="246787" name="备注占位符 2">
            <a:extLst>
              <a:ext uri="{FF2B5EF4-FFF2-40B4-BE49-F238E27FC236}">
                <a16:creationId xmlns:a16="http://schemas.microsoft.com/office/drawing/2014/main" id="{D35AEB67-ECA0-4329-8E00-9DDEEB78D6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246788" name="灯片编号占位符 3">
            <a:extLst>
              <a:ext uri="{FF2B5EF4-FFF2-40B4-BE49-F238E27FC236}">
                <a16:creationId xmlns:a16="http://schemas.microsoft.com/office/drawing/2014/main" id="{05662E43-E8E7-4CF3-912D-3BD3345E4B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53D7F121-C6AF-47EA-8C51-AC57D3751FB9}" type="slidenum">
              <a:rPr lang="en-US" altLang="zh-CN">
                <a:latin typeface="Helvetica" panose="020B0604020202020204" pitchFamily="34" charset="0"/>
              </a:rPr>
              <a:pPr/>
              <a:t>132</a:t>
            </a:fld>
            <a:endParaRPr lang="en-US" altLang="zh-CN">
              <a:latin typeface="Helvetica" panose="020B0604020202020204" pitchFamily="34" charset="0"/>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幻灯片图像占位符 1">
            <a:extLst>
              <a:ext uri="{FF2B5EF4-FFF2-40B4-BE49-F238E27FC236}">
                <a16:creationId xmlns:a16="http://schemas.microsoft.com/office/drawing/2014/main" id="{8971EBFB-4757-44A2-A98D-53C8B8C4E851}"/>
              </a:ext>
            </a:extLst>
          </p:cNvPr>
          <p:cNvSpPr>
            <a:spLocks noGrp="1" noRot="1" noChangeAspect="1" noChangeArrowheads="1" noTextEdit="1"/>
          </p:cNvSpPr>
          <p:nvPr>
            <p:ph type="sldImg"/>
          </p:nvPr>
        </p:nvSpPr>
        <p:spPr>
          <a:ln/>
        </p:spPr>
      </p:sp>
      <p:sp>
        <p:nvSpPr>
          <p:cNvPr id="248835" name="备注占位符 2">
            <a:extLst>
              <a:ext uri="{FF2B5EF4-FFF2-40B4-BE49-F238E27FC236}">
                <a16:creationId xmlns:a16="http://schemas.microsoft.com/office/drawing/2014/main" id="{B319A82D-D2A3-4EB9-B623-E2A425194D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248836" name="灯片编号占位符 3">
            <a:extLst>
              <a:ext uri="{FF2B5EF4-FFF2-40B4-BE49-F238E27FC236}">
                <a16:creationId xmlns:a16="http://schemas.microsoft.com/office/drawing/2014/main" id="{00519ABD-02D8-41B6-ACB3-B1E64A87D6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ＭＳ Ｐゴシック" panose="020B0600070205080204" pitchFamily="34" charset="-128"/>
              </a:defRPr>
            </a:lvl1pPr>
            <a:lvl2pPr marL="742950" indent="-285750" defTabSz="966788">
              <a:defRPr>
                <a:solidFill>
                  <a:schemeClr val="tx1"/>
                </a:solidFill>
                <a:latin typeface="Verdana" panose="020B0604030504040204" pitchFamily="34" charset="0"/>
                <a:ea typeface="ＭＳ Ｐゴシック" panose="020B0600070205080204" pitchFamily="34" charset="-128"/>
              </a:defRPr>
            </a:lvl2pPr>
            <a:lvl3pPr marL="1143000" indent="-228600" defTabSz="966788">
              <a:defRPr>
                <a:solidFill>
                  <a:schemeClr val="tx1"/>
                </a:solidFill>
                <a:latin typeface="Verdana" panose="020B0604030504040204" pitchFamily="34" charset="0"/>
                <a:ea typeface="ＭＳ Ｐゴシック" panose="020B0600070205080204" pitchFamily="34" charset="-128"/>
              </a:defRPr>
            </a:lvl3pPr>
            <a:lvl4pPr marL="1600200" indent="-228600" defTabSz="966788">
              <a:defRPr>
                <a:solidFill>
                  <a:schemeClr val="tx1"/>
                </a:solidFill>
                <a:latin typeface="Verdana" panose="020B0604030504040204" pitchFamily="34" charset="0"/>
                <a:ea typeface="ＭＳ Ｐゴシック" panose="020B0600070205080204" pitchFamily="34" charset="-128"/>
              </a:defRPr>
            </a:lvl4pPr>
            <a:lvl5pPr marL="2057400" indent="-228600" defTabSz="966788">
              <a:defRPr>
                <a:solidFill>
                  <a:schemeClr val="tx1"/>
                </a:solidFill>
                <a:latin typeface="Verdana" panose="020B060403050404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25C108BE-4DDF-4B7C-B807-55E81720F105}" type="slidenum">
              <a:rPr lang="en-US" altLang="zh-CN">
                <a:latin typeface="Helvetica" panose="020B0604020202020204" pitchFamily="34" charset="0"/>
              </a:rPr>
              <a:pPr/>
              <a:t>133</a:t>
            </a:fld>
            <a:endParaRPr lang="en-US" altLang="zh-CN">
              <a:latin typeface="Helvetica" panose="020B0604020202020204" pitchFamily="34" charset="0"/>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134</a:t>
            </a:fld>
            <a:endParaRPr lang="en-US" altLang="zh-CN" sz="1200" dirty="0">
              <a:latin typeface="Helvetica" pitchFamily="34" charset="0"/>
            </a:endParaRPr>
          </a:p>
        </p:txBody>
      </p:sp>
      <p:sp>
        <p:nvSpPr>
          <p:cNvPr id="10242" name="Rectangle 2"/>
          <p:cNvSpPr>
            <a:spLocks noGrp="1" noRot="1" noChangeAspect="1" noTextEdit="1"/>
          </p:cNvSpPr>
          <p:nvPr>
            <p:ph type="sldImg"/>
          </p:nvPr>
        </p:nvSpPr>
        <p:spPr>
          <a:ln/>
        </p:spPr>
      </p:sp>
      <p:sp>
        <p:nvSpPr>
          <p:cNvPr id="10243"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extLst>
      <p:ext uri="{BB962C8B-B14F-4D97-AF65-F5344CB8AC3E}">
        <p14:creationId xmlns:p14="http://schemas.microsoft.com/office/powerpoint/2010/main" val="75029198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135</a:t>
            </a:fld>
            <a:endParaRPr lang="en-US" altLang="zh-CN" sz="1200" dirty="0">
              <a:latin typeface="Helvetica" pitchFamily="34" charset="0"/>
            </a:endParaRPr>
          </a:p>
        </p:txBody>
      </p:sp>
      <p:sp>
        <p:nvSpPr>
          <p:cNvPr id="178178" name="Rectangle 2"/>
          <p:cNvSpPr>
            <a:spLocks noGrp="1" noRot="1" noChangeAspect="1" noTextEdit="1"/>
          </p:cNvSpPr>
          <p:nvPr>
            <p:ph type="sldImg"/>
          </p:nvPr>
        </p:nvSpPr>
        <p:spPr>
          <a:ln/>
        </p:spPr>
      </p:sp>
      <p:sp>
        <p:nvSpPr>
          <p:cNvPr id="178179"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136</a:t>
            </a:fld>
            <a:endParaRPr lang="en-US" altLang="zh-CN" sz="1200" dirty="0">
              <a:latin typeface="Helvetica" pitchFamily="34" charset="0"/>
            </a:endParaRPr>
          </a:p>
        </p:txBody>
      </p:sp>
      <p:sp>
        <p:nvSpPr>
          <p:cNvPr id="180226" name="Rectangle 2"/>
          <p:cNvSpPr>
            <a:spLocks noGrp="1" noRot="1" noChangeAspect="1" noTextEdit="1"/>
          </p:cNvSpPr>
          <p:nvPr>
            <p:ph type="sldImg"/>
          </p:nvPr>
        </p:nvSpPr>
        <p:spPr>
          <a:ln/>
        </p:spPr>
      </p:sp>
      <p:sp>
        <p:nvSpPr>
          <p:cNvPr id="180227" name="Rectangle 3"/>
          <p:cNvSpPr>
            <a:spLocks noGrp="1"/>
          </p:cNvSpPr>
          <p:nvPr>
            <p:ph type="body"/>
          </p:nvPr>
        </p:nvSpPr>
        <p:spPr>
          <a:xfrm>
            <a:off x="900113" y="4427538"/>
            <a:ext cx="5100637" cy="4195762"/>
          </a:xfrm>
          <a:ln/>
        </p:spPr>
        <p:txBody>
          <a:bodyPr wrap="none" lIns="90892" tIns="45445" rIns="90892" bIns="45445" anchor="ctr" anchorCtr="0"/>
          <a:lstStyle/>
          <a:p>
            <a:pPr lvl="0"/>
            <a:r>
              <a:rPr lang="zh-CN" altLang="en-US" dirty="0"/>
              <a:t>实现各种锁以支持多任务、多线程</a:t>
            </a:r>
            <a:r>
              <a:rPr lang="en-US" altLang="zh-CN" dirty="0"/>
              <a:t>(</a:t>
            </a:r>
            <a:r>
              <a:rPr lang="zh-CN" altLang="en-US" dirty="0"/>
              <a:t>包括实时线程</a:t>
            </a:r>
            <a:r>
              <a:rPr lang="en-US" altLang="zh-CN" dirty="0"/>
              <a:t>)</a:t>
            </a:r>
            <a:r>
              <a:rPr lang="zh-CN" altLang="en-US" dirty="0"/>
              <a:t>和多处理</a:t>
            </a:r>
            <a:endParaRPr lang="en-US" altLang="zh-CN" dirty="0"/>
          </a:p>
          <a:p>
            <a:pPr lvl="0"/>
            <a:endParaRPr lang="en-US" altLang="zh-CN" dirty="0"/>
          </a:p>
          <a:p>
            <a:pPr lvl="0"/>
            <a:r>
              <a:rPr lang="zh-CN" altLang="en-US" dirty="0"/>
              <a:t>在保护数据不受短代码段影响时，使用</a:t>
            </a:r>
            <a:r>
              <a:rPr lang="zh-CN" altLang="en-US" b="1" dirty="0"/>
              <a:t>自适应互斥信号量</a:t>
            </a:r>
            <a:r>
              <a:rPr lang="zh-CN" altLang="en-US" dirty="0"/>
              <a:t>提高效率。（长代码使用互斥信号量很低效）</a:t>
            </a:r>
            <a:endParaRPr lang="en-US" altLang="zh-CN" dirty="0"/>
          </a:p>
          <a:p>
            <a:pPr lvl="0"/>
            <a:endParaRPr lang="en-US" altLang="zh-CN" dirty="0"/>
          </a:p>
          <a:p>
            <a:pPr lvl="0"/>
            <a:r>
              <a:rPr lang="zh-CN" altLang="en-US" dirty="0"/>
              <a:t>当较长的代码段需要访问数据时，</a:t>
            </a:r>
            <a:r>
              <a:rPr lang="zh-CN" altLang="en-US" b="1" dirty="0"/>
              <a:t>使用条件变量和读写锁</a:t>
            </a:r>
            <a:r>
              <a:rPr lang="zh-CN" altLang="en-US" dirty="0"/>
              <a:t>。</a:t>
            </a:r>
            <a:endParaRPr lang="en-US" altLang="zh-CN" dirty="0"/>
          </a:p>
          <a:p>
            <a:pPr lvl="0"/>
            <a:endParaRPr lang="en-US" altLang="zh-CN" dirty="0"/>
          </a:p>
          <a:p>
            <a:pPr lvl="0"/>
            <a:r>
              <a:rPr lang="zh-CN" altLang="en-US" dirty="0"/>
              <a:t>使用十字转门对等待获取自适应互斥锁或读写锁的线程列表进行排序。</a:t>
            </a:r>
            <a:endParaRPr lang="zh-CN" altLang="zh-CN"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Rectangle 7"/>
          <p:cNvSpPr txBox="1">
            <a:spLocks noGrp="1"/>
          </p:cNvSpPr>
          <p:nvPr/>
        </p:nvSpPr>
        <p:spPr>
          <a:xfrm>
            <a:off x="3900488" y="8853488"/>
            <a:ext cx="3000375" cy="457200"/>
          </a:xfrm>
          <a:prstGeom prst="rect">
            <a:avLst/>
          </a:prstGeom>
          <a:noFill/>
          <a:ln w="9525">
            <a:noFill/>
          </a:ln>
        </p:spPr>
        <p:txBody>
          <a:bodyPr wrap="none" lIns="90892" tIns="45445" rIns="90892" bIns="45445" anchor="b" anchorCtr="0"/>
          <a:lstStyle/>
          <a:p>
            <a:pPr lvl="0" algn="r" defTabSz="908050"/>
            <a:fld id="{9A0DB2DC-4C9A-4742-B13C-FB6460FD3503}" type="slidenum">
              <a:rPr lang="en-US" altLang="zh-CN" sz="1200" dirty="0">
                <a:latin typeface="Helvetica" pitchFamily="34" charset="0"/>
              </a:rPr>
              <a:t>137</a:t>
            </a:fld>
            <a:endParaRPr lang="en-US" altLang="zh-CN" sz="1200" dirty="0">
              <a:latin typeface="Helvetica" pitchFamily="34" charset="0"/>
            </a:endParaRPr>
          </a:p>
        </p:txBody>
      </p:sp>
      <p:sp>
        <p:nvSpPr>
          <p:cNvPr id="182274" name="Rectangle 2"/>
          <p:cNvSpPr>
            <a:spLocks noGrp="1" noRot="1" noChangeAspect="1" noTextEdit="1"/>
          </p:cNvSpPr>
          <p:nvPr>
            <p:ph type="sldImg"/>
          </p:nvPr>
        </p:nvSpPr>
        <p:spPr>
          <a:ln/>
        </p:spPr>
      </p:sp>
      <p:sp>
        <p:nvSpPr>
          <p:cNvPr id="182275" name="Rectangle 3"/>
          <p:cNvSpPr>
            <a:spLocks noGrp="1"/>
          </p:cNvSpPr>
          <p:nvPr>
            <p:ph type="body"/>
          </p:nvPr>
        </p:nvSpPr>
        <p:spPr>
          <a:xfrm>
            <a:off x="900113" y="4427538"/>
            <a:ext cx="5100637" cy="4195762"/>
          </a:xfrm>
          <a:ln/>
        </p:spPr>
        <p:txBody>
          <a:bodyPr wrap="none" lIns="90892" tIns="45445" rIns="90892" bIns="45445" anchor="ctr" anchorCtr="0"/>
          <a:lstStyle/>
          <a:p>
            <a:pPr lvl="0"/>
            <a:r>
              <a:rPr lang="zh-CN" altLang="en-US" b="1" dirty="0"/>
              <a:t>在单处理器系统上，自旋锁会浪费宝贵的</a:t>
            </a:r>
            <a:r>
              <a:rPr lang="en-US" altLang="zh-CN" b="1" dirty="0"/>
              <a:t>CPU</a:t>
            </a:r>
            <a:r>
              <a:rPr lang="zh-CN" altLang="en-US" b="1" dirty="0"/>
              <a:t>时间，而这个时间本可以用来做其他有用的工作（比如让另一个线程运行）。而在多处理器系统上，一个线程在自旋等待时，持有锁的线程可能正在另一个</a:t>
            </a:r>
            <a:r>
              <a:rPr lang="en-US" altLang="zh-CN" b="1" dirty="0"/>
              <a:t>CPU</a:t>
            </a:r>
            <a:r>
              <a:rPr lang="zh-CN" altLang="en-US" b="1" dirty="0"/>
              <a:t>上运行并很快释放锁。</a:t>
            </a:r>
            <a:endParaRPr lang="zh-CN" altLang="zh-CN"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Rectangle 7"/>
          <p:cNvSpPr txBox="1">
            <a:spLocks noGrp="1"/>
          </p:cNvSpPr>
          <p:nvPr/>
        </p:nvSpPr>
        <p:spPr>
          <a:xfrm>
            <a:off x="3900488" y="8853488"/>
            <a:ext cx="3000375" cy="457200"/>
          </a:xfrm>
          <a:prstGeom prst="rect">
            <a:avLst/>
          </a:prstGeom>
          <a:noFill/>
          <a:ln w="9525">
            <a:noFill/>
          </a:ln>
        </p:spPr>
        <p:txBody>
          <a:bodyPr wrap="none" lIns="90892" tIns="45445" rIns="90892" bIns="45445" anchor="b" anchorCtr="0"/>
          <a:lstStyle/>
          <a:p>
            <a:pPr lvl="0" algn="r" defTabSz="908050"/>
            <a:fld id="{9A0DB2DC-4C9A-4742-B13C-FB6460FD3503}" type="slidenum">
              <a:rPr lang="en-US" altLang="zh-CN" sz="1200" dirty="0">
                <a:latin typeface="Helvetica" pitchFamily="34" charset="0"/>
              </a:rPr>
              <a:t>138</a:t>
            </a:fld>
            <a:endParaRPr lang="en-US" altLang="zh-CN" sz="1200" dirty="0">
              <a:latin typeface="Helvetica" pitchFamily="34" charset="0"/>
            </a:endParaRPr>
          </a:p>
        </p:txBody>
      </p:sp>
      <p:sp>
        <p:nvSpPr>
          <p:cNvPr id="184322" name="Rectangle 2"/>
          <p:cNvSpPr>
            <a:spLocks noGrp="1" noRot="1" noChangeAspect="1" noTextEdit="1"/>
          </p:cNvSpPr>
          <p:nvPr>
            <p:ph type="sldImg"/>
          </p:nvPr>
        </p:nvSpPr>
        <p:spPr>
          <a:ln/>
        </p:spPr>
      </p:sp>
      <p:sp>
        <p:nvSpPr>
          <p:cNvPr id="184323"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zh-CN"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139</a:t>
            </a:fld>
            <a:endParaRPr lang="en-US" altLang="zh-CN" sz="1200" dirty="0">
              <a:latin typeface="Helvetica" pitchFamily="34" charset="0"/>
            </a:endParaRPr>
          </a:p>
        </p:txBody>
      </p:sp>
      <p:sp>
        <p:nvSpPr>
          <p:cNvPr id="186370" name="Rectangle 2"/>
          <p:cNvSpPr>
            <a:spLocks noGrp="1" noRot="1" noChangeAspect="1" noTextEdit="1"/>
          </p:cNvSpPr>
          <p:nvPr>
            <p:ph type="sldImg"/>
          </p:nvPr>
        </p:nvSpPr>
        <p:spPr>
          <a:ln/>
        </p:spPr>
      </p:sp>
      <p:sp>
        <p:nvSpPr>
          <p:cNvPr id="186371" name="Rectangle 3"/>
          <p:cNvSpPr>
            <a:spLocks noGrp="1"/>
          </p:cNvSpPr>
          <p:nvPr>
            <p:ph type="body"/>
          </p:nvPr>
        </p:nvSpPr>
        <p:spPr>
          <a:xfrm>
            <a:off x="900113" y="4427538"/>
            <a:ext cx="5100637" cy="4195762"/>
          </a:xfrm>
          <a:ln/>
        </p:spPr>
        <p:txBody>
          <a:bodyPr wrap="none" lIns="90892" tIns="45445" rIns="90892" bIns="45445" anchor="ctr" anchorCtr="0"/>
          <a:lstStyle/>
          <a:p>
            <a:pPr algn="l"/>
            <a:r>
              <a:rPr lang="zh-CN" altLang="en-US" b="0" i="0" dirty="0">
                <a:solidFill>
                  <a:srgbClr val="E1E3E6"/>
                </a:solidFill>
                <a:effectLst/>
                <a:latin typeface="PingFang SC"/>
              </a:rPr>
              <a:t>对于内核线程</a:t>
            </a:r>
          </a:p>
          <a:p>
            <a:pPr algn="l"/>
            <a:r>
              <a:rPr lang="en-US" altLang="zh-CN" b="0" i="0" dirty="0">
                <a:solidFill>
                  <a:srgbClr val="E1E3E6"/>
                </a:solidFill>
                <a:effectLst/>
                <a:latin typeface="PingFang SC"/>
              </a:rPr>
              <a:t>    </a:t>
            </a:r>
            <a:r>
              <a:rPr lang="zh-CN" altLang="en-US" b="0" i="0" dirty="0">
                <a:solidFill>
                  <a:srgbClr val="E1E3E6"/>
                </a:solidFill>
                <a:effectLst/>
                <a:latin typeface="PingFang SC"/>
              </a:rPr>
              <a:t>使用中断掩码</a:t>
            </a:r>
            <a:r>
              <a:rPr lang="en-US" altLang="zh-CN" b="0" i="0" dirty="0">
                <a:solidFill>
                  <a:srgbClr val="E1E3E6"/>
                </a:solidFill>
                <a:effectLst/>
                <a:latin typeface="PingFang SC"/>
              </a:rPr>
              <a:t>(</a:t>
            </a:r>
            <a:r>
              <a:rPr lang="zh-CN" altLang="en-US" b="0" i="0" dirty="0">
                <a:solidFill>
                  <a:srgbClr val="E1E3E6"/>
                </a:solidFill>
                <a:effectLst/>
                <a:latin typeface="PingFang SC"/>
              </a:rPr>
              <a:t>中断掩码</a:t>
            </a:r>
            <a:r>
              <a:rPr lang="en-US" altLang="zh-CN" b="0" i="0" dirty="0">
                <a:solidFill>
                  <a:srgbClr val="E1E3E6"/>
                </a:solidFill>
                <a:effectLst/>
                <a:latin typeface="PingFang SC"/>
              </a:rPr>
              <a:t>)</a:t>
            </a:r>
            <a:r>
              <a:rPr lang="zh-CN" altLang="en-US" b="0" i="0" dirty="0">
                <a:solidFill>
                  <a:srgbClr val="E1E3E6"/>
                </a:solidFill>
                <a:effectLst/>
                <a:latin typeface="PingFang SC"/>
              </a:rPr>
              <a:t>来保护对单处理器系统上全局资源的访问（</a:t>
            </a:r>
            <a:r>
              <a:rPr lang="zh-CN" altLang="en-US" b="1" dirty="0"/>
              <a:t>中断掩码</a:t>
            </a:r>
            <a:r>
              <a:rPr lang="zh-CN" altLang="en-US" dirty="0"/>
              <a:t>‌是一种用于控制中断处理的机制。它允许系统或设备在特定条件下暂时忽略某些中断请求，从而优化处理流程，避免不必要的处理开销。中断掩码通常用于硬件和软件层面，以控制中断的接收和处理</a:t>
            </a:r>
            <a:r>
              <a:rPr lang="zh-CN" altLang="en-US" b="0" i="0" dirty="0">
                <a:solidFill>
                  <a:srgbClr val="E1E3E6"/>
                </a:solidFill>
                <a:effectLst/>
                <a:latin typeface="PingFang SC"/>
              </a:rPr>
              <a:t>）</a:t>
            </a:r>
          </a:p>
          <a:p>
            <a:r>
              <a:rPr lang="en-US" altLang="zh-CN" b="0" i="0" dirty="0">
                <a:solidFill>
                  <a:srgbClr val="E1E3E6"/>
                </a:solidFill>
                <a:effectLst/>
                <a:latin typeface="PingFang SC"/>
              </a:rPr>
              <a:t>    </a:t>
            </a:r>
            <a:r>
              <a:rPr lang="zh-CN" altLang="en-US" b="0" i="0" dirty="0">
                <a:solidFill>
                  <a:srgbClr val="E1E3E6"/>
                </a:solidFill>
                <a:effectLst/>
                <a:latin typeface="PingFang SC"/>
              </a:rPr>
              <a:t>在多处理器系统上使用自旋锁</a:t>
            </a:r>
            <a:endParaRPr lang="en-US" altLang="zh-CN" b="0" i="0" dirty="0">
              <a:solidFill>
                <a:srgbClr val="E1E3E6"/>
              </a:solidFill>
              <a:effectLst/>
              <a:latin typeface="PingFang SC"/>
            </a:endParaRPr>
          </a:p>
          <a:p>
            <a:endParaRPr lang="en-US" altLang="zh-CN" b="0" i="0" dirty="0">
              <a:solidFill>
                <a:srgbClr val="E1E3E6"/>
              </a:solidFill>
              <a:effectLst/>
              <a:latin typeface="PingFang SC"/>
            </a:endParaRPr>
          </a:p>
          <a:p>
            <a:pPr algn="l"/>
            <a:r>
              <a:rPr lang="zh-CN" altLang="en-US" b="0" i="0" dirty="0">
                <a:solidFill>
                  <a:srgbClr val="E1E3E6"/>
                </a:solidFill>
                <a:effectLst/>
                <a:latin typeface="PingFang SC"/>
              </a:rPr>
              <a:t>对于用户线程</a:t>
            </a:r>
            <a:endParaRPr lang="en-US" altLang="zh-CN" b="0" i="0" dirty="0">
              <a:solidFill>
                <a:srgbClr val="E1E3E6"/>
              </a:solidFill>
              <a:effectLst/>
              <a:latin typeface="PingFang SC"/>
            </a:endParaRPr>
          </a:p>
          <a:p>
            <a:pPr algn="l"/>
            <a:r>
              <a:rPr lang="en-US" altLang="zh-CN" b="0" i="0" dirty="0">
                <a:solidFill>
                  <a:srgbClr val="E1E3E6"/>
                </a:solidFill>
                <a:effectLst/>
                <a:latin typeface="PingFang SC"/>
              </a:rPr>
              <a:t>    </a:t>
            </a:r>
            <a:r>
              <a:rPr lang="zh-CN" altLang="en-US" b="0" i="0" dirty="0">
                <a:solidFill>
                  <a:srgbClr val="E1E3E6"/>
                </a:solidFill>
                <a:effectLst/>
                <a:latin typeface="PingFang SC"/>
              </a:rPr>
              <a:t>提供分派器对象</a:t>
            </a:r>
            <a:r>
              <a:rPr lang="en-US" altLang="zh-CN" b="0" i="0" dirty="0">
                <a:solidFill>
                  <a:srgbClr val="E1E3E6"/>
                </a:solidFill>
                <a:effectLst/>
                <a:latin typeface="PingFang SC"/>
              </a:rPr>
              <a:t>(</a:t>
            </a:r>
            <a:r>
              <a:rPr lang="zh-CN" altLang="en-US" b="0" i="0" dirty="0">
                <a:solidFill>
                  <a:srgbClr val="E1E3E6"/>
                </a:solidFill>
                <a:effectLst/>
                <a:latin typeface="PingFang SC"/>
              </a:rPr>
              <a:t>调度对象</a:t>
            </a:r>
            <a:r>
              <a:rPr lang="en-US" altLang="zh-CN" b="0" i="0" dirty="0">
                <a:solidFill>
                  <a:srgbClr val="E1E3E6"/>
                </a:solidFill>
                <a:effectLst/>
                <a:latin typeface="PingFang SC"/>
              </a:rPr>
              <a:t>)</a:t>
            </a:r>
            <a:r>
              <a:rPr lang="zh-CN" altLang="en-US" b="0" i="0" dirty="0">
                <a:solidFill>
                  <a:srgbClr val="E1E3E6"/>
                </a:solidFill>
                <a:effectLst/>
                <a:latin typeface="PingFang SC"/>
              </a:rPr>
              <a:t>，它可以作为互斥锁，信号量和事件</a:t>
            </a:r>
            <a:br>
              <a:rPr lang="zh-CN" altLang="en-US" dirty="0"/>
            </a:br>
            <a:r>
              <a:rPr lang="zh-CN" altLang="en-US" dirty="0"/>
              <a:t>    </a:t>
            </a:r>
            <a:r>
              <a:rPr lang="zh-CN" altLang="en-US" b="0" i="0" dirty="0">
                <a:solidFill>
                  <a:srgbClr val="E1E3E6"/>
                </a:solidFill>
                <a:effectLst/>
                <a:latin typeface="PingFang SC"/>
              </a:rPr>
              <a:t>事件的作用很像条件变量</a:t>
            </a:r>
          </a:p>
          <a:p>
            <a:r>
              <a:rPr lang="zh-CN" altLang="en-US" b="0" i="0" dirty="0">
                <a:solidFill>
                  <a:srgbClr val="E1E3E6"/>
                </a:solidFill>
                <a:effectLst/>
                <a:latin typeface="PingFang SC"/>
              </a:rPr>
              <a:t>    当期望的情况发生时，事件可以通知等待的线程。</a:t>
            </a:r>
            <a:endParaRPr lang="zh-CN" altLang="zh-CN"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140</a:t>
            </a:fld>
            <a:endParaRPr lang="en-US" altLang="zh-CN" sz="1200" dirty="0">
              <a:latin typeface="Helvetica" pitchFamily="34" charset="0"/>
            </a:endParaRPr>
          </a:p>
        </p:txBody>
      </p:sp>
      <p:sp>
        <p:nvSpPr>
          <p:cNvPr id="188418" name="Rectangle 2"/>
          <p:cNvSpPr>
            <a:spLocks noGrp="1" noRot="1" noChangeAspect="1" noTextEdit="1"/>
          </p:cNvSpPr>
          <p:nvPr>
            <p:ph type="sldImg"/>
          </p:nvPr>
        </p:nvSpPr>
        <p:spPr>
          <a:ln/>
        </p:spPr>
      </p:sp>
      <p:sp>
        <p:nvSpPr>
          <p:cNvPr id="188419" name="Rectangle 3"/>
          <p:cNvSpPr>
            <a:spLocks noGrp="1"/>
          </p:cNvSpPr>
          <p:nvPr>
            <p:ph type="body"/>
          </p:nvPr>
        </p:nvSpPr>
        <p:spPr>
          <a:xfrm>
            <a:off x="900113" y="4427538"/>
            <a:ext cx="5100637" cy="4195762"/>
          </a:xfrm>
          <a:ln/>
        </p:spPr>
        <p:txBody>
          <a:bodyPr wrap="none" lIns="90892" tIns="45445" rIns="90892" bIns="45445" anchor="ctr" anchorCtr="0"/>
          <a:lstStyle/>
          <a:p>
            <a:pPr algn="l"/>
            <a:r>
              <a:rPr lang="zh-CN" altLang="en-US" b="0" i="0" dirty="0">
                <a:solidFill>
                  <a:srgbClr val="E1E3E6"/>
                </a:solidFill>
                <a:effectLst/>
                <a:latin typeface="PingFang SC"/>
              </a:rPr>
              <a:t>在</a:t>
            </a:r>
            <a:r>
              <a:rPr lang="en-US" altLang="zh-CN" b="0" i="0" dirty="0">
                <a:solidFill>
                  <a:srgbClr val="E1E3E6"/>
                </a:solidFill>
                <a:effectLst/>
                <a:latin typeface="PingFang SC"/>
              </a:rPr>
              <a:t>2.6</a:t>
            </a:r>
            <a:r>
              <a:rPr lang="zh-CN" altLang="en-US" b="0" i="0" dirty="0">
                <a:solidFill>
                  <a:srgbClr val="E1E3E6"/>
                </a:solidFill>
                <a:effectLst/>
                <a:latin typeface="PingFang SC"/>
              </a:rPr>
              <a:t>版本之前，</a:t>
            </a:r>
            <a:r>
              <a:rPr lang="en-US" altLang="zh-CN" b="0" i="0" dirty="0">
                <a:solidFill>
                  <a:srgbClr val="E1E3E6"/>
                </a:solidFill>
                <a:effectLst/>
                <a:latin typeface="PingFang SC"/>
              </a:rPr>
              <a:t>Linux</a:t>
            </a:r>
            <a:r>
              <a:rPr lang="zh-CN" altLang="en-US" b="0" i="0" dirty="0">
                <a:solidFill>
                  <a:srgbClr val="E1E3E6"/>
                </a:solidFill>
                <a:effectLst/>
                <a:latin typeface="PingFang SC"/>
              </a:rPr>
              <a:t>是一个非抢占式内核，这意味着在内核模式下运行的进程不能被抢占。</a:t>
            </a:r>
            <a:br>
              <a:rPr lang="zh-CN" altLang="en-US" dirty="0"/>
            </a:br>
            <a:endParaRPr lang="zh-CN" altLang="en-US" b="0" i="0" dirty="0">
              <a:solidFill>
                <a:srgbClr val="E1E3E6"/>
              </a:solidFill>
              <a:effectLst/>
              <a:latin typeface="PingFang SC"/>
            </a:endParaRPr>
          </a:p>
          <a:p>
            <a:pPr algn="l"/>
            <a:r>
              <a:rPr lang="zh-CN" altLang="en-US" b="0" i="0" dirty="0">
                <a:solidFill>
                  <a:srgbClr val="E1E3E6"/>
                </a:solidFill>
                <a:effectLst/>
                <a:latin typeface="PingFang SC"/>
              </a:rPr>
              <a:t>现在</a:t>
            </a:r>
            <a:r>
              <a:rPr lang="en-US" altLang="zh-CN" b="0" i="0" dirty="0">
                <a:solidFill>
                  <a:srgbClr val="E1E3E6"/>
                </a:solidFill>
                <a:effectLst/>
                <a:latin typeface="PingFang SC"/>
              </a:rPr>
              <a:t>Linux</a:t>
            </a:r>
            <a:r>
              <a:rPr lang="zh-CN" altLang="en-US" b="0" i="0" dirty="0">
                <a:solidFill>
                  <a:srgbClr val="E1E3E6"/>
                </a:solidFill>
                <a:effectLst/>
                <a:latin typeface="PingFang SC"/>
              </a:rPr>
              <a:t>内核被完全抢占了。</a:t>
            </a:r>
            <a:br>
              <a:rPr lang="zh-CN" altLang="en-US" dirty="0"/>
            </a:br>
            <a:endParaRPr lang="zh-CN" altLang="en-US" b="0" i="0" dirty="0">
              <a:solidFill>
                <a:srgbClr val="E1E3E6"/>
              </a:solidFill>
              <a:effectLst/>
              <a:latin typeface="PingFang SC"/>
            </a:endParaRPr>
          </a:p>
          <a:p>
            <a:pPr algn="l"/>
            <a:r>
              <a:rPr lang="en-US" altLang="zh-CN" b="0" i="0" dirty="0">
                <a:solidFill>
                  <a:srgbClr val="E1E3E6"/>
                </a:solidFill>
                <a:effectLst/>
                <a:latin typeface="PingFang SC"/>
              </a:rPr>
              <a:t>Linux</a:t>
            </a:r>
            <a:r>
              <a:rPr lang="zh-CN" altLang="en-US" b="0" i="0" dirty="0">
                <a:solidFill>
                  <a:srgbClr val="E1E3E6"/>
                </a:solidFill>
                <a:effectLst/>
                <a:latin typeface="PingFang SC"/>
              </a:rPr>
              <a:t>内核提供</a:t>
            </a:r>
            <a:r>
              <a:rPr lang="en-US" altLang="zh-CN" b="0" i="0" dirty="0">
                <a:solidFill>
                  <a:srgbClr val="E1E3E6"/>
                </a:solidFill>
                <a:effectLst/>
                <a:latin typeface="PingFang SC"/>
              </a:rPr>
              <a:t>:</a:t>
            </a:r>
            <a:br>
              <a:rPr lang="zh-CN" altLang="en-US" dirty="0"/>
            </a:br>
            <a:r>
              <a:rPr lang="en-US" altLang="zh-CN" b="0" i="0" dirty="0">
                <a:solidFill>
                  <a:srgbClr val="E1E3E6"/>
                </a:solidFill>
                <a:effectLst/>
                <a:latin typeface="PingFang SC"/>
              </a:rPr>
              <a:t>   </a:t>
            </a:r>
            <a:r>
              <a:rPr lang="zh-CN" altLang="en-US" b="0" i="0" dirty="0">
                <a:solidFill>
                  <a:srgbClr val="E1E3E6"/>
                </a:solidFill>
                <a:effectLst/>
                <a:latin typeface="PingFang SC"/>
              </a:rPr>
              <a:t>信号量</a:t>
            </a:r>
            <a:br>
              <a:rPr lang="zh-CN" altLang="en-US" dirty="0"/>
            </a:br>
            <a:r>
              <a:rPr lang="zh-CN" altLang="en-US" b="0" i="0" dirty="0">
                <a:solidFill>
                  <a:srgbClr val="E1E3E6"/>
                </a:solidFill>
                <a:effectLst/>
                <a:latin typeface="PingFang SC"/>
              </a:rPr>
              <a:t>     对于单处理器系统</a:t>
            </a:r>
            <a:endParaRPr lang="en-US" altLang="zh-CN" b="0" i="0" dirty="0">
              <a:solidFill>
                <a:srgbClr val="E1E3E6"/>
              </a:solidFill>
              <a:effectLst/>
              <a:latin typeface="PingFang SC"/>
            </a:endParaRPr>
          </a:p>
          <a:p>
            <a:pPr algn="l"/>
            <a:r>
              <a:rPr lang="en-US" altLang="zh-CN" b="0" i="0" dirty="0">
                <a:solidFill>
                  <a:srgbClr val="E1E3E6"/>
                </a:solidFill>
                <a:effectLst/>
                <a:latin typeface="PingFang SC"/>
              </a:rPr>
              <a:t>   </a:t>
            </a:r>
            <a:r>
              <a:rPr lang="zh-CN" altLang="en-US" b="0" i="0" dirty="0">
                <a:solidFill>
                  <a:srgbClr val="E1E3E6"/>
                </a:solidFill>
                <a:effectLst/>
                <a:latin typeface="PingFang SC"/>
              </a:rPr>
              <a:t>自旋锁</a:t>
            </a:r>
            <a:br>
              <a:rPr lang="zh-CN" altLang="en-US" dirty="0"/>
            </a:br>
            <a:r>
              <a:rPr lang="zh-CN" altLang="en-US" dirty="0"/>
              <a:t>     </a:t>
            </a:r>
            <a:r>
              <a:rPr lang="zh-CN" altLang="en-US" b="0" i="0" dirty="0">
                <a:solidFill>
                  <a:srgbClr val="E1E3E6"/>
                </a:solidFill>
                <a:effectLst/>
                <a:latin typeface="PingFang SC"/>
              </a:rPr>
              <a:t>对于</a:t>
            </a:r>
            <a:r>
              <a:rPr lang="en-US" altLang="zh-CN" b="0" i="0" dirty="0">
                <a:solidFill>
                  <a:srgbClr val="E1E3E6"/>
                </a:solidFill>
                <a:effectLst/>
                <a:latin typeface="PingFang SC"/>
              </a:rPr>
              <a:t>SMP</a:t>
            </a:r>
            <a:r>
              <a:rPr lang="zh-CN" altLang="en-US" b="0" i="0" dirty="0">
                <a:solidFill>
                  <a:srgbClr val="E1E3E6"/>
                </a:solidFill>
                <a:effectLst/>
                <a:latin typeface="PingFang SC"/>
              </a:rPr>
              <a:t>（</a:t>
            </a:r>
            <a:r>
              <a:rPr lang="zh-CN" altLang="en-US" dirty="0"/>
              <a:t>对称多处理系统）</a:t>
            </a:r>
            <a:endParaRPr lang="zh-CN" altLang="zh-CN"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en-US" altLang="zh-CN" sz="1200" dirty="0">
                <a:latin typeface="Helvetica" pitchFamily="34" charset="0"/>
              </a:rPr>
              <a:t>141</a:t>
            </a:fld>
            <a:endParaRPr lang="en-US" altLang="zh-CN" sz="1200" dirty="0">
              <a:latin typeface="Helvetica" pitchFamily="34" charset="0"/>
            </a:endParaRPr>
          </a:p>
        </p:txBody>
      </p:sp>
      <p:sp>
        <p:nvSpPr>
          <p:cNvPr id="190466" name="Rectangle 2"/>
          <p:cNvSpPr>
            <a:spLocks noGrp="1" noRot="1" noChangeAspect="1" noTextEdit="1"/>
          </p:cNvSpPr>
          <p:nvPr>
            <p:ph type="sldImg"/>
          </p:nvPr>
        </p:nvSpPr>
        <p:spPr>
          <a:ln/>
        </p:spPr>
      </p:sp>
      <p:sp>
        <p:nvSpPr>
          <p:cNvPr id="190467" name="Rectangle 3"/>
          <p:cNvSpPr>
            <a:spLocks noGrp="1"/>
          </p:cNvSpPr>
          <p:nvPr>
            <p:ph type="body"/>
          </p:nvPr>
        </p:nvSpPr>
        <p:spPr>
          <a:xfrm>
            <a:off x="900113" y="4427538"/>
            <a:ext cx="5100637" cy="4195762"/>
          </a:xfrm>
          <a:ln/>
        </p:spPr>
        <p:txBody>
          <a:bodyPr wrap="none" lIns="90892" tIns="45445" rIns="90892" bIns="45445" anchor="ctr" anchorCtr="0"/>
          <a:lstStyle/>
          <a:p>
            <a:pPr algn="l"/>
            <a:r>
              <a:rPr lang="en-US" altLang="zh-CN" b="0" i="0" dirty="0" err="1">
                <a:solidFill>
                  <a:srgbClr val="E1E3E6"/>
                </a:solidFill>
                <a:effectLst/>
                <a:latin typeface="PingFang SC"/>
              </a:rPr>
              <a:t>Pthreads</a:t>
            </a:r>
            <a:r>
              <a:rPr lang="en-US" altLang="zh-CN" b="0" i="0" dirty="0">
                <a:solidFill>
                  <a:srgbClr val="E1E3E6"/>
                </a:solidFill>
                <a:effectLst/>
                <a:latin typeface="PingFang SC"/>
              </a:rPr>
              <a:t> API</a:t>
            </a:r>
            <a:r>
              <a:rPr lang="zh-CN" altLang="en-US" b="0" i="0" dirty="0">
                <a:solidFill>
                  <a:srgbClr val="E1E3E6"/>
                </a:solidFill>
                <a:effectLst/>
                <a:latin typeface="PingFang SC"/>
              </a:rPr>
              <a:t>与操作系统无关</a:t>
            </a:r>
            <a:br>
              <a:rPr lang="zh-CN" altLang="en-US" dirty="0"/>
            </a:br>
            <a:endParaRPr lang="zh-CN" altLang="en-US" b="0" i="0" dirty="0">
              <a:solidFill>
                <a:srgbClr val="E1E3E6"/>
              </a:solidFill>
              <a:effectLst/>
              <a:latin typeface="PingFang SC"/>
            </a:endParaRPr>
          </a:p>
          <a:p>
            <a:pPr algn="l"/>
            <a:r>
              <a:rPr lang="zh-CN" altLang="en-US" b="0" i="0" dirty="0">
                <a:solidFill>
                  <a:srgbClr val="E1E3E6"/>
                </a:solidFill>
                <a:effectLst/>
                <a:latin typeface="PingFang SC"/>
              </a:rPr>
              <a:t>它提供</a:t>
            </a:r>
            <a:r>
              <a:rPr lang="en-US" altLang="zh-CN" b="0" i="0" dirty="0">
                <a:solidFill>
                  <a:srgbClr val="E1E3E6"/>
                </a:solidFill>
                <a:effectLst/>
                <a:latin typeface="PingFang SC"/>
              </a:rPr>
              <a:t>:</a:t>
            </a:r>
            <a:r>
              <a:rPr lang="zh-CN" altLang="en-US" b="0" i="0" dirty="0">
                <a:solidFill>
                  <a:srgbClr val="E1E3E6"/>
                </a:solidFill>
                <a:effectLst/>
                <a:latin typeface="PingFang SC"/>
              </a:rPr>
              <a:t>互斥锁</a:t>
            </a:r>
            <a:br>
              <a:rPr lang="zh-CN" altLang="en-US" dirty="0"/>
            </a:br>
            <a:endParaRPr lang="zh-CN" altLang="en-US" b="0" i="0" dirty="0">
              <a:solidFill>
                <a:srgbClr val="E1E3E6"/>
              </a:solidFill>
              <a:effectLst/>
              <a:latin typeface="PingFang SC"/>
            </a:endParaRPr>
          </a:p>
          <a:p>
            <a:pPr algn="l"/>
            <a:r>
              <a:rPr lang="zh-CN" altLang="en-US" b="0" i="0" dirty="0">
                <a:solidFill>
                  <a:srgbClr val="E1E3E6"/>
                </a:solidFill>
                <a:effectLst/>
                <a:latin typeface="PingFang SC"/>
              </a:rPr>
              <a:t>    为了保护代码的临界区</a:t>
            </a:r>
            <a:endParaRPr lang="en-US" altLang="zh-CN" b="0" i="0" dirty="0">
              <a:solidFill>
                <a:srgbClr val="E1E3E6"/>
              </a:solidFill>
              <a:effectLst/>
              <a:latin typeface="PingFang SC"/>
            </a:endParaRPr>
          </a:p>
          <a:p>
            <a:pPr algn="l"/>
            <a:endParaRPr lang="en-US" altLang="zh-CN" b="0" i="0" dirty="0">
              <a:solidFill>
                <a:srgbClr val="E1E3E6"/>
              </a:solidFill>
              <a:effectLst/>
              <a:latin typeface="PingFang SC"/>
            </a:endParaRPr>
          </a:p>
          <a:p>
            <a:pPr algn="l"/>
            <a:r>
              <a:rPr lang="zh-CN" altLang="en-US" b="0" i="0" dirty="0">
                <a:solidFill>
                  <a:srgbClr val="E1E3E6"/>
                </a:solidFill>
                <a:effectLst/>
                <a:latin typeface="PingFang SC"/>
              </a:rPr>
              <a:t>条件变量</a:t>
            </a:r>
            <a:endParaRPr lang="en-US" altLang="zh-CN" b="0" i="0" dirty="0">
              <a:solidFill>
                <a:srgbClr val="E1E3E6"/>
              </a:solidFill>
              <a:effectLst/>
              <a:latin typeface="PingFang SC"/>
            </a:endParaRPr>
          </a:p>
          <a:p>
            <a:pPr algn="l"/>
            <a:r>
              <a:rPr lang="zh-CN" altLang="en-US" b="0" i="0" dirty="0">
                <a:solidFill>
                  <a:srgbClr val="E1E3E6"/>
                </a:solidFill>
                <a:effectLst/>
                <a:latin typeface="PingFang SC"/>
              </a:rPr>
              <a:t>    与管程中的描述大致相同</a:t>
            </a:r>
            <a:br>
              <a:rPr lang="zh-CN" altLang="en-US" dirty="0"/>
            </a:br>
            <a:r>
              <a:rPr lang="zh-CN" altLang="en-US" b="0" i="0" dirty="0">
                <a:solidFill>
                  <a:srgbClr val="E1E3E6"/>
                </a:solidFill>
                <a:effectLst/>
                <a:latin typeface="PingFang SC"/>
              </a:rPr>
              <a:t>    读写锁</a:t>
            </a:r>
            <a:br>
              <a:rPr lang="zh-CN" altLang="en-US" dirty="0"/>
            </a:br>
            <a:endParaRPr lang="zh-CN" altLang="en-US" b="0" i="0" dirty="0">
              <a:solidFill>
                <a:srgbClr val="E1E3E6"/>
              </a:solidFill>
              <a:effectLst/>
              <a:latin typeface="PingFang SC"/>
            </a:endParaRPr>
          </a:p>
          <a:p>
            <a:r>
              <a:rPr lang="zh-CN" altLang="en-US" b="0" i="0" dirty="0">
                <a:solidFill>
                  <a:srgbClr val="E1E3E6"/>
                </a:solidFill>
                <a:effectLst/>
                <a:latin typeface="PingFang SC"/>
              </a:rPr>
              <a:t>不可移植扩展包括</a:t>
            </a:r>
            <a:endParaRPr lang="en-US" altLang="zh-CN" b="0" i="0" dirty="0">
              <a:solidFill>
                <a:srgbClr val="E1E3E6"/>
              </a:solidFill>
              <a:effectLst/>
              <a:latin typeface="PingFang SC"/>
            </a:endParaRPr>
          </a:p>
          <a:p>
            <a:r>
              <a:rPr lang="en-US" altLang="zh-CN" b="0" i="0" dirty="0">
                <a:solidFill>
                  <a:srgbClr val="E1E3E6"/>
                </a:solidFill>
                <a:effectLst/>
                <a:latin typeface="PingFang SC"/>
              </a:rPr>
              <a:t>    </a:t>
            </a:r>
            <a:r>
              <a:rPr lang="zh-CN" altLang="en-US" b="0" i="0" dirty="0">
                <a:solidFill>
                  <a:srgbClr val="E1E3E6"/>
                </a:solidFill>
                <a:effectLst/>
                <a:latin typeface="PingFang SC"/>
              </a:rPr>
              <a:t>信号量、自旋锁</a:t>
            </a:r>
            <a:endParaRPr lang="zh-CN" altLang="zh-CN"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7"/>
          <p:cNvSpPr txBox="1">
            <a:spLocks noGrp="1"/>
          </p:cNvSpPr>
          <p:nvPr/>
        </p:nvSpPr>
        <p:spPr>
          <a:xfrm>
            <a:off x="3900488" y="8831263"/>
            <a:ext cx="2981325" cy="465137"/>
          </a:xfrm>
          <a:prstGeom prst="rect">
            <a:avLst/>
          </a:prstGeom>
          <a:noFill/>
          <a:ln w="9525">
            <a:noFill/>
          </a:ln>
        </p:spPr>
        <p:txBody>
          <a:bodyPr wrap="none" lIns="92446" tIns="46223" rIns="92446" bIns="46223" anchor="b" anchorCtr="0"/>
          <a:lstStyle/>
          <a:p>
            <a:pPr lvl="0" algn="r" defTabSz="923925"/>
            <a:fld id="{9A0DB2DC-4C9A-4742-B13C-FB6460FD3503}" type="slidenum">
              <a:rPr lang="zh-CN" altLang="en-US" sz="1200" dirty="0">
                <a:latin typeface="Times New Roman" panose="02020603050405020304" pitchFamily="18" charset="0"/>
                <a:ea typeface="宋体" panose="02010600030101010101" pitchFamily="2" charset="-122"/>
              </a:rPr>
              <a:t>142</a:t>
            </a:fld>
            <a:endParaRPr lang="zh-CN" altLang="en-US" sz="1200" dirty="0">
              <a:latin typeface="Times New Roman" panose="02020603050405020304" pitchFamily="18" charset="0"/>
              <a:ea typeface="宋体" panose="02010600030101010101" pitchFamily="2" charset="-122"/>
            </a:endParaRPr>
          </a:p>
        </p:txBody>
      </p:sp>
      <p:sp>
        <p:nvSpPr>
          <p:cNvPr id="192514" name="Rectangle 2"/>
          <p:cNvSpPr>
            <a:spLocks noGrp="1" noRot="1" noChangeAspect="1" noTextEdit="1"/>
          </p:cNvSpPr>
          <p:nvPr>
            <p:ph type="sldImg"/>
          </p:nvPr>
        </p:nvSpPr>
        <p:spPr>
          <a:xfrm>
            <a:off x="1117600" y="696913"/>
            <a:ext cx="4648200" cy="3486150"/>
          </a:xfrm>
          <a:ln/>
        </p:spPr>
      </p:sp>
      <p:sp>
        <p:nvSpPr>
          <p:cNvPr id="192515" name="Rectangle 3"/>
          <p:cNvSpPr>
            <a:spLocks noGrp="1"/>
          </p:cNvSpPr>
          <p:nvPr>
            <p:ph type="body"/>
          </p:nvPr>
        </p:nvSpPr>
        <p:spPr>
          <a:xfrm>
            <a:off x="917575" y="4416425"/>
            <a:ext cx="5046663" cy="4183063"/>
          </a:xfrm>
          <a:ln/>
        </p:spPr>
        <p:txBody>
          <a:bodyPr wrap="none" lIns="92446" tIns="46223" rIns="92446" bIns="46223" anchor="ctr" anchorCtr="0"/>
          <a:lstStyle/>
          <a:p>
            <a:r>
              <a:rPr lang="en-US" altLang="zh-CN" b="0" dirty="0">
                <a:solidFill>
                  <a:srgbClr val="E1E3E6"/>
                </a:solidFill>
                <a:effectLst/>
              </a:rPr>
              <a:t>Synchronized, wait()</a:t>
            </a:r>
            <a:r>
              <a:rPr lang="zh-CN" altLang="en-US" b="0" dirty="0">
                <a:solidFill>
                  <a:srgbClr val="E1E3E6"/>
                </a:solidFill>
                <a:effectLst/>
              </a:rPr>
              <a:t>， </a:t>
            </a:r>
            <a:r>
              <a:rPr lang="en-US" altLang="zh-CN" b="0" dirty="0">
                <a:solidFill>
                  <a:srgbClr val="E1E3E6"/>
                </a:solidFill>
                <a:effectLst/>
              </a:rPr>
              <a:t>notify()</a:t>
            </a:r>
            <a:r>
              <a:rPr lang="zh-CN" altLang="en-US" b="0" dirty="0">
                <a:solidFill>
                  <a:srgbClr val="E1E3E6"/>
                </a:solidFill>
                <a:effectLst/>
              </a:rPr>
              <a:t>语句</a:t>
            </a:r>
            <a:br>
              <a:rPr lang="zh-CN" altLang="en-US" b="0" dirty="0">
                <a:solidFill>
                  <a:srgbClr val="E1E3E6"/>
                </a:solidFill>
                <a:effectLst/>
              </a:rPr>
            </a:br>
            <a:endParaRPr lang="zh-CN" altLang="en-US" b="0" dirty="0">
              <a:solidFill>
                <a:srgbClr val="E1E3E6"/>
              </a:solidFill>
              <a:effectLst/>
            </a:endParaRPr>
          </a:p>
          <a:p>
            <a:r>
              <a:rPr lang="zh-CN" altLang="en-US" dirty="0">
                <a:effectLst/>
              </a:rPr>
              <a:t>多个通知</a:t>
            </a:r>
            <a:br>
              <a:rPr lang="zh-CN" altLang="en-US" dirty="0">
                <a:effectLst/>
              </a:rPr>
            </a:br>
            <a:endParaRPr lang="zh-CN" altLang="en-US" dirty="0">
              <a:effectLst/>
            </a:endParaRPr>
          </a:p>
          <a:p>
            <a:r>
              <a:rPr lang="zh-CN" altLang="en-US" dirty="0">
                <a:effectLst/>
              </a:rPr>
              <a:t>块同步</a:t>
            </a:r>
            <a:br>
              <a:rPr lang="zh-CN" altLang="en-US" dirty="0">
                <a:effectLst/>
              </a:rPr>
            </a:br>
            <a:endParaRPr lang="zh-CN" altLang="en-US" dirty="0">
              <a:effectLst/>
            </a:endParaRPr>
          </a:p>
          <a:p>
            <a:r>
              <a:rPr lang="en-US" altLang="zh-CN" dirty="0">
                <a:effectLst/>
              </a:rPr>
              <a:t>Java</a:t>
            </a:r>
            <a:r>
              <a:rPr lang="zh-CN" altLang="en-US" dirty="0">
                <a:effectLst/>
              </a:rPr>
              <a:t>信号量</a:t>
            </a:r>
          </a:p>
          <a:p>
            <a:br>
              <a:rPr lang="zh-CN" altLang="en-US" dirty="0">
                <a:effectLst/>
              </a:rPr>
            </a:br>
            <a:endParaRPr lang="zh-CN" alt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7"/>
          <p:cNvSpPr txBox="1">
            <a:spLocks noGrp="1"/>
          </p:cNvSpPr>
          <p:nvPr/>
        </p:nvSpPr>
        <p:spPr>
          <a:xfrm>
            <a:off x="3900488" y="8831263"/>
            <a:ext cx="2981325" cy="465137"/>
          </a:xfrm>
          <a:prstGeom prst="rect">
            <a:avLst/>
          </a:prstGeom>
          <a:noFill/>
          <a:ln w="9525">
            <a:noFill/>
          </a:ln>
        </p:spPr>
        <p:txBody>
          <a:bodyPr wrap="none" lIns="92446" tIns="46223" rIns="92446" bIns="46223" anchor="b" anchorCtr="0"/>
          <a:lstStyle/>
          <a:p>
            <a:pPr lvl="0" algn="r" defTabSz="923925"/>
            <a:fld id="{9A0DB2DC-4C9A-4742-B13C-FB6460FD3503}" type="slidenum">
              <a:rPr lang="zh-CN" altLang="en-US" sz="1200" dirty="0">
                <a:latin typeface="Times New Roman" panose="02020603050405020304" pitchFamily="18" charset="0"/>
                <a:ea typeface="宋体" panose="02010600030101010101" pitchFamily="2" charset="-122"/>
              </a:rPr>
              <a:t>143</a:t>
            </a:fld>
            <a:endParaRPr lang="zh-CN" altLang="en-US" sz="1200" dirty="0">
              <a:latin typeface="Times New Roman" panose="02020603050405020304" pitchFamily="18" charset="0"/>
              <a:ea typeface="宋体" panose="02010600030101010101" pitchFamily="2" charset="-122"/>
            </a:endParaRPr>
          </a:p>
        </p:txBody>
      </p:sp>
      <p:sp>
        <p:nvSpPr>
          <p:cNvPr id="194562" name="Rectangle 2"/>
          <p:cNvSpPr>
            <a:spLocks noGrp="1" noRot="1" noChangeAspect="1" noTextEdit="1"/>
          </p:cNvSpPr>
          <p:nvPr>
            <p:ph type="sldImg"/>
          </p:nvPr>
        </p:nvSpPr>
        <p:spPr>
          <a:xfrm>
            <a:off x="1117600" y="696913"/>
            <a:ext cx="4648200" cy="3486150"/>
          </a:xfrm>
          <a:ln/>
        </p:spPr>
      </p:sp>
      <p:sp>
        <p:nvSpPr>
          <p:cNvPr id="194563" name="Rectangle 3"/>
          <p:cNvSpPr>
            <a:spLocks noGrp="1"/>
          </p:cNvSpPr>
          <p:nvPr>
            <p:ph type="body"/>
          </p:nvPr>
        </p:nvSpPr>
        <p:spPr>
          <a:xfrm>
            <a:off x="917575" y="4416425"/>
            <a:ext cx="5046663" cy="4183063"/>
          </a:xfrm>
          <a:ln/>
        </p:spPr>
        <p:txBody>
          <a:bodyPr wrap="none" lIns="92446" tIns="46223" rIns="92446" bIns="46223" anchor="ctr" anchorCtr="0"/>
          <a:lstStyle/>
          <a:p>
            <a:pPr marL="742950" lvl="1" indent="-285750" eaLnBrk="1" hangingPunct="1"/>
            <a:r>
              <a:rPr lang="zh-CN" altLang="en-US" dirty="0"/>
              <a:t>在</a:t>
            </a:r>
            <a:r>
              <a:rPr lang="en-US" altLang="zh-CN" dirty="0"/>
              <a:t>JAVA</a:t>
            </a:r>
            <a:r>
              <a:rPr lang="zh-CN" altLang="en-US" dirty="0"/>
              <a:t>中，每个对象都与一把锁相关联。</a:t>
            </a:r>
          </a:p>
          <a:p>
            <a:pPr marL="742950" lvl="1" indent="-285750" eaLnBrk="1" hangingPunct="1"/>
            <a:r>
              <a:rPr lang="zh-CN" altLang="en-US" dirty="0"/>
              <a:t>当一个方法声明为</a:t>
            </a:r>
            <a:r>
              <a:rPr lang="zh-CN" altLang="en-US" dirty="0">
                <a:latin typeface="Arial" panose="020B0604020202020204" pitchFamily="34" charset="0"/>
              </a:rPr>
              <a:t>“</a:t>
            </a:r>
            <a:r>
              <a:rPr lang="zh-CN" altLang="en-US" dirty="0"/>
              <a:t>同步的</a:t>
            </a:r>
            <a:r>
              <a:rPr lang="zh-CN" altLang="en-US" dirty="0">
                <a:latin typeface="Arial" panose="020B0604020202020204" pitchFamily="34" charset="0"/>
              </a:rPr>
              <a:t>”</a:t>
            </a:r>
            <a:r>
              <a:rPr lang="zh-CN" altLang="en-US" dirty="0"/>
              <a:t>，那么调用这个方法就需要拥有该对象的锁。</a:t>
            </a:r>
          </a:p>
          <a:p>
            <a:pPr marL="742950" lvl="1" indent="-285750" eaLnBrk="1" hangingPunct="1"/>
            <a:r>
              <a:rPr lang="zh-CN" altLang="en-US" dirty="0"/>
              <a:t>如果对象的锁已被别的线程拥有，那么调用同步方法的线程进入该对象锁的入口等待队列</a:t>
            </a:r>
            <a:r>
              <a:rPr lang="en-US" altLang="zh-CN" dirty="0"/>
              <a:t>(</a:t>
            </a:r>
            <a:r>
              <a:rPr lang="en-US" altLang="zh-CN" sz="1400" dirty="0"/>
              <a:t>entry set </a:t>
            </a:r>
            <a:r>
              <a:rPr lang="en-US" altLang="zh-CN" dirty="0"/>
              <a:t>)</a:t>
            </a:r>
            <a:r>
              <a:rPr lang="zh-CN" altLang="en-US" dirty="0"/>
              <a:t>中。</a:t>
            </a:r>
          </a:p>
          <a:p>
            <a:pPr marL="742950" lvl="1" indent="-285750" eaLnBrk="1" hangingPunct="1"/>
            <a:r>
              <a:rPr lang="zh-CN" altLang="en-US" dirty="0"/>
              <a:t>当线程退出了同步方法时锁就会释放</a:t>
            </a:r>
            <a:r>
              <a:rPr lang="en-US" altLang="zh-CN" dirty="0"/>
              <a:t>.</a:t>
            </a:r>
          </a:p>
          <a:p>
            <a:pPr lvl="0"/>
            <a:endParaRPr lang="zh-CN" altLang="en-US" dirty="0"/>
          </a:p>
          <a:p>
            <a:pPr lvl="0" eaLnBrk="1" hangingPunct="1"/>
            <a:endParaRPr lang="zh-CN" alt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Rectangle 2"/>
          <p:cNvSpPr>
            <a:spLocks noGrp="1" noRot="1" noChangeAspect="1" noTextEdit="1"/>
          </p:cNvSpPr>
          <p:nvPr>
            <p:ph type="sldImg"/>
          </p:nvPr>
        </p:nvSpPr>
        <p:spPr>
          <a:ln/>
        </p:spPr>
      </p:sp>
      <p:sp>
        <p:nvSpPr>
          <p:cNvPr id="199682" name="Rectangle 3"/>
          <p:cNvSpPr>
            <a:spLocks noGrp="1"/>
          </p:cNvSpPr>
          <p:nvPr>
            <p:ph type="body"/>
          </p:nvPr>
        </p:nvSpPr>
        <p:spPr>
          <a:xfrm>
            <a:off x="900113" y="4427538"/>
            <a:ext cx="5100637" cy="4195762"/>
          </a:xfrm>
          <a:ln/>
        </p:spPr>
        <p:txBody>
          <a:bodyPr wrap="none" lIns="90892" tIns="45445" rIns="90892" bIns="45445" anchor="ctr" anchorCtr="0"/>
          <a:lstStyle/>
          <a:p>
            <a:pPr algn="l"/>
            <a:r>
              <a:rPr lang="zh-CN" altLang="en-US" b="0" i="0" dirty="0">
                <a:solidFill>
                  <a:srgbClr val="E1E3E6"/>
                </a:solidFill>
                <a:effectLst/>
                <a:latin typeface="PingFang SC"/>
              </a:rPr>
              <a:t>生产者消费者问题</a:t>
            </a:r>
            <a:r>
              <a:rPr lang="en-US" altLang="zh-CN" b="0" i="0" dirty="0">
                <a:solidFill>
                  <a:srgbClr val="E1E3E6"/>
                </a:solidFill>
                <a:effectLst/>
                <a:latin typeface="PingFang SC"/>
              </a:rPr>
              <a:t>:</a:t>
            </a:r>
            <a:br>
              <a:rPr lang="zh-CN" altLang="en-US" dirty="0"/>
            </a:br>
            <a:endParaRPr lang="zh-CN" altLang="en-US" b="0" i="0" dirty="0">
              <a:solidFill>
                <a:srgbClr val="E1E3E6"/>
              </a:solidFill>
              <a:effectLst/>
              <a:latin typeface="PingFang SC"/>
            </a:endParaRPr>
          </a:p>
          <a:p>
            <a:pPr algn="l"/>
            <a:r>
              <a:rPr lang="zh-CN" altLang="en-US" b="0" i="0" dirty="0">
                <a:solidFill>
                  <a:srgbClr val="E1E3E6"/>
                </a:solidFill>
                <a:effectLst/>
                <a:latin typeface="PingFang SC"/>
              </a:rPr>
              <a:t>对象</a:t>
            </a:r>
            <a:r>
              <a:rPr lang="en-US" altLang="zh-CN" b="0" i="0" dirty="0" err="1">
                <a:solidFill>
                  <a:srgbClr val="E1E3E6"/>
                </a:solidFill>
                <a:effectLst/>
                <a:latin typeface="PingFang SC"/>
              </a:rPr>
              <a:t>BoundedBuffer</a:t>
            </a:r>
            <a:r>
              <a:rPr lang="zh-CN" altLang="en-US" b="0" i="0" dirty="0">
                <a:solidFill>
                  <a:srgbClr val="E1E3E6"/>
                </a:solidFill>
                <a:effectLst/>
                <a:latin typeface="PingFang SC"/>
              </a:rPr>
              <a:t>有一个锁</a:t>
            </a:r>
            <a:br>
              <a:rPr lang="zh-CN" altLang="en-US" dirty="0"/>
            </a:br>
            <a:endParaRPr lang="zh-CN" altLang="en-US" b="0" i="0" dirty="0">
              <a:solidFill>
                <a:srgbClr val="E1E3E6"/>
              </a:solidFill>
              <a:effectLst/>
              <a:latin typeface="PingFang SC"/>
            </a:endParaRPr>
          </a:p>
          <a:p>
            <a:pPr algn="l"/>
            <a:r>
              <a:rPr lang="zh-CN" altLang="en-US" b="0" i="0" dirty="0">
                <a:solidFill>
                  <a:srgbClr val="E1E3E6"/>
                </a:solidFill>
                <a:effectLst/>
                <a:latin typeface="PingFang SC"/>
              </a:rPr>
              <a:t>生产者必须在调用方法</a:t>
            </a:r>
            <a:r>
              <a:rPr lang="en-US" altLang="zh-CN" b="0" i="0" dirty="0">
                <a:solidFill>
                  <a:srgbClr val="E1E3E6"/>
                </a:solidFill>
                <a:effectLst/>
                <a:latin typeface="PingFang SC"/>
              </a:rPr>
              <a:t>enter()</a:t>
            </a:r>
            <a:r>
              <a:rPr lang="zh-CN" altLang="en-US" b="0" i="0" dirty="0">
                <a:solidFill>
                  <a:srgbClr val="E1E3E6"/>
                </a:solidFill>
                <a:effectLst/>
                <a:latin typeface="PingFang SC"/>
              </a:rPr>
              <a:t>之前获取锁。</a:t>
            </a:r>
            <a:br>
              <a:rPr lang="zh-CN" altLang="en-US" dirty="0"/>
            </a:br>
            <a:endParaRPr lang="zh-CN" altLang="en-US" b="0" i="0" dirty="0">
              <a:solidFill>
                <a:srgbClr val="E1E3E6"/>
              </a:solidFill>
              <a:effectLst/>
              <a:latin typeface="PingFang SC"/>
            </a:endParaRPr>
          </a:p>
          <a:p>
            <a:pPr algn="l"/>
            <a:r>
              <a:rPr lang="zh-CN" altLang="en-US" b="0" i="0" dirty="0">
                <a:solidFill>
                  <a:srgbClr val="E1E3E6"/>
                </a:solidFill>
                <a:effectLst/>
                <a:latin typeface="PingFang SC"/>
              </a:rPr>
              <a:t>当锁由生产者拥有时，如果消费者想要调用</a:t>
            </a:r>
            <a:r>
              <a:rPr lang="en-US" altLang="zh-CN" b="0" i="0" dirty="0">
                <a:solidFill>
                  <a:srgbClr val="E1E3E6"/>
                </a:solidFill>
                <a:effectLst/>
                <a:latin typeface="PingFang SC"/>
              </a:rPr>
              <a:t>remove()</a:t>
            </a:r>
            <a:r>
              <a:rPr lang="zh-CN" altLang="en-US" b="0" i="0" dirty="0">
                <a:solidFill>
                  <a:srgbClr val="E1E3E6"/>
                </a:solidFill>
                <a:effectLst/>
                <a:latin typeface="PingFang SC"/>
              </a:rPr>
              <a:t>，它必须阻塞，直到生产者退出方法</a:t>
            </a:r>
            <a:r>
              <a:rPr lang="en-US" altLang="zh-CN" b="0" i="0" dirty="0">
                <a:solidFill>
                  <a:srgbClr val="E1E3E6"/>
                </a:solidFill>
                <a:effectLst/>
                <a:latin typeface="PingFang SC"/>
              </a:rPr>
              <a:t>enter()</a:t>
            </a:r>
            <a:r>
              <a:rPr lang="zh-CN" altLang="en-US" b="0" i="0" dirty="0">
                <a:solidFill>
                  <a:srgbClr val="E1E3E6"/>
                </a:solidFill>
                <a:effectLst/>
                <a:latin typeface="PingFang SC"/>
              </a:rPr>
              <a:t>并释放锁。</a:t>
            </a:r>
            <a:br>
              <a:rPr lang="zh-CN" altLang="en-US" dirty="0"/>
            </a:br>
            <a:endParaRPr lang="zh-CN" altLang="en-US" b="0" i="0" dirty="0">
              <a:solidFill>
                <a:srgbClr val="E1E3E6"/>
              </a:solidFill>
              <a:effectLst/>
              <a:latin typeface="PingFang SC"/>
            </a:endParaRPr>
          </a:p>
          <a:p>
            <a:r>
              <a:rPr lang="zh-CN" altLang="en-US" b="0" i="0" dirty="0">
                <a:solidFill>
                  <a:srgbClr val="E1E3E6"/>
                </a:solidFill>
                <a:effectLst/>
                <a:latin typeface="PingFang SC"/>
              </a:rPr>
              <a:t>这确保了相互排斥。</a:t>
            </a:r>
            <a:endParaRPr lang="zh-CN" altLang="en-US"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Rectangle 2"/>
          <p:cNvSpPr>
            <a:spLocks noGrp="1" noRot="1" noChangeAspect="1" noTextEdit="1"/>
          </p:cNvSpPr>
          <p:nvPr>
            <p:ph type="sldImg"/>
          </p:nvPr>
        </p:nvSpPr>
        <p:spPr>
          <a:ln/>
        </p:spPr>
      </p:sp>
      <p:sp>
        <p:nvSpPr>
          <p:cNvPr id="201730" name="Rectangle 3"/>
          <p:cNvSpPr>
            <a:spLocks noGrp="1"/>
          </p:cNvSpPr>
          <p:nvPr>
            <p:ph type="body"/>
          </p:nvPr>
        </p:nvSpPr>
        <p:spPr>
          <a:xfrm>
            <a:off x="900113" y="4427538"/>
            <a:ext cx="5100637" cy="4195762"/>
          </a:xfrm>
          <a:ln/>
        </p:spPr>
        <p:txBody>
          <a:bodyPr wrap="none" lIns="90892" tIns="45445" rIns="90892" bIns="45445" anchor="ctr" anchorCtr="0"/>
          <a:lstStyle/>
          <a:p>
            <a:pPr algn="l"/>
            <a:r>
              <a:rPr lang="zh-CN" altLang="en-US" b="0" i="0" dirty="0">
                <a:solidFill>
                  <a:srgbClr val="E1E3E6"/>
                </a:solidFill>
                <a:effectLst/>
                <a:latin typeface="PingFang SC"/>
              </a:rPr>
              <a:t>然而，锁所有权带来了另一个问题。</a:t>
            </a:r>
            <a:br>
              <a:rPr lang="zh-CN" altLang="en-US" dirty="0"/>
            </a:br>
            <a:endParaRPr lang="zh-CN" altLang="en-US" b="0" i="0" dirty="0">
              <a:solidFill>
                <a:srgbClr val="E1E3E6"/>
              </a:solidFill>
              <a:effectLst/>
              <a:latin typeface="PingFang SC"/>
            </a:endParaRPr>
          </a:p>
          <a:p>
            <a:pPr algn="l"/>
            <a:r>
              <a:rPr lang="zh-CN" altLang="en-US" b="0" i="0" dirty="0">
                <a:solidFill>
                  <a:srgbClr val="E1E3E6"/>
                </a:solidFill>
                <a:effectLst/>
                <a:latin typeface="PingFang SC"/>
              </a:rPr>
              <a:t>假设缓冲区已满，消费者处于睡眠状态。</a:t>
            </a:r>
            <a:br>
              <a:rPr lang="zh-CN" altLang="en-US" dirty="0"/>
            </a:br>
            <a:endParaRPr lang="zh-CN" altLang="en-US" b="0" i="0" dirty="0">
              <a:solidFill>
                <a:srgbClr val="E1E3E6"/>
              </a:solidFill>
              <a:effectLst/>
              <a:latin typeface="PingFang SC"/>
            </a:endParaRPr>
          </a:p>
          <a:p>
            <a:pPr algn="l"/>
            <a:r>
              <a:rPr lang="zh-CN" altLang="en-US" b="0" i="0" dirty="0">
                <a:solidFill>
                  <a:srgbClr val="E1E3E6"/>
                </a:solidFill>
                <a:effectLst/>
                <a:latin typeface="PingFang SC"/>
              </a:rPr>
              <a:t>如果生产者调用</a:t>
            </a:r>
            <a:r>
              <a:rPr lang="en-US" altLang="zh-CN" b="0" i="0" dirty="0">
                <a:solidFill>
                  <a:srgbClr val="E1E3E6"/>
                </a:solidFill>
                <a:effectLst/>
                <a:latin typeface="PingFang SC"/>
              </a:rPr>
              <a:t>enter()</a:t>
            </a:r>
            <a:r>
              <a:rPr lang="zh-CN" altLang="en-US" b="0" i="0" dirty="0">
                <a:solidFill>
                  <a:srgbClr val="E1E3E6"/>
                </a:solidFill>
                <a:effectLst/>
                <a:latin typeface="PingFang SC"/>
              </a:rPr>
              <a:t>，它将被允许继续，因为锁是可用的。当生产者调用</a:t>
            </a:r>
            <a:r>
              <a:rPr lang="en-US" altLang="zh-CN" b="0" i="0" dirty="0">
                <a:solidFill>
                  <a:srgbClr val="E1E3E6"/>
                </a:solidFill>
                <a:effectLst/>
                <a:latin typeface="PingFang SC"/>
              </a:rPr>
              <a:t>enter()</a:t>
            </a:r>
            <a:r>
              <a:rPr lang="zh-CN" altLang="en-US" b="0" i="0" dirty="0">
                <a:solidFill>
                  <a:srgbClr val="E1E3E6"/>
                </a:solidFill>
                <a:effectLst/>
                <a:latin typeface="PingFang SC"/>
              </a:rPr>
              <a:t>时，它看到一个满缓冲区并执行</a:t>
            </a:r>
            <a:r>
              <a:rPr lang="en-US" altLang="zh-CN" b="0" i="0" dirty="0">
                <a:solidFill>
                  <a:srgbClr val="E1E3E6"/>
                </a:solidFill>
                <a:effectLst/>
                <a:latin typeface="PingFang SC"/>
              </a:rPr>
              <a:t>yield()</a:t>
            </a:r>
            <a:r>
              <a:rPr lang="zh-CN" altLang="en-US" b="0" i="0" dirty="0">
                <a:solidFill>
                  <a:srgbClr val="E1E3E6"/>
                </a:solidFill>
                <a:effectLst/>
                <a:latin typeface="PingFang SC"/>
              </a:rPr>
              <a:t>，但它仍然拥有对象的锁。</a:t>
            </a:r>
            <a:br>
              <a:rPr lang="zh-CN" altLang="en-US" dirty="0"/>
            </a:br>
            <a:endParaRPr lang="zh-CN" altLang="en-US" b="0" i="0" dirty="0">
              <a:solidFill>
                <a:srgbClr val="E1E3E6"/>
              </a:solidFill>
              <a:effectLst/>
              <a:latin typeface="PingFang SC"/>
            </a:endParaRPr>
          </a:p>
          <a:p>
            <a:pPr algn="l"/>
            <a:r>
              <a:rPr lang="zh-CN" altLang="en-US" b="0" i="0" dirty="0">
                <a:solidFill>
                  <a:srgbClr val="E1E3E6"/>
                </a:solidFill>
                <a:effectLst/>
                <a:latin typeface="PingFang SC"/>
              </a:rPr>
              <a:t>当消费者唤醒并尝试调用</a:t>
            </a:r>
            <a:r>
              <a:rPr lang="en-US" altLang="zh-CN" b="0" i="0" dirty="0">
                <a:solidFill>
                  <a:srgbClr val="E1E3E6"/>
                </a:solidFill>
                <a:effectLst/>
                <a:latin typeface="PingFang SC"/>
              </a:rPr>
              <a:t>remove()</a:t>
            </a:r>
            <a:r>
              <a:rPr lang="zh-CN" altLang="en-US" b="0" i="0" dirty="0">
                <a:solidFill>
                  <a:srgbClr val="E1E3E6"/>
                </a:solidFill>
                <a:effectLst/>
                <a:latin typeface="PingFang SC"/>
              </a:rPr>
              <a:t>时，它会阻塞，因为它不拥有锁。</a:t>
            </a:r>
            <a:br>
              <a:rPr lang="zh-CN" altLang="en-US" dirty="0"/>
            </a:br>
            <a:endParaRPr lang="zh-CN" altLang="en-US" b="0" i="0" dirty="0">
              <a:solidFill>
                <a:srgbClr val="E1E3E6"/>
              </a:solidFill>
              <a:effectLst/>
              <a:latin typeface="PingFang SC"/>
            </a:endParaRPr>
          </a:p>
          <a:p>
            <a:r>
              <a:rPr lang="zh-CN" altLang="en-US" b="0" i="0" dirty="0">
                <a:solidFill>
                  <a:srgbClr val="E1E3E6"/>
                </a:solidFill>
                <a:effectLst/>
                <a:latin typeface="PingFang SC"/>
              </a:rPr>
              <a:t>这会导致死锁。</a:t>
            </a:r>
            <a:endParaRPr lang="zh-CN" altLang="en-US"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Rectangle 2"/>
          <p:cNvSpPr>
            <a:spLocks noGrp="1" noRot="1" noChangeAspect="1" noTextEdit="1"/>
          </p:cNvSpPr>
          <p:nvPr>
            <p:ph type="sldImg"/>
          </p:nvPr>
        </p:nvSpPr>
        <p:spPr>
          <a:ln/>
        </p:spPr>
      </p:sp>
      <p:sp>
        <p:nvSpPr>
          <p:cNvPr id="203778" name="Rectangle 3"/>
          <p:cNvSpPr>
            <a:spLocks noGrp="1"/>
          </p:cNvSpPr>
          <p:nvPr>
            <p:ph type="body"/>
          </p:nvPr>
        </p:nvSpPr>
        <p:spPr>
          <a:xfrm>
            <a:off x="900113" y="4427538"/>
            <a:ext cx="5100637" cy="4195762"/>
          </a:xfrm>
          <a:ln/>
        </p:spPr>
        <p:txBody>
          <a:bodyPr wrap="none" lIns="90892" tIns="45445" rIns="90892" bIns="45445" anchor="ctr" anchorCtr="0"/>
          <a:lstStyle/>
          <a:p>
            <a:pPr algn="l"/>
            <a:r>
              <a:rPr lang="zh-CN" altLang="en-US" b="0" i="0" dirty="0">
                <a:solidFill>
                  <a:srgbClr val="E1E3E6"/>
                </a:solidFill>
                <a:effectLst/>
                <a:latin typeface="PingFang SC"/>
              </a:rPr>
              <a:t>解决方案</a:t>
            </a:r>
            <a:r>
              <a:rPr lang="en-US" altLang="zh-CN" b="0" i="0" dirty="0">
                <a:solidFill>
                  <a:srgbClr val="E1E3E6"/>
                </a:solidFill>
                <a:effectLst/>
                <a:latin typeface="PingFang SC"/>
              </a:rPr>
              <a:t>:</a:t>
            </a:r>
            <a:endParaRPr lang="zh-CN" altLang="en-US" b="0" i="0" dirty="0">
              <a:solidFill>
                <a:srgbClr val="E1E3E6"/>
              </a:solidFill>
              <a:effectLst/>
              <a:latin typeface="PingFang SC"/>
            </a:endParaRPr>
          </a:p>
          <a:p>
            <a:pPr algn="l"/>
            <a:r>
              <a:rPr lang="zh-CN" altLang="en-US" b="0" i="0" dirty="0">
                <a:solidFill>
                  <a:srgbClr val="E1E3E6"/>
                </a:solidFill>
                <a:effectLst/>
                <a:latin typeface="PingFang SC"/>
              </a:rPr>
              <a:t>    除了拥有锁之外，每个对象还有一个等待集。</a:t>
            </a:r>
            <a:br>
              <a:rPr lang="zh-CN" altLang="en-US" dirty="0"/>
            </a:br>
            <a:r>
              <a:rPr lang="zh-CN" altLang="en-US" b="0" i="0" dirty="0">
                <a:solidFill>
                  <a:srgbClr val="E1E3E6"/>
                </a:solidFill>
                <a:effectLst/>
                <a:latin typeface="PingFang SC"/>
              </a:rPr>
              <a:t>    两个新方法</a:t>
            </a:r>
            <a:r>
              <a:rPr lang="en-US" altLang="zh-CN" b="0" i="0" dirty="0">
                <a:solidFill>
                  <a:srgbClr val="E1E3E6"/>
                </a:solidFill>
                <a:effectLst/>
                <a:latin typeface="PingFang SC"/>
              </a:rPr>
              <a:t>:wait()</a:t>
            </a:r>
            <a:r>
              <a:rPr lang="zh-CN" altLang="en-US" b="0" i="0" dirty="0">
                <a:solidFill>
                  <a:srgbClr val="E1E3E6"/>
                </a:solidFill>
                <a:effectLst/>
                <a:latin typeface="PingFang SC"/>
              </a:rPr>
              <a:t>和</a:t>
            </a:r>
            <a:r>
              <a:rPr lang="en-US" altLang="zh-CN" b="0" i="0" dirty="0">
                <a:solidFill>
                  <a:srgbClr val="E1E3E6"/>
                </a:solidFill>
                <a:effectLst/>
                <a:latin typeface="PingFang SC"/>
              </a:rPr>
              <a:t>notify()</a:t>
            </a:r>
            <a:r>
              <a:rPr lang="zh-CN" altLang="en-US" b="0" i="0" dirty="0">
                <a:solidFill>
                  <a:srgbClr val="E1E3E6"/>
                </a:solidFill>
                <a:effectLst/>
                <a:latin typeface="PingFang SC"/>
              </a:rPr>
              <a:t>。</a:t>
            </a:r>
            <a:br>
              <a:rPr lang="zh-CN" altLang="en-US" dirty="0"/>
            </a:br>
            <a:endParaRPr lang="zh-CN" altLang="en-US" b="0" i="0" dirty="0">
              <a:solidFill>
                <a:srgbClr val="E1E3E6"/>
              </a:solidFill>
              <a:effectLst/>
              <a:latin typeface="PingFang SC"/>
            </a:endParaRPr>
          </a:p>
          <a:p>
            <a:pPr algn="l"/>
            <a:r>
              <a:rPr lang="zh-CN" altLang="en-US" b="0" i="0" dirty="0">
                <a:solidFill>
                  <a:srgbClr val="E1E3E6"/>
                </a:solidFill>
                <a:effectLst/>
                <a:latin typeface="PingFang SC"/>
              </a:rPr>
              <a:t>如果生产者调用</a:t>
            </a:r>
            <a:r>
              <a:rPr lang="en-US" altLang="zh-CN" b="0" i="0" dirty="0">
                <a:solidFill>
                  <a:srgbClr val="E1E3E6"/>
                </a:solidFill>
                <a:effectLst/>
                <a:latin typeface="PingFang SC"/>
              </a:rPr>
              <a:t>enter()</a:t>
            </a:r>
            <a:r>
              <a:rPr lang="zh-CN" altLang="en-US" b="0" i="0" dirty="0">
                <a:solidFill>
                  <a:srgbClr val="E1E3E6"/>
                </a:solidFill>
                <a:effectLst/>
                <a:latin typeface="PingFang SC"/>
              </a:rPr>
              <a:t>并且缓冲区已满，它将通过调用</a:t>
            </a:r>
            <a:r>
              <a:rPr lang="en-US" altLang="zh-CN" b="0" i="0" dirty="0">
                <a:solidFill>
                  <a:srgbClr val="E1E3E6"/>
                </a:solidFill>
                <a:effectLst/>
                <a:latin typeface="PingFang SC"/>
              </a:rPr>
              <a:t>wait()</a:t>
            </a:r>
            <a:r>
              <a:rPr lang="zh-CN" altLang="en-US" b="0" i="0" dirty="0">
                <a:solidFill>
                  <a:srgbClr val="E1E3E6"/>
                </a:solidFill>
                <a:effectLst/>
                <a:latin typeface="PingFang SC"/>
              </a:rPr>
              <a:t>释放锁，并进入对象的等待集。</a:t>
            </a:r>
            <a:br>
              <a:rPr lang="zh-CN" altLang="en-US" dirty="0"/>
            </a:br>
            <a:endParaRPr lang="zh-CN" altLang="en-US" b="0" i="0" dirty="0">
              <a:solidFill>
                <a:srgbClr val="E1E3E6"/>
              </a:solidFill>
              <a:effectLst/>
              <a:latin typeface="PingFang SC"/>
            </a:endParaRPr>
          </a:p>
          <a:p>
            <a:r>
              <a:rPr lang="zh-CN" altLang="en-US" b="0" i="0" dirty="0">
                <a:solidFill>
                  <a:srgbClr val="E1E3E6"/>
                </a:solidFill>
                <a:effectLst/>
                <a:latin typeface="PingFang SC"/>
              </a:rPr>
              <a:t>因此，消费者可以获取锁并调用</a:t>
            </a:r>
            <a:r>
              <a:rPr lang="en-US" altLang="zh-CN" b="0" i="0" dirty="0">
                <a:solidFill>
                  <a:srgbClr val="E1E3E6"/>
                </a:solidFill>
                <a:effectLst/>
                <a:latin typeface="PingFang SC"/>
              </a:rPr>
              <a:t>remove()</a:t>
            </a:r>
            <a:r>
              <a:rPr lang="zh-CN" altLang="en-US" b="0" i="0" dirty="0">
                <a:solidFill>
                  <a:srgbClr val="E1E3E6"/>
                </a:solidFill>
                <a:effectLst/>
                <a:latin typeface="PingFang SC"/>
              </a:rPr>
              <a:t>，然后通过</a:t>
            </a:r>
            <a:r>
              <a:rPr lang="en-US" altLang="zh-CN" b="0" i="0" dirty="0">
                <a:solidFill>
                  <a:srgbClr val="E1E3E6"/>
                </a:solidFill>
                <a:effectLst/>
                <a:latin typeface="PingFang SC"/>
              </a:rPr>
              <a:t>notify()</a:t>
            </a:r>
            <a:r>
              <a:rPr lang="zh-CN" altLang="en-US" b="0" i="0" dirty="0">
                <a:solidFill>
                  <a:srgbClr val="E1E3E6"/>
                </a:solidFill>
                <a:effectLst/>
                <a:latin typeface="PingFang SC"/>
              </a:rPr>
              <a:t>唤醒生产者。</a:t>
            </a:r>
            <a:endParaRPr lang="zh-CN" altLang="en-US"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Rectangle 2"/>
          <p:cNvSpPr>
            <a:spLocks noGrp="1" noRot="1" noChangeAspect="1" noTextEdit="1"/>
          </p:cNvSpPr>
          <p:nvPr>
            <p:ph type="sldImg"/>
          </p:nvPr>
        </p:nvSpPr>
        <p:spPr>
          <a:ln/>
        </p:spPr>
      </p:sp>
      <p:sp>
        <p:nvSpPr>
          <p:cNvPr id="206850"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en-US"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Rectangle 2"/>
          <p:cNvSpPr>
            <a:spLocks noGrp="1" noRot="1" noChangeAspect="1" noTextEdit="1"/>
          </p:cNvSpPr>
          <p:nvPr>
            <p:ph type="sldImg"/>
          </p:nvPr>
        </p:nvSpPr>
        <p:spPr>
          <a:ln/>
        </p:spPr>
      </p:sp>
      <p:sp>
        <p:nvSpPr>
          <p:cNvPr id="208898"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en-US" sz="1000"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Rectangle 2"/>
          <p:cNvSpPr>
            <a:spLocks noGrp="1" noRot="1" noChangeAspect="1" noTextEdit="1"/>
          </p:cNvSpPr>
          <p:nvPr>
            <p:ph type="sldImg"/>
          </p:nvPr>
        </p:nvSpPr>
        <p:spPr>
          <a:ln/>
        </p:spPr>
      </p:sp>
      <p:sp>
        <p:nvSpPr>
          <p:cNvPr id="212994"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en-US"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Rectangle 7"/>
          <p:cNvSpPr txBox="1">
            <a:spLocks noGrp="1"/>
          </p:cNvSpPr>
          <p:nvPr/>
        </p:nvSpPr>
        <p:spPr>
          <a:xfrm>
            <a:off x="3900488" y="8831263"/>
            <a:ext cx="2981325" cy="465137"/>
          </a:xfrm>
          <a:prstGeom prst="rect">
            <a:avLst/>
          </a:prstGeom>
          <a:noFill/>
          <a:ln w="9525">
            <a:noFill/>
          </a:ln>
        </p:spPr>
        <p:txBody>
          <a:bodyPr wrap="none" lIns="92446" tIns="46223" rIns="92446" bIns="46223" anchor="b" anchorCtr="0"/>
          <a:lstStyle/>
          <a:p>
            <a:pPr lvl="0" algn="r" defTabSz="923925"/>
            <a:fld id="{9A0DB2DC-4C9A-4742-B13C-FB6460FD3503}" type="slidenum">
              <a:rPr lang="zh-CN" altLang="en-US" sz="1200" dirty="0">
                <a:latin typeface="Times New Roman" panose="02020603050405020304" pitchFamily="18" charset="0"/>
                <a:ea typeface="宋体" panose="02010600030101010101" pitchFamily="2" charset="-122"/>
              </a:rPr>
              <a:t>155</a:t>
            </a:fld>
            <a:endParaRPr lang="zh-CN" altLang="en-US" sz="1200" dirty="0">
              <a:latin typeface="Times New Roman" panose="02020603050405020304" pitchFamily="18" charset="0"/>
              <a:ea typeface="宋体" panose="02010600030101010101" pitchFamily="2" charset="-122"/>
            </a:endParaRPr>
          </a:p>
        </p:txBody>
      </p:sp>
      <p:sp>
        <p:nvSpPr>
          <p:cNvPr id="215042" name="Rectangle 2"/>
          <p:cNvSpPr>
            <a:spLocks noGrp="1" noRot="1" noChangeAspect="1" noTextEdit="1"/>
          </p:cNvSpPr>
          <p:nvPr>
            <p:ph type="sldImg"/>
          </p:nvPr>
        </p:nvSpPr>
        <p:spPr>
          <a:xfrm>
            <a:off x="1117600" y="696913"/>
            <a:ext cx="4648200" cy="3486150"/>
          </a:xfrm>
          <a:ln/>
        </p:spPr>
      </p:sp>
      <p:sp>
        <p:nvSpPr>
          <p:cNvPr id="215043" name="Rectangle 3"/>
          <p:cNvSpPr>
            <a:spLocks noGrp="1"/>
          </p:cNvSpPr>
          <p:nvPr>
            <p:ph type="body"/>
          </p:nvPr>
        </p:nvSpPr>
        <p:spPr>
          <a:xfrm>
            <a:off x="917575" y="4416425"/>
            <a:ext cx="5046663" cy="4183063"/>
          </a:xfrm>
          <a:ln/>
        </p:spPr>
        <p:txBody>
          <a:bodyPr wrap="none" lIns="92446" tIns="46223" rIns="92446" bIns="46223" anchor="ctr" anchorCtr="0"/>
          <a:lstStyle/>
          <a:p>
            <a:pPr lvl="0" eaLnBrk="1" hangingPunct="1"/>
            <a:endParaRPr lang="zh-CN" altLang="en-US"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09" name="Rectangle 7"/>
          <p:cNvSpPr txBox="1">
            <a:spLocks noGrp="1"/>
          </p:cNvSpPr>
          <p:nvPr/>
        </p:nvSpPr>
        <p:spPr>
          <a:xfrm>
            <a:off x="3900488" y="8831263"/>
            <a:ext cx="2981325" cy="465137"/>
          </a:xfrm>
          <a:prstGeom prst="rect">
            <a:avLst/>
          </a:prstGeom>
          <a:noFill/>
          <a:ln w="9525">
            <a:noFill/>
          </a:ln>
        </p:spPr>
        <p:txBody>
          <a:bodyPr wrap="none" lIns="92446" tIns="46223" rIns="92446" bIns="46223" anchor="b" anchorCtr="0"/>
          <a:lstStyle/>
          <a:p>
            <a:pPr lvl="0" algn="r" defTabSz="923925"/>
            <a:fld id="{9A0DB2DC-4C9A-4742-B13C-FB6460FD3503}" type="slidenum">
              <a:rPr lang="zh-CN" altLang="en-US" sz="1200" dirty="0">
                <a:latin typeface="Times New Roman" panose="02020603050405020304" pitchFamily="18" charset="0"/>
                <a:ea typeface="宋体" panose="02010600030101010101" pitchFamily="2" charset="-122"/>
              </a:rPr>
              <a:t>161</a:t>
            </a:fld>
            <a:endParaRPr lang="zh-CN" altLang="en-US" sz="1200" dirty="0">
              <a:latin typeface="Times New Roman" panose="02020603050405020304" pitchFamily="18" charset="0"/>
              <a:ea typeface="宋体" panose="02010600030101010101" pitchFamily="2" charset="-122"/>
            </a:endParaRPr>
          </a:p>
        </p:txBody>
      </p:sp>
      <p:sp>
        <p:nvSpPr>
          <p:cNvPr id="222210" name="Rectangle 2"/>
          <p:cNvSpPr>
            <a:spLocks noGrp="1" noRot="1" noChangeAspect="1" noTextEdit="1"/>
          </p:cNvSpPr>
          <p:nvPr>
            <p:ph type="sldImg"/>
          </p:nvPr>
        </p:nvSpPr>
        <p:spPr>
          <a:xfrm>
            <a:off x="1117600" y="696913"/>
            <a:ext cx="4648200" cy="3486150"/>
          </a:xfrm>
          <a:ln/>
        </p:spPr>
      </p:sp>
      <p:sp>
        <p:nvSpPr>
          <p:cNvPr id="222211" name="Rectangle 3"/>
          <p:cNvSpPr>
            <a:spLocks noGrp="1"/>
          </p:cNvSpPr>
          <p:nvPr>
            <p:ph type="body"/>
          </p:nvPr>
        </p:nvSpPr>
        <p:spPr>
          <a:xfrm>
            <a:off x="917575" y="4416425"/>
            <a:ext cx="5046663" cy="4183063"/>
          </a:xfrm>
          <a:ln/>
        </p:spPr>
        <p:txBody>
          <a:bodyPr wrap="none" lIns="92446" tIns="46223" rIns="92446" bIns="46223" anchor="ctr" anchorCtr="0"/>
          <a:lstStyle/>
          <a:p>
            <a:pPr lvl="0" eaLnBrk="1" hangingPunct="1"/>
            <a:endParaRPr lang="en-US" altLang="zh-CN"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7" name="Rectangle 7"/>
          <p:cNvSpPr txBox="1">
            <a:spLocks noGrp="1"/>
          </p:cNvSpPr>
          <p:nvPr/>
        </p:nvSpPr>
        <p:spPr>
          <a:xfrm>
            <a:off x="3900488" y="8831263"/>
            <a:ext cx="2981325" cy="465137"/>
          </a:xfrm>
          <a:prstGeom prst="rect">
            <a:avLst/>
          </a:prstGeom>
          <a:noFill/>
          <a:ln w="9525">
            <a:noFill/>
          </a:ln>
        </p:spPr>
        <p:txBody>
          <a:bodyPr wrap="none" lIns="92446" tIns="46223" rIns="92446" bIns="46223" anchor="b" anchorCtr="0"/>
          <a:lstStyle/>
          <a:p>
            <a:pPr lvl="0" algn="r" defTabSz="923925"/>
            <a:fld id="{9A0DB2DC-4C9A-4742-B13C-FB6460FD3503}" type="slidenum">
              <a:rPr lang="zh-CN" altLang="en-US" sz="1200" dirty="0">
                <a:latin typeface="Times New Roman" panose="02020603050405020304" pitchFamily="18" charset="0"/>
                <a:ea typeface="宋体" panose="02010600030101010101" pitchFamily="2" charset="-122"/>
              </a:rPr>
              <a:t>162</a:t>
            </a:fld>
            <a:endParaRPr lang="zh-CN" altLang="en-US" sz="1200" dirty="0">
              <a:latin typeface="Times New Roman" panose="02020603050405020304" pitchFamily="18" charset="0"/>
              <a:ea typeface="宋体" panose="02010600030101010101" pitchFamily="2" charset="-122"/>
            </a:endParaRPr>
          </a:p>
        </p:txBody>
      </p:sp>
      <p:sp>
        <p:nvSpPr>
          <p:cNvPr id="224258" name="Rectangle 2"/>
          <p:cNvSpPr>
            <a:spLocks noGrp="1" noRot="1" noChangeAspect="1" noTextEdit="1"/>
          </p:cNvSpPr>
          <p:nvPr>
            <p:ph type="sldImg"/>
          </p:nvPr>
        </p:nvSpPr>
        <p:spPr>
          <a:xfrm>
            <a:off x="1117600" y="696913"/>
            <a:ext cx="4648200" cy="3486150"/>
          </a:xfrm>
          <a:ln/>
        </p:spPr>
      </p:sp>
      <p:sp>
        <p:nvSpPr>
          <p:cNvPr id="224259" name="Rectangle 3"/>
          <p:cNvSpPr>
            <a:spLocks noGrp="1"/>
          </p:cNvSpPr>
          <p:nvPr>
            <p:ph type="body"/>
          </p:nvPr>
        </p:nvSpPr>
        <p:spPr>
          <a:xfrm>
            <a:off x="917575" y="4416425"/>
            <a:ext cx="5046663" cy="4183063"/>
          </a:xfrm>
          <a:ln/>
        </p:spPr>
        <p:txBody>
          <a:bodyPr wrap="none" lIns="92446" tIns="46223" rIns="92446" bIns="46223" anchor="ctr" anchorCtr="0"/>
          <a:lstStyle/>
          <a:p>
            <a:pPr lvl="0" eaLnBrk="1" hangingPunct="1"/>
            <a:endParaRPr lang="zh-CN" altLang="en-US"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7" name="Rectangle 2"/>
          <p:cNvSpPr>
            <a:spLocks noGrp="1" noRot="1" noChangeAspect="1" noTextEdit="1"/>
          </p:cNvSpPr>
          <p:nvPr>
            <p:ph type="sldImg"/>
          </p:nvPr>
        </p:nvSpPr>
        <p:spPr>
          <a:ln/>
        </p:spPr>
      </p:sp>
      <p:sp>
        <p:nvSpPr>
          <p:cNvPr id="229378" name="Rectangle 3"/>
          <p:cNvSpPr>
            <a:spLocks noGrp="1"/>
          </p:cNvSpPr>
          <p:nvPr>
            <p:ph type="body"/>
          </p:nvPr>
        </p:nvSpPr>
        <p:spPr>
          <a:xfrm>
            <a:off x="900113" y="4427538"/>
            <a:ext cx="5100637" cy="4195762"/>
          </a:xfrm>
          <a:ln/>
        </p:spPr>
        <p:txBody>
          <a:bodyPr wrap="none" lIns="90892" tIns="45445" rIns="90892" bIns="45445" anchor="ctr" anchorCtr="0"/>
          <a:lstStyle/>
          <a:p>
            <a:pPr lvl="0"/>
            <a:r>
              <a:rPr lang="zh-CN" altLang="en-US" b="0" i="0" dirty="0">
                <a:solidFill>
                  <a:srgbClr val="E1E3E6"/>
                </a:solidFill>
                <a:effectLst/>
                <a:latin typeface="PingFang SC"/>
              </a:rPr>
              <a:t>拥有对象锁的线程可以为同一对象进入另一个同步方法。</a:t>
            </a:r>
            <a:endParaRPr lang="en-US" altLang="zh-CN" b="0" i="0" dirty="0">
              <a:solidFill>
                <a:srgbClr val="E1E3E6"/>
              </a:solidFill>
              <a:effectLst/>
              <a:latin typeface="PingFang SC"/>
            </a:endParaRPr>
          </a:p>
          <a:p>
            <a:pPr lvl="0"/>
            <a:endParaRPr lang="en-US" altLang="zh-CN" b="0" i="0" dirty="0">
              <a:solidFill>
                <a:srgbClr val="E1E3E6"/>
              </a:solidFill>
              <a:effectLst/>
              <a:latin typeface="PingFang SC"/>
            </a:endParaRPr>
          </a:p>
          <a:p>
            <a:pPr lvl="0"/>
            <a:r>
              <a:rPr lang="zh-CN" altLang="en-US" b="0" i="0" dirty="0">
                <a:solidFill>
                  <a:srgbClr val="E1E3E6"/>
                </a:solidFill>
                <a:effectLst/>
                <a:latin typeface="PingFang SC"/>
              </a:rPr>
              <a:t>线程可以嵌套不同对象的同步方法调用。因此，一个线程可以同时拥有几个不同对象的锁</a:t>
            </a:r>
            <a:endParaRPr lang="zh-CN" altLang="en-US"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5" name="Rectangle 2"/>
          <p:cNvSpPr>
            <a:spLocks noGrp="1" noRot="1" noChangeAspect="1" noTextEdit="1"/>
          </p:cNvSpPr>
          <p:nvPr>
            <p:ph type="sldImg"/>
          </p:nvPr>
        </p:nvSpPr>
        <p:spPr>
          <a:ln/>
        </p:spPr>
      </p:sp>
      <p:sp>
        <p:nvSpPr>
          <p:cNvPr id="231426" name="Rectangle 3"/>
          <p:cNvSpPr>
            <a:spLocks noGrp="1"/>
          </p:cNvSpPr>
          <p:nvPr>
            <p:ph type="body"/>
          </p:nvPr>
        </p:nvSpPr>
        <p:spPr>
          <a:xfrm>
            <a:off x="900113" y="4427538"/>
            <a:ext cx="5100637" cy="4195762"/>
          </a:xfrm>
          <a:ln/>
        </p:spPr>
        <p:txBody>
          <a:bodyPr wrap="none" lIns="90892" tIns="45445" rIns="90892" bIns="45445" anchor="ctr" anchorCtr="0"/>
          <a:lstStyle/>
          <a:p>
            <a:pPr algn="l"/>
            <a:r>
              <a:rPr lang="zh-CN" altLang="en-US" b="0" i="0" dirty="0">
                <a:solidFill>
                  <a:srgbClr val="E1E3E6"/>
                </a:solidFill>
                <a:effectLst/>
                <a:latin typeface="PingFang SC"/>
              </a:rPr>
              <a:t>如果一个方法没有被声明为同步的，那么不管锁的所有权如何，它都可以被调用，即使是在同一对象的另一个同步方法正在执行的时候。</a:t>
            </a:r>
            <a:br>
              <a:rPr lang="zh-CN" altLang="en-US" dirty="0"/>
            </a:br>
            <a:endParaRPr lang="zh-CN" altLang="en-US" b="0" i="0" dirty="0">
              <a:solidFill>
                <a:srgbClr val="E1E3E6"/>
              </a:solidFill>
              <a:effectLst/>
              <a:latin typeface="PingFang SC"/>
            </a:endParaRPr>
          </a:p>
          <a:p>
            <a:r>
              <a:rPr lang="zh-CN" altLang="en-US" b="0" i="0" dirty="0">
                <a:solidFill>
                  <a:srgbClr val="E1E3E6"/>
                </a:solidFill>
                <a:effectLst/>
                <a:latin typeface="PingFang SC"/>
              </a:rPr>
              <a:t>如果对象的等待集为空，则调用</a:t>
            </a:r>
            <a:r>
              <a:rPr lang="en-US" altLang="zh-CN" b="0" i="0" dirty="0">
                <a:solidFill>
                  <a:srgbClr val="E1E3E6"/>
                </a:solidFill>
                <a:effectLst/>
                <a:latin typeface="PingFang SC"/>
              </a:rPr>
              <a:t>notify()</a:t>
            </a:r>
            <a:r>
              <a:rPr lang="zh-CN" altLang="en-US" b="0" i="0" dirty="0">
                <a:solidFill>
                  <a:srgbClr val="E1E3E6"/>
                </a:solidFill>
                <a:effectLst/>
                <a:latin typeface="PingFang SC"/>
              </a:rPr>
              <a:t>或</a:t>
            </a:r>
            <a:r>
              <a:rPr lang="en-US" altLang="zh-CN" b="0" i="0" dirty="0" err="1">
                <a:solidFill>
                  <a:srgbClr val="E1E3E6"/>
                </a:solidFill>
                <a:effectLst/>
                <a:latin typeface="PingFang SC"/>
              </a:rPr>
              <a:t>notifyall</a:t>
            </a:r>
            <a:r>
              <a:rPr lang="en-US" altLang="zh-CN" b="0" i="0" dirty="0">
                <a:solidFill>
                  <a:srgbClr val="E1E3E6"/>
                </a:solidFill>
                <a:effectLst/>
                <a:latin typeface="PingFang SC"/>
              </a:rPr>
              <a:t>()</a:t>
            </a:r>
            <a:r>
              <a:rPr lang="zh-CN" altLang="en-US" b="0" i="0" dirty="0">
                <a:solidFill>
                  <a:srgbClr val="E1E3E6"/>
                </a:solidFill>
                <a:effectLst/>
                <a:latin typeface="PingFang SC"/>
              </a:rPr>
              <a:t>不起作用。</a:t>
            </a:r>
            <a:endParaRPr lang="zh-CN" altLang="en-US"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365509819"/>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7" name="Rectangle 7"/>
          <p:cNvSpPr txBox="1">
            <a:spLocks noGrp="1"/>
          </p:cNvSpPr>
          <p:nvPr>
            <p:ph type="sldNum" sz="quarter"/>
          </p:nvPr>
        </p:nvSpPr>
        <p:spPr>
          <a:xfrm>
            <a:off x="3900488" y="8853488"/>
            <a:ext cx="3000375" cy="457200"/>
          </a:xfrm>
          <a:prstGeom prst="rect">
            <a:avLst/>
          </a:prstGeom>
          <a:noFill/>
          <a:ln w="9525">
            <a:noFill/>
          </a:ln>
        </p:spPr>
        <p:txBody>
          <a:bodyPr vert="horz" wrap="none" lIns="90892" tIns="45445" rIns="90892" bIns="45445" anchor="b" anchorCtr="0"/>
          <a:lstStyle/>
          <a:p>
            <a:pPr lvl="0" algn="r" defTabSz="908050"/>
            <a:fld id="{9A0DB2DC-4C9A-4742-B13C-FB6460FD3503}" type="slidenum">
              <a:rPr lang="zh-CN" altLang="en-US" sz="1200" dirty="0">
                <a:latin typeface="Helvetica" pitchFamily="34" charset="0"/>
                <a:ea typeface="MS PGothic" panose="020B0600070205080204" pitchFamily="34" charset="-128"/>
              </a:rPr>
              <a:t>172</a:t>
            </a:fld>
            <a:endParaRPr lang="zh-CN" altLang="en-US" sz="1200" dirty="0">
              <a:latin typeface="Helvetica" pitchFamily="34" charset="0"/>
              <a:ea typeface="MS PGothic" panose="020B0600070205080204" pitchFamily="34" charset="-128"/>
            </a:endParaRPr>
          </a:p>
        </p:txBody>
      </p:sp>
      <p:sp>
        <p:nvSpPr>
          <p:cNvPr id="234498" name="Rectangle 2"/>
          <p:cNvSpPr>
            <a:spLocks noGrp="1" noRot="1" noChangeAspect="1" noTextEdit="1"/>
          </p:cNvSpPr>
          <p:nvPr>
            <p:ph type="sldImg"/>
          </p:nvPr>
        </p:nvSpPr>
        <p:spPr>
          <a:ln/>
        </p:spPr>
      </p:sp>
      <p:sp>
        <p:nvSpPr>
          <p:cNvPr id="234499" name="Rectangle 3"/>
          <p:cNvSpPr>
            <a:spLocks noGrp="1"/>
          </p:cNvSpPr>
          <p:nvPr>
            <p:ph type="body"/>
          </p:nvPr>
        </p:nvSpPr>
        <p:spPr>
          <a:xfrm>
            <a:off x="900113" y="4427538"/>
            <a:ext cx="5100637" cy="4195762"/>
          </a:xfrm>
          <a:ln/>
        </p:spPr>
        <p:txBody>
          <a:bodyPr wrap="none" lIns="90892" tIns="45445" rIns="90892" bIns="45445" anchor="ctr" anchorCtr="0"/>
          <a:lstStyle/>
          <a:p>
            <a:pPr lvl="0"/>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3074" name="Group 3"/>
          <p:cNvGrpSpPr/>
          <p:nvPr/>
        </p:nvGrpSpPr>
        <p:grpSpPr>
          <a:xfrm>
            <a:off x="198438" y="2960688"/>
            <a:ext cx="8610600" cy="201612"/>
            <a:chOff x="125" y="1865"/>
            <a:chExt cx="5424" cy="127"/>
          </a:xfrm>
        </p:grpSpPr>
        <p:sp>
          <p:nvSpPr>
            <p:cNvPr id="14" name="Rectangle 4"/>
            <p:cNvSpPr>
              <a:spLocks noChangeArrowheads="1"/>
            </p:cNvSpPr>
            <p:nvPr/>
          </p:nvSpPr>
          <p:spPr bwMode="auto">
            <a:xfrm>
              <a:off x="125" y="1865"/>
              <a:ext cx="1808" cy="127"/>
            </a:xfrm>
            <a:prstGeom prst="rect">
              <a:avLst/>
            </a:prstGeom>
            <a:solidFill>
              <a:srgbClr val="336699"/>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sp>
          <p:nvSpPr>
            <p:cNvPr id="15" name="Rectangle 5"/>
            <p:cNvSpPr>
              <a:spLocks noChangeArrowheads="1"/>
            </p:cNvSpPr>
            <p:nvPr/>
          </p:nvSpPr>
          <p:spPr bwMode="auto">
            <a:xfrm>
              <a:off x="1933" y="1865"/>
              <a:ext cx="1808" cy="127"/>
            </a:xfrm>
            <a:prstGeom prst="rect">
              <a:avLst/>
            </a:prstGeom>
            <a:solidFill>
              <a:srgbClr val="99CCFF"/>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sp>
          <p:nvSpPr>
            <p:cNvPr id="16" name="Rectangle 6"/>
            <p:cNvSpPr>
              <a:spLocks noChangeArrowheads="1"/>
            </p:cNvSpPr>
            <p:nvPr/>
          </p:nvSpPr>
          <p:spPr bwMode="auto">
            <a:xfrm>
              <a:off x="3741" y="1865"/>
              <a:ext cx="1808" cy="127"/>
            </a:xfrm>
            <a:prstGeom prst="rect">
              <a:avLst/>
            </a:prstGeom>
            <a:solidFill>
              <a:srgbClr val="336699"/>
            </a:soli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grpSp>
      <p:sp>
        <p:nvSpPr>
          <p:cNvPr id="17" name="Text Box 7"/>
          <p:cNvSpPr txBox="1">
            <a:spLocks noChangeArrowheads="1"/>
          </p:cNvSpPr>
          <p:nvPr/>
        </p:nvSpPr>
        <p:spPr bwMode="auto">
          <a:xfrm>
            <a:off x="6489700" y="6588125"/>
            <a:ext cx="2713038" cy="244475"/>
          </a:xfrm>
          <a:prstGeom prst="rect">
            <a:avLst/>
          </a:prstGeom>
          <a:noFill/>
          <a:ln w="9525">
            <a:noFill/>
            <a:miter lim="800000"/>
          </a:ln>
          <a:effectLst/>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1000" b="1" i="0" u="none" strike="noStrike" kern="1200" cap="none" spc="0" normalizeH="0" baseline="0" noProof="0">
                <a:ln>
                  <a:noFill/>
                </a:ln>
                <a:solidFill>
                  <a:srgbClr val="336699"/>
                </a:solidFill>
                <a:effectLst/>
                <a:uLnTx/>
                <a:uFillTx/>
                <a:latin typeface="Helvetica" pitchFamily="34" charset="0"/>
                <a:ea typeface="MS PGothic" panose="020B0600070205080204" pitchFamily="34" charset="-128"/>
                <a:cs typeface="+mn-cs"/>
              </a:rPr>
              <a:t>Silberschatz, Galvin and Gagne ©2009</a:t>
            </a:r>
          </a:p>
        </p:txBody>
      </p:sp>
      <p:sp>
        <p:nvSpPr>
          <p:cNvPr id="18" name="Text Box 8"/>
          <p:cNvSpPr txBox="1">
            <a:spLocks noChangeArrowheads="1"/>
          </p:cNvSpPr>
          <p:nvPr/>
        </p:nvSpPr>
        <p:spPr bwMode="auto">
          <a:xfrm>
            <a:off x="26988" y="6613525"/>
            <a:ext cx="2670175" cy="244475"/>
          </a:xfrm>
          <a:prstGeom prst="rect">
            <a:avLst/>
          </a:prstGeom>
          <a:noFill/>
          <a:ln w="9525">
            <a:noFill/>
            <a:miter lim="800000"/>
          </a:ln>
          <a:effectLst/>
        </p:spPr>
        <p:txBody>
          <a:bodyPr wrap="none">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1000" b="1" i="0" u="none" strike="noStrike" kern="1200" cap="none" spc="0" normalizeH="0" baseline="0" noProof="0">
                <a:ln>
                  <a:noFill/>
                </a:ln>
                <a:solidFill>
                  <a:srgbClr val="336699"/>
                </a:solidFill>
                <a:effectLst/>
                <a:uLnTx/>
                <a:uFillTx/>
                <a:latin typeface="Helvetica" pitchFamily="34" charset="0"/>
                <a:ea typeface="MS PGothic" panose="020B0600070205080204" pitchFamily="34" charset="-128"/>
                <a:cs typeface="+mn-cs"/>
              </a:rPr>
              <a:t>Operating System Concepts – 8</a:t>
            </a:r>
            <a:r>
              <a:rPr kumimoji="0" lang="en-US" altLang="zh-CN" sz="1000" b="1" i="0" u="none" strike="noStrike" kern="1200" cap="none" spc="0" normalizeH="0" baseline="30000" noProof="0">
                <a:ln>
                  <a:noFill/>
                </a:ln>
                <a:solidFill>
                  <a:srgbClr val="336699"/>
                </a:solidFill>
                <a:effectLst/>
                <a:uLnTx/>
                <a:uFillTx/>
                <a:latin typeface="Helvetica" pitchFamily="34" charset="0"/>
                <a:ea typeface="MS PGothic" panose="020B0600070205080204" pitchFamily="34" charset="-128"/>
                <a:cs typeface="+mn-cs"/>
              </a:rPr>
              <a:t>th</a:t>
            </a:r>
            <a:r>
              <a:rPr kumimoji="0" lang="en-US" altLang="zh-CN" sz="1000" b="1" i="0" u="none" strike="noStrike" kern="1200" cap="none" spc="0" normalizeH="0" baseline="0" noProof="0">
                <a:ln>
                  <a:noFill/>
                </a:ln>
                <a:solidFill>
                  <a:srgbClr val="336699"/>
                </a:solidFill>
                <a:effectLst/>
                <a:uLnTx/>
                <a:uFillTx/>
                <a:latin typeface="Helvetica" pitchFamily="34" charset="0"/>
                <a:ea typeface="MS PGothic" panose="020B0600070205080204" pitchFamily="34" charset="-128"/>
                <a:cs typeface="+mn-cs"/>
              </a:rPr>
              <a:t> Edition,</a:t>
            </a:r>
          </a:p>
        </p:txBody>
      </p:sp>
      <p:pic>
        <p:nvPicPr>
          <p:cNvPr id="3080" name="Picture 9" descr="dino_4"/>
          <p:cNvPicPr>
            <a:picLocks noChangeAspect="1"/>
          </p:cNvPicPr>
          <p:nvPr/>
        </p:nvPicPr>
        <p:blipFill>
          <a:blip r:embed="rId2"/>
          <a:stretch>
            <a:fillRect/>
          </a:stretch>
        </p:blipFill>
        <p:spPr>
          <a:xfrm>
            <a:off x="3360738" y="4157663"/>
            <a:ext cx="2062162" cy="1593850"/>
          </a:xfrm>
          <a:prstGeom prst="rect">
            <a:avLst/>
          </a:prstGeom>
          <a:noFill/>
          <a:ln w="76200" cap="flat" cmpd="sng">
            <a:solidFill>
              <a:srgbClr val="336699"/>
            </a:solidFill>
            <a:prstDash val="solid"/>
            <a:miter/>
            <a:headEnd type="none" w="med" len="med"/>
            <a:tailEnd type="none" w="med" len="med"/>
          </a:ln>
        </p:spPr>
      </p:pic>
      <p:sp>
        <p:nvSpPr>
          <p:cNvPr id="20" name="Rectangle 10"/>
          <p:cNvSpPr>
            <a:spLocks noChangeArrowheads="1"/>
          </p:cNvSpPr>
          <p:nvPr/>
        </p:nvSpPr>
        <p:spPr bwMode="auto">
          <a:xfrm>
            <a:off x="3243263" y="4006850"/>
            <a:ext cx="2336800" cy="1887538"/>
          </a:xfrm>
          <a:prstGeom prst="rect">
            <a:avLst/>
          </a:prstGeom>
          <a:noFill/>
          <a:ln w="57150" cmpd="thinThick">
            <a:solidFill>
              <a:srgbClr val="66CCFF"/>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sp>
        <p:nvSpPr>
          <p:cNvPr id="147458" name="Rectangle 2"/>
          <p:cNvSpPr>
            <a:spLocks noGrp="1" noChangeArrowheads="1"/>
          </p:cNvSpPr>
          <p:nvPr>
            <p:ph type="ctrTitle"/>
          </p:nvPr>
        </p:nvSpPr>
        <p:spPr>
          <a:xfrm>
            <a:off x="685800" y="685800"/>
            <a:ext cx="7772400" cy="2127250"/>
          </a:xfrm>
        </p:spPr>
        <p:txBody>
          <a:bodyPr/>
          <a:lstStyle>
            <a:lvl1pPr>
              <a:defRPr sz="4300"/>
            </a:lvl1pPr>
          </a:lstStyle>
          <a:p>
            <a:pPr fontAlgn="base"/>
            <a:r>
              <a:rPr lang="en-US" strike="noStrike" noProof="1"/>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Content Placeholder 2"/>
          <p:cNvSpPr>
            <a:spLocks noGrp="1"/>
          </p:cNvSpPr>
          <p:nvPr>
            <p:ph idx="1"/>
          </p:nvPr>
        </p:nvSpPr>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pPr fontAlgn="base"/>
            <a:r>
              <a:rPr lang="en-US" strike="noStrike" noProof="1"/>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en-US" strike="noStrike" noProof="1"/>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pPr fontAlgn="base"/>
            <a:r>
              <a:rPr lang="en-US" strike="noStrike" noProof="1"/>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pPr fontAlgn="base"/>
            <a:r>
              <a:rPr lang="en-US" strike="noStrike" noProof="1"/>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en-US" strike="noStrike" noProof="1"/>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pPr fontAlgn="base"/>
            <a:r>
              <a:rPr lang="en-US" strike="noStrike" noProof="1"/>
              <a:t>Click to edit Master title style</a:t>
            </a:r>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charset="2"/>
              <a:buNone/>
              <a:defRPr/>
            </a:pPr>
            <a:endParaRPr kumimoji="1" lang="en-US" sz="3200" b="0" i="0" u="none" strike="noStrike" kern="0" cap="none" spc="0" normalizeH="0" baseline="0" noProof="0">
              <a:ln>
                <a:noFill/>
              </a:ln>
              <a:solidFill>
                <a:schemeClr val="tx1"/>
              </a:solidFill>
              <a:effectLst/>
              <a:uLnTx/>
              <a:uFillTx/>
              <a:latin typeface="+mn-lt"/>
              <a:ea typeface="MS PGothic" panose="020B0600070205080204" pitchFamily="34" charset="-128"/>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en-US" strike="noStrike" noProof="1"/>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Vertical Text Placeholder 2"/>
          <p:cNvSpPr>
            <a:spLocks noGrp="1"/>
          </p:cNvSpPr>
          <p:nvPr>
            <p:ph type="body" orient="vert" idx="1"/>
          </p:nvPr>
        </p:nvSpPr>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pPr fontAlgn="base"/>
            <a:r>
              <a:rPr lang="en-US" strike="noStrike" noProof="1"/>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228600"/>
            <a:ext cx="8077200" cy="6096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827088" y="1282700"/>
            <a:ext cx="3598862" cy="44831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578350" y="1282700"/>
            <a:ext cx="3600450" cy="44831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p:cNvPicPr>
            <a:picLocks noChangeAspect="1"/>
          </p:cNvPicPr>
          <p:nvPr/>
        </p:nvPicPr>
        <p:blipFill>
          <a:blip r:embed="rId14"/>
          <a:stretch>
            <a:fillRect/>
          </a:stretch>
        </p:blipFill>
        <p:spPr>
          <a:xfrm>
            <a:off x="285750" y="0"/>
            <a:ext cx="1195388" cy="908050"/>
          </a:xfrm>
          <a:prstGeom prst="rect">
            <a:avLst/>
          </a:prstGeom>
          <a:noFill/>
          <a:ln w="9525">
            <a:noFill/>
          </a:ln>
        </p:spPr>
      </p:pic>
      <p:sp>
        <p:nvSpPr>
          <p:cNvPr id="1027" name="Rectangle 3"/>
          <p:cNvSpPr>
            <a:spLocks noGrp="1"/>
          </p:cNvSpPr>
          <p:nvPr>
            <p:ph type="title"/>
          </p:nvPr>
        </p:nvSpPr>
        <p:spPr>
          <a:xfrm>
            <a:off x="457200" y="277813"/>
            <a:ext cx="8229600" cy="576262"/>
          </a:xfrm>
          <a:prstGeom prst="rect">
            <a:avLst/>
          </a:prstGeom>
          <a:noFill/>
          <a:ln w="9525">
            <a:noFill/>
          </a:ln>
        </p:spPr>
        <p:txBody>
          <a:bodyPr anchor="b" anchorCtr="0"/>
          <a:lstStyle/>
          <a:p>
            <a:pPr lvl="0"/>
            <a:r>
              <a:rPr lang="en-US" altLang="zh-CN" dirty="0"/>
              <a:t>Click to edit Master title style</a:t>
            </a:r>
          </a:p>
        </p:txBody>
      </p:sp>
      <p:sp>
        <p:nvSpPr>
          <p:cNvPr id="1028" name="Rectangle 4"/>
          <p:cNvSpPr>
            <a:spLocks noGrp="1"/>
          </p:cNvSpPr>
          <p:nvPr>
            <p:ph type="body"/>
          </p:nvPr>
        </p:nvSpPr>
        <p:spPr>
          <a:xfrm>
            <a:off x="806450" y="1233488"/>
            <a:ext cx="8229600" cy="4530725"/>
          </a:xfrm>
          <a:prstGeom prst="rect">
            <a:avLst/>
          </a:prstGeom>
          <a:noFill/>
          <a:ln w="9525">
            <a:noFill/>
          </a:ln>
        </p:spPr>
        <p:txBody>
          <a:bodyPr anchor="t" anchorCtr="0"/>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46437" name="Rectangle 5"/>
          <p:cNvSpPr>
            <a:spLocks noChangeArrowheads="1"/>
          </p:cNvSpPr>
          <p:nvPr/>
        </p:nvSpPr>
        <p:spPr bwMode="auto">
          <a:xfrm>
            <a:off x="0" y="0"/>
            <a:ext cx="228600" cy="2286000"/>
          </a:xfrm>
          <a:prstGeom prst="rect">
            <a:avLst/>
          </a:prstGeom>
          <a:solidFill>
            <a:srgbClr val="336699"/>
          </a:soli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endParaRPr>
          </a:p>
        </p:txBody>
      </p:sp>
      <p:sp>
        <p:nvSpPr>
          <p:cNvPr id="146438" name="Line 6"/>
          <p:cNvSpPr>
            <a:spLocks noChangeShapeType="1"/>
          </p:cNvSpPr>
          <p:nvPr/>
        </p:nvSpPr>
        <p:spPr bwMode="auto">
          <a:xfrm>
            <a:off x="457200" y="860425"/>
            <a:ext cx="8077200" cy="0"/>
          </a:xfrm>
          <a:prstGeom prst="line">
            <a:avLst/>
          </a:prstGeom>
          <a:noFill/>
          <a:ln w="19050">
            <a:solidFill>
              <a:srgbClr val="336699"/>
            </a:solid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tx1"/>
              </a:solidFill>
              <a:effectLst/>
              <a:uLnTx/>
              <a:uFillTx/>
              <a:latin typeface="Verdana" panose="020B0604030504040204" pitchFamily="34" charset="0"/>
              <a:ea typeface="+mn-ea"/>
              <a:cs typeface="+mn-cs"/>
            </a:endParaRPr>
          </a:p>
        </p:txBody>
      </p:sp>
      <p:sp>
        <p:nvSpPr>
          <p:cNvPr id="146439" name="Rectangle 7"/>
          <p:cNvSpPr>
            <a:spLocks noChangeArrowheads="1"/>
          </p:cNvSpPr>
          <p:nvPr/>
        </p:nvSpPr>
        <p:spPr bwMode="auto">
          <a:xfrm>
            <a:off x="0" y="2286000"/>
            <a:ext cx="228600" cy="2286000"/>
          </a:xfrm>
          <a:prstGeom prst="rect">
            <a:avLst/>
          </a:prstGeom>
          <a:solidFill>
            <a:srgbClr val="99CCFF"/>
          </a:soli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endParaRPr>
          </a:p>
        </p:txBody>
      </p:sp>
      <p:sp>
        <p:nvSpPr>
          <p:cNvPr id="146440" name="Rectangle 8"/>
          <p:cNvSpPr>
            <a:spLocks noChangeArrowheads="1"/>
          </p:cNvSpPr>
          <p:nvPr/>
        </p:nvSpPr>
        <p:spPr bwMode="auto">
          <a:xfrm>
            <a:off x="0" y="4572000"/>
            <a:ext cx="228600" cy="2286000"/>
          </a:xfrm>
          <a:prstGeom prst="rect">
            <a:avLst/>
          </a:prstGeom>
          <a:solidFill>
            <a:srgbClr val="336699"/>
          </a:soli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endParaRPr>
          </a:p>
        </p:txBody>
      </p:sp>
      <p:sp>
        <p:nvSpPr>
          <p:cNvPr id="1033" name="Text Box 9"/>
          <p:cNvSpPr txBox="1"/>
          <p:nvPr/>
        </p:nvSpPr>
        <p:spPr>
          <a:xfrm>
            <a:off x="4257675" y="6613525"/>
            <a:ext cx="444500" cy="244475"/>
          </a:xfrm>
          <a:prstGeom prst="rect">
            <a:avLst/>
          </a:prstGeom>
          <a:noFill/>
          <a:ln w="9525">
            <a:noFill/>
          </a:ln>
        </p:spPr>
        <p:txBody>
          <a:bodyPr wrap="none" anchor="t" anchorCtr="0">
            <a:spAutoFit/>
          </a:bodyPr>
          <a:lstStyle/>
          <a:p>
            <a:pPr lvl="0" algn="ctr" eaLnBrk="0" hangingPunct="0">
              <a:spcBef>
                <a:spcPct val="50000"/>
              </a:spcBef>
            </a:pPr>
            <a:r>
              <a:rPr lang="en-US" altLang="zh-CN" sz="1000" b="1" dirty="0">
                <a:solidFill>
                  <a:srgbClr val="006699"/>
                </a:solidFill>
                <a:latin typeface="Helvetica" pitchFamily="34" charset="0"/>
              </a:rPr>
              <a:t>6.</a:t>
            </a:r>
            <a:fld id="{9A0DB2DC-4C9A-4742-B13C-FB6460FD3503}" type="slidenum">
              <a:rPr lang="en-US" altLang="zh-CN" sz="1000" b="1" dirty="0">
                <a:solidFill>
                  <a:srgbClr val="006699"/>
                </a:solidFill>
                <a:latin typeface="Helvetica" pitchFamily="34" charset="0"/>
              </a:rPr>
              <a:t>‹#›</a:t>
            </a:fld>
            <a:endParaRPr lang="en-US" altLang="zh-CN" sz="1000" b="1" dirty="0">
              <a:solidFill>
                <a:srgbClr val="006699"/>
              </a:solidFill>
              <a:latin typeface="Helvetica" pitchFamily="34" charset="0"/>
            </a:endParaRPr>
          </a:p>
        </p:txBody>
      </p:sp>
      <p:sp>
        <p:nvSpPr>
          <p:cNvPr id="146442" name="Text Box 10"/>
          <p:cNvSpPr txBox="1">
            <a:spLocks noChangeArrowheads="1"/>
          </p:cNvSpPr>
          <p:nvPr/>
        </p:nvSpPr>
        <p:spPr bwMode="auto">
          <a:xfrm>
            <a:off x="6489700" y="6588125"/>
            <a:ext cx="2713038" cy="244475"/>
          </a:xfrm>
          <a:prstGeom prst="rect">
            <a:avLst/>
          </a:prstGeom>
          <a:noFill/>
          <a:ln w="9525">
            <a:noFill/>
            <a:miter lim="800000"/>
          </a:ln>
          <a:effectLst/>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1000" b="1" i="0" u="none" strike="noStrike" kern="1200" cap="none" spc="0" normalizeH="0" baseline="0" noProof="0" dirty="0" err="1">
                <a:ln>
                  <a:noFill/>
                </a:ln>
                <a:solidFill>
                  <a:srgbClr val="006699"/>
                </a:solidFill>
                <a:effectLst/>
                <a:uLnTx/>
                <a:uFillTx/>
                <a:latin typeface="Helvetica" pitchFamily="34" charset="0"/>
                <a:ea typeface="MS PGothic" panose="020B0600070205080204" pitchFamily="34" charset="-128"/>
                <a:cs typeface="+mn-cs"/>
              </a:rPr>
              <a:t>Silberschatz</a:t>
            </a:r>
            <a:r>
              <a:rPr kumimoji="0" lang="en-US" altLang="zh-CN" sz="1000" b="1" i="0" u="none" strike="noStrike" kern="1200" cap="none" spc="0" normalizeH="0" baseline="0" noProof="0" dirty="0">
                <a:ln>
                  <a:noFill/>
                </a:ln>
                <a:solidFill>
                  <a:srgbClr val="006699"/>
                </a:solidFill>
                <a:effectLst/>
                <a:uLnTx/>
                <a:uFillTx/>
                <a:latin typeface="Helvetica" pitchFamily="34" charset="0"/>
                <a:ea typeface="MS PGothic" panose="020B0600070205080204" pitchFamily="34" charset="-128"/>
                <a:cs typeface="+mn-cs"/>
              </a:rPr>
              <a:t>, Galvin and Gagne ©2009</a:t>
            </a:r>
          </a:p>
        </p:txBody>
      </p:sp>
      <p:sp>
        <p:nvSpPr>
          <p:cNvPr id="146443" name="Text Box 11"/>
          <p:cNvSpPr txBox="1">
            <a:spLocks noChangeArrowheads="1"/>
          </p:cNvSpPr>
          <p:nvPr/>
        </p:nvSpPr>
        <p:spPr bwMode="auto">
          <a:xfrm>
            <a:off x="185738" y="6621463"/>
            <a:ext cx="2635250" cy="244475"/>
          </a:xfrm>
          <a:prstGeom prst="rect">
            <a:avLst/>
          </a:prstGeom>
          <a:noFill/>
          <a:ln w="9525">
            <a:noFill/>
            <a:miter lim="800000"/>
          </a:ln>
          <a:effectLst/>
        </p:spPr>
        <p:txBody>
          <a:bodyPr wrap="none">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1000" b="1" i="0" u="none" strike="noStrike" kern="1200" cap="none" spc="0" normalizeH="0" baseline="0" noProof="0">
                <a:ln>
                  <a:noFill/>
                </a:ln>
                <a:solidFill>
                  <a:srgbClr val="006699"/>
                </a:solidFill>
                <a:effectLst/>
                <a:uLnTx/>
                <a:uFillTx/>
                <a:latin typeface="Helvetica" pitchFamily="34" charset="0"/>
                <a:ea typeface="MS PGothic" panose="020B0600070205080204" pitchFamily="34" charset="-128"/>
                <a:cs typeface="+mn-cs"/>
              </a:rPr>
              <a:t>Operating System Concepts – 8</a:t>
            </a:r>
            <a:r>
              <a:rPr kumimoji="0" lang="en-US" altLang="zh-CN" sz="1000" b="1" i="0" u="none" strike="noStrike" kern="1200" cap="none" spc="0" normalizeH="0" baseline="30000" noProof="0">
                <a:ln>
                  <a:noFill/>
                </a:ln>
                <a:solidFill>
                  <a:srgbClr val="006699"/>
                </a:solidFill>
                <a:effectLst/>
                <a:uLnTx/>
                <a:uFillTx/>
                <a:latin typeface="Helvetica" pitchFamily="34" charset="0"/>
                <a:ea typeface="MS PGothic" panose="020B0600070205080204" pitchFamily="34" charset="-128"/>
                <a:cs typeface="+mn-cs"/>
              </a:rPr>
              <a:t>th</a:t>
            </a:r>
            <a:r>
              <a:rPr kumimoji="0" lang="en-US" altLang="zh-CN" sz="1000" b="1" i="0" u="none" strike="noStrike" kern="1200" cap="none" spc="0" normalizeH="0" baseline="0" noProof="0">
                <a:ln>
                  <a:noFill/>
                </a:ln>
                <a:solidFill>
                  <a:srgbClr val="006699"/>
                </a:solidFill>
                <a:effectLst/>
                <a:uLnTx/>
                <a:uFillTx/>
                <a:latin typeface="Helvetica" pitchFamily="34" charset="0"/>
                <a:ea typeface="MS PGothic" panose="020B0600070205080204" pitchFamily="34" charset="-128"/>
                <a:cs typeface="+mn-cs"/>
              </a:rPr>
              <a:t> Edition</a:t>
            </a:r>
          </a:p>
        </p:txBody>
      </p:sp>
      <p:pic>
        <p:nvPicPr>
          <p:cNvPr id="1036" name="Picture 12" descr="dino_6"/>
          <p:cNvPicPr>
            <a:picLocks noChangeAspect="1"/>
          </p:cNvPicPr>
          <p:nvPr/>
        </p:nvPicPr>
        <p:blipFill>
          <a:blip r:embed="rId15"/>
          <a:stretch>
            <a:fillRect/>
          </a:stretch>
        </p:blipFill>
        <p:spPr>
          <a:xfrm>
            <a:off x="7773988" y="5849938"/>
            <a:ext cx="1284287" cy="792162"/>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3200" b="1">
          <a:solidFill>
            <a:srgbClr val="006699"/>
          </a:solidFill>
          <a:latin typeface="+mj-lt"/>
          <a:ea typeface="MS PGothic" panose="020B0600070205080204" pitchFamily="34" charset="-128"/>
          <a:cs typeface="+mj-cs"/>
        </a:defRPr>
      </a:lvl1pPr>
      <a:lvl2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defRPr>
      </a:lvl5pPr>
      <a:lvl6pPr marL="457200" algn="ctr" rtl="0" fontAlgn="base">
        <a:spcBef>
          <a:spcPct val="0"/>
        </a:spcBef>
        <a:spcAft>
          <a:spcPct val="0"/>
        </a:spcAft>
        <a:defRPr sz="3200" b="1">
          <a:solidFill>
            <a:srgbClr val="006699"/>
          </a:solidFill>
          <a:latin typeface="Arial" panose="020B0604020202020204" pitchFamily="34" charset="0"/>
        </a:defRPr>
      </a:lvl6pPr>
      <a:lvl7pPr marL="914400" algn="ctr" rtl="0" fontAlgn="base">
        <a:spcBef>
          <a:spcPct val="0"/>
        </a:spcBef>
        <a:spcAft>
          <a:spcPct val="0"/>
        </a:spcAft>
        <a:defRPr sz="3200" b="1">
          <a:solidFill>
            <a:srgbClr val="006699"/>
          </a:solidFill>
          <a:latin typeface="Arial" panose="020B0604020202020204" pitchFamily="34" charset="0"/>
        </a:defRPr>
      </a:lvl7pPr>
      <a:lvl8pPr marL="1371600" algn="ctr" rtl="0" fontAlgn="base">
        <a:spcBef>
          <a:spcPct val="0"/>
        </a:spcBef>
        <a:spcAft>
          <a:spcPct val="0"/>
        </a:spcAft>
        <a:defRPr sz="3200" b="1">
          <a:solidFill>
            <a:srgbClr val="006699"/>
          </a:solidFill>
          <a:latin typeface="Arial" panose="020B0604020202020204" pitchFamily="34" charset="0"/>
        </a:defRPr>
      </a:lvl8pPr>
      <a:lvl9pPr marL="1828800" algn="ctr" rtl="0" fontAlgn="base">
        <a:spcBef>
          <a:spcPct val="0"/>
        </a:spcBef>
        <a:spcAft>
          <a:spcPct val="0"/>
        </a:spcAft>
        <a:defRPr sz="3200" b="1">
          <a:solidFill>
            <a:srgbClr val="006699"/>
          </a:solidFill>
          <a:latin typeface="Arial" panose="020B0604020202020204" pitchFamily="34" charset="0"/>
        </a:defRPr>
      </a:lvl9pPr>
    </p:titleStyle>
    <p:body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5.e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7.emf"/><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6.emf"/><Relationship Id="rId4" Type="http://schemas.openxmlformats.org/officeDocument/2006/relationships/oleObject" Target="../embeddings/oleObject2.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2.xml"/><Relationship Id="rId1" Type="http://schemas.openxmlformats.org/officeDocument/2006/relationships/vmlDrawing" Target="../drawings/vmlDrawing3.vml"/><Relationship Id="rId5" Type="http://schemas.openxmlformats.org/officeDocument/2006/relationships/image" Target="../media/image8.emf"/><Relationship Id="rId4" Type="http://schemas.openxmlformats.org/officeDocument/2006/relationships/oleObject" Target="../embeddings/oleObject4.bin"/></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9.emf"/><Relationship Id="rId4" Type="http://schemas.openxmlformats.org/officeDocument/2006/relationships/oleObject" Target="../embeddings/oleObject5.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0.emf"/><Relationship Id="rId4" Type="http://schemas.openxmlformats.org/officeDocument/2006/relationships/oleObject" Target="../embeddings/oleObject6.bin"/></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7.xml"/><Relationship Id="rId1" Type="http://schemas.openxmlformats.org/officeDocument/2006/relationships/vmlDrawing" Target="../drawings/vmlDrawing6.vml"/><Relationship Id="rId5" Type="http://schemas.openxmlformats.org/officeDocument/2006/relationships/image" Target="../media/image11.emf"/><Relationship Id="rId4" Type="http://schemas.openxmlformats.org/officeDocument/2006/relationships/oleObject" Target="../embeddings/oleObject7.bin"/></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4.emf"/></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15.wmf"/><Relationship Id="rId7" Type="http://schemas.openxmlformats.org/officeDocument/2006/relationships/image" Target="../media/image19.wmf"/><Relationship Id="rId2" Type="http://schemas.openxmlformats.org/officeDocument/2006/relationships/notesSlide" Target="../notesSlides/notesSlide60.xml"/><Relationship Id="rId1" Type="http://schemas.openxmlformats.org/officeDocument/2006/relationships/slideLayout" Target="../slideLayouts/slideLayout7.xml"/><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20.emf"/><Relationship Id="rId4" Type="http://schemas.openxmlformats.org/officeDocument/2006/relationships/oleObject" Target="../embeddings/oleObject9.bin"/></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6.xml"/><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6.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9.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p:cNvSpPr>
          <p:nvPr>
            <p:ph type="ctrTitle"/>
          </p:nvPr>
        </p:nvSpPr>
        <p:spPr>
          <a:ln/>
        </p:spPr>
        <p:txBody>
          <a:bodyPr vert="horz" wrap="square" lIns="91440" tIns="45720" rIns="91440" bIns="45720" anchor="b" anchorCtr="0"/>
          <a:lstStyle/>
          <a:p>
            <a:pPr>
              <a:buClrTx/>
              <a:buSzTx/>
              <a:buFontTx/>
            </a:pPr>
            <a:br>
              <a:rPr lang="zh-CN" altLang="en-US" dirty="0">
                <a:latin typeface="+mj-lt"/>
                <a:ea typeface="MS PGothic" panose="020B0600070205080204" pitchFamily="34" charset="-128"/>
                <a:cs typeface="+mj-cs"/>
              </a:rPr>
            </a:br>
            <a:r>
              <a:rPr lang="zh-CN" altLang="en-US" dirty="0">
                <a:latin typeface="+mj-lt"/>
                <a:ea typeface="MS PGothic" panose="020B0600070205080204" pitchFamily="34" charset="-128"/>
                <a:cs typeface="+mj-cs"/>
              </a:rPr>
              <a:t> </a:t>
            </a:r>
            <a:br>
              <a:rPr lang="zh-CN" altLang="en-US" dirty="0">
                <a:latin typeface="+mj-lt"/>
                <a:ea typeface="MS PGothic" panose="020B0600070205080204" pitchFamily="34" charset="-128"/>
                <a:cs typeface="+mj-cs"/>
              </a:rPr>
            </a:br>
            <a:r>
              <a:rPr lang="en-US" altLang="zh-CN" sz="3200" dirty="0">
                <a:latin typeface="+mj-lt"/>
                <a:ea typeface="MS PGothic" panose="020B0600070205080204" pitchFamily="34" charset="-128"/>
                <a:cs typeface="+mj-cs"/>
              </a:rPr>
              <a:t>Chapter 6: Process Synchronization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p:cNvSpPr>
          <p:nvPr>
            <p:ph type="title"/>
          </p:nvPr>
        </p:nvSpPr>
        <p:spPr>
          <a:ln/>
        </p:spPr>
        <p:txBody>
          <a:bodyPr vert="horz" wrap="square" lIns="91440" tIns="45720" rIns="91440" bIns="45720" anchor="b" anchorCtr="0"/>
          <a:lstStyle/>
          <a:p>
            <a:br>
              <a:rPr lang="zh-CN" altLang="en-US" dirty="0"/>
            </a:br>
            <a:br>
              <a:rPr lang="zh-CN" altLang="en-US" dirty="0"/>
            </a:br>
            <a:r>
              <a:rPr lang="en-US" altLang="zh-CN" dirty="0"/>
              <a:t>Chapter 6: Process Synchronization</a:t>
            </a:r>
          </a:p>
        </p:txBody>
      </p:sp>
      <p:sp>
        <p:nvSpPr>
          <p:cNvPr id="9218" name="Rectangle 3"/>
          <p:cNvSpPr>
            <a:spLocks noGrp="1"/>
          </p:cNvSpPr>
          <p:nvPr>
            <p:ph idx="1"/>
          </p:nvPr>
        </p:nvSpPr>
        <p:spPr>
          <a:ln/>
        </p:spPr>
        <p:txBody>
          <a:bodyPr vert="horz" wrap="square" lIns="91440" tIns="45720" rIns="91440" bIns="45720" anchor="t" anchorCtr="0"/>
          <a:lstStyle/>
          <a:p>
            <a:r>
              <a:rPr lang="en-US" altLang="zh-CN" sz="2400" dirty="0"/>
              <a:t>Background</a:t>
            </a:r>
          </a:p>
          <a:p>
            <a:r>
              <a:rPr lang="en-US" altLang="zh-CN" sz="2400" dirty="0"/>
              <a:t>The Critical-Section Problem</a:t>
            </a:r>
            <a:r>
              <a:rPr lang="zh-CN" altLang="en-US" sz="2400" dirty="0"/>
              <a:t>（临界区问题）</a:t>
            </a:r>
            <a:endParaRPr lang="en-US" altLang="zh-CN" sz="2400" dirty="0"/>
          </a:p>
          <a:p>
            <a:r>
              <a:rPr lang="en-US" altLang="zh-CN" sz="2400" dirty="0"/>
              <a:t>Peterson’s Solution</a:t>
            </a:r>
            <a:r>
              <a:rPr lang="zh-CN" altLang="en-US" sz="2400" dirty="0"/>
              <a:t>（</a:t>
            </a:r>
            <a:r>
              <a:rPr lang="en-US" altLang="zh-CN" sz="2400" dirty="0"/>
              <a:t>Peterson</a:t>
            </a:r>
            <a:r>
              <a:rPr lang="zh-CN" altLang="en-US" sz="2400" dirty="0"/>
              <a:t>解决方案）</a:t>
            </a:r>
            <a:endParaRPr lang="en-US" altLang="zh-CN" sz="2400" dirty="0"/>
          </a:p>
          <a:p>
            <a:r>
              <a:rPr lang="en-US" altLang="zh-CN" sz="2400" dirty="0"/>
              <a:t>Synchronization Hardware</a:t>
            </a:r>
            <a:r>
              <a:rPr lang="zh-CN" altLang="en-US" sz="2400" dirty="0"/>
              <a:t>（同步硬件）</a:t>
            </a:r>
            <a:endParaRPr lang="en-US" altLang="zh-CN" sz="2400" dirty="0"/>
          </a:p>
          <a:p>
            <a:r>
              <a:rPr lang="en-US" altLang="zh-CN" sz="2400" dirty="0"/>
              <a:t>Semaphores</a:t>
            </a:r>
            <a:r>
              <a:rPr lang="zh-CN" altLang="en-US" sz="2400" dirty="0"/>
              <a:t>（信号量）</a:t>
            </a:r>
            <a:endParaRPr lang="en-US" altLang="zh-CN" sz="2400" dirty="0"/>
          </a:p>
          <a:p>
            <a:r>
              <a:rPr lang="en-US" altLang="zh-CN" sz="2400" dirty="0"/>
              <a:t>Classic Problems of Synchronization</a:t>
            </a:r>
            <a:r>
              <a:rPr lang="zh-CN" altLang="en-US" sz="2400" dirty="0"/>
              <a:t>（同步经典问题）</a:t>
            </a:r>
            <a:endParaRPr lang="en-US" altLang="zh-CN" sz="2400" dirty="0"/>
          </a:p>
          <a:p>
            <a:r>
              <a:rPr lang="en-US" altLang="zh-CN" sz="2400" dirty="0"/>
              <a:t>Monitors</a:t>
            </a:r>
            <a:r>
              <a:rPr lang="zh-CN" altLang="en-US" sz="2400" dirty="0"/>
              <a:t>（管程）</a:t>
            </a:r>
            <a:endParaRPr lang="en-US" altLang="zh-CN" sz="2400" dirty="0"/>
          </a:p>
          <a:p>
            <a:r>
              <a:rPr lang="en-US" altLang="zh-CN" sz="2400" dirty="0"/>
              <a:t>Synchronization Examples </a:t>
            </a:r>
          </a:p>
          <a:p>
            <a:r>
              <a:rPr lang="en-US" altLang="zh-CN" sz="2400" dirty="0"/>
              <a:t>Atomic Transactions</a:t>
            </a:r>
          </a:p>
          <a:p>
            <a:pPr>
              <a:buNone/>
            </a:pP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250" fill="hold"/>
                                        <p:tgtEl>
                                          <p:spTgt spid="9218">
                                            <p:txEl>
                                              <p:pRg st="0" end="0"/>
                                            </p:txEl>
                                          </p:spTgt>
                                        </p:tgtEl>
                                        <p:attrNameLst>
                                          <p:attrName>style.color</p:attrName>
                                        </p:attrNameLst>
                                      </p:cBhvr>
                                      <p:to>
                                        <a:srgbClr val="A5A5A5"/>
                                      </p:to>
                                    </p:animClr>
                                    <p:animClr clrSpc="rgb" dir="cw">
                                      <p:cBhvr>
                                        <p:cTn id="7" dur="250" fill="hold"/>
                                        <p:tgtEl>
                                          <p:spTgt spid="9218">
                                            <p:txEl>
                                              <p:pRg st="0" end="0"/>
                                            </p:txEl>
                                          </p:spTgt>
                                        </p:tgtEl>
                                        <p:attrNameLst>
                                          <p:attrName>fillcolor</p:attrName>
                                        </p:attrNameLst>
                                      </p:cBhvr>
                                      <p:to>
                                        <a:srgbClr val="A5A5A5"/>
                                      </p:to>
                                    </p:animClr>
                                    <p:set>
                                      <p:cBhvr>
                                        <p:cTn id="8" dur="250" fill="hold"/>
                                        <p:tgtEl>
                                          <p:spTgt spid="9218">
                                            <p:txEl>
                                              <p:pRg st="0" end="0"/>
                                            </p:txEl>
                                          </p:spTgt>
                                        </p:tgtEl>
                                        <p:attrNameLst>
                                          <p:attrName>fill.type</p:attrName>
                                        </p:attrNameLst>
                                      </p:cBhvr>
                                      <p:to>
                                        <p:strVal val="solid"/>
                                      </p:to>
                                    </p:set>
                                    <p:set>
                                      <p:cBhvr>
                                        <p:cTn id="9" dur="250" fill="hold"/>
                                        <p:tgtEl>
                                          <p:spTgt spid="9218">
                                            <p:txEl>
                                              <p:pRg st="0" end="0"/>
                                            </p:txEl>
                                          </p:spTgt>
                                        </p:tgtEl>
                                        <p:attrNameLst>
                                          <p:attrName>fill.on</p:attrName>
                                        </p:attrNameLst>
                                      </p:cBhvr>
                                      <p:to>
                                        <p:strVal val="true"/>
                                      </p:to>
                                    </p:set>
                                  </p:childTnLst>
                                </p:cTn>
                              </p:par>
                              <p:par>
                                <p:cTn id="10" presetID="19" presetClass="emph" presetSubtype="0" fill="hold" nodeType="withEffect">
                                  <p:stCondLst>
                                    <p:cond delay="0"/>
                                  </p:stCondLst>
                                  <p:childTnLst>
                                    <p:animClr clrSpc="rgb" dir="cw">
                                      <p:cBhvr override="childStyle">
                                        <p:cTn id="11" dur="250" fill="hold"/>
                                        <p:tgtEl>
                                          <p:spTgt spid="9218">
                                            <p:txEl>
                                              <p:pRg st="1" end="1"/>
                                            </p:txEl>
                                          </p:spTgt>
                                        </p:tgtEl>
                                        <p:attrNameLst>
                                          <p:attrName>style.color</p:attrName>
                                        </p:attrNameLst>
                                      </p:cBhvr>
                                      <p:to>
                                        <a:srgbClr val="A5A5A5"/>
                                      </p:to>
                                    </p:animClr>
                                    <p:animClr clrSpc="rgb" dir="cw">
                                      <p:cBhvr>
                                        <p:cTn id="12" dur="250" fill="hold"/>
                                        <p:tgtEl>
                                          <p:spTgt spid="9218">
                                            <p:txEl>
                                              <p:pRg st="1" end="1"/>
                                            </p:txEl>
                                          </p:spTgt>
                                        </p:tgtEl>
                                        <p:attrNameLst>
                                          <p:attrName>fillcolor</p:attrName>
                                        </p:attrNameLst>
                                      </p:cBhvr>
                                      <p:to>
                                        <a:srgbClr val="A5A5A5"/>
                                      </p:to>
                                    </p:animClr>
                                    <p:set>
                                      <p:cBhvr>
                                        <p:cTn id="13" dur="250" fill="hold"/>
                                        <p:tgtEl>
                                          <p:spTgt spid="9218">
                                            <p:txEl>
                                              <p:pRg st="1" end="1"/>
                                            </p:txEl>
                                          </p:spTgt>
                                        </p:tgtEl>
                                        <p:attrNameLst>
                                          <p:attrName>fill.type</p:attrName>
                                        </p:attrNameLst>
                                      </p:cBhvr>
                                      <p:to>
                                        <p:strVal val="solid"/>
                                      </p:to>
                                    </p:set>
                                    <p:set>
                                      <p:cBhvr>
                                        <p:cTn id="14" dur="250" fill="hold"/>
                                        <p:tgtEl>
                                          <p:spTgt spid="9218">
                                            <p:txEl>
                                              <p:pRg st="1" end="1"/>
                                            </p:txEl>
                                          </p:spTgt>
                                        </p:tgtEl>
                                        <p:attrNameLst>
                                          <p:attrName>fill.on</p:attrName>
                                        </p:attrNameLst>
                                      </p:cBhvr>
                                      <p:to>
                                        <p:strVal val="true"/>
                                      </p:to>
                                    </p:set>
                                  </p:childTnLst>
                                </p:cTn>
                              </p:par>
                              <p:par>
                                <p:cTn id="15" presetID="19" presetClass="emph" presetSubtype="0" fill="hold" nodeType="withEffect">
                                  <p:stCondLst>
                                    <p:cond delay="0"/>
                                  </p:stCondLst>
                                  <p:childTnLst>
                                    <p:animClr clrSpc="rgb" dir="cw">
                                      <p:cBhvr override="childStyle">
                                        <p:cTn id="16" dur="250" fill="hold"/>
                                        <p:tgtEl>
                                          <p:spTgt spid="9218">
                                            <p:txEl>
                                              <p:pRg st="2" end="2"/>
                                            </p:txEl>
                                          </p:spTgt>
                                        </p:tgtEl>
                                        <p:attrNameLst>
                                          <p:attrName>style.color</p:attrName>
                                        </p:attrNameLst>
                                      </p:cBhvr>
                                      <p:to>
                                        <a:srgbClr val="A5A5A5"/>
                                      </p:to>
                                    </p:animClr>
                                    <p:animClr clrSpc="rgb" dir="cw">
                                      <p:cBhvr>
                                        <p:cTn id="17" dur="250" fill="hold"/>
                                        <p:tgtEl>
                                          <p:spTgt spid="9218">
                                            <p:txEl>
                                              <p:pRg st="2" end="2"/>
                                            </p:txEl>
                                          </p:spTgt>
                                        </p:tgtEl>
                                        <p:attrNameLst>
                                          <p:attrName>fillcolor</p:attrName>
                                        </p:attrNameLst>
                                      </p:cBhvr>
                                      <p:to>
                                        <a:srgbClr val="A5A5A5"/>
                                      </p:to>
                                    </p:animClr>
                                    <p:set>
                                      <p:cBhvr>
                                        <p:cTn id="18" dur="250" fill="hold"/>
                                        <p:tgtEl>
                                          <p:spTgt spid="9218">
                                            <p:txEl>
                                              <p:pRg st="2" end="2"/>
                                            </p:txEl>
                                          </p:spTgt>
                                        </p:tgtEl>
                                        <p:attrNameLst>
                                          <p:attrName>fill.type</p:attrName>
                                        </p:attrNameLst>
                                      </p:cBhvr>
                                      <p:to>
                                        <p:strVal val="solid"/>
                                      </p:to>
                                    </p:set>
                                    <p:set>
                                      <p:cBhvr>
                                        <p:cTn id="19" dur="250" fill="hold"/>
                                        <p:tgtEl>
                                          <p:spTgt spid="9218">
                                            <p:txEl>
                                              <p:pRg st="2" end="2"/>
                                            </p:txEl>
                                          </p:spTgt>
                                        </p:tgtEl>
                                        <p:attrNameLst>
                                          <p:attrName>fill.on</p:attrName>
                                        </p:attrNameLst>
                                      </p:cBhvr>
                                      <p:to>
                                        <p:strVal val="true"/>
                                      </p:to>
                                    </p:set>
                                  </p:childTnLst>
                                </p:cTn>
                              </p:par>
                              <p:par>
                                <p:cTn id="20" presetID="19" presetClass="emph" presetSubtype="0" fill="hold" nodeType="withEffect">
                                  <p:stCondLst>
                                    <p:cond delay="0"/>
                                  </p:stCondLst>
                                  <p:childTnLst>
                                    <p:animClr clrSpc="rgb" dir="cw">
                                      <p:cBhvr override="childStyle">
                                        <p:cTn id="21" dur="250" fill="hold"/>
                                        <p:tgtEl>
                                          <p:spTgt spid="9218">
                                            <p:txEl>
                                              <p:pRg st="3" end="3"/>
                                            </p:txEl>
                                          </p:spTgt>
                                        </p:tgtEl>
                                        <p:attrNameLst>
                                          <p:attrName>style.color</p:attrName>
                                        </p:attrNameLst>
                                      </p:cBhvr>
                                      <p:to>
                                        <a:srgbClr val="A5A5A5"/>
                                      </p:to>
                                    </p:animClr>
                                    <p:animClr clrSpc="rgb" dir="cw">
                                      <p:cBhvr>
                                        <p:cTn id="22" dur="250" fill="hold"/>
                                        <p:tgtEl>
                                          <p:spTgt spid="9218">
                                            <p:txEl>
                                              <p:pRg st="3" end="3"/>
                                            </p:txEl>
                                          </p:spTgt>
                                        </p:tgtEl>
                                        <p:attrNameLst>
                                          <p:attrName>fillcolor</p:attrName>
                                        </p:attrNameLst>
                                      </p:cBhvr>
                                      <p:to>
                                        <a:srgbClr val="A5A5A5"/>
                                      </p:to>
                                    </p:animClr>
                                    <p:set>
                                      <p:cBhvr>
                                        <p:cTn id="23" dur="250" fill="hold"/>
                                        <p:tgtEl>
                                          <p:spTgt spid="9218">
                                            <p:txEl>
                                              <p:pRg st="3" end="3"/>
                                            </p:txEl>
                                          </p:spTgt>
                                        </p:tgtEl>
                                        <p:attrNameLst>
                                          <p:attrName>fill.type</p:attrName>
                                        </p:attrNameLst>
                                      </p:cBhvr>
                                      <p:to>
                                        <p:strVal val="solid"/>
                                      </p:to>
                                    </p:set>
                                    <p:set>
                                      <p:cBhvr>
                                        <p:cTn id="24" dur="250" fill="hold"/>
                                        <p:tgtEl>
                                          <p:spTgt spid="9218">
                                            <p:txEl>
                                              <p:pRg st="3" end="3"/>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p:cNvSpPr>
          <p:nvPr>
            <p:ph type="title"/>
          </p:nvPr>
        </p:nvSpPr>
        <p:spPr>
          <a:ln/>
        </p:spPr>
        <p:txBody>
          <a:bodyPr vert="horz" wrap="square" lIns="91440" tIns="45720" rIns="91440" bIns="45720" anchor="b" anchorCtr="0"/>
          <a:lstStyle/>
          <a:p>
            <a:br>
              <a:rPr lang="zh-CN" altLang="en-US" dirty="0"/>
            </a:br>
            <a:br>
              <a:rPr lang="zh-CN" altLang="en-US" dirty="0"/>
            </a:br>
            <a:r>
              <a:rPr lang="en-US" altLang="zh-CN" dirty="0"/>
              <a:t>Background</a:t>
            </a:r>
          </a:p>
        </p:txBody>
      </p:sp>
      <p:sp>
        <p:nvSpPr>
          <p:cNvPr id="13315" name="Rectangle 3"/>
          <p:cNvSpPr>
            <a:spLocks noGrp="1"/>
          </p:cNvSpPr>
          <p:nvPr>
            <p:ph idx="1"/>
          </p:nvPr>
        </p:nvSpPr>
        <p:spPr>
          <a:xfrm>
            <a:off x="385763" y="1358900"/>
            <a:ext cx="8405812" cy="5499100"/>
          </a:xfrm>
          <a:ln/>
        </p:spPr>
        <p:txBody>
          <a:bodyPr vert="horz" wrap="square" lIns="91440" tIns="45720" rIns="91440" bIns="45720" anchor="t" anchorCtr="0"/>
          <a:lstStyle/>
          <a:p>
            <a:r>
              <a:rPr lang="en-US" altLang="zh-CN" sz="2400" dirty="0">
                <a:solidFill>
                  <a:srgbClr val="FF3300"/>
                </a:solidFill>
              </a:rPr>
              <a:t>Concurrent access</a:t>
            </a:r>
            <a:r>
              <a:rPr lang="zh-CN" altLang="en-US" sz="2400" dirty="0">
                <a:solidFill>
                  <a:srgbClr val="FF3300"/>
                </a:solidFill>
              </a:rPr>
              <a:t>（并发访问）</a:t>
            </a:r>
            <a:r>
              <a:rPr lang="en-US" altLang="zh-CN" sz="2400" dirty="0"/>
              <a:t> to shared data may result in data inconsistency</a:t>
            </a:r>
            <a:r>
              <a:rPr lang="zh-CN" altLang="en-US" sz="2400" dirty="0"/>
              <a:t>（数据不一致）</a:t>
            </a:r>
            <a:endParaRPr lang="en-US" altLang="zh-CN" sz="2400" dirty="0"/>
          </a:p>
          <a:p>
            <a:r>
              <a:rPr lang="en-US" altLang="zh-CN" sz="2400" dirty="0"/>
              <a:t>Maintaining data consistency requires mechanisms to ensure the </a:t>
            </a:r>
            <a:r>
              <a:rPr lang="en-US" altLang="zh-CN" sz="2400" dirty="0">
                <a:solidFill>
                  <a:srgbClr val="FF3300"/>
                </a:solidFill>
              </a:rPr>
              <a:t>orderly execution of cooperating processes</a:t>
            </a:r>
            <a:r>
              <a:rPr lang="zh-CN" altLang="en-US" sz="2400" dirty="0">
                <a:solidFill>
                  <a:srgbClr val="FF3300"/>
                </a:solidFill>
              </a:rPr>
              <a:t>（协作进程顺序执行）</a:t>
            </a:r>
            <a:endParaRPr lang="en-US" altLang="zh-CN" sz="2400" dirty="0">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p:cNvSpPr>
          <p:nvPr>
            <p:ph type="title"/>
          </p:nvPr>
        </p:nvSpPr>
        <p:spPr>
          <a:ln/>
        </p:spPr>
        <p:txBody>
          <a:bodyPr vert="horz" wrap="square" lIns="91440" tIns="45720" rIns="91440" bIns="45720" anchor="b" anchorCtr="0"/>
          <a:lstStyle/>
          <a:p>
            <a:br>
              <a:rPr lang="zh-CN" altLang="en-US" dirty="0"/>
            </a:br>
            <a:br>
              <a:rPr lang="zh-CN" altLang="en-US" dirty="0"/>
            </a:br>
            <a:r>
              <a:rPr lang="en-US" altLang="zh-CN" dirty="0"/>
              <a:t>Background</a:t>
            </a:r>
          </a:p>
        </p:txBody>
      </p:sp>
      <p:sp>
        <p:nvSpPr>
          <p:cNvPr id="13315" name="Rectangle 3"/>
          <p:cNvSpPr>
            <a:spLocks noGrp="1"/>
          </p:cNvSpPr>
          <p:nvPr>
            <p:ph idx="1"/>
          </p:nvPr>
        </p:nvSpPr>
        <p:spPr>
          <a:xfrm>
            <a:off x="369094" y="963693"/>
            <a:ext cx="8405812" cy="5499100"/>
          </a:xfrm>
          <a:ln/>
        </p:spPr>
        <p:txBody>
          <a:bodyPr vert="horz" wrap="square" lIns="91440" tIns="45720" rIns="91440" bIns="45720" anchor="t" anchorCtr="0"/>
          <a:lstStyle/>
          <a:p>
            <a:r>
              <a:rPr lang="en-US" altLang="zh-CN" sz="2400" dirty="0"/>
              <a:t>Example</a:t>
            </a:r>
            <a:r>
              <a:rPr lang="zh-CN" altLang="en-US" sz="2400" dirty="0"/>
              <a:t>： </a:t>
            </a:r>
            <a:r>
              <a:rPr lang="en-US" altLang="zh-CN" sz="2400" dirty="0"/>
              <a:t>Suppose that we wanted to provide a solution to the </a:t>
            </a:r>
            <a:r>
              <a:rPr lang="en-US" altLang="zh-CN" sz="2400" dirty="0">
                <a:solidFill>
                  <a:srgbClr val="FF0000"/>
                </a:solidFill>
              </a:rPr>
              <a:t>consumer-producer problem</a:t>
            </a:r>
            <a:r>
              <a:rPr lang="en-US" altLang="zh-CN" sz="2400" dirty="0"/>
              <a:t> that fills all the buffers. We can do so by having an integer count that keeps track of the number of full buffers. Initially, count is set to 0. It is incremented by the producer after it produces a new buffer and is decremented by the consumer after it consumes a buffer.</a:t>
            </a:r>
          </a:p>
        </p:txBody>
      </p:sp>
      <p:pic>
        <p:nvPicPr>
          <p:cNvPr id="4" name="Picture 4">
            <a:extLst>
              <a:ext uri="{FF2B5EF4-FFF2-40B4-BE49-F238E27FC236}">
                <a16:creationId xmlns:a16="http://schemas.microsoft.com/office/drawing/2014/main" id="{49375615-A192-4447-AEA4-9EC0D8EA4BF6}"/>
              </a:ext>
            </a:extLst>
          </p:cNvPr>
          <p:cNvPicPr>
            <a:picLocks noChangeAspect="1"/>
          </p:cNvPicPr>
          <p:nvPr/>
        </p:nvPicPr>
        <p:blipFill rotWithShape="1">
          <a:blip r:embed="rId3"/>
          <a:srcRect l="53705" b="8120"/>
          <a:stretch/>
        </p:blipFill>
        <p:spPr>
          <a:xfrm>
            <a:off x="3456121" y="3224541"/>
            <a:ext cx="2619215" cy="3455227"/>
          </a:xfrm>
          <a:prstGeom prst="rect">
            <a:avLst/>
          </a:prstGeom>
          <a:noFill/>
          <a:ln w="9525">
            <a:noFill/>
          </a:ln>
        </p:spPr>
      </p:pic>
    </p:spTree>
    <p:extLst>
      <p:ext uri="{BB962C8B-B14F-4D97-AF65-F5344CB8AC3E}">
        <p14:creationId xmlns:p14="http://schemas.microsoft.com/office/powerpoint/2010/main" val="361435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p:cNvSpPr>
          <p:nvPr>
            <p:ph type="title"/>
          </p:nvPr>
        </p:nvSpPr>
        <p:spPr>
          <a:xfrm>
            <a:off x="428625" y="263525"/>
            <a:ext cx="8229600" cy="576263"/>
          </a:xfrm>
          <a:ln/>
        </p:spPr>
        <p:txBody>
          <a:bodyPr vert="horz" wrap="square" lIns="91440" tIns="45720" rIns="91440" bIns="45720" anchor="b" anchorCtr="0"/>
          <a:lstStyle/>
          <a:p>
            <a:br>
              <a:rPr lang="zh-CN" altLang="en-US" dirty="0"/>
            </a:br>
            <a:br>
              <a:rPr lang="zh-CN" altLang="en-US" dirty="0"/>
            </a:br>
            <a:r>
              <a:rPr lang="en-US" altLang="zh-CN" dirty="0"/>
              <a:t>Producer </a:t>
            </a:r>
          </a:p>
        </p:txBody>
      </p:sp>
      <p:sp>
        <p:nvSpPr>
          <p:cNvPr id="15362" name="Rectangle 3"/>
          <p:cNvSpPr>
            <a:spLocks noGrp="1"/>
          </p:cNvSpPr>
          <p:nvPr>
            <p:ph idx="1"/>
          </p:nvPr>
        </p:nvSpPr>
        <p:spPr>
          <a:xfrm>
            <a:off x="469900" y="923925"/>
            <a:ext cx="8405813" cy="4167268"/>
          </a:xfrm>
          <a:ln/>
        </p:spPr>
        <p:txBody>
          <a:bodyPr vert="horz" wrap="square" lIns="91440" tIns="45720" rIns="91440" bIns="45720" anchor="t" anchorCtr="0"/>
          <a:lstStyle/>
          <a:p>
            <a:pPr marL="0" indent="0">
              <a:spcBef>
                <a:spcPct val="0"/>
              </a:spcBef>
              <a:buNone/>
            </a:pPr>
            <a:r>
              <a:rPr lang="en-US" altLang="zh-CN" sz="2400" kern="1200" dirty="0">
                <a:latin typeface="Verdana" panose="020B0604030504040204" pitchFamily="34" charset="0"/>
              </a:rPr>
              <a:t>Producer</a:t>
            </a:r>
            <a:r>
              <a:rPr lang="zh-CN" altLang="en-US" sz="2400" kern="1200" dirty="0">
                <a:latin typeface="Verdana" panose="020B0604030504040204" pitchFamily="34" charset="0"/>
              </a:rPr>
              <a:t>：</a:t>
            </a:r>
          </a:p>
          <a:p>
            <a:pPr lvl="1">
              <a:buNone/>
            </a:pPr>
            <a:r>
              <a:rPr lang="en-US" altLang="zh-CN" sz="2400" dirty="0">
                <a:solidFill>
                  <a:srgbClr val="0000FF"/>
                </a:solidFill>
              </a:rPr>
              <a:t>while (true) {</a:t>
            </a:r>
          </a:p>
          <a:p>
            <a:pPr lvl="1">
              <a:buNone/>
            </a:pPr>
            <a:r>
              <a:rPr lang="en-US" altLang="zh-CN" sz="2400" dirty="0">
                <a:solidFill>
                  <a:srgbClr val="0000FF"/>
                </a:solidFill>
              </a:rPr>
              <a:t>              /* produce an item and put in nextProduced*/</a:t>
            </a:r>
          </a:p>
          <a:p>
            <a:pPr lvl="1">
              <a:buNone/>
            </a:pPr>
            <a:r>
              <a:rPr lang="en-US" altLang="zh-CN" sz="2400" dirty="0">
                <a:solidFill>
                  <a:srgbClr val="0000FF"/>
                </a:solidFill>
              </a:rPr>
              <a:t>             while (count == BUFFER_SIZE) ; // do nothing</a:t>
            </a:r>
          </a:p>
          <a:p>
            <a:pPr lvl="1">
              <a:buNone/>
            </a:pPr>
            <a:r>
              <a:rPr lang="en-US" altLang="zh-CN" sz="2400" dirty="0">
                <a:solidFill>
                  <a:srgbClr val="0000FF"/>
                </a:solidFill>
              </a:rPr>
              <a:t>             buffer [in] = nextProduced;</a:t>
            </a:r>
          </a:p>
          <a:p>
            <a:pPr lvl="1">
              <a:buNone/>
            </a:pPr>
            <a:r>
              <a:rPr lang="en-US" altLang="zh-CN" sz="2400" dirty="0">
                <a:solidFill>
                  <a:srgbClr val="0000FF"/>
                </a:solidFill>
              </a:rPr>
              <a:t>             in = (in + 1) % BUFFER_SIZE;</a:t>
            </a:r>
          </a:p>
          <a:p>
            <a:pPr lvl="1">
              <a:buNone/>
            </a:pPr>
            <a:r>
              <a:rPr lang="en-US" altLang="zh-CN" sz="2400" dirty="0">
                <a:solidFill>
                  <a:srgbClr val="0000FF"/>
                </a:solidFill>
              </a:rPr>
              <a:t>             count++;</a:t>
            </a:r>
          </a:p>
          <a:p>
            <a:pPr lvl="1">
              <a:buNone/>
            </a:pPr>
            <a:r>
              <a:rPr lang="en-US" altLang="zh-CN" sz="2400" dirty="0">
                <a:solidFill>
                  <a:srgbClr val="0000FF"/>
                </a:solidFill>
              </a:rPr>
              <a:t>} </a:t>
            </a:r>
          </a:p>
        </p:txBody>
      </p:sp>
      <p:sp>
        <p:nvSpPr>
          <p:cNvPr id="2" name="矩形 1">
            <a:extLst>
              <a:ext uri="{FF2B5EF4-FFF2-40B4-BE49-F238E27FC236}">
                <a16:creationId xmlns:a16="http://schemas.microsoft.com/office/drawing/2014/main" id="{397AD388-3CC3-4E92-9BA6-0FFC40945C07}"/>
              </a:ext>
            </a:extLst>
          </p:cNvPr>
          <p:cNvSpPr/>
          <p:nvPr/>
        </p:nvSpPr>
        <p:spPr bwMode="auto">
          <a:xfrm>
            <a:off x="1797803" y="2417735"/>
            <a:ext cx="6718515" cy="480447"/>
          </a:xfrm>
          <a:prstGeom prst="rect">
            <a:avLst/>
          </a:prstGeom>
          <a:noFill/>
          <a:ln w="38100" cap="flat" cmpd="sng" algn="ctr">
            <a:solidFill>
              <a:srgbClr val="FF0000"/>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5" name="矩形 4">
            <a:extLst>
              <a:ext uri="{FF2B5EF4-FFF2-40B4-BE49-F238E27FC236}">
                <a16:creationId xmlns:a16="http://schemas.microsoft.com/office/drawing/2014/main" id="{ED708A57-3C13-4324-BA52-06C9AD28D128}"/>
              </a:ext>
            </a:extLst>
          </p:cNvPr>
          <p:cNvSpPr/>
          <p:nvPr/>
        </p:nvSpPr>
        <p:spPr bwMode="auto">
          <a:xfrm>
            <a:off x="1797802" y="2928183"/>
            <a:ext cx="6718515" cy="1463809"/>
          </a:xfrm>
          <a:prstGeom prst="rect">
            <a:avLst/>
          </a:prstGeom>
          <a:noFill/>
          <a:ln w="38100" cap="flat" cmpd="sng" algn="ctr">
            <a:solidFill>
              <a:srgbClr val="FF0000"/>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3"/>
          <p:cNvSpPr>
            <a:spLocks noGrp="1"/>
          </p:cNvSpPr>
          <p:nvPr>
            <p:ph type="title" idx="4294967295"/>
          </p:nvPr>
        </p:nvSpPr>
        <p:spPr>
          <a:ln/>
        </p:spPr>
        <p:txBody>
          <a:bodyPr vert="horz" wrap="square" lIns="92075" tIns="46038" rIns="92075" bIns="46038" anchor="b" anchorCtr="0"/>
          <a:lstStyle/>
          <a:p>
            <a:br>
              <a:rPr lang="zh-CN" altLang="en-US" dirty="0"/>
            </a:br>
            <a:br>
              <a:rPr lang="zh-CN" altLang="en-US" dirty="0"/>
            </a:br>
            <a:r>
              <a:rPr lang="en-US" altLang="zh-CN" dirty="0"/>
              <a:t>Consumer</a:t>
            </a:r>
          </a:p>
        </p:txBody>
      </p:sp>
      <p:sp>
        <p:nvSpPr>
          <p:cNvPr id="17410" name="Text Box 4"/>
          <p:cNvSpPr txBox="1"/>
          <p:nvPr/>
        </p:nvSpPr>
        <p:spPr>
          <a:xfrm>
            <a:off x="531813" y="1271588"/>
            <a:ext cx="8112125" cy="5262562"/>
          </a:xfrm>
          <a:prstGeom prst="rect">
            <a:avLst/>
          </a:prstGeom>
          <a:noFill/>
          <a:ln w="9525">
            <a:noFill/>
          </a:ln>
        </p:spPr>
        <p:txBody>
          <a:bodyPr anchor="t" anchorCtr="0">
            <a:spAutoFit/>
          </a:bodyPr>
          <a:lstStyle/>
          <a:p>
            <a:pPr eaLnBrk="0" hangingPunct="0"/>
            <a:endParaRPr lang="zh-CN" altLang="en-US" sz="2400" dirty="0">
              <a:solidFill>
                <a:srgbClr val="0000FF"/>
              </a:solidFill>
            </a:endParaRPr>
          </a:p>
          <a:p>
            <a:pPr eaLnBrk="0" hangingPunct="0"/>
            <a:r>
              <a:rPr lang="en-US" altLang="zh-CN" sz="2400" dirty="0">
                <a:latin typeface="Verdana" panose="020B0604030504040204" pitchFamily="34" charset="0"/>
              </a:rPr>
              <a:t>Consumer</a:t>
            </a:r>
            <a:r>
              <a:rPr lang="zh-CN" altLang="en-US" sz="2400" dirty="0">
                <a:latin typeface="Verdana" panose="020B0604030504040204" pitchFamily="34" charset="0"/>
              </a:rPr>
              <a:t>：</a:t>
            </a:r>
          </a:p>
          <a:p>
            <a:pPr eaLnBrk="0" hangingPunct="0"/>
            <a:r>
              <a:rPr lang="en-US" altLang="zh-CN" sz="2400" dirty="0">
                <a:solidFill>
                  <a:srgbClr val="0000FF"/>
                </a:solidFill>
                <a:latin typeface="Verdana" panose="020B0604030504040204" pitchFamily="34" charset="0"/>
              </a:rPr>
              <a:t>while (true) {</a:t>
            </a:r>
          </a:p>
          <a:p>
            <a:pPr eaLnBrk="0" hangingPunct="0"/>
            <a:r>
              <a:rPr lang="en-US" altLang="zh-CN" sz="2400" dirty="0">
                <a:solidFill>
                  <a:srgbClr val="0000FF"/>
                </a:solidFill>
                <a:latin typeface="Verdana" panose="020B0604030504040204" pitchFamily="34" charset="0"/>
              </a:rPr>
              <a:t>               while (count == 0)</a:t>
            </a:r>
          </a:p>
          <a:p>
            <a:pPr eaLnBrk="0" hangingPunct="0"/>
            <a:r>
              <a:rPr lang="en-US" altLang="zh-CN" sz="2400" dirty="0">
                <a:solidFill>
                  <a:srgbClr val="0000FF"/>
                </a:solidFill>
                <a:latin typeface="Verdana" panose="020B0604030504040204" pitchFamily="34" charset="0"/>
              </a:rPr>
              <a:t>                   ; // do nothing</a:t>
            </a:r>
          </a:p>
          <a:p>
            <a:pPr eaLnBrk="0" hangingPunct="0"/>
            <a:r>
              <a:rPr lang="en-US" altLang="zh-CN" sz="2400" dirty="0">
                <a:solidFill>
                  <a:srgbClr val="0000FF"/>
                </a:solidFill>
                <a:latin typeface="Verdana" panose="020B0604030504040204" pitchFamily="34" charset="0"/>
              </a:rPr>
              <a:t>                nextConsumed= buffer[out];</a:t>
            </a:r>
          </a:p>
          <a:p>
            <a:pPr eaLnBrk="0" hangingPunct="0"/>
            <a:r>
              <a:rPr lang="en-US" altLang="zh-CN" sz="2400" dirty="0">
                <a:solidFill>
                  <a:srgbClr val="0000FF"/>
                </a:solidFill>
                <a:latin typeface="Verdana" panose="020B0604030504040204" pitchFamily="34" charset="0"/>
              </a:rPr>
              <a:t>                out = (out + 1) % BUFFER_SIZE;</a:t>
            </a:r>
          </a:p>
          <a:p>
            <a:pPr eaLnBrk="0" hangingPunct="0"/>
            <a:r>
              <a:rPr lang="en-US" altLang="zh-CN" sz="2400" dirty="0">
                <a:solidFill>
                  <a:srgbClr val="0000FF"/>
                </a:solidFill>
                <a:latin typeface="Verdana" panose="020B0604030504040204" pitchFamily="34" charset="0"/>
              </a:rPr>
              <a:t>                count--;</a:t>
            </a:r>
          </a:p>
          <a:p>
            <a:pPr eaLnBrk="0" hangingPunct="0"/>
            <a:r>
              <a:rPr lang="en-US" altLang="zh-CN" sz="2400" dirty="0">
                <a:solidFill>
                  <a:srgbClr val="0000FF"/>
                </a:solidFill>
                <a:latin typeface="Verdana" panose="020B0604030504040204" pitchFamily="34" charset="0"/>
              </a:rPr>
              <a:t>               </a:t>
            </a:r>
          </a:p>
          <a:p>
            <a:pPr eaLnBrk="0" hangingPunct="0"/>
            <a:r>
              <a:rPr lang="en-US" altLang="zh-CN" sz="2400" dirty="0">
                <a:solidFill>
                  <a:srgbClr val="0000FF"/>
                </a:solidFill>
                <a:latin typeface="Verdana" panose="020B0604030504040204" pitchFamily="34" charset="0"/>
              </a:rPr>
              <a:t>                /* consume the item in nextConsumed</a:t>
            </a:r>
          </a:p>
          <a:p>
            <a:pPr eaLnBrk="0" hangingPunct="0"/>
            <a:endParaRPr lang="en-US" altLang="zh-CN" sz="2400" dirty="0">
              <a:solidFill>
                <a:srgbClr val="0000FF"/>
              </a:solidFill>
              <a:latin typeface="Verdana" panose="020B0604030504040204" pitchFamily="34" charset="0"/>
            </a:endParaRPr>
          </a:p>
          <a:p>
            <a:pPr eaLnBrk="0" hangingPunct="0"/>
            <a:endParaRPr lang="zh-CN" altLang="en-US" sz="2400" dirty="0">
              <a:solidFill>
                <a:srgbClr val="0000FF"/>
              </a:solidFill>
              <a:latin typeface="Verdana" panose="020B0604030504040204" pitchFamily="34" charset="0"/>
            </a:endParaRPr>
          </a:p>
          <a:p>
            <a:pPr eaLnBrk="0" hangingPunct="0"/>
            <a:endParaRPr lang="zh-CN" altLang="en-US" sz="2400" dirty="0">
              <a:solidFill>
                <a:srgbClr val="0000FF"/>
              </a:solidFill>
              <a:latin typeface="Verdana" panose="020B0604030504040204" pitchFamily="34" charset="0"/>
            </a:endParaRPr>
          </a:p>
          <a:p>
            <a:pPr eaLnBrk="0" hangingPunct="0"/>
            <a:r>
              <a:rPr lang="en-US" altLang="zh-CN" sz="2400" dirty="0">
                <a:solidFill>
                  <a:srgbClr val="0000FF"/>
                </a:solidFill>
                <a:latin typeface="Verdana" panose="020B0604030504040204" pitchFamily="34" charset="0"/>
              </a:rPr>
              <a:t>}</a:t>
            </a:r>
          </a:p>
        </p:txBody>
      </p:sp>
      <p:sp>
        <p:nvSpPr>
          <p:cNvPr id="5" name="矩形 4">
            <a:extLst>
              <a:ext uri="{FF2B5EF4-FFF2-40B4-BE49-F238E27FC236}">
                <a16:creationId xmlns:a16="http://schemas.microsoft.com/office/drawing/2014/main" id="{DC56ED39-0E05-4820-914B-FD0BE73364F8}"/>
              </a:ext>
            </a:extLst>
          </p:cNvPr>
          <p:cNvSpPr/>
          <p:nvPr/>
        </p:nvSpPr>
        <p:spPr bwMode="auto">
          <a:xfrm>
            <a:off x="2169763" y="2440983"/>
            <a:ext cx="5455403" cy="736170"/>
          </a:xfrm>
          <a:prstGeom prst="rect">
            <a:avLst/>
          </a:prstGeom>
          <a:noFill/>
          <a:ln w="38100" cap="flat" cmpd="sng" algn="ctr">
            <a:solidFill>
              <a:srgbClr val="FF0000"/>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6" name="矩形 5">
            <a:extLst>
              <a:ext uri="{FF2B5EF4-FFF2-40B4-BE49-F238E27FC236}">
                <a16:creationId xmlns:a16="http://schemas.microsoft.com/office/drawing/2014/main" id="{F3AB2707-AA5A-476E-906A-1F05AA35C2A7}"/>
              </a:ext>
            </a:extLst>
          </p:cNvPr>
          <p:cNvSpPr/>
          <p:nvPr/>
        </p:nvSpPr>
        <p:spPr bwMode="auto">
          <a:xfrm>
            <a:off x="2169763" y="3177152"/>
            <a:ext cx="5455403" cy="1263111"/>
          </a:xfrm>
          <a:prstGeom prst="rect">
            <a:avLst/>
          </a:prstGeom>
          <a:noFill/>
          <a:ln w="38100" cap="flat" cmpd="sng" algn="ctr">
            <a:solidFill>
              <a:srgbClr val="FF0000"/>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p:cNvSpPr>
          <p:nvPr>
            <p:ph type="title"/>
          </p:nvPr>
        </p:nvSpPr>
        <p:spPr>
          <a:ln/>
        </p:spPr>
        <p:txBody>
          <a:bodyPr vert="horz" wrap="square" lIns="91440" tIns="45720" rIns="91440" bIns="45720" anchor="b" anchorCtr="0"/>
          <a:lstStyle/>
          <a:p>
            <a:pPr eaLnBrk="1" hangingPunct="1"/>
            <a:r>
              <a:rPr lang="en-US" altLang="zh-CN" dirty="0"/>
              <a:t>Race Condition (</a:t>
            </a:r>
            <a:r>
              <a:rPr lang="zh-CN" altLang="en-US" dirty="0">
                <a:ea typeface="宋体" panose="02010600030101010101" pitchFamily="2" charset="-122"/>
              </a:rPr>
              <a:t>竞争条件</a:t>
            </a:r>
            <a:r>
              <a:rPr lang="en-US" altLang="zh-CN" dirty="0"/>
              <a:t>)</a:t>
            </a:r>
          </a:p>
        </p:txBody>
      </p:sp>
      <p:sp>
        <p:nvSpPr>
          <p:cNvPr id="16387" name="Rectangle 3"/>
          <p:cNvSpPr>
            <a:spLocks noGrp="1"/>
          </p:cNvSpPr>
          <p:nvPr>
            <p:ph idx="1"/>
          </p:nvPr>
        </p:nvSpPr>
        <p:spPr>
          <a:xfrm>
            <a:off x="427038" y="942975"/>
            <a:ext cx="8583612" cy="5519738"/>
          </a:xfrm>
          <a:ln/>
        </p:spPr>
        <p:txBody>
          <a:bodyPr vert="horz" wrap="square" lIns="92407" tIns="45421" rIns="92407" bIns="45421" anchor="t" anchorCtr="0"/>
          <a:lstStyle/>
          <a:p>
            <a:pPr>
              <a:lnSpc>
                <a:spcPct val="90000"/>
              </a:lnSpc>
            </a:pPr>
            <a:r>
              <a:rPr lang="en-US" altLang="zh-CN" sz="2000" dirty="0">
                <a:solidFill>
                  <a:srgbClr val="0000FF"/>
                </a:solidFill>
                <a:ea typeface="宋体" panose="02010600030101010101" pitchFamily="2" charset="-122"/>
              </a:rPr>
              <a:t>count++</a:t>
            </a:r>
            <a:r>
              <a:rPr lang="en-US" altLang="zh-CN" sz="2000" dirty="0">
                <a:ea typeface="宋体" panose="02010600030101010101" pitchFamily="2" charset="-122"/>
              </a:rPr>
              <a:t> could be implemented as</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     </a:t>
            </a:r>
            <a:r>
              <a:rPr lang="en-US" altLang="zh-CN" sz="2000" dirty="0">
                <a:solidFill>
                  <a:srgbClr val="0000FF"/>
                </a:solidFill>
                <a:ea typeface="宋体" panose="02010600030101010101" pitchFamily="2" charset="-122"/>
              </a:rPr>
              <a:t>register1 = count</a:t>
            </a:r>
            <a:br>
              <a:rPr lang="en-US" altLang="zh-CN" sz="2000" dirty="0">
                <a:solidFill>
                  <a:srgbClr val="0000FF"/>
                </a:solidFill>
                <a:ea typeface="宋体" panose="02010600030101010101" pitchFamily="2" charset="-122"/>
              </a:rPr>
            </a:br>
            <a:r>
              <a:rPr lang="en-US" altLang="zh-CN" sz="2000" dirty="0">
                <a:solidFill>
                  <a:srgbClr val="0000FF"/>
                </a:solidFill>
                <a:ea typeface="宋体" panose="02010600030101010101" pitchFamily="2" charset="-122"/>
              </a:rPr>
              <a:t>     register1 = register1 + 1</a:t>
            </a:r>
            <a:br>
              <a:rPr lang="en-US" altLang="zh-CN" sz="2000" dirty="0">
                <a:solidFill>
                  <a:srgbClr val="0000FF"/>
                </a:solidFill>
                <a:ea typeface="宋体" panose="02010600030101010101" pitchFamily="2" charset="-122"/>
              </a:rPr>
            </a:br>
            <a:r>
              <a:rPr lang="en-US" altLang="zh-CN" sz="2000" dirty="0">
                <a:solidFill>
                  <a:srgbClr val="0000FF"/>
                </a:solidFill>
                <a:ea typeface="宋体" panose="02010600030101010101" pitchFamily="2" charset="-122"/>
              </a:rPr>
              <a:t>     count = register1</a:t>
            </a:r>
          </a:p>
          <a:p>
            <a:pPr>
              <a:lnSpc>
                <a:spcPct val="90000"/>
              </a:lnSpc>
            </a:pPr>
            <a:r>
              <a:rPr lang="en-US" altLang="zh-CN" sz="2000" dirty="0">
                <a:solidFill>
                  <a:srgbClr val="FF0000"/>
                </a:solidFill>
                <a:ea typeface="宋体" panose="02010600030101010101" pitchFamily="2" charset="-122"/>
              </a:rPr>
              <a:t>count-- </a:t>
            </a:r>
            <a:r>
              <a:rPr lang="en-US" altLang="zh-CN" sz="2000" dirty="0">
                <a:ea typeface="宋体" panose="02010600030101010101" pitchFamily="2" charset="-122"/>
              </a:rPr>
              <a:t>could be implemented as</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solidFill>
                  <a:srgbClr val="FF0000"/>
                </a:solidFill>
                <a:ea typeface="宋体" panose="02010600030101010101" pitchFamily="2" charset="-122"/>
              </a:rPr>
              <a:t>     register2 = count</a:t>
            </a:r>
            <a:br>
              <a:rPr lang="en-US" altLang="zh-CN" sz="2000" dirty="0">
                <a:solidFill>
                  <a:srgbClr val="FF0000"/>
                </a:solidFill>
                <a:ea typeface="宋体" panose="02010600030101010101" pitchFamily="2" charset="-122"/>
              </a:rPr>
            </a:br>
            <a:r>
              <a:rPr lang="en-US" altLang="zh-CN" sz="2000" dirty="0">
                <a:solidFill>
                  <a:srgbClr val="FF0000"/>
                </a:solidFill>
                <a:ea typeface="宋体" panose="02010600030101010101" pitchFamily="2" charset="-122"/>
              </a:rPr>
              <a:t>     register2 = register2 - 1</a:t>
            </a:r>
            <a:br>
              <a:rPr lang="en-US" altLang="zh-CN" sz="2000" dirty="0">
                <a:solidFill>
                  <a:srgbClr val="FF0000"/>
                </a:solidFill>
                <a:ea typeface="宋体" panose="02010600030101010101" pitchFamily="2" charset="-122"/>
              </a:rPr>
            </a:br>
            <a:r>
              <a:rPr lang="en-US" altLang="zh-CN" sz="2000" dirty="0">
                <a:solidFill>
                  <a:srgbClr val="FF0000"/>
                </a:solidFill>
                <a:ea typeface="宋体" panose="02010600030101010101" pitchFamily="2" charset="-122"/>
              </a:rPr>
              <a:t>     count = register2</a:t>
            </a:r>
          </a:p>
        </p:txBody>
      </p:sp>
      <p:sp>
        <p:nvSpPr>
          <p:cNvPr id="2" name="矩形 1">
            <a:extLst>
              <a:ext uri="{FF2B5EF4-FFF2-40B4-BE49-F238E27FC236}">
                <a16:creationId xmlns:a16="http://schemas.microsoft.com/office/drawing/2014/main" id="{83777BCA-20F7-4558-A15A-E9197899FA2B}"/>
              </a:ext>
            </a:extLst>
          </p:cNvPr>
          <p:cNvSpPr/>
          <p:nvPr/>
        </p:nvSpPr>
        <p:spPr bwMode="auto">
          <a:xfrm>
            <a:off x="7718285" y="1523649"/>
            <a:ext cx="774915" cy="294468"/>
          </a:xfrm>
          <a:prstGeom prst="rect">
            <a:avLst/>
          </a:prstGeom>
          <a:solidFill>
            <a:srgbClr val="FFC0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Verdana" panose="020B0604030504040204" pitchFamily="34" charset="0"/>
              </a:rPr>
              <a:t>3</a:t>
            </a:r>
            <a:endParaRPr kumimoji="0" lang="zh-CN" altLang="en-US" sz="1800" b="0" i="0" u="none" strike="noStrike" cap="none" normalizeH="0" baseline="0" dirty="0">
              <a:ln>
                <a:noFill/>
              </a:ln>
              <a:solidFill>
                <a:schemeClr val="tx1"/>
              </a:solidFill>
              <a:effectLst/>
              <a:latin typeface="Verdana" panose="020B0604030504040204" pitchFamily="34" charset="0"/>
            </a:endParaRPr>
          </a:p>
        </p:txBody>
      </p:sp>
      <p:sp>
        <p:nvSpPr>
          <p:cNvPr id="3" name="文本框 2">
            <a:extLst>
              <a:ext uri="{FF2B5EF4-FFF2-40B4-BE49-F238E27FC236}">
                <a16:creationId xmlns:a16="http://schemas.microsoft.com/office/drawing/2014/main" id="{416A283D-AB97-4C8A-8EB8-E8CBBE55C946}"/>
              </a:ext>
            </a:extLst>
          </p:cNvPr>
          <p:cNvSpPr txBox="1"/>
          <p:nvPr/>
        </p:nvSpPr>
        <p:spPr>
          <a:xfrm>
            <a:off x="6393180" y="1818117"/>
            <a:ext cx="898003" cy="400110"/>
          </a:xfrm>
          <a:prstGeom prst="rect">
            <a:avLst/>
          </a:prstGeom>
          <a:noFill/>
        </p:spPr>
        <p:txBody>
          <a:bodyPr wrap="none" rtlCol="0">
            <a:spAutoFit/>
          </a:bodyPr>
          <a:lstStyle/>
          <a:p>
            <a:r>
              <a:rPr lang="en-US" altLang="zh-CN" dirty="0"/>
              <a:t>count</a:t>
            </a:r>
            <a:endParaRPr lang="zh-CN" altLang="en-US" dirty="0"/>
          </a:p>
        </p:txBody>
      </p:sp>
      <p:sp>
        <p:nvSpPr>
          <p:cNvPr id="7" name="矩形 6">
            <a:extLst>
              <a:ext uri="{FF2B5EF4-FFF2-40B4-BE49-F238E27FC236}">
                <a16:creationId xmlns:a16="http://schemas.microsoft.com/office/drawing/2014/main" id="{9B794AC4-96CC-4878-82E5-7291C9EF5CE0}"/>
              </a:ext>
            </a:extLst>
          </p:cNvPr>
          <p:cNvSpPr/>
          <p:nvPr/>
        </p:nvSpPr>
        <p:spPr bwMode="auto">
          <a:xfrm>
            <a:off x="6454723" y="1523649"/>
            <a:ext cx="774915" cy="29446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Verdana" panose="020B0604030504040204" pitchFamily="34" charset="0"/>
              </a:rPr>
              <a:t>3</a:t>
            </a:r>
            <a:endParaRPr kumimoji="0" lang="zh-CN" altLang="en-US" sz="1800" b="0" i="0" u="none" strike="noStrike" cap="none" normalizeH="0" baseline="0" dirty="0">
              <a:ln>
                <a:noFill/>
              </a:ln>
              <a:solidFill>
                <a:schemeClr val="tx1"/>
              </a:solidFill>
              <a:effectLst/>
              <a:latin typeface="Verdana" panose="020B0604030504040204" pitchFamily="34" charset="0"/>
            </a:endParaRPr>
          </a:p>
        </p:txBody>
      </p:sp>
      <p:sp>
        <p:nvSpPr>
          <p:cNvPr id="8" name="文本框 7">
            <a:extLst>
              <a:ext uri="{FF2B5EF4-FFF2-40B4-BE49-F238E27FC236}">
                <a16:creationId xmlns:a16="http://schemas.microsoft.com/office/drawing/2014/main" id="{D8660571-CC90-465D-972F-3521DAF0C59E}"/>
              </a:ext>
            </a:extLst>
          </p:cNvPr>
          <p:cNvSpPr txBox="1"/>
          <p:nvPr/>
        </p:nvSpPr>
        <p:spPr>
          <a:xfrm>
            <a:off x="7514224" y="1818117"/>
            <a:ext cx="1335622" cy="400110"/>
          </a:xfrm>
          <a:prstGeom prst="rect">
            <a:avLst/>
          </a:prstGeom>
          <a:noFill/>
        </p:spPr>
        <p:txBody>
          <a:bodyPr wrap="none" rtlCol="0">
            <a:spAutoFit/>
          </a:bodyPr>
          <a:lstStyle/>
          <a:p>
            <a:r>
              <a:rPr lang="en-US" altLang="zh-CN" dirty="0"/>
              <a:t>register1</a:t>
            </a:r>
            <a:endParaRPr lang="zh-CN" altLang="en-US" dirty="0"/>
          </a:p>
        </p:txBody>
      </p:sp>
      <p:cxnSp>
        <p:nvCxnSpPr>
          <p:cNvPr id="6" name="直接箭头连接符 5">
            <a:extLst>
              <a:ext uri="{FF2B5EF4-FFF2-40B4-BE49-F238E27FC236}">
                <a16:creationId xmlns:a16="http://schemas.microsoft.com/office/drawing/2014/main" id="{46E6AD05-5ACE-4485-808E-A40E158E2366}"/>
              </a:ext>
            </a:extLst>
          </p:cNvPr>
          <p:cNvCxnSpPr>
            <a:cxnSpLocks/>
            <a:stCxn id="7" idx="3"/>
            <a:endCxn id="2" idx="1"/>
          </p:cNvCxnSpPr>
          <p:nvPr/>
        </p:nvCxnSpPr>
        <p:spPr bwMode="auto">
          <a:xfrm>
            <a:off x="7229638" y="1670883"/>
            <a:ext cx="488647" cy="0"/>
          </a:xfrm>
          <a:prstGeom prst="straightConnector1">
            <a:avLst/>
          </a:prstGeom>
          <a:solidFill>
            <a:schemeClr val="accent1"/>
          </a:solidFill>
          <a:ln w="38100" cap="flat" cmpd="sng" algn="ctr">
            <a:solidFill>
              <a:schemeClr val="tx1"/>
            </a:solidFill>
            <a:prstDash val="solid"/>
            <a:round/>
            <a:headEnd type="none" w="med" len="med"/>
            <a:tailEnd type="triangle"/>
          </a:ln>
        </p:spPr>
      </p:cxnSp>
      <p:sp>
        <p:nvSpPr>
          <p:cNvPr id="10" name="矩形 9">
            <a:extLst>
              <a:ext uri="{FF2B5EF4-FFF2-40B4-BE49-F238E27FC236}">
                <a16:creationId xmlns:a16="http://schemas.microsoft.com/office/drawing/2014/main" id="{F2C5DED0-42D8-47DE-9FF3-302C909C48C0}"/>
              </a:ext>
            </a:extLst>
          </p:cNvPr>
          <p:cNvSpPr/>
          <p:nvPr/>
        </p:nvSpPr>
        <p:spPr bwMode="auto">
          <a:xfrm>
            <a:off x="1100380" y="1530134"/>
            <a:ext cx="2931870" cy="294468"/>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3" name="矩形 12">
            <a:extLst>
              <a:ext uri="{FF2B5EF4-FFF2-40B4-BE49-F238E27FC236}">
                <a16:creationId xmlns:a16="http://schemas.microsoft.com/office/drawing/2014/main" id="{B8E8B4BC-237D-4EB6-83E8-A02AB09CF10C}"/>
              </a:ext>
            </a:extLst>
          </p:cNvPr>
          <p:cNvSpPr/>
          <p:nvPr/>
        </p:nvSpPr>
        <p:spPr bwMode="auto">
          <a:xfrm>
            <a:off x="7718284" y="1523541"/>
            <a:ext cx="774915" cy="294468"/>
          </a:xfrm>
          <a:prstGeom prst="rect">
            <a:avLst/>
          </a:prstGeom>
          <a:solidFill>
            <a:srgbClr val="FFC0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Verdana" panose="020B0604030504040204" pitchFamily="34" charset="0"/>
              </a:rPr>
              <a:t>4</a:t>
            </a:r>
            <a:endParaRPr kumimoji="0" lang="zh-CN" altLang="en-US" sz="1800" b="0" i="0" u="none" strike="noStrike" cap="none" normalizeH="0" baseline="0" dirty="0">
              <a:ln>
                <a:noFill/>
              </a:ln>
              <a:solidFill>
                <a:schemeClr val="tx1"/>
              </a:solidFill>
              <a:effectLst/>
              <a:latin typeface="Verdana" panose="020B0604030504040204" pitchFamily="34" charset="0"/>
            </a:endParaRPr>
          </a:p>
        </p:txBody>
      </p:sp>
      <p:cxnSp>
        <p:nvCxnSpPr>
          <p:cNvPr id="14" name="直接箭头连接符 13">
            <a:extLst>
              <a:ext uri="{FF2B5EF4-FFF2-40B4-BE49-F238E27FC236}">
                <a16:creationId xmlns:a16="http://schemas.microsoft.com/office/drawing/2014/main" id="{21873611-9187-4371-B1BE-F7EEEB0230ED}"/>
              </a:ext>
            </a:extLst>
          </p:cNvPr>
          <p:cNvCxnSpPr>
            <a:cxnSpLocks/>
            <a:stCxn id="13" idx="1"/>
          </p:cNvCxnSpPr>
          <p:nvPr/>
        </p:nvCxnSpPr>
        <p:spPr bwMode="auto">
          <a:xfrm flipH="1">
            <a:off x="7229638" y="1670775"/>
            <a:ext cx="488646" cy="0"/>
          </a:xfrm>
          <a:prstGeom prst="straightConnector1">
            <a:avLst/>
          </a:prstGeom>
          <a:solidFill>
            <a:schemeClr val="accent1"/>
          </a:solidFill>
          <a:ln w="38100" cap="flat" cmpd="sng" algn="ctr">
            <a:solidFill>
              <a:schemeClr val="tx1"/>
            </a:solidFill>
            <a:prstDash val="solid"/>
            <a:round/>
            <a:headEnd type="none" w="med" len="med"/>
            <a:tailEnd type="triangle"/>
          </a:ln>
        </p:spPr>
      </p:cxnSp>
      <p:sp>
        <p:nvSpPr>
          <p:cNvPr id="18" name="矩形 17">
            <a:extLst>
              <a:ext uri="{FF2B5EF4-FFF2-40B4-BE49-F238E27FC236}">
                <a16:creationId xmlns:a16="http://schemas.microsoft.com/office/drawing/2014/main" id="{B2DE4D97-6310-405E-B1B3-3CB1E8201B2B}"/>
              </a:ext>
            </a:extLst>
          </p:cNvPr>
          <p:cNvSpPr/>
          <p:nvPr/>
        </p:nvSpPr>
        <p:spPr bwMode="auto">
          <a:xfrm>
            <a:off x="6454722" y="1523541"/>
            <a:ext cx="774915" cy="29446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Verdana" panose="020B0604030504040204" pitchFamily="34" charset="0"/>
              </a:rPr>
              <a:t>4</a:t>
            </a:r>
            <a:endParaRPr kumimoji="0" lang="zh-CN" altLang="en-US" sz="1800" b="0" i="0" u="none" strike="noStrike" cap="none" normalizeH="0" baseline="0" dirty="0">
              <a:ln>
                <a:noFill/>
              </a:ln>
              <a:solidFill>
                <a:schemeClr val="tx1"/>
              </a:solidFill>
              <a:effectLst/>
              <a:latin typeface="Verdana" panose="020B0604030504040204" pitchFamily="34" charset="0"/>
            </a:endParaRPr>
          </a:p>
        </p:txBody>
      </p:sp>
      <p:sp>
        <p:nvSpPr>
          <p:cNvPr id="19" name="矩形 18">
            <a:extLst>
              <a:ext uri="{FF2B5EF4-FFF2-40B4-BE49-F238E27FC236}">
                <a16:creationId xmlns:a16="http://schemas.microsoft.com/office/drawing/2014/main" id="{8EABCC2F-9BFB-4303-AF2A-63C4C4C2AE0B}"/>
              </a:ext>
            </a:extLst>
          </p:cNvPr>
          <p:cNvSpPr/>
          <p:nvPr/>
        </p:nvSpPr>
        <p:spPr bwMode="auto">
          <a:xfrm>
            <a:off x="1100380" y="1800564"/>
            <a:ext cx="2931870" cy="294468"/>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20" name="矩形 19">
            <a:extLst>
              <a:ext uri="{FF2B5EF4-FFF2-40B4-BE49-F238E27FC236}">
                <a16:creationId xmlns:a16="http://schemas.microsoft.com/office/drawing/2014/main" id="{2608F013-53C3-438E-A325-11E9B9CC3CBA}"/>
              </a:ext>
            </a:extLst>
          </p:cNvPr>
          <p:cNvSpPr/>
          <p:nvPr/>
        </p:nvSpPr>
        <p:spPr bwMode="auto">
          <a:xfrm>
            <a:off x="1100380" y="2070993"/>
            <a:ext cx="2931870" cy="294468"/>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37" name="矩形 36">
            <a:extLst>
              <a:ext uri="{FF2B5EF4-FFF2-40B4-BE49-F238E27FC236}">
                <a16:creationId xmlns:a16="http://schemas.microsoft.com/office/drawing/2014/main" id="{D0394C33-BDA1-4CBC-A06B-7382EF662930}"/>
              </a:ext>
            </a:extLst>
          </p:cNvPr>
          <p:cNvSpPr/>
          <p:nvPr/>
        </p:nvSpPr>
        <p:spPr bwMode="auto">
          <a:xfrm>
            <a:off x="5180828" y="3010459"/>
            <a:ext cx="774915" cy="294468"/>
          </a:xfrm>
          <a:prstGeom prst="rect">
            <a:avLst/>
          </a:prstGeom>
          <a:solidFill>
            <a:srgbClr val="0070C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bg1"/>
                </a:solidFill>
                <a:effectLst/>
                <a:latin typeface="Verdana" panose="020B0604030504040204" pitchFamily="34" charset="0"/>
              </a:rPr>
              <a:t>4</a:t>
            </a:r>
            <a:endParaRPr kumimoji="0" lang="zh-CN" altLang="en-US" sz="1800" b="0" i="0" u="none" strike="noStrike" cap="none" normalizeH="0" baseline="0" dirty="0">
              <a:ln>
                <a:noFill/>
              </a:ln>
              <a:solidFill>
                <a:schemeClr val="bg1"/>
              </a:solidFill>
              <a:effectLst/>
              <a:latin typeface="Verdana" panose="020B0604030504040204" pitchFamily="34" charset="0"/>
            </a:endParaRPr>
          </a:p>
        </p:txBody>
      </p:sp>
      <p:sp>
        <p:nvSpPr>
          <p:cNvPr id="38" name="文本框 37">
            <a:extLst>
              <a:ext uri="{FF2B5EF4-FFF2-40B4-BE49-F238E27FC236}">
                <a16:creationId xmlns:a16="http://schemas.microsoft.com/office/drawing/2014/main" id="{2DB1BDFE-3346-46AF-AFFB-8D5F912A371C}"/>
              </a:ext>
            </a:extLst>
          </p:cNvPr>
          <p:cNvSpPr txBox="1"/>
          <p:nvPr/>
        </p:nvSpPr>
        <p:spPr>
          <a:xfrm>
            <a:off x="6393180" y="3298442"/>
            <a:ext cx="898003" cy="400110"/>
          </a:xfrm>
          <a:prstGeom prst="rect">
            <a:avLst/>
          </a:prstGeom>
          <a:noFill/>
        </p:spPr>
        <p:txBody>
          <a:bodyPr wrap="none" rtlCol="0">
            <a:spAutoFit/>
          </a:bodyPr>
          <a:lstStyle/>
          <a:p>
            <a:r>
              <a:rPr lang="en-US" altLang="zh-CN" dirty="0"/>
              <a:t>count</a:t>
            </a:r>
            <a:endParaRPr lang="zh-CN" altLang="en-US" dirty="0"/>
          </a:p>
        </p:txBody>
      </p:sp>
      <p:sp>
        <p:nvSpPr>
          <p:cNvPr id="39" name="矩形 38">
            <a:extLst>
              <a:ext uri="{FF2B5EF4-FFF2-40B4-BE49-F238E27FC236}">
                <a16:creationId xmlns:a16="http://schemas.microsoft.com/office/drawing/2014/main" id="{92F8F013-47C6-458A-8CA4-6DD3E100476A}"/>
              </a:ext>
            </a:extLst>
          </p:cNvPr>
          <p:cNvSpPr/>
          <p:nvPr/>
        </p:nvSpPr>
        <p:spPr bwMode="auto">
          <a:xfrm>
            <a:off x="6454723" y="3003974"/>
            <a:ext cx="774915" cy="29446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Verdana" panose="020B0604030504040204" pitchFamily="34" charset="0"/>
              </a:rPr>
              <a:t>4</a:t>
            </a:r>
            <a:endParaRPr kumimoji="0" lang="zh-CN" altLang="en-US" sz="1800" b="0" i="0" u="none" strike="noStrike" cap="none" normalizeH="0" baseline="0" dirty="0">
              <a:ln>
                <a:noFill/>
              </a:ln>
              <a:solidFill>
                <a:schemeClr val="tx1"/>
              </a:solidFill>
              <a:effectLst/>
              <a:latin typeface="Verdana" panose="020B0604030504040204" pitchFamily="34" charset="0"/>
            </a:endParaRPr>
          </a:p>
        </p:txBody>
      </p:sp>
      <p:sp>
        <p:nvSpPr>
          <p:cNvPr id="40" name="文本框 39">
            <a:extLst>
              <a:ext uri="{FF2B5EF4-FFF2-40B4-BE49-F238E27FC236}">
                <a16:creationId xmlns:a16="http://schemas.microsoft.com/office/drawing/2014/main" id="{A447AC1C-5EBB-4ECE-8CAC-683720465E4C}"/>
              </a:ext>
            </a:extLst>
          </p:cNvPr>
          <p:cNvSpPr txBox="1"/>
          <p:nvPr/>
        </p:nvSpPr>
        <p:spPr>
          <a:xfrm>
            <a:off x="4929774" y="3304927"/>
            <a:ext cx="1335622" cy="400110"/>
          </a:xfrm>
          <a:prstGeom prst="rect">
            <a:avLst/>
          </a:prstGeom>
          <a:noFill/>
        </p:spPr>
        <p:txBody>
          <a:bodyPr wrap="none" rtlCol="0">
            <a:spAutoFit/>
          </a:bodyPr>
          <a:lstStyle/>
          <a:p>
            <a:r>
              <a:rPr lang="en-US" altLang="zh-CN" dirty="0"/>
              <a:t>register2</a:t>
            </a:r>
            <a:endParaRPr lang="zh-CN" altLang="en-US" dirty="0"/>
          </a:p>
        </p:txBody>
      </p:sp>
      <p:cxnSp>
        <p:nvCxnSpPr>
          <p:cNvPr id="41" name="直接箭头连接符 40">
            <a:extLst>
              <a:ext uri="{FF2B5EF4-FFF2-40B4-BE49-F238E27FC236}">
                <a16:creationId xmlns:a16="http://schemas.microsoft.com/office/drawing/2014/main" id="{E8EA31F5-430C-4615-BBB8-0FE132C8D3BB}"/>
              </a:ext>
            </a:extLst>
          </p:cNvPr>
          <p:cNvCxnSpPr>
            <a:cxnSpLocks/>
            <a:stCxn id="45" idx="1"/>
            <a:endCxn id="43" idx="3"/>
          </p:cNvCxnSpPr>
          <p:nvPr/>
        </p:nvCxnSpPr>
        <p:spPr bwMode="auto">
          <a:xfrm flipH="1">
            <a:off x="5955743" y="3151208"/>
            <a:ext cx="498978" cy="0"/>
          </a:xfrm>
          <a:prstGeom prst="straightConnector1">
            <a:avLst/>
          </a:prstGeom>
          <a:solidFill>
            <a:schemeClr val="accent1"/>
          </a:solidFill>
          <a:ln w="38100" cap="flat" cmpd="sng" algn="ctr">
            <a:solidFill>
              <a:schemeClr val="tx1"/>
            </a:solidFill>
            <a:prstDash val="solid"/>
            <a:round/>
            <a:headEnd type="none" w="med" len="med"/>
            <a:tailEnd type="triangle"/>
          </a:ln>
        </p:spPr>
      </p:cxnSp>
      <p:sp>
        <p:nvSpPr>
          <p:cNvPr id="42" name="矩形 41">
            <a:extLst>
              <a:ext uri="{FF2B5EF4-FFF2-40B4-BE49-F238E27FC236}">
                <a16:creationId xmlns:a16="http://schemas.microsoft.com/office/drawing/2014/main" id="{6F0B8738-2080-46AB-863C-5B02475AECB5}"/>
              </a:ext>
            </a:extLst>
          </p:cNvPr>
          <p:cNvSpPr/>
          <p:nvPr/>
        </p:nvSpPr>
        <p:spPr bwMode="auto">
          <a:xfrm>
            <a:off x="1100380" y="3010459"/>
            <a:ext cx="2931870" cy="294468"/>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43" name="矩形 42">
            <a:extLst>
              <a:ext uri="{FF2B5EF4-FFF2-40B4-BE49-F238E27FC236}">
                <a16:creationId xmlns:a16="http://schemas.microsoft.com/office/drawing/2014/main" id="{DC7F3ADA-DC2B-4D87-8943-77183BC9B423}"/>
              </a:ext>
            </a:extLst>
          </p:cNvPr>
          <p:cNvSpPr/>
          <p:nvPr/>
        </p:nvSpPr>
        <p:spPr bwMode="auto">
          <a:xfrm>
            <a:off x="5180828" y="3003974"/>
            <a:ext cx="774915" cy="294468"/>
          </a:xfrm>
          <a:prstGeom prst="rect">
            <a:avLst/>
          </a:prstGeom>
          <a:solidFill>
            <a:srgbClr val="0070C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bg1"/>
                </a:solidFill>
                <a:effectLst/>
                <a:latin typeface="Verdana" panose="020B0604030504040204" pitchFamily="34" charset="0"/>
              </a:rPr>
              <a:t>3</a:t>
            </a:r>
            <a:endParaRPr kumimoji="0" lang="zh-CN" altLang="en-US" sz="1800" b="0" i="0" u="none" strike="noStrike" cap="none" normalizeH="0" baseline="0" dirty="0">
              <a:ln>
                <a:noFill/>
              </a:ln>
              <a:solidFill>
                <a:schemeClr val="bg1"/>
              </a:solidFill>
              <a:effectLst/>
              <a:latin typeface="Verdana" panose="020B0604030504040204" pitchFamily="34" charset="0"/>
            </a:endParaRPr>
          </a:p>
        </p:txBody>
      </p:sp>
      <p:cxnSp>
        <p:nvCxnSpPr>
          <p:cNvPr id="44" name="直接箭头连接符 43">
            <a:extLst>
              <a:ext uri="{FF2B5EF4-FFF2-40B4-BE49-F238E27FC236}">
                <a16:creationId xmlns:a16="http://schemas.microsoft.com/office/drawing/2014/main" id="{AC3E1B5F-A855-4DC3-8206-2148273B416A}"/>
              </a:ext>
            </a:extLst>
          </p:cNvPr>
          <p:cNvCxnSpPr>
            <a:cxnSpLocks/>
            <a:stCxn id="43" idx="3"/>
            <a:endCxn id="45" idx="1"/>
          </p:cNvCxnSpPr>
          <p:nvPr/>
        </p:nvCxnSpPr>
        <p:spPr bwMode="auto">
          <a:xfrm>
            <a:off x="5955743" y="3151208"/>
            <a:ext cx="498978" cy="0"/>
          </a:xfrm>
          <a:prstGeom prst="straightConnector1">
            <a:avLst/>
          </a:prstGeom>
          <a:solidFill>
            <a:schemeClr val="accent1"/>
          </a:solidFill>
          <a:ln w="38100" cap="flat" cmpd="sng" algn="ctr">
            <a:solidFill>
              <a:schemeClr val="tx1"/>
            </a:solidFill>
            <a:prstDash val="solid"/>
            <a:round/>
            <a:headEnd type="none" w="med" len="med"/>
            <a:tailEnd type="triangle"/>
          </a:ln>
        </p:spPr>
      </p:cxnSp>
      <p:sp>
        <p:nvSpPr>
          <p:cNvPr id="45" name="矩形 44">
            <a:extLst>
              <a:ext uri="{FF2B5EF4-FFF2-40B4-BE49-F238E27FC236}">
                <a16:creationId xmlns:a16="http://schemas.microsoft.com/office/drawing/2014/main" id="{BC0A9A8A-DC5C-4002-9389-A8E488B7BE28}"/>
              </a:ext>
            </a:extLst>
          </p:cNvPr>
          <p:cNvSpPr/>
          <p:nvPr/>
        </p:nvSpPr>
        <p:spPr bwMode="auto">
          <a:xfrm>
            <a:off x="6454721" y="3003974"/>
            <a:ext cx="774915" cy="29446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Verdana" panose="020B0604030504040204" pitchFamily="34" charset="0"/>
              </a:rPr>
              <a:t>3</a:t>
            </a:r>
            <a:endParaRPr kumimoji="0" lang="zh-CN" altLang="en-US" sz="1800" b="0" i="0" u="none" strike="noStrike" cap="none" normalizeH="0" baseline="0" dirty="0">
              <a:ln>
                <a:noFill/>
              </a:ln>
              <a:solidFill>
                <a:schemeClr val="tx1"/>
              </a:solidFill>
              <a:effectLst/>
              <a:latin typeface="Verdana" panose="020B0604030504040204" pitchFamily="34" charset="0"/>
            </a:endParaRPr>
          </a:p>
        </p:txBody>
      </p:sp>
      <p:sp>
        <p:nvSpPr>
          <p:cNvPr id="46" name="矩形 45">
            <a:extLst>
              <a:ext uri="{FF2B5EF4-FFF2-40B4-BE49-F238E27FC236}">
                <a16:creationId xmlns:a16="http://schemas.microsoft.com/office/drawing/2014/main" id="{C974C639-AEFD-4F88-86AB-C92C99447FF8}"/>
              </a:ext>
            </a:extLst>
          </p:cNvPr>
          <p:cNvSpPr/>
          <p:nvPr/>
        </p:nvSpPr>
        <p:spPr bwMode="auto">
          <a:xfrm>
            <a:off x="1100380" y="3280889"/>
            <a:ext cx="2931870" cy="294468"/>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47" name="矩形 46">
            <a:extLst>
              <a:ext uri="{FF2B5EF4-FFF2-40B4-BE49-F238E27FC236}">
                <a16:creationId xmlns:a16="http://schemas.microsoft.com/office/drawing/2014/main" id="{1A798EE6-1BA6-498D-A12D-6257E55FD276}"/>
              </a:ext>
            </a:extLst>
          </p:cNvPr>
          <p:cNvSpPr/>
          <p:nvPr/>
        </p:nvSpPr>
        <p:spPr bwMode="auto">
          <a:xfrm>
            <a:off x="1100380" y="3551318"/>
            <a:ext cx="2931870" cy="294468"/>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randombar(horizontal)">
                                      <p:cBhvr>
                                        <p:cTn id="15" dur="250"/>
                                        <p:tgtEl>
                                          <p:spTgt spid="6"/>
                                        </p:tgtEl>
                                      </p:cBhvr>
                                    </p:animEffect>
                                  </p:childTnLst>
                                </p:cTn>
                              </p:par>
                            </p:childTnLst>
                          </p:cTn>
                        </p:par>
                        <p:par>
                          <p:cTn id="16" fill="hold">
                            <p:stCondLst>
                              <p:cond delay="250"/>
                            </p:stCondLst>
                            <p:childTnLst>
                              <p:par>
                                <p:cTn id="17" presetID="1" presetClass="entr" presetSubtype="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par>
                          <p:cTn id="19" fill="hold">
                            <p:stCondLst>
                              <p:cond delay="250"/>
                            </p:stCondLst>
                            <p:childTnLst>
                              <p:par>
                                <p:cTn id="20" presetID="1"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1" nodeType="clickEffect">
                                  <p:stCondLst>
                                    <p:cond delay="0"/>
                                  </p:stCondLst>
                                  <p:childTnLst>
                                    <p:set>
                                      <p:cBhvr>
                                        <p:cTn id="25" dur="1" fill="hold">
                                          <p:stCondLst>
                                            <p:cond delay="0"/>
                                          </p:stCondLst>
                                        </p:cTn>
                                        <p:tgtEl>
                                          <p:spTgt spid="10"/>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grpId="1" nodeType="clickEffect">
                                  <p:stCondLst>
                                    <p:cond delay="0"/>
                                  </p:stCondLst>
                                  <p:childTnLst>
                                    <p:set>
                                      <p:cBhvr>
                                        <p:cTn id="31" dur="1" fill="hold">
                                          <p:stCondLst>
                                            <p:cond delay="0"/>
                                          </p:stCondLst>
                                        </p:cTn>
                                        <p:tgtEl>
                                          <p:spTgt spid="2"/>
                                        </p:tgtEl>
                                        <p:attrNameLst>
                                          <p:attrName>style.visibility</p:attrName>
                                        </p:attrNameLst>
                                      </p:cBhvr>
                                      <p:to>
                                        <p:strVal val="hidden"/>
                                      </p:to>
                                    </p:set>
                                  </p:childTnLst>
                                </p:cTn>
                              </p:par>
                            </p:childTnLst>
                          </p:cTn>
                        </p:par>
                        <p:par>
                          <p:cTn id="32" fill="hold">
                            <p:stCondLst>
                              <p:cond delay="0"/>
                            </p:stCondLst>
                            <p:childTnLst>
                              <p:par>
                                <p:cTn id="33" presetID="1" presetClass="entr" presetSubtype="0"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19"/>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4" presetClass="entr" presetSubtype="10" fill="hold"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randombar(horizontal)">
                                      <p:cBhvr>
                                        <p:cTn id="45" dur="250"/>
                                        <p:tgtEl>
                                          <p:spTgt spid="14"/>
                                        </p:tgtEl>
                                      </p:cBhvr>
                                    </p:animEffect>
                                  </p:childTnLst>
                                </p:cTn>
                              </p:par>
                              <p:par>
                                <p:cTn id="46" presetID="1" presetClass="exit" presetSubtype="0" fill="hold" nodeType="withEffect">
                                  <p:stCondLst>
                                    <p:cond delay="0"/>
                                  </p:stCondLst>
                                  <p:childTnLst>
                                    <p:set>
                                      <p:cBhvr>
                                        <p:cTn id="47" dur="1" fill="hold">
                                          <p:stCondLst>
                                            <p:cond delay="0"/>
                                          </p:stCondLst>
                                        </p:cTn>
                                        <p:tgtEl>
                                          <p:spTgt spid="6"/>
                                        </p:tgtEl>
                                        <p:attrNameLst>
                                          <p:attrName>style.visibility</p:attrName>
                                        </p:attrNameLst>
                                      </p:cBhvr>
                                      <p:to>
                                        <p:strVal val="hidden"/>
                                      </p:to>
                                    </p:set>
                                  </p:childTnLst>
                                </p:cTn>
                              </p:par>
                            </p:childTnLst>
                          </p:cTn>
                        </p:par>
                        <p:par>
                          <p:cTn id="48" fill="hold">
                            <p:stCondLst>
                              <p:cond delay="250"/>
                            </p:stCondLst>
                            <p:childTnLst>
                              <p:par>
                                <p:cTn id="49" presetID="1" presetClass="exit" presetSubtype="0" fill="hold" grpId="1" nodeType="afterEffect">
                                  <p:stCondLst>
                                    <p:cond delay="0"/>
                                  </p:stCondLst>
                                  <p:childTnLst>
                                    <p:set>
                                      <p:cBhvr>
                                        <p:cTn id="50" dur="1" fill="hold">
                                          <p:stCondLst>
                                            <p:cond delay="0"/>
                                          </p:stCondLst>
                                        </p:cTn>
                                        <p:tgtEl>
                                          <p:spTgt spid="7"/>
                                        </p:tgtEl>
                                        <p:attrNameLst>
                                          <p:attrName>style.visibility</p:attrName>
                                        </p:attrNameLst>
                                      </p:cBhvr>
                                      <p:to>
                                        <p:strVal val="hidden"/>
                                      </p:to>
                                    </p:set>
                                  </p:childTnLst>
                                </p:cTn>
                              </p:par>
                              <p:par>
                                <p:cTn id="51" presetID="1" presetClass="entr" presetSubtype="0" fill="hold" grpId="0" nodeType="withEffect">
                                  <p:stCondLst>
                                    <p:cond delay="250"/>
                                  </p:stCondLst>
                                  <p:childTnLst>
                                    <p:set>
                                      <p:cBhvr>
                                        <p:cTn id="52" dur="1" fill="hold">
                                          <p:stCondLst>
                                            <p:cond delay="0"/>
                                          </p:stCondLst>
                                        </p:cTn>
                                        <p:tgtEl>
                                          <p:spTgt spid="1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6387">
                                            <p:txEl>
                                              <p:pRg st="1" end="1"/>
                                            </p:txEl>
                                          </p:spTgt>
                                        </p:tgtEl>
                                        <p:attrNameLst>
                                          <p:attrName>style.visibility</p:attrName>
                                        </p:attrNameLst>
                                      </p:cBhvr>
                                      <p:to>
                                        <p:strVal val="visible"/>
                                      </p:to>
                                    </p:set>
                                    <p:anim calcmode="lin" valueType="num">
                                      <p:cBhvr additive="base">
                                        <p:cTn id="57" dur="500" fill="hold"/>
                                        <p:tgtEl>
                                          <p:spTgt spid="16387">
                                            <p:txEl>
                                              <p:pRg st="1" end="1"/>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16387">
                                            <p:txEl>
                                              <p:pRg st="1" end="1"/>
                                            </p:txEl>
                                          </p:spTgt>
                                        </p:tgtEl>
                                        <p:attrNameLst>
                                          <p:attrName>ppt_y</p:attrName>
                                        </p:attrNameLst>
                                      </p:cBhvr>
                                      <p:tavLst>
                                        <p:tav tm="0">
                                          <p:val>
                                            <p:strVal val="1+#ppt_h/2"/>
                                          </p:val>
                                        </p:tav>
                                        <p:tav tm="100000">
                                          <p:val>
                                            <p:strVal val="#ppt_y"/>
                                          </p:val>
                                        </p:tav>
                                      </p:tavLst>
                                    </p:anim>
                                  </p:childTnLst>
                                </p:cTn>
                              </p:par>
                              <p:par>
                                <p:cTn id="59" presetID="1" presetClass="exit" presetSubtype="0" fill="hold" grpId="1" nodeType="withEffect">
                                  <p:stCondLst>
                                    <p:cond delay="0"/>
                                  </p:stCondLst>
                                  <p:childTnLst>
                                    <p:set>
                                      <p:cBhvr>
                                        <p:cTn id="60" dur="1" fill="hold">
                                          <p:stCondLst>
                                            <p:cond delay="0"/>
                                          </p:stCondLst>
                                        </p:cTn>
                                        <p:tgtEl>
                                          <p:spTgt spid="20"/>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4" presetClass="entr" presetSubtype="10" fill="hold" nodeType="clickEffect">
                                  <p:stCondLst>
                                    <p:cond delay="0"/>
                                  </p:stCondLst>
                                  <p:childTnLst>
                                    <p:set>
                                      <p:cBhvr>
                                        <p:cTn id="72" dur="1" fill="hold">
                                          <p:stCondLst>
                                            <p:cond delay="0"/>
                                          </p:stCondLst>
                                        </p:cTn>
                                        <p:tgtEl>
                                          <p:spTgt spid="41"/>
                                        </p:tgtEl>
                                        <p:attrNameLst>
                                          <p:attrName>style.visibility</p:attrName>
                                        </p:attrNameLst>
                                      </p:cBhvr>
                                      <p:to>
                                        <p:strVal val="visible"/>
                                      </p:to>
                                    </p:set>
                                    <p:animEffect transition="in" filter="randombar(horizontal)">
                                      <p:cBhvr>
                                        <p:cTn id="73" dur="250"/>
                                        <p:tgtEl>
                                          <p:spTgt spid="41"/>
                                        </p:tgtEl>
                                      </p:cBhvr>
                                    </p:animEffect>
                                  </p:childTnLst>
                                </p:cTn>
                              </p:par>
                            </p:childTnLst>
                          </p:cTn>
                        </p:par>
                        <p:par>
                          <p:cTn id="74" fill="hold">
                            <p:stCondLst>
                              <p:cond delay="250"/>
                            </p:stCondLst>
                            <p:childTnLst>
                              <p:par>
                                <p:cTn id="75" presetID="1" presetClass="entr" presetSubtype="0" fill="hold" grpId="0" nodeType="afterEffect">
                                  <p:stCondLst>
                                    <p:cond delay="0"/>
                                  </p:stCondLst>
                                  <p:childTnLst>
                                    <p:set>
                                      <p:cBhvr>
                                        <p:cTn id="76" dur="1" fill="hold">
                                          <p:stCondLst>
                                            <p:cond delay="0"/>
                                          </p:stCondLst>
                                        </p:cTn>
                                        <p:tgtEl>
                                          <p:spTgt spid="37"/>
                                        </p:tgtEl>
                                        <p:attrNameLst>
                                          <p:attrName>style.visibility</p:attrName>
                                        </p:attrNameLst>
                                      </p:cBhvr>
                                      <p:to>
                                        <p:strVal val="visible"/>
                                      </p:to>
                                    </p:set>
                                  </p:childTnLst>
                                </p:cTn>
                              </p:par>
                            </p:childTnLst>
                          </p:cTn>
                        </p:par>
                        <p:par>
                          <p:cTn id="77" fill="hold">
                            <p:stCondLst>
                              <p:cond delay="250"/>
                            </p:stCondLst>
                            <p:childTnLst>
                              <p:par>
                                <p:cTn id="78" presetID="1" presetClass="entr" presetSubtype="0" fill="hold" grpId="0" nodeType="afterEffect">
                                  <p:stCondLst>
                                    <p:cond delay="0"/>
                                  </p:stCondLst>
                                  <p:childTnLst>
                                    <p:set>
                                      <p:cBhvr>
                                        <p:cTn id="79" dur="1" fill="hold">
                                          <p:stCondLst>
                                            <p:cond delay="0"/>
                                          </p:stCondLst>
                                        </p:cTn>
                                        <p:tgtEl>
                                          <p:spTgt spid="40"/>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xit" presetSubtype="0" fill="hold" grpId="1" nodeType="clickEffect">
                                  <p:stCondLst>
                                    <p:cond delay="0"/>
                                  </p:stCondLst>
                                  <p:childTnLst>
                                    <p:set>
                                      <p:cBhvr>
                                        <p:cTn id="83" dur="1" fill="hold">
                                          <p:stCondLst>
                                            <p:cond delay="0"/>
                                          </p:stCondLst>
                                        </p:cTn>
                                        <p:tgtEl>
                                          <p:spTgt spid="42"/>
                                        </p:tgtEl>
                                        <p:attrNameLst>
                                          <p:attrName>style.visibility</p:attrName>
                                        </p:attrNameLst>
                                      </p:cBhvr>
                                      <p:to>
                                        <p:strVal val="hidden"/>
                                      </p:to>
                                    </p:set>
                                  </p:childTnLst>
                                </p:cTn>
                              </p:par>
                              <p:par>
                                <p:cTn id="84" presetID="1" presetClass="entr" presetSubtype="0" fill="hold" grpId="0" nodeType="withEffect">
                                  <p:stCondLst>
                                    <p:cond delay="0"/>
                                  </p:stCondLst>
                                  <p:childTnLst>
                                    <p:set>
                                      <p:cBhvr>
                                        <p:cTn id="85" dur="1" fill="hold">
                                          <p:stCondLst>
                                            <p:cond delay="0"/>
                                          </p:stCondLst>
                                        </p:cTn>
                                        <p:tgtEl>
                                          <p:spTgt spid="46"/>
                                        </p:tgtEl>
                                        <p:attrNameLst>
                                          <p:attrName>style.visibility</p:attrName>
                                        </p:attrNameLst>
                                      </p:cBhvr>
                                      <p:to>
                                        <p:strVal val="visible"/>
                                      </p:to>
                                    </p:set>
                                  </p:childTnLst>
                                </p:cTn>
                              </p:par>
                            </p:childTnLst>
                          </p:cTn>
                        </p:par>
                        <p:par>
                          <p:cTn id="86" fill="hold">
                            <p:stCondLst>
                              <p:cond delay="0"/>
                            </p:stCondLst>
                            <p:childTnLst>
                              <p:par>
                                <p:cTn id="87" presetID="1" presetClass="exit" presetSubtype="0" fill="hold" grpId="1" nodeType="afterEffect">
                                  <p:stCondLst>
                                    <p:cond delay="0"/>
                                  </p:stCondLst>
                                  <p:childTnLst>
                                    <p:set>
                                      <p:cBhvr>
                                        <p:cTn id="88" dur="1" fill="hold">
                                          <p:stCondLst>
                                            <p:cond delay="0"/>
                                          </p:stCondLst>
                                        </p:cTn>
                                        <p:tgtEl>
                                          <p:spTgt spid="37"/>
                                        </p:tgtEl>
                                        <p:attrNameLst>
                                          <p:attrName>style.visibility</p:attrName>
                                        </p:attrNameLst>
                                      </p:cBhvr>
                                      <p:to>
                                        <p:strVal val="hidden"/>
                                      </p:to>
                                    </p:set>
                                  </p:childTnLst>
                                </p:cTn>
                              </p:par>
                            </p:childTnLst>
                          </p:cTn>
                        </p:par>
                        <p:par>
                          <p:cTn id="89" fill="hold">
                            <p:stCondLst>
                              <p:cond delay="0"/>
                            </p:stCondLst>
                            <p:childTnLst>
                              <p:par>
                                <p:cTn id="90" presetID="1" presetClass="entr" presetSubtype="0" fill="hold" grpId="0" nodeType="afterEffect">
                                  <p:stCondLst>
                                    <p:cond delay="0"/>
                                  </p:stCondLst>
                                  <p:childTnLst>
                                    <p:set>
                                      <p:cBhvr>
                                        <p:cTn id="91" dur="1" fill="hold">
                                          <p:stCondLst>
                                            <p:cond delay="0"/>
                                          </p:stCondLst>
                                        </p:cTn>
                                        <p:tgtEl>
                                          <p:spTgt spid="43"/>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47"/>
                                        </p:tgtEl>
                                        <p:attrNameLst>
                                          <p:attrName>style.visibility</p:attrName>
                                        </p:attrNameLst>
                                      </p:cBhvr>
                                      <p:to>
                                        <p:strVal val="visible"/>
                                      </p:to>
                                    </p:set>
                                  </p:childTnLst>
                                </p:cTn>
                              </p:par>
                              <p:par>
                                <p:cTn id="96" presetID="1" presetClass="exit" presetSubtype="0" fill="hold" grpId="1" nodeType="withEffect">
                                  <p:stCondLst>
                                    <p:cond delay="0"/>
                                  </p:stCondLst>
                                  <p:childTnLst>
                                    <p:set>
                                      <p:cBhvr>
                                        <p:cTn id="97" dur="1" fill="hold">
                                          <p:stCondLst>
                                            <p:cond delay="0"/>
                                          </p:stCondLst>
                                        </p:cTn>
                                        <p:tgtEl>
                                          <p:spTgt spid="46"/>
                                        </p:tgtEl>
                                        <p:attrNameLst>
                                          <p:attrName>style.visibility</p:attrName>
                                        </p:attrNameLst>
                                      </p:cBhvr>
                                      <p:to>
                                        <p:strVal val="hidden"/>
                                      </p:to>
                                    </p:set>
                                  </p:childTnLst>
                                </p:cTn>
                              </p:par>
                            </p:childTnLst>
                          </p:cTn>
                        </p:par>
                        <p:par>
                          <p:cTn id="98" fill="hold">
                            <p:stCondLst>
                              <p:cond delay="0"/>
                            </p:stCondLst>
                            <p:childTnLst>
                              <p:par>
                                <p:cTn id="99" presetID="14" presetClass="entr" presetSubtype="10" fill="hold" nodeType="afterEffect">
                                  <p:stCondLst>
                                    <p:cond delay="0"/>
                                  </p:stCondLst>
                                  <p:childTnLst>
                                    <p:set>
                                      <p:cBhvr>
                                        <p:cTn id="100" dur="1" fill="hold">
                                          <p:stCondLst>
                                            <p:cond delay="0"/>
                                          </p:stCondLst>
                                        </p:cTn>
                                        <p:tgtEl>
                                          <p:spTgt spid="44"/>
                                        </p:tgtEl>
                                        <p:attrNameLst>
                                          <p:attrName>style.visibility</p:attrName>
                                        </p:attrNameLst>
                                      </p:cBhvr>
                                      <p:to>
                                        <p:strVal val="visible"/>
                                      </p:to>
                                    </p:set>
                                    <p:animEffect transition="in" filter="randombar(horizontal)">
                                      <p:cBhvr>
                                        <p:cTn id="101" dur="250"/>
                                        <p:tgtEl>
                                          <p:spTgt spid="44"/>
                                        </p:tgtEl>
                                      </p:cBhvr>
                                    </p:animEffect>
                                  </p:childTnLst>
                                </p:cTn>
                              </p:par>
                              <p:par>
                                <p:cTn id="102" presetID="1" presetClass="exit" presetSubtype="0" fill="hold" nodeType="withEffect">
                                  <p:stCondLst>
                                    <p:cond delay="0"/>
                                  </p:stCondLst>
                                  <p:childTnLst>
                                    <p:set>
                                      <p:cBhvr>
                                        <p:cTn id="103" dur="1" fill="hold">
                                          <p:stCondLst>
                                            <p:cond delay="0"/>
                                          </p:stCondLst>
                                        </p:cTn>
                                        <p:tgtEl>
                                          <p:spTgt spid="41"/>
                                        </p:tgtEl>
                                        <p:attrNameLst>
                                          <p:attrName>style.visibility</p:attrName>
                                        </p:attrNameLst>
                                      </p:cBhvr>
                                      <p:to>
                                        <p:strVal val="hidden"/>
                                      </p:to>
                                    </p:set>
                                  </p:childTnLst>
                                </p:cTn>
                              </p:par>
                            </p:childTnLst>
                          </p:cTn>
                        </p:par>
                        <p:par>
                          <p:cTn id="104" fill="hold">
                            <p:stCondLst>
                              <p:cond delay="250"/>
                            </p:stCondLst>
                            <p:childTnLst>
                              <p:par>
                                <p:cTn id="105" presetID="1" presetClass="exit" presetSubtype="0" fill="hold" grpId="1" nodeType="afterEffect">
                                  <p:stCondLst>
                                    <p:cond delay="0"/>
                                  </p:stCondLst>
                                  <p:childTnLst>
                                    <p:set>
                                      <p:cBhvr>
                                        <p:cTn id="106" dur="1" fill="hold">
                                          <p:stCondLst>
                                            <p:cond delay="0"/>
                                          </p:stCondLst>
                                        </p:cTn>
                                        <p:tgtEl>
                                          <p:spTgt spid="39"/>
                                        </p:tgtEl>
                                        <p:attrNameLst>
                                          <p:attrName>style.visibility</p:attrName>
                                        </p:attrNameLst>
                                      </p:cBhvr>
                                      <p:to>
                                        <p:strVal val="hidden"/>
                                      </p:to>
                                    </p:set>
                                  </p:childTnLst>
                                </p:cTn>
                              </p:par>
                              <p:par>
                                <p:cTn id="107" presetID="1" presetClass="entr" presetSubtype="0" fill="hold" grpId="0" nodeType="withEffect">
                                  <p:stCondLst>
                                    <p:cond delay="250"/>
                                  </p:stCondLst>
                                  <p:childTnLst>
                                    <p:set>
                                      <p:cBhvr>
                                        <p:cTn id="108"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p:bldP spid="7" grpId="0" animBg="1"/>
      <p:bldP spid="7" grpId="1" animBg="1"/>
      <p:bldP spid="8" grpId="0"/>
      <p:bldP spid="10" grpId="0" animBg="1"/>
      <p:bldP spid="10" grpId="1" animBg="1"/>
      <p:bldP spid="13" grpId="0" animBg="1"/>
      <p:bldP spid="18" grpId="0" animBg="1"/>
      <p:bldP spid="19" grpId="0" animBg="1"/>
      <p:bldP spid="19" grpId="1" animBg="1"/>
      <p:bldP spid="20" grpId="0" animBg="1"/>
      <p:bldP spid="20" grpId="1" animBg="1"/>
      <p:bldP spid="37" grpId="0" animBg="1"/>
      <p:bldP spid="37" grpId="1" animBg="1"/>
      <p:bldP spid="38" grpId="0"/>
      <p:bldP spid="39" grpId="0" animBg="1"/>
      <p:bldP spid="39" grpId="1" animBg="1"/>
      <p:bldP spid="40" grpId="0"/>
      <p:bldP spid="42" grpId="0" animBg="1"/>
      <p:bldP spid="42" grpId="1" animBg="1"/>
      <p:bldP spid="43" grpId="0" animBg="1"/>
      <p:bldP spid="45" grpId="0" animBg="1"/>
      <p:bldP spid="46" grpId="0" animBg="1"/>
      <p:bldP spid="46" grpId="1" animBg="1"/>
      <p:bldP spid="4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矩形 35">
            <a:extLst>
              <a:ext uri="{FF2B5EF4-FFF2-40B4-BE49-F238E27FC236}">
                <a16:creationId xmlns:a16="http://schemas.microsoft.com/office/drawing/2014/main" id="{EB35ED2F-B779-4504-870B-3DF4910E6629}"/>
              </a:ext>
            </a:extLst>
          </p:cNvPr>
          <p:cNvSpPr/>
          <p:nvPr/>
        </p:nvSpPr>
        <p:spPr bwMode="auto">
          <a:xfrm>
            <a:off x="4735632" y="4025967"/>
            <a:ext cx="4053254" cy="2661705"/>
          </a:xfrm>
          <a:prstGeom prst="rect">
            <a:avLst/>
          </a:prstGeom>
          <a:solidFill>
            <a:schemeClr val="bg1">
              <a:lumMod val="95000"/>
              <a:alpha val="47000"/>
            </a:schemeClr>
          </a:solidFill>
          <a:ln w="9525" cap="flat" cmpd="sng" algn="ctr">
            <a:solidFill>
              <a:schemeClr val="tx1"/>
            </a:solidFill>
            <a:prstDash val="solid"/>
            <a:round/>
            <a:headEnd type="none" w="med" len="med"/>
            <a:tailEnd type="none" w="med" len="med"/>
          </a:ln>
          <a:effectLst>
            <a:softEdge rad="12700"/>
          </a:effectLst>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81" name="矩形 80">
            <a:extLst>
              <a:ext uri="{FF2B5EF4-FFF2-40B4-BE49-F238E27FC236}">
                <a16:creationId xmlns:a16="http://schemas.microsoft.com/office/drawing/2014/main" id="{BFE2371C-EE6F-4B1A-9AD2-F22C829EE1A5}"/>
              </a:ext>
            </a:extLst>
          </p:cNvPr>
          <p:cNvSpPr/>
          <p:nvPr/>
        </p:nvSpPr>
        <p:spPr bwMode="auto">
          <a:xfrm>
            <a:off x="6289726" y="4715285"/>
            <a:ext cx="774915" cy="294468"/>
          </a:xfrm>
          <a:prstGeom prst="rect">
            <a:avLst/>
          </a:prstGeom>
          <a:solidFill>
            <a:srgbClr val="FFC0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Verdana" panose="020B0604030504040204" pitchFamily="34" charset="0"/>
              </a:rPr>
              <a:t>0</a:t>
            </a:r>
            <a:endParaRPr kumimoji="0" lang="zh-CN" altLang="en-US" sz="1800" b="0" i="0" u="none" strike="noStrike" cap="none" normalizeH="0" baseline="0" dirty="0">
              <a:ln>
                <a:noFill/>
              </a:ln>
              <a:solidFill>
                <a:schemeClr val="tx1"/>
              </a:solidFill>
              <a:effectLst/>
              <a:latin typeface="Verdana" panose="020B0604030504040204" pitchFamily="34" charset="0"/>
            </a:endParaRPr>
          </a:p>
        </p:txBody>
      </p:sp>
      <p:sp>
        <p:nvSpPr>
          <p:cNvPr id="19457" name="Rectangle 2"/>
          <p:cNvSpPr>
            <a:spLocks noGrp="1"/>
          </p:cNvSpPr>
          <p:nvPr>
            <p:ph type="title"/>
          </p:nvPr>
        </p:nvSpPr>
        <p:spPr>
          <a:ln/>
        </p:spPr>
        <p:txBody>
          <a:bodyPr vert="horz" wrap="square" lIns="91440" tIns="45720" rIns="91440" bIns="45720" anchor="b" anchorCtr="0"/>
          <a:lstStyle/>
          <a:p>
            <a:pPr eaLnBrk="1" hangingPunct="1"/>
            <a:r>
              <a:rPr lang="en-US" altLang="zh-CN" dirty="0"/>
              <a:t>Race Condition (</a:t>
            </a:r>
            <a:r>
              <a:rPr lang="zh-CN" altLang="en-US" dirty="0">
                <a:ea typeface="宋体" panose="02010600030101010101" pitchFamily="2" charset="-122"/>
              </a:rPr>
              <a:t>竞争条件</a:t>
            </a:r>
            <a:r>
              <a:rPr lang="en-US" altLang="zh-CN" dirty="0"/>
              <a:t>)</a:t>
            </a:r>
          </a:p>
        </p:txBody>
      </p:sp>
      <p:sp>
        <p:nvSpPr>
          <p:cNvPr id="3" name="文本框 2">
            <a:extLst>
              <a:ext uri="{FF2B5EF4-FFF2-40B4-BE49-F238E27FC236}">
                <a16:creationId xmlns:a16="http://schemas.microsoft.com/office/drawing/2014/main" id="{416A283D-AB97-4C8A-8EB8-E8CBBE55C946}"/>
              </a:ext>
            </a:extLst>
          </p:cNvPr>
          <p:cNvSpPr txBox="1"/>
          <p:nvPr/>
        </p:nvSpPr>
        <p:spPr>
          <a:xfrm>
            <a:off x="6674833" y="6034824"/>
            <a:ext cx="898003" cy="400110"/>
          </a:xfrm>
          <a:prstGeom prst="rect">
            <a:avLst/>
          </a:prstGeom>
          <a:noFill/>
        </p:spPr>
        <p:txBody>
          <a:bodyPr wrap="none" rtlCol="0">
            <a:spAutoFit/>
          </a:bodyPr>
          <a:lstStyle/>
          <a:p>
            <a:r>
              <a:rPr lang="en-US" altLang="zh-CN" dirty="0"/>
              <a:t>count</a:t>
            </a:r>
            <a:endParaRPr lang="zh-CN" altLang="en-US" dirty="0"/>
          </a:p>
        </p:txBody>
      </p:sp>
      <p:sp>
        <p:nvSpPr>
          <p:cNvPr id="7" name="矩形 6">
            <a:extLst>
              <a:ext uri="{FF2B5EF4-FFF2-40B4-BE49-F238E27FC236}">
                <a16:creationId xmlns:a16="http://schemas.microsoft.com/office/drawing/2014/main" id="{9B794AC4-96CC-4878-82E5-7291C9EF5CE0}"/>
              </a:ext>
            </a:extLst>
          </p:cNvPr>
          <p:cNvSpPr/>
          <p:nvPr/>
        </p:nvSpPr>
        <p:spPr bwMode="auto">
          <a:xfrm>
            <a:off x="6736378" y="5766368"/>
            <a:ext cx="774915" cy="29446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Verdana" panose="020B0604030504040204" pitchFamily="34" charset="0"/>
              </a:rPr>
              <a:t>3</a:t>
            </a:r>
            <a:endParaRPr kumimoji="0" lang="zh-CN" altLang="en-US" sz="1800" b="0" i="0" u="none" strike="noStrike" cap="none" normalizeH="0" baseline="0" dirty="0">
              <a:ln>
                <a:noFill/>
              </a:ln>
              <a:solidFill>
                <a:schemeClr val="tx1"/>
              </a:solidFill>
              <a:effectLst/>
              <a:latin typeface="Verdana" panose="020B0604030504040204" pitchFamily="34" charset="0"/>
            </a:endParaRPr>
          </a:p>
        </p:txBody>
      </p:sp>
      <p:sp>
        <p:nvSpPr>
          <p:cNvPr id="21" name="矩形 20">
            <a:extLst>
              <a:ext uri="{FF2B5EF4-FFF2-40B4-BE49-F238E27FC236}">
                <a16:creationId xmlns:a16="http://schemas.microsoft.com/office/drawing/2014/main" id="{3A67F1ED-B714-4814-B8AE-34B2E2168708}"/>
              </a:ext>
            </a:extLst>
          </p:cNvPr>
          <p:cNvSpPr/>
          <p:nvPr/>
        </p:nvSpPr>
        <p:spPr>
          <a:xfrm>
            <a:off x="396240" y="951822"/>
            <a:ext cx="8392646" cy="646331"/>
          </a:xfrm>
          <a:prstGeom prst="rect">
            <a:avLst/>
          </a:prstGeom>
        </p:spPr>
        <p:txBody>
          <a:bodyPr wrap="square">
            <a:spAutoFit/>
          </a:bodyPr>
          <a:lstStyle/>
          <a:p>
            <a:pPr>
              <a:lnSpc>
                <a:spcPct val="90000"/>
              </a:lnSpc>
            </a:pPr>
            <a:r>
              <a:rPr lang="en-US" altLang="zh-CN" dirty="0">
                <a:ea typeface="宋体" panose="02010600030101010101" pitchFamily="2" charset="-122"/>
              </a:rPr>
              <a:t>Consider this execution interleaving with “count = 3” initially:</a:t>
            </a:r>
          </a:p>
          <a:p>
            <a:pPr lvl="1">
              <a:lnSpc>
                <a:spcPct val="90000"/>
              </a:lnSpc>
            </a:pPr>
            <a:r>
              <a:rPr lang="en-US" altLang="zh-CN" dirty="0">
                <a:solidFill>
                  <a:srgbClr val="0000FF"/>
                </a:solidFill>
                <a:ea typeface="宋体" panose="02010600030101010101" pitchFamily="2" charset="-122"/>
              </a:rPr>
              <a:t>P1</a:t>
            </a:r>
            <a:r>
              <a:rPr lang="en-US" altLang="zh-CN" dirty="0">
                <a:ea typeface="宋体" panose="02010600030101010101" pitchFamily="2" charset="-122"/>
              </a:rPr>
              <a:t>: producer execute </a:t>
            </a:r>
            <a:r>
              <a:rPr lang="en-US" altLang="zh-CN" dirty="0">
                <a:solidFill>
                  <a:srgbClr val="0000FF"/>
                </a:solidFill>
                <a:ea typeface="宋体" panose="02010600030101010101" pitchFamily="2" charset="-122"/>
              </a:rPr>
              <a:t>register1 = count</a:t>
            </a:r>
            <a:r>
              <a:rPr lang="en-US" altLang="zh-CN" dirty="0">
                <a:ea typeface="宋体" panose="02010600030101010101" pitchFamily="2" charset="-122"/>
              </a:rPr>
              <a:t>   {register1 = 3}</a:t>
            </a:r>
          </a:p>
        </p:txBody>
      </p:sp>
      <p:sp>
        <p:nvSpPr>
          <p:cNvPr id="22" name="矩形 21">
            <a:extLst>
              <a:ext uri="{FF2B5EF4-FFF2-40B4-BE49-F238E27FC236}">
                <a16:creationId xmlns:a16="http://schemas.microsoft.com/office/drawing/2014/main" id="{B9E9609C-233A-410F-B476-F44ABA419319}"/>
              </a:ext>
            </a:extLst>
          </p:cNvPr>
          <p:cNvSpPr/>
          <p:nvPr/>
        </p:nvSpPr>
        <p:spPr bwMode="auto">
          <a:xfrm>
            <a:off x="559284" y="4025969"/>
            <a:ext cx="4053254" cy="2661704"/>
          </a:xfrm>
          <a:prstGeom prst="rect">
            <a:avLst/>
          </a:prstGeom>
          <a:solidFill>
            <a:schemeClr val="bg1">
              <a:lumMod val="95000"/>
              <a:alpha val="47000"/>
            </a:schemeClr>
          </a:solidFill>
          <a:ln w="9525" cap="flat" cmpd="sng" algn="ctr">
            <a:solidFill>
              <a:schemeClr val="tx1"/>
            </a:solidFill>
            <a:prstDash val="solid"/>
            <a:round/>
            <a:headEnd type="none" w="med" len="med"/>
            <a:tailEnd type="none" w="med" len="med"/>
          </a:ln>
          <a:effectLst>
            <a:softEdge rad="12700"/>
          </a:effectLst>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dirty="0">
              <a:ln>
                <a:noFill/>
              </a:ln>
              <a:solidFill>
                <a:schemeClr val="tx1"/>
              </a:solidFill>
              <a:effectLst/>
              <a:latin typeface="Verdana" panose="020B0604030504040204" pitchFamily="34" charset="0"/>
            </a:endParaRPr>
          </a:p>
        </p:txBody>
      </p:sp>
      <p:cxnSp>
        <p:nvCxnSpPr>
          <p:cNvPr id="24" name="直接箭头连接符 23">
            <a:extLst>
              <a:ext uri="{FF2B5EF4-FFF2-40B4-BE49-F238E27FC236}">
                <a16:creationId xmlns:a16="http://schemas.microsoft.com/office/drawing/2014/main" id="{9F0BE978-D39A-4CE7-9C6A-9B4CC5201FAE}"/>
              </a:ext>
            </a:extLst>
          </p:cNvPr>
          <p:cNvCxnSpPr/>
          <p:nvPr/>
        </p:nvCxnSpPr>
        <p:spPr bwMode="auto">
          <a:xfrm>
            <a:off x="714268" y="5282492"/>
            <a:ext cx="3642101" cy="0"/>
          </a:xfrm>
          <a:prstGeom prst="straightConnector1">
            <a:avLst/>
          </a:prstGeom>
          <a:solidFill>
            <a:schemeClr val="accent1"/>
          </a:solidFill>
          <a:ln w="38100" cap="flat" cmpd="sng" algn="ctr">
            <a:solidFill>
              <a:srgbClr val="0000FF"/>
            </a:solidFill>
            <a:prstDash val="solid"/>
            <a:round/>
            <a:headEnd type="none" w="med" len="med"/>
            <a:tailEnd type="triangle"/>
          </a:ln>
        </p:spPr>
      </p:cxnSp>
      <p:cxnSp>
        <p:nvCxnSpPr>
          <p:cNvPr id="48" name="直接箭头连接符 47">
            <a:extLst>
              <a:ext uri="{FF2B5EF4-FFF2-40B4-BE49-F238E27FC236}">
                <a16:creationId xmlns:a16="http://schemas.microsoft.com/office/drawing/2014/main" id="{A5470E61-8A9A-4EC9-A145-B12C61774C5C}"/>
              </a:ext>
            </a:extLst>
          </p:cNvPr>
          <p:cNvCxnSpPr/>
          <p:nvPr/>
        </p:nvCxnSpPr>
        <p:spPr bwMode="auto">
          <a:xfrm>
            <a:off x="738332" y="6363755"/>
            <a:ext cx="3642101" cy="0"/>
          </a:xfrm>
          <a:prstGeom prst="straightConnector1">
            <a:avLst/>
          </a:prstGeom>
          <a:solidFill>
            <a:schemeClr val="accent1"/>
          </a:solidFill>
          <a:ln w="38100" cap="flat" cmpd="sng" algn="ctr">
            <a:solidFill>
              <a:srgbClr val="FF3300"/>
            </a:solidFill>
            <a:prstDash val="solid"/>
            <a:round/>
            <a:headEnd type="none" w="med" len="med"/>
            <a:tailEnd type="triangle"/>
          </a:ln>
        </p:spPr>
      </p:cxnSp>
      <p:cxnSp>
        <p:nvCxnSpPr>
          <p:cNvPr id="49" name="直接箭头连接符 48">
            <a:extLst>
              <a:ext uri="{FF2B5EF4-FFF2-40B4-BE49-F238E27FC236}">
                <a16:creationId xmlns:a16="http://schemas.microsoft.com/office/drawing/2014/main" id="{F5BD5113-EC14-4B15-9222-7D1678C13E0D}"/>
              </a:ext>
            </a:extLst>
          </p:cNvPr>
          <p:cNvCxnSpPr>
            <a:cxnSpLocks/>
          </p:cNvCxnSpPr>
          <p:nvPr/>
        </p:nvCxnSpPr>
        <p:spPr bwMode="auto">
          <a:xfrm>
            <a:off x="614245" y="4226024"/>
            <a:ext cx="554063" cy="0"/>
          </a:xfrm>
          <a:prstGeom prst="straightConnector1">
            <a:avLst/>
          </a:prstGeom>
          <a:solidFill>
            <a:schemeClr val="accent1"/>
          </a:solidFill>
          <a:ln w="38100" cap="flat" cmpd="sng" algn="ctr">
            <a:solidFill>
              <a:srgbClr val="0000FF"/>
            </a:solidFill>
            <a:prstDash val="solid"/>
            <a:round/>
            <a:headEnd type="none" w="med" len="med"/>
            <a:tailEnd type="triangle"/>
          </a:ln>
        </p:spPr>
      </p:cxnSp>
      <p:sp>
        <p:nvSpPr>
          <p:cNvPr id="26" name="矩形 25">
            <a:extLst>
              <a:ext uri="{FF2B5EF4-FFF2-40B4-BE49-F238E27FC236}">
                <a16:creationId xmlns:a16="http://schemas.microsoft.com/office/drawing/2014/main" id="{558B3CE1-E87A-45E7-8753-0CCC0F3E4829}"/>
              </a:ext>
            </a:extLst>
          </p:cNvPr>
          <p:cNvSpPr/>
          <p:nvPr/>
        </p:nvSpPr>
        <p:spPr>
          <a:xfrm>
            <a:off x="1115703" y="4025969"/>
            <a:ext cx="1487908" cy="400110"/>
          </a:xfrm>
          <a:prstGeom prst="rect">
            <a:avLst/>
          </a:prstGeom>
        </p:spPr>
        <p:txBody>
          <a:bodyPr wrap="none">
            <a:spAutoFit/>
          </a:bodyPr>
          <a:lstStyle/>
          <a:p>
            <a:pPr eaLnBrk="0" hangingPunct="0"/>
            <a:r>
              <a:rPr lang="en-US" altLang="zh-CN" b="1" dirty="0"/>
              <a:t>Producer</a:t>
            </a:r>
            <a:endParaRPr lang="zh-CN" altLang="en-US" b="1" dirty="0"/>
          </a:p>
        </p:txBody>
      </p:sp>
      <p:cxnSp>
        <p:nvCxnSpPr>
          <p:cNvPr id="50" name="直接箭头连接符 49">
            <a:extLst>
              <a:ext uri="{FF2B5EF4-FFF2-40B4-BE49-F238E27FC236}">
                <a16:creationId xmlns:a16="http://schemas.microsoft.com/office/drawing/2014/main" id="{FFBA52DA-3ACF-4D98-BA6D-8EB7BDF44ADF}"/>
              </a:ext>
            </a:extLst>
          </p:cNvPr>
          <p:cNvCxnSpPr>
            <a:cxnSpLocks/>
          </p:cNvCxnSpPr>
          <p:nvPr/>
        </p:nvCxnSpPr>
        <p:spPr bwMode="auto">
          <a:xfrm flipV="1">
            <a:off x="2549505" y="4222335"/>
            <a:ext cx="554063" cy="8724"/>
          </a:xfrm>
          <a:prstGeom prst="straightConnector1">
            <a:avLst/>
          </a:prstGeom>
          <a:solidFill>
            <a:schemeClr val="accent1"/>
          </a:solidFill>
          <a:ln w="38100" cap="flat" cmpd="sng" algn="ctr">
            <a:solidFill>
              <a:srgbClr val="FF3300"/>
            </a:solidFill>
            <a:prstDash val="solid"/>
            <a:round/>
            <a:headEnd type="none" w="med" len="med"/>
            <a:tailEnd type="triangle"/>
          </a:ln>
        </p:spPr>
      </p:cxnSp>
      <p:sp>
        <p:nvSpPr>
          <p:cNvPr id="51" name="矩形 50">
            <a:extLst>
              <a:ext uri="{FF2B5EF4-FFF2-40B4-BE49-F238E27FC236}">
                <a16:creationId xmlns:a16="http://schemas.microsoft.com/office/drawing/2014/main" id="{1DA2278D-70B0-4D00-8793-79E4C9DD817D}"/>
              </a:ext>
            </a:extLst>
          </p:cNvPr>
          <p:cNvSpPr/>
          <p:nvPr/>
        </p:nvSpPr>
        <p:spPr>
          <a:xfrm>
            <a:off x="3040174" y="4025969"/>
            <a:ext cx="1633781" cy="400110"/>
          </a:xfrm>
          <a:prstGeom prst="rect">
            <a:avLst/>
          </a:prstGeom>
        </p:spPr>
        <p:txBody>
          <a:bodyPr wrap="none">
            <a:spAutoFit/>
          </a:bodyPr>
          <a:lstStyle/>
          <a:p>
            <a:pPr eaLnBrk="0" hangingPunct="0"/>
            <a:r>
              <a:rPr lang="en-US" altLang="zh-CN" b="1" dirty="0"/>
              <a:t>Consumer</a:t>
            </a:r>
            <a:endParaRPr lang="zh-CN" altLang="en-US" b="1" dirty="0"/>
          </a:p>
        </p:txBody>
      </p:sp>
      <p:sp>
        <p:nvSpPr>
          <p:cNvPr id="28" name="椭圆 27">
            <a:extLst>
              <a:ext uri="{FF2B5EF4-FFF2-40B4-BE49-F238E27FC236}">
                <a16:creationId xmlns:a16="http://schemas.microsoft.com/office/drawing/2014/main" id="{2AACD2F0-D13B-442F-AE13-4818F7CB1C92}"/>
              </a:ext>
            </a:extLst>
          </p:cNvPr>
          <p:cNvSpPr/>
          <p:nvPr/>
        </p:nvSpPr>
        <p:spPr bwMode="auto">
          <a:xfrm>
            <a:off x="777924" y="5222264"/>
            <a:ext cx="118175" cy="120314"/>
          </a:xfrm>
          <a:prstGeom prst="ellipse">
            <a:avLst/>
          </a:prstGeom>
          <a:solidFill>
            <a:schemeClr val="accent4">
              <a:lumMod val="50000"/>
              <a:lumOff val="50000"/>
            </a:schemeClr>
          </a:solidFill>
          <a:ln w="9525" cap="flat" cmpd="sng" algn="ctr">
            <a:solidFill>
              <a:schemeClr val="tx1"/>
            </a:solidFill>
            <a:prstDash val="solid"/>
            <a:round/>
            <a:headEnd type="none" w="med" len="med"/>
            <a:tailEnd type="none" w="med" len="med"/>
          </a:ln>
        </p:spPr>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eaLnBrk="0" hangingPunct="0"/>
            <a:endParaRPr lang="zh-CN" altLang="en-US" sz="1800"/>
          </a:p>
        </p:txBody>
      </p:sp>
      <p:sp>
        <p:nvSpPr>
          <p:cNvPr id="52" name="椭圆 51">
            <a:extLst>
              <a:ext uri="{FF2B5EF4-FFF2-40B4-BE49-F238E27FC236}">
                <a16:creationId xmlns:a16="http://schemas.microsoft.com/office/drawing/2014/main" id="{D6180500-5C56-4705-9965-BA7A9463EAD0}"/>
              </a:ext>
            </a:extLst>
          </p:cNvPr>
          <p:cNvSpPr/>
          <p:nvPr/>
        </p:nvSpPr>
        <p:spPr bwMode="auto">
          <a:xfrm>
            <a:off x="1188663" y="5222264"/>
            <a:ext cx="118175" cy="120314"/>
          </a:xfrm>
          <a:prstGeom prst="ellipse">
            <a:avLst/>
          </a:prstGeom>
          <a:solidFill>
            <a:schemeClr val="accent4">
              <a:lumMod val="50000"/>
              <a:lumOff val="50000"/>
            </a:schemeClr>
          </a:solidFill>
          <a:ln w="9525" cap="flat" cmpd="sng" algn="ctr">
            <a:solidFill>
              <a:schemeClr val="tx1"/>
            </a:solidFill>
            <a:prstDash val="solid"/>
            <a:round/>
            <a:headEnd type="none" w="med" len="med"/>
            <a:tailEnd type="none" w="med" len="med"/>
          </a:ln>
        </p:spPr>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eaLnBrk="0" hangingPunct="0"/>
            <a:endParaRPr lang="zh-CN" altLang="en-US" sz="1800"/>
          </a:p>
        </p:txBody>
      </p:sp>
      <p:sp>
        <p:nvSpPr>
          <p:cNvPr id="30" name="文本框 29">
            <a:extLst>
              <a:ext uri="{FF2B5EF4-FFF2-40B4-BE49-F238E27FC236}">
                <a16:creationId xmlns:a16="http://schemas.microsoft.com/office/drawing/2014/main" id="{D0AC888A-19FE-4DDB-9375-76253079B4F4}"/>
              </a:ext>
            </a:extLst>
          </p:cNvPr>
          <p:cNvSpPr txBox="1"/>
          <p:nvPr/>
        </p:nvSpPr>
        <p:spPr>
          <a:xfrm>
            <a:off x="610045" y="4822154"/>
            <a:ext cx="502061" cy="400110"/>
          </a:xfrm>
          <a:prstGeom prst="rect">
            <a:avLst/>
          </a:prstGeom>
          <a:noFill/>
        </p:spPr>
        <p:txBody>
          <a:bodyPr wrap="none" rtlCol="0">
            <a:spAutoFit/>
          </a:bodyPr>
          <a:lstStyle/>
          <a:p>
            <a:r>
              <a:rPr lang="en-US" altLang="zh-CN" dirty="0">
                <a:solidFill>
                  <a:srgbClr val="0000FF"/>
                </a:solidFill>
                <a:ea typeface="宋体" panose="02010600030101010101" pitchFamily="2" charset="-122"/>
              </a:rPr>
              <a:t>P1</a:t>
            </a:r>
            <a:endParaRPr lang="zh-CN" altLang="en-US" dirty="0"/>
          </a:p>
        </p:txBody>
      </p:sp>
      <p:cxnSp>
        <p:nvCxnSpPr>
          <p:cNvPr id="32" name="直接连接符 31">
            <a:extLst>
              <a:ext uri="{FF2B5EF4-FFF2-40B4-BE49-F238E27FC236}">
                <a16:creationId xmlns:a16="http://schemas.microsoft.com/office/drawing/2014/main" id="{2A37D731-F5DE-486D-9CC4-7EE5A49978F3}"/>
              </a:ext>
            </a:extLst>
          </p:cNvPr>
          <p:cNvCxnSpPr>
            <a:cxnSpLocks/>
          </p:cNvCxnSpPr>
          <p:nvPr/>
        </p:nvCxnSpPr>
        <p:spPr bwMode="auto">
          <a:xfrm>
            <a:off x="714268" y="5428615"/>
            <a:ext cx="146807" cy="5904"/>
          </a:xfrm>
          <a:prstGeom prst="line">
            <a:avLst/>
          </a:prstGeom>
          <a:solidFill>
            <a:schemeClr val="accent1"/>
          </a:solidFill>
          <a:ln w="28575" cap="flat" cmpd="sng" algn="ctr">
            <a:solidFill>
              <a:schemeClr val="tx1"/>
            </a:solidFill>
            <a:prstDash val="sysDash"/>
            <a:round/>
            <a:headEnd type="none" w="med" len="med"/>
            <a:tailEnd type="triangle" w="med" len="med"/>
          </a:ln>
        </p:spPr>
      </p:cxnSp>
      <p:cxnSp>
        <p:nvCxnSpPr>
          <p:cNvPr id="54" name="直接连接符 53">
            <a:extLst>
              <a:ext uri="{FF2B5EF4-FFF2-40B4-BE49-F238E27FC236}">
                <a16:creationId xmlns:a16="http://schemas.microsoft.com/office/drawing/2014/main" id="{BB705824-E358-48D4-8FCC-65E9C3ABD2B3}"/>
              </a:ext>
            </a:extLst>
          </p:cNvPr>
          <p:cNvCxnSpPr>
            <a:cxnSpLocks/>
          </p:cNvCxnSpPr>
          <p:nvPr/>
        </p:nvCxnSpPr>
        <p:spPr bwMode="auto">
          <a:xfrm>
            <a:off x="638309" y="4490547"/>
            <a:ext cx="529999" cy="0"/>
          </a:xfrm>
          <a:prstGeom prst="line">
            <a:avLst/>
          </a:prstGeom>
          <a:solidFill>
            <a:schemeClr val="accent1"/>
          </a:solidFill>
          <a:ln w="28575" cap="flat" cmpd="sng" algn="ctr">
            <a:solidFill>
              <a:schemeClr val="tx1"/>
            </a:solidFill>
            <a:prstDash val="sysDash"/>
            <a:round/>
            <a:headEnd type="none" w="med" len="med"/>
            <a:tailEnd type="triangle" w="med" len="med"/>
          </a:ln>
        </p:spPr>
      </p:cxnSp>
      <p:sp>
        <p:nvSpPr>
          <p:cNvPr id="56" name="矩形 55">
            <a:extLst>
              <a:ext uri="{FF2B5EF4-FFF2-40B4-BE49-F238E27FC236}">
                <a16:creationId xmlns:a16="http://schemas.microsoft.com/office/drawing/2014/main" id="{3945CF05-8E9C-4367-ABD9-681023961C95}"/>
              </a:ext>
            </a:extLst>
          </p:cNvPr>
          <p:cNvSpPr/>
          <p:nvPr/>
        </p:nvSpPr>
        <p:spPr>
          <a:xfrm>
            <a:off x="1115703" y="4285232"/>
            <a:ext cx="766557" cy="400110"/>
          </a:xfrm>
          <a:prstGeom prst="rect">
            <a:avLst/>
          </a:prstGeom>
        </p:spPr>
        <p:txBody>
          <a:bodyPr wrap="none">
            <a:spAutoFit/>
          </a:bodyPr>
          <a:lstStyle/>
          <a:p>
            <a:pPr eaLnBrk="0" hangingPunct="0"/>
            <a:r>
              <a:rPr lang="en-US" altLang="zh-CN" b="1" dirty="0"/>
              <a:t>CPU</a:t>
            </a:r>
            <a:endParaRPr lang="zh-CN" altLang="en-US" b="1" dirty="0"/>
          </a:p>
        </p:txBody>
      </p:sp>
      <p:sp>
        <p:nvSpPr>
          <p:cNvPr id="57" name="矩形 56">
            <a:extLst>
              <a:ext uri="{FF2B5EF4-FFF2-40B4-BE49-F238E27FC236}">
                <a16:creationId xmlns:a16="http://schemas.microsoft.com/office/drawing/2014/main" id="{CC519C86-5449-49FD-B9DD-0F61B48F2568}"/>
              </a:ext>
            </a:extLst>
          </p:cNvPr>
          <p:cNvSpPr/>
          <p:nvPr/>
        </p:nvSpPr>
        <p:spPr bwMode="auto">
          <a:xfrm>
            <a:off x="6289727" y="4715285"/>
            <a:ext cx="774915" cy="294468"/>
          </a:xfrm>
          <a:prstGeom prst="rect">
            <a:avLst/>
          </a:prstGeom>
          <a:solidFill>
            <a:srgbClr val="FFC0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Verdana" panose="020B0604030504040204" pitchFamily="34" charset="0"/>
              </a:rPr>
              <a:t>3</a:t>
            </a:r>
            <a:endParaRPr kumimoji="0" lang="zh-CN" altLang="en-US" sz="1800" b="0" i="0" u="none" strike="noStrike" cap="none" normalizeH="0" baseline="0" dirty="0">
              <a:ln>
                <a:noFill/>
              </a:ln>
              <a:solidFill>
                <a:schemeClr val="tx1"/>
              </a:solidFill>
              <a:effectLst/>
              <a:latin typeface="Verdana" panose="020B0604030504040204" pitchFamily="34" charset="0"/>
            </a:endParaRPr>
          </a:p>
        </p:txBody>
      </p:sp>
      <p:sp>
        <p:nvSpPr>
          <p:cNvPr id="58" name="文本框 57">
            <a:extLst>
              <a:ext uri="{FF2B5EF4-FFF2-40B4-BE49-F238E27FC236}">
                <a16:creationId xmlns:a16="http://schemas.microsoft.com/office/drawing/2014/main" id="{D0696186-D53C-44C1-B5B4-CB1BC40F8727}"/>
              </a:ext>
            </a:extLst>
          </p:cNvPr>
          <p:cNvSpPr txBox="1"/>
          <p:nvPr/>
        </p:nvSpPr>
        <p:spPr>
          <a:xfrm>
            <a:off x="6448594" y="4293935"/>
            <a:ext cx="457176" cy="400110"/>
          </a:xfrm>
          <a:prstGeom prst="rect">
            <a:avLst/>
          </a:prstGeom>
          <a:noFill/>
        </p:spPr>
        <p:txBody>
          <a:bodyPr wrap="none" rtlCol="0">
            <a:spAutoFit/>
          </a:bodyPr>
          <a:lstStyle/>
          <a:p>
            <a:r>
              <a:rPr lang="en-US" altLang="zh-CN" dirty="0"/>
              <a:t>r1</a:t>
            </a:r>
            <a:endParaRPr lang="zh-CN" altLang="en-US" dirty="0"/>
          </a:p>
        </p:txBody>
      </p:sp>
      <p:sp>
        <p:nvSpPr>
          <p:cNvPr id="35" name="矩形 34">
            <a:extLst>
              <a:ext uri="{FF2B5EF4-FFF2-40B4-BE49-F238E27FC236}">
                <a16:creationId xmlns:a16="http://schemas.microsoft.com/office/drawing/2014/main" id="{10DF9A23-A02E-4D5B-A680-16E8121562AD}"/>
              </a:ext>
            </a:extLst>
          </p:cNvPr>
          <p:cNvSpPr/>
          <p:nvPr/>
        </p:nvSpPr>
        <p:spPr>
          <a:xfrm>
            <a:off x="896099" y="3633164"/>
            <a:ext cx="7761296" cy="400110"/>
          </a:xfrm>
          <a:prstGeom prst="rect">
            <a:avLst/>
          </a:prstGeom>
        </p:spPr>
        <p:txBody>
          <a:bodyPr wrap="square">
            <a:spAutoFit/>
          </a:bodyPr>
          <a:lstStyle/>
          <a:p>
            <a:r>
              <a:rPr lang="en-US" altLang="zh-CN" dirty="0">
                <a:solidFill>
                  <a:srgbClr val="FF0000"/>
                </a:solidFill>
                <a:ea typeface="宋体" panose="02010600030101010101" pitchFamily="2" charset="-122"/>
              </a:rPr>
              <a:t>C3</a:t>
            </a:r>
            <a:r>
              <a:rPr lang="en-US" altLang="zh-CN" dirty="0">
                <a:ea typeface="宋体" panose="02010600030101010101" pitchFamily="2" charset="-122"/>
              </a:rPr>
              <a:t>: consumer execute </a:t>
            </a:r>
            <a:r>
              <a:rPr lang="en-US" altLang="zh-CN" dirty="0">
                <a:solidFill>
                  <a:srgbClr val="FF0000"/>
                </a:solidFill>
                <a:ea typeface="宋体" panose="02010600030101010101" pitchFamily="2" charset="-122"/>
              </a:rPr>
              <a:t>count = register2  </a:t>
            </a:r>
            <a:r>
              <a:rPr lang="en-US" altLang="zh-CN" dirty="0">
                <a:ea typeface="宋体" panose="02010600030101010101" pitchFamily="2" charset="-122"/>
              </a:rPr>
              <a:t>{count = 2}</a:t>
            </a:r>
            <a:endParaRPr lang="zh-CN" altLang="en-US" dirty="0"/>
          </a:p>
        </p:txBody>
      </p:sp>
      <p:sp>
        <p:nvSpPr>
          <p:cNvPr id="55" name="矩形 54">
            <a:extLst>
              <a:ext uri="{FF2B5EF4-FFF2-40B4-BE49-F238E27FC236}">
                <a16:creationId xmlns:a16="http://schemas.microsoft.com/office/drawing/2014/main" id="{BF58E0D8-7C68-476F-A265-175E6BD3E144}"/>
              </a:ext>
            </a:extLst>
          </p:cNvPr>
          <p:cNvSpPr/>
          <p:nvPr/>
        </p:nvSpPr>
        <p:spPr>
          <a:xfrm>
            <a:off x="865245" y="1572266"/>
            <a:ext cx="7664216" cy="707886"/>
          </a:xfrm>
          <a:prstGeom prst="rect">
            <a:avLst/>
          </a:prstGeom>
        </p:spPr>
        <p:txBody>
          <a:bodyPr wrap="square">
            <a:spAutoFit/>
          </a:bodyPr>
          <a:lstStyle/>
          <a:p>
            <a:r>
              <a:rPr lang="en-US" altLang="zh-CN" dirty="0">
                <a:solidFill>
                  <a:srgbClr val="0000FF"/>
                </a:solidFill>
                <a:ea typeface="宋体" panose="02010600030101010101" pitchFamily="2" charset="-122"/>
              </a:rPr>
              <a:t>P2</a:t>
            </a:r>
            <a:r>
              <a:rPr lang="en-US" altLang="zh-CN" dirty="0">
                <a:ea typeface="宋体" panose="02010600030101010101" pitchFamily="2" charset="-122"/>
              </a:rPr>
              <a:t>: producer execute </a:t>
            </a:r>
            <a:r>
              <a:rPr lang="en-US" altLang="zh-CN" dirty="0">
                <a:solidFill>
                  <a:srgbClr val="0000FF"/>
                </a:solidFill>
                <a:ea typeface="宋体" panose="02010600030101010101" pitchFamily="2" charset="-122"/>
              </a:rPr>
              <a:t>register1 = register1 + 1  </a:t>
            </a:r>
            <a:r>
              <a:rPr lang="en-US" altLang="zh-CN" dirty="0">
                <a:ea typeface="宋体" panose="02010600030101010101" pitchFamily="2" charset="-122"/>
              </a:rPr>
              <a:t> {register1 = 4} </a:t>
            </a:r>
            <a:endParaRPr lang="zh-CN" altLang="en-US" dirty="0"/>
          </a:p>
        </p:txBody>
      </p:sp>
      <p:cxnSp>
        <p:nvCxnSpPr>
          <p:cNvPr id="61" name="直接连接符 60">
            <a:extLst>
              <a:ext uri="{FF2B5EF4-FFF2-40B4-BE49-F238E27FC236}">
                <a16:creationId xmlns:a16="http://schemas.microsoft.com/office/drawing/2014/main" id="{10068B24-A988-424B-958B-58D8AE2406BB}"/>
              </a:ext>
            </a:extLst>
          </p:cNvPr>
          <p:cNvCxnSpPr>
            <a:cxnSpLocks/>
          </p:cNvCxnSpPr>
          <p:nvPr/>
        </p:nvCxnSpPr>
        <p:spPr bwMode="auto">
          <a:xfrm>
            <a:off x="861075" y="5434511"/>
            <a:ext cx="407256" cy="2458"/>
          </a:xfrm>
          <a:prstGeom prst="line">
            <a:avLst/>
          </a:prstGeom>
          <a:solidFill>
            <a:schemeClr val="accent1"/>
          </a:solidFill>
          <a:ln w="28575" cap="flat" cmpd="sng" algn="ctr">
            <a:solidFill>
              <a:schemeClr val="tx1"/>
            </a:solidFill>
            <a:prstDash val="sysDash"/>
            <a:round/>
            <a:headEnd type="none" w="med" len="med"/>
            <a:tailEnd type="triangle" w="med" len="med"/>
          </a:ln>
        </p:spPr>
      </p:cxnSp>
      <p:sp>
        <p:nvSpPr>
          <p:cNvPr id="63" name="文本框 62">
            <a:extLst>
              <a:ext uri="{FF2B5EF4-FFF2-40B4-BE49-F238E27FC236}">
                <a16:creationId xmlns:a16="http://schemas.microsoft.com/office/drawing/2014/main" id="{3EDC3C07-AB20-463A-AC86-841AFAEEEE43}"/>
              </a:ext>
            </a:extLst>
          </p:cNvPr>
          <p:cNvSpPr txBox="1"/>
          <p:nvPr/>
        </p:nvSpPr>
        <p:spPr>
          <a:xfrm>
            <a:off x="996719" y="4822154"/>
            <a:ext cx="502061" cy="400110"/>
          </a:xfrm>
          <a:prstGeom prst="rect">
            <a:avLst/>
          </a:prstGeom>
          <a:noFill/>
        </p:spPr>
        <p:txBody>
          <a:bodyPr wrap="none" rtlCol="0">
            <a:spAutoFit/>
          </a:bodyPr>
          <a:lstStyle/>
          <a:p>
            <a:r>
              <a:rPr lang="en-US" altLang="zh-CN" dirty="0">
                <a:solidFill>
                  <a:srgbClr val="0000FF"/>
                </a:solidFill>
                <a:ea typeface="宋体" panose="02010600030101010101" pitchFamily="2" charset="-122"/>
              </a:rPr>
              <a:t>P2</a:t>
            </a:r>
            <a:endParaRPr lang="zh-CN" altLang="en-US" dirty="0"/>
          </a:p>
        </p:txBody>
      </p:sp>
      <p:sp>
        <p:nvSpPr>
          <p:cNvPr id="64" name="矩形 63">
            <a:extLst>
              <a:ext uri="{FF2B5EF4-FFF2-40B4-BE49-F238E27FC236}">
                <a16:creationId xmlns:a16="http://schemas.microsoft.com/office/drawing/2014/main" id="{80682A05-3AB7-4729-BB68-37B9570D5329}"/>
              </a:ext>
            </a:extLst>
          </p:cNvPr>
          <p:cNvSpPr/>
          <p:nvPr/>
        </p:nvSpPr>
        <p:spPr bwMode="auto">
          <a:xfrm>
            <a:off x="6289727" y="4722604"/>
            <a:ext cx="774915" cy="294468"/>
          </a:xfrm>
          <a:prstGeom prst="rect">
            <a:avLst/>
          </a:prstGeom>
          <a:solidFill>
            <a:srgbClr val="FFC0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Verdana" panose="020B0604030504040204" pitchFamily="34" charset="0"/>
              </a:rPr>
              <a:t>4</a:t>
            </a:r>
            <a:endParaRPr kumimoji="0" lang="zh-CN" altLang="en-US" sz="1800" b="0" i="0" u="none" strike="noStrike" cap="none" normalizeH="0" baseline="0" dirty="0">
              <a:ln>
                <a:noFill/>
              </a:ln>
              <a:solidFill>
                <a:schemeClr val="tx1"/>
              </a:solidFill>
              <a:effectLst/>
              <a:latin typeface="Verdana" panose="020B0604030504040204" pitchFamily="34" charset="0"/>
            </a:endParaRPr>
          </a:p>
        </p:txBody>
      </p:sp>
      <p:sp>
        <p:nvSpPr>
          <p:cNvPr id="60" name="矩形 59">
            <a:extLst>
              <a:ext uri="{FF2B5EF4-FFF2-40B4-BE49-F238E27FC236}">
                <a16:creationId xmlns:a16="http://schemas.microsoft.com/office/drawing/2014/main" id="{5A12F93D-CFEA-4B36-AFC1-E04F3BC91A32}"/>
              </a:ext>
            </a:extLst>
          </p:cNvPr>
          <p:cNvSpPr/>
          <p:nvPr/>
        </p:nvSpPr>
        <p:spPr>
          <a:xfrm>
            <a:off x="854197" y="2224482"/>
            <a:ext cx="7675264" cy="400110"/>
          </a:xfrm>
          <a:prstGeom prst="rect">
            <a:avLst/>
          </a:prstGeom>
        </p:spPr>
        <p:txBody>
          <a:bodyPr wrap="square">
            <a:spAutoFit/>
          </a:bodyPr>
          <a:lstStyle/>
          <a:p>
            <a:r>
              <a:rPr lang="en-US" altLang="zh-CN" dirty="0">
                <a:solidFill>
                  <a:srgbClr val="FF0000"/>
                </a:solidFill>
                <a:ea typeface="宋体" panose="02010600030101010101" pitchFamily="2" charset="-122"/>
              </a:rPr>
              <a:t>C1</a:t>
            </a:r>
            <a:r>
              <a:rPr lang="en-US" altLang="zh-CN" dirty="0">
                <a:ea typeface="宋体" panose="02010600030101010101" pitchFamily="2" charset="-122"/>
              </a:rPr>
              <a:t>: consumer execute </a:t>
            </a:r>
            <a:r>
              <a:rPr lang="en-US" altLang="zh-CN" dirty="0">
                <a:solidFill>
                  <a:srgbClr val="FF0000"/>
                </a:solidFill>
                <a:ea typeface="宋体" panose="02010600030101010101" pitchFamily="2" charset="-122"/>
              </a:rPr>
              <a:t>register2 = count   </a:t>
            </a:r>
            <a:r>
              <a:rPr lang="en-US" altLang="zh-CN" dirty="0">
                <a:ea typeface="宋体" panose="02010600030101010101" pitchFamily="2" charset="-122"/>
              </a:rPr>
              <a:t>{register2 = 3} </a:t>
            </a:r>
            <a:endParaRPr lang="zh-CN" altLang="en-US" dirty="0"/>
          </a:p>
        </p:txBody>
      </p:sp>
      <p:sp>
        <p:nvSpPr>
          <p:cNvPr id="67" name="椭圆 66">
            <a:extLst>
              <a:ext uri="{FF2B5EF4-FFF2-40B4-BE49-F238E27FC236}">
                <a16:creationId xmlns:a16="http://schemas.microsoft.com/office/drawing/2014/main" id="{76698E62-43D5-4C47-9E23-420EE155B167}"/>
              </a:ext>
            </a:extLst>
          </p:cNvPr>
          <p:cNvSpPr/>
          <p:nvPr/>
        </p:nvSpPr>
        <p:spPr bwMode="auto">
          <a:xfrm>
            <a:off x="2296379" y="6303598"/>
            <a:ext cx="118175" cy="120314"/>
          </a:xfrm>
          <a:prstGeom prst="ellipse">
            <a:avLst/>
          </a:prstGeom>
          <a:solidFill>
            <a:schemeClr val="accent4">
              <a:lumMod val="50000"/>
              <a:lumOff val="50000"/>
            </a:schemeClr>
          </a:solidFill>
          <a:ln w="9525" cap="flat" cmpd="sng" algn="ctr">
            <a:solidFill>
              <a:schemeClr val="tx1"/>
            </a:solidFill>
            <a:prstDash val="solid"/>
            <a:round/>
            <a:headEnd type="none" w="med" len="med"/>
            <a:tailEnd type="none" w="med" len="med"/>
          </a:ln>
        </p:spPr>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eaLnBrk="0" hangingPunct="0"/>
            <a:endParaRPr lang="zh-CN" altLang="en-US" sz="1800"/>
          </a:p>
        </p:txBody>
      </p:sp>
      <p:cxnSp>
        <p:nvCxnSpPr>
          <p:cNvPr id="70" name="直接连接符 69">
            <a:extLst>
              <a:ext uri="{FF2B5EF4-FFF2-40B4-BE49-F238E27FC236}">
                <a16:creationId xmlns:a16="http://schemas.microsoft.com/office/drawing/2014/main" id="{C72A73E9-13A5-4517-A0A2-9247C572A2A4}"/>
              </a:ext>
            </a:extLst>
          </p:cNvPr>
          <p:cNvCxnSpPr>
            <a:cxnSpLocks/>
          </p:cNvCxnSpPr>
          <p:nvPr/>
        </p:nvCxnSpPr>
        <p:spPr bwMode="auto">
          <a:xfrm>
            <a:off x="1268331" y="5426569"/>
            <a:ext cx="1087135" cy="799719"/>
          </a:xfrm>
          <a:prstGeom prst="line">
            <a:avLst/>
          </a:prstGeom>
          <a:solidFill>
            <a:schemeClr val="accent1"/>
          </a:solidFill>
          <a:ln w="28575" cap="flat" cmpd="sng" algn="ctr">
            <a:solidFill>
              <a:schemeClr val="tx1"/>
            </a:solidFill>
            <a:prstDash val="sysDash"/>
            <a:round/>
            <a:headEnd type="none" w="med" len="med"/>
            <a:tailEnd type="triangle" w="med" len="med"/>
          </a:ln>
        </p:spPr>
      </p:cxnSp>
      <p:sp>
        <p:nvSpPr>
          <p:cNvPr id="74" name="文本框 73">
            <a:extLst>
              <a:ext uri="{FF2B5EF4-FFF2-40B4-BE49-F238E27FC236}">
                <a16:creationId xmlns:a16="http://schemas.microsoft.com/office/drawing/2014/main" id="{0CD146B8-CFE2-499C-9C05-FD7685D834E1}"/>
              </a:ext>
            </a:extLst>
          </p:cNvPr>
          <p:cNvSpPr txBox="1"/>
          <p:nvPr/>
        </p:nvSpPr>
        <p:spPr>
          <a:xfrm>
            <a:off x="2134011" y="6371554"/>
            <a:ext cx="527709" cy="400110"/>
          </a:xfrm>
          <a:prstGeom prst="rect">
            <a:avLst/>
          </a:prstGeom>
          <a:noFill/>
        </p:spPr>
        <p:txBody>
          <a:bodyPr wrap="none" rtlCol="0">
            <a:spAutoFit/>
          </a:bodyPr>
          <a:lstStyle/>
          <a:p>
            <a:r>
              <a:rPr lang="en-US" altLang="zh-CN" dirty="0">
                <a:solidFill>
                  <a:srgbClr val="FF0000"/>
                </a:solidFill>
                <a:ea typeface="宋体" panose="02010600030101010101" pitchFamily="2" charset="-122"/>
              </a:rPr>
              <a:t>C1</a:t>
            </a:r>
            <a:endParaRPr lang="zh-CN" altLang="en-US" dirty="0">
              <a:solidFill>
                <a:srgbClr val="FF0000"/>
              </a:solidFill>
            </a:endParaRPr>
          </a:p>
        </p:txBody>
      </p:sp>
      <p:sp>
        <p:nvSpPr>
          <p:cNvPr id="75" name="矩形 74">
            <a:extLst>
              <a:ext uri="{FF2B5EF4-FFF2-40B4-BE49-F238E27FC236}">
                <a16:creationId xmlns:a16="http://schemas.microsoft.com/office/drawing/2014/main" id="{05D94E87-E2F0-44B3-A73D-D1F79B206348}"/>
              </a:ext>
            </a:extLst>
          </p:cNvPr>
          <p:cNvSpPr/>
          <p:nvPr/>
        </p:nvSpPr>
        <p:spPr bwMode="auto">
          <a:xfrm>
            <a:off x="7258039" y="4715285"/>
            <a:ext cx="774915" cy="294468"/>
          </a:xfrm>
          <a:prstGeom prst="rect">
            <a:avLst/>
          </a:prstGeom>
          <a:solidFill>
            <a:srgbClr val="0070C0"/>
          </a:solidFill>
          <a:ln w="9525" cap="flat" cmpd="sng" algn="ctr">
            <a:solidFill>
              <a:schemeClr val="tx1"/>
            </a:solidFill>
            <a:prstDash val="solid"/>
            <a:round/>
            <a:headEnd type="none" w="med" len="med"/>
            <a:tailEnd type="none" w="med" len="med"/>
          </a:ln>
        </p:spPr>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gn="ctr" eaLnBrk="0" hangingPunct="0"/>
            <a:r>
              <a:rPr lang="en-US" altLang="zh-CN" sz="1800" dirty="0">
                <a:solidFill>
                  <a:schemeClr val="bg1"/>
                </a:solidFill>
              </a:rPr>
              <a:t>0</a:t>
            </a:r>
            <a:endParaRPr lang="zh-CN" altLang="en-US" sz="1800" dirty="0">
              <a:solidFill>
                <a:schemeClr val="bg1"/>
              </a:solidFill>
            </a:endParaRPr>
          </a:p>
        </p:txBody>
      </p:sp>
      <p:sp>
        <p:nvSpPr>
          <p:cNvPr id="76" name="文本框 75">
            <a:extLst>
              <a:ext uri="{FF2B5EF4-FFF2-40B4-BE49-F238E27FC236}">
                <a16:creationId xmlns:a16="http://schemas.microsoft.com/office/drawing/2014/main" id="{0307B45A-C715-4CC4-A77E-B226468536E6}"/>
              </a:ext>
            </a:extLst>
          </p:cNvPr>
          <p:cNvSpPr txBox="1"/>
          <p:nvPr/>
        </p:nvSpPr>
        <p:spPr>
          <a:xfrm>
            <a:off x="7386874" y="4297963"/>
            <a:ext cx="457176" cy="400110"/>
          </a:xfrm>
          <a:prstGeom prst="rect">
            <a:avLst/>
          </a:prstGeom>
          <a:noFill/>
        </p:spPr>
        <p:txBody>
          <a:bodyPr wrap="none" rtlCol="0">
            <a:spAutoFit/>
          </a:bodyPr>
          <a:lstStyle/>
          <a:p>
            <a:r>
              <a:rPr lang="en-US" altLang="zh-CN" dirty="0"/>
              <a:t>r2</a:t>
            </a:r>
            <a:endParaRPr lang="zh-CN" altLang="en-US" dirty="0"/>
          </a:p>
        </p:txBody>
      </p:sp>
      <p:sp>
        <p:nvSpPr>
          <p:cNvPr id="78" name="矩形 77">
            <a:extLst>
              <a:ext uri="{FF2B5EF4-FFF2-40B4-BE49-F238E27FC236}">
                <a16:creationId xmlns:a16="http://schemas.microsoft.com/office/drawing/2014/main" id="{87093B51-77BF-404F-8B5C-4DA244809670}"/>
              </a:ext>
            </a:extLst>
          </p:cNvPr>
          <p:cNvSpPr/>
          <p:nvPr/>
        </p:nvSpPr>
        <p:spPr>
          <a:xfrm>
            <a:off x="5272317" y="4715285"/>
            <a:ext cx="869149" cy="400110"/>
          </a:xfrm>
          <a:prstGeom prst="rect">
            <a:avLst/>
          </a:prstGeom>
        </p:spPr>
        <p:txBody>
          <a:bodyPr wrap="none">
            <a:spAutoFit/>
          </a:bodyPr>
          <a:lstStyle/>
          <a:p>
            <a:pPr eaLnBrk="0" hangingPunct="0"/>
            <a:r>
              <a:rPr lang="en-US" altLang="zh-CN" b="1" dirty="0"/>
              <a:t>CPU:</a:t>
            </a:r>
            <a:endParaRPr lang="zh-CN" altLang="en-US" b="1" dirty="0"/>
          </a:p>
        </p:txBody>
      </p:sp>
      <p:sp>
        <p:nvSpPr>
          <p:cNvPr id="79" name="矩形 78">
            <a:extLst>
              <a:ext uri="{FF2B5EF4-FFF2-40B4-BE49-F238E27FC236}">
                <a16:creationId xmlns:a16="http://schemas.microsoft.com/office/drawing/2014/main" id="{79C26DBA-94B2-42C3-B91A-2BAC66C79128}"/>
              </a:ext>
            </a:extLst>
          </p:cNvPr>
          <p:cNvSpPr/>
          <p:nvPr/>
        </p:nvSpPr>
        <p:spPr>
          <a:xfrm>
            <a:off x="4751199" y="5761024"/>
            <a:ext cx="1443024" cy="400110"/>
          </a:xfrm>
          <a:prstGeom prst="rect">
            <a:avLst/>
          </a:prstGeom>
        </p:spPr>
        <p:txBody>
          <a:bodyPr wrap="none">
            <a:spAutoFit/>
          </a:bodyPr>
          <a:lstStyle/>
          <a:p>
            <a:pPr eaLnBrk="0" hangingPunct="0"/>
            <a:r>
              <a:rPr lang="en-US" altLang="zh-CN" b="1" dirty="0"/>
              <a:t>Memory:</a:t>
            </a:r>
            <a:endParaRPr lang="zh-CN" altLang="en-US" b="1" dirty="0"/>
          </a:p>
        </p:txBody>
      </p:sp>
      <p:sp>
        <p:nvSpPr>
          <p:cNvPr id="72" name="文本框 71">
            <a:extLst>
              <a:ext uri="{FF2B5EF4-FFF2-40B4-BE49-F238E27FC236}">
                <a16:creationId xmlns:a16="http://schemas.microsoft.com/office/drawing/2014/main" id="{8A762AB0-C06C-48E2-A4F3-59DCCDA55763}"/>
              </a:ext>
            </a:extLst>
          </p:cNvPr>
          <p:cNvSpPr txBox="1"/>
          <p:nvPr/>
        </p:nvSpPr>
        <p:spPr>
          <a:xfrm>
            <a:off x="1498505" y="4713400"/>
            <a:ext cx="705642" cy="646331"/>
          </a:xfrm>
          <a:prstGeom prst="rect">
            <a:avLst/>
          </a:prstGeom>
          <a:solidFill>
            <a:schemeClr val="bg1"/>
          </a:solidFill>
          <a:ln w="19050">
            <a:solidFill>
              <a:srgbClr val="0000FF"/>
            </a:solidFill>
          </a:ln>
        </p:spPr>
        <p:txBody>
          <a:bodyPr wrap="square" rtlCol="0">
            <a:spAutoFit/>
          </a:bodyPr>
          <a:lstStyle/>
          <a:p>
            <a:r>
              <a:rPr lang="en-US" altLang="zh-CN" sz="1800" dirty="0"/>
              <a:t>r1:4 r2:0</a:t>
            </a:r>
            <a:endParaRPr lang="zh-CN" altLang="en-US" sz="1800" dirty="0"/>
          </a:p>
        </p:txBody>
      </p:sp>
      <p:sp>
        <p:nvSpPr>
          <p:cNvPr id="83" name="矩形 82">
            <a:extLst>
              <a:ext uri="{FF2B5EF4-FFF2-40B4-BE49-F238E27FC236}">
                <a16:creationId xmlns:a16="http://schemas.microsoft.com/office/drawing/2014/main" id="{6BD3B7F2-E6C3-408D-9117-83A62FEDEDE7}"/>
              </a:ext>
            </a:extLst>
          </p:cNvPr>
          <p:cNvSpPr/>
          <p:nvPr/>
        </p:nvSpPr>
        <p:spPr bwMode="auto">
          <a:xfrm>
            <a:off x="6289725" y="4722604"/>
            <a:ext cx="774915" cy="294468"/>
          </a:xfrm>
          <a:prstGeom prst="rect">
            <a:avLst/>
          </a:prstGeom>
          <a:solidFill>
            <a:srgbClr val="FFC0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Verdana" panose="020B0604030504040204" pitchFamily="34" charset="0"/>
              </a:rPr>
              <a:t>0</a:t>
            </a:r>
            <a:endParaRPr kumimoji="0" lang="zh-CN" altLang="en-US" sz="1800" b="0" i="0" u="none" strike="noStrike" cap="none" normalizeH="0" baseline="0" dirty="0">
              <a:ln>
                <a:noFill/>
              </a:ln>
              <a:solidFill>
                <a:schemeClr val="tx1"/>
              </a:solidFill>
              <a:effectLst/>
              <a:latin typeface="Verdana" panose="020B0604030504040204" pitchFamily="34" charset="0"/>
            </a:endParaRPr>
          </a:p>
        </p:txBody>
      </p:sp>
      <p:sp>
        <p:nvSpPr>
          <p:cNvPr id="85" name="文本框 84">
            <a:extLst>
              <a:ext uri="{FF2B5EF4-FFF2-40B4-BE49-F238E27FC236}">
                <a16:creationId xmlns:a16="http://schemas.microsoft.com/office/drawing/2014/main" id="{FD7A6931-55EF-4885-8EA2-7DE801590A47}"/>
              </a:ext>
            </a:extLst>
          </p:cNvPr>
          <p:cNvSpPr txBox="1"/>
          <p:nvPr/>
        </p:nvSpPr>
        <p:spPr>
          <a:xfrm>
            <a:off x="1488643" y="5630975"/>
            <a:ext cx="705642" cy="646331"/>
          </a:xfrm>
          <a:prstGeom prst="rect">
            <a:avLst/>
          </a:prstGeom>
          <a:solidFill>
            <a:schemeClr val="bg1"/>
          </a:solidFill>
          <a:ln w="19050">
            <a:solidFill>
              <a:schemeClr val="tx1"/>
            </a:solidFill>
          </a:ln>
        </p:spPr>
        <p:txBody>
          <a:bodyPr wrap="square" rtlCol="0">
            <a:spAutoFit/>
          </a:bodyPr>
          <a:lstStyle/>
          <a:p>
            <a:r>
              <a:rPr lang="en-US" altLang="zh-CN" sz="1800" dirty="0"/>
              <a:t>r1:0 r2:0</a:t>
            </a:r>
            <a:endParaRPr lang="zh-CN" altLang="en-US" sz="1800" dirty="0"/>
          </a:p>
        </p:txBody>
      </p:sp>
      <p:sp>
        <p:nvSpPr>
          <p:cNvPr id="86" name="矩形 85">
            <a:extLst>
              <a:ext uri="{FF2B5EF4-FFF2-40B4-BE49-F238E27FC236}">
                <a16:creationId xmlns:a16="http://schemas.microsoft.com/office/drawing/2014/main" id="{41897673-0286-4BD3-8D51-351D10AAE955}"/>
              </a:ext>
            </a:extLst>
          </p:cNvPr>
          <p:cNvSpPr/>
          <p:nvPr/>
        </p:nvSpPr>
        <p:spPr bwMode="auto">
          <a:xfrm>
            <a:off x="7258037" y="4722604"/>
            <a:ext cx="774915" cy="294468"/>
          </a:xfrm>
          <a:prstGeom prst="rect">
            <a:avLst/>
          </a:prstGeom>
          <a:solidFill>
            <a:srgbClr val="0070C0"/>
          </a:solidFill>
          <a:ln w="9525" cap="flat" cmpd="sng" algn="ctr">
            <a:solidFill>
              <a:schemeClr val="tx1"/>
            </a:solidFill>
            <a:prstDash val="solid"/>
            <a:round/>
            <a:headEnd type="none" w="med" len="med"/>
            <a:tailEnd type="none" w="med" len="med"/>
          </a:ln>
        </p:spPr>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gn="ctr" eaLnBrk="0" hangingPunct="0"/>
            <a:r>
              <a:rPr lang="en-US" altLang="zh-CN" sz="1800" dirty="0">
                <a:solidFill>
                  <a:schemeClr val="bg1"/>
                </a:solidFill>
              </a:rPr>
              <a:t>3</a:t>
            </a:r>
            <a:endParaRPr lang="zh-CN" altLang="en-US" sz="1800" dirty="0">
              <a:solidFill>
                <a:schemeClr val="bg1"/>
              </a:solidFill>
            </a:endParaRPr>
          </a:p>
        </p:txBody>
      </p:sp>
      <p:sp>
        <p:nvSpPr>
          <p:cNvPr id="82" name="矩形 81">
            <a:extLst>
              <a:ext uri="{FF2B5EF4-FFF2-40B4-BE49-F238E27FC236}">
                <a16:creationId xmlns:a16="http://schemas.microsoft.com/office/drawing/2014/main" id="{328CFC47-77B1-4076-9A4D-D225F53544F3}"/>
              </a:ext>
            </a:extLst>
          </p:cNvPr>
          <p:cNvSpPr/>
          <p:nvPr/>
        </p:nvSpPr>
        <p:spPr>
          <a:xfrm>
            <a:off x="865244" y="2592025"/>
            <a:ext cx="7675263" cy="707886"/>
          </a:xfrm>
          <a:prstGeom prst="rect">
            <a:avLst/>
          </a:prstGeom>
        </p:spPr>
        <p:txBody>
          <a:bodyPr wrap="square">
            <a:spAutoFit/>
          </a:bodyPr>
          <a:lstStyle/>
          <a:p>
            <a:r>
              <a:rPr lang="en-US" altLang="zh-CN" dirty="0">
                <a:solidFill>
                  <a:srgbClr val="FF0000"/>
                </a:solidFill>
                <a:ea typeface="宋体" panose="02010600030101010101" pitchFamily="2" charset="-122"/>
              </a:rPr>
              <a:t>C2</a:t>
            </a:r>
            <a:r>
              <a:rPr lang="en-US" altLang="zh-CN" dirty="0">
                <a:ea typeface="宋体" panose="02010600030101010101" pitchFamily="2" charset="-122"/>
              </a:rPr>
              <a:t>: consumer execute </a:t>
            </a:r>
            <a:r>
              <a:rPr lang="en-US" altLang="zh-CN" dirty="0">
                <a:solidFill>
                  <a:srgbClr val="FF0000"/>
                </a:solidFill>
                <a:ea typeface="宋体" panose="02010600030101010101" pitchFamily="2" charset="-122"/>
              </a:rPr>
              <a:t>register2 = register2 - 1  </a:t>
            </a:r>
            <a:r>
              <a:rPr lang="en-US" altLang="zh-CN" dirty="0">
                <a:ea typeface="宋体" panose="02010600030101010101" pitchFamily="2" charset="-122"/>
              </a:rPr>
              <a:t> {register2 = 2} </a:t>
            </a:r>
            <a:endParaRPr lang="zh-CN" altLang="en-US" dirty="0"/>
          </a:p>
        </p:txBody>
      </p:sp>
      <p:sp>
        <p:nvSpPr>
          <p:cNvPr id="88" name="椭圆 87">
            <a:extLst>
              <a:ext uri="{FF2B5EF4-FFF2-40B4-BE49-F238E27FC236}">
                <a16:creationId xmlns:a16="http://schemas.microsoft.com/office/drawing/2014/main" id="{FB03694C-2567-497E-BE81-10168D62A5B5}"/>
              </a:ext>
            </a:extLst>
          </p:cNvPr>
          <p:cNvSpPr/>
          <p:nvPr/>
        </p:nvSpPr>
        <p:spPr bwMode="auto">
          <a:xfrm>
            <a:off x="2781307" y="6303598"/>
            <a:ext cx="118175" cy="120314"/>
          </a:xfrm>
          <a:prstGeom prst="ellipse">
            <a:avLst/>
          </a:prstGeom>
          <a:solidFill>
            <a:schemeClr val="accent4">
              <a:lumMod val="50000"/>
              <a:lumOff val="50000"/>
            </a:schemeClr>
          </a:solidFill>
          <a:ln w="9525" cap="flat" cmpd="sng" algn="ctr">
            <a:solidFill>
              <a:schemeClr val="tx1"/>
            </a:solidFill>
            <a:prstDash val="solid"/>
            <a:round/>
            <a:headEnd type="none" w="med" len="med"/>
            <a:tailEnd type="none" w="med" len="med"/>
          </a:ln>
        </p:spPr>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eaLnBrk="0" hangingPunct="0"/>
            <a:endParaRPr lang="zh-CN" altLang="en-US" sz="1800"/>
          </a:p>
        </p:txBody>
      </p:sp>
      <p:sp>
        <p:nvSpPr>
          <p:cNvPr id="89" name="文本框 88">
            <a:extLst>
              <a:ext uri="{FF2B5EF4-FFF2-40B4-BE49-F238E27FC236}">
                <a16:creationId xmlns:a16="http://schemas.microsoft.com/office/drawing/2014/main" id="{71669217-35C4-4A10-88DF-A64931B31AB9}"/>
              </a:ext>
            </a:extLst>
          </p:cNvPr>
          <p:cNvSpPr txBox="1"/>
          <p:nvPr/>
        </p:nvSpPr>
        <p:spPr>
          <a:xfrm>
            <a:off x="2572462" y="6371554"/>
            <a:ext cx="527709" cy="400110"/>
          </a:xfrm>
          <a:prstGeom prst="rect">
            <a:avLst/>
          </a:prstGeom>
          <a:noFill/>
        </p:spPr>
        <p:txBody>
          <a:bodyPr wrap="none" rtlCol="0">
            <a:spAutoFit/>
          </a:bodyPr>
          <a:lstStyle/>
          <a:p>
            <a:r>
              <a:rPr lang="en-US" altLang="zh-CN" dirty="0">
                <a:solidFill>
                  <a:srgbClr val="FF0000"/>
                </a:solidFill>
                <a:ea typeface="宋体" panose="02010600030101010101" pitchFamily="2" charset="-122"/>
              </a:rPr>
              <a:t>C2</a:t>
            </a:r>
            <a:endParaRPr lang="zh-CN" altLang="en-US" dirty="0">
              <a:solidFill>
                <a:srgbClr val="FF0000"/>
              </a:solidFill>
            </a:endParaRPr>
          </a:p>
        </p:txBody>
      </p:sp>
      <p:cxnSp>
        <p:nvCxnSpPr>
          <p:cNvPr id="91" name="直接连接符 90">
            <a:extLst>
              <a:ext uri="{FF2B5EF4-FFF2-40B4-BE49-F238E27FC236}">
                <a16:creationId xmlns:a16="http://schemas.microsoft.com/office/drawing/2014/main" id="{42F4DB46-5528-4B62-BC8E-FA2A9E32D5ED}"/>
              </a:ext>
            </a:extLst>
          </p:cNvPr>
          <p:cNvCxnSpPr>
            <a:cxnSpLocks/>
          </p:cNvCxnSpPr>
          <p:nvPr/>
        </p:nvCxnSpPr>
        <p:spPr bwMode="auto">
          <a:xfrm>
            <a:off x="2357227" y="6239613"/>
            <a:ext cx="483167" cy="2458"/>
          </a:xfrm>
          <a:prstGeom prst="line">
            <a:avLst/>
          </a:prstGeom>
          <a:solidFill>
            <a:schemeClr val="accent1"/>
          </a:solidFill>
          <a:ln w="28575" cap="flat" cmpd="sng" algn="ctr">
            <a:solidFill>
              <a:schemeClr val="tx1"/>
            </a:solidFill>
            <a:prstDash val="sysDash"/>
            <a:round/>
            <a:headEnd type="none" w="med" len="med"/>
            <a:tailEnd type="triangle" w="med" len="med"/>
          </a:ln>
        </p:spPr>
      </p:cxnSp>
      <p:sp>
        <p:nvSpPr>
          <p:cNvPr id="97" name="矩形 96">
            <a:extLst>
              <a:ext uri="{FF2B5EF4-FFF2-40B4-BE49-F238E27FC236}">
                <a16:creationId xmlns:a16="http://schemas.microsoft.com/office/drawing/2014/main" id="{68B0AE12-81F2-4B9F-AC4E-249405DEE3F2}"/>
              </a:ext>
            </a:extLst>
          </p:cNvPr>
          <p:cNvSpPr/>
          <p:nvPr/>
        </p:nvSpPr>
        <p:spPr bwMode="auto">
          <a:xfrm>
            <a:off x="7258037" y="4722604"/>
            <a:ext cx="774915" cy="294468"/>
          </a:xfrm>
          <a:prstGeom prst="rect">
            <a:avLst/>
          </a:prstGeom>
          <a:solidFill>
            <a:srgbClr val="0070C0"/>
          </a:solidFill>
          <a:ln w="9525" cap="flat" cmpd="sng" algn="ctr">
            <a:solidFill>
              <a:schemeClr val="tx1"/>
            </a:solidFill>
            <a:prstDash val="solid"/>
            <a:round/>
            <a:headEnd type="none" w="med" len="med"/>
            <a:tailEnd type="none" w="med" len="med"/>
          </a:ln>
        </p:spPr>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gn="ctr" eaLnBrk="0" hangingPunct="0"/>
            <a:r>
              <a:rPr lang="en-US" altLang="zh-CN" sz="1800" dirty="0">
                <a:solidFill>
                  <a:schemeClr val="bg1"/>
                </a:solidFill>
              </a:rPr>
              <a:t>2</a:t>
            </a:r>
            <a:endParaRPr lang="zh-CN" altLang="en-US" sz="1800" dirty="0">
              <a:solidFill>
                <a:schemeClr val="bg1"/>
              </a:solidFill>
            </a:endParaRPr>
          </a:p>
        </p:txBody>
      </p:sp>
      <p:sp>
        <p:nvSpPr>
          <p:cNvPr id="96" name="矩形 95">
            <a:extLst>
              <a:ext uri="{FF2B5EF4-FFF2-40B4-BE49-F238E27FC236}">
                <a16:creationId xmlns:a16="http://schemas.microsoft.com/office/drawing/2014/main" id="{4B51F583-530C-4271-BE6C-54AE022E2E1A}"/>
              </a:ext>
            </a:extLst>
          </p:cNvPr>
          <p:cNvSpPr/>
          <p:nvPr/>
        </p:nvSpPr>
        <p:spPr>
          <a:xfrm>
            <a:off x="899476" y="3283822"/>
            <a:ext cx="8101649" cy="400110"/>
          </a:xfrm>
          <a:prstGeom prst="rect">
            <a:avLst/>
          </a:prstGeom>
        </p:spPr>
        <p:txBody>
          <a:bodyPr wrap="square">
            <a:spAutoFit/>
          </a:bodyPr>
          <a:lstStyle/>
          <a:p>
            <a:r>
              <a:rPr lang="en-US" altLang="zh-CN" dirty="0">
                <a:solidFill>
                  <a:srgbClr val="0000FF"/>
                </a:solidFill>
                <a:ea typeface="宋体" panose="02010600030101010101" pitchFamily="2" charset="-122"/>
              </a:rPr>
              <a:t>P3</a:t>
            </a:r>
            <a:r>
              <a:rPr lang="en-US" altLang="zh-CN" dirty="0">
                <a:ea typeface="宋体" panose="02010600030101010101" pitchFamily="2" charset="-122"/>
              </a:rPr>
              <a:t>: producer execute </a:t>
            </a:r>
            <a:r>
              <a:rPr lang="en-US" altLang="zh-CN" dirty="0">
                <a:solidFill>
                  <a:srgbClr val="0000FF"/>
                </a:solidFill>
                <a:ea typeface="宋体" panose="02010600030101010101" pitchFamily="2" charset="-122"/>
              </a:rPr>
              <a:t>count = register1</a:t>
            </a:r>
            <a:r>
              <a:rPr lang="en-US" altLang="zh-CN" dirty="0">
                <a:ea typeface="宋体" panose="02010600030101010101" pitchFamily="2" charset="-122"/>
              </a:rPr>
              <a:t>   {count = 4} </a:t>
            </a:r>
            <a:endParaRPr lang="zh-CN" altLang="en-US" dirty="0"/>
          </a:p>
        </p:txBody>
      </p:sp>
      <p:sp>
        <p:nvSpPr>
          <p:cNvPr id="100" name="文本框 99">
            <a:extLst>
              <a:ext uri="{FF2B5EF4-FFF2-40B4-BE49-F238E27FC236}">
                <a16:creationId xmlns:a16="http://schemas.microsoft.com/office/drawing/2014/main" id="{D957CC7F-1345-445C-8DBD-BAA8F8B228E9}"/>
              </a:ext>
            </a:extLst>
          </p:cNvPr>
          <p:cNvSpPr txBox="1"/>
          <p:nvPr/>
        </p:nvSpPr>
        <p:spPr>
          <a:xfrm>
            <a:off x="3050368" y="6147050"/>
            <a:ext cx="705642" cy="646331"/>
          </a:xfrm>
          <a:prstGeom prst="rect">
            <a:avLst/>
          </a:prstGeom>
          <a:solidFill>
            <a:schemeClr val="bg1"/>
          </a:solidFill>
          <a:ln w="19050">
            <a:solidFill>
              <a:srgbClr val="FF3300"/>
            </a:solidFill>
          </a:ln>
        </p:spPr>
        <p:txBody>
          <a:bodyPr wrap="square" rtlCol="0">
            <a:spAutoFit/>
          </a:bodyPr>
          <a:lstStyle/>
          <a:p>
            <a:r>
              <a:rPr lang="en-US" altLang="zh-CN" sz="1800" dirty="0"/>
              <a:t>r1:0 r2:2</a:t>
            </a:r>
            <a:endParaRPr lang="zh-CN" altLang="en-US" sz="1800" dirty="0"/>
          </a:p>
        </p:txBody>
      </p:sp>
      <p:cxnSp>
        <p:nvCxnSpPr>
          <p:cNvPr id="101" name="直接连接符 100">
            <a:extLst>
              <a:ext uri="{FF2B5EF4-FFF2-40B4-BE49-F238E27FC236}">
                <a16:creationId xmlns:a16="http://schemas.microsoft.com/office/drawing/2014/main" id="{54E53941-929C-481D-BF5A-CE7746E14CC4}"/>
              </a:ext>
            </a:extLst>
          </p:cNvPr>
          <p:cNvCxnSpPr>
            <a:cxnSpLocks/>
          </p:cNvCxnSpPr>
          <p:nvPr/>
        </p:nvCxnSpPr>
        <p:spPr bwMode="auto">
          <a:xfrm flipV="1">
            <a:off x="2836316" y="5412215"/>
            <a:ext cx="779885" cy="836172"/>
          </a:xfrm>
          <a:prstGeom prst="line">
            <a:avLst/>
          </a:prstGeom>
          <a:solidFill>
            <a:schemeClr val="accent1"/>
          </a:solidFill>
          <a:ln w="28575" cap="flat" cmpd="sng" algn="ctr">
            <a:solidFill>
              <a:schemeClr val="tx1"/>
            </a:solidFill>
            <a:prstDash val="sysDash"/>
            <a:round/>
            <a:headEnd type="none" w="med" len="med"/>
            <a:tailEnd type="triangle" w="med" len="med"/>
          </a:ln>
        </p:spPr>
      </p:cxnSp>
      <p:sp>
        <p:nvSpPr>
          <p:cNvPr id="105" name="椭圆 104">
            <a:extLst>
              <a:ext uri="{FF2B5EF4-FFF2-40B4-BE49-F238E27FC236}">
                <a16:creationId xmlns:a16="http://schemas.microsoft.com/office/drawing/2014/main" id="{26E145D4-75C4-4958-937D-FFEACF25F981}"/>
              </a:ext>
            </a:extLst>
          </p:cNvPr>
          <p:cNvSpPr/>
          <p:nvPr/>
        </p:nvSpPr>
        <p:spPr bwMode="auto">
          <a:xfrm>
            <a:off x="3575216" y="5214461"/>
            <a:ext cx="118175" cy="120314"/>
          </a:xfrm>
          <a:prstGeom prst="ellipse">
            <a:avLst/>
          </a:prstGeom>
          <a:solidFill>
            <a:schemeClr val="accent4">
              <a:lumMod val="50000"/>
              <a:lumOff val="50000"/>
            </a:schemeClr>
          </a:solidFill>
          <a:ln w="9525" cap="flat" cmpd="sng" algn="ctr">
            <a:solidFill>
              <a:schemeClr val="tx1"/>
            </a:solidFill>
            <a:prstDash val="solid"/>
            <a:round/>
            <a:headEnd type="none" w="med" len="med"/>
            <a:tailEnd type="none" w="med" len="med"/>
          </a:ln>
        </p:spPr>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eaLnBrk="0" hangingPunct="0"/>
            <a:endParaRPr lang="zh-CN" altLang="en-US" sz="1800"/>
          </a:p>
        </p:txBody>
      </p:sp>
      <p:sp>
        <p:nvSpPr>
          <p:cNvPr id="106" name="文本框 105">
            <a:extLst>
              <a:ext uri="{FF2B5EF4-FFF2-40B4-BE49-F238E27FC236}">
                <a16:creationId xmlns:a16="http://schemas.microsoft.com/office/drawing/2014/main" id="{850C72C4-392F-45C4-8C63-FC9FD99D11ED}"/>
              </a:ext>
            </a:extLst>
          </p:cNvPr>
          <p:cNvSpPr txBox="1"/>
          <p:nvPr/>
        </p:nvSpPr>
        <p:spPr>
          <a:xfrm>
            <a:off x="3383272" y="4814351"/>
            <a:ext cx="502061" cy="400110"/>
          </a:xfrm>
          <a:prstGeom prst="rect">
            <a:avLst/>
          </a:prstGeom>
          <a:noFill/>
        </p:spPr>
        <p:txBody>
          <a:bodyPr wrap="none" rtlCol="0">
            <a:spAutoFit/>
          </a:bodyPr>
          <a:lstStyle/>
          <a:p>
            <a:r>
              <a:rPr lang="en-US" altLang="zh-CN" dirty="0">
                <a:solidFill>
                  <a:srgbClr val="0000FF"/>
                </a:solidFill>
                <a:ea typeface="宋体" panose="02010600030101010101" pitchFamily="2" charset="-122"/>
              </a:rPr>
              <a:t>P3</a:t>
            </a:r>
            <a:endParaRPr lang="zh-CN" altLang="en-US" dirty="0"/>
          </a:p>
        </p:txBody>
      </p:sp>
      <p:sp>
        <p:nvSpPr>
          <p:cNvPr id="108" name="矩形 107">
            <a:extLst>
              <a:ext uri="{FF2B5EF4-FFF2-40B4-BE49-F238E27FC236}">
                <a16:creationId xmlns:a16="http://schemas.microsoft.com/office/drawing/2014/main" id="{86B22D35-D982-4C67-BEB8-7C5F8EDAAE9C}"/>
              </a:ext>
            </a:extLst>
          </p:cNvPr>
          <p:cNvSpPr/>
          <p:nvPr/>
        </p:nvSpPr>
        <p:spPr bwMode="auto">
          <a:xfrm>
            <a:off x="6289725" y="4722604"/>
            <a:ext cx="774915" cy="294468"/>
          </a:xfrm>
          <a:prstGeom prst="rect">
            <a:avLst/>
          </a:prstGeom>
          <a:solidFill>
            <a:srgbClr val="FFC0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Verdana" panose="020B0604030504040204" pitchFamily="34" charset="0"/>
              </a:rPr>
              <a:t>4</a:t>
            </a:r>
            <a:endParaRPr kumimoji="0" lang="zh-CN" altLang="en-US" sz="1800" b="0" i="0" u="none" strike="noStrike" cap="none" normalizeH="0" baseline="0" dirty="0">
              <a:ln>
                <a:noFill/>
              </a:ln>
              <a:solidFill>
                <a:schemeClr val="tx1"/>
              </a:solidFill>
              <a:effectLst/>
              <a:latin typeface="Verdana" panose="020B0604030504040204" pitchFamily="34" charset="0"/>
            </a:endParaRPr>
          </a:p>
        </p:txBody>
      </p:sp>
      <p:sp>
        <p:nvSpPr>
          <p:cNvPr id="109" name="矩形 108">
            <a:extLst>
              <a:ext uri="{FF2B5EF4-FFF2-40B4-BE49-F238E27FC236}">
                <a16:creationId xmlns:a16="http://schemas.microsoft.com/office/drawing/2014/main" id="{7CAAF68D-F657-4438-8C0E-2C99896AB61D}"/>
              </a:ext>
            </a:extLst>
          </p:cNvPr>
          <p:cNvSpPr/>
          <p:nvPr/>
        </p:nvSpPr>
        <p:spPr bwMode="auto">
          <a:xfrm>
            <a:off x="7258037" y="4722604"/>
            <a:ext cx="774915" cy="294468"/>
          </a:xfrm>
          <a:prstGeom prst="rect">
            <a:avLst/>
          </a:prstGeom>
          <a:solidFill>
            <a:srgbClr val="0070C0"/>
          </a:solidFill>
          <a:ln w="9525" cap="flat" cmpd="sng" algn="ctr">
            <a:solidFill>
              <a:schemeClr val="tx1"/>
            </a:solidFill>
            <a:prstDash val="solid"/>
            <a:round/>
            <a:headEnd type="none" w="med" len="med"/>
            <a:tailEnd type="none" w="med" len="med"/>
          </a:ln>
        </p:spPr>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gn="ctr" eaLnBrk="0" hangingPunct="0"/>
            <a:r>
              <a:rPr lang="en-US" altLang="zh-CN" sz="1800" dirty="0">
                <a:solidFill>
                  <a:schemeClr val="bg1"/>
                </a:solidFill>
              </a:rPr>
              <a:t>0</a:t>
            </a:r>
            <a:endParaRPr lang="zh-CN" altLang="en-US" sz="1800" dirty="0">
              <a:solidFill>
                <a:schemeClr val="bg1"/>
              </a:solidFill>
            </a:endParaRPr>
          </a:p>
        </p:txBody>
      </p:sp>
      <p:sp>
        <p:nvSpPr>
          <p:cNvPr id="110" name="矩形 109">
            <a:extLst>
              <a:ext uri="{FF2B5EF4-FFF2-40B4-BE49-F238E27FC236}">
                <a16:creationId xmlns:a16="http://schemas.microsoft.com/office/drawing/2014/main" id="{63BC6272-4905-44CC-8298-DFD86221B7A9}"/>
              </a:ext>
            </a:extLst>
          </p:cNvPr>
          <p:cNvSpPr/>
          <p:nvPr/>
        </p:nvSpPr>
        <p:spPr bwMode="auto">
          <a:xfrm>
            <a:off x="6735621" y="5766368"/>
            <a:ext cx="774915" cy="29446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Verdana" panose="020B0604030504040204" pitchFamily="34" charset="0"/>
              </a:rPr>
              <a:t>4</a:t>
            </a:r>
            <a:endParaRPr kumimoji="0" lang="zh-CN" altLang="en-US" sz="1800" b="0" i="0" u="none" strike="noStrike" cap="none" normalizeH="0" baseline="0" dirty="0">
              <a:ln>
                <a:noFill/>
              </a:ln>
              <a:solidFill>
                <a:schemeClr val="tx1"/>
              </a:solidFill>
              <a:effectLst/>
              <a:latin typeface="Verdana" panose="020B0604030504040204" pitchFamily="34" charset="0"/>
            </a:endParaRPr>
          </a:p>
        </p:txBody>
      </p:sp>
      <p:sp>
        <p:nvSpPr>
          <p:cNvPr id="111" name="椭圆 110">
            <a:extLst>
              <a:ext uri="{FF2B5EF4-FFF2-40B4-BE49-F238E27FC236}">
                <a16:creationId xmlns:a16="http://schemas.microsoft.com/office/drawing/2014/main" id="{9ADFFC62-890D-4381-A5EE-9D7330AC1254}"/>
              </a:ext>
            </a:extLst>
          </p:cNvPr>
          <p:cNvSpPr/>
          <p:nvPr/>
        </p:nvSpPr>
        <p:spPr bwMode="auto">
          <a:xfrm>
            <a:off x="4089505" y="6312176"/>
            <a:ext cx="118175" cy="120314"/>
          </a:xfrm>
          <a:prstGeom prst="ellipse">
            <a:avLst/>
          </a:prstGeom>
          <a:solidFill>
            <a:schemeClr val="accent4">
              <a:lumMod val="50000"/>
              <a:lumOff val="50000"/>
            </a:schemeClr>
          </a:solidFill>
          <a:ln w="9525" cap="flat" cmpd="sng" algn="ctr">
            <a:solidFill>
              <a:schemeClr val="tx1"/>
            </a:solidFill>
            <a:prstDash val="solid"/>
            <a:round/>
            <a:headEnd type="none" w="med" len="med"/>
            <a:tailEnd type="none" w="med" len="med"/>
          </a:ln>
        </p:spPr>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eaLnBrk="0" hangingPunct="0"/>
            <a:endParaRPr lang="zh-CN" altLang="en-US" sz="1800"/>
          </a:p>
        </p:txBody>
      </p:sp>
      <p:sp>
        <p:nvSpPr>
          <p:cNvPr id="112" name="文本框 111">
            <a:extLst>
              <a:ext uri="{FF2B5EF4-FFF2-40B4-BE49-F238E27FC236}">
                <a16:creationId xmlns:a16="http://schemas.microsoft.com/office/drawing/2014/main" id="{6A1E537F-A7DC-40C3-BD1E-48105DDB8C03}"/>
              </a:ext>
            </a:extLst>
          </p:cNvPr>
          <p:cNvSpPr txBox="1"/>
          <p:nvPr/>
        </p:nvSpPr>
        <p:spPr>
          <a:xfrm>
            <a:off x="3880660" y="6380132"/>
            <a:ext cx="527709" cy="400110"/>
          </a:xfrm>
          <a:prstGeom prst="rect">
            <a:avLst/>
          </a:prstGeom>
          <a:noFill/>
        </p:spPr>
        <p:txBody>
          <a:bodyPr wrap="none" rtlCol="0">
            <a:spAutoFit/>
          </a:bodyPr>
          <a:lstStyle/>
          <a:p>
            <a:r>
              <a:rPr lang="en-US" altLang="zh-CN" dirty="0">
                <a:solidFill>
                  <a:srgbClr val="FF0000"/>
                </a:solidFill>
                <a:ea typeface="宋体" panose="02010600030101010101" pitchFamily="2" charset="-122"/>
              </a:rPr>
              <a:t>C3</a:t>
            </a:r>
            <a:endParaRPr lang="zh-CN" altLang="en-US" dirty="0">
              <a:solidFill>
                <a:srgbClr val="FF0000"/>
              </a:solidFill>
            </a:endParaRPr>
          </a:p>
        </p:txBody>
      </p:sp>
      <p:sp>
        <p:nvSpPr>
          <p:cNvPr id="107" name="矩形 106">
            <a:extLst>
              <a:ext uri="{FF2B5EF4-FFF2-40B4-BE49-F238E27FC236}">
                <a16:creationId xmlns:a16="http://schemas.microsoft.com/office/drawing/2014/main" id="{04BF5CA3-D8E9-47ED-811F-55D2FA68AEB9}"/>
              </a:ext>
            </a:extLst>
          </p:cNvPr>
          <p:cNvSpPr/>
          <p:nvPr/>
        </p:nvSpPr>
        <p:spPr bwMode="auto">
          <a:xfrm>
            <a:off x="3018356" y="4501338"/>
            <a:ext cx="1153732" cy="346014"/>
          </a:xfrm>
          <a:prstGeom prst="rect">
            <a:avLst/>
          </a:prstGeom>
          <a:solidFill>
            <a:schemeClr val="bg1"/>
          </a:solidFill>
          <a:ln w="9525" cap="flat" cmpd="sng" algn="ctr">
            <a:solidFill>
              <a:srgbClr val="0000FF"/>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lang="en-US" altLang="zh-CN" sz="1800" dirty="0"/>
              <a:t>c</a:t>
            </a:r>
            <a:r>
              <a:rPr kumimoji="0" lang="en-US" altLang="zh-CN" sz="1800" b="0" i="0" u="none" strike="noStrike" cap="none" normalizeH="0" baseline="0" dirty="0">
                <a:ln>
                  <a:noFill/>
                </a:ln>
                <a:solidFill>
                  <a:schemeClr val="tx1"/>
                </a:solidFill>
                <a:effectLst/>
                <a:latin typeface="Verdana" panose="020B0604030504040204" pitchFamily="34" charset="0"/>
              </a:rPr>
              <a:t>ount=4</a:t>
            </a:r>
            <a:endParaRPr kumimoji="0" lang="zh-CN" altLang="en-US" sz="1800" b="0" i="0" u="none" strike="noStrike" cap="none" normalizeH="0" baseline="0" dirty="0">
              <a:ln>
                <a:noFill/>
              </a:ln>
              <a:solidFill>
                <a:schemeClr val="tx1"/>
              </a:solidFill>
              <a:effectLst/>
              <a:latin typeface="Verdana" panose="020B0604030504040204" pitchFamily="34" charset="0"/>
            </a:endParaRPr>
          </a:p>
        </p:txBody>
      </p:sp>
      <p:cxnSp>
        <p:nvCxnSpPr>
          <p:cNvPr id="115" name="直接连接符 114">
            <a:extLst>
              <a:ext uri="{FF2B5EF4-FFF2-40B4-BE49-F238E27FC236}">
                <a16:creationId xmlns:a16="http://schemas.microsoft.com/office/drawing/2014/main" id="{B7FCF4E8-6707-47A1-8E52-25F0DD4DD15A}"/>
              </a:ext>
            </a:extLst>
          </p:cNvPr>
          <p:cNvCxnSpPr>
            <a:cxnSpLocks/>
          </p:cNvCxnSpPr>
          <p:nvPr/>
        </p:nvCxnSpPr>
        <p:spPr bwMode="auto">
          <a:xfrm>
            <a:off x="3634302" y="5431567"/>
            <a:ext cx="499184" cy="839619"/>
          </a:xfrm>
          <a:prstGeom prst="line">
            <a:avLst/>
          </a:prstGeom>
          <a:solidFill>
            <a:schemeClr val="accent1"/>
          </a:solidFill>
          <a:ln w="28575" cap="flat" cmpd="sng" algn="ctr">
            <a:solidFill>
              <a:schemeClr val="tx1"/>
            </a:solidFill>
            <a:prstDash val="sysDash"/>
            <a:round/>
            <a:headEnd type="none" w="med" len="med"/>
            <a:tailEnd type="triangle" w="med" len="med"/>
          </a:ln>
        </p:spPr>
      </p:cxnSp>
      <p:sp>
        <p:nvSpPr>
          <p:cNvPr id="120" name="矩形 119">
            <a:extLst>
              <a:ext uri="{FF2B5EF4-FFF2-40B4-BE49-F238E27FC236}">
                <a16:creationId xmlns:a16="http://schemas.microsoft.com/office/drawing/2014/main" id="{A534963E-C1FF-4423-BD7D-4278226756B2}"/>
              </a:ext>
            </a:extLst>
          </p:cNvPr>
          <p:cNvSpPr/>
          <p:nvPr/>
        </p:nvSpPr>
        <p:spPr bwMode="auto">
          <a:xfrm>
            <a:off x="6289725" y="4722604"/>
            <a:ext cx="774915" cy="294468"/>
          </a:xfrm>
          <a:prstGeom prst="rect">
            <a:avLst/>
          </a:prstGeom>
          <a:solidFill>
            <a:srgbClr val="FFC0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Verdana" panose="020B0604030504040204" pitchFamily="34" charset="0"/>
              </a:rPr>
              <a:t>0</a:t>
            </a:r>
            <a:endParaRPr kumimoji="0" lang="zh-CN" altLang="en-US" sz="1800" b="0" i="0" u="none" strike="noStrike" cap="none" normalizeH="0" baseline="0" dirty="0">
              <a:ln>
                <a:noFill/>
              </a:ln>
              <a:solidFill>
                <a:schemeClr val="tx1"/>
              </a:solidFill>
              <a:effectLst/>
              <a:latin typeface="Verdana" panose="020B0604030504040204" pitchFamily="34" charset="0"/>
            </a:endParaRPr>
          </a:p>
        </p:txBody>
      </p:sp>
      <p:sp>
        <p:nvSpPr>
          <p:cNvPr id="121" name="矩形 120">
            <a:extLst>
              <a:ext uri="{FF2B5EF4-FFF2-40B4-BE49-F238E27FC236}">
                <a16:creationId xmlns:a16="http://schemas.microsoft.com/office/drawing/2014/main" id="{96D1494F-5057-4D31-AD49-932BB54B0F1A}"/>
              </a:ext>
            </a:extLst>
          </p:cNvPr>
          <p:cNvSpPr/>
          <p:nvPr/>
        </p:nvSpPr>
        <p:spPr bwMode="auto">
          <a:xfrm>
            <a:off x="7258037" y="4722604"/>
            <a:ext cx="774915" cy="294468"/>
          </a:xfrm>
          <a:prstGeom prst="rect">
            <a:avLst/>
          </a:prstGeom>
          <a:solidFill>
            <a:srgbClr val="0070C0"/>
          </a:solidFill>
          <a:ln w="9525" cap="flat" cmpd="sng" algn="ctr">
            <a:solidFill>
              <a:schemeClr val="tx1"/>
            </a:solidFill>
            <a:prstDash val="solid"/>
            <a:round/>
            <a:headEnd type="none" w="med" len="med"/>
            <a:tailEnd type="none" w="med" len="med"/>
          </a:ln>
        </p:spPr>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gn="ctr" eaLnBrk="0" hangingPunct="0"/>
            <a:r>
              <a:rPr lang="en-US" altLang="zh-CN" sz="1800" dirty="0">
                <a:solidFill>
                  <a:schemeClr val="bg1"/>
                </a:solidFill>
              </a:rPr>
              <a:t>2</a:t>
            </a:r>
            <a:endParaRPr lang="zh-CN" altLang="en-US" sz="1800" dirty="0">
              <a:solidFill>
                <a:schemeClr val="bg1"/>
              </a:solidFill>
            </a:endParaRPr>
          </a:p>
        </p:txBody>
      </p:sp>
      <p:sp>
        <p:nvSpPr>
          <p:cNvPr id="122" name="矩形 121">
            <a:extLst>
              <a:ext uri="{FF2B5EF4-FFF2-40B4-BE49-F238E27FC236}">
                <a16:creationId xmlns:a16="http://schemas.microsoft.com/office/drawing/2014/main" id="{0EA2AB85-E937-4EA8-872A-331CA5EBBC5B}"/>
              </a:ext>
            </a:extLst>
          </p:cNvPr>
          <p:cNvSpPr/>
          <p:nvPr/>
        </p:nvSpPr>
        <p:spPr bwMode="auto">
          <a:xfrm>
            <a:off x="6735621" y="5766368"/>
            <a:ext cx="774915" cy="294468"/>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Verdana" panose="020B0604030504040204" pitchFamily="34" charset="0"/>
              </a:rPr>
              <a:t>2</a:t>
            </a:r>
            <a:endParaRPr kumimoji="0" lang="zh-CN" altLang="en-US" sz="1800" b="0" i="0" u="none" strike="noStrike" cap="none" normalizeH="0" baseline="0" dirty="0">
              <a:ln>
                <a:noFill/>
              </a:ln>
              <a:solidFill>
                <a:schemeClr val="tx1"/>
              </a:solidFill>
              <a:effectLst/>
              <a:latin typeface="Verdana" panose="020B0604030504040204" pitchFamily="34" charset="0"/>
            </a:endParaRPr>
          </a:p>
        </p:txBody>
      </p:sp>
      <p:sp>
        <p:nvSpPr>
          <p:cNvPr id="123" name="矩形 122">
            <a:extLst>
              <a:ext uri="{FF2B5EF4-FFF2-40B4-BE49-F238E27FC236}">
                <a16:creationId xmlns:a16="http://schemas.microsoft.com/office/drawing/2014/main" id="{B479EBB8-BE37-4934-93BA-5EEACCBFF4D7}"/>
              </a:ext>
            </a:extLst>
          </p:cNvPr>
          <p:cNvSpPr/>
          <p:nvPr/>
        </p:nvSpPr>
        <p:spPr bwMode="auto">
          <a:xfrm>
            <a:off x="3427983" y="5911690"/>
            <a:ext cx="1153732" cy="346014"/>
          </a:xfrm>
          <a:prstGeom prst="rect">
            <a:avLst/>
          </a:prstGeom>
          <a:solidFill>
            <a:schemeClr val="bg1"/>
          </a:solidFill>
          <a:ln w="9525" cap="flat" cmpd="sng" algn="ctr">
            <a:solidFill>
              <a:srgbClr val="FF0000"/>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lang="en-US" altLang="zh-CN" sz="1800" dirty="0"/>
              <a:t>c</a:t>
            </a:r>
            <a:r>
              <a:rPr kumimoji="0" lang="en-US" altLang="zh-CN" sz="1800" b="0" i="0" u="none" strike="noStrike" cap="none" normalizeH="0" baseline="0" dirty="0">
                <a:ln>
                  <a:noFill/>
                </a:ln>
                <a:solidFill>
                  <a:schemeClr val="tx1"/>
                </a:solidFill>
                <a:effectLst/>
                <a:latin typeface="Verdana" panose="020B0604030504040204" pitchFamily="34" charset="0"/>
              </a:rPr>
              <a:t>ount=2</a:t>
            </a:r>
            <a:endParaRPr kumimoji="0" lang="zh-CN" altLang="en-US" sz="1800" b="0" i="0" u="none" strike="noStrike" cap="none" normalizeH="0" baseline="0" dirty="0">
              <a:ln>
                <a:noFill/>
              </a:ln>
              <a:solidFill>
                <a:schemeClr val="tx1"/>
              </a:solidFill>
              <a:effectLst/>
              <a:latin typeface="Verdana" panose="020B0604030504040204" pitchFamily="34" charset="0"/>
            </a:endParaRPr>
          </a:p>
        </p:txBody>
      </p:sp>
    </p:spTree>
    <p:extLst>
      <p:ext uri="{BB962C8B-B14F-4D97-AF65-F5344CB8AC3E}">
        <p14:creationId xmlns:p14="http://schemas.microsoft.com/office/powerpoint/2010/main" val="25616097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7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childTnLst>
                          </p:cTn>
                        </p:par>
                        <p:par>
                          <p:cTn id="53" fill="hold">
                            <p:stCondLst>
                              <p:cond delay="0"/>
                            </p:stCondLst>
                            <p:childTnLst>
                              <p:par>
                                <p:cTn id="54" presetID="1" presetClass="entr" presetSubtype="0" fill="hold" grpId="0" nodeType="afterEffect">
                                  <p:stCondLst>
                                    <p:cond delay="0"/>
                                  </p:stCondLst>
                                  <p:childTnLst>
                                    <p:set>
                                      <p:cBhvr>
                                        <p:cTn id="55" dur="1" fill="hold">
                                          <p:stCondLst>
                                            <p:cond delay="0"/>
                                          </p:stCondLst>
                                        </p:cTn>
                                        <p:tgtEl>
                                          <p:spTgt spid="67"/>
                                        </p:tgtEl>
                                        <p:attrNameLst>
                                          <p:attrName>style.visibility</p:attrName>
                                        </p:attrNameLst>
                                      </p:cBhvr>
                                      <p:to>
                                        <p:strVal val="visible"/>
                                      </p:to>
                                    </p:set>
                                  </p:childTnLst>
                                </p:cTn>
                              </p:par>
                            </p:childTnLst>
                          </p:cTn>
                        </p:par>
                        <p:par>
                          <p:cTn id="56" fill="hold">
                            <p:stCondLst>
                              <p:cond delay="0"/>
                            </p:stCondLst>
                            <p:childTnLst>
                              <p:par>
                                <p:cTn id="57" presetID="1" presetClass="entr" presetSubtype="0" fill="hold" grpId="0" nodeType="afterEffect">
                                  <p:stCondLst>
                                    <p:cond delay="0"/>
                                  </p:stCondLst>
                                  <p:childTnLst>
                                    <p:set>
                                      <p:cBhvr>
                                        <p:cTn id="58" dur="1" fill="hold">
                                          <p:stCondLst>
                                            <p:cond delay="0"/>
                                          </p:stCondLst>
                                        </p:cTn>
                                        <p:tgtEl>
                                          <p:spTgt spid="74"/>
                                        </p:tgtEl>
                                        <p:attrNameLst>
                                          <p:attrName>style.visibility</p:attrName>
                                        </p:attrNameLst>
                                      </p:cBhvr>
                                      <p:to>
                                        <p:strVal val="visible"/>
                                      </p:to>
                                    </p:set>
                                  </p:childTnLst>
                                </p:cTn>
                              </p:par>
                            </p:childTnLst>
                          </p:cTn>
                        </p:par>
                        <p:par>
                          <p:cTn id="59" fill="hold">
                            <p:stCondLst>
                              <p:cond delay="0"/>
                            </p:stCondLst>
                            <p:childTnLst>
                              <p:par>
                                <p:cTn id="60" presetID="1" presetClass="entr" presetSubtype="0" fill="hold" grpId="0" nodeType="afterEffect">
                                  <p:stCondLst>
                                    <p:cond delay="250"/>
                                  </p:stCondLst>
                                  <p:childTnLst>
                                    <p:set>
                                      <p:cBhvr>
                                        <p:cTn id="61" dur="1" fill="hold">
                                          <p:stCondLst>
                                            <p:cond delay="0"/>
                                          </p:stCondLst>
                                        </p:cTn>
                                        <p:tgtEl>
                                          <p:spTgt spid="85"/>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83"/>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86"/>
                                        </p:tgtEl>
                                        <p:attrNameLst>
                                          <p:attrName>style.visibility</p:attrName>
                                        </p:attrNameLst>
                                      </p:cBhvr>
                                      <p:to>
                                        <p:strVal val="visible"/>
                                      </p:to>
                                    </p:set>
                                  </p:childTnLst>
                                </p:cTn>
                              </p:par>
                              <p:par>
                                <p:cTn id="70" presetID="1" presetClass="exit" presetSubtype="0" fill="hold" grpId="1" nodeType="withEffect">
                                  <p:stCondLst>
                                    <p:cond delay="0"/>
                                  </p:stCondLst>
                                  <p:childTnLst>
                                    <p:set>
                                      <p:cBhvr>
                                        <p:cTn id="71" dur="1" fill="hold">
                                          <p:stCondLst>
                                            <p:cond delay="0"/>
                                          </p:stCondLst>
                                        </p:cTn>
                                        <p:tgtEl>
                                          <p:spTgt spid="85"/>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82"/>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91"/>
                                        </p:tgtEl>
                                        <p:attrNameLst>
                                          <p:attrName>style.visibility</p:attrName>
                                        </p:attrNameLst>
                                      </p:cBhvr>
                                      <p:to>
                                        <p:strVal val="visible"/>
                                      </p:to>
                                    </p:set>
                                  </p:childTnLst>
                                </p:cTn>
                              </p:par>
                            </p:childTnLst>
                          </p:cTn>
                        </p:par>
                        <p:par>
                          <p:cTn id="80" fill="hold">
                            <p:stCondLst>
                              <p:cond delay="0"/>
                            </p:stCondLst>
                            <p:childTnLst>
                              <p:par>
                                <p:cTn id="81" presetID="1" presetClass="entr" presetSubtype="0" fill="hold" grpId="0" nodeType="afterEffect">
                                  <p:stCondLst>
                                    <p:cond delay="0"/>
                                  </p:stCondLst>
                                  <p:childTnLst>
                                    <p:set>
                                      <p:cBhvr>
                                        <p:cTn id="82" dur="1" fill="hold">
                                          <p:stCondLst>
                                            <p:cond delay="0"/>
                                          </p:stCondLst>
                                        </p:cTn>
                                        <p:tgtEl>
                                          <p:spTgt spid="88"/>
                                        </p:tgtEl>
                                        <p:attrNameLst>
                                          <p:attrName>style.visibility</p:attrName>
                                        </p:attrNameLst>
                                      </p:cBhvr>
                                      <p:to>
                                        <p:strVal val="visible"/>
                                      </p:to>
                                    </p:set>
                                  </p:childTnLst>
                                </p:cTn>
                              </p:par>
                            </p:childTnLst>
                          </p:cTn>
                        </p:par>
                        <p:par>
                          <p:cTn id="83" fill="hold">
                            <p:stCondLst>
                              <p:cond delay="0"/>
                            </p:stCondLst>
                            <p:childTnLst>
                              <p:par>
                                <p:cTn id="84" presetID="1" presetClass="entr" presetSubtype="0" fill="hold" grpId="0" nodeType="afterEffect">
                                  <p:stCondLst>
                                    <p:cond delay="0"/>
                                  </p:stCondLst>
                                  <p:childTnLst>
                                    <p:set>
                                      <p:cBhvr>
                                        <p:cTn id="85" dur="1" fill="hold">
                                          <p:stCondLst>
                                            <p:cond delay="0"/>
                                          </p:stCondLst>
                                        </p:cTn>
                                        <p:tgtEl>
                                          <p:spTgt spid="89"/>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97"/>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96"/>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100"/>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nodeType="clickEffect">
                                  <p:stCondLst>
                                    <p:cond delay="0"/>
                                  </p:stCondLst>
                                  <p:childTnLst>
                                    <p:set>
                                      <p:cBhvr>
                                        <p:cTn id="101" dur="1" fill="hold">
                                          <p:stCondLst>
                                            <p:cond delay="0"/>
                                          </p:stCondLst>
                                        </p:cTn>
                                        <p:tgtEl>
                                          <p:spTgt spid="101"/>
                                        </p:tgtEl>
                                        <p:attrNameLst>
                                          <p:attrName>style.visibility</p:attrName>
                                        </p:attrNameLst>
                                      </p:cBhvr>
                                      <p:to>
                                        <p:strVal val="visible"/>
                                      </p:to>
                                    </p:set>
                                  </p:childTnLst>
                                </p:cTn>
                              </p:par>
                              <p:par>
                                <p:cTn id="102" presetID="1" presetClass="entr" presetSubtype="0" fill="hold" grpId="0" nodeType="withEffect">
                                  <p:stCondLst>
                                    <p:cond delay="500"/>
                                  </p:stCondLst>
                                  <p:childTnLst>
                                    <p:set>
                                      <p:cBhvr>
                                        <p:cTn id="103" dur="1" fill="hold">
                                          <p:stCondLst>
                                            <p:cond delay="0"/>
                                          </p:stCondLst>
                                        </p:cTn>
                                        <p:tgtEl>
                                          <p:spTgt spid="106"/>
                                        </p:tgtEl>
                                        <p:attrNameLst>
                                          <p:attrName>style.visibility</p:attrName>
                                        </p:attrNameLst>
                                      </p:cBhvr>
                                      <p:to>
                                        <p:strVal val="visible"/>
                                      </p:to>
                                    </p:set>
                                  </p:childTnLst>
                                </p:cTn>
                              </p:par>
                              <p:par>
                                <p:cTn id="104" presetID="1" presetClass="entr" presetSubtype="0" fill="hold" grpId="0" nodeType="withEffect">
                                  <p:stCondLst>
                                    <p:cond delay="500"/>
                                  </p:stCondLst>
                                  <p:childTnLst>
                                    <p:set>
                                      <p:cBhvr>
                                        <p:cTn id="105" dur="1" fill="hold">
                                          <p:stCondLst>
                                            <p:cond delay="0"/>
                                          </p:stCondLst>
                                        </p:cTn>
                                        <p:tgtEl>
                                          <p:spTgt spid="105"/>
                                        </p:tgtEl>
                                        <p:attrNameLst>
                                          <p:attrName>style.visibility</p:attrName>
                                        </p:attrNameLst>
                                      </p:cBhvr>
                                      <p:to>
                                        <p:strVal val="visible"/>
                                      </p:to>
                                    </p:set>
                                  </p:childTnLst>
                                </p:cTn>
                              </p:par>
                            </p:childTnLst>
                          </p:cTn>
                        </p:par>
                        <p:par>
                          <p:cTn id="106" fill="hold">
                            <p:stCondLst>
                              <p:cond delay="500"/>
                            </p:stCondLst>
                            <p:childTnLst>
                              <p:par>
                                <p:cTn id="107" presetID="63" presetClass="path" presetSubtype="0" accel="50000" decel="50000" fill="hold" grpId="1" nodeType="afterEffect">
                                  <p:stCondLst>
                                    <p:cond delay="0"/>
                                  </p:stCondLst>
                                  <p:childTnLst>
                                    <p:animMotion origin="layout" path="M -5.55556E-7 7.40741E-7 L 0.13663 0.00116 " pathEditMode="relative" rAng="0" ptsTypes="AA">
                                      <p:cBhvr>
                                        <p:cTn id="108" dur="1000" fill="hold"/>
                                        <p:tgtEl>
                                          <p:spTgt spid="72"/>
                                        </p:tgtEl>
                                        <p:attrNameLst>
                                          <p:attrName>ppt_x</p:attrName>
                                          <p:attrName>ppt_y</p:attrName>
                                        </p:attrNameLst>
                                      </p:cBhvr>
                                      <p:rCtr x="6823" y="46"/>
                                    </p:animMotion>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108"/>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09"/>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10"/>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107"/>
                                        </p:tgtEl>
                                        <p:attrNameLst>
                                          <p:attrName>style.visibility</p:attrName>
                                        </p:attrNameLst>
                                      </p:cBhvr>
                                      <p:to>
                                        <p:strVal val="visible"/>
                                      </p:to>
                                    </p:set>
                                  </p:childTnLst>
                                </p:cTn>
                              </p:par>
                              <p:par>
                                <p:cTn id="123" presetID="1" presetClass="exit" presetSubtype="0" fill="hold" grpId="2" nodeType="withEffect">
                                  <p:stCondLst>
                                    <p:cond delay="0"/>
                                  </p:stCondLst>
                                  <p:childTnLst>
                                    <p:set>
                                      <p:cBhvr>
                                        <p:cTn id="124" dur="1" fill="hold">
                                          <p:stCondLst>
                                            <p:cond delay="0"/>
                                          </p:stCondLst>
                                        </p:cTn>
                                        <p:tgtEl>
                                          <p:spTgt spid="72"/>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35"/>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0"/>
                                          </p:stCondLst>
                                        </p:cTn>
                                        <p:tgtEl>
                                          <p:spTgt spid="115"/>
                                        </p:tgtEl>
                                        <p:attrNameLst>
                                          <p:attrName>style.visibility</p:attrName>
                                        </p:attrNameLst>
                                      </p:cBhvr>
                                      <p:to>
                                        <p:strVal val="visible"/>
                                      </p:to>
                                    </p:set>
                                  </p:childTnLst>
                                </p:cTn>
                              </p:par>
                            </p:childTnLst>
                          </p:cTn>
                        </p:par>
                        <p:par>
                          <p:cTn id="133" fill="hold">
                            <p:stCondLst>
                              <p:cond delay="0"/>
                            </p:stCondLst>
                            <p:childTnLst>
                              <p:par>
                                <p:cTn id="134" presetID="1" presetClass="entr" presetSubtype="0" fill="hold" grpId="0" nodeType="afterEffect">
                                  <p:stCondLst>
                                    <p:cond delay="0"/>
                                  </p:stCondLst>
                                  <p:childTnLst>
                                    <p:set>
                                      <p:cBhvr>
                                        <p:cTn id="135" dur="1" fill="hold">
                                          <p:stCondLst>
                                            <p:cond delay="0"/>
                                          </p:stCondLst>
                                        </p:cTn>
                                        <p:tgtEl>
                                          <p:spTgt spid="111"/>
                                        </p:tgtEl>
                                        <p:attrNameLst>
                                          <p:attrName>style.visibility</p:attrName>
                                        </p:attrNameLst>
                                      </p:cBhvr>
                                      <p:to>
                                        <p:strVal val="visible"/>
                                      </p:to>
                                    </p:set>
                                  </p:childTnLst>
                                </p:cTn>
                              </p:par>
                            </p:childTnLst>
                          </p:cTn>
                        </p:par>
                        <p:par>
                          <p:cTn id="136" fill="hold">
                            <p:stCondLst>
                              <p:cond delay="0"/>
                            </p:stCondLst>
                            <p:childTnLst>
                              <p:par>
                                <p:cTn id="137" presetID="1" presetClass="entr" presetSubtype="0" fill="hold" grpId="0" nodeType="afterEffect">
                                  <p:stCondLst>
                                    <p:cond delay="0"/>
                                  </p:stCondLst>
                                  <p:childTnLst>
                                    <p:set>
                                      <p:cBhvr>
                                        <p:cTn id="138" dur="1" fill="hold">
                                          <p:stCondLst>
                                            <p:cond delay="0"/>
                                          </p:stCondLst>
                                        </p:cTn>
                                        <p:tgtEl>
                                          <p:spTgt spid="112"/>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63" presetClass="path" presetSubtype="0" accel="50000" decel="50000" fill="hold" grpId="1" nodeType="clickEffect">
                                  <p:stCondLst>
                                    <p:cond delay="0"/>
                                  </p:stCondLst>
                                  <p:childTnLst>
                                    <p:animMotion origin="layout" path="M 1.38889E-6 2.96296E-6 L 0.02344 -0.0007 " pathEditMode="relative" rAng="0" ptsTypes="AA">
                                      <p:cBhvr>
                                        <p:cTn id="142" dur="2000" fill="hold"/>
                                        <p:tgtEl>
                                          <p:spTgt spid="100"/>
                                        </p:tgtEl>
                                        <p:attrNameLst>
                                          <p:attrName>ppt_x</p:attrName>
                                          <p:attrName>ppt_y</p:attrName>
                                        </p:attrNameLst>
                                      </p:cBhvr>
                                      <p:rCtr x="1163" y="-46"/>
                                    </p:animMotion>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120"/>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21"/>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122"/>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123"/>
                                        </p:tgtEl>
                                        <p:attrNameLst>
                                          <p:attrName>style.visibility</p:attrName>
                                        </p:attrNameLst>
                                      </p:cBhvr>
                                      <p:to>
                                        <p:strVal val="visible"/>
                                      </p:to>
                                    </p:set>
                                  </p:childTnLst>
                                </p:cTn>
                              </p:par>
                              <p:par>
                                <p:cTn id="157" presetID="1" presetClass="exit" presetSubtype="0" fill="hold" grpId="2" nodeType="withEffect">
                                  <p:stCondLst>
                                    <p:cond delay="0"/>
                                  </p:stCondLst>
                                  <p:childTnLst>
                                    <p:set>
                                      <p:cBhvr>
                                        <p:cTn id="158" dur="1" fill="hold">
                                          <p:stCondLst>
                                            <p:cond delay="0"/>
                                          </p:stCondLst>
                                        </p:cTn>
                                        <p:tgtEl>
                                          <p:spTgt spid="10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52" grpId="0" animBg="1"/>
      <p:bldP spid="30" grpId="0"/>
      <p:bldP spid="57" grpId="0" animBg="1"/>
      <p:bldP spid="35" grpId="0"/>
      <p:bldP spid="55" grpId="0"/>
      <p:bldP spid="63" grpId="0"/>
      <p:bldP spid="64" grpId="0" animBg="1"/>
      <p:bldP spid="60" grpId="0"/>
      <p:bldP spid="67" grpId="0" animBg="1"/>
      <p:bldP spid="74" grpId="0"/>
      <p:bldP spid="72" grpId="0" animBg="1"/>
      <p:bldP spid="72" grpId="1" animBg="1"/>
      <p:bldP spid="72" grpId="2" animBg="1"/>
      <p:bldP spid="83" grpId="0" animBg="1"/>
      <p:bldP spid="85" grpId="0" animBg="1"/>
      <p:bldP spid="85" grpId="1" animBg="1"/>
      <p:bldP spid="86" grpId="0" animBg="1"/>
      <p:bldP spid="82" grpId="0"/>
      <p:bldP spid="88" grpId="0" animBg="1"/>
      <p:bldP spid="89" grpId="0"/>
      <p:bldP spid="97" grpId="0" animBg="1"/>
      <p:bldP spid="96" grpId="0"/>
      <p:bldP spid="100" grpId="0" animBg="1"/>
      <p:bldP spid="100" grpId="1" animBg="1"/>
      <p:bldP spid="100" grpId="2" animBg="1"/>
      <p:bldP spid="105" grpId="0" animBg="1"/>
      <p:bldP spid="106" grpId="0"/>
      <p:bldP spid="108" grpId="0" animBg="1"/>
      <p:bldP spid="109" grpId="0" animBg="1"/>
      <p:bldP spid="110" grpId="0" animBg="1"/>
      <p:bldP spid="111" grpId="0" animBg="1"/>
      <p:bldP spid="112" grpId="0"/>
      <p:bldP spid="107" grpId="0" animBg="1"/>
      <p:bldP spid="120" grpId="0" animBg="1"/>
      <p:bldP spid="121" grpId="0" animBg="1"/>
      <p:bldP spid="122" grpId="0" animBg="1"/>
      <p:bldP spid="12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p:cNvSpPr>
          <p:nvPr>
            <p:ph type="title"/>
          </p:nvPr>
        </p:nvSpPr>
        <p:spPr>
          <a:ln/>
        </p:spPr>
        <p:txBody>
          <a:bodyPr vert="horz" wrap="square" lIns="91440" tIns="45720" rIns="91440" bIns="45720" anchor="b" anchorCtr="0"/>
          <a:lstStyle/>
          <a:p>
            <a:pPr eaLnBrk="1" hangingPunct="1"/>
            <a:r>
              <a:rPr lang="en-US" altLang="zh-CN" dirty="0"/>
              <a:t>Race Condition (</a:t>
            </a:r>
            <a:r>
              <a:rPr lang="zh-CN" altLang="en-US" dirty="0">
                <a:ea typeface="宋体" panose="02010600030101010101" pitchFamily="2" charset="-122"/>
              </a:rPr>
              <a:t>竞争条件</a:t>
            </a:r>
            <a:r>
              <a:rPr lang="en-US" altLang="zh-CN" dirty="0"/>
              <a:t>)</a:t>
            </a:r>
          </a:p>
        </p:txBody>
      </p:sp>
      <p:sp>
        <p:nvSpPr>
          <p:cNvPr id="16387" name="Rectangle 3"/>
          <p:cNvSpPr>
            <a:spLocks noGrp="1"/>
          </p:cNvSpPr>
          <p:nvPr>
            <p:ph idx="1"/>
          </p:nvPr>
        </p:nvSpPr>
        <p:spPr>
          <a:xfrm>
            <a:off x="427038" y="942975"/>
            <a:ext cx="8583612" cy="5519738"/>
          </a:xfrm>
          <a:ln/>
        </p:spPr>
        <p:txBody>
          <a:bodyPr vert="horz" wrap="square" lIns="92407" tIns="45421" rIns="92407" bIns="45421" anchor="t" anchorCtr="0"/>
          <a:lstStyle/>
          <a:p>
            <a:pPr>
              <a:lnSpc>
                <a:spcPct val="90000"/>
              </a:lnSpc>
            </a:pPr>
            <a:r>
              <a:rPr lang="en-US" altLang="zh-CN" sz="2000" dirty="0">
                <a:solidFill>
                  <a:srgbClr val="0000FF"/>
                </a:solidFill>
                <a:ea typeface="宋体" panose="02010600030101010101" pitchFamily="2" charset="-122"/>
              </a:rPr>
              <a:t>count++</a:t>
            </a:r>
            <a:r>
              <a:rPr lang="en-US" altLang="zh-CN" sz="2000" dirty="0">
                <a:ea typeface="宋体" panose="02010600030101010101" pitchFamily="2" charset="-122"/>
              </a:rPr>
              <a:t> could be implemented as</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     </a:t>
            </a:r>
            <a:r>
              <a:rPr lang="en-US" altLang="zh-CN" sz="2000" dirty="0">
                <a:solidFill>
                  <a:srgbClr val="0000FF"/>
                </a:solidFill>
                <a:ea typeface="宋体" panose="02010600030101010101" pitchFamily="2" charset="-122"/>
              </a:rPr>
              <a:t>register1 = count</a:t>
            </a:r>
            <a:br>
              <a:rPr lang="en-US" altLang="zh-CN" sz="2000" dirty="0">
                <a:solidFill>
                  <a:srgbClr val="0000FF"/>
                </a:solidFill>
                <a:ea typeface="宋体" panose="02010600030101010101" pitchFamily="2" charset="-122"/>
              </a:rPr>
            </a:br>
            <a:r>
              <a:rPr lang="en-US" altLang="zh-CN" sz="2000" dirty="0">
                <a:solidFill>
                  <a:srgbClr val="0000FF"/>
                </a:solidFill>
                <a:ea typeface="宋体" panose="02010600030101010101" pitchFamily="2" charset="-122"/>
              </a:rPr>
              <a:t>     register1 = register1 + 1</a:t>
            </a:r>
            <a:br>
              <a:rPr lang="en-US" altLang="zh-CN" sz="2000" dirty="0">
                <a:solidFill>
                  <a:srgbClr val="0000FF"/>
                </a:solidFill>
                <a:ea typeface="宋体" panose="02010600030101010101" pitchFamily="2" charset="-122"/>
              </a:rPr>
            </a:br>
            <a:r>
              <a:rPr lang="en-US" altLang="zh-CN" sz="2000" dirty="0">
                <a:solidFill>
                  <a:srgbClr val="0000FF"/>
                </a:solidFill>
                <a:ea typeface="宋体" panose="02010600030101010101" pitchFamily="2" charset="-122"/>
              </a:rPr>
              <a:t>     count = register1</a:t>
            </a:r>
          </a:p>
          <a:p>
            <a:pPr>
              <a:lnSpc>
                <a:spcPct val="90000"/>
              </a:lnSpc>
            </a:pPr>
            <a:r>
              <a:rPr lang="en-US" altLang="zh-CN" sz="2000" dirty="0">
                <a:solidFill>
                  <a:srgbClr val="FF0000"/>
                </a:solidFill>
                <a:ea typeface="宋体" panose="02010600030101010101" pitchFamily="2" charset="-122"/>
              </a:rPr>
              <a:t>count-- </a:t>
            </a:r>
            <a:r>
              <a:rPr lang="en-US" altLang="zh-CN" sz="2000" dirty="0">
                <a:ea typeface="宋体" panose="02010600030101010101" pitchFamily="2" charset="-122"/>
              </a:rPr>
              <a:t>could be implemented as</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solidFill>
                  <a:srgbClr val="FF0000"/>
                </a:solidFill>
                <a:ea typeface="宋体" panose="02010600030101010101" pitchFamily="2" charset="-122"/>
              </a:rPr>
              <a:t>     register2 = count</a:t>
            </a:r>
            <a:br>
              <a:rPr lang="en-US" altLang="zh-CN" sz="2000" dirty="0">
                <a:solidFill>
                  <a:srgbClr val="FF0000"/>
                </a:solidFill>
                <a:ea typeface="宋体" panose="02010600030101010101" pitchFamily="2" charset="-122"/>
              </a:rPr>
            </a:br>
            <a:r>
              <a:rPr lang="en-US" altLang="zh-CN" sz="2000" dirty="0">
                <a:solidFill>
                  <a:srgbClr val="FF0000"/>
                </a:solidFill>
                <a:ea typeface="宋体" panose="02010600030101010101" pitchFamily="2" charset="-122"/>
              </a:rPr>
              <a:t>     register2 = register2 - 1</a:t>
            </a:r>
            <a:br>
              <a:rPr lang="en-US" altLang="zh-CN" sz="2000" dirty="0">
                <a:solidFill>
                  <a:srgbClr val="FF0000"/>
                </a:solidFill>
                <a:ea typeface="宋体" panose="02010600030101010101" pitchFamily="2" charset="-122"/>
              </a:rPr>
            </a:br>
            <a:r>
              <a:rPr lang="en-US" altLang="zh-CN" sz="2000" dirty="0">
                <a:solidFill>
                  <a:srgbClr val="FF0000"/>
                </a:solidFill>
                <a:ea typeface="宋体" panose="02010600030101010101" pitchFamily="2" charset="-122"/>
              </a:rPr>
              <a:t>     count = register2</a:t>
            </a:r>
          </a:p>
          <a:p>
            <a:pPr>
              <a:lnSpc>
                <a:spcPct val="90000"/>
              </a:lnSpc>
            </a:pPr>
            <a:r>
              <a:rPr lang="en-US" altLang="zh-CN" sz="2000" dirty="0">
                <a:ea typeface="宋体" panose="02010600030101010101" pitchFamily="2" charset="-122"/>
              </a:rPr>
              <a:t>Consider this execution interleaving with “count = 3” initially:</a:t>
            </a:r>
          </a:p>
          <a:p>
            <a:pPr lvl="1">
              <a:lnSpc>
                <a:spcPct val="90000"/>
              </a:lnSpc>
              <a:buNone/>
            </a:pPr>
            <a:r>
              <a:rPr lang="en-US" altLang="zh-CN" sz="2000" dirty="0">
                <a:ea typeface="宋体" panose="02010600030101010101" pitchFamily="2" charset="-122"/>
              </a:rPr>
              <a:t>	P1: producer execute </a:t>
            </a:r>
            <a:r>
              <a:rPr lang="en-US" altLang="zh-CN" sz="2000" dirty="0">
                <a:solidFill>
                  <a:srgbClr val="0000FF"/>
                </a:solidFill>
                <a:ea typeface="宋体" panose="02010600030101010101" pitchFamily="2" charset="-122"/>
              </a:rPr>
              <a:t>register1 = count</a:t>
            </a:r>
            <a:r>
              <a:rPr lang="en-US" altLang="zh-CN" sz="2000" dirty="0">
                <a:ea typeface="宋体" panose="02010600030101010101" pitchFamily="2" charset="-122"/>
              </a:rPr>
              <a:t>   {register1 = 3}</a:t>
            </a:r>
            <a:br>
              <a:rPr lang="en-US" altLang="zh-CN" sz="2000" dirty="0">
                <a:ea typeface="宋体" panose="02010600030101010101" pitchFamily="2" charset="-122"/>
              </a:rPr>
            </a:br>
            <a:r>
              <a:rPr lang="en-US" altLang="zh-CN" sz="2000" dirty="0">
                <a:ea typeface="宋体" panose="02010600030101010101" pitchFamily="2" charset="-122"/>
              </a:rPr>
              <a:t>P2: producer execute </a:t>
            </a:r>
            <a:r>
              <a:rPr lang="en-US" altLang="zh-CN" sz="2000" dirty="0">
                <a:solidFill>
                  <a:srgbClr val="0000FF"/>
                </a:solidFill>
                <a:ea typeface="宋体" panose="02010600030101010101" pitchFamily="2" charset="-122"/>
              </a:rPr>
              <a:t>register1 = register1 + 1  </a:t>
            </a:r>
            <a:r>
              <a:rPr lang="en-US" altLang="zh-CN" sz="2000" dirty="0">
                <a:ea typeface="宋体" panose="02010600030101010101" pitchFamily="2" charset="-122"/>
              </a:rPr>
              <a:t> {register1 = 4} </a:t>
            </a:r>
            <a:br>
              <a:rPr lang="en-US" altLang="zh-CN" sz="2000" dirty="0">
                <a:ea typeface="宋体" panose="02010600030101010101" pitchFamily="2" charset="-122"/>
              </a:rPr>
            </a:br>
            <a:r>
              <a:rPr lang="en-US" altLang="zh-CN" sz="2000" dirty="0">
                <a:ea typeface="宋体" panose="02010600030101010101" pitchFamily="2" charset="-122"/>
              </a:rPr>
              <a:t>C1: consumer execute </a:t>
            </a:r>
            <a:r>
              <a:rPr lang="en-US" altLang="zh-CN" sz="2000" dirty="0">
                <a:solidFill>
                  <a:srgbClr val="FF0000"/>
                </a:solidFill>
                <a:ea typeface="宋体" panose="02010600030101010101" pitchFamily="2" charset="-122"/>
              </a:rPr>
              <a:t>register2 = count   </a:t>
            </a:r>
            <a:r>
              <a:rPr lang="en-US" altLang="zh-CN" sz="2000" dirty="0">
                <a:ea typeface="宋体" panose="02010600030101010101" pitchFamily="2" charset="-122"/>
              </a:rPr>
              <a:t>{register2 = 3} </a:t>
            </a:r>
            <a:br>
              <a:rPr lang="en-US" altLang="zh-CN" sz="2000" dirty="0">
                <a:ea typeface="宋体" panose="02010600030101010101" pitchFamily="2" charset="-122"/>
              </a:rPr>
            </a:br>
            <a:r>
              <a:rPr lang="en-US" altLang="zh-CN" sz="2000" dirty="0">
                <a:ea typeface="宋体" panose="02010600030101010101" pitchFamily="2" charset="-122"/>
              </a:rPr>
              <a:t>C2: consumer execute </a:t>
            </a:r>
            <a:r>
              <a:rPr lang="en-US" altLang="zh-CN" sz="2000" dirty="0">
                <a:solidFill>
                  <a:srgbClr val="FF0000"/>
                </a:solidFill>
                <a:ea typeface="宋体" panose="02010600030101010101" pitchFamily="2" charset="-122"/>
              </a:rPr>
              <a:t>register2 = register2 - 1  </a:t>
            </a:r>
            <a:r>
              <a:rPr lang="en-US" altLang="zh-CN" sz="2000" dirty="0">
                <a:ea typeface="宋体" panose="02010600030101010101" pitchFamily="2" charset="-122"/>
              </a:rPr>
              <a:t> {register2 = 2} </a:t>
            </a:r>
            <a:br>
              <a:rPr lang="en-US" altLang="zh-CN" sz="2000" dirty="0">
                <a:ea typeface="宋体" panose="02010600030101010101" pitchFamily="2" charset="-122"/>
              </a:rPr>
            </a:br>
            <a:r>
              <a:rPr lang="en-US" altLang="zh-CN" sz="2000" dirty="0">
                <a:ea typeface="宋体" panose="02010600030101010101" pitchFamily="2" charset="-122"/>
              </a:rPr>
              <a:t>P3: producer execute </a:t>
            </a:r>
            <a:r>
              <a:rPr lang="en-US" altLang="zh-CN" sz="2000" dirty="0">
                <a:solidFill>
                  <a:srgbClr val="0000FF"/>
                </a:solidFill>
                <a:ea typeface="宋体" panose="02010600030101010101" pitchFamily="2" charset="-122"/>
              </a:rPr>
              <a:t>count = register1</a:t>
            </a:r>
            <a:r>
              <a:rPr lang="en-US" altLang="zh-CN" sz="2000" dirty="0">
                <a:ea typeface="宋体" panose="02010600030101010101" pitchFamily="2" charset="-122"/>
              </a:rPr>
              <a:t>   {count = 4 } </a:t>
            </a:r>
            <a:br>
              <a:rPr lang="en-US" altLang="zh-CN" sz="2000" dirty="0">
                <a:ea typeface="宋体" panose="02010600030101010101" pitchFamily="2" charset="-122"/>
              </a:rPr>
            </a:br>
            <a:r>
              <a:rPr lang="en-US" altLang="zh-CN" sz="2000" dirty="0">
                <a:ea typeface="宋体" panose="02010600030101010101" pitchFamily="2" charset="-122"/>
              </a:rPr>
              <a:t>C3: consumer execute </a:t>
            </a:r>
            <a:r>
              <a:rPr lang="en-US" altLang="zh-CN" sz="2000" dirty="0">
                <a:solidFill>
                  <a:srgbClr val="FF0000"/>
                </a:solidFill>
                <a:ea typeface="宋体" panose="02010600030101010101" pitchFamily="2" charset="-122"/>
              </a:rPr>
              <a:t>count = register2   </a:t>
            </a:r>
            <a:r>
              <a:rPr lang="en-US" altLang="zh-CN" sz="2000" dirty="0">
                <a:ea typeface="宋体" panose="02010600030101010101" pitchFamily="2" charset="-122"/>
              </a:rPr>
              <a:t>{count = 2}</a:t>
            </a:r>
          </a:p>
        </p:txBody>
      </p:sp>
    </p:spTree>
    <p:extLst>
      <p:ext uri="{BB962C8B-B14F-4D97-AF65-F5344CB8AC3E}">
        <p14:creationId xmlns:p14="http://schemas.microsoft.com/office/powerpoint/2010/main" val="237619963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p:cNvSpPr>
          <p:nvPr>
            <p:ph type="title" idx="4294967295"/>
          </p:nvPr>
        </p:nvSpPr>
        <p:spPr>
          <a:ln/>
        </p:spPr>
        <p:txBody>
          <a:bodyPr vert="horz" wrap="square" lIns="91440" tIns="45720" rIns="91440" bIns="45720" anchor="b" anchorCtr="0"/>
          <a:lstStyle/>
          <a:p>
            <a:pPr eaLnBrk="1" hangingPunct="1"/>
            <a:r>
              <a:rPr lang="en-US" altLang="zh-CN" dirty="0"/>
              <a:t>Race Condition (</a:t>
            </a:r>
            <a:r>
              <a:rPr lang="zh-CN" altLang="en-US" dirty="0">
                <a:ea typeface="宋体" panose="02010600030101010101" pitchFamily="2" charset="-122"/>
              </a:rPr>
              <a:t>竞争条件</a:t>
            </a:r>
            <a:r>
              <a:rPr lang="en-US" altLang="zh-CN" dirty="0"/>
              <a:t>)</a:t>
            </a:r>
            <a:endParaRPr lang="zh-CN" altLang="en-US" dirty="0">
              <a:ea typeface="宋体" panose="02010600030101010101" pitchFamily="2" charset="-122"/>
            </a:endParaRPr>
          </a:p>
        </p:txBody>
      </p:sp>
      <p:sp>
        <p:nvSpPr>
          <p:cNvPr id="183299" name="Rectangle 3"/>
          <p:cNvSpPr>
            <a:spLocks noGrp="1"/>
          </p:cNvSpPr>
          <p:nvPr>
            <p:ph type="body" idx="4294967295"/>
          </p:nvPr>
        </p:nvSpPr>
        <p:spPr>
          <a:xfrm>
            <a:off x="203201" y="942975"/>
            <a:ext cx="8940800" cy="5519738"/>
          </a:xfrm>
          <a:ln/>
        </p:spPr>
        <p:txBody>
          <a:bodyPr vert="horz" wrap="square" lIns="92407" tIns="45421" rIns="92407" bIns="45421" anchor="t" anchorCtr="0"/>
          <a:lstStyle/>
          <a:p>
            <a:r>
              <a:rPr lang="en-US" altLang="zh-CN" dirty="0">
                <a:ea typeface="宋体" panose="02010600030101010101" pitchFamily="2" charset="-122"/>
              </a:rPr>
              <a:t>What is a race condition?</a:t>
            </a:r>
          </a:p>
          <a:p>
            <a:pPr lvl="1"/>
            <a:r>
              <a:rPr lang="en-US" altLang="zh-CN" dirty="0">
                <a:ea typeface="宋体" panose="02010600030101010101" pitchFamily="2" charset="-122"/>
              </a:rPr>
              <a:t>Several processes access and manipulate the same data concurrently</a:t>
            </a:r>
            <a:r>
              <a:rPr lang="zh-CN" altLang="en-US" dirty="0">
                <a:ea typeface="宋体" panose="02010600030101010101" pitchFamily="2" charset="-122"/>
              </a:rPr>
              <a:t>（原因：多个进程同时访问相同数据）</a:t>
            </a:r>
            <a:endParaRPr lang="en-US" altLang="zh-CN" dirty="0">
              <a:ea typeface="宋体" panose="02010600030101010101" pitchFamily="2" charset="-122"/>
            </a:endParaRPr>
          </a:p>
          <a:p>
            <a:pPr lvl="1"/>
            <a:r>
              <a:rPr lang="en-US" altLang="zh-CN" dirty="0">
                <a:ea typeface="宋体" panose="02010600030101010101" pitchFamily="2" charset="-122"/>
              </a:rPr>
              <a:t>The result of the execution depends on particular access order.</a:t>
            </a:r>
            <a:r>
              <a:rPr lang="zh-CN" altLang="en-US" dirty="0">
                <a:ea typeface="宋体" panose="02010600030101010101" pitchFamily="2" charset="-122"/>
              </a:rPr>
              <a:t>（后果：执行结果与执行顺序有关）</a:t>
            </a:r>
            <a:endParaRPr lang="en-US" altLang="zh-CN" dirty="0">
              <a:ea typeface="宋体" panose="02010600030101010101" pitchFamily="2" charset="-122"/>
            </a:endParaRPr>
          </a:p>
          <a:p>
            <a:r>
              <a:rPr lang="en-US" altLang="zh-CN" dirty="0">
                <a:ea typeface="宋体" panose="02010600030101010101" pitchFamily="2" charset="-122"/>
              </a:rPr>
              <a:t>To avoid race condition, we need to ensure that only one process at a time can be manipulating the same data.----</a:t>
            </a:r>
            <a:r>
              <a:rPr lang="en-US" altLang="zh-CN" dirty="0">
                <a:solidFill>
                  <a:srgbClr val="FF0000"/>
                </a:solidFill>
                <a:ea typeface="宋体" panose="02010600030101010101" pitchFamily="2" charset="-122"/>
              </a:rPr>
              <a:t>mutual exclusion(</a:t>
            </a:r>
            <a:r>
              <a:rPr lang="zh-CN" altLang="en-US" dirty="0">
                <a:solidFill>
                  <a:srgbClr val="FF0000"/>
                </a:solidFill>
                <a:ea typeface="宋体" panose="02010600030101010101" pitchFamily="2" charset="-122"/>
              </a:rPr>
              <a:t>互斥访问</a:t>
            </a:r>
            <a:r>
              <a:rPr lang="en-US" altLang="zh-CN" dirty="0">
                <a:solidFill>
                  <a:srgbClr val="FF0000"/>
                </a:solidFill>
                <a:ea typeface="宋体" panose="02010600030101010101" pitchFamily="2"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329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32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p:cNvSpPr>
          <p:nvPr>
            <p:ph type="title" idx="4294967295"/>
          </p:nvPr>
        </p:nvSpPr>
        <p:spPr>
          <a:ln/>
        </p:spPr>
        <p:txBody>
          <a:bodyPr vert="horz" wrap="square" lIns="92075" tIns="46038" rIns="92075" bIns="46038" anchor="b" anchorCtr="0"/>
          <a:lstStyle/>
          <a:p>
            <a:pPr eaLnBrk="1" hangingPunct="1"/>
            <a:r>
              <a:rPr lang="en-US" altLang="zh-CN" dirty="0"/>
              <a:t>Two threads, one counter</a:t>
            </a:r>
          </a:p>
        </p:txBody>
      </p:sp>
      <p:sp>
        <p:nvSpPr>
          <p:cNvPr id="23554" name="Rectangle 3"/>
          <p:cNvSpPr>
            <a:spLocks noGrp="1"/>
          </p:cNvSpPr>
          <p:nvPr>
            <p:ph type="body" idx="4294967295"/>
          </p:nvPr>
        </p:nvSpPr>
        <p:spPr>
          <a:xfrm>
            <a:off x="595313" y="995363"/>
            <a:ext cx="8229600" cy="4530725"/>
          </a:xfrm>
          <a:ln/>
        </p:spPr>
        <p:txBody>
          <a:bodyPr vert="horz" wrap="square" lIns="92075" tIns="46038" rIns="92075" bIns="46038" anchor="t" anchorCtr="0"/>
          <a:lstStyle/>
          <a:p>
            <a:pPr eaLnBrk="1" hangingPunct="1">
              <a:buFontTx/>
              <a:buNone/>
            </a:pPr>
            <a:r>
              <a:rPr lang="en-US" altLang="zh-CN" sz="2400" dirty="0"/>
              <a:t>Popular web server  </a:t>
            </a:r>
          </a:p>
          <a:p>
            <a:pPr eaLnBrk="1" hangingPunct="1"/>
            <a:r>
              <a:rPr lang="en-US" altLang="zh-CN" sz="2400" dirty="0"/>
              <a:t>Uses multiple threads to speed things up.  </a:t>
            </a:r>
          </a:p>
          <a:p>
            <a:pPr eaLnBrk="1" hangingPunct="1"/>
            <a:r>
              <a:rPr lang="en-US" altLang="zh-CN" sz="2400" dirty="0"/>
              <a:t>Simple shared state error: </a:t>
            </a:r>
          </a:p>
          <a:p>
            <a:pPr lvl="1" eaLnBrk="1" hangingPunct="1"/>
            <a:r>
              <a:rPr lang="en-US" altLang="zh-CN" sz="2400" dirty="0"/>
              <a:t>each thread increments a shared counter to track number of hits</a:t>
            </a:r>
          </a:p>
          <a:p>
            <a:pPr eaLnBrk="1" hangingPunct="1"/>
            <a:endParaRPr lang="en-US" altLang="zh-CN" sz="2400" dirty="0"/>
          </a:p>
          <a:p>
            <a:pPr eaLnBrk="1" hangingPunct="1"/>
            <a:endParaRPr lang="en-US" altLang="zh-CN" sz="2400" dirty="0"/>
          </a:p>
          <a:p>
            <a:pPr eaLnBrk="1" hangingPunct="1"/>
            <a:endParaRPr lang="en-US" altLang="zh-CN" sz="2400" dirty="0"/>
          </a:p>
          <a:p>
            <a:pPr eaLnBrk="1" hangingPunct="1"/>
            <a:r>
              <a:rPr lang="en-US" altLang="zh-CN" sz="2400" dirty="0"/>
              <a:t>What happens when two threads execute concurrently?</a:t>
            </a:r>
          </a:p>
        </p:txBody>
      </p:sp>
      <p:sp>
        <p:nvSpPr>
          <p:cNvPr id="23555" name="Text Box 4"/>
          <p:cNvSpPr txBox="1"/>
          <p:nvPr/>
        </p:nvSpPr>
        <p:spPr>
          <a:xfrm>
            <a:off x="1752600" y="3227388"/>
            <a:ext cx="3433763" cy="1373187"/>
          </a:xfrm>
          <a:prstGeom prst="rect">
            <a:avLst/>
          </a:prstGeom>
          <a:noFill/>
          <a:ln w="12700">
            <a:noFill/>
          </a:ln>
        </p:spPr>
        <p:txBody>
          <a:bodyPr wrap="none" anchor="t" anchorCtr="0">
            <a:spAutoFit/>
          </a:bodyPr>
          <a:lstStyle/>
          <a:p>
            <a:pPr eaLnBrk="0" hangingPunct="0"/>
            <a:r>
              <a:rPr lang="en-US" altLang="zh-CN" sz="2400" dirty="0">
                <a:solidFill>
                  <a:srgbClr val="0000FF"/>
                </a:solidFill>
                <a:latin typeface="Comic Sans MS" panose="030F0702030302020204" pitchFamily="66" charset="0"/>
              </a:rPr>
              <a:t>	</a:t>
            </a:r>
            <a:r>
              <a:rPr lang="en-US" altLang="zh-CN" sz="2800" dirty="0">
                <a:solidFill>
                  <a:srgbClr val="0000FF"/>
                </a:solidFill>
                <a:latin typeface="Comic Sans MS" panose="030F0702030302020204" pitchFamily="66" charset="0"/>
              </a:rPr>
              <a:t>…</a:t>
            </a:r>
          </a:p>
          <a:p>
            <a:pPr eaLnBrk="0" hangingPunct="0"/>
            <a:r>
              <a:rPr lang="en-US" altLang="zh-CN" sz="2800" dirty="0">
                <a:solidFill>
                  <a:srgbClr val="0000FF"/>
                </a:solidFill>
                <a:latin typeface="Comic Sans MS" panose="030F0702030302020204" pitchFamily="66" charset="0"/>
              </a:rPr>
              <a:t>	hits = hits + 1;</a:t>
            </a:r>
          </a:p>
          <a:p>
            <a:pPr eaLnBrk="0" hangingPunct="0"/>
            <a:r>
              <a:rPr lang="en-US" altLang="zh-CN" sz="2800" dirty="0">
                <a:solidFill>
                  <a:srgbClr val="0000FF"/>
                </a:solidFill>
                <a:latin typeface="Comic Sans MS" panose="030F0702030302020204" pitchFamily="66"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p:cNvSpPr>
          <p:nvPr>
            <p:ph type="title" idx="4294967295"/>
          </p:nvPr>
        </p:nvSpPr>
        <p:spPr>
          <a:ln/>
        </p:spPr>
        <p:txBody>
          <a:bodyPr vert="horz" wrap="square" lIns="92075" tIns="46038" rIns="92075" bIns="46038" anchor="b" anchorCtr="0"/>
          <a:lstStyle/>
          <a:p>
            <a:pPr eaLnBrk="1" hangingPunct="1"/>
            <a:r>
              <a:rPr lang="en-US" altLang="zh-CN" dirty="0"/>
              <a:t>Shared counters</a:t>
            </a:r>
          </a:p>
        </p:txBody>
      </p:sp>
      <p:sp>
        <p:nvSpPr>
          <p:cNvPr id="47107" name="Rectangle 3"/>
          <p:cNvSpPr>
            <a:spLocks noGrp="1"/>
          </p:cNvSpPr>
          <p:nvPr>
            <p:ph type="body" idx="4294967295"/>
          </p:nvPr>
        </p:nvSpPr>
        <p:spPr>
          <a:xfrm>
            <a:off x="312738" y="1077913"/>
            <a:ext cx="8831262" cy="5356225"/>
          </a:xfrm>
          <a:ln/>
        </p:spPr>
        <p:txBody>
          <a:bodyPr vert="horz" wrap="square" lIns="92075" tIns="46038" rIns="92075" bIns="46038" anchor="t" anchorCtr="0"/>
          <a:lstStyle/>
          <a:p>
            <a:pPr eaLnBrk="1" hangingPunct="1"/>
            <a:r>
              <a:rPr lang="en-US" altLang="zh-CN" sz="2400" dirty="0"/>
              <a:t>Possible result: lost update!   </a:t>
            </a:r>
            <a:endParaRPr lang="en-US" altLang="zh-CN" sz="2400" b="1" dirty="0"/>
          </a:p>
          <a:p>
            <a:pPr eaLnBrk="1" hangingPunct="1"/>
            <a:endParaRPr lang="en-US" altLang="zh-CN" sz="2400" b="1" dirty="0"/>
          </a:p>
          <a:p>
            <a:pPr eaLnBrk="1" hangingPunct="1"/>
            <a:endParaRPr lang="en-US" altLang="zh-CN" sz="4000" b="1" dirty="0"/>
          </a:p>
          <a:p>
            <a:pPr eaLnBrk="1" hangingPunct="1"/>
            <a:endParaRPr lang="en-US" altLang="zh-CN" sz="4000" b="1" dirty="0"/>
          </a:p>
          <a:p>
            <a:pPr eaLnBrk="1" hangingPunct="1"/>
            <a:endParaRPr lang="en-US" altLang="zh-CN" sz="4000" b="1" dirty="0"/>
          </a:p>
          <a:p>
            <a:pPr marL="0" indent="0" eaLnBrk="1" hangingPunct="1">
              <a:buNone/>
            </a:pPr>
            <a:endParaRPr lang="en-US" altLang="zh-CN" sz="2400" dirty="0">
              <a:sym typeface="Symbol" panose="05050102010706020507" pitchFamily="18" charset="2"/>
            </a:endParaRPr>
          </a:p>
          <a:p>
            <a:pPr eaLnBrk="1" hangingPunct="1"/>
            <a:r>
              <a:rPr lang="en-US" altLang="zh-CN" sz="2400" dirty="0">
                <a:sym typeface="Symbol" panose="05050102010706020507" pitchFamily="18" charset="2"/>
              </a:rPr>
              <a:t> Difficult to debug</a:t>
            </a:r>
            <a:endParaRPr lang="en-US" altLang="zh-CN" sz="2400" dirty="0"/>
          </a:p>
          <a:p>
            <a:pPr eaLnBrk="1" hangingPunct="1"/>
            <a:r>
              <a:rPr lang="en-US" altLang="zh-CN" sz="2400" dirty="0"/>
              <a:t>Called a “race condition”</a:t>
            </a:r>
          </a:p>
        </p:txBody>
      </p:sp>
      <p:sp>
        <p:nvSpPr>
          <p:cNvPr id="25603" name="Text Box 4"/>
          <p:cNvSpPr txBox="1"/>
          <p:nvPr/>
        </p:nvSpPr>
        <p:spPr>
          <a:xfrm>
            <a:off x="4878388" y="4191000"/>
            <a:ext cx="1984375" cy="519113"/>
          </a:xfrm>
          <a:prstGeom prst="rect">
            <a:avLst/>
          </a:prstGeom>
          <a:noFill/>
          <a:ln w="57150">
            <a:noFill/>
          </a:ln>
        </p:spPr>
        <p:txBody>
          <a:bodyPr wrap="none" anchor="ctr" anchorCtr="0">
            <a:spAutoFit/>
          </a:bodyPr>
          <a:lstStyle/>
          <a:p>
            <a:pPr algn="ctr" eaLnBrk="0" hangingPunct="0"/>
            <a:r>
              <a:rPr lang="en-US" altLang="zh-CN" sz="2800" dirty="0">
                <a:solidFill>
                  <a:srgbClr val="CC0000"/>
                </a:solidFill>
                <a:latin typeface="Comic Sans MS" panose="030F0702030302020204" pitchFamily="66" charset="0"/>
              </a:rPr>
              <a:t>hits = 0 + 1</a:t>
            </a:r>
          </a:p>
        </p:txBody>
      </p:sp>
      <p:sp>
        <p:nvSpPr>
          <p:cNvPr id="25604" name="Freeform 5"/>
          <p:cNvSpPr/>
          <p:nvPr/>
        </p:nvSpPr>
        <p:spPr>
          <a:xfrm>
            <a:off x="2805113" y="2481263"/>
            <a:ext cx="342900" cy="646112"/>
          </a:xfrm>
          <a:custGeom>
            <a:avLst/>
            <a:gdLst/>
            <a:ahLst/>
            <a:cxnLst>
              <a:cxn ang="0">
                <a:pos x="2147483647" y="0"/>
              </a:cxn>
              <a:cxn ang="0">
                <a:pos x="2147483647" y="2147483647"/>
              </a:cxn>
              <a:cxn ang="0">
                <a:pos x="2147483647" y="2147483647"/>
              </a:cxn>
              <a:cxn ang="0">
                <a:pos x="2147483647" y="2147483647"/>
              </a:cxn>
            </a:cxnLst>
            <a:rect l="0" t="0" r="0" b="0"/>
            <a:pathLst>
              <a:path w="216" h="528">
                <a:moveTo>
                  <a:pt x="64" y="0"/>
                </a:moveTo>
                <a:cubicBezTo>
                  <a:pt x="140" y="68"/>
                  <a:pt x="216" y="136"/>
                  <a:pt x="208" y="192"/>
                </a:cubicBezTo>
                <a:cubicBezTo>
                  <a:pt x="200" y="248"/>
                  <a:pt x="32" y="280"/>
                  <a:pt x="16" y="336"/>
                </a:cubicBezTo>
                <a:cubicBezTo>
                  <a:pt x="0" y="392"/>
                  <a:pt x="96" y="488"/>
                  <a:pt x="112" y="528"/>
                </a:cubicBezTo>
              </a:path>
            </a:pathLst>
          </a:custGeom>
          <a:noFill/>
          <a:ln w="57150" cap="flat" cmpd="sng">
            <a:solidFill>
              <a:schemeClr val="bg2"/>
            </a:solidFill>
            <a:prstDash val="solid"/>
            <a:round/>
            <a:headEnd type="none" w="sm" len="sm"/>
            <a:tailEnd type="triangle" w="med" len="med"/>
          </a:ln>
        </p:spPr>
        <p:txBody>
          <a:bodyPr/>
          <a:lstStyle/>
          <a:p>
            <a:endParaRPr lang="zh-CN" altLang="en-US"/>
          </a:p>
        </p:txBody>
      </p:sp>
      <p:sp>
        <p:nvSpPr>
          <p:cNvPr id="25605" name="Text Box 6"/>
          <p:cNvSpPr txBox="1"/>
          <p:nvPr/>
        </p:nvSpPr>
        <p:spPr>
          <a:xfrm>
            <a:off x="2105025" y="3125788"/>
            <a:ext cx="2276475" cy="519112"/>
          </a:xfrm>
          <a:prstGeom prst="rect">
            <a:avLst/>
          </a:prstGeom>
          <a:noFill/>
          <a:ln w="57150">
            <a:noFill/>
          </a:ln>
        </p:spPr>
        <p:txBody>
          <a:bodyPr wrap="none" anchor="ctr" anchorCtr="0">
            <a:spAutoFit/>
          </a:bodyPr>
          <a:lstStyle/>
          <a:p>
            <a:pPr algn="ctr" eaLnBrk="0" hangingPunct="0"/>
            <a:r>
              <a:rPr lang="en-US" altLang="zh-CN" sz="2800" dirty="0">
                <a:solidFill>
                  <a:schemeClr val="bg2"/>
                </a:solidFill>
                <a:latin typeface="Comic Sans MS" panose="030F0702030302020204" pitchFamily="66" charset="0"/>
              </a:rPr>
              <a:t>read hits (0)</a:t>
            </a:r>
          </a:p>
        </p:txBody>
      </p:sp>
      <p:sp>
        <p:nvSpPr>
          <p:cNvPr id="25606" name="Text Box 7"/>
          <p:cNvSpPr txBox="1"/>
          <p:nvPr/>
        </p:nvSpPr>
        <p:spPr>
          <a:xfrm>
            <a:off x="2209800" y="3889375"/>
            <a:ext cx="1984375" cy="519113"/>
          </a:xfrm>
          <a:prstGeom prst="rect">
            <a:avLst/>
          </a:prstGeom>
          <a:noFill/>
          <a:ln w="57150">
            <a:noFill/>
          </a:ln>
        </p:spPr>
        <p:txBody>
          <a:bodyPr wrap="none" anchor="ctr" anchorCtr="0">
            <a:spAutoFit/>
          </a:bodyPr>
          <a:lstStyle/>
          <a:p>
            <a:pPr algn="ctr" eaLnBrk="0" hangingPunct="0"/>
            <a:r>
              <a:rPr lang="en-US" altLang="zh-CN" sz="2800" dirty="0">
                <a:solidFill>
                  <a:schemeClr val="bg2"/>
                </a:solidFill>
                <a:latin typeface="Comic Sans MS" panose="030F0702030302020204" pitchFamily="66" charset="0"/>
              </a:rPr>
              <a:t>hits = 0 + 1</a:t>
            </a:r>
          </a:p>
        </p:txBody>
      </p:sp>
      <p:sp>
        <p:nvSpPr>
          <p:cNvPr id="25607" name="Text Box 8"/>
          <p:cNvSpPr txBox="1"/>
          <p:nvPr/>
        </p:nvSpPr>
        <p:spPr>
          <a:xfrm>
            <a:off x="4878388" y="3478213"/>
            <a:ext cx="2276475" cy="519112"/>
          </a:xfrm>
          <a:prstGeom prst="rect">
            <a:avLst/>
          </a:prstGeom>
          <a:noFill/>
          <a:ln w="57150">
            <a:noFill/>
          </a:ln>
        </p:spPr>
        <p:txBody>
          <a:bodyPr wrap="none" anchor="ctr" anchorCtr="0">
            <a:spAutoFit/>
          </a:bodyPr>
          <a:lstStyle/>
          <a:p>
            <a:pPr algn="ctr" eaLnBrk="0" hangingPunct="0"/>
            <a:r>
              <a:rPr lang="en-US" altLang="zh-CN" sz="2800" dirty="0">
                <a:solidFill>
                  <a:srgbClr val="CC0000"/>
                </a:solidFill>
                <a:latin typeface="Comic Sans MS" panose="030F0702030302020204" pitchFamily="66" charset="0"/>
              </a:rPr>
              <a:t>read hits (0)</a:t>
            </a:r>
          </a:p>
        </p:txBody>
      </p:sp>
      <p:sp>
        <p:nvSpPr>
          <p:cNvPr id="25608" name="Text Box 9"/>
          <p:cNvSpPr txBox="1"/>
          <p:nvPr/>
        </p:nvSpPr>
        <p:spPr>
          <a:xfrm>
            <a:off x="3276600" y="2422525"/>
            <a:ext cx="585788" cy="519113"/>
          </a:xfrm>
          <a:prstGeom prst="rect">
            <a:avLst/>
          </a:prstGeom>
          <a:noFill/>
          <a:ln w="57150">
            <a:noFill/>
          </a:ln>
        </p:spPr>
        <p:txBody>
          <a:bodyPr wrap="none" anchor="ctr" anchorCtr="0">
            <a:spAutoFit/>
          </a:bodyPr>
          <a:lstStyle/>
          <a:p>
            <a:pPr algn="ctr" eaLnBrk="0" hangingPunct="0"/>
            <a:r>
              <a:rPr lang="en-US" altLang="zh-CN" sz="2800" dirty="0">
                <a:solidFill>
                  <a:schemeClr val="bg2"/>
                </a:solidFill>
                <a:latin typeface="Comic Sans MS" panose="030F0702030302020204" pitchFamily="66" charset="0"/>
              </a:rPr>
              <a:t>T1</a:t>
            </a:r>
          </a:p>
        </p:txBody>
      </p:sp>
      <p:grpSp>
        <p:nvGrpSpPr>
          <p:cNvPr id="25609" name="Group 10"/>
          <p:cNvGrpSpPr/>
          <p:nvPr/>
        </p:nvGrpSpPr>
        <p:grpSpPr>
          <a:xfrm>
            <a:off x="6081713" y="2362200"/>
            <a:ext cx="933450" cy="706438"/>
            <a:chOff x="3831" y="1488"/>
            <a:chExt cx="588" cy="445"/>
          </a:xfrm>
        </p:grpSpPr>
        <p:sp>
          <p:nvSpPr>
            <p:cNvPr id="25610" name="Freeform 11"/>
            <p:cNvSpPr/>
            <p:nvPr/>
          </p:nvSpPr>
          <p:spPr>
            <a:xfrm>
              <a:off x="3831" y="1525"/>
              <a:ext cx="216" cy="408"/>
            </a:xfrm>
            <a:custGeom>
              <a:avLst/>
              <a:gdLst/>
              <a:ahLst/>
              <a:cxnLst>
                <a:cxn ang="0">
                  <a:pos x="64" y="0"/>
                </a:cxn>
                <a:cxn ang="0">
                  <a:pos x="208" y="2"/>
                </a:cxn>
                <a:cxn ang="0">
                  <a:pos x="16" y="3"/>
                </a:cxn>
                <a:cxn ang="0">
                  <a:pos x="112" y="5"/>
                </a:cxn>
              </a:cxnLst>
              <a:rect l="0" t="0" r="0" b="0"/>
              <a:pathLst>
                <a:path w="216" h="528">
                  <a:moveTo>
                    <a:pt x="64" y="0"/>
                  </a:moveTo>
                  <a:cubicBezTo>
                    <a:pt x="140" y="68"/>
                    <a:pt x="216" y="136"/>
                    <a:pt x="208" y="192"/>
                  </a:cubicBezTo>
                  <a:cubicBezTo>
                    <a:pt x="200" y="248"/>
                    <a:pt x="32" y="280"/>
                    <a:pt x="16" y="336"/>
                  </a:cubicBezTo>
                  <a:cubicBezTo>
                    <a:pt x="0" y="392"/>
                    <a:pt x="96" y="488"/>
                    <a:pt x="112" y="528"/>
                  </a:cubicBezTo>
                </a:path>
              </a:pathLst>
            </a:custGeom>
            <a:noFill/>
            <a:ln w="57150" cap="flat" cmpd="sng">
              <a:solidFill>
                <a:srgbClr val="CC0000"/>
              </a:solidFill>
              <a:prstDash val="solid"/>
              <a:round/>
              <a:headEnd type="none" w="sm" len="sm"/>
              <a:tailEnd type="triangle" w="med" len="med"/>
            </a:ln>
          </p:spPr>
          <p:txBody>
            <a:bodyPr/>
            <a:lstStyle/>
            <a:p>
              <a:endParaRPr lang="zh-CN" altLang="en-US"/>
            </a:p>
          </p:txBody>
        </p:sp>
        <p:sp>
          <p:nvSpPr>
            <p:cNvPr id="25611" name="Text Box 12"/>
            <p:cNvSpPr txBox="1"/>
            <p:nvPr/>
          </p:nvSpPr>
          <p:spPr>
            <a:xfrm>
              <a:off x="4014" y="1488"/>
              <a:ext cx="405" cy="327"/>
            </a:xfrm>
            <a:prstGeom prst="rect">
              <a:avLst/>
            </a:prstGeom>
            <a:noFill/>
            <a:ln w="57150">
              <a:noFill/>
            </a:ln>
          </p:spPr>
          <p:txBody>
            <a:bodyPr wrap="none" anchor="ctr" anchorCtr="0">
              <a:spAutoFit/>
            </a:bodyPr>
            <a:lstStyle/>
            <a:p>
              <a:pPr algn="ctr" eaLnBrk="0" hangingPunct="0"/>
              <a:r>
                <a:rPr lang="en-US" altLang="zh-CN" sz="2800" dirty="0">
                  <a:solidFill>
                    <a:srgbClr val="CC0000"/>
                  </a:solidFill>
                  <a:latin typeface="Comic Sans MS" panose="030F0702030302020204" pitchFamily="66" charset="0"/>
                </a:rPr>
                <a:t>T2</a:t>
              </a:r>
            </a:p>
          </p:txBody>
        </p:sp>
      </p:grpSp>
      <p:sp>
        <p:nvSpPr>
          <p:cNvPr id="25612" name="Text Box 13"/>
          <p:cNvSpPr txBox="1"/>
          <p:nvPr/>
        </p:nvSpPr>
        <p:spPr>
          <a:xfrm>
            <a:off x="990600" y="4572000"/>
            <a:ext cx="1384300" cy="519113"/>
          </a:xfrm>
          <a:prstGeom prst="rect">
            <a:avLst/>
          </a:prstGeom>
          <a:noFill/>
          <a:ln w="57150">
            <a:noFill/>
          </a:ln>
        </p:spPr>
        <p:txBody>
          <a:bodyPr wrap="none" anchor="ctr" anchorCtr="0">
            <a:spAutoFit/>
          </a:bodyPr>
          <a:lstStyle/>
          <a:p>
            <a:pPr algn="ctr" eaLnBrk="0" hangingPunct="0"/>
            <a:r>
              <a:rPr lang="en-US" altLang="zh-CN" sz="2800" dirty="0">
                <a:solidFill>
                  <a:schemeClr val="folHlink"/>
                </a:solidFill>
                <a:latin typeface="Comic Sans MS" panose="030F0702030302020204" pitchFamily="66" charset="0"/>
              </a:rPr>
              <a:t>hits = 1</a:t>
            </a:r>
            <a:endParaRPr lang="en-US" altLang="zh-CN" sz="2800" dirty="0">
              <a:solidFill>
                <a:schemeClr val="tx2"/>
              </a:solidFill>
              <a:latin typeface="Comic Sans MS" panose="030F0702030302020204" pitchFamily="66" charset="0"/>
            </a:endParaRPr>
          </a:p>
        </p:txBody>
      </p:sp>
      <p:sp>
        <p:nvSpPr>
          <p:cNvPr id="25613" name="Text Box 14"/>
          <p:cNvSpPr txBox="1"/>
          <p:nvPr/>
        </p:nvSpPr>
        <p:spPr>
          <a:xfrm>
            <a:off x="990600" y="1981200"/>
            <a:ext cx="1441450" cy="519113"/>
          </a:xfrm>
          <a:prstGeom prst="rect">
            <a:avLst/>
          </a:prstGeom>
          <a:noFill/>
          <a:ln w="57150">
            <a:noFill/>
          </a:ln>
        </p:spPr>
        <p:txBody>
          <a:bodyPr wrap="none" anchor="ctr" anchorCtr="0">
            <a:spAutoFit/>
          </a:bodyPr>
          <a:lstStyle/>
          <a:p>
            <a:pPr algn="ctr" eaLnBrk="0" hangingPunct="0"/>
            <a:r>
              <a:rPr lang="en-US" altLang="zh-CN" sz="2800" dirty="0">
                <a:solidFill>
                  <a:schemeClr val="folHlink"/>
                </a:solidFill>
                <a:latin typeface="Comic Sans MS" panose="030F0702030302020204" pitchFamily="66" charset="0"/>
              </a:rPr>
              <a:t>hits = 0</a:t>
            </a:r>
          </a:p>
        </p:txBody>
      </p:sp>
      <p:sp>
        <p:nvSpPr>
          <p:cNvPr id="25614" name="Line 15"/>
          <p:cNvSpPr/>
          <p:nvPr/>
        </p:nvSpPr>
        <p:spPr>
          <a:xfrm>
            <a:off x="1600200" y="2590800"/>
            <a:ext cx="0" cy="1828800"/>
          </a:xfrm>
          <a:prstGeom prst="line">
            <a:avLst/>
          </a:prstGeom>
          <a:ln w="57150" cap="flat" cmpd="sng">
            <a:solidFill>
              <a:srgbClr val="0F0C19"/>
            </a:solidFill>
            <a:prstDash val="solid"/>
            <a:round/>
            <a:headEnd type="none" w="sm" len="sm"/>
            <a:tailEnd type="triangle" w="sm" len="sm"/>
          </a:ln>
        </p:spPr>
      </p:sp>
      <p:sp>
        <p:nvSpPr>
          <p:cNvPr id="25615" name="Text Box 16"/>
          <p:cNvSpPr txBox="1"/>
          <p:nvPr/>
        </p:nvSpPr>
        <p:spPr>
          <a:xfrm>
            <a:off x="534988" y="2590800"/>
            <a:ext cx="922337" cy="519113"/>
          </a:xfrm>
          <a:prstGeom prst="rect">
            <a:avLst/>
          </a:prstGeom>
          <a:noFill/>
          <a:ln w="57150">
            <a:noFill/>
          </a:ln>
        </p:spPr>
        <p:txBody>
          <a:bodyPr wrap="none" anchor="ctr" anchorCtr="0">
            <a:spAutoFit/>
          </a:bodyPr>
          <a:lstStyle/>
          <a:p>
            <a:pPr algn="ctr" eaLnBrk="0" hangingPunct="0"/>
            <a:r>
              <a:rPr lang="en-US" altLang="zh-CN" sz="2800" dirty="0">
                <a:solidFill>
                  <a:srgbClr val="0F0C19"/>
                </a:solidFill>
                <a:latin typeface="Comic Sans MS" panose="030F0702030302020204" pitchFamily="66" charset="0"/>
              </a:rPr>
              <a:t>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710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p:cNvSpPr>
          <p:nvPr>
            <p:ph type="title"/>
          </p:nvPr>
        </p:nvSpPr>
        <p:spPr>
          <a:ln/>
        </p:spPr>
        <p:txBody>
          <a:bodyPr vert="horz" wrap="square" lIns="91440" tIns="45720" rIns="91440" bIns="45720" anchor="b" anchorCtr="0"/>
          <a:lstStyle/>
          <a:p>
            <a:pPr eaLnBrk="1" hangingPunct="1"/>
            <a:r>
              <a:rPr lang="en-US" altLang="zh-CN" dirty="0"/>
              <a:t>Objectives</a:t>
            </a:r>
          </a:p>
        </p:txBody>
      </p:sp>
      <p:sp>
        <p:nvSpPr>
          <p:cNvPr id="11266" name="Rectangle 3"/>
          <p:cNvSpPr>
            <a:spLocks noGrp="1"/>
          </p:cNvSpPr>
          <p:nvPr>
            <p:ph idx="1"/>
          </p:nvPr>
        </p:nvSpPr>
        <p:spPr>
          <a:xfrm>
            <a:off x="469900" y="1360488"/>
            <a:ext cx="8405813" cy="5062537"/>
          </a:xfrm>
          <a:ln/>
        </p:spPr>
        <p:txBody>
          <a:bodyPr vert="horz" wrap="square" lIns="91440" tIns="45720" rIns="91440" bIns="45720" anchor="t" anchorCtr="0"/>
          <a:lstStyle/>
          <a:p>
            <a:r>
              <a:rPr lang="en-US" altLang="zh-CN" sz="2400" dirty="0"/>
              <a:t>To introduce the </a:t>
            </a:r>
            <a:r>
              <a:rPr lang="en-US" altLang="zh-CN" sz="2400" dirty="0">
                <a:solidFill>
                  <a:srgbClr val="FF3300"/>
                </a:solidFill>
              </a:rPr>
              <a:t>critical-section(</a:t>
            </a:r>
            <a:r>
              <a:rPr lang="zh-CN" altLang="en-US" sz="2400" dirty="0">
                <a:solidFill>
                  <a:srgbClr val="FF3300"/>
                </a:solidFill>
                <a:ea typeface="宋体" panose="02010600030101010101" pitchFamily="2" charset="-122"/>
              </a:rPr>
              <a:t>临界区</a:t>
            </a:r>
            <a:r>
              <a:rPr lang="en-US" altLang="zh-CN" sz="2400" dirty="0">
                <a:solidFill>
                  <a:srgbClr val="FF3300"/>
                </a:solidFill>
              </a:rPr>
              <a:t>)</a:t>
            </a:r>
            <a:r>
              <a:rPr lang="en-US" altLang="zh-CN" sz="2400" dirty="0"/>
              <a:t> problem, whose solutions can be used to ensure the consistency of shared data</a:t>
            </a:r>
          </a:p>
          <a:p>
            <a:r>
              <a:rPr lang="en-US" altLang="zh-CN" sz="2400" dirty="0"/>
              <a:t>To present both </a:t>
            </a:r>
            <a:r>
              <a:rPr lang="en-US" altLang="zh-CN" sz="2400" dirty="0">
                <a:solidFill>
                  <a:srgbClr val="FF0000"/>
                </a:solidFill>
              </a:rPr>
              <a:t>software</a:t>
            </a:r>
            <a:r>
              <a:rPr lang="en-US" altLang="zh-CN" sz="2400" dirty="0"/>
              <a:t> and </a:t>
            </a:r>
            <a:r>
              <a:rPr lang="en-US" altLang="zh-CN" sz="2400" dirty="0">
                <a:solidFill>
                  <a:srgbClr val="FF0000"/>
                </a:solidFill>
              </a:rPr>
              <a:t>hardware solutions </a:t>
            </a:r>
            <a:r>
              <a:rPr lang="en-US" altLang="zh-CN" sz="2400" dirty="0"/>
              <a:t>of the critical-section problem</a:t>
            </a:r>
            <a:r>
              <a:rPr lang="zh-CN" altLang="en-US" sz="2400" dirty="0"/>
              <a:t>（软件和硬件解决方法）</a:t>
            </a:r>
            <a:endParaRPr lang="en-US" altLang="zh-CN" sz="2400" dirty="0"/>
          </a:p>
          <a:p>
            <a:r>
              <a:rPr lang="en-US" altLang="zh-CN" sz="2400" dirty="0"/>
              <a:t>To introduce the concept of an </a:t>
            </a:r>
            <a:r>
              <a:rPr lang="en-US" altLang="zh-CN" sz="2400" dirty="0">
                <a:solidFill>
                  <a:srgbClr val="FF0000"/>
                </a:solidFill>
              </a:rPr>
              <a:t>atomic transaction </a:t>
            </a:r>
            <a:r>
              <a:rPr lang="en-US" altLang="zh-CN" sz="2400" dirty="0"/>
              <a:t>and describe mechanisms to ensure atomicity</a:t>
            </a:r>
            <a:r>
              <a:rPr lang="zh-CN" altLang="en-US" sz="2400" dirty="0"/>
              <a:t>（原子事务）</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p:cNvSpPr>
          <p:nvPr>
            <p:ph type="title" idx="4294967295"/>
          </p:nvPr>
        </p:nvSpPr>
        <p:spPr>
          <a:ln/>
        </p:spPr>
        <p:txBody>
          <a:bodyPr vert="horz" wrap="square" lIns="91440" tIns="45720" rIns="91440" bIns="45720" anchor="b" anchorCtr="0"/>
          <a:lstStyle/>
          <a:p>
            <a:br>
              <a:rPr lang="zh-CN" altLang="en-US" dirty="0"/>
            </a:br>
            <a:br>
              <a:rPr lang="zh-CN" altLang="en-US" dirty="0"/>
            </a:br>
            <a:r>
              <a:rPr lang="zh-CN" altLang="en-US" dirty="0"/>
              <a:t>   </a:t>
            </a:r>
            <a:r>
              <a:rPr lang="en-US" altLang="zh-CN" dirty="0"/>
              <a:t>Critical-Section (</a:t>
            </a:r>
            <a:r>
              <a:rPr lang="zh-CN" altLang="en-US" dirty="0">
                <a:ea typeface="宋体" panose="02010600030101010101" pitchFamily="2" charset="-122"/>
              </a:rPr>
              <a:t>临界区</a:t>
            </a:r>
            <a:r>
              <a:rPr lang="en-US" altLang="zh-CN" dirty="0"/>
              <a:t>)</a:t>
            </a:r>
            <a:endParaRPr lang="zh-CN" altLang="en-US" dirty="0">
              <a:ea typeface="宋体" panose="02010600030101010101" pitchFamily="2" charset="-122"/>
            </a:endParaRPr>
          </a:p>
        </p:txBody>
      </p:sp>
      <p:sp>
        <p:nvSpPr>
          <p:cNvPr id="185347" name="Rectangle 3"/>
          <p:cNvSpPr>
            <a:spLocks noGrp="1"/>
          </p:cNvSpPr>
          <p:nvPr>
            <p:ph type="body" idx="4294967295"/>
          </p:nvPr>
        </p:nvSpPr>
        <p:spPr>
          <a:xfrm>
            <a:off x="699294" y="1179512"/>
            <a:ext cx="7745412" cy="1504187"/>
          </a:xfrm>
          <a:ln/>
        </p:spPr>
        <p:txBody>
          <a:bodyPr vert="horz" wrap="square" lIns="91440" tIns="45720" rIns="91440" bIns="45720" anchor="t" anchorCtr="0"/>
          <a:lstStyle/>
          <a:p>
            <a:pPr marL="0" indent="0" eaLnBrk="1" hangingPunct="1">
              <a:spcBef>
                <a:spcPct val="0"/>
              </a:spcBef>
              <a:buNone/>
            </a:pPr>
            <a:r>
              <a:rPr lang="en-US" altLang="zh-CN" sz="2400" kern="1200" dirty="0">
                <a:latin typeface="Verdana" panose="020B0604030504040204" pitchFamily="34" charset="0"/>
                <a:ea typeface="宋体" panose="02010600030101010101" pitchFamily="2" charset="-122"/>
              </a:rPr>
              <a:t>Critical resource</a:t>
            </a:r>
            <a:r>
              <a:rPr lang="zh-CN" altLang="en-US" sz="2400" kern="1200" dirty="0">
                <a:latin typeface="Verdana" panose="020B0604030504040204" pitchFamily="34" charset="0"/>
                <a:ea typeface="宋体" panose="02010600030101010101" pitchFamily="2" charset="-122"/>
              </a:rPr>
              <a:t>（临界资源）</a:t>
            </a:r>
            <a:r>
              <a:rPr lang="en-US" altLang="zh-CN" sz="2400" kern="1200" dirty="0">
                <a:latin typeface="Verdana" panose="020B0604030504040204" pitchFamily="34" charset="0"/>
                <a:ea typeface="宋体" panose="02010600030101010101" pitchFamily="2" charset="-122"/>
              </a:rPr>
              <a:t>:</a:t>
            </a:r>
          </a:p>
          <a:p>
            <a:pPr lvl="1"/>
            <a:r>
              <a:rPr lang="en-US" altLang="zh-CN" sz="2400" dirty="0">
                <a:ea typeface="宋体" panose="02010600030101010101" pitchFamily="2" charset="-122"/>
              </a:rPr>
              <a:t>The resource that must be accessed </a:t>
            </a:r>
            <a:r>
              <a:rPr lang="en-US" altLang="zh-CN" sz="2400" dirty="0">
                <a:solidFill>
                  <a:srgbClr val="FF0000"/>
                </a:solidFill>
                <a:ea typeface="宋体" panose="02010600030101010101" pitchFamily="2" charset="-122"/>
              </a:rPr>
              <a:t>mutual excluded (</a:t>
            </a:r>
            <a:r>
              <a:rPr lang="zh-CN" altLang="en-US" sz="2400" dirty="0">
                <a:solidFill>
                  <a:srgbClr val="FF0000"/>
                </a:solidFill>
                <a:ea typeface="宋体" panose="02010600030101010101" pitchFamily="2" charset="-122"/>
              </a:rPr>
              <a:t>互斥的</a:t>
            </a:r>
            <a:r>
              <a:rPr lang="en-US" altLang="zh-CN" sz="2400" dirty="0">
                <a:solidFill>
                  <a:srgbClr val="FF0000"/>
                </a:solidFill>
                <a:ea typeface="宋体" panose="02010600030101010101" pitchFamily="2" charset="-122"/>
              </a:rPr>
              <a:t>)</a:t>
            </a:r>
            <a:r>
              <a:rPr lang="en-US" altLang="zh-CN" sz="2400" dirty="0">
                <a:ea typeface="宋体" panose="02010600030101010101" pitchFamily="2" charset="-122"/>
              </a:rPr>
              <a:t>.</a:t>
            </a:r>
          </a:p>
        </p:txBody>
      </p:sp>
      <p:sp>
        <p:nvSpPr>
          <p:cNvPr id="2" name="矩形 1">
            <a:extLst>
              <a:ext uri="{FF2B5EF4-FFF2-40B4-BE49-F238E27FC236}">
                <a16:creationId xmlns:a16="http://schemas.microsoft.com/office/drawing/2014/main" id="{A5D3F600-EC04-4731-A1BF-FB642AE069DD}"/>
              </a:ext>
            </a:extLst>
          </p:cNvPr>
          <p:cNvSpPr/>
          <p:nvPr/>
        </p:nvSpPr>
        <p:spPr>
          <a:xfrm>
            <a:off x="699294" y="2669918"/>
            <a:ext cx="7745412" cy="1200329"/>
          </a:xfrm>
          <a:prstGeom prst="rect">
            <a:avLst/>
          </a:prstGeom>
        </p:spPr>
        <p:txBody>
          <a:bodyPr wrap="square">
            <a:spAutoFit/>
          </a:bodyPr>
          <a:lstStyle/>
          <a:p>
            <a:r>
              <a:rPr lang="en-US" altLang="zh-CN" sz="2400" dirty="0">
                <a:ea typeface="宋体" panose="02010600030101010101" pitchFamily="2" charset="-122"/>
              </a:rPr>
              <a:t>Critical section</a:t>
            </a:r>
            <a:r>
              <a:rPr lang="zh-CN" altLang="en-US" sz="2400" dirty="0">
                <a:ea typeface="宋体" panose="02010600030101010101" pitchFamily="2" charset="-122"/>
              </a:rPr>
              <a:t>（临界区）：</a:t>
            </a:r>
            <a:endParaRPr lang="en-US" altLang="zh-CN" sz="2400" dirty="0">
              <a:ea typeface="宋体" panose="02010600030101010101" pitchFamily="2" charset="-122"/>
            </a:endParaRPr>
          </a:p>
          <a:p>
            <a:pPr lvl="1"/>
            <a:r>
              <a:rPr lang="en-US" altLang="zh-CN" sz="2400" dirty="0">
                <a:ea typeface="宋体" panose="02010600030101010101" pitchFamily="2" charset="-122"/>
              </a:rPr>
              <a:t>A segment of </a:t>
            </a:r>
            <a:r>
              <a:rPr lang="en-US" altLang="zh-CN" sz="2400" dirty="0">
                <a:solidFill>
                  <a:srgbClr val="FF0000"/>
                </a:solidFill>
                <a:ea typeface="宋体" panose="02010600030101010101" pitchFamily="2" charset="-122"/>
              </a:rPr>
              <a:t>code</a:t>
            </a:r>
            <a:r>
              <a:rPr lang="en-US" altLang="zh-CN" sz="2400" dirty="0">
                <a:ea typeface="宋体" panose="02010600030101010101" pitchFamily="2" charset="-122"/>
              </a:rPr>
              <a:t> in which the process is accessing critical resource</a:t>
            </a:r>
          </a:p>
        </p:txBody>
      </p:sp>
      <p:sp>
        <p:nvSpPr>
          <p:cNvPr id="3" name="矩形 2">
            <a:extLst>
              <a:ext uri="{FF2B5EF4-FFF2-40B4-BE49-F238E27FC236}">
                <a16:creationId xmlns:a16="http://schemas.microsoft.com/office/drawing/2014/main" id="{093778C8-BC73-455F-AD9D-828ECEF16826}"/>
              </a:ext>
            </a:extLst>
          </p:cNvPr>
          <p:cNvSpPr/>
          <p:nvPr/>
        </p:nvSpPr>
        <p:spPr>
          <a:xfrm>
            <a:off x="243840" y="4174105"/>
            <a:ext cx="8900160" cy="1938992"/>
          </a:xfrm>
          <a:prstGeom prst="rect">
            <a:avLst/>
          </a:prstGeom>
        </p:spPr>
        <p:txBody>
          <a:bodyPr wrap="square">
            <a:spAutoFit/>
          </a:bodyPr>
          <a:lstStyle/>
          <a:p>
            <a:pPr lvl="1"/>
            <a:r>
              <a:rPr lang="en-US" altLang="zh-CN" sz="2400" dirty="0">
                <a:ea typeface="宋体" panose="02010600030101010101" pitchFamily="2" charset="-122"/>
              </a:rPr>
              <a:t>Consider a set of concurrent processes{ P</a:t>
            </a:r>
            <a:r>
              <a:rPr lang="en-US" altLang="zh-CN" sz="2400" baseline="-25000" dirty="0">
                <a:ea typeface="宋体" panose="02010600030101010101" pitchFamily="2" charset="-122"/>
              </a:rPr>
              <a:t>0</a:t>
            </a:r>
            <a:r>
              <a:rPr lang="en-US" altLang="zh-CN" sz="2400" dirty="0">
                <a:ea typeface="宋体" panose="02010600030101010101" pitchFamily="2" charset="-122"/>
              </a:rPr>
              <a:t>,P</a:t>
            </a:r>
            <a:r>
              <a:rPr lang="en-US" altLang="zh-CN" sz="2400" baseline="-25000" dirty="0">
                <a:ea typeface="宋体" panose="02010600030101010101" pitchFamily="2" charset="-122"/>
              </a:rPr>
              <a:t>1</a:t>
            </a:r>
            <a:r>
              <a:rPr lang="en-US" altLang="zh-CN" sz="2400" dirty="0">
                <a:ea typeface="宋体" panose="02010600030101010101" pitchFamily="2" charset="-122"/>
              </a:rPr>
              <a:t>,…,P</a:t>
            </a:r>
            <a:r>
              <a:rPr lang="en-US" altLang="zh-CN" sz="2400" baseline="-25000" dirty="0">
                <a:ea typeface="宋体" panose="02010600030101010101" pitchFamily="2" charset="-122"/>
              </a:rPr>
              <a:t>n-1</a:t>
            </a:r>
            <a:r>
              <a:rPr lang="en-US" altLang="zh-CN" sz="2400" dirty="0">
                <a:ea typeface="宋体" panose="02010600030101010101" pitchFamily="2" charset="-122"/>
              </a:rPr>
              <a:t>}. </a:t>
            </a:r>
          </a:p>
          <a:p>
            <a:pPr lvl="1"/>
            <a:r>
              <a:rPr lang="en-US" altLang="zh-CN" sz="2400" dirty="0">
                <a:ea typeface="宋体" panose="02010600030101010101" pitchFamily="2" charset="-122"/>
              </a:rPr>
              <a:t>   Each process has a segment of code, called a critical section, in which the process may be changing common variables, updating a table, writing a file, and so 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53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534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7" grpId="0" build="p"/>
      <p:bldP spid="2"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p:cNvSpPr>
          <p:nvPr>
            <p:ph type="title" idx="4294967295"/>
          </p:nvPr>
        </p:nvSpPr>
        <p:spPr>
          <a:ln/>
        </p:spPr>
        <p:txBody>
          <a:bodyPr vert="horz" wrap="square" lIns="91440" tIns="45720" rIns="91440" bIns="45720" anchor="b" anchorCtr="0"/>
          <a:lstStyle/>
          <a:p>
            <a:br>
              <a:rPr lang="zh-CN" altLang="en-US" dirty="0"/>
            </a:br>
            <a:br>
              <a:rPr lang="zh-CN" altLang="en-US" dirty="0"/>
            </a:br>
            <a:r>
              <a:rPr lang="zh-CN" altLang="en-US" dirty="0"/>
              <a:t>   </a:t>
            </a:r>
            <a:r>
              <a:rPr lang="en-US" altLang="zh-CN" dirty="0"/>
              <a:t>Critical-Section</a:t>
            </a:r>
          </a:p>
        </p:txBody>
      </p:sp>
      <p:sp>
        <p:nvSpPr>
          <p:cNvPr id="29698" name="Rectangle 3"/>
          <p:cNvSpPr>
            <a:spLocks noGrp="1"/>
          </p:cNvSpPr>
          <p:nvPr>
            <p:ph type="body" idx="4294967295"/>
          </p:nvPr>
        </p:nvSpPr>
        <p:spPr>
          <a:xfrm>
            <a:off x="346075" y="1022350"/>
            <a:ext cx="8631238" cy="5400675"/>
          </a:xfrm>
          <a:ln/>
        </p:spPr>
        <p:txBody>
          <a:bodyPr vert="horz" wrap="square" lIns="91440" tIns="45720" rIns="91440" bIns="45720" anchor="t" anchorCtr="0"/>
          <a:lstStyle/>
          <a:p>
            <a:r>
              <a:rPr lang="en-US" altLang="zh-CN" sz="2400" dirty="0">
                <a:ea typeface="宋体" panose="02010600030101010101" pitchFamily="2" charset="-122"/>
              </a:rPr>
              <a:t>To ensure the shared data to be modified mutual excluded, no more than one process can execute in its </a:t>
            </a:r>
            <a:r>
              <a:rPr lang="en-US" altLang="zh-CN" sz="2400" dirty="0">
                <a:solidFill>
                  <a:srgbClr val="FF0000"/>
                </a:solidFill>
                <a:ea typeface="宋体" panose="02010600030101010101" pitchFamily="2" charset="-122"/>
              </a:rPr>
              <a:t>critical section</a:t>
            </a:r>
            <a:r>
              <a:rPr lang="en-US" altLang="zh-CN" sz="2400" dirty="0">
                <a:ea typeface="宋体" panose="02010600030101010101" pitchFamily="2" charset="-122"/>
              </a:rPr>
              <a:t> at the same time. </a:t>
            </a:r>
            <a:r>
              <a:rPr lang="zh-CN" altLang="en-US" sz="2400" dirty="0">
                <a:ea typeface="宋体" panose="02010600030101010101" pitchFamily="2" charset="-122"/>
              </a:rPr>
              <a:t>（不能有一个以上的进程同时在它的临界区执行）</a:t>
            </a:r>
            <a:endParaRPr lang="en-US" altLang="zh-CN" sz="2400" dirty="0">
              <a:ea typeface="宋体" panose="02010600030101010101" pitchFamily="2" charset="-122"/>
            </a:endParaRPr>
          </a:p>
          <a:p>
            <a:r>
              <a:rPr lang="en-US" altLang="zh-CN" sz="2400" dirty="0">
                <a:ea typeface="宋体" panose="02010600030101010101" pitchFamily="2" charset="-122"/>
              </a:rPr>
              <a:t>Each process must request permission to enter its critical section----</a:t>
            </a:r>
            <a:r>
              <a:rPr lang="en-US" altLang="zh-CN" sz="2400" dirty="0">
                <a:solidFill>
                  <a:srgbClr val="FF0000"/>
                </a:solidFill>
                <a:ea typeface="宋体" panose="02010600030101010101" pitchFamily="2" charset="-122"/>
              </a:rPr>
              <a:t>entry section (</a:t>
            </a:r>
            <a:r>
              <a:rPr lang="zh-CN" altLang="en-US" sz="2400" dirty="0">
                <a:solidFill>
                  <a:srgbClr val="FF0000"/>
                </a:solidFill>
                <a:ea typeface="宋体" panose="02010600030101010101" pitchFamily="2" charset="-122"/>
              </a:rPr>
              <a:t>进入区</a:t>
            </a:r>
            <a:r>
              <a:rPr lang="en-US" altLang="zh-CN" sz="2400" dirty="0">
                <a:solidFill>
                  <a:srgbClr val="FF0000"/>
                </a:solidFill>
                <a:ea typeface="宋体" panose="02010600030101010101" pitchFamily="2" charset="-122"/>
              </a:rPr>
              <a:t>)</a:t>
            </a:r>
          </a:p>
          <a:p>
            <a:r>
              <a:rPr lang="en-US" altLang="zh-CN" sz="2400" dirty="0">
                <a:ea typeface="宋体" panose="02010600030101010101" pitchFamily="2" charset="-122"/>
              </a:rPr>
              <a:t>And exit with the </a:t>
            </a:r>
            <a:r>
              <a:rPr lang="en-US" altLang="zh-CN" sz="2400" dirty="0">
                <a:solidFill>
                  <a:srgbClr val="FF0000"/>
                </a:solidFill>
                <a:ea typeface="宋体" panose="02010600030101010101" pitchFamily="2" charset="-122"/>
              </a:rPr>
              <a:t>exit section (</a:t>
            </a:r>
            <a:r>
              <a:rPr lang="zh-CN" altLang="en-US" sz="2400" dirty="0">
                <a:solidFill>
                  <a:srgbClr val="FF0000"/>
                </a:solidFill>
                <a:ea typeface="宋体" panose="02010600030101010101" pitchFamily="2" charset="-122"/>
              </a:rPr>
              <a:t>退出区</a:t>
            </a:r>
            <a:r>
              <a:rPr lang="en-US" altLang="zh-CN" sz="2400" dirty="0">
                <a:solidFill>
                  <a:srgbClr val="FF0000"/>
                </a:solidFill>
                <a:ea typeface="宋体" panose="02010600030101010101" pitchFamily="2" charset="-122"/>
              </a:rPr>
              <a:t>)</a:t>
            </a:r>
            <a:r>
              <a:rPr lang="en-US" altLang="zh-CN" sz="2400" dirty="0">
                <a:ea typeface="宋体" panose="02010600030101010101" pitchFamily="2" charset="-122"/>
              </a:rPr>
              <a:t>. </a:t>
            </a:r>
          </a:p>
        </p:txBody>
      </p:sp>
      <p:graphicFrame>
        <p:nvGraphicFramePr>
          <p:cNvPr id="29699" name="Object 3"/>
          <p:cNvGraphicFramePr/>
          <p:nvPr>
            <p:extLst>
              <p:ext uri="{D42A27DB-BD31-4B8C-83A1-F6EECF244321}">
                <p14:modId xmlns:p14="http://schemas.microsoft.com/office/powerpoint/2010/main" val="3605146308"/>
              </p:ext>
            </p:extLst>
          </p:nvPr>
        </p:nvGraphicFramePr>
        <p:xfrm>
          <a:off x="1953365" y="4070942"/>
          <a:ext cx="5416658" cy="2352083"/>
        </p:xfrm>
        <a:graphic>
          <a:graphicData uri="http://schemas.openxmlformats.org/presentationml/2006/ole">
            <mc:AlternateContent xmlns:mc="http://schemas.openxmlformats.org/markup-compatibility/2006">
              <mc:Choice xmlns:v="urn:schemas-microsoft-com:vml" Requires="v">
                <p:oleObj spid="_x0000_s3272" r:id="rId4" imgW="2540635" imgH="975360" progId="Visio.Drawing.6">
                  <p:embed/>
                </p:oleObj>
              </mc:Choice>
              <mc:Fallback>
                <p:oleObj r:id="rId4" imgW="2540635" imgH="975360" progId="Visio.Drawing.6">
                  <p:embed/>
                  <p:pic>
                    <p:nvPicPr>
                      <p:cNvPr id="0" name="图片 3075"/>
                      <p:cNvPicPr/>
                      <p:nvPr/>
                    </p:nvPicPr>
                    <p:blipFill>
                      <a:blip r:embed="rId5"/>
                      <a:stretch>
                        <a:fillRect/>
                      </a:stretch>
                    </p:blipFill>
                    <p:spPr>
                      <a:xfrm>
                        <a:off x="1953365" y="4070942"/>
                        <a:ext cx="5416658" cy="2352083"/>
                      </a:xfrm>
                      <a:prstGeom prst="rect">
                        <a:avLst/>
                      </a:prstGeom>
                      <a:solidFill>
                        <a:srgbClr val="99CCFF"/>
                      </a:soli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69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6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p:cNvSpPr>
          <p:nvPr>
            <p:ph type="title"/>
          </p:nvPr>
        </p:nvSpPr>
        <p:spPr>
          <a:ln/>
        </p:spPr>
        <p:txBody>
          <a:bodyPr vert="horz" wrap="square" lIns="91440" tIns="45720" rIns="91440" bIns="45720" anchor="b" anchorCtr="0"/>
          <a:lstStyle/>
          <a:p>
            <a:br>
              <a:rPr lang="zh-CN" altLang="en-US" dirty="0"/>
            </a:br>
            <a:br>
              <a:rPr lang="zh-CN" altLang="en-US" dirty="0"/>
            </a:br>
            <a:r>
              <a:rPr lang="zh-CN" altLang="en-US" dirty="0"/>
              <a:t>   </a:t>
            </a:r>
            <a:r>
              <a:rPr lang="en-US" altLang="zh-CN" dirty="0"/>
              <a:t>Solution to Critical-Section Problem</a:t>
            </a:r>
          </a:p>
        </p:txBody>
      </p:sp>
      <p:sp>
        <p:nvSpPr>
          <p:cNvPr id="31746" name="Rectangle 3"/>
          <p:cNvSpPr>
            <a:spLocks noGrp="1"/>
          </p:cNvSpPr>
          <p:nvPr>
            <p:ph idx="1"/>
          </p:nvPr>
        </p:nvSpPr>
        <p:spPr>
          <a:xfrm>
            <a:off x="512763" y="852488"/>
            <a:ext cx="8631237" cy="6005512"/>
          </a:xfrm>
          <a:ln/>
        </p:spPr>
        <p:txBody>
          <a:bodyPr vert="horz" wrap="square" lIns="91440" tIns="45720" rIns="91440" bIns="45720" anchor="t" anchorCtr="0"/>
          <a:lstStyle/>
          <a:p>
            <a:pPr>
              <a:lnSpc>
                <a:spcPct val="90000"/>
              </a:lnSpc>
              <a:buNone/>
            </a:pPr>
            <a:r>
              <a:rPr lang="en-US" altLang="zh-CN" dirty="0">
                <a:ea typeface="宋体" panose="02010600030101010101" pitchFamily="2" charset="-122"/>
              </a:rPr>
              <a:t>1.	</a:t>
            </a:r>
            <a:r>
              <a:rPr lang="en-US" altLang="zh-CN" sz="2000" dirty="0">
                <a:solidFill>
                  <a:srgbClr val="FF0000"/>
                </a:solidFill>
                <a:ea typeface="宋体" panose="02010600030101010101" pitchFamily="2" charset="-122"/>
              </a:rPr>
              <a:t>Mutual Exclusion </a:t>
            </a:r>
            <a:r>
              <a:rPr lang="zh-CN" altLang="en-US" sz="2000" dirty="0">
                <a:solidFill>
                  <a:srgbClr val="FF0000"/>
                </a:solidFill>
                <a:ea typeface="宋体" panose="02010600030101010101" pitchFamily="2" charset="-122"/>
              </a:rPr>
              <a:t>互斥</a:t>
            </a:r>
            <a:r>
              <a:rPr lang="en-US" altLang="zh-CN" sz="2000" dirty="0">
                <a:solidFill>
                  <a:srgbClr val="FF0000"/>
                </a:solidFill>
                <a:ea typeface="宋体" panose="02010600030101010101" pitchFamily="2" charset="-122"/>
              </a:rPr>
              <a:t> (safety) </a:t>
            </a:r>
            <a:r>
              <a:rPr lang="en-US" altLang="zh-CN" sz="2000" dirty="0">
                <a:ea typeface="宋体" panose="02010600030101010101" pitchFamily="2" charset="-122"/>
              </a:rPr>
              <a:t>- </a:t>
            </a:r>
            <a:r>
              <a:rPr lang="en-US" altLang="zh-CN" sz="2000" dirty="0"/>
              <a:t>No more than one process can be in a critical section at any time.</a:t>
            </a:r>
            <a:endParaRPr lang="en-US" altLang="zh-CN" sz="2000" dirty="0">
              <a:ea typeface="宋体" panose="02010600030101010101" pitchFamily="2" charset="-122"/>
            </a:endParaRPr>
          </a:p>
          <a:p>
            <a:pPr>
              <a:lnSpc>
                <a:spcPct val="90000"/>
              </a:lnSpc>
              <a:buNone/>
            </a:pPr>
            <a:r>
              <a:rPr lang="en-US" altLang="zh-CN" sz="2000" dirty="0">
                <a:ea typeface="宋体" panose="02010600030101010101" pitchFamily="2" charset="-122"/>
              </a:rPr>
              <a:t>2.	</a:t>
            </a:r>
            <a:r>
              <a:rPr lang="en-US" altLang="zh-CN" sz="2000" dirty="0">
                <a:solidFill>
                  <a:srgbClr val="FF0000"/>
                </a:solidFill>
                <a:ea typeface="宋体" panose="02010600030101010101" pitchFamily="2" charset="-122"/>
              </a:rPr>
              <a:t>Progress </a:t>
            </a:r>
            <a:r>
              <a:rPr lang="zh-CN" altLang="en-US" sz="2000" dirty="0">
                <a:solidFill>
                  <a:srgbClr val="FF0000"/>
                </a:solidFill>
                <a:ea typeface="宋体" panose="02010600030101010101" pitchFamily="2" charset="-122"/>
              </a:rPr>
              <a:t>有空让进 </a:t>
            </a:r>
            <a:r>
              <a:rPr lang="en-US" altLang="zh-CN" sz="2000" dirty="0">
                <a:solidFill>
                  <a:srgbClr val="FF0000"/>
                </a:solidFill>
                <a:ea typeface="宋体" panose="02010600030101010101" pitchFamily="2" charset="-122"/>
              </a:rPr>
              <a:t>(liveness) </a:t>
            </a:r>
            <a:r>
              <a:rPr lang="en-US" altLang="zh-CN" sz="2000" dirty="0">
                <a:ea typeface="宋体" panose="02010600030101010101" pitchFamily="2" charset="-122"/>
              </a:rPr>
              <a:t>- If no process is executing in its critical section and there exist some processes wishing to enter their critical section, then the selection of the processes that will enter the critical section next cannot be postponed indefinitely</a:t>
            </a:r>
          </a:p>
          <a:p>
            <a:pPr>
              <a:lnSpc>
                <a:spcPct val="90000"/>
              </a:lnSpc>
              <a:buNone/>
            </a:pPr>
            <a:r>
              <a:rPr lang="en-US" altLang="zh-CN" sz="2000" dirty="0">
                <a:ea typeface="宋体" panose="02010600030101010101" pitchFamily="2" charset="-122"/>
              </a:rPr>
              <a:t>3.	</a:t>
            </a:r>
            <a:r>
              <a:rPr lang="en-US" altLang="zh-CN" sz="2000" dirty="0">
                <a:solidFill>
                  <a:srgbClr val="FF0000"/>
                </a:solidFill>
                <a:ea typeface="宋体" panose="02010600030101010101" pitchFamily="2" charset="-122"/>
              </a:rPr>
              <a:t>Bounded Waiting </a:t>
            </a:r>
            <a:r>
              <a:rPr lang="zh-CN" altLang="en-US" sz="2000" dirty="0">
                <a:solidFill>
                  <a:srgbClr val="FF0000"/>
                </a:solidFill>
                <a:ea typeface="宋体" panose="02010600030101010101" pitchFamily="2" charset="-122"/>
              </a:rPr>
              <a:t>有限等待</a:t>
            </a:r>
            <a:r>
              <a:rPr lang="en-US" altLang="zh-CN" sz="2000" dirty="0">
                <a:ea typeface="宋体" panose="02010600030101010101" pitchFamily="2" charset="-122"/>
              </a:rPr>
              <a:t>-  A bound must exist on the number of times that other processes are allowed to enter their critical sections after a process has made a request to enter its critical section and before that request is granted</a:t>
            </a:r>
          </a:p>
          <a:p>
            <a:pPr lvl="1">
              <a:lnSpc>
                <a:spcPct val="90000"/>
              </a:lnSpc>
              <a:buSzPct val="125000"/>
              <a:buFont typeface="Wingdings 2" panose="05020102010507070707" pitchFamily="18" charset="2"/>
              <a:buChar char=""/>
            </a:pPr>
            <a:r>
              <a:rPr lang="en-US" altLang="zh-CN" sz="2000" dirty="0">
                <a:ea typeface="宋体" panose="02010600030101010101" pitchFamily="2" charset="-122"/>
              </a:rPr>
              <a:t>Assume that each process executes at a nonzero speed </a:t>
            </a:r>
          </a:p>
          <a:p>
            <a:pPr lvl="1">
              <a:lnSpc>
                <a:spcPct val="90000"/>
              </a:lnSpc>
              <a:buSzPct val="125000"/>
              <a:buFont typeface="Wingdings 2" panose="05020102010507070707" pitchFamily="18" charset="2"/>
              <a:buChar char=""/>
            </a:pPr>
            <a:r>
              <a:rPr lang="en-US" altLang="zh-CN" sz="2000" dirty="0">
                <a:ea typeface="宋体" panose="02010600030101010101" pitchFamily="2" charset="-122"/>
              </a:rPr>
              <a:t>No assumption concerning relative speed of the </a:t>
            </a:r>
            <a:r>
              <a:rPr lang="en-US" altLang="zh-CN" sz="2000" dirty="0">
                <a:solidFill>
                  <a:srgbClr val="0000FF"/>
                </a:solidFill>
                <a:ea typeface="宋体" panose="02010600030101010101" pitchFamily="2" charset="-122"/>
              </a:rPr>
              <a:t>N</a:t>
            </a:r>
            <a:r>
              <a:rPr lang="en-US" altLang="zh-CN" sz="2000" dirty="0">
                <a:ea typeface="宋体" panose="02010600030101010101" pitchFamily="2" charset="-122"/>
              </a:rPr>
              <a:t> processes</a:t>
            </a:r>
          </a:p>
          <a:p>
            <a:pPr eaLnBrk="1" hangingPunct="1">
              <a:lnSpc>
                <a:spcPct val="90000"/>
              </a:lnSpc>
            </a:pPr>
            <a:r>
              <a:rPr lang="en-US" altLang="zh-CN" sz="2000" dirty="0"/>
              <a:t>Ideally we would like </a:t>
            </a:r>
            <a:r>
              <a:rPr lang="en-US" altLang="zh-CN" sz="2000" dirty="0">
                <a:solidFill>
                  <a:srgbClr val="FF0000"/>
                </a:solidFill>
              </a:rPr>
              <a:t>fairness</a:t>
            </a:r>
            <a:r>
              <a:rPr lang="zh-CN" altLang="en-US" sz="2000" dirty="0">
                <a:solidFill>
                  <a:srgbClr val="FF0000"/>
                </a:solidFill>
              </a:rPr>
              <a:t>（公平）</a:t>
            </a:r>
            <a:r>
              <a:rPr lang="en-US" altLang="zh-CN" sz="2000" dirty="0"/>
              <a:t> as well</a:t>
            </a:r>
          </a:p>
          <a:p>
            <a:pPr lvl="1" eaLnBrk="1" hangingPunct="1">
              <a:lnSpc>
                <a:spcPct val="90000"/>
              </a:lnSpc>
            </a:pPr>
            <a:r>
              <a:rPr lang="en-US" altLang="zh-CN" sz="2000" dirty="0"/>
              <a:t>If two threads are both trying to enter a critical section, they have equal chances of success</a:t>
            </a:r>
          </a:p>
          <a:p>
            <a:pPr lvl="1" eaLnBrk="1" hangingPunct="1">
              <a:lnSpc>
                <a:spcPct val="90000"/>
              </a:lnSpc>
            </a:pPr>
            <a:r>
              <a:rPr lang="en-US" altLang="zh-CN" sz="2000" dirty="0"/>
              <a:t>… in practice, fairness is rarely guaranteed</a:t>
            </a:r>
          </a:p>
          <a:p>
            <a:pPr lvl="1">
              <a:lnSpc>
                <a:spcPct val="90000"/>
              </a:lnSpc>
              <a:buSzPct val="125000"/>
              <a:buFont typeface="Wingdings 2" panose="05020102010507070707" pitchFamily="18" charset="2"/>
              <a:buChar char=""/>
            </a:pPr>
            <a:endParaRPr lang="en-US" altLang="zh-CN" sz="20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74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74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746">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746">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74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p:cNvSpPr>
          <p:nvPr>
            <p:ph type="title" idx="4294967295"/>
          </p:nvPr>
        </p:nvSpPr>
        <p:spPr>
          <a:xfrm>
            <a:off x="390525" y="277813"/>
            <a:ext cx="8229600" cy="576262"/>
          </a:xfrm>
          <a:ln/>
        </p:spPr>
        <p:txBody>
          <a:bodyPr vert="horz" wrap="square" lIns="91440" tIns="45720" rIns="91440" bIns="45720" anchor="b" anchorCtr="0"/>
          <a:lstStyle/>
          <a:p>
            <a:pPr eaLnBrk="1" hangingPunct="1"/>
            <a:r>
              <a:rPr lang="en-US" altLang="zh-CN" dirty="0"/>
              <a:t>Critical Section Goals</a:t>
            </a:r>
          </a:p>
        </p:txBody>
      </p:sp>
      <p:sp>
        <p:nvSpPr>
          <p:cNvPr id="33794" name="Rectangle 3"/>
          <p:cNvSpPr>
            <a:spLocks noGrp="1"/>
          </p:cNvSpPr>
          <p:nvPr>
            <p:ph type="body" idx="4294967295"/>
          </p:nvPr>
        </p:nvSpPr>
        <p:spPr>
          <a:xfrm>
            <a:off x="373063" y="915988"/>
            <a:ext cx="8229600" cy="595312"/>
          </a:xfrm>
          <a:ln/>
        </p:spPr>
        <p:txBody>
          <a:bodyPr vert="horz" wrap="square" lIns="91440" tIns="45720" rIns="91440" bIns="45720" anchor="t" anchorCtr="0"/>
          <a:lstStyle/>
          <a:p>
            <a:pPr eaLnBrk="1" hangingPunct="1"/>
            <a:r>
              <a:rPr lang="en-US" altLang="zh-CN" sz="2400" dirty="0"/>
              <a:t>Threads do some stuff but eventually </a:t>
            </a:r>
            <a:r>
              <a:rPr lang="en-US" altLang="zh-CN" sz="2400" i="1" u="sng" dirty="0"/>
              <a:t>might</a:t>
            </a:r>
            <a:r>
              <a:rPr lang="en-US" altLang="zh-CN" sz="2400" i="1" dirty="0"/>
              <a:t> </a:t>
            </a:r>
            <a:r>
              <a:rPr lang="en-US" altLang="zh-CN" sz="2400" dirty="0"/>
              <a:t>try to access shared data</a:t>
            </a:r>
          </a:p>
        </p:txBody>
      </p:sp>
      <p:sp>
        <p:nvSpPr>
          <p:cNvPr id="33795" name="Freeform 5"/>
          <p:cNvSpPr/>
          <p:nvPr/>
        </p:nvSpPr>
        <p:spPr>
          <a:xfrm>
            <a:off x="2805113" y="2362200"/>
            <a:ext cx="342900" cy="646113"/>
          </a:xfrm>
          <a:custGeom>
            <a:avLst/>
            <a:gdLst/>
            <a:ahLst/>
            <a:cxnLst>
              <a:cxn ang="0">
                <a:pos x="2147483647" y="0"/>
              </a:cxn>
              <a:cxn ang="0">
                <a:pos x="2147483647" y="2147483647"/>
              </a:cxn>
              <a:cxn ang="0">
                <a:pos x="2147483647" y="2147483647"/>
              </a:cxn>
              <a:cxn ang="0">
                <a:pos x="2147483647" y="2147483647"/>
              </a:cxn>
            </a:cxnLst>
            <a:rect l="0" t="0" r="0" b="0"/>
            <a:pathLst>
              <a:path w="216" h="528">
                <a:moveTo>
                  <a:pt x="64" y="0"/>
                </a:moveTo>
                <a:cubicBezTo>
                  <a:pt x="140" y="68"/>
                  <a:pt x="216" y="136"/>
                  <a:pt x="208" y="192"/>
                </a:cubicBezTo>
                <a:cubicBezTo>
                  <a:pt x="200" y="248"/>
                  <a:pt x="32" y="280"/>
                  <a:pt x="16" y="336"/>
                </a:cubicBezTo>
                <a:cubicBezTo>
                  <a:pt x="0" y="392"/>
                  <a:pt x="96" y="488"/>
                  <a:pt x="112" y="528"/>
                </a:cubicBezTo>
              </a:path>
            </a:pathLst>
          </a:custGeom>
          <a:noFill/>
          <a:ln w="57150" cap="flat" cmpd="sng">
            <a:solidFill>
              <a:schemeClr val="bg2"/>
            </a:solidFill>
            <a:prstDash val="solid"/>
            <a:round/>
            <a:headEnd type="none" w="sm" len="sm"/>
            <a:tailEnd type="triangle" w="med" len="med"/>
          </a:ln>
        </p:spPr>
        <p:txBody>
          <a:bodyPr/>
          <a:lstStyle/>
          <a:p>
            <a:endParaRPr lang="zh-CN" altLang="en-US"/>
          </a:p>
        </p:txBody>
      </p:sp>
      <p:sp>
        <p:nvSpPr>
          <p:cNvPr id="33796" name="Text Box 6"/>
          <p:cNvSpPr txBox="1"/>
          <p:nvPr/>
        </p:nvSpPr>
        <p:spPr>
          <a:xfrm>
            <a:off x="1905000" y="3157538"/>
            <a:ext cx="3309938" cy="1373187"/>
          </a:xfrm>
          <a:prstGeom prst="rect">
            <a:avLst/>
          </a:prstGeom>
          <a:noFill/>
          <a:ln w="57150">
            <a:noFill/>
          </a:ln>
        </p:spPr>
        <p:txBody>
          <a:bodyPr anchor="ctr" anchorCtr="0">
            <a:spAutoFit/>
          </a:bodyPr>
          <a:lstStyle/>
          <a:p>
            <a:pPr eaLnBrk="0" hangingPunct="0"/>
            <a:r>
              <a:rPr lang="en-US" altLang="zh-CN" sz="2800" dirty="0">
                <a:solidFill>
                  <a:schemeClr val="bg2"/>
                </a:solidFill>
                <a:latin typeface="Comic Sans MS" panose="030F0702030302020204" pitchFamily="66" charset="0"/>
              </a:rPr>
              <a:t>CSEnter();</a:t>
            </a:r>
          </a:p>
          <a:p>
            <a:pPr lvl="1" indent="0" eaLnBrk="0" hangingPunct="0"/>
            <a:r>
              <a:rPr lang="en-US" altLang="zh-CN" sz="2800" i="1" dirty="0">
                <a:solidFill>
                  <a:schemeClr val="bg2"/>
                </a:solidFill>
                <a:latin typeface="Comic Sans MS" panose="030F0702030302020204" pitchFamily="66" charset="0"/>
              </a:rPr>
              <a:t>Critical section</a:t>
            </a:r>
          </a:p>
          <a:p>
            <a:pPr eaLnBrk="0" hangingPunct="0"/>
            <a:r>
              <a:rPr lang="en-US" altLang="zh-CN" sz="2800" dirty="0">
                <a:solidFill>
                  <a:schemeClr val="bg2"/>
                </a:solidFill>
                <a:latin typeface="Comic Sans MS" panose="030F0702030302020204" pitchFamily="66" charset="0"/>
              </a:rPr>
              <a:t>CSExit();</a:t>
            </a:r>
          </a:p>
        </p:txBody>
      </p:sp>
      <p:sp>
        <p:nvSpPr>
          <p:cNvPr id="33797" name="Text Box 9"/>
          <p:cNvSpPr txBox="1"/>
          <p:nvPr/>
        </p:nvSpPr>
        <p:spPr>
          <a:xfrm>
            <a:off x="3276600" y="2303463"/>
            <a:ext cx="585788" cy="519112"/>
          </a:xfrm>
          <a:prstGeom prst="rect">
            <a:avLst/>
          </a:prstGeom>
          <a:noFill/>
          <a:ln w="57150">
            <a:noFill/>
          </a:ln>
        </p:spPr>
        <p:txBody>
          <a:bodyPr wrap="none" anchor="ctr" anchorCtr="0">
            <a:spAutoFit/>
          </a:bodyPr>
          <a:lstStyle/>
          <a:p>
            <a:pPr algn="ctr" eaLnBrk="0" hangingPunct="0"/>
            <a:r>
              <a:rPr lang="en-US" altLang="zh-CN" sz="2800" dirty="0">
                <a:solidFill>
                  <a:schemeClr val="bg2"/>
                </a:solidFill>
                <a:latin typeface="Comic Sans MS" panose="030F0702030302020204" pitchFamily="66" charset="0"/>
              </a:rPr>
              <a:t>T1</a:t>
            </a:r>
          </a:p>
        </p:txBody>
      </p:sp>
      <p:grpSp>
        <p:nvGrpSpPr>
          <p:cNvPr id="33798" name="Group 10"/>
          <p:cNvGrpSpPr/>
          <p:nvPr/>
        </p:nvGrpSpPr>
        <p:grpSpPr>
          <a:xfrm>
            <a:off x="6081713" y="2243138"/>
            <a:ext cx="933450" cy="706437"/>
            <a:chOff x="3831" y="1488"/>
            <a:chExt cx="588" cy="445"/>
          </a:xfrm>
        </p:grpSpPr>
        <p:sp>
          <p:nvSpPr>
            <p:cNvPr id="33799" name="Freeform 11"/>
            <p:cNvSpPr/>
            <p:nvPr/>
          </p:nvSpPr>
          <p:spPr>
            <a:xfrm>
              <a:off x="3831" y="1525"/>
              <a:ext cx="216" cy="408"/>
            </a:xfrm>
            <a:custGeom>
              <a:avLst/>
              <a:gdLst/>
              <a:ahLst/>
              <a:cxnLst>
                <a:cxn ang="0">
                  <a:pos x="64" y="0"/>
                </a:cxn>
                <a:cxn ang="0">
                  <a:pos x="208" y="2"/>
                </a:cxn>
                <a:cxn ang="0">
                  <a:pos x="16" y="3"/>
                </a:cxn>
                <a:cxn ang="0">
                  <a:pos x="112" y="5"/>
                </a:cxn>
              </a:cxnLst>
              <a:rect l="0" t="0" r="0" b="0"/>
              <a:pathLst>
                <a:path w="216" h="528">
                  <a:moveTo>
                    <a:pt x="64" y="0"/>
                  </a:moveTo>
                  <a:cubicBezTo>
                    <a:pt x="140" y="68"/>
                    <a:pt x="216" y="136"/>
                    <a:pt x="208" y="192"/>
                  </a:cubicBezTo>
                  <a:cubicBezTo>
                    <a:pt x="200" y="248"/>
                    <a:pt x="32" y="280"/>
                    <a:pt x="16" y="336"/>
                  </a:cubicBezTo>
                  <a:cubicBezTo>
                    <a:pt x="0" y="392"/>
                    <a:pt x="96" y="488"/>
                    <a:pt x="112" y="528"/>
                  </a:cubicBezTo>
                </a:path>
              </a:pathLst>
            </a:custGeom>
            <a:noFill/>
            <a:ln w="57150" cap="flat" cmpd="sng">
              <a:solidFill>
                <a:srgbClr val="CC0000"/>
              </a:solidFill>
              <a:prstDash val="solid"/>
              <a:round/>
              <a:headEnd type="none" w="sm" len="sm"/>
              <a:tailEnd type="triangle" w="med" len="med"/>
            </a:ln>
          </p:spPr>
          <p:txBody>
            <a:bodyPr/>
            <a:lstStyle/>
            <a:p>
              <a:endParaRPr lang="zh-CN" altLang="en-US"/>
            </a:p>
          </p:txBody>
        </p:sp>
        <p:sp>
          <p:nvSpPr>
            <p:cNvPr id="33800" name="Text Box 12"/>
            <p:cNvSpPr txBox="1"/>
            <p:nvPr/>
          </p:nvSpPr>
          <p:spPr>
            <a:xfrm>
              <a:off x="4014" y="1488"/>
              <a:ext cx="405" cy="327"/>
            </a:xfrm>
            <a:prstGeom prst="rect">
              <a:avLst/>
            </a:prstGeom>
            <a:noFill/>
            <a:ln w="57150">
              <a:noFill/>
            </a:ln>
          </p:spPr>
          <p:txBody>
            <a:bodyPr wrap="none" anchor="ctr" anchorCtr="0">
              <a:spAutoFit/>
            </a:bodyPr>
            <a:lstStyle/>
            <a:p>
              <a:pPr algn="ctr" eaLnBrk="0" hangingPunct="0"/>
              <a:r>
                <a:rPr lang="en-US" altLang="zh-CN" sz="2800" dirty="0">
                  <a:solidFill>
                    <a:srgbClr val="CC0000"/>
                  </a:solidFill>
                  <a:latin typeface="Comic Sans MS" panose="030F0702030302020204" pitchFamily="66" charset="0"/>
                </a:rPr>
                <a:t>T2</a:t>
              </a:r>
            </a:p>
          </p:txBody>
        </p:sp>
      </p:grpSp>
      <p:sp>
        <p:nvSpPr>
          <p:cNvPr id="33801" name="Line 15"/>
          <p:cNvSpPr/>
          <p:nvPr/>
        </p:nvSpPr>
        <p:spPr>
          <a:xfrm>
            <a:off x="1554163" y="2620963"/>
            <a:ext cx="46037" cy="2676525"/>
          </a:xfrm>
          <a:prstGeom prst="line">
            <a:avLst/>
          </a:prstGeom>
          <a:ln w="57150" cap="flat" cmpd="sng">
            <a:solidFill>
              <a:srgbClr val="0F0C19"/>
            </a:solidFill>
            <a:prstDash val="solid"/>
            <a:round/>
            <a:headEnd type="none" w="sm" len="sm"/>
            <a:tailEnd type="triangle" w="sm" len="sm"/>
          </a:ln>
        </p:spPr>
      </p:sp>
      <p:sp>
        <p:nvSpPr>
          <p:cNvPr id="33802" name="Text Box 16"/>
          <p:cNvSpPr txBox="1"/>
          <p:nvPr/>
        </p:nvSpPr>
        <p:spPr>
          <a:xfrm>
            <a:off x="490538" y="3776663"/>
            <a:ext cx="922337" cy="519112"/>
          </a:xfrm>
          <a:prstGeom prst="rect">
            <a:avLst/>
          </a:prstGeom>
          <a:noFill/>
          <a:ln w="57150">
            <a:noFill/>
          </a:ln>
        </p:spPr>
        <p:txBody>
          <a:bodyPr wrap="none" anchor="ctr" anchorCtr="0">
            <a:spAutoFit/>
          </a:bodyPr>
          <a:lstStyle/>
          <a:p>
            <a:pPr algn="ctr" eaLnBrk="0" hangingPunct="0"/>
            <a:r>
              <a:rPr lang="en-US" altLang="zh-CN" sz="2800" dirty="0">
                <a:solidFill>
                  <a:srgbClr val="0F0C19"/>
                </a:solidFill>
                <a:latin typeface="Comic Sans MS" panose="030F0702030302020204" pitchFamily="66" charset="0"/>
              </a:rPr>
              <a:t>time</a:t>
            </a:r>
          </a:p>
        </p:txBody>
      </p:sp>
      <p:sp>
        <p:nvSpPr>
          <p:cNvPr id="33803" name="Text Box 17"/>
          <p:cNvSpPr txBox="1"/>
          <p:nvPr/>
        </p:nvSpPr>
        <p:spPr>
          <a:xfrm>
            <a:off x="5681663" y="3157538"/>
            <a:ext cx="3309937" cy="1373187"/>
          </a:xfrm>
          <a:prstGeom prst="rect">
            <a:avLst/>
          </a:prstGeom>
          <a:noFill/>
          <a:ln w="57150">
            <a:noFill/>
          </a:ln>
        </p:spPr>
        <p:txBody>
          <a:bodyPr anchor="ctr" anchorCtr="0">
            <a:spAutoFit/>
          </a:bodyPr>
          <a:lstStyle/>
          <a:p>
            <a:pPr eaLnBrk="0" hangingPunct="0"/>
            <a:r>
              <a:rPr lang="en-US" altLang="zh-CN" sz="2800" dirty="0">
                <a:solidFill>
                  <a:srgbClr val="FF0000"/>
                </a:solidFill>
                <a:latin typeface="Comic Sans MS" panose="030F0702030302020204" pitchFamily="66" charset="0"/>
              </a:rPr>
              <a:t>CSEnter();</a:t>
            </a:r>
          </a:p>
          <a:p>
            <a:pPr lvl="1" indent="0" eaLnBrk="0" hangingPunct="0"/>
            <a:r>
              <a:rPr lang="en-US" altLang="zh-CN" sz="2800" i="1" dirty="0">
                <a:solidFill>
                  <a:srgbClr val="FF0000"/>
                </a:solidFill>
                <a:latin typeface="Comic Sans MS" panose="030F0702030302020204" pitchFamily="66" charset="0"/>
              </a:rPr>
              <a:t>Critical section</a:t>
            </a:r>
          </a:p>
          <a:p>
            <a:pPr eaLnBrk="0" hangingPunct="0"/>
            <a:r>
              <a:rPr lang="en-US" altLang="zh-CN" sz="2800" dirty="0">
                <a:solidFill>
                  <a:srgbClr val="FF0000"/>
                </a:solidFill>
                <a:latin typeface="Comic Sans MS" panose="030F0702030302020204" pitchFamily="66" charset="0"/>
              </a:rPr>
              <a:t>CSExit();</a:t>
            </a:r>
          </a:p>
        </p:txBody>
      </p:sp>
      <p:sp>
        <p:nvSpPr>
          <p:cNvPr id="33804" name="Freeform 18"/>
          <p:cNvSpPr/>
          <p:nvPr/>
        </p:nvSpPr>
        <p:spPr>
          <a:xfrm>
            <a:off x="2819400" y="4724400"/>
            <a:ext cx="342900" cy="646113"/>
          </a:xfrm>
          <a:custGeom>
            <a:avLst/>
            <a:gdLst/>
            <a:ahLst/>
            <a:cxnLst>
              <a:cxn ang="0">
                <a:pos x="2147483647" y="0"/>
              </a:cxn>
              <a:cxn ang="0">
                <a:pos x="2147483647" y="2147483647"/>
              </a:cxn>
              <a:cxn ang="0">
                <a:pos x="2147483647" y="2147483647"/>
              </a:cxn>
              <a:cxn ang="0">
                <a:pos x="2147483647" y="2147483647"/>
              </a:cxn>
            </a:cxnLst>
            <a:rect l="0" t="0" r="0" b="0"/>
            <a:pathLst>
              <a:path w="216" h="528">
                <a:moveTo>
                  <a:pt x="64" y="0"/>
                </a:moveTo>
                <a:cubicBezTo>
                  <a:pt x="140" y="68"/>
                  <a:pt x="216" y="136"/>
                  <a:pt x="208" y="192"/>
                </a:cubicBezTo>
                <a:cubicBezTo>
                  <a:pt x="200" y="248"/>
                  <a:pt x="32" y="280"/>
                  <a:pt x="16" y="336"/>
                </a:cubicBezTo>
                <a:cubicBezTo>
                  <a:pt x="0" y="392"/>
                  <a:pt x="96" y="488"/>
                  <a:pt x="112" y="528"/>
                </a:cubicBezTo>
              </a:path>
            </a:pathLst>
          </a:custGeom>
          <a:noFill/>
          <a:ln w="57150" cap="flat" cmpd="sng">
            <a:solidFill>
              <a:schemeClr val="bg2"/>
            </a:solidFill>
            <a:prstDash val="solid"/>
            <a:round/>
            <a:headEnd type="none" w="sm" len="sm"/>
            <a:tailEnd type="triangle" w="med" len="med"/>
          </a:ln>
        </p:spPr>
        <p:txBody>
          <a:bodyPr/>
          <a:lstStyle/>
          <a:p>
            <a:endParaRPr lang="zh-CN" altLang="en-US"/>
          </a:p>
        </p:txBody>
      </p:sp>
      <p:sp>
        <p:nvSpPr>
          <p:cNvPr id="33805" name="Text Box 19"/>
          <p:cNvSpPr txBox="1"/>
          <p:nvPr/>
        </p:nvSpPr>
        <p:spPr>
          <a:xfrm>
            <a:off x="3290888" y="4665663"/>
            <a:ext cx="585787" cy="519112"/>
          </a:xfrm>
          <a:prstGeom prst="rect">
            <a:avLst/>
          </a:prstGeom>
          <a:noFill/>
          <a:ln w="57150">
            <a:noFill/>
          </a:ln>
        </p:spPr>
        <p:txBody>
          <a:bodyPr wrap="none" anchor="ctr" anchorCtr="0">
            <a:spAutoFit/>
          </a:bodyPr>
          <a:lstStyle/>
          <a:p>
            <a:pPr algn="ctr" eaLnBrk="0" hangingPunct="0"/>
            <a:r>
              <a:rPr lang="en-US" altLang="zh-CN" sz="2800" dirty="0">
                <a:solidFill>
                  <a:schemeClr val="bg2"/>
                </a:solidFill>
                <a:latin typeface="Comic Sans MS" panose="030F0702030302020204" pitchFamily="66" charset="0"/>
              </a:rPr>
              <a:t>T1</a:t>
            </a:r>
          </a:p>
        </p:txBody>
      </p:sp>
      <p:grpSp>
        <p:nvGrpSpPr>
          <p:cNvPr id="33806" name="Group 20"/>
          <p:cNvGrpSpPr/>
          <p:nvPr/>
        </p:nvGrpSpPr>
        <p:grpSpPr>
          <a:xfrm>
            <a:off x="6096000" y="4605338"/>
            <a:ext cx="933450" cy="706437"/>
            <a:chOff x="3831" y="1488"/>
            <a:chExt cx="588" cy="445"/>
          </a:xfrm>
        </p:grpSpPr>
        <p:sp>
          <p:nvSpPr>
            <p:cNvPr id="33807" name="Freeform 21"/>
            <p:cNvSpPr/>
            <p:nvPr/>
          </p:nvSpPr>
          <p:spPr>
            <a:xfrm>
              <a:off x="3831" y="1525"/>
              <a:ext cx="216" cy="408"/>
            </a:xfrm>
            <a:custGeom>
              <a:avLst/>
              <a:gdLst/>
              <a:ahLst/>
              <a:cxnLst>
                <a:cxn ang="0">
                  <a:pos x="64" y="0"/>
                </a:cxn>
                <a:cxn ang="0">
                  <a:pos x="208" y="2"/>
                </a:cxn>
                <a:cxn ang="0">
                  <a:pos x="16" y="3"/>
                </a:cxn>
                <a:cxn ang="0">
                  <a:pos x="112" y="5"/>
                </a:cxn>
              </a:cxnLst>
              <a:rect l="0" t="0" r="0" b="0"/>
              <a:pathLst>
                <a:path w="216" h="528">
                  <a:moveTo>
                    <a:pt x="64" y="0"/>
                  </a:moveTo>
                  <a:cubicBezTo>
                    <a:pt x="140" y="68"/>
                    <a:pt x="216" y="136"/>
                    <a:pt x="208" y="192"/>
                  </a:cubicBezTo>
                  <a:cubicBezTo>
                    <a:pt x="200" y="248"/>
                    <a:pt x="32" y="280"/>
                    <a:pt x="16" y="336"/>
                  </a:cubicBezTo>
                  <a:cubicBezTo>
                    <a:pt x="0" y="392"/>
                    <a:pt x="96" y="488"/>
                    <a:pt x="112" y="528"/>
                  </a:cubicBezTo>
                </a:path>
              </a:pathLst>
            </a:custGeom>
            <a:noFill/>
            <a:ln w="57150" cap="flat" cmpd="sng">
              <a:solidFill>
                <a:srgbClr val="CC0000"/>
              </a:solidFill>
              <a:prstDash val="solid"/>
              <a:round/>
              <a:headEnd type="none" w="sm" len="sm"/>
              <a:tailEnd type="triangle" w="med" len="med"/>
            </a:ln>
          </p:spPr>
          <p:txBody>
            <a:bodyPr/>
            <a:lstStyle/>
            <a:p>
              <a:endParaRPr lang="zh-CN" altLang="en-US"/>
            </a:p>
          </p:txBody>
        </p:sp>
        <p:sp>
          <p:nvSpPr>
            <p:cNvPr id="33808" name="Text Box 22"/>
            <p:cNvSpPr txBox="1"/>
            <p:nvPr/>
          </p:nvSpPr>
          <p:spPr>
            <a:xfrm>
              <a:off x="4014" y="1488"/>
              <a:ext cx="405" cy="327"/>
            </a:xfrm>
            <a:prstGeom prst="rect">
              <a:avLst/>
            </a:prstGeom>
            <a:noFill/>
            <a:ln w="57150">
              <a:noFill/>
            </a:ln>
          </p:spPr>
          <p:txBody>
            <a:bodyPr wrap="none" anchor="ctr" anchorCtr="0">
              <a:spAutoFit/>
            </a:bodyPr>
            <a:lstStyle/>
            <a:p>
              <a:pPr algn="ctr" eaLnBrk="0" hangingPunct="0"/>
              <a:r>
                <a:rPr lang="en-US" altLang="zh-CN" sz="2800" dirty="0">
                  <a:solidFill>
                    <a:srgbClr val="CC0000"/>
                  </a:solidFill>
                  <a:latin typeface="Comic Sans MS" panose="030F0702030302020204" pitchFamily="66" charset="0"/>
                </a:rPr>
                <a:t>T2</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p:cNvSpPr>
          <p:nvPr>
            <p:ph type="title" idx="4294967295"/>
          </p:nvPr>
        </p:nvSpPr>
        <p:spPr>
          <a:ln/>
        </p:spPr>
        <p:txBody>
          <a:bodyPr vert="horz" wrap="square" lIns="91440" tIns="45720" rIns="91440" bIns="45720" anchor="b" anchorCtr="0"/>
          <a:lstStyle/>
          <a:p>
            <a:pPr eaLnBrk="1" hangingPunct="1"/>
            <a:r>
              <a:rPr lang="en-US" altLang="zh-CN" dirty="0"/>
              <a:t>Critical Section Goals</a:t>
            </a:r>
          </a:p>
        </p:txBody>
      </p:sp>
      <p:sp>
        <p:nvSpPr>
          <p:cNvPr id="35842" name="Rectangle 3"/>
          <p:cNvSpPr>
            <a:spLocks noGrp="1"/>
          </p:cNvSpPr>
          <p:nvPr>
            <p:ph type="body" idx="4294967295"/>
          </p:nvPr>
        </p:nvSpPr>
        <p:spPr>
          <a:xfrm>
            <a:off x="806450" y="1233488"/>
            <a:ext cx="8229600" cy="628650"/>
          </a:xfrm>
          <a:ln/>
        </p:spPr>
        <p:txBody>
          <a:bodyPr vert="horz" wrap="square" lIns="91440" tIns="45720" rIns="91440" bIns="45720" anchor="t" anchorCtr="0"/>
          <a:lstStyle/>
          <a:p>
            <a:pPr eaLnBrk="1" hangingPunct="1"/>
            <a:r>
              <a:rPr lang="en-US" altLang="zh-CN" sz="2400" dirty="0"/>
              <a:t>Perhaps they loop (perhaps not!)</a:t>
            </a:r>
          </a:p>
        </p:txBody>
      </p:sp>
      <p:sp>
        <p:nvSpPr>
          <p:cNvPr id="35843" name="Freeform 4"/>
          <p:cNvSpPr/>
          <p:nvPr/>
        </p:nvSpPr>
        <p:spPr>
          <a:xfrm>
            <a:off x="2403475" y="2452688"/>
            <a:ext cx="342900" cy="646112"/>
          </a:xfrm>
          <a:custGeom>
            <a:avLst/>
            <a:gdLst/>
            <a:ahLst/>
            <a:cxnLst>
              <a:cxn ang="0">
                <a:pos x="2147483647" y="0"/>
              </a:cxn>
              <a:cxn ang="0">
                <a:pos x="2147483647" y="2147483647"/>
              </a:cxn>
              <a:cxn ang="0">
                <a:pos x="2147483647" y="2147483647"/>
              </a:cxn>
              <a:cxn ang="0">
                <a:pos x="2147483647" y="2147483647"/>
              </a:cxn>
            </a:cxnLst>
            <a:rect l="0" t="0" r="0" b="0"/>
            <a:pathLst>
              <a:path w="216" h="528">
                <a:moveTo>
                  <a:pt x="64" y="0"/>
                </a:moveTo>
                <a:cubicBezTo>
                  <a:pt x="140" y="68"/>
                  <a:pt x="216" y="136"/>
                  <a:pt x="208" y="192"/>
                </a:cubicBezTo>
                <a:cubicBezTo>
                  <a:pt x="200" y="248"/>
                  <a:pt x="32" y="280"/>
                  <a:pt x="16" y="336"/>
                </a:cubicBezTo>
                <a:cubicBezTo>
                  <a:pt x="0" y="392"/>
                  <a:pt x="96" y="488"/>
                  <a:pt x="112" y="528"/>
                </a:cubicBezTo>
              </a:path>
            </a:pathLst>
          </a:custGeom>
          <a:noFill/>
          <a:ln w="57150" cap="flat" cmpd="sng">
            <a:solidFill>
              <a:schemeClr val="bg2"/>
            </a:solidFill>
            <a:prstDash val="solid"/>
            <a:round/>
            <a:headEnd type="none" w="sm" len="sm"/>
            <a:tailEnd type="triangle" w="med" len="med"/>
          </a:ln>
        </p:spPr>
        <p:txBody>
          <a:bodyPr/>
          <a:lstStyle/>
          <a:p>
            <a:endParaRPr lang="zh-CN" altLang="en-US"/>
          </a:p>
        </p:txBody>
      </p:sp>
      <p:sp>
        <p:nvSpPr>
          <p:cNvPr id="35844" name="Text Box 6"/>
          <p:cNvSpPr txBox="1"/>
          <p:nvPr/>
        </p:nvSpPr>
        <p:spPr>
          <a:xfrm>
            <a:off x="2874963" y="2393950"/>
            <a:ext cx="585787" cy="519113"/>
          </a:xfrm>
          <a:prstGeom prst="rect">
            <a:avLst/>
          </a:prstGeom>
          <a:noFill/>
          <a:ln w="57150">
            <a:noFill/>
          </a:ln>
        </p:spPr>
        <p:txBody>
          <a:bodyPr wrap="none" anchor="ctr" anchorCtr="0">
            <a:spAutoFit/>
          </a:bodyPr>
          <a:lstStyle/>
          <a:p>
            <a:pPr algn="ctr" eaLnBrk="0" hangingPunct="0"/>
            <a:r>
              <a:rPr lang="en-US" altLang="zh-CN" sz="2800" dirty="0">
                <a:solidFill>
                  <a:schemeClr val="bg2"/>
                </a:solidFill>
                <a:latin typeface="Comic Sans MS" panose="030F0702030302020204" pitchFamily="66" charset="0"/>
              </a:rPr>
              <a:t>T1</a:t>
            </a:r>
          </a:p>
        </p:txBody>
      </p:sp>
      <p:grpSp>
        <p:nvGrpSpPr>
          <p:cNvPr id="35845" name="Group 7"/>
          <p:cNvGrpSpPr/>
          <p:nvPr/>
        </p:nvGrpSpPr>
        <p:grpSpPr>
          <a:xfrm>
            <a:off x="5680075" y="2333625"/>
            <a:ext cx="933450" cy="706438"/>
            <a:chOff x="3831" y="1488"/>
            <a:chExt cx="588" cy="445"/>
          </a:xfrm>
        </p:grpSpPr>
        <p:sp>
          <p:nvSpPr>
            <p:cNvPr id="35846" name="Freeform 8"/>
            <p:cNvSpPr/>
            <p:nvPr/>
          </p:nvSpPr>
          <p:spPr>
            <a:xfrm>
              <a:off x="3831" y="1525"/>
              <a:ext cx="216" cy="408"/>
            </a:xfrm>
            <a:custGeom>
              <a:avLst/>
              <a:gdLst/>
              <a:ahLst/>
              <a:cxnLst>
                <a:cxn ang="0">
                  <a:pos x="64" y="0"/>
                </a:cxn>
                <a:cxn ang="0">
                  <a:pos x="208" y="2"/>
                </a:cxn>
                <a:cxn ang="0">
                  <a:pos x="16" y="3"/>
                </a:cxn>
                <a:cxn ang="0">
                  <a:pos x="112" y="5"/>
                </a:cxn>
              </a:cxnLst>
              <a:rect l="0" t="0" r="0" b="0"/>
              <a:pathLst>
                <a:path w="216" h="528">
                  <a:moveTo>
                    <a:pt x="64" y="0"/>
                  </a:moveTo>
                  <a:cubicBezTo>
                    <a:pt x="140" y="68"/>
                    <a:pt x="216" y="136"/>
                    <a:pt x="208" y="192"/>
                  </a:cubicBezTo>
                  <a:cubicBezTo>
                    <a:pt x="200" y="248"/>
                    <a:pt x="32" y="280"/>
                    <a:pt x="16" y="336"/>
                  </a:cubicBezTo>
                  <a:cubicBezTo>
                    <a:pt x="0" y="392"/>
                    <a:pt x="96" y="488"/>
                    <a:pt x="112" y="528"/>
                  </a:cubicBezTo>
                </a:path>
              </a:pathLst>
            </a:custGeom>
            <a:noFill/>
            <a:ln w="57150" cap="flat" cmpd="sng">
              <a:solidFill>
                <a:srgbClr val="CC0000"/>
              </a:solidFill>
              <a:prstDash val="solid"/>
              <a:round/>
              <a:headEnd type="none" w="sm" len="sm"/>
              <a:tailEnd type="triangle" w="med" len="med"/>
            </a:ln>
          </p:spPr>
          <p:txBody>
            <a:bodyPr/>
            <a:lstStyle/>
            <a:p>
              <a:endParaRPr lang="zh-CN" altLang="en-US"/>
            </a:p>
          </p:txBody>
        </p:sp>
        <p:sp>
          <p:nvSpPr>
            <p:cNvPr id="35847" name="Text Box 9"/>
            <p:cNvSpPr txBox="1"/>
            <p:nvPr/>
          </p:nvSpPr>
          <p:spPr>
            <a:xfrm>
              <a:off x="4014" y="1488"/>
              <a:ext cx="405" cy="327"/>
            </a:xfrm>
            <a:prstGeom prst="rect">
              <a:avLst/>
            </a:prstGeom>
            <a:noFill/>
            <a:ln w="57150">
              <a:noFill/>
            </a:ln>
          </p:spPr>
          <p:txBody>
            <a:bodyPr wrap="none" anchor="ctr" anchorCtr="0">
              <a:spAutoFit/>
            </a:bodyPr>
            <a:lstStyle/>
            <a:p>
              <a:pPr algn="ctr" eaLnBrk="0" hangingPunct="0"/>
              <a:r>
                <a:rPr lang="en-US" altLang="zh-CN" sz="2800" dirty="0">
                  <a:solidFill>
                    <a:srgbClr val="CC0000"/>
                  </a:solidFill>
                  <a:latin typeface="Comic Sans MS" panose="030F0702030302020204" pitchFamily="66" charset="0"/>
                </a:rPr>
                <a:t>T2</a:t>
              </a:r>
            </a:p>
          </p:txBody>
        </p:sp>
      </p:grpSp>
      <p:sp>
        <p:nvSpPr>
          <p:cNvPr id="35848" name="Text Box 12"/>
          <p:cNvSpPr txBox="1"/>
          <p:nvPr/>
        </p:nvSpPr>
        <p:spPr>
          <a:xfrm>
            <a:off x="5280025" y="3248025"/>
            <a:ext cx="3309938" cy="1373188"/>
          </a:xfrm>
          <a:prstGeom prst="rect">
            <a:avLst/>
          </a:prstGeom>
          <a:noFill/>
          <a:ln w="57150">
            <a:noFill/>
          </a:ln>
        </p:spPr>
        <p:txBody>
          <a:bodyPr anchor="ctr" anchorCtr="0">
            <a:spAutoFit/>
          </a:bodyPr>
          <a:lstStyle/>
          <a:p>
            <a:pPr eaLnBrk="0" hangingPunct="0"/>
            <a:r>
              <a:rPr lang="en-US" altLang="zh-CN" sz="2800" dirty="0">
                <a:solidFill>
                  <a:srgbClr val="FF0000"/>
                </a:solidFill>
                <a:latin typeface="Comic Sans MS" panose="030F0702030302020204" pitchFamily="66" charset="0"/>
              </a:rPr>
              <a:t>CSEnter();</a:t>
            </a:r>
          </a:p>
          <a:p>
            <a:pPr lvl="1" indent="0" eaLnBrk="0" hangingPunct="0"/>
            <a:r>
              <a:rPr lang="en-US" altLang="zh-CN" sz="2800" i="1" dirty="0">
                <a:solidFill>
                  <a:srgbClr val="FF0000"/>
                </a:solidFill>
                <a:latin typeface="Comic Sans MS" panose="030F0702030302020204" pitchFamily="66" charset="0"/>
              </a:rPr>
              <a:t>Critical section</a:t>
            </a:r>
          </a:p>
          <a:p>
            <a:pPr eaLnBrk="0" hangingPunct="0"/>
            <a:r>
              <a:rPr lang="en-US" altLang="zh-CN" sz="2800" dirty="0">
                <a:solidFill>
                  <a:srgbClr val="FF0000"/>
                </a:solidFill>
                <a:latin typeface="Comic Sans MS" panose="030F0702030302020204" pitchFamily="66" charset="0"/>
              </a:rPr>
              <a:t>CSExit();</a:t>
            </a:r>
          </a:p>
        </p:txBody>
      </p:sp>
      <p:sp>
        <p:nvSpPr>
          <p:cNvPr id="35849" name="Freeform 13"/>
          <p:cNvSpPr/>
          <p:nvPr/>
        </p:nvSpPr>
        <p:spPr>
          <a:xfrm>
            <a:off x="2417763" y="4814888"/>
            <a:ext cx="342900" cy="646112"/>
          </a:xfrm>
          <a:custGeom>
            <a:avLst/>
            <a:gdLst/>
            <a:ahLst/>
            <a:cxnLst>
              <a:cxn ang="0">
                <a:pos x="2147483647" y="0"/>
              </a:cxn>
              <a:cxn ang="0">
                <a:pos x="2147483647" y="2147483647"/>
              </a:cxn>
              <a:cxn ang="0">
                <a:pos x="2147483647" y="2147483647"/>
              </a:cxn>
              <a:cxn ang="0">
                <a:pos x="2147483647" y="2147483647"/>
              </a:cxn>
            </a:cxnLst>
            <a:rect l="0" t="0" r="0" b="0"/>
            <a:pathLst>
              <a:path w="216" h="528">
                <a:moveTo>
                  <a:pt x="64" y="0"/>
                </a:moveTo>
                <a:cubicBezTo>
                  <a:pt x="140" y="68"/>
                  <a:pt x="216" y="136"/>
                  <a:pt x="208" y="192"/>
                </a:cubicBezTo>
                <a:cubicBezTo>
                  <a:pt x="200" y="248"/>
                  <a:pt x="32" y="280"/>
                  <a:pt x="16" y="336"/>
                </a:cubicBezTo>
                <a:cubicBezTo>
                  <a:pt x="0" y="392"/>
                  <a:pt x="96" y="488"/>
                  <a:pt x="112" y="528"/>
                </a:cubicBezTo>
              </a:path>
            </a:pathLst>
          </a:custGeom>
          <a:noFill/>
          <a:ln w="57150" cap="flat" cmpd="sng">
            <a:solidFill>
              <a:schemeClr val="bg2"/>
            </a:solidFill>
            <a:prstDash val="solid"/>
            <a:round/>
            <a:headEnd type="none" w="sm" len="sm"/>
            <a:tailEnd type="triangle" w="med" len="med"/>
          </a:ln>
        </p:spPr>
        <p:txBody>
          <a:bodyPr/>
          <a:lstStyle/>
          <a:p>
            <a:endParaRPr lang="zh-CN" altLang="en-US"/>
          </a:p>
        </p:txBody>
      </p:sp>
      <p:sp>
        <p:nvSpPr>
          <p:cNvPr id="35850" name="Text Box 14"/>
          <p:cNvSpPr txBox="1"/>
          <p:nvPr/>
        </p:nvSpPr>
        <p:spPr>
          <a:xfrm>
            <a:off x="2889250" y="4756150"/>
            <a:ext cx="585788" cy="519113"/>
          </a:xfrm>
          <a:prstGeom prst="rect">
            <a:avLst/>
          </a:prstGeom>
          <a:noFill/>
          <a:ln w="57150">
            <a:noFill/>
          </a:ln>
        </p:spPr>
        <p:txBody>
          <a:bodyPr wrap="none" anchor="ctr" anchorCtr="0">
            <a:spAutoFit/>
          </a:bodyPr>
          <a:lstStyle/>
          <a:p>
            <a:pPr algn="ctr" eaLnBrk="0" hangingPunct="0"/>
            <a:r>
              <a:rPr lang="en-US" altLang="zh-CN" sz="2800" dirty="0">
                <a:solidFill>
                  <a:schemeClr val="bg2"/>
                </a:solidFill>
                <a:latin typeface="Comic Sans MS" panose="030F0702030302020204" pitchFamily="66" charset="0"/>
              </a:rPr>
              <a:t>T1</a:t>
            </a:r>
          </a:p>
        </p:txBody>
      </p:sp>
      <p:grpSp>
        <p:nvGrpSpPr>
          <p:cNvPr id="35851" name="Group 15"/>
          <p:cNvGrpSpPr/>
          <p:nvPr/>
        </p:nvGrpSpPr>
        <p:grpSpPr>
          <a:xfrm>
            <a:off x="5694363" y="4695825"/>
            <a:ext cx="933450" cy="706438"/>
            <a:chOff x="3831" y="1488"/>
            <a:chExt cx="588" cy="445"/>
          </a:xfrm>
        </p:grpSpPr>
        <p:sp>
          <p:nvSpPr>
            <p:cNvPr id="35852" name="Freeform 16"/>
            <p:cNvSpPr/>
            <p:nvPr/>
          </p:nvSpPr>
          <p:spPr>
            <a:xfrm>
              <a:off x="3831" y="1525"/>
              <a:ext cx="216" cy="408"/>
            </a:xfrm>
            <a:custGeom>
              <a:avLst/>
              <a:gdLst/>
              <a:ahLst/>
              <a:cxnLst>
                <a:cxn ang="0">
                  <a:pos x="64" y="0"/>
                </a:cxn>
                <a:cxn ang="0">
                  <a:pos x="208" y="2"/>
                </a:cxn>
                <a:cxn ang="0">
                  <a:pos x="16" y="3"/>
                </a:cxn>
                <a:cxn ang="0">
                  <a:pos x="112" y="5"/>
                </a:cxn>
              </a:cxnLst>
              <a:rect l="0" t="0" r="0" b="0"/>
              <a:pathLst>
                <a:path w="216" h="528">
                  <a:moveTo>
                    <a:pt x="64" y="0"/>
                  </a:moveTo>
                  <a:cubicBezTo>
                    <a:pt x="140" y="68"/>
                    <a:pt x="216" y="136"/>
                    <a:pt x="208" y="192"/>
                  </a:cubicBezTo>
                  <a:cubicBezTo>
                    <a:pt x="200" y="248"/>
                    <a:pt x="32" y="280"/>
                    <a:pt x="16" y="336"/>
                  </a:cubicBezTo>
                  <a:cubicBezTo>
                    <a:pt x="0" y="392"/>
                    <a:pt x="96" y="488"/>
                    <a:pt x="112" y="528"/>
                  </a:cubicBezTo>
                </a:path>
              </a:pathLst>
            </a:custGeom>
            <a:noFill/>
            <a:ln w="57150" cap="flat" cmpd="sng">
              <a:solidFill>
                <a:srgbClr val="CC0000"/>
              </a:solidFill>
              <a:prstDash val="solid"/>
              <a:round/>
              <a:headEnd type="none" w="sm" len="sm"/>
              <a:tailEnd type="triangle" w="med" len="med"/>
            </a:ln>
          </p:spPr>
          <p:txBody>
            <a:bodyPr/>
            <a:lstStyle/>
            <a:p>
              <a:endParaRPr lang="zh-CN" altLang="en-US"/>
            </a:p>
          </p:txBody>
        </p:sp>
        <p:sp>
          <p:nvSpPr>
            <p:cNvPr id="35853" name="Text Box 17"/>
            <p:cNvSpPr txBox="1"/>
            <p:nvPr/>
          </p:nvSpPr>
          <p:spPr>
            <a:xfrm>
              <a:off x="4014" y="1488"/>
              <a:ext cx="405" cy="327"/>
            </a:xfrm>
            <a:prstGeom prst="rect">
              <a:avLst/>
            </a:prstGeom>
            <a:noFill/>
            <a:ln w="57150">
              <a:noFill/>
            </a:ln>
          </p:spPr>
          <p:txBody>
            <a:bodyPr wrap="none" anchor="ctr" anchorCtr="0">
              <a:spAutoFit/>
            </a:bodyPr>
            <a:lstStyle/>
            <a:p>
              <a:pPr algn="ctr" eaLnBrk="0" hangingPunct="0"/>
              <a:r>
                <a:rPr lang="en-US" altLang="zh-CN" sz="2800" dirty="0">
                  <a:solidFill>
                    <a:srgbClr val="CC0000"/>
                  </a:solidFill>
                  <a:latin typeface="Comic Sans MS" panose="030F0702030302020204" pitchFamily="66" charset="0"/>
                </a:rPr>
                <a:t>T2</a:t>
              </a:r>
            </a:p>
          </p:txBody>
        </p:sp>
      </p:grpSp>
      <p:sp>
        <p:nvSpPr>
          <p:cNvPr id="35854" name="Freeform 19"/>
          <p:cNvSpPr/>
          <p:nvPr/>
        </p:nvSpPr>
        <p:spPr>
          <a:xfrm>
            <a:off x="1274763" y="2336800"/>
            <a:ext cx="1041400" cy="3124200"/>
          </a:xfrm>
          <a:custGeom>
            <a:avLst/>
            <a:gdLst/>
            <a:ahLst/>
            <a:cxnLst>
              <a:cxn ang="0">
                <a:pos x="2147483647" y="2147483647"/>
              </a:cxn>
              <a:cxn ang="0">
                <a:pos x="2147483647" y="2147483647"/>
              </a:cxn>
              <a:cxn ang="0">
                <a:pos x="2147483647" y="2147483647"/>
              </a:cxn>
              <a:cxn ang="0">
                <a:pos x="2147483647" y="0"/>
              </a:cxn>
            </a:cxnLst>
            <a:rect l="0" t="0" r="0" b="0"/>
            <a:pathLst>
              <a:path w="1616" h="1968">
                <a:moveTo>
                  <a:pt x="1616" y="1968"/>
                </a:moveTo>
                <a:cubicBezTo>
                  <a:pt x="1112" y="1792"/>
                  <a:pt x="608" y="1616"/>
                  <a:pt x="368" y="1392"/>
                </a:cubicBezTo>
                <a:cubicBezTo>
                  <a:pt x="128" y="1168"/>
                  <a:pt x="0" y="856"/>
                  <a:pt x="176" y="624"/>
                </a:cubicBezTo>
                <a:cubicBezTo>
                  <a:pt x="352" y="392"/>
                  <a:pt x="888" y="196"/>
                  <a:pt x="1424" y="0"/>
                </a:cubicBezTo>
              </a:path>
            </a:pathLst>
          </a:custGeom>
          <a:noFill/>
          <a:ln w="57150" cap="flat" cmpd="sng">
            <a:solidFill>
              <a:schemeClr val="bg2"/>
            </a:solidFill>
            <a:prstDash val="solid"/>
            <a:round/>
            <a:headEnd type="none" w="med" len="med"/>
            <a:tailEnd type="triangle" w="med" len="med"/>
          </a:ln>
        </p:spPr>
        <p:txBody>
          <a:bodyPr/>
          <a:lstStyle/>
          <a:p>
            <a:endParaRPr lang="zh-CN" altLang="en-US"/>
          </a:p>
        </p:txBody>
      </p:sp>
      <p:sp>
        <p:nvSpPr>
          <p:cNvPr id="35855" name="Freeform 20"/>
          <p:cNvSpPr/>
          <p:nvPr/>
        </p:nvSpPr>
        <p:spPr>
          <a:xfrm>
            <a:off x="4779963" y="2336800"/>
            <a:ext cx="1143000" cy="3048000"/>
          </a:xfrm>
          <a:custGeom>
            <a:avLst/>
            <a:gdLst/>
            <a:ahLst/>
            <a:cxnLst>
              <a:cxn ang="0">
                <a:pos x="2147483647" y="2147483647"/>
              </a:cxn>
              <a:cxn ang="0">
                <a:pos x="2147483647" y="2147483647"/>
              </a:cxn>
              <a:cxn ang="0">
                <a:pos x="2147483647" y="2147483647"/>
              </a:cxn>
              <a:cxn ang="0">
                <a:pos x="2147483647" y="0"/>
              </a:cxn>
            </a:cxnLst>
            <a:rect l="0" t="0" r="0" b="0"/>
            <a:pathLst>
              <a:path w="1616" h="1968">
                <a:moveTo>
                  <a:pt x="1616" y="1968"/>
                </a:moveTo>
                <a:cubicBezTo>
                  <a:pt x="1112" y="1792"/>
                  <a:pt x="608" y="1616"/>
                  <a:pt x="368" y="1392"/>
                </a:cubicBezTo>
                <a:cubicBezTo>
                  <a:pt x="128" y="1168"/>
                  <a:pt x="0" y="856"/>
                  <a:pt x="176" y="624"/>
                </a:cubicBezTo>
                <a:cubicBezTo>
                  <a:pt x="352" y="392"/>
                  <a:pt x="888" y="196"/>
                  <a:pt x="1424" y="0"/>
                </a:cubicBezTo>
              </a:path>
            </a:pathLst>
          </a:custGeom>
          <a:noFill/>
          <a:ln w="57150" cap="flat" cmpd="sng">
            <a:solidFill>
              <a:srgbClr val="FF0000"/>
            </a:solidFill>
            <a:prstDash val="solid"/>
            <a:round/>
            <a:headEnd type="none" w="med" len="med"/>
            <a:tailEnd type="triangle" w="med" len="med"/>
          </a:ln>
        </p:spPr>
        <p:txBody>
          <a:bodyPr/>
          <a:lstStyle/>
          <a:p>
            <a:endParaRPr lang="zh-CN" altLang="en-US"/>
          </a:p>
        </p:txBody>
      </p:sp>
      <p:sp>
        <p:nvSpPr>
          <p:cNvPr id="35856" name="Text Box 5"/>
          <p:cNvSpPr txBox="1"/>
          <p:nvPr/>
        </p:nvSpPr>
        <p:spPr>
          <a:xfrm>
            <a:off x="1503363" y="3248025"/>
            <a:ext cx="3309937" cy="1373188"/>
          </a:xfrm>
          <a:prstGeom prst="rect">
            <a:avLst/>
          </a:prstGeom>
          <a:solidFill>
            <a:schemeClr val="bg1"/>
          </a:solidFill>
          <a:ln w="57150">
            <a:noFill/>
          </a:ln>
        </p:spPr>
        <p:txBody>
          <a:bodyPr anchor="ctr" anchorCtr="0">
            <a:spAutoFit/>
          </a:bodyPr>
          <a:lstStyle/>
          <a:p>
            <a:pPr eaLnBrk="0" hangingPunct="0"/>
            <a:r>
              <a:rPr lang="en-US" altLang="zh-CN" sz="2800" dirty="0">
                <a:solidFill>
                  <a:schemeClr val="bg2"/>
                </a:solidFill>
                <a:latin typeface="Comic Sans MS" panose="030F0702030302020204" pitchFamily="66" charset="0"/>
              </a:rPr>
              <a:t>CSEnter();</a:t>
            </a:r>
          </a:p>
          <a:p>
            <a:pPr lvl="1" indent="0" eaLnBrk="0" hangingPunct="0"/>
            <a:r>
              <a:rPr lang="en-US" altLang="zh-CN" sz="2800" i="1" dirty="0">
                <a:solidFill>
                  <a:schemeClr val="bg2"/>
                </a:solidFill>
                <a:latin typeface="Comic Sans MS" panose="030F0702030302020204" pitchFamily="66" charset="0"/>
              </a:rPr>
              <a:t>Critical section</a:t>
            </a:r>
          </a:p>
          <a:p>
            <a:pPr eaLnBrk="0" hangingPunct="0"/>
            <a:r>
              <a:rPr lang="en-US" altLang="zh-CN" sz="2800" dirty="0">
                <a:solidFill>
                  <a:schemeClr val="bg2"/>
                </a:solidFill>
                <a:latin typeface="Comic Sans MS" panose="030F0702030302020204" pitchFamily="66" charset="0"/>
              </a:rPr>
              <a:t>CSExit();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p:cNvSpPr>
          <p:nvPr>
            <p:ph type="title" idx="4294967295"/>
          </p:nvPr>
        </p:nvSpPr>
        <p:spPr>
          <a:ln/>
        </p:spPr>
        <p:txBody>
          <a:bodyPr vert="horz" wrap="square" lIns="91440" tIns="45720" rIns="91440" bIns="45720" anchor="b" anchorCtr="0"/>
          <a:lstStyle/>
          <a:p>
            <a:pPr eaLnBrk="1" hangingPunct="1"/>
            <a:r>
              <a:rPr lang="en-US" altLang="zh-CN" dirty="0"/>
              <a:t>Solving the problem</a:t>
            </a:r>
          </a:p>
        </p:txBody>
      </p:sp>
      <p:sp>
        <p:nvSpPr>
          <p:cNvPr id="37890" name="Rectangle 3"/>
          <p:cNvSpPr>
            <a:spLocks noGrp="1"/>
          </p:cNvSpPr>
          <p:nvPr>
            <p:ph type="body" sz="half" idx="4294967295"/>
          </p:nvPr>
        </p:nvSpPr>
        <p:spPr>
          <a:xfrm>
            <a:off x="845820" y="3008630"/>
            <a:ext cx="3726180" cy="3459162"/>
          </a:xfrm>
          <a:ln/>
        </p:spPr>
        <p:txBody>
          <a:bodyPr vert="horz" wrap="square" lIns="91440" tIns="45720" rIns="91440" bIns="45720" anchor="t" anchorCtr="0"/>
          <a:lstStyle>
            <a:lvl1pPr lvl="0">
              <a:buClr>
                <a:srgbClr val="993300"/>
              </a:buClr>
              <a:buSzPct val="90000"/>
              <a:buFont typeface="Monotype Sorts" charset="2"/>
              <a:defRPr sz="2800"/>
            </a:lvl1pPr>
            <a:lvl2pPr lvl="1">
              <a:buClr>
                <a:srgbClr val="CC6600"/>
              </a:buClr>
              <a:buSzPct val="80000"/>
              <a:buFont typeface="Monotype Sorts" charset="2"/>
              <a:defRPr sz="2400"/>
            </a:lvl2pPr>
            <a:lvl3pPr lvl="2">
              <a:buClr>
                <a:srgbClr val="009900"/>
              </a:buClr>
              <a:buSzPct val="75000"/>
              <a:buFont typeface="Webdings" panose="05030102010509060703" pitchFamily="18" charset="2"/>
              <a:defRPr sz="2000"/>
            </a:lvl3pPr>
            <a:lvl4pPr lvl="3">
              <a:buClr>
                <a:schemeClr val="hlink"/>
              </a:buClr>
              <a:buSzPct val="75000"/>
              <a:buFontTx/>
              <a:defRPr sz="1800"/>
            </a:lvl4pPr>
            <a:lvl5pPr lvl="4">
              <a:buClr>
                <a:srgbClr val="FF0066"/>
              </a:buClr>
              <a:buSzPct val="75000"/>
              <a:buFontTx/>
              <a:defRPr sz="1800"/>
            </a:lvl5pPr>
          </a:lstStyle>
          <a:p>
            <a:pPr marL="0" lvl="0" indent="0" eaLnBrk="1" hangingPunct="1">
              <a:lnSpc>
                <a:spcPct val="90000"/>
              </a:lnSpc>
              <a:buClr>
                <a:srgbClr val="993300"/>
              </a:buClr>
              <a:buNone/>
            </a:pPr>
            <a:r>
              <a:rPr lang="en-US" altLang="zh-CN" sz="2000" dirty="0">
                <a:solidFill>
                  <a:srgbClr val="0000FF"/>
                </a:solidFill>
              </a:rPr>
              <a:t>CSEnter()</a:t>
            </a:r>
          </a:p>
          <a:p>
            <a:pPr lvl="1" indent="-285750" eaLnBrk="1" hangingPunct="1">
              <a:lnSpc>
                <a:spcPct val="90000"/>
              </a:lnSpc>
              <a:buClr>
                <a:srgbClr val="CC6600"/>
              </a:buClr>
              <a:buSzPct val="80000"/>
              <a:buFontTx/>
              <a:buNone/>
            </a:pPr>
            <a:r>
              <a:rPr lang="en-US" altLang="zh-CN" sz="2000" dirty="0">
                <a:solidFill>
                  <a:srgbClr val="0000FF"/>
                </a:solidFill>
              </a:rPr>
              <a:t>{</a:t>
            </a:r>
          </a:p>
          <a:p>
            <a:pPr lvl="2" indent="-228600" eaLnBrk="1" hangingPunct="1">
              <a:lnSpc>
                <a:spcPct val="90000"/>
              </a:lnSpc>
              <a:buClr>
                <a:srgbClr val="009900"/>
              </a:buClr>
              <a:buSzPct val="75000"/>
              <a:buFontTx/>
              <a:buNone/>
            </a:pPr>
            <a:r>
              <a:rPr lang="en-US" altLang="zh-CN" dirty="0">
                <a:solidFill>
                  <a:srgbClr val="0000FF"/>
                </a:solidFill>
              </a:rPr>
              <a:t>while(inside) continue;</a:t>
            </a:r>
          </a:p>
          <a:p>
            <a:pPr lvl="2" indent="-228600" eaLnBrk="1" hangingPunct="1">
              <a:lnSpc>
                <a:spcPct val="90000"/>
              </a:lnSpc>
              <a:buClr>
                <a:srgbClr val="009900"/>
              </a:buClr>
              <a:buSzPct val="75000"/>
              <a:buFontTx/>
              <a:buNone/>
            </a:pPr>
            <a:r>
              <a:rPr lang="en-US" altLang="zh-CN" dirty="0">
                <a:solidFill>
                  <a:srgbClr val="0000FF"/>
                </a:solidFill>
              </a:rPr>
              <a:t>inside = true;</a:t>
            </a:r>
          </a:p>
          <a:p>
            <a:pPr lvl="1" indent="-285750" eaLnBrk="1" hangingPunct="1">
              <a:lnSpc>
                <a:spcPct val="90000"/>
              </a:lnSpc>
              <a:buClr>
                <a:srgbClr val="CC6600"/>
              </a:buClr>
              <a:buSzPct val="80000"/>
              <a:buFontTx/>
              <a:buNone/>
            </a:pPr>
            <a:r>
              <a:rPr lang="en-US" altLang="zh-CN" sz="2000" dirty="0">
                <a:solidFill>
                  <a:srgbClr val="0000FF"/>
                </a:solidFill>
              </a:rPr>
              <a:t>}</a:t>
            </a:r>
          </a:p>
          <a:p>
            <a:pPr lvl="1" indent="-285750" eaLnBrk="1" hangingPunct="1">
              <a:lnSpc>
                <a:spcPct val="90000"/>
              </a:lnSpc>
              <a:buClr>
                <a:srgbClr val="CC6600"/>
              </a:buClr>
              <a:buSzPct val="80000"/>
              <a:buFontTx/>
              <a:buNone/>
            </a:pPr>
            <a:r>
              <a:rPr lang="en-US" altLang="zh-CN" sz="2000" dirty="0">
                <a:solidFill>
                  <a:srgbClr val="0000FF"/>
                </a:solidFill>
              </a:rPr>
              <a:t>#Critical section</a:t>
            </a:r>
          </a:p>
          <a:p>
            <a:pPr marL="0" indent="0">
              <a:lnSpc>
                <a:spcPct val="90000"/>
              </a:lnSpc>
              <a:spcBef>
                <a:spcPct val="20000"/>
              </a:spcBef>
              <a:buNone/>
            </a:pPr>
            <a:r>
              <a:rPr lang="en-US" altLang="zh-CN" sz="2000" dirty="0" err="1">
                <a:solidFill>
                  <a:srgbClr val="0000FF"/>
                </a:solidFill>
                <a:latin typeface="Verdana" panose="020B0604030504040204" pitchFamily="34" charset="0"/>
              </a:rPr>
              <a:t>CSExit</a:t>
            </a:r>
            <a:r>
              <a:rPr lang="en-US" altLang="zh-CN" sz="2000" dirty="0">
                <a:solidFill>
                  <a:srgbClr val="0000FF"/>
                </a:solidFill>
                <a:latin typeface="Verdana" panose="020B0604030504040204" pitchFamily="34" charset="0"/>
              </a:rPr>
              <a:t>()</a:t>
            </a:r>
          </a:p>
          <a:p>
            <a:pPr marL="457200" lvl="1" indent="0">
              <a:lnSpc>
                <a:spcPct val="90000"/>
              </a:lnSpc>
              <a:spcBef>
                <a:spcPct val="20000"/>
              </a:spcBef>
              <a:buNone/>
            </a:pPr>
            <a:r>
              <a:rPr lang="en-US" altLang="zh-CN" sz="2000" dirty="0">
                <a:solidFill>
                  <a:srgbClr val="0000FF"/>
                </a:solidFill>
                <a:latin typeface="Verdana" panose="020B0604030504040204" pitchFamily="34" charset="0"/>
              </a:rPr>
              <a:t>{</a:t>
            </a:r>
          </a:p>
          <a:p>
            <a:pPr marL="914400" lvl="2" indent="0">
              <a:lnSpc>
                <a:spcPct val="90000"/>
              </a:lnSpc>
              <a:spcBef>
                <a:spcPct val="20000"/>
              </a:spcBef>
              <a:buNone/>
            </a:pPr>
            <a:r>
              <a:rPr lang="en-US" altLang="zh-CN" dirty="0">
                <a:solidFill>
                  <a:srgbClr val="0000FF"/>
                </a:solidFill>
                <a:latin typeface="Verdana" panose="020B0604030504040204" pitchFamily="34" charset="0"/>
              </a:rPr>
              <a:t>inside = false;</a:t>
            </a:r>
          </a:p>
          <a:p>
            <a:pPr marL="457200" lvl="1" indent="0">
              <a:lnSpc>
                <a:spcPct val="90000"/>
              </a:lnSpc>
              <a:spcBef>
                <a:spcPct val="20000"/>
              </a:spcBef>
              <a:buNone/>
            </a:pPr>
            <a:r>
              <a:rPr lang="en-US" altLang="zh-CN" sz="2000" dirty="0">
                <a:solidFill>
                  <a:srgbClr val="0000FF"/>
                </a:solidFill>
                <a:latin typeface="Verdana" panose="020B0604030504040204" pitchFamily="34" charset="0"/>
              </a:rPr>
              <a:t>}</a:t>
            </a:r>
            <a:endParaRPr lang="en-US" altLang="zh-CN" sz="2000" dirty="0">
              <a:solidFill>
                <a:srgbClr val="0000FF"/>
              </a:solidFill>
            </a:endParaRPr>
          </a:p>
        </p:txBody>
      </p:sp>
      <p:sp>
        <p:nvSpPr>
          <p:cNvPr id="37891" name="Rectangle 4"/>
          <p:cNvSpPr>
            <a:spLocks noGrp="1"/>
          </p:cNvSpPr>
          <p:nvPr>
            <p:ph type="body" sz="half" idx="4294967295"/>
          </p:nvPr>
        </p:nvSpPr>
        <p:spPr>
          <a:xfrm>
            <a:off x="557213" y="936625"/>
            <a:ext cx="8316912" cy="914400"/>
          </a:xfrm>
          <a:ln/>
        </p:spPr>
        <p:txBody>
          <a:bodyPr vert="horz" wrap="square" lIns="91440" tIns="45720" rIns="91440" bIns="45720" anchor="t" anchorCtr="0"/>
          <a:lstStyle>
            <a:lvl1pPr lvl="0">
              <a:buClr>
                <a:srgbClr val="993300"/>
              </a:buClr>
              <a:buSzPct val="90000"/>
              <a:buFont typeface="Monotype Sorts" charset="2"/>
              <a:defRPr sz="2800"/>
            </a:lvl1pPr>
            <a:lvl2pPr lvl="1">
              <a:buClr>
                <a:srgbClr val="CC6600"/>
              </a:buClr>
              <a:buSzPct val="80000"/>
              <a:buFont typeface="Monotype Sorts" charset="2"/>
              <a:defRPr sz="2400"/>
            </a:lvl2pPr>
            <a:lvl3pPr lvl="2">
              <a:buClr>
                <a:srgbClr val="009900"/>
              </a:buClr>
              <a:buSzPct val="75000"/>
              <a:buFont typeface="Webdings" panose="05030102010509060703" pitchFamily="18" charset="2"/>
              <a:defRPr sz="2000"/>
            </a:lvl3pPr>
            <a:lvl4pPr lvl="3">
              <a:buClr>
                <a:schemeClr val="hlink"/>
              </a:buClr>
              <a:buSzPct val="75000"/>
              <a:buFontTx/>
              <a:defRPr sz="1800"/>
            </a:lvl4pPr>
            <a:lvl5pPr lvl="4">
              <a:buClr>
                <a:srgbClr val="FF0066"/>
              </a:buClr>
              <a:buSzPct val="75000"/>
              <a:buFontTx/>
              <a:defRPr sz="1800"/>
            </a:lvl5pPr>
          </a:lstStyle>
          <a:p>
            <a:pPr lvl="0" eaLnBrk="1" hangingPunct="1">
              <a:lnSpc>
                <a:spcPct val="90000"/>
              </a:lnSpc>
              <a:buClr>
                <a:srgbClr val="993300"/>
              </a:buClr>
            </a:pPr>
            <a:r>
              <a:rPr lang="en-US" altLang="zh-CN" sz="2400" dirty="0"/>
              <a:t>A first idea:</a:t>
            </a:r>
          </a:p>
          <a:p>
            <a:pPr lvl="1" indent="-285750" eaLnBrk="1" hangingPunct="1">
              <a:lnSpc>
                <a:spcPct val="90000"/>
              </a:lnSpc>
              <a:buClr>
                <a:srgbClr val="CC6600"/>
              </a:buClr>
              <a:buSzPct val="80000"/>
              <a:buFont typeface="Monotype Sorts" charset="2"/>
              <a:buChar char="l"/>
            </a:pPr>
            <a:r>
              <a:rPr lang="en-US" altLang="zh-CN" sz="2400" dirty="0"/>
              <a:t>Have a boolean flag, </a:t>
            </a:r>
            <a:r>
              <a:rPr lang="en-US" altLang="zh-CN" sz="2400" i="1" dirty="0">
                <a:solidFill>
                  <a:srgbClr val="FF0000"/>
                </a:solidFill>
              </a:rPr>
              <a:t>inside</a:t>
            </a:r>
            <a:r>
              <a:rPr lang="en-US" altLang="zh-CN" sz="2400" dirty="0"/>
              <a:t>.  Initially </a:t>
            </a:r>
            <a:r>
              <a:rPr lang="en-US" altLang="zh-CN" sz="2400" dirty="0">
                <a:solidFill>
                  <a:srgbClr val="FF0000"/>
                </a:solidFill>
              </a:rPr>
              <a:t>false</a:t>
            </a:r>
            <a:r>
              <a:rPr lang="en-US" altLang="zh-CN" sz="2400" dirty="0"/>
              <a:t>.</a:t>
            </a:r>
          </a:p>
        </p:txBody>
      </p:sp>
      <p:sp>
        <p:nvSpPr>
          <p:cNvPr id="37892" name="Rectangle 5"/>
          <p:cNvSpPr/>
          <p:nvPr/>
        </p:nvSpPr>
        <p:spPr>
          <a:xfrm>
            <a:off x="4943475" y="3008630"/>
            <a:ext cx="4038600" cy="2639695"/>
          </a:xfrm>
          <a:prstGeom prst="rect">
            <a:avLst/>
          </a:prstGeom>
          <a:noFill/>
          <a:ln w="9525">
            <a:noFill/>
          </a:ln>
        </p:spPr>
        <p:txBody>
          <a:bodyPr anchor="t" anchorCtr="0"/>
          <a:lstStyle/>
          <a:p>
            <a:pPr eaLnBrk="0" hangingPunct="0">
              <a:lnSpc>
                <a:spcPct val="90000"/>
              </a:lnSpc>
              <a:spcBef>
                <a:spcPct val="20000"/>
              </a:spcBef>
            </a:pPr>
            <a:endParaRPr lang="en-US" altLang="zh-CN" sz="2400" dirty="0">
              <a:solidFill>
                <a:srgbClr val="0000FF"/>
              </a:solidFill>
              <a:latin typeface="Verdana" panose="020B0604030504040204" pitchFamily="34" charset="0"/>
            </a:endParaRPr>
          </a:p>
        </p:txBody>
      </p:sp>
      <p:sp>
        <p:nvSpPr>
          <p:cNvPr id="121863" name="AutoShape 7"/>
          <p:cNvSpPr/>
          <p:nvPr/>
        </p:nvSpPr>
        <p:spPr>
          <a:xfrm>
            <a:off x="685800" y="1851025"/>
            <a:ext cx="7534275" cy="927100"/>
          </a:xfrm>
          <a:prstGeom prst="wedgeRectCallout">
            <a:avLst>
              <a:gd name="adj1" fmla="val -26342"/>
              <a:gd name="adj2" fmla="val 67328"/>
            </a:avLst>
          </a:prstGeom>
          <a:solidFill>
            <a:schemeClr val="accent1"/>
          </a:solidFill>
          <a:ln w="9525" cap="flat" cmpd="sng">
            <a:solidFill>
              <a:schemeClr val="tx1"/>
            </a:solidFill>
            <a:prstDash val="solid"/>
            <a:miter/>
            <a:headEnd type="none" w="med" len="med"/>
            <a:tailEnd type="none" w="med" len="med"/>
          </a:ln>
        </p:spPr>
        <p:txBody>
          <a:bodyPr anchor="t" anchorCtr="0"/>
          <a:lstStyle/>
          <a:p>
            <a:pPr eaLnBrk="0" hangingPunct="0"/>
            <a:r>
              <a:rPr lang="en-US" altLang="zh-CN" sz="1600" b="1" dirty="0">
                <a:latin typeface="Verdana" panose="020B0604030504040204" pitchFamily="34" charset="0"/>
              </a:rPr>
              <a:t>Code is </a:t>
            </a:r>
            <a:r>
              <a:rPr lang="en-US" altLang="zh-CN" sz="1600" b="1" u="sng" dirty="0">
                <a:latin typeface="Verdana" panose="020B0604030504040204" pitchFamily="34" charset="0"/>
              </a:rPr>
              <a:t>unsafe</a:t>
            </a:r>
            <a:r>
              <a:rPr lang="en-US" altLang="zh-CN" sz="1600" b="1" dirty="0">
                <a:latin typeface="Verdana" panose="020B0604030504040204" pitchFamily="34" charset="0"/>
              </a:rPr>
              <a:t>: thread 0 could finish the while test when inside is false, but then 1 might call CSEnter() before 0 can set inside to true!</a:t>
            </a:r>
          </a:p>
        </p:txBody>
      </p:sp>
      <p:sp>
        <p:nvSpPr>
          <p:cNvPr id="11" name="Rectangle 3">
            <a:extLst>
              <a:ext uri="{FF2B5EF4-FFF2-40B4-BE49-F238E27FC236}">
                <a16:creationId xmlns:a16="http://schemas.microsoft.com/office/drawing/2014/main" id="{0E7A15F5-774E-468F-9963-B3DDB5927849}"/>
              </a:ext>
            </a:extLst>
          </p:cNvPr>
          <p:cNvSpPr txBox="1">
            <a:spLocks/>
          </p:cNvSpPr>
          <p:nvPr/>
        </p:nvSpPr>
        <p:spPr>
          <a:xfrm>
            <a:off x="5000080" y="3008630"/>
            <a:ext cx="3726180" cy="3459162"/>
          </a:xfrm>
          <a:prstGeom prst="rect">
            <a:avLst/>
          </a:prstGeom>
          <a:noFill/>
          <a:ln w="9525">
            <a:noFill/>
          </a:ln>
        </p:spPr>
        <p:txBody>
          <a:bodyPr vert="horz" wrap="square" lIns="91440" tIns="45720" rIns="91440" bIns="45720" anchor="t" anchorCtr="0"/>
          <a:lstStyle>
            <a:lvl1pPr marL="342900" lvl="0" indent="-342900" algn="l" rtl="0" eaLnBrk="0" fontAlgn="base" hangingPunct="0">
              <a:spcBef>
                <a:spcPct val="35000"/>
              </a:spcBef>
              <a:spcAft>
                <a:spcPct val="0"/>
              </a:spcAft>
              <a:buClr>
                <a:srgbClr val="993300"/>
              </a:buClr>
              <a:buSzPct val="90000"/>
              <a:buFont typeface="Monotype Sorts" charset="2"/>
              <a:buChar char="n"/>
              <a:defRPr kumimoji="1" sz="2800">
                <a:solidFill>
                  <a:schemeClr val="tx1"/>
                </a:solidFill>
                <a:latin typeface="+mn-lt"/>
                <a:ea typeface="MS PGothic" panose="020B0600070205080204" pitchFamily="34" charset="-128"/>
                <a:cs typeface="+mn-cs"/>
              </a:defRPr>
            </a:lvl1pPr>
            <a:lvl2pPr marL="742950" lvl="1" indent="-285750" algn="l" rtl="0" eaLnBrk="0" fontAlgn="base" hangingPunct="0">
              <a:spcBef>
                <a:spcPct val="35000"/>
              </a:spcBef>
              <a:spcAft>
                <a:spcPct val="0"/>
              </a:spcAft>
              <a:buClr>
                <a:srgbClr val="CC6600"/>
              </a:buClr>
              <a:buSzPct val="80000"/>
              <a:buFont typeface="Monotype Sorts" charset="2"/>
              <a:buChar char="l"/>
              <a:defRPr kumimoji="1" sz="2400">
                <a:solidFill>
                  <a:schemeClr val="tx1"/>
                </a:solidFill>
                <a:latin typeface="+mn-lt"/>
                <a:ea typeface="MS PGothic" panose="020B0600070205080204" pitchFamily="34" charset="-128"/>
              </a:defRPr>
            </a:lvl2pPr>
            <a:lvl3pPr marL="1085850" lvl="2"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000">
                <a:solidFill>
                  <a:schemeClr val="tx1"/>
                </a:solidFill>
                <a:latin typeface="+mn-lt"/>
                <a:ea typeface="MS PGothic" panose="020B0600070205080204" pitchFamily="34" charset="-128"/>
              </a:defRPr>
            </a:lvl3pPr>
            <a:lvl4pPr marL="1428750" lvl="3" indent="-228600" algn="l" rtl="0" eaLnBrk="0" fontAlgn="base" hangingPunct="0">
              <a:spcBef>
                <a:spcPct val="35000"/>
              </a:spcBef>
              <a:spcAft>
                <a:spcPct val="0"/>
              </a:spcAft>
              <a:buClr>
                <a:schemeClr val="hlink"/>
              </a:buClr>
              <a:buSzPct val="75000"/>
              <a:buFontTx/>
              <a:buChar char="–"/>
              <a:defRPr kumimoji="1" sz="1800">
                <a:solidFill>
                  <a:schemeClr val="tx1"/>
                </a:solidFill>
                <a:latin typeface="+mn-lt"/>
                <a:ea typeface="MS PGothic" panose="020B0600070205080204" pitchFamily="34" charset="-128"/>
              </a:defRPr>
            </a:lvl4pPr>
            <a:lvl5pPr marL="1771650" lvl="4" indent="-228600" algn="l" rtl="0" eaLnBrk="0" fontAlgn="base" hangingPunct="0">
              <a:spcBef>
                <a:spcPct val="35000"/>
              </a:spcBef>
              <a:spcAft>
                <a:spcPct val="0"/>
              </a:spcAft>
              <a:buClr>
                <a:srgbClr val="FF0066"/>
              </a:buClr>
              <a:buSzPct val="75000"/>
              <a:buFontTx/>
              <a:buChar char="»"/>
              <a:defRPr kumimoji="1" sz="18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9pPr>
          </a:lstStyle>
          <a:p>
            <a:pPr marL="0" indent="0" eaLnBrk="1" hangingPunct="1">
              <a:lnSpc>
                <a:spcPct val="90000"/>
              </a:lnSpc>
              <a:buFont typeface="Monotype Sorts" charset="2"/>
              <a:buNone/>
            </a:pPr>
            <a:r>
              <a:rPr lang="en-US" altLang="zh-CN" sz="2000" kern="0" dirty="0" err="1">
                <a:solidFill>
                  <a:srgbClr val="FF0000"/>
                </a:solidFill>
              </a:rPr>
              <a:t>CSEnter</a:t>
            </a:r>
            <a:r>
              <a:rPr lang="en-US" altLang="zh-CN" sz="2000" kern="0" dirty="0">
                <a:solidFill>
                  <a:srgbClr val="FF0000"/>
                </a:solidFill>
              </a:rPr>
              <a:t>()</a:t>
            </a:r>
          </a:p>
          <a:p>
            <a:pPr lvl="1" eaLnBrk="1" hangingPunct="1">
              <a:lnSpc>
                <a:spcPct val="90000"/>
              </a:lnSpc>
              <a:buFontTx/>
              <a:buNone/>
            </a:pPr>
            <a:r>
              <a:rPr lang="en-US" altLang="zh-CN" sz="2000" kern="0" dirty="0">
                <a:solidFill>
                  <a:srgbClr val="FF0000"/>
                </a:solidFill>
              </a:rPr>
              <a:t>{</a:t>
            </a:r>
          </a:p>
          <a:p>
            <a:pPr lvl="2" eaLnBrk="1" hangingPunct="1">
              <a:lnSpc>
                <a:spcPct val="90000"/>
              </a:lnSpc>
              <a:buFontTx/>
              <a:buNone/>
            </a:pPr>
            <a:r>
              <a:rPr lang="en-US" altLang="zh-CN" kern="0" dirty="0">
                <a:solidFill>
                  <a:srgbClr val="FF0000"/>
                </a:solidFill>
              </a:rPr>
              <a:t>while(inside) continue;</a:t>
            </a:r>
          </a:p>
          <a:p>
            <a:pPr lvl="2" eaLnBrk="1" hangingPunct="1">
              <a:lnSpc>
                <a:spcPct val="90000"/>
              </a:lnSpc>
              <a:buFontTx/>
              <a:buNone/>
            </a:pPr>
            <a:r>
              <a:rPr lang="en-US" altLang="zh-CN" kern="0" dirty="0">
                <a:solidFill>
                  <a:srgbClr val="FF0000"/>
                </a:solidFill>
              </a:rPr>
              <a:t>inside = true;</a:t>
            </a:r>
          </a:p>
          <a:p>
            <a:pPr lvl="1" eaLnBrk="1" hangingPunct="1">
              <a:lnSpc>
                <a:spcPct val="90000"/>
              </a:lnSpc>
              <a:buFontTx/>
              <a:buNone/>
            </a:pPr>
            <a:r>
              <a:rPr lang="en-US" altLang="zh-CN" sz="2000" kern="0" dirty="0">
                <a:solidFill>
                  <a:srgbClr val="FF0000"/>
                </a:solidFill>
              </a:rPr>
              <a:t>}</a:t>
            </a:r>
          </a:p>
          <a:p>
            <a:pPr lvl="1" eaLnBrk="1" hangingPunct="1">
              <a:lnSpc>
                <a:spcPct val="90000"/>
              </a:lnSpc>
              <a:buFontTx/>
              <a:buNone/>
            </a:pPr>
            <a:r>
              <a:rPr lang="en-US" altLang="zh-CN" sz="2000" kern="0" dirty="0">
                <a:solidFill>
                  <a:srgbClr val="FF0000"/>
                </a:solidFill>
              </a:rPr>
              <a:t>#Critical section</a:t>
            </a:r>
          </a:p>
          <a:p>
            <a:pPr marL="0" indent="0">
              <a:lnSpc>
                <a:spcPct val="90000"/>
              </a:lnSpc>
              <a:spcBef>
                <a:spcPct val="20000"/>
              </a:spcBef>
              <a:buFont typeface="Monotype Sorts" charset="2"/>
              <a:buNone/>
            </a:pPr>
            <a:r>
              <a:rPr lang="en-US" altLang="zh-CN" sz="2000" kern="0" dirty="0" err="1">
                <a:solidFill>
                  <a:srgbClr val="FF0000"/>
                </a:solidFill>
                <a:latin typeface="Verdana" panose="020B0604030504040204" pitchFamily="34" charset="0"/>
              </a:rPr>
              <a:t>CSExit</a:t>
            </a:r>
            <a:r>
              <a:rPr lang="en-US" altLang="zh-CN" sz="2000" kern="0" dirty="0">
                <a:solidFill>
                  <a:srgbClr val="FF0000"/>
                </a:solidFill>
                <a:latin typeface="Verdana" panose="020B0604030504040204" pitchFamily="34" charset="0"/>
              </a:rPr>
              <a:t>()</a:t>
            </a:r>
          </a:p>
          <a:p>
            <a:pPr marL="457200" lvl="1" indent="0">
              <a:lnSpc>
                <a:spcPct val="90000"/>
              </a:lnSpc>
              <a:spcBef>
                <a:spcPct val="20000"/>
              </a:spcBef>
              <a:buFont typeface="Monotype Sorts" charset="2"/>
              <a:buNone/>
            </a:pPr>
            <a:r>
              <a:rPr lang="en-US" altLang="zh-CN" sz="2000" kern="0" dirty="0">
                <a:solidFill>
                  <a:srgbClr val="FF0000"/>
                </a:solidFill>
                <a:latin typeface="Verdana" panose="020B0604030504040204" pitchFamily="34" charset="0"/>
              </a:rPr>
              <a:t>{</a:t>
            </a:r>
          </a:p>
          <a:p>
            <a:pPr marL="914400" lvl="2" indent="0">
              <a:lnSpc>
                <a:spcPct val="90000"/>
              </a:lnSpc>
              <a:spcBef>
                <a:spcPct val="20000"/>
              </a:spcBef>
              <a:buFont typeface="Webdings" panose="05030102010509060703" pitchFamily="18" charset="2"/>
              <a:buNone/>
            </a:pPr>
            <a:r>
              <a:rPr lang="en-US" altLang="zh-CN" kern="0" dirty="0">
                <a:solidFill>
                  <a:srgbClr val="FF0000"/>
                </a:solidFill>
                <a:latin typeface="Verdana" panose="020B0604030504040204" pitchFamily="34" charset="0"/>
              </a:rPr>
              <a:t>inside = false;</a:t>
            </a:r>
          </a:p>
          <a:p>
            <a:pPr marL="457200" lvl="1" indent="0">
              <a:lnSpc>
                <a:spcPct val="90000"/>
              </a:lnSpc>
              <a:spcBef>
                <a:spcPct val="20000"/>
              </a:spcBef>
              <a:buFont typeface="Monotype Sorts" charset="2"/>
              <a:buNone/>
            </a:pPr>
            <a:r>
              <a:rPr lang="en-US" altLang="zh-CN" sz="2000" kern="0" dirty="0">
                <a:solidFill>
                  <a:srgbClr val="FF0000"/>
                </a:solidFill>
                <a:latin typeface="Verdana" panose="020B0604030504040204" pitchFamily="34" charset="0"/>
              </a:rPr>
              <a:t>}</a:t>
            </a:r>
            <a:endParaRPr lang="en-US" altLang="zh-CN" sz="2000" kern="0" dirty="0">
              <a:solidFill>
                <a:srgbClr val="FF0000"/>
              </a:solidFill>
            </a:endParaRPr>
          </a:p>
        </p:txBody>
      </p:sp>
      <p:sp>
        <p:nvSpPr>
          <p:cNvPr id="2" name="等腰三角形 1">
            <a:extLst>
              <a:ext uri="{FF2B5EF4-FFF2-40B4-BE49-F238E27FC236}">
                <a16:creationId xmlns:a16="http://schemas.microsoft.com/office/drawing/2014/main" id="{C845D07C-6A0F-437E-8709-55B832770B71}"/>
              </a:ext>
            </a:extLst>
          </p:cNvPr>
          <p:cNvSpPr/>
          <p:nvPr/>
        </p:nvSpPr>
        <p:spPr bwMode="auto">
          <a:xfrm rot="5400000">
            <a:off x="1423137" y="4012646"/>
            <a:ext cx="274320" cy="219551"/>
          </a:xfrm>
          <a:prstGeom prst="triangle">
            <a:avLst/>
          </a:prstGeom>
          <a:solidFill>
            <a:srgbClr val="0066FF"/>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2" name="Text Box 6">
            <a:extLst>
              <a:ext uri="{FF2B5EF4-FFF2-40B4-BE49-F238E27FC236}">
                <a16:creationId xmlns:a16="http://schemas.microsoft.com/office/drawing/2014/main" id="{FD13EAC9-8E82-45F5-A23D-BCE09618F7FC}"/>
              </a:ext>
            </a:extLst>
          </p:cNvPr>
          <p:cNvSpPr txBox="1"/>
          <p:nvPr/>
        </p:nvSpPr>
        <p:spPr>
          <a:xfrm>
            <a:off x="157637" y="2765425"/>
            <a:ext cx="662361" cy="523220"/>
          </a:xfrm>
          <a:prstGeom prst="rect">
            <a:avLst/>
          </a:prstGeom>
          <a:noFill/>
          <a:ln w="57150">
            <a:noFill/>
          </a:ln>
        </p:spPr>
        <p:txBody>
          <a:bodyPr wrap="none" anchor="ctr" anchorCtr="0">
            <a:spAutoFit/>
          </a:bodyPr>
          <a:lstStyle/>
          <a:p>
            <a:pPr algn="ctr" eaLnBrk="0" hangingPunct="0"/>
            <a:r>
              <a:rPr lang="en-US" altLang="zh-CN" sz="2800" dirty="0">
                <a:solidFill>
                  <a:srgbClr val="0000FF"/>
                </a:solidFill>
                <a:latin typeface="Comic Sans MS" panose="030F0702030302020204" pitchFamily="66" charset="0"/>
              </a:rPr>
              <a:t>T</a:t>
            </a:r>
            <a:r>
              <a:rPr lang="en-US" altLang="zh-CN" dirty="0">
                <a:solidFill>
                  <a:srgbClr val="0000FF"/>
                </a:solidFill>
                <a:latin typeface="Comic Sans MS" panose="030F0702030302020204" pitchFamily="66" charset="0"/>
              </a:rPr>
              <a:t>0:</a:t>
            </a:r>
            <a:endParaRPr lang="en-US" altLang="zh-CN" sz="2800" dirty="0">
              <a:solidFill>
                <a:srgbClr val="0000FF"/>
              </a:solidFill>
              <a:latin typeface="Comic Sans MS" panose="030F0702030302020204" pitchFamily="66" charset="0"/>
            </a:endParaRPr>
          </a:p>
        </p:txBody>
      </p:sp>
      <p:sp>
        <p:nvSpPr>
          <p:cNvPr id="13" name="Text Box 6">
            <a:extLst>
              <a:ext uri="{FF2B5EF4-FFF2-40B4-BE49-F238E27FC236}">
                <a16:creationId xmlns:a16="http://schemas.microsoft.com/office/drawing/2014/main" id="{57FB0792-BC8F-4D80-879E-30EE43EEDE5C}"/>
              </a:ext>
            </a:extLst>
          </p:cNvPr>
          <p:cNvSpPr txBox="1"/>
          <p:nvPr/>
        </p:nvSpPr>
        <p:spPr>
          <a:xfrm>
            <a:off x="4417869" y="2742565"/>
            <a:ext cx="620683" cy="523220"/>
          </a:xfrm>
          <a:prstGeom prst="rect">
            <a:avLst/>
          </a:prstGeom>
          <a:noFill/>
          <a:ln w="57150">
            <a:noFill/>
          </a:ln>
        </p:spPr>
        <p:txBody>
          <a:bodyPr wrap="none" anchor="ctr" anchorCtr="0">
            <a:spAutoFit/>
          </a:bodyPr>
          <a:lstStyle/>
          <a:p>
            <a:pPr algn="ctr" eaLnBrk="0" hangingPunct="0"/>
            <a:r>
              <a:rPr lang="en-US" altLang="zh-CN" sz="2800" dirty="0">
                <a:solidFill>
                  <a:srgbClr val="FF0000"/>
                </a:solidFill>
                <a:latin typeface="Comic Sans MS" panose="030F0702030302020204" pitchFamily="66" charset="0"/>
              </a:rPr>
              <a:t>T</a:t>
            </a:r>
            <a:r>
              <a:rPr lang="en-US" altLang="zh-CN" dirty="0">
                <a:solidFill>
                  <a:srgbClr val="FF0000"/>
                </a:solidFill>
                <a:latin typeface="Comic Sans MS" panose="030F0702030302020204" pitchFamily="66" charset="0"/>
              </a:rPr>
              <a:t>1:</a:t>
            </a:r>
            <a:endParaRPr lang="en-US" altLang="zh-CN" sz="2800" dirty="0">
              <a:solidFill>
                <a:srgbClr val="FF0000"/>
              </a:solidFill>
              <a:latin typeface="Comic Sans MS" panose="030F0702030302020204" pitchFamily="66" charset="0"/>
            </a:endParaRPr>
          </a:p>
        </p:txBody>
      </p:sp>
      <p:sp>
        <p:nvSpPr>
          <p:cNvPr id="14" name="等腰三角形 13">
            <a:extLst>
              <a:ext uri="{FF2B5EF4-FFF2-40B4-BE49-F238E27FC236}">
                <a16:creationId xmlns:a16="http://schemas.microsoft.com/office/drawing/2014/main" id="{BB99C943-B804-48E8-BC9B-691134F37689}"/>
              </a:ext>
            </a:extLst>
          </p:cNvPr>
          <p:cNvSpPr/>
          <p:nvPr/>
        </p:nvSpPr>
        <p:spPr bwMode="auto">
          <a:xfrm rot="5400000">
            <a:off x="5605225" y="4012646"/>
            <a:ext cx="274320" cy="219551"/>
          </a:xfrm>
          <a:prstGeom prst="triangle">
            <a:avLst/>
          </a:prstGeom>
          <a:solidFill>
            <a:srgbClr val="FF00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890">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890">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7890">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890">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890">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890">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7890">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890">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7890">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890">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186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uiExpand="1" build="p"/>
      <p:bldP spid="121863" grpId="0" bldLvl="0" animBg="1"/>
      <p:bldP spid="11" grpId="0"/>
      <p:bldP spid="2" grpId="0" animBg="1"/>
      <p:bldP spid="12" grpId="0"/>
      <p:bldP spid="13" grpId="0"/>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p:cNvSpPr>
          <p:nvPr>
            <p:ph type="title" idx="4294967295"/>
          </p:nvPr>
        </p:nvSpPr>
        <p:spPr>
          <a:xfrm>
            <a:off x="579438" y="288925"/>
            <a:ext cx="8229600" cy="576263"/>
          </a:xfrm>
          <a:ln/>
        </p:spPr>
        <p:txBody>
          <a:bodyPr vert="horz" wrap="square" lIns="91440" tIns="45720" rIns="91440" bIns="45720" anchor="b" anchorCtr="0"/>
          <a:lstStyle/>
          <a:p>
            <a:pPr eaLnBrk="1" hangingPunct="1"/>
            <a:r>
              <a:rPr lang="en-US" altLang="zh-CN" dirty="0"/>
              <a:t>Solving the problem: Take 2</a:t>
            </a:r>
          </a:p>
        </p:txBody>
      </p:sp>
      <p:sp>
        <p:nvSpPr>
          <p:cNvPr id="39938" name="Rectangle 3"/>
          <p:cNvSpPr>
            <a:spLocks noGrp="1"/>
          </p:cNvSpPr>
          <p:nvPr>
            <p:ph type="body" sz="half" idx="4294967295"/>
          </p:nvPr>
        </p:nvSpPr>
        <p:spPr>
          <a:xfrm>
            <a:off x="830580" y="2875280"/>
            <a:ext cx="4191000" cy="4500880"/>
          </a:xfrm>
          <a:ln/>
        </p:spPr>
        <p:txBody>
          <a:bodyPr vert="horz" wrap="square" lIns="91440" tIns="45720" rIns="91440" bIns="45720" anchor="t" anchorCtr="0"/>
          <a:lstStyle>
            <a:lvl1pPr lvl="0">
              <a:buClr>
                <a:srgbClr val="993300"/>
              </a:buClr>
              <a:buSzPct val="90000"/>
              <a:buFont typeface="Monotype Sorts" charset="2"/>
              <a:defRPr sz="2800"/>
            </a:lvl1pPr>
            <a:lvl2pPr lvl="1">
              <a:buClr>
                <a:srgbClr val="CC6600"/>
              </a:buClr>
              <a:buSzPct val="80000"/>
              <a:buFont typeface="Monotype Sorts" charset="2"/>
              <a:defRPr sz="2400"/>
            </a:lvl2pPr>
            <a:lvl3pPr lvl="2">
              <a:buClr>
                <a:srgbClr val="009900"/>
              </a:buClr>
              <a:buSzPct val="75000"/>
              <a:buFont typeface="Webdings" panose="05030102010509060703" pitchFamily="18" charset="2"/>
              <a:defRPr sz="2000"/>
            </a:lvl3pPr>
            <a:lvl4pPr lvl="3">
              <a:buClr>
                <a:schemeClr val="hlink"/>
              </a:buClr>
              <a:buSzPct val="75000"/>
              <a:buFontTx/>
              <a:defRPr sz="1800"/>
            </a:lvl4pPr>
            <a:lvl5pPr lvl="4">
              <a:buClr>
                <a:srgbClr val="FF0066"/>
              </a:buClr>
              <a:buSzPct val="75000"/>
              <a:buFontTx/>
              <a:defRPr sz="1800"/>
            </a:lvl5pPr>
          </a:lstStyle>
          <a:p>
            <a:pPr marL="0" lvl="0" indent="0" eaLnBrk="1" hangingPunct="1">
              <a:lnSpc>
                <a:spcPct val="90000"/>
              </a:lnSpc>
              <a:buClr>
                <a:srgbClr val="993300"/>
              </a:buClr>
              <a:buNone/>
            </a:pPr>
            <a:r>
              <a:rPr lang="en-US" altLang="zh-CN" sz="2000" dirty="0">
                <a:solidFill>
                  <a:srgbClr val="0000FF"/>
                </a:solidFill>
              </a:rPr>
              <a:t>CSEnter(int i)</a:t>
            </a:r>
          </a:p>
          <a:p>
            <a:pPr lvl="1" indent="-285750" eaLnBrk="1" hangingPunct="1">
              <a:lnSpc>
                <a:spcPct val="90000"/>
              </a:lnSpc>
              <a:buClr>
                <a:srgbClr val="CC6600"/>
              </a:buClr>
              <a:buSzPct val="80000"/>
              <a:buFontTx/>
              <a:buNone/>
            </a:pPr>
            <a:r>
              <a:rPr lang="en-US" altLang="zh-CN" sz="2000" dirty="0">
                <a:solidFill>
                  <a:srgbClr val="0000FF"/>
                </a:solidFill>
              </a:rPr>
              <a:t>{</a:t>
            </a:r>
          </a:p>
          <a:p>
            <a:pPr lvl="2" indent="-228600" eaLnBrk="1" hangingPunct="1">
              <a:lnSpc>
                <a:spcPct val="90000"/>
              </a:lnSpc>
              <a:buClr>
                <a:srgbClr val="009900"/>
              </a:buClr>
              <a:buSzPct val="75000"/>
              <a:buFontTx/>
              <a:buNone/>
            </a:pPr>
            <a:r>
              <a:rPr lang="en-US" altLang="zh-CN" dirty="0">
                <a:solidFill>
                  <a:srgbClr val="0000FF"/>
                </a:solidFill>
              </a:rPr>
              <a:t>inside[i] = true;</a:t>
            </a:r>
          </a:p>
          <a:p>
            <a:pPr lvl="2" indent="-228600" eaLnBrk="1" hangingPunct="1">
              <a:lnSpc>
                <a:spcPct val="90000"/>
              </a:lnSpc>
              <a:buClr>
                <a:srgbClr val="009900"/>
              </a:buClr>
              <a:buSzPct val="75000"/>
              <a:buFontTx/>
              <a:buNone/>
            </a:pPr>
            <a:r>
              <a:rPr lang="en-US" altLang="zh-CN" dirty="0">
                <a:solidFill>
                  <a:srgbClr val="0000FF"/>
                </a:solidFill>
              </a:rPr>
              <a:t>while(inside[j]) continue;</a:t>
            </a:r>
          </a:p>
          <a:p>
            <a:pPr lvl="1" indent="-285750" eaLnBrk="1" hangingPunct="1">
              <a:lnSpc>
                <a:spcPct val="90000"/>
              </a:lnSpc>
              <a:buClr>
                <a:srgbClr val="CC6600"/>
              </a:buClr>
              <a:buSzPct val="80000"/>
              <a:buFontTx/>
              <a:buNone/>
            </a:pPr>
            <a:r>
              <a:rPr lang="en-US" altLang="zh-CN" sz="2000" dirty="0">
                <a:solidFill>
                  <a:srgbClr val="0000FF"/>
                </a:solidFill>
              </a:rPr>
              <a:t>}</a:t>
            </a:r>
          </a:p>
          <a:p>
            <a:pPr lvl="1" eaLnBrk="1" hangingPunct="1">
              <a:lnSpc>
                <a:spcPct val="90000"/>
              </a:lnSpc>
              <a:buNone/>
            </a:pPr>
            <a:r>
              <a:rPr lang="en-US" altLang="zh-CN" sz="2000" dirty="0">
                <a:solidFill>
                  <a:srgbClr val="0000FF"/>
                </a:solidFill>
              </a:rPr>
              <a:t>#Critical section</a:t>
            </a:r>
          </a:p>
          <a:p>
            <a:pPr marL="0" indent="0">
              <a:lnSpc>
                <a:spcPct val="90000"/>
              </a:lnSpc>
              <a:spcBef>
                <a:spcPct val="20000"/>
              </a:spcBef>
              <a:buNone/>
            </a:pPr>
            <a:r>
              <a:rPr lang="en-US" altLang="zh-CN" sz="2000" dirty="0" err="1">
                <a:solidFill>
                  <a:srgbClr val="0000FF"/>
                </a:solidFill>
                <a:latin typeface="Verdana" panose="020B0604030504040204" pitchFamily="34" charset="0"/>
              </a:rPr>
              <a:t>CSExit</a:t>
            </a:r>
            <a:r>
              <a:rPr lang="en-US" altLang="zh-CN" sz="2000" dirty="0">
                <a:solidFill>
                  <a:srgbClr val="0000FF"/>
                </a:solidFill>
                <a:latin typeface="Verdana" panose="020B0604030504040204" pitchFamily="34" charset="0"/>
              </a:rPr>
              <a:t>(int </a:t>
            </a:r>
            <a:r>
              <a:rPr lang="en-US" altLang="zh-CN" sz="2000" dirty="0" err="1">
                <a:solidFill>
                  <a:srgbClr val="0000FF"/>
                </a:solidFill>
                <a:latin typeface="Verdana" panose="020B0604030504040204" pitchFamily="34" charset="0"/>
              </a:rPr>
              <a:t>i</a:t>
            </a:r>
            <a:r>
              <a:rPr lang="en-US" altLang="zh-CN" sz="2000" dirty="0">
                <a:solidFill>
                  <a:srgbClr val="0000FF"/>
                </a:solidFill>
                <a:latin typeface="Verdana" panose="020B0604030504040204" pitchFamily="34" charset="0"/>
              </a:rPr>
              <a:t>)</a:t>
            </a:r>
          </a:p>
          <a:p>
            <a:pPr marL="457200" lvl="1" indent="0">
              <a:lnSpc>
                <a:spcPct val="90000"/>
              </a:lnSpc>
              <a:spcBef>
                <a:spcPct val="20000"/>
              </a:spcBef>
              <a:buNone/>
            </a:pPr>
            <a:r>
              <a:rPr lang="en-US" altLang="zh-CN" sz="2000" dirty="0">
                <a:solidFill>
                  <a:srgbClr val="0000FF"/>
                </a:solidFill>
                <a:latin typeface="Verdana" panose="020B0604030504040204" pitchFamily="34" charset="0"/>
              </a:rPr>
              <a:t>{</a:t>
            </a:r>
          </a:p>
          <a:p>
            <a:pPr marL="914400" lvl="2" indent="0">
              <a:lnSpc>
                <a:spcPct val="90000"/>
              </a:lnSpc>
              <a:spcBef>
                <a:spcPct val="20000"/>
              </a:spcBef>
              <a:buNone/>
            </a:pPr>
            <a:r>
              <a:rPr lang="en-US" altLang="zh-CN" dirty="0">
                <a:solidFill>
                  <a:srgbClr val="0000FF"/>
                </a:solidFill>
                <a:latin typeface="Verdana" panose="020B0604030504040204" pitchFamily="34" charset="0"/>
              </a:rPr>
              <a:t>Inside[</a:t>
            </a:r>
            <a:r>
              <a:rPr lang="en-US" altLang="zh-CN" dirty="0" err="1">
                <a:solidFill>
                  <a:srgbClr val="0000FF"/>
                </a:solidFill>
                <a:latin typeface="Verdana" panose="020B0604030504040204" pitchFamily="34" charset="0"/>
              </a:rPr>
              <a:t>i</a:t>
            </a:r>
            <a:r>
              <a:rPr lang="en-US" altLang="zh-CN" dirty="0">
                <a:solidFill>
                  <a:srgbClr val="0000FF"/>
                </a:solidFill>
                <a:latin typeface="Verdana" panose="020B0604030504040204" pitchFamily="34" charset="0"/>
              </a:rPr>
              <a:t>] = false;</a:t>
            </a:r>
          </a:p>
          <a:p>
            <a:pPr marL="457200" lvl="1" indent="0">
              <a:lnSpc>
                <a:spcPct val="90000"/>
              </a:lnSpc>
              <a:spcBef>
                <a:spcPct val="20000"/>
              </a:spcBef>
              <a:buNone/>
            </a:pPr>
            <a:r>
              <a:rPr lang="en-US" altLang="zh-CN" sz="2000" dirty="0">
                <a:solidFill>
                  <a:srgbClr val="0000FF"/>
                </a:solidFill>
                <a:latin typeface="Verdana" panose="020B0604030504040204" pitchFamily="34" charset="0"/>
              </a:rPr>
              <a:t>}</a:t>
            </a:r>
            <a:endParaRPr lang="en-US" altLang="zh-CN" sz="2000" dirty="0">
              <a:solidFill>
                <a:srgbClr val="0000FF"/>
              </a:solidFill>
            </a:endParaRPr>
          </a:p>
        </p:txBody>
      </p:sp>
      <p:sp>
        <p:nvSpPr>
          <p:cNvPr id="39939" name="Rectangle 4"/>
          <p:cNvSpPr>
            <a:spLocks noGrp="1"/>
          </p:cNvSpPr>
          <p:nvPr>
            <p:ph type="body" sz="half" idx="4294967295"/>
          </p:nvPr>
        </p:nvSpPr>
        <p:spPr>
          <a:xfrm>
            <a:off x="446405" y="882634"/>
            <a:ext cx="8077200" cy="914400"/>
          </a:xfrm>
          <a:ln/>
        </p:spPr>
        <p:txBody>
          <a:bodyPr vert="horz" wrap="square" lIns="91440" tIns="45720" rIns="91440" bIns="45720" anchor="t" anchorCtr="0"/>
          <a:lstStyle>
            <a:lvl1pPr lvl="0">
              <a:buClr>
                <a:srgbClr val="993300"/>
              </a:buClr>
              <a:buSzPct val="90000"/>
              <a:buFont typeface="Monotype Sorts" charset="2"/>
              <a:defRPr sz="2800"/>
            </a:lvl1pPr>
            <a:lvl2pPr lvl="1">
              <a:buClr>
                <a:srgbClr val="CC6600"/>
              </a:buClr>
              <a:buSzPct val="80000"/>
              <a:buFont typeface="Monotype Sorts" charset="2"/>
              <a:defRPr sz="2400"/>
            </a:lvl2pPr>
            <a:lvl3pPr lvl="2">
              <a:buClr>
                <a:srgbClr val="009900"/>
              </a:buClr>
              <a:buSzPct val="75000"/>
              <a:buFont typeface="Webdings" panose="05030102010509060703" pitchFamily="18" charset="2"/>
              <a:defRPr sz="2000"/>
            </a:lvl3pPr>
            <a:lvl4pPr lvl="3">
              <a:buClr>
                <a:schemeClr val="hlink"/>
              </a:buClr>
              <a:buSzPct val="75000"/>
              <a:buFontTx/>
              <a:defRPr sz="1800"/>
            </a:lvl4pPr>
            <a:lvl5pPr lvl="4">
              <a:buClr>
                <a:srgbClr val="FF0066"/>
              </a:buClr>
              <a:buSzPct val="75000"/>
              <a:buFontTx/>
              <a:defRPr sz="1800"/>
            </a:lvl5pPr>
          </a:lstStyle>
          <a:p>
            <a:pPr lvl="0" eaLnBrk="1" hangingPunct="1">
              <a:lnSpc>
                <a:spcPct val="90000"/>
              </a:lnSpc>
              <a:buClr>
                <a:srgbClr val="993300"/>
              </a:buClr>
            </a:pPr>
            <a:r>
              <a:rPr lang="en-US" altLang="zh-CN" sz="2400" dirty="0"/>
              <a:t>A different idea (assumes just two threads):</a:t>
            </a:r>
          </a:p>
          <a:p>
            <a:pPr lvl="1" indent="-285750" eaLnBrk="1" hangingPunct="1">
              <a:lnSpc>
                <a:spcPct val="90000"/>
              </a:lnSpc>
              <a:buClr>
                <a:srgbClr val="CC6600"/>
              </a:buClr>
              <a:buSzPct val="80000"/>
              <a:buFont typeface="Monotype Sorts" charset="2"/>
              <a:buChar char="l"/>
            </a:pPr>
            <a:r>
              <a:rPr lang="en-US" altLang="zh-CN" sz="2400" dirty="0"/>
              <a:t>Have a boolean flag, </a:t>
            </a:r>
            <a:r>
              <a:rPr lang="en-US" altLang="zh-CN" sz="2400" i="1" dirty="0">
                <a:solidFill>
                  <a:srgbClr val="FF0000"/>
                </a:solidFill>
              </a:rPr>
              <a:t>inside[i]</a:t>
            </a:r>
            <a:r>
              <a:rPr lang="en-US" altLang="zh-CN" sz="2400" dirty="0"/>
              <a:t>.  Initially </a:t>
            </a:r>
            <a:r>
              <a:rPr lang="en-US" altLang="zh-CN" sz="2400" dirty="0">
                <a:solidFill>
                  <a:srgbClr val="FF0000"/>
                </a:solidFill>
              </a:rPr>
              <a:t>false</a:t>
            </a:r>
            <a:r>
              <a:rPr lang="en-US" altLang="zh-CN" sz="2400" dirty="0"/>
              <a:t>.</a:t>
            </a:r>
          </a:p>
        </p:txBody>
      </p:sp>
      <p:sp>
        <p:nvSpPr>
          <p:cNvPr id="39940" name="Rectangle 5"/>
          <p:cNvSpPr/>
          <p:nvPr/>
        </p:nvSpPr>
        <p:spPr>
          <a:xfrm>
            <a:off x="4564380" y="3065780"/>
            <a:ext cx="4038600" cy="2573020"/>
          </a:xfrm>
          <a:prstGeom prst="rect">
            <a:avLst/>
          </a:prstGeom>
          <a:noFill/>
          <a:ln w="9525">
            <a:noFill/>
          </a:ln>
        </p:spPr>
        <p:txBody>
          <a:bodyPr anchor="t" anchorCtr="0"/>
          <a:lstStyle/>
          <a:p>
            <a:pPr eaLnBrk="0" hangingPunct="0">
              <a:lnSpc>
                <a:spcPct val="90000"/>
              </a:lnSpc>
              <a:spcBef>
                <a:spcPct val="20000"/>
              </a:spcBef>
            </a:pPr>
            <a:endParaRPr lang="en-US" altLang="zh-CN" sz="2400" dirty="0">
              <a:solidFill>
                <a:srgbClr val="0000FF"/>
              </a:solidFill>
              <a:latin typeface="Verdana" panose="020B0604030504040204" pitchFamily="34" charset="0"/>
            </a:endParaRPr>
          </a:p>
        </p:txBody>
      </p:sp>
      <p:sp>
        <p:nvSpPr>
          <p:cNvPr id="123911" name="AutoShape 7"/>
          <p:cNvSpPr/>
          <p:nvPr/>
        </p:nvSpPr>
        <p:spPr>
          <a:xfrm>
            <a:off x="725487" y="1767608"/>
            <a:ext cx="7519035" cy="762000"/>
          </a:xfrm>
          <a:prstGeom prst="wedgeRectCallout">
            <a:avLst>
              <a:gd name="adj1" fmla="val -30491"/>
              <a:gd name="adj2" fmla="val 74166"/>
            </a:avLst>
          </a:prstGeom>
          <a:solidFill>
            <a:schemeClr val="accent1"/>
          </a:solidFill>
          <a:ln w="9525" cap="flat" cmpd="sng">
            <a:solidFill>
              <a:schemeClr val="tx1"/>
            </a:solidFill>
            <a:prstDash val="solid"/>
            <a:miter/>
            <a:headEnd type="none" w="med" len="med"/>
            <a:tailEnd type="none" w="med" len="med"/>
          </a:ln>
        </p:spPr>
        <p:txBody>
          <a:bodyPr anchor="t" anchorCtr="0"/>
          <a:lstStyle/>
          <a:p>
            <a:pPr algn="ctr" eaLnBrk="0" hangingPunct="0"/>
            <a:r>
              <a:rPr lang="en-US" altLang="zh-CN" sz="1800" b="1" dirty="0">
                <a:latin typeface="Verdana" panose="020B0604030504040204" pitchFamily="34" charset="0"/>
              </a:rPr>
              <a:t>Code </a:t>
            </a:r>
            <a:r>
              <a:rPr lang="en-US" altLang="zh-CN" sz="1800" b="1" u="sng" dirty="0">
                <a:latin typeface="Verdana" panose="020B0604030504040204" pitchFamily="34" charset="0"/>
              </a:rPr>
              <a:t>isn’t live</a:t>
            </a:r>
            <a:r>
              <a:rPr lang="en-US" altLang="zh-CN" sz="1800" b="1" dirty="0">
                <a:latin typeface="Verdana" panose="020B0604030504040204" pitchFamily="34" charset="0"/>
              </a:rPr>
              <a:t>: with bad luck, both threads could be looping, with 0 looking at 1, and 1 looking at 0</a:t>
            </a:r>
          </a:p>
        </p:txBody>
      </p:sp>
      <p:sp>
        <p:nvSpPr>
          <p:cNvPr id="10" name="Text Box 6">
            <a:extLst>
              <a:ext uri="{FF2B5EF4-FFF2-40B4-BE49-F238E27FC236}">
                <a16:creationId xmlns:a16="http://schemas.microsoft.com/office/drawing/2014/main" id="{6B0E934B-00D2-4B44-87BC-093450695056}"/>
              </a:ext>
            </a:extLst>
          </p:cNvPr>
          <p:cNvSpPr txBox="1"/>
          <p:nvPr/>
        </p:nvSpPr>
        <p:spPr>
          <a:xfrm>
            <a:off x="336549" y="2613670"/>
            <a:ext cx="662361" cy="523220"/>
          </a:xfrm>
          <a:prstGeom prst="rect">
            <a:avLst/>
          </a:prstGeom>
          <a:noFill/>
          <a:ln w="57150">
            <a:noFill/>
          </a:ln>
        </p:spPr>
        <p:txBody>
          <a:bodyPr wrap="none" anchor="ctr" anchorCtr="0">
            <a:spAutoFit/>
          </a:bodyPr>
          <a:lstStyle/>
          <a:p>
            <a:pPr algn="ctr" eaLnBrk="0" hangingPunct="0"/>
            <a:r>
              <a:rPr lang="en-US" altLang="zh-CN" sz="2800" dirty="0">
                <a:solidFill>
                  <a:srgbClr val="0000FF"/>
                </a:solidFill>
                <a:latin typeface="Comic Sans MS" panose="030F0702030302020204" pitchFamily="66" charset="0"/>
              </a:rPr>
              <a:t>T</a:t>
            </a:r>
            <a:r>
              <a:rPr lang="en-US" altLang="zh-CN" dirty="0">
                <a:solidFill>
                  <a:srgbClr val="0000FF"/>
                </a:solidFill>
                <a:latin typeface="Comic Sans MS" panose="030F0702030302020204" pitchFamily="66" charset="0"/>
              </a:rPr>
              <a:t>0:</a:t>
            </a:r>
            <a:endParaRPr lang="en-US" altLang="zh-CN" sz="2800" dirty="0">
              <a:solidFill>
                <a:srgbClr val="0000FF"/>
              </a:solidFill>
              <a:latin typeface="Comic Sans MS" panose="030F0702030302020204" pitchFamily="66" charset="0"/>
            </a:endParaRPr>
          </a:p>
        </p:txBody>
      </p:sp>
      <p:sp>
        <p:nvSpPr>
          <p:cNvPr id="11" name="Text Box 6">
            <a:extLst>
              <a:ext uri="{FF2B5EF4-FFF2-40B4-BE49-F238E27FC236}">
                <a16:creationId xmlns:a16="http://schemas.microsoft.com/office/drawing/2014/main" id="{F3B1187B-D190-49D0-ABD1-28147EAFE422}"/>
              </a:ext>
            </a:extLst>
          </p:cNvPr>
          <p:cNvSpPr txBox="1"/>
          <p:nvPr/>
        </p:nvSpPr>
        <p:spPr>
          <a:xfrm>
            <a:off x="4528676" y="2610115"/>
            <a:ext cx="620683" cy="523220"/>
          </a:xfrm>
          <a:prstGeom prst="rect">
            <a:avLst/>
          </a:prstGeom>
          <a:noFill/>
          <a:ln w="57150">
            <a:noFill/>
          </a:ln>
        </p:spPr>
        <p:txBody>
          <a:bodyPr wrap="none" anchor="ctr" anchorCtr="0">
            <a:spAutoFit/>
          </a:bodyPr>
          <a:lstStyle/>
          <a:p>
            <a:pPr algn="ctr" eaLnBrk="0" hangingPunct="0"/>
            <a:r>
              <a:rPr lang="en-US" altLang="zh-CN" sz="2800" dirty="0">
                <a:solidFill>
                  <a:srgbClr val="FF0000"/>
                </a:solidFill>
                <a:latin typeface="Comic Sans MS" panose="030F0702030302020204" pitchFamily="66" charset="0"/>
              </a:rPr>
              <a:t>T</a:t>
            </a:r>
            <a:r>
              <a:rPr lang="en-US" altLang="zh-CN" dirty="0">
                <a:solidFill>
                  <a:srgbClr val="FF0000"/>
                </a:solidFill>
                <a:latin typeface="Comic Sans MS" panose="030F0702030302020204" pitchFamily="66" charset="0"/>
              </a:rPr>
              <a:t>1:</a:t>
            </a:r>
            <a:endParaRPr lang="en-US" altLang="zh-CN" sz="2800" dirty="0">
              <a:solidFill>
                <a:srgbClr val="FF0000"/>
              </a:solidFill>
              <a:latin typeface="Comic Sans MS" panose="030F0702030302020204" pitchFamily="66" charset="0"/>
            </a:endParaRPr>
          </a:p>
        </p:txBody>
      </p:sp>
      <p:sp>
        <p:nvSpPr>
          <p:cNvPr id="13" name="等腰三角形 12">
            <a:extLst>
              <a:ext uri="{FF2B5EF4-FFF2-40B4-BE49-F238E27FC236}">
                <a16:creationId xmlns:a16="http://schemas.microsoft.com/office/drawing/2014/main" id="{5EA8C740-D7D8-424D-8DF9-0C6E1BBA3145}"/>
              </a:ext>
            </a:extLst>
          </p:cNvPr>
          <p:cNvSpPr/>
          <p:nvPr/>
        </p:nvSpPr>
        <p:spPr bwMode="auto">
          <a:xfrm rot="5400000">
            <a:off x="1452971" y="3702400"/>
            <a:ext cx="274320" cy="219551"/>
          </a:xfrm>
          <a:prstGeom prst="triangle">
            <a:avLst/>
          </a:prstGeom>
          <a:solidFill>
            <a:srgbClr val="0066FF"/>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4" name="Rectangle 3">
            <a:extLst>
              <a:ext uri="{FF2B5EF4-FFF2-40B4-BE49-F238E27FC236}">
                <a16:creationId xmlns:a16="http://schemas.microsoft.com/office/drawing/2014/main" id="{0AC06F28-85B4-467E-ADB5-63C7BA02A974}"/>
              </a:ext>
            </a:extLst>
          </p:cNvPr>
          <p:cNvSpPr txBox="1">
            <a:spLocks/>
          </p:cNvSpPr>
          <p:nvPr/>
        </p:nvSpPr>
        <p:spPr>
          <a:xfrm>
            <a:off x="5057284" y="2871725"/>
            <a:ext cx="4191000" cy="4500880"/>
          </a:xfrm>
          <a:prstGeom prst="rect">
            <a:avLst/>
          </a:prstGeom>
          <a:noFill/>
          <a:ln w="9525">
            <a:noFill/>
          </a:ln>
        </p:spPr>
        <p:txBody>
          <a:bodyPr vert="horz" wrap="square" lIns="91440" tIns="45720" rIns="91440" bIns="45720" anchor="t" anchorCtr="0"/>
          <a:lstStyle>
            <a:lvl1pPr marL="342900" lvl="0" indent="-342900" algn="l" rtl="0" eaLnBrk="0" fontAlgn="base" hangingPunct="0">
              <a:spcBef>
                <a:spcPct val="35000"/>
              </a:spcBef>
              <a:spcAft>
                <a:spcPct val="0"/>
              </a:spcAft>
              <a:buClr>
                <a:srgbClr val="993300"/>
              </a:buClr>
              <a:buSzPct val="90000"/>
              <a:buFont typeface="Monotype Sorts" charset="2"/>
              <a:buChar char="n"/>
              <a:defRPr kumimoji="1" sz="2800">
                <a:solidFill>
                  <a:schemeClr val="tx1"/>
                </a:solidFill>
                <a:latin typeface="+mn-lt"/>
                <a:ea typeface="MS PGothic" panose="020B0600070205080204" pitchFamily="34" charset="-128"/>
                <a:cs typeface="+mn-cs"/>
              </a:defRPr>
            </a:lvl1pPr>
            <a:lvl2pPr marL="742950" lvl="1" indent="-285750" algn="l" rtl="0" eaLnBrk="0" fontAlgn="base" hangingPunct="0">
              <a:spcBef>
                <a:spcPct val="35000"/>
              </a:spcBef>
              <a:spcAft>
                <a:spcPct val="0"/>
              </a:spcAft>
              <a:buClr>
                <a:srgbClr val="CC6600"/>
              </a:buClr>
              <a:buSzPct val="80000"/>
              <a:buFont typeface="Monotype Sorts" charset="2"/>
              <a:buChar char="l"/>
              <a:defRPr kumimoji="1" sz="2400">
                <a:solidFill>
                  <a:schemeClr val="tx1"/>
                </a:solidFill>
                <a:latin typeface="+mn-lt"/>
                <a:ea typeface="MS PGothic" panose="020B0600070205080204" pitchFamily="34" charset="-128"/>
              </a:defRPr>
            </a:lvl2pPr>
            <a:lvl3pPr marL="1085850" lvl="2"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000">
                <a:solidFill>
                  <a:schemeClr val="tx1"/>
                </a:solidFill>
                <a:latin typeface="+mn-lt"/>
                <a:ea typeface="MS PGothic" panose="020B0600070205080204" pitchFamily="34" charset="-128"/>
              </a:defRPr>
            </a:lvl3pPr>
            <a:lvl4pPr marL="1428750" lvl="3" indent="-228600" algn="l" rtl="0" eaLnBrk="0" fontAlgn="base" hangingPunct="0">
              <a:spcBef>
                <a:spcPct val="35000"/>
              </a:spcBef>
              <a:spcAft>
                <a:spcPct val="0"/>
              </a:spcAft>
              <a:buClr>
                <a:schemeClr val="hlink"/>
              </a:buClr>
              <a:buSzPct val="75000"/>
              <a:buFontTx/>
              <a:buChar char="–"/>
              <a:defRPr kumimoji="1" sz="1800">
                <a:solidFill>
                  <a:schemeClr val="tx1"/>
                </a:solidFill>
                <a:latin typeface="+mn-lt"/>
                <a:ea typeface="MS PGothic" panose="020B0600070205080204" pitchFamily="34" charset="-128"/>
              </a:defRPr>
            </a:lvl4pPr>
            <a:lvl5pPr marL="1771650" lvl="4" indent="-228600" algn="l" rtl="0" eaLnBrk="0" fontAlgn="base" hangingPunct="0">
              <a:spcBef>
                <a:spcPct val="35000"/>
              </a:spcBef>
              <a:spcAft>
                <a:spcPct val="0"/>
              </a:spcAft>
              <a:buClr>
                <a:srgbClr val="FF0066"/>
              </a:buClr>
              <a:buSzPct val="75000"/>
              <a:buFontTx/>
              <a:buChar char="»"/>
              <a:defRPr kumimoji="1" sz="18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9pPr>
          </a:lstStyle>
          <a:p>
            <a:pPr marL="0" indent="0" eaLnBrk="1" hangingPunct="1">
              <a:lnSpc>
                <a:spcPct val="90000"/>
              </a:lnSpc>
              <a:buFont typeface="Monotype Sorts" charset="2"/>
              <a:buNone/>
            </a:pPr>
            <a:r>
              <a:rPr lang="en-US" altLang="zh-CN" sz="2000" kern="0" dirty="0" err="1">
                <a:solidFill>
                  <a:srgbClr val="FF0000"/>
                </a:solidFill>
              </a:rPr>
              <a:t>CSEnter</a:t>
            </a:r>
            <a:r>
              <a:rPr lang="en-US" altLang="zh-CN" sz="2000" kern="0" dirty="0">
                <a:solidFill>
                  <a:srgbClr val="FF0000"/>
                </a:solidFill>
              </a:rPr>
              <a:t>(int j)</a:t>
            </a:r>
          </a:p>
          <a:p>
            <a:pPr lvl="1" eaLnBrk="1" hangingPunct="1">
              <a:lnSpc>
                <a:spcPct val="90000"/>
              </a:lnSpc>
              <a:buFontTx/>
              <a:buNone/>
            </a:pPr>
            <a:r>
              <a:rPr lang="en-US" altLang="zh-CN" sz="2000" kern="0" dirty="0">
                <a:solidFill>
                  <a:srgbClr val="FF0000"/>
                </a:solidFill>
              </a:rPr>
              <a:t>{</a:t>
            </a:r>
          </a:p>
          <a:p>
            <a:pPr lvl="2" eaLnBrk="1" hangingPunct="1">
              <a:lnSpc>
                <a:spcPct val="90000"/>
              </a:lnSpc>
              <a:buFontTx/>
              <a:buNone/>
            </a:pPr>
            <a:r>
              <a:rPr lang="en-US" altLang="zh-CN" kern="0" dirty="0">
                <a:solidFill>
                  <a:srgbClr val="FF0000"/>
                </a:solidFill>
              </a:rPr>
              <a:t>inside[j] = true;</a:t>
            </a:r>
          </a:p>
          <a:p>
            <a:pPr lvl="2" eaLnBrk="1" hangingPunct="1">
              <a:lnSpc>
                <a:spcPct val="90000"/>
              </a:lnSpc>
              <a:buFontTx/>
              <a:buNone/>
            </a:pPr>
            <a:r>
              <a:rPr lang="en-US" altLang="zh-CN" kern="0" dirty="0">
                <a:solidFill>
                  <a:srgbClr val="FF0000"/>
                </a:solidFill>
              </a:rPr>
              <a:t>while(inside[</a:t>
            </a:r>
            <a:r>
              <a:rPr lang="en-US" altLang="zh-CN" kern="0" dirty="0" err="1">
                <a:solidFill>
                  <a:srgbClr val="FF0000"/>
                </a:solidFill>
              </a:rPr>
              <a:t>i</a:t>
            </a:r>
            <a:r>
              <a:rPr lang="en-US" altLang="zh-CN" kern="0" dirty="0">
                <a:solidFill>
                  <a:srgbClr val="FF0000"/>
                </a:solidFill>
              </a:rPr>
              <a:t>]) continue;</a:t>
            </a:r>
          </a:p>
          <a:p>
            <a:pPr lvl="1" eaLnBrk="1" hangingPunct="1">
              <a:lnSpc>
                <a:spcPct val="90000"/>
              </a:lnSpc>
              <a:buFontTx/>
              <a:buNone/>
            </a:pPr>
            <a:r>
              <a:rPr lang="en-US" altLang="zh-CN" sz="2000" kern="0" dirty="0">
                <a:solidFill>
                  <a:srgbClr val="FF0000"/>
                </a:solidFill>
              </a:rPr>
              <a:t>}</a:t>
            </a:r>
          </a:p>
          <a:p>
            <a:pPr lvl="1" eaLnBrk="1" hangingPunct="1">
              <a:lnSpc>
                <a:spcPct val="90000"/>
              </a:lnSpc>
              <a:buFont typeface="Monotype Sorts" charset="2"/>
              <a:buNone/>
            </a:pPr>
            <a:r>
              <a:rPr lang="en-US" altLang="zh-CN" sz="2000" kern="0" dirty="0">
                <a:solidFill>
                  <a:srgbClr val="FF0000"/>
                </a:solidFill>
              </a:rPr>
              <a:t>#Critical section</a:t>
            </a:r>
          </a:p>
          <a:p>
            <a:pPr marL="0" indent="0">
              <a:lnSpc>
                <a:spcPct val="90000"/>
              </a:lnSpc>
              <a:spcBef>
                <a:spcPct val="20000"/>
              </a:spcBef>
              <a:buFont typeface="Monotype Sorts" charset="2"/>
              <a:buNone/>
            </a:pPr>
            <a:r>
              <a:rPr lang="en-US" altLang="zh-CN" sz="2000" kern="0" dirty="0" err="1">
                <a:solidFill>
                  <a:srgbClr val="FF0000"/>
                </a:solidFill>
                <a:latin typeface="Verdana" panose="020B0604030504040204" pitchFamily="34" charset="0"/>
              </a:rPr>
              <a:t>CSExit</a:t>
            </a:r>
            <a:r>
              <a:rPr lang="en-US" altLang="zh-CN" sz="2000" kern="0" dirty="0">
                <a:solidFill>
                  <a:srgbClr val="FF0000"/>
                </a:solidFill>
                <a:latin typeface="Verdana" panose="020B0604030504040204" pitchFamily="34" charset="0"/>
              </a:rPr>
              <a:t>(int j)</a:t>
            </a:r>
          </a:p>
          <a:p>
            <a:pPr marL="457200" lvl="1" indent="0">
              <a:lnSpc>
                <a:spcPct val="90000"/>
              </a:lnSpc>
              <a:spcBef>
                <a:spcPct val="20000"/>
              </a:spcBef>
              <a:buFont typeface="Monotype Sorts" charset="2"/>
              <a:buNone/>
            </a:pPr>
            <a:r>
              <a:rPr lang="en-US" altLang="zh-CN" sz="2000" kern="0" dirty="0">
                <a:solidFill>
                  <a:srgbClr val="FF0000"/>
                </a:solidFill>
                <a:latin typeface="Verdana" panose="020B0604030504040204" pitchFamily="34" charset="0"/>
              </a:rPr>
              <a:t>{</a:t>
            </a:r>
          </a:p>
          <a:p>
            <a:pPr marL="914400" lvl="2" indent="0">
              <a:lnSpc>
                <a:spcPct val="90000"/>
              </a:lnSpc>
              <a:spcBef>
                <a:spcPct val="20000"/>
              </a:spcBef>
              <a:buFont typeface="Webdings" panose="05030102010509060703" pitchFamily="18" charset="2"/>
              <a:buNone/>
            </a:pPr>
            <a:r>
              <a:rPr lang="en-US" altLang="zh-CN" kern="0" dirty="0">
                <a:solidFill>
                  <a:srgbClr val="FF0000"/>
                </a:solidFill>
                <a:latin typeface="Verdana" panose="020B0604030504040204" pitchFamily="34" charset="0"/>
              </a:rPr>
              <a:t>Inside[j] = false;</a:t>
            </a:r>
          </a:p>
          <a:p>
            <a:pPr marL="457200" lvl="1" indent="0">
              <a:lnSpc>
                <a:spcPct val="90000"/>
              </a:lnSpc>
              <a:spcBef>
                <a:spcPct val="20000"/>
              </a:spcBef>
              <a:buFont typeface="Monotype Sorts" charset="2"/>
              <a:buNone/>
            </a:pPr>
            <a:r>
              <a:rPr lang="en-US" altLang="zh-CN" sz="2000" kern="0" dirty="0">
                <a:solidFill>
                  <a:srgbClr val="FF0000"/>
                </a:solidFill>
                <a:latin typeface="Verdana" panose="020B0604030504040204" pitchFamily="34" charset="0"/>
              </a:rPr>
              <a:t>}</a:t>
            </a:r>
            <a:endParaRPr lang="en-US" altLang="zh-CN" sz="2000" kern="0" dirty="0">
              <a:solidFill>
                <a:srgbClr val="FF0000"/>
              </a:solidFill>
            </a:endParaRPr>
          </a:p>
        </p:txBody>
      </p:sp>
      <p:sp>
        <p:nvSpPr>
          <p:cNvPr id="15" name="等腰三角形 14">
            <a:extLst>
              <a:ext uri="{FF2B5EF4-FFF2-40B4-BE49-F238E27FC236}">
                <a16:creationId xmlns:a16="http://schemas.microsoft.com/office/drawing/2014/main" id="{9C476DE9-BA7A-422D-8FE0-03AC4AFA612D}"/>
              </a:ext>
            </a:extLst>
          </p:cNvPr>
          <p:cNvSpPr/>
          <p:nvPr/>
        </p:nvSpPr>
        <p:spPr bwMode="auto">
          <a:xfrm rot="5400000">
            <a:off x="5704107" y="3702401"/>
            <a:ext cx="274320" cy="219551"/>
          </a:xfrm>
          <a:prstGeom prst="triangle">
            <a:avLst/>
          </a:prstGeom>
          <a:solidFill>
            <a:srgbClr val="FF33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9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grpId="1" nodeType="clickEffect">
                                  <p:stCondLst>
                                    <p:cond delay="0"/>
                                  </p:stCondLst>
                                  <p:childTnLst>
                                    <p:animMotion origin="layout" path="M -4.72222E-6 2.96296E-6 L -0.00086 0.05833 " pathEditMode="relative" rAng="0" ptsTypes="AA">
                                      <p:cBhvr>
                                        <p:cTn id="18" dur="500" fill="hold"/>
                                        <p:tgtEl>
                                          <p:spTgt spid="13"/>
                                        </p:tgtEl>
                                        <p:attrNameLst>
                                          <p:attrName>ppt_x</p:attrName>
                                          <p:attrName>ppt_y</p:attrName>
                                        </p:attrNameLst>
                                      </p:cBhvr>
                                      <p:rCtr x="-52" y="2917"/>
                                    </p:animMotion>
                                  </p:childTnLst>
                                </p:cTn>
                              </p:par>
                            </p:childTnLst>
                          </p:cTn>
                        </p:par>
                      </p:childTnLst>
                    </p:cTn>
                  </p:par>
                  <p:par>
                    <p:cTn id="19" fill="hold">
                      <p:stCondLst>
                        <p:cond delay="indefinite"/>
                      </p:stCondLst>
                      <p:childTnLst>
                        <p:par>
                          <p:cTn id="20" fill="hold">
                            <p:stCondLst>
                              <p:cond delay="0"/>
                            </p:stCondLst>
                            <p:childTnLst>
                              <p:par>
                                <p:cTn id="21" presetID="42" presetClass="path" presetSubtype="0" accel="50000" decel="50000" fill="hold" grpId="1" nodeType="clickEffect">
                                  <p:stCondLst>
                                    <p:cond delay="0"/>
                                  </p:stCondLst>
                                  <p:childTnLst>
                                    <p:animMotion origin="layout" path="M 4.72222E-6 2.96296E-6 L 0.00034 0.05833 " pathEditMode="relative" rAng="0" ptsTypes="AA">
                                      <p:cBhvr>
                                        <p:cTn id="22" dur="500" fill="hold"/>
                                        <p:tgtEl>
                                          <p:spTgt spid="15"/>
                                        </p:tgtEl>
                                        <p:attrNameLst>
                                          <p:attrName>ppt_x</p:attrName>
                                          <p:attrName>ppt_y</p:attrName>
                                        </p:attrNameLst>
                                      </p:cBhvr>
                                      <p:rCtr x="17" y="291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11" grpId="0" bldLvl="0" animBg="1"/>
      <p:bldP spid="13" grpId="0" animBg="1"/>
      <p:bldP spid="13" grpId="1" animBg="1"/>
      <p:bldP spid="15" grpId="0" animBg="1"/>
      <p:bldP spid="15"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p:cNvSpPr>
          <p:nvPr>
            <p:ph type="title" idx="4294967295"/>
          </p:nvPr>
        </p:nvSpPr>
        <p:spPr>
          <a:ln/>
        </p:spPr>
        <p:txBody>
          <a:bodyPr vert="horz" wrap="square" lIns="91440" tIns="45720" rIns="91440" bIns="45720" anchor="b" anchorCtr="0"/>
          <a:lstStyle/>
          <a:p>
            <a:pPr eaLnBrk="1" hangingPunct="1"/>
            <a:r>
              <a:rPr lang="en-US" altLang="zh-CN" dirty="0"/>
              <a:t>Solving the problem: Take 3</a:t>
            </a:r>
          </a:p>
        </p:txBody>
      </p:sp>
      <p:sp>
        <p:nvSpPr>
          <p:cNvPr id="41986" name="Rectangle 3"/>
          <p:cNvSpPr>
            <a:spLocks noGrp="1"/>
          </p:cNvSpPr>
          <p:nvPr>
            <p:ph type="body" sz="half" idx="4294967295"/>
          </p:nvPr>
        </p:nvSpPr>
        <p:spPr>
          <a:xfrm>
            <a:off x="717551" y="3048000"/>
            <a:ext cx="3854449" cy="3532187"/>
          </a:xfrm>
          <a:ln/>
        </p:spPr>
        <p:txBody>
          <a:bodyPr vert="horz" wrap="square" lIns="91440" tIns="45720" rIns="91440" bIns="45720" anchor="t" anchorCtr="0"/>
          <a:lstStyle>
            <a:lvl1pPr lvl="0">
              <a:buClr>
                <a:srgbClr val="993300"/>
              </a:buClr>
              <a:buSzPct val="90000"/>
              <a:buFont typeface="Monotype Sorts" charset="2"/>
              <a:defRPr sz="2800"/>
            </a:lvl1pPr>
            <a:lvl2pPr lvl="1">
              <a:buClr>
                <a:srgbClr val="CC6600"/>
              </a:buClr>
              <a:buSzPct val="80000"/>
              <a:buFont typeface="Monotype Sorts" charset="2"/>
              <a:defRPr sz="2400"/>
            </a:lvl2pPr>
            <a:lvl3pPr lvl="2">
              <a:buClr>
                <a:srgbClr val="009900"/>
              </a:buClr>
              <a:buSzPct val="75000"/>
              <a:buFont typeface="Webdings" panose="05030102010509060703" pitchFamily="18" charset="2"/>
              <a:defRPr sz="2000"/>
            </a:lvl3pPr>
            <a:lvl4pPr lvl="3">
              <a:buClr>
                <a:schemeClr val="hlink"/>
              </a:buClr>
              <a:buSzPct val="75000"/>
              <a:buFontTx/>
              <a:defRPr sz="1800"/>
            </a:lvl4pPr>
            <a:lvl5pPr lvl="4">
              <a:buClr>
                <a:srgbClr val="FF0066"/>
              </a:buClr>
              <a:buSzPct val="75000"/>
              <a:buFontTx/>
              <a:defRPr sz="1800"/>
            </a:lvl5pPr>
          </a:lstStyle>
          <a:p>
            <a:pPr marL="0" lvl="0" indent="0" eaLnBrk="1" hangingPunct="1">
              <a:lnSpc>
                <a:spcPct val="90000"/>
              </a:lnSpc>
              <a:buClr>
                <a:srgbClr val="993300"/>
              </a:buClr>
              <a:buNone/>
            </a:pPr>
            <a:r>
              <a:rPr lang="en-US" altLang="zh-CN" sz="2000" dirty="0">
                <a:solidFill>
                  <a:srgbClr val="0000FF"/>
                </a:solidFill>
              </a:rPr>
              <a:t>CSEnter(int i)</a:t>
            </a:r>
          </a:p>
          <a:p>
            <a:pPr lvl="1" indent="-285750" eaLnBrk="1" hangingPunct="1">
              <a:lnSpc>
                <a:spcPct val="90000"/>
              </a:lnSpc>
              <a:buClr>
                <a:srgbClr val="CC6600"/>
              </a:buClr>
              <a:buSzPct val="80000"/>
              <a:buFontTx/>
              <a:buNone/>
            </a:pPr>
            <a:r>
              <a:rPr lang="en-US" altLang="zh-CN" sz="2000" dirty="0">
                <a:solidFill>
                  <a:srgbClr val="0000FF"/>
                </a:solidFill>
              </a:rPr>
              <a:t>{</a:t>
            </a:r>
          </a:p>
          <a:p>
            <a:pPr lvl="2" indent="-228600" eaLnBrk="1" hangingPunct="1">
              <a:lnSpc>
                <a:spcPct val="90000"/>
              </a:lnSpc>
              <a:buClr>
                <a:srgbClr val="009900"/>
              </a:buClr>
              <a:buSzPct val="75000"/>
              <a:buFontTx/>
              <a:buNone/>
            </a:pPr>
            <a:r>
              <a:rPr lang="en-US" altLang="zh-CN" dirty="0">
                <a:solidFill>
                  <a:srgbClr val="0000FF"/>
                </a:solidFill>
              </a:rPr>
              <a:t>while(turn != i) continue; </a:t>
            </a:r>
          </a:p>
          <a:p>
            <a:pPr lvl="1" indent="-285750" eaLnBrk="1" hangingPunct="1">
              <a:lnSpc>
                <a:spcPct val="90000"/>
              </a:lnSpc>
              <a:buClr>
                <a:srgbClr val="CC6600"/>
              </a:buClr>
              <a:buSzPct val="80000"/>
              <a:buFontTx/>
              <a:buNone/>
            </a:pPr>
            <a:r>
              <a:rPr lang="en-US" altLang="zh-CN" sz="2000" dirty="0">
                <a:solidFill>
                  <a:srgbClr val="0000FF"/>
                </a:solidFill>
              </a:rPr>
              <a:t>}</a:t>
            </a:r>
          </a:p>
          <a:p>
            <a:pPr lvl="1" eaLnBrk="1" hangingPunct="1">
              <a:lnSpc>
                <a:spcPct val="90000"/>
              </a:lnSpc>
              <a:buNone/>
            </a:pPr>
            <a:r>
              <a:rPr lang="en-US" altLang="zh-CN" sz="2000" dirty="0">
                <a:solidFill>
                  <a:srgbClr val="0000FF"/>
                </a:solidFill>
              </a:rPr>
              <a:t>#Critical section</a:t>
            </a:r>
          </a:p>
          <a:p>
            <a:pPr marL="0" indent="0">
              <a:lnSpc>
                <a:spcPct val="90000"/>
              </a:lnSpc>
              <a:spcBef>
                <a:spcPct val="20000"/>
              </a:spcBef>
              <a:buNone/>
            </a:pPr>
            <a:r>
              <a:rPr lang="en-US" altLang="zh-CN" sz="2000" dirty="0" err="1">
                <a:solidFill>
                  <a:srgbClr val="0000FF"/>
                </a:solidFill>
                <a:latin typeface="Verdana" panose="020B0604030504040204" pitchFamily="34" charset="0"/>
              </a:rPr>
              <a:t>CSExit</a:t>
            </a:r>
            <a:r>
              <a:rPr lang="en-US" altLang="zh-CN" sz="2000" dirty="0">
                <a:solidFill>
                  <a:srgbClr val="0000FF"/>
                </a:solidFill>
                <a:latin typeface="Verdana" panose="020B0604030504040204" pitchFamily="34" charset="0"/>
              </a:rPr>
              <a:t>(int </a:t>
            </a:r>
            <a:r>
              <a:rPr lang="en-US" altLang="zh-CN" sz="2000" dirty="0" err="1">
                <a:solidFill>
                  <a:srgbClr val="0000FF"/>
                </a:solidFill>
                <a:latin typeface="Verdana" panose="020B0604030504040204" pitchFamily="34" charset="0"/>
              </a:rPr>
              <a:t>i</a:t>
            </a:r>
            <a:r>
              <a:rPr lang="en-US" altLang="zh-CN" sz="2000" dirty="0">
                <a:solidFill>
                  <a:srgbClr val="0000FF"/>
                </a:solidFill>
                <a:latin typeface="Verdana" panose="020B0604030504040204" pitchFamily="34" charset="0"/>
              </a:rPr>
              <a:t>)</a:t>
            </a:r>
          </a:p>
          <a:p>
            <a:pPr marL="457200" lvl="1" indent="0">
              <a:lnSpc>
                <a:spcPct val="90000"/>
              </a:lnSpc>
              <a:spcBef>
                <a:spcPct val="20000"/>
              </a:spcBef>
              <a:buNone/>
            </a:pPr>
            <a:r>
              <a:rPr lang="en-US" altLang="zh-CN" sz="2000" dirty="0">
                <a:solidFill>
                  <a:srgbClr val="0000FF"/>
                </a:solidFill>
                <a:latin typeface="Verdana" panose="020B0604030504040204" pitchFamily="34" charset="0"/>
              </a:rPr>
              <a:t>{</a:t>
            </a:r>
          </a:p>
          <a:p>
            <a:pPr marL="914400" lvl="2" indent="0">
              <a:lnSpc>
                <a:spcPct val="90000"/>
              </a:lnSpc>
              <a:spcBef>
                <a:spcPct val="20000"/>
              </a:spcBef>
              <a:buNone/>
            </a:pPr>
            <a:r>
              <a:rPr lang="en-US" altLang="zh-CN" dirty="0">
                <a:solidFill>
                  <a:srgbClr val="0000FF"/>
                </a:solidFill>
                <a:latin typeface="Verdana" panose="020B0604030504040204" pitchFamily="34" charset="0"/>
              </a:rPr>
              <a:t>turn = j;</a:t>
            </a:r>
          </a:p>
          <a:p>
            <a:pPr marL="457200" lvl="1" indent="0">
              <a:lnSpc>
                <a:spcPct val="90000"/>
              </a:lnSpc>
              <a:spcBef>
                <a:spcPct val="20000"/>
              </a:spcBef>
              <a:buNone/>
            </a:pPr>
            <a:r>
              <a:rPr lang="en-US" altLang="zh-CN" sz="2000" dirty="0">
                <a:solidFill>
                  <a:srgbClr val="0000FF"/>
                </a:solidFill>
                <a:latin typeface="Verdana" panose="020B0604030504040204" pitchFamily="34" charset="0"/>
              </a:rPr>
              <a:t>}</a:t>
            </a:r>
            <a:endParaRPr lang="en-US" altLang="zh-CN" sz="2000" dirty="0">
              <a:solidFill>
                <a:srgbClr val="0000FF"/>
              </a:solidFill>
            </a:endParaRPr>
          </a:p>
        </p:txBody>
      </p:sp>
      <p:sp>
        <p:nvSpPr>
          <p:cNvPr id="41987" name="Rectangle 4"/>
          <p:cNvSpPr>
            <a:spLocks noGrp="1"/>
          </p:cNvSpPr>
          <p:nvPr>
            <p:ph type="body" sz="half" idx="4294967295"/>
          </p:nvPr>
        </p:nvSpPr>
        <p:spPr>
          <a:xfrm>
            <a:off x="509588" y="949325"/>
            <a:ext cx="8077200" cy="914400"/>
          </a:xfrm>
          <a:ln/>
        </p:spPr>
        <p:txBody>
          <a:bodyPr vert="horz" wrap="square" lIns="91440" tIns="45720" rIns="91440" bIns="45720" anchor="t" anchorCtr="0"/>
          <a:lstStyle>
            <a:lvl1pPr lvl="0">
              <a:buClr>
                <a:srgbClr val="993300"/>
              </a:buClr>
              <a:buSzPct val="90000"/>
              <a:buFont typeface="Monotype Sorts" charset="2"/>
              <a:defRPr sz="2800"/>
            </a:lvl1pPr>
            <a:lvl2pPr lvl="1">
              <a:buClr>
                <a:srgbClr val="CC6600"/>
              </a:buClr>
              <a:buSzPct val="80000"/>
              <a:buFont typeface="Monotype Sorts" charset="2"/>
              <a:defRPr sz="2400"/>
            </a:lvl2pPr>
            <a:lvl3pPr lvl="2">
              <a:buClr>
                <a:srgbClr val="009900"/>
              </a:buClr>
              <a:buSzPct val="75000"/>
              <a:buFont typeface="Webdings" panose="05030102010509060703" pitchFamily="18" charset="2"/>
              <a:defRPr sz="2000"/>
            </a:lvl3pPr>
            <a:lvl4pPr lvl="3">
              <a:buClr>
                <a:schemeClr val="hlink"/>
              </a:buClr>
              <a:buSzPct val="75000"/>
              <a:buFontTx/>
              <a:defRPr sz="1800"/>
            </a:lvl4pPr>
            <a:lvl5pPr lvl="4">
              <a:buClr>
                <a:srgbClr val="FF0066"/>
              </a:buClr>
              <a:buSzPct val="75000"/>
              <a:buFontTx/>
              <a:defRPr sz="1800"/>
            </a:lvl5pPr>
          </a:lstStyle>
          <a:p>
            <a:pPr lvl="0" eaLnBrk="1" hangingPunct="1">
              <a:lnSpc>
                <a:spcPct val="90000"/>
              </a:lnSpc>
              <a:buClr>
                <a:srgbClr val="993300"/>
              </a:buClr>
            </a:pPr>
            <a:r>
              <a:rPr lang="en-US" altLang="zh-CN" sz="2400" dirty="0"/>
              <a:t>Another broken solution, for two threads</a:t>
            </a:r>
          </a:p>
          <a:p>
            <a:pPr lvl="1" indent="-285750" eaLnBrk="1" hangingPunct="1">
              <a:lnSpc>
                <a:spcPct val="90000"/>
              </a:lnSpc>
              <a:buClr>
                <a:srgbClr val="CC6600"/>
              </a:buClr>
              <a:buSzPct val="80000"/>
              <a:buFont typeface="Monotype Sorts" charset="2"/>
              <a:buChar char="l"/>
            </a:pPr>
            <a:r>
              <a:rPr lang="en-US" altLang="zh-CN" sz="2400" dirty="0"/>
              <a:t>Have a turn variable, </a:t>
            </a:r>
            <a:r>
              <a:rPr lang="en-US" altLang="zh-CN" sz="2400" i="1" dirty="0">
                <a:solidFill>
                  <a:srgbClr val="FF0000"/>
                </a:solidFill>
              </a:rPr>
              <a:t>turn</a:t>
            </a:r>
            <a:r>
              <a:rPr lang="en-US" altLang="zh-CN" sz="2400" dirty="0"/>
              <a:t>, initially </a:t>
            </a:r>
            <a:r>
              <a:rPr lang="en-US" altLang="zh-CN" sz="2400" dirty="0">
                <a:solidFill>
                  <a:srgbClr val="FF0000"/>
                </a:solidFill>
              </a:rPr>
              <a:t>1</a:t>
            </a:r>
            <a:r>
              <a:rPr lang="en-US" altLang="zh-CN" sz="2400" dirty="0"/>
              <a:t>.</a:t>
            </a:r>
          </a:p>
        </p:txBody>
      </p:sp>
      <p:sp>
        <p:nvSpPr>
          <p:cNvPr id="41988" name="Rectangle 5"/>
          <p:cNvSpPr/>
          <p:nvPr/>
        </p:nvSpPr>
        <p:spPr>
          <a:xfrm>
            <a:off x="5105400" y="3333750"/>
            <a:ext cx="4038600" cy="2287905"/>
          </a:xfrm>
          <a:prstGeom prst="rect">
            <a:avLst/>
          </a:prstGeom>
          <a:noFill/>
          <a:ln w="9525">
            <a:noFill/>
          </a:ln>
        </p:spPr>
        <p:txBody>
          <a:bodyPr anchor="t" anchorCtr="0"/>
          <a:lstStyle/>
          <a:p>
            <a:pPr eaLnBrk="0" hangingPunct="0">
              <a:lnSpc>
                <a:spcPct val="90000"/>
              </a:lnSpc>
              <a:spcBef>
                <a:spcPct val="20000"/>
              </a:spcBef>
            </a:pPr>
            <a:endParaRPr lang="en-US" altLang="zh-CN" sz="2400" dirty="0">
              <a:solidFill>
                <a:srgbClr val="0000FF"/>
              </a:solidFill>
              <a:latin typeface="Verdana" panose="020B0604030504040204" pitchFamily="34" charset="0"/>
            </a:endParaRPr>
          </a:p>
        </p:txBody>
      </p:sp>
      <p:sp>
        <p:nvSpPr>
          <p:cNvPr id="118793" name="AutoShape 9"/>
          <p:cNvSpPr/>
          <p:nvPr/>
        </p:nvSpPr>
        <p:spPr>
          <a:xfrm>
            <a:off x="746125" y="1792002"/>
            <a:ext cx="7651750" cy="995680"/>
          </a:xfrm>
          <a:prstGeom prst="wedgeRectCallout">
            <a:avLst>
              <a:gd name="adj1" fmla="val -27103"/>
              <a:gd name="adj2" fmla="val 75701"/>
            </a:avLst>
          </a:prstGeom>
          <a:solidFill>
            <a:schemeClr val="accent1"/>
          </a:solidFill>
          <a:ln w="9525" cap="flat" cmpd="sng">
            <a:solidFill>
              <a:schemeClr val="tx1"/>
            </a:solidFill>
            <a:prstDash val="solid"/>
            <a:miter/>
            <a:headEnd type="none" w="med" len="med"/>
            <a:tailEnd type="none" w="med" len="med"/>
          </a:ln>
        </p:spPr>
        <p:txBody>
          <a:bodyPr anchor="t" anchorCtr="0"/>
          <a:lstStyle/>
          <a:p>
            <a:pPr eaLnBrk="0" hangingPunct="0"/>
            <a:r>
              <a:rPr lang="en-US" altLang="zh-CN" sz="1600" b="1" dirty="0">
                <a:latin typeface="Verdana" panose="020B0604030504040204" pitchFamily="34" charset="0"/>
              </a:rPr>
              <a:t>Code </a:t>
            </a:r>
            <a:r>
              <a:rPr lang="en-US" altLang="zh-CN" sz="1600" b="1" u="sng" dirty="0">
                <a:latin typeface="Verdana" panose="020B0604030504040204" pitchFamily="34" charset="0"/>
              </a:rPr>
              <a:t>isn’t live</a:t>
            </a:r>
            <a:r>
              <a:rPr lang="en-US" altLang="zh-CN" sz="1600" b="1" dirty="0">
                <a:latin typeface="Verdana" panose="020B0604030504040204" pitchFamily="34" charset="0"/>
              </a:rPr>
              <a:t>: thread 1 can’t enter unless thread 0 did first, and vice-versa.  But perhaps one thread needs to enter many times and the other fewer times, or not at all</a:t>
            </a:r>
          </a:p>
        </p:txBody>
      </p:sp>
      <p:sp>
        <p:nvSpPr>
          <p:cNvPr id="9" name="Rectangle 3">
            <a:extLst>
              <a:ext uri="{FF2B5EF4-FFF2-40B4-BE49-F238E27FC236}">
                <a16:creationId xmlns:a16="http://schemas.microsoft.com/office/drawing/2014/main" id="{D1F0D060-0B4A-4418-90B5-6FEA642C02A0}"/>
              </a:ext>
            </a:extLst>
          </p:cNvPr>
          <p:cNvSpPr txBox="1">
            <a:spLocks/>
          </p:cNvSpPr>
          <p:nvPr/>
        </p:nvSpPr>
        <p:spPr>
          <a:xfrm>
            <a:off x="4610100" y="3047999"/>
            <a:ext cx="3854449" cy="3532187"/>
          </a:xfrm>
          <a:prstGeom prst="rect">
            <a:avLst/>
          </a:prstGeom>
          <a:noFill/>
          <a:ln w="9525">
            <a:noFill/>
          </a:ln>
        </p:spPr>
        <p:txBody>
          <a:bodyPr vert="horz" wrap="square" lIns="91440" tIns="45720" rIns="91440" bIns="45720" anchor="t" anchorCtr="0"/>
          <a:lstStyle>
            <a:lvl1pPr marL="342900" lvl="0" indent="-342900" algn="l" rtl="0" eaLnBrk="0" fontAlgn="base" hangingPunct="0">
              <a:spcBef>
                <a:spcPct val="35000"/>
              </a:spcBef>
              <a:spcAft>
                <a:spcPct val="0"/>
              </a:spcAft>
              <a:buClr>
                <a:srgbClr val="993300"/>
              </a:buClr>
              <a:buSzPct val="90000"/>
              <a:buFont typeface="Monotype Sorts" charset="2"/>
              <a:buChar char="n"/>
              <a:defRPr kumimoji="1" sz="2800">
                <a:solidFill>
                  <a:schemeClr val="tx1"/>
                </a:solidFill>
                <a:latin typeface="+mn-lt"/>
                <a:ea typeface="MS PGothic" panose="020B0600070205080204" pitchFamily="34" charset="-128"/>
                <a:cs typeface="+mn-cs"/>
              </a:defRPr>
            </a:lvl1pPr>
            <a:lvl2pPr marL="742950" lvl="1" indent="-285750" algn="l" rtl="0" eaLnBrk="0" fontAlgn="base" hangingPunct="0">
              <a:spcBef>
                <a:spcPct val="35000"/>
              </a:spcBef>
              <a:spcAft>
                <a:spcPct val="0"/>
              </a:spcAft>
              <a:buClr>
                <a:srgbClr val="CC6600"/>
              </a:buClr>
              <a:buSzPct val="80000"/>
              <a:buFont typeface="Monotype Sorts" charset="2"/>
              <a:buChar char="l"/>
              <a:defRPr kumimoji="1" sz="2400">
                <a:solidFill>
                  <a:schemeClr val="tx1"/>
                </a:solidFill>
                <a:latin typeface="+mn-lt"/>
                <a:ea typeface="MS PGothic" panose="020B0600070205080204" pitchFamily="34" charset="-128"/>
              </a:defRPr>
            </a:lvl2pPr>
            <a:lvl3pPr marL="1085850" lvl="2"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000">
                <a:solidFill>
                  <a:schemeClr val="tx1"/>
                </a:solidFill>
                <a:latin typeface="+mn-lt"/>
                <a:ea typeface="MS PGothic" panose="020B0600070205080204" pitchFamily="34" charset="-128"/>
              </a:defRPr>
            </a:lvl3pPr>
            <a:lvl4pPr marL="1428750" lvl="3" indent="-228600" algn="l" rtl="0" eaLnBrk="0" fontAlgn="base" hangingPunct="0">
              <a:spcBef>
                <a:spcPct val="35000"/>
              </a:spcBef>
              <a:spcAft>
                <a:spcPct val="0"/>
              </a:spcAft>
              <a:buClr>
                <a:schemeClr val="hlink"/>
              </a:buClr>
              <a:buSzPct val="75000"/>
              <a:buFontTx/>
              <a:buChar char="–"/>
              <a:defRPr kumimoji="1" sz="1800">
                <a:solidFill>
                  <a:schemeClr val="tx1"/>
                </a:solidFill>
                <a:latin typeface="+mn-lt"/>
                <a:ea typeface="MS PGothic" panose="020B0600070205080204" pitchFamily="34" charset="-128"/>
              </a:defRPr>
            </a:lvl4pPr>
            <a:lvl5pPr marL="1771650" lvl="4" indent="-228600" algn="l" rtl="0" eaLnBrk="0" fontAlgn="base" hangingPunct="0">
              <a:spcBef>
                <a:spcPct val="35000"/>
              </a:spcBef>
              <a:spcAft>
                <a:spcPct val="0"/>
              </a:spcAft>
              <a:buClr>
                <a:srgbClr val="FF0066"/>
              </a:buClr>
              <a:buSzPct val="75000"/>
              <a:buFontTx/>
              <a:buChar char="»"/>
              <a:defRPr kumimoji="1" sz="18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9pPr>
          </a:lstStyle>
          <a:p>
            <a:pPr marL="0" indent="0" eaLnBrk="1" hangingPunct="1">
              <a:lnSpc>
                <a:spcPct val="90000"/>
              </a:lnSpc>
              <a:buFont typeface="Monotype Sorts" charset="2"/>
              <a:buNone/>
            </a:pPr>
            <a:r>
              <a:rPr lang="en-US" altLang="zh-CN" sz="2000" kern="0" dirty="0">
                <a:solidFill>
                  <a:srgbClr val="FF0000"/>
                </a:solidFill>
              </a:rPr>
              <a:t>Other processing…</a:t>
            </a:r>
          </a:p>
        </p:txBody>
      </p:sp>
      <p:sp>
        <p:nvSpPr>
          <p:cNvPr id="10" name="Text Box 6">
            <a:extLst>
              <a:ext uri="{FF2B5EF4-FFF2-40B4-BE49-F238E27FC236}">
                <a16:creationId xmlns:a16="http://schemas.microsoft.com/office/drawing/2014/main" id="{76697F8C-BE00-4CC3-975B-36D4D730C8DC}"/>
              </a:ext>
            </a:extLst>
          </p:cNvPr>
          <p:cNvSpPr txBox="1"/>
          <p:nvPr/>
        </p:nvSpPr>
        <p:spPr>
          <a:xfrm>
            <a:off x="271276" y="2706402"/>
            <a:ext cx="662361" cy="523220"/>
          </a:xfrm>
          <a:prstGeom prst="rect">
            <a:avLst/>
          </a:prstGeom>
          <a:noFill/>
          <a:ln w="57150">
            <a:noFill/>
          </a:ln>
        </p:spPr>
        <p:txBody>
          <a:bodyPr wrap="none" anchor="ctr" anchorCtr="0">
            <a:spAutoFit/>
          </a:bodyPr>
          <a:lstStyle/>
          <a:p>
            <a:pPr algn="ctr" eaLnBrk="0" hangingPunct="0"/>
            <a:r>
              <a:rPr lang="en-US" altLang="zh-CN" sz="2800" dirty="0">
                <a:solidFill>
                  <a:srgbClr val="0000FF"/>
                </a:solidFill>
                <a:latin typeface="Comic Sans MS" panose="030F0702030302020204" pitchFamily="66" charset="0"/>
              </a:rPr>
              <a:t>T</a:t>
            </a:r>
            <a:r>
              <a:rPr lang="en-US" altLang="zh-CN" dirty="0">
                <a:solidFill>
                  <a:srgbClr val="0000FF"/>
                </a:solidFill>
                <a:latin typeface="Comic Sans MS" panose="030F0702030302020204" pitchFamily="66" charset="0"/>
              </a:rPr>
              <a:t>0:</a:t>
            </a:r>
            <a:endParaRPr lang="en-US" altLang="zh-CN" sz="2800" dirty="0">
              <a:solidFill>
                <a:srgbClr val="0000FF"/>
              </a:solidFill>
              <a:latin typeface="Comic Sans MS" panose="030F0702030302020204" pitchFamily="66" charset="0"/>
            </a:endParaRPr>
          </a:p>
        </p:txBody>
      </p:sp>
      <p:sp>
        <p:nvSpPr>
          <p:cNvPr id="11" name="Text Box 6">
            <a:extLst>
              <a:ext uri="{FF2B5EF4-FFF2-40B4-BE49-F238E27FC236}">
                <a16:creationId xmlns:a16="http://schemas.microsoft.com/office/drawing/2014/main" id="{9A0E294F-44EB-401A-B930-4EACD80B3096}"/>
              </a:ext>
            </a:extLst>
          </p:cNvPr>
          <p:cNvSpPr txBox="1"/>
          <p:nvPr/>
        </p:nvSpPr>
        <p:spPr>
          <a:xfrm>
            <a:off x="4237846" y="2706402"/>
            <a:ext cx="620683" cy="523220"/>
          </a:xfrm>
          <a:prstGeom prst="rect">
            <a:avLst/>
          </a:prstGeom>
          <a:noFill/>
          <a:ln w="57150">
            <a:noFill/>
          </a:ln>
        </p:spPr>
        <p:txBody>
          <a:bodyPr wrap="none" anchor="ctr" anchorCtr="0">
            <a:spAutoFit/>
          </a:bodyPr>
          <a:lstStyle/>
          <a:p>
            <a:pPr algn="ctr" eaLnBrk="0" hangingPunct="0"/>
            <a:r>
              <a:rPr lang="en-US" altLang="zh-CN" sz="2800" dirty="0">
                <a:solidFill>
                  <a:srgbClr val="FF0000"/>
                </a:solidFill>
                <a:latin typeface="Comic Sans MS" panose="030F0702030302020204" pitchFamily="66" charset="0"/>
              </a:rPr>
              <a:t>T</a:t>
            </a:r>
            <a:r>
              <a:rPr lang="en-US" altLang="zh-CN" dirty="0">
                <a:solidFill>
                  <a:srgbClr val="FF0000"/>
                </a:solidFill>
                <a:latin typeface="Comic Sans MS" panose="030F0702030302020204" pitchFamily="66" charset="0"/>
              </a:rPr>
              <a:t>1:</a:t>
            </a:r>
            <a:endParaRPr lang="en-US" altLang="zh-CN" sz="2800" dirty="0">
              <a:solidFill>
                <a:srgbClr val="FF0000"/>
              </a:solidFill>
              <a:latin typeface="Comic Sans MS" panose="030F0702030302020204" pitchFamily="66" charset="0"/>
            </a:endParaRPr>
          </a:p>
        </p:txBody>
      </p:sp>
      <p:sp>
        <p:nvSpPr>
          <p:cNvPr id="12" name="等腰三角形 11">
            <a:extLst>
              <a:ext uri="{FF2B5EF4-FFF2-40B4-BE49-F238E27FC236}">
                <a16:creationId xmlns:a16="http://schemas.microsoft.com/office/drawing/2014/main" id="{7FBC978C-747F-42E4-8BBF-0E8D242445B5}"/>
              </a:ext>
            </a:extLst>
          </p:cNvPr>
          <p:cNvSpPr/>
          <p:nvPr/>
        </p:nvSpPr>
        <p:spPr bwMode="auto">
          <a:xfrm rot="5400000">
            <a:off x="1375479" y="3896130"/>
            <a:ext cx="274320" cy="219551"/>
          </a:xfrm>
          <a:prstGeom prst="triangle">
            <a:avLst/>
          </a:prstGeom>
          <a:solidFill>
            <a:srgbClr val="0066FF"/>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3" name="等腰三角形 12">
            <a:extLst>
              <a:ext uri="{FF2B5EF4-FFF2-40B4-BE49-F238E27FC236}">
                <a16:creationId xmlns:a16="http://schemas.microsoft.com/office/drawing/2014/main" id="{FB3396A1-CABB-4F71-BFB6-AA153A0B121D}"/>
              </a:ext>
            </a:extLst>
          </p:cNvPr>
          <p:cNvSpPr/>
          <p:nvPr/>
        </p:nvSpPr>
        <p:spPr bwMode="auto">
          <a:xfrm rot="5400000">
            <a:off x="4434839" y="3119847"/>
            <a:ext cx="274320" cy="219551"/>
          </a:xfrm>
          <a:prstGeom prst="triangle">
            <a:avLst/>
          </a:prstGeom>
          <a:solidFill>
            <a:srgbClr val="FF33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7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93" grpId="0" bldLvl="0" animBg="1"/>
      <p:bldP spid="12" grpId="0" animBg="1"/>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文本框 1"/>
          <p:cNvSpPr txBox="1"/>
          <p:nvPr/>
        </p:nvSpPr>
        <p:spPr>
          <a:xfrm>
            <a:off x="638175" y="1981200"/>
            <a:ext cx="7435049" cy="523220"/>
          </a:xfrm>
          <a:prstGeom prst="rect">
            <a:avLst/>
          </a:prstGeom>
          <a:noFill/>
          <a:ln w="9525">
            <a:noFill/>
          </a:ln>
        </p:spPr>
        <p:txBody>
          <a:bodyPr wrap="none" anchor="t" anchorCtr="0">
            <a:spAutoFit/>
          </a:bodyPr>
          <a:lstStyle/>
          <a:p>
            <a:pPr eaLnBrk="0" hangingPunct="0"/>
            <a:r>
              <a:rPr lang="en-US" altLang="zh-CN" sz="2400" dirty="0">
                <a:latin typeface="Verdana" panose="020B0604030504040204" pitchFamily="34" charset="0"/>
              </a:rPr>
              <a:t>1. </a:t>
            </a:r>
            <a:r>
              <a:rPr lang="zh-CN" altLang="en-US" sz="2400" dirty="0">
                <a:latin typeface="Verdana" panose="020B0604030504040204" pitchFamily="34" charset="0"/>
                <a:ea typeface="宋体" panose="02010600030101010101" pitchFamily="2" charset="-122"/>
              </a:rPr>
              <a:t>线程是否请求访问该临界资源</a:t>
            </a:r>
            <a:r>
              <a:rPr lang="zh-CN" altLang="en-US" sz="2800" b="1" dirty="0">
                <a:latin typeface="Verdana" panose="020B0604030504040204" pitchFamily="34" charset="0"/>
                <a:ea typeface="宋体" panose="02010600030101010101" pitchFamily="2" charset="-122"/>
              </a:rPr>
              <a:t>（想不想访问）</a:t>
            </a:r>
            <a:r>
              <a:rPr lang="zh-CN" altLang="en-US" sz="2400" dirty="0">
                <a:latin typeface="Verdana" panose="020B0604030504040204" pitchFamily="34" charset="0"/>
                <a:ea typeface="宋体" panose="02010600030101010101" pitchFamily="2" charset="-122"/>
              </a:rPr>
              <a:t>？</a:t>
            </a:r>
          </a:p>
        </p:txBody>
      </p:sp>
      <p:sp>
        <p:nvSpPr>
          <p:cNvPr id="41985" name="Rectangle 2"/>
          <p:cNvSpPr>
            <a:spLocks noGrp="1"/>
          </p:cNvSpPr>
          <p:nvPr/>
        </p:nvSpPr>
        <p:spPr>
          <a:xfrm>
            <a:off x="457200" y="277813"/>
            <a:ext cx="8229600" cy="576262"/>
          </a:xfrm>
          <a:prstGeom prst="rect">
            <a:avLst/>
          </a:prstGeom>
          <a:noFill/>
          <a:ln w="9525">
            <a:noFill/>
          </a:ln>
        </p:spPr>
        <p:txBody>
          <a:bodyPr vert="horz" wrap="square" lIns="91440" tIns="45720" rIns="91440" bIns="45720" anchor="b" anchorCtr="0"/>
          <a:lstStyle>
            <a:lvl1pPr algn="ctr" rtl="0" eaLnBrk="0" fontAlgn="base" hangingPunct="0">
              <a:spcBef>
                <a:spcPct val="0"/>
              </a:spcBef>
              <a:spcAft>
                <a:spcPct val="0"/>
              </a:spcAft>
              <a:defRPr sz="3200" b="1">
                <a:solidFill>
                  <a:srgbClr val="006699"/>
                </a:solidFill>
                <a:latin typeface="+mj-lt"/>
                <a:ea typeface="MS PGothic" panose="020B0600070205080204" pitchFamily="34" charset="-128"/>
                <a:cs typeface="+mj-cs"/>
              </a:defRPr>
            </a:lvl1pPr>
            <a:lvl2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defRPr>
            </a:lvl5pPr>
            <a:lvl6pPr marL="457200" algn="ctr" rtl="0" fontAlgn="base">
              <a:spcBef>
                <a:spcPct val="0"/>
              </a:spcBef>
              <a:spcAft>
                <a:spcPct val="0"/>
              </a:spcAft>
              <a:defRPr sz="3200" b="1">
                <a:solidFill>
                  <a:srgbClr val="006699"/>
                </a:solidFill>
                <a:latin typeface="Arial" panose="020B0604020202020204" pitchFamily="34" charset="0"/>
              </a:defRPr>
            </a:lvl6pPr>
            <a:lvl7pPr marL="914400" algn="ctr" rtl="0" fontAlgn="base">
              <a:spcBef>
                <a:spcPct val="0"/>
              </a:spcBef>
              <a:spcAft>
                <a:spcPct val="0"/>
              </a:spcAft>
              <a:defRPr sz="3200" b="1">
                <a:solidFill>
                  <a:srgbClr val="006699"/>
                </a:solidFill>
                <a:latin typeface="Arial" panose="020B0604020202020204" pitchFamily="34" charset="0"/>
              </a:defRPr>
            </a:lvl7pPr>
            <a:lvl8pPr marL="1371600" algn="ctr" rtl="0" fontAlgn="base">
              <a:spcBef>
                <a:spcPct val="0"/>
              </a:spcBef>
              <a:spcAft>
                <a:spcPct val="0"/>
              </a:spcAft>
              <a:defRPr sz="3200" b="1">
                <a:solidFill>
                  <a:srgbClr val="006699"/>
                </a:solidFill>
                <a:latin typeface="Arial" panose="020B0604020202020204" pitchFamily="34" charset="0"/>
              </a:defRPr>
            </a:lvl8pPr>
            <a:lvl9pPr marL="1828800" algn="ctr" rtl="0" fontAlgn="base">
              <a:spcBef>
                <a:spcPct val="0"/>
              </a:spcBef>
              <a:spcAft>
                <a:spcPct val="0"/>
              </a:spcAft>
              <a:defRPr sz="3200" b="1">
                <a:solidFill>
                  <a:srgbClr val="006699"/>
                </a:solidFill>
                <a:latin typeface="Arial" panose="020B0604020202020204" pitchFamily="34" charset="0"/>
              </a:defRPr>
            </a:lvl9pPr>
          </a:lstStyle>
          <a:p>
            <a:pPr eaLnBrk="1" hangingPunct="1"/>
            <a:r>
              <a:rPr lang="en-US" altLang="zh-CN" dirty="0"/>
              <a:t>Solving the problem</a:t>
            </a:r>
          </a:p>
        </p:txBody>
      </p:sp>
      <p:sp>
        <p:nvSpPr>
          <p:cNvPr id="3" name="文本框 2"/>
          <p:cNvSpPr txBox="1"/>
          <p:nvPr/>
        </p:nvSpPr>
        <p:spPr>
          <a:xfrm>
            <a:off x="638175" y="3031490"/>
            <a:ext cx="8431530" cy="521970"/>
          </a:xfrm>
          <a:prstGeom prst="rect">
            <a:avLst/>
          </a:prstGeom>
          <a:noFill/>
        </p:spPr>
        <p:txBody>
          <a:bodyPr wrap="square" rtlCol="0" anchor="t">
            <a:spAutoFit/>
          </a:bodyPr>
          <a:lstStyle/>
          <a:p>
            <a:pPr eaLnBrk="0" hangingPunct="0"/>
            <a:r>
              <a:rPr lang="en-US" altLang="zh-CN" sz="2400" dirty="0">
                <a:ea typeface="宋体" panose="02010600030101010101" pitchFamily="2" charset="-122"/>
                <a:sym typeface="+mn-ea"/>
              </a:rPr>
              <a:t>2. </a:t>
            </a:r>
            <a:r>
              <a:rPr lang="zh-CN" altLang="en-US" sz="2400" dirty="0">
                <a:ea typeface="宋体" panose="02010600030101010101" pitchFamily="2" charset="-122"/>
                <a:sym typeface="+mn-ea"/>
              </a:rPr>
              <a:t>临界资源是否没有任何线程正在访问</a:t>
            </a:r>
            <a:r>
              <a:rPr lang="zh-CN" altLang="en-US" sz="2800" b="1" dirty="0">
                <a:ea typeface="宋体" panose="02010600030101010101" pitchFamily="2" charset="-122"/>
                <a:sym typeface="+mn-ea"/>
              </a:rPr>
              <a:t>（能不能访问）</a:t>
            </a:r>
            <a:r>
              <a:rPr lang="zh-CN" altLang="en-US" sz="2400" dirty="0">
                <a:ea typeface="宋体" panose="02010600030101010101" pitchFamily="2" charset="-122"/>
                <a:sym typeface="+mn-ea"/>
              </a:rPr>
              <a:t>？</a:t>
            </a:r>
            <a:endParaRPr lang="zh-CN" altLang="en-US" sz="2400" dirty="0">
              <a:latin typeface="Verdana" panose="020B0604030504040204" pitchFamily="34" charset="0"/>
              <a:ea typeface="宋体" panose="02010600030101010101" pitchFamily="2" charset="-122"/>
            </a:endParaRPr>
          </a:p>
        </p:txBody>
      </p:sp>
      <p:sp>
        <p:nvSpPr>
          <p:cNvPr id="4" name="文本框 3"/>
          <p:cNvSpPr txBox="1"/>
          <p:nvPr/>
        </p:nvSpPr>
        <p:spPr>
          <a:xfrm>
            <a:off x="638175" y="4081145"/>
            <a:ext cx="8016875" cy="891540"/>
          </a:xfrm>
          <a:prstGeom prst="rect">
            <a:avLst/>
          </a:prstGeom>
          <a:noFill/>
        </p:spPr>
        <p:txBody>
          <a:bodyPr wrap="square" rtlCol="0" anchor="t">
            <a:spAutoFit/>
          </a:bodyPr>
          <a:lstStyle/>
          <a:p>
            <a:pPr eaLnBrk="0" hangingPunct="0"/>
            <a:r>
              <a:rPr lang="en-US" altLang="zh-CN" sz="2400" dirty="0">
                <a:ea typeface="宋体" panose="02010600030101010101" pitchFamily="2" charset="-122"/>
                <a:sym typeface="+mn-ea"/>
              </a:rPr>
              <a:t>3. </a:t>
            </a:r>
            <a:r>
              <a:rPr lang="zh-CN" altLang="en-US" sz="2400" dirty="0">
                <a:ea typeface="宋体" panose="02010600030101010101" pitchFamily="2" charset="-122"/>
                <a:sym typeface="+mn-ea"/>
              </a:rPr>
              <a:t>如果临界资源能够访问，如何让所有线程不发生歧义地</a:t>
            </a:r>
            <a:endParaRPr lang="zh-CN" altLang="en-US" sz="2400" dirty="0">
              <a:latin typeface="Verdana" panose="020B0604030504040204" pitchFamily="34" charset="0"/>
              <a:ea typeface="宋体" panose="02010600030101010101" pitchFamily="2" charset="-122"/>
            </a:endParaRPr>
          </a:p>
          <a:p>
            <a:pPr eaLnBrk="0" hangingPunct="0"/>
            <a:r>
              <a:rPr lang="zh-CN" altLang="en-US" sz="2400" dirty="0">
                <a:ea typeface="宋体" panose="02010600030101010101" pitchFamily="2" charset="-122"/>
                <a:sym typeface="+mn-ea"/>
              </a:rPr>
              <a:t>得知自己接下来能否访问？</a:t>
            </a:r>
            <a:r>
              <a:rPr lang="zh-CN" altLang="en-US" sz="2800" b="1" dirty="0">
                <a:ea typeface="宋体" panose="02010600030101010101" pitchFamily="2" charset="-122"/>
                <a:sym typeface="+mn-ea"/>
              </a:rPr>
              <a:t>（唯一性标识）</a:t>
            </a:r>
          </a:p>
        </p:txBody>
      </p:sp>
      <p:sp>
        <p:nvSpPr>
          <p:cNvPr id="5" name="Rectangle 4"/>
          <p:cNvSpPr>
            <a:spLocks noGrp="1"/>
          </p:cNvSpPr>
          <p:nvPr/>
        </p:nvSpPr>
        <p:spPr>
          <a:xfrm>
            <a:off x="456883" y="1244600"/>
            <a:ext cx="8077200" cy="914400"/>
          </a:xfrm>
          <a:prstGeom prst="rect">
            <a:avLst/>
          </a:prstGeom>
          <a:noFill/>
          <a:ln w="9525">
            <a:noFill/>
          </a:ln>
        </p:spPr>
        <p:txBody>
          <a:bodyPr vert="horz" wrap="square" lIns="91440" tIns="45720" rIns="91440" bIns="45720" anchor="t" anchorCtr="0"/>
          <a:lstStyle>
            <a:lvl1pPr lvl="0">
              <a:buClr>
                <a:srgbClr val="993300"/>
              </a:buClr>
              <a:buSzPct val="90000"/>
              <a:buFont typeface="Monotype Sorts" charset="2"/>
              <a:defRPr sz="2800"/>
            </a:lvl1pPr>
            <a:lvl2pPr lvl="1">
              <a:buClr>
                <a:srgbClr val="CC6600"/>
              </a:buClr>
              <a:buSzPct val="80000"/>
              <a:buFont typeface="Monotype Sorts" charset="2"/>
              <a:defRPr sz="2400"/>
            </a:lvl2pPr>
            <a:lvl3pPr lvl="2">
              <a:buClr>
                <a:srgbClr val="009900"/>
              </a:buClr>
              <a:buSzPct val="75000"/>
              <a:buFont typeface="Webdings" panose="05030102010509060703" pitchFamily="18" charset="2"/>
              <a:defRPr sz="2000"/>
            </a:lvl3pPr>
            <a:lvl4pPr lvl="3">
              <a:buClr>
                <a:schemeClr val="hlink"/>
              </a:buClr>
              <a:buSzPct val="75000"/>
              <a:buFontTx/>
              <a:defRPr sz="1800"/>
            </a:lvl4pPr>
            <a:lvl5pPr lvl="4">
              <a:buClr>
                <a:srgbClr val="FF0066"/>
              </a:buClr>
              <a:buSzPct val="75000"/>
              <a:buFontTx/>
              <a:defRPr sz="1800"/>
            </a:lvl5pPr>
          </a:lstStyle>
          <a:p>
            <a:pPr lvl="0" eaLnBrk="1" hangingPunct="1">
              <a:lnSpc>
                <a:spcPct val="90000"/>
              </a:lnSpc>
              <a:buClr>
                <a:srgbClr val="993300"/>
              </a:buClr>
            </a:pPr>
            <a:r>
              <a:rPr kumimoji="1" lang="zh-CN" altLang="en-US" kern="0" dirty="0">
                <a:latin typeface="+mn-lt"/>
              </a:rPr>
              <a:t>小结 </a:t>
            </a:r>
            <a:r>
              <a:rPr kumimoji="1" lang="en-US" altLang="zh-CN" kern="0" dirty="0">
                <a:latin typeface="+mn-lt"/>
              </a:rPr>
              <a:t>Three points</a:t>
            </a:r>
            <a:r>
              <a:rPr lang="zh-CN" altLang="en-US" dirty="0">
                <a:ea typeface="宋体" panose="02010600030101010101" pitchFamily="2" charset="-122"/>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p:cNvSpPr>
          <p:nvPr>
            <p:ph type="title" idx="4294967295"/>
          </p:nvPr>
        </p:nvSpPr>
        <p:spPr>
          <a:ln/>
        </p:spPr>
        <p:txBody>
          <a:bodyPr vert="horz" wrap="square" lIns="91440" tIns="45720" rIns="91440" bIns="45720" anchor="b" anchorCtr="0"/>
          <a:lstStyle/>
          <a:p>
            <a:pPr eaLnBrk="1" hangingPunct="1"/>
            <a:r>
              <a:rPr lang="en-US" altLang="zh-CN" dirty="0"/>
              <a:t>Solving the problem : Take 1</a:t>
            </a:r>
          </a:p>
        </p:txBody>
      </p:sp>
      <p:sp>
        <p:nvSpPr>
          <p:cNvPr id="37890" name="Rectangle 3"/>
          <p:cNvSpPr>
            <a:spLocks noGrp="1"/>
          </p:cNvSpPr>
          <p:nvPr>
            <p:ph type="body" sz="half" idx="4294967295"/>
          </p:nvPr>
        </p:nvSpPr>
        <p:spPr>
          <a:xfrm>
            <a:off x="845820" y="3008630"/>
            <a:ext cx="3726180" cy="3459162"/>
          </a:xfrm>
          <a:ln/>
        </p:spPr>
        <p:txBody>
          <a:bodyPr vert="horz" wrap="square" lIns="91440" tIns="45720" rIns="91440" bIns="45720" anchor="t" anchorCtr="0"/>
          <a:lstStyle>
            <a:lvl1pPr lvl="0">
              <a:buClr>
                <a:srgbClr val="993300"/>
              </a:buClr>
              <a:buSzPct val="90000"/>
              <a:buFont typeface="Monotype Sorts" charset="2"/>
              <a:defRPr sz="2800"/>
            </a:lvl1pPr>
            <a:lvl2pPr lvl="1">
              <a:buClr>
                <a:srgbClr val="CC6600"/>
              </a:buClr>
              <a:buSzPct val="80000"/>
              <a:buFont typeface="Monotype Sorts" charset="2"/>
              <a:defRPr sz="2400"/>
            </a:lvl2pPr>
            <a:lvl3pPr lvl="2">
              <a:buClr>
                <a:srgbClr val="009900"/>
              </a:buClr>
              <a:buSzPct val="75000"/>
              <a:buFont typeface="Webdings" panose="05030102010509060703" pitchFamily="18" charset="2"/>
              <a:defRPr sz="2000"/>
            </a:lvl3pPr>
            <a:lvl4pPr lvl="3">
              <a:buClr>
                <a:schemeClr val="hlink"/>
              </a:buClr>
              <a:buSzPct val="75000"/>
              <a:buFontTx/>
              <a:defRPr sz="1800"/>
            </a:lvl4pPr>
            <a:lvl5pPr lvl="4">
              <a:buClr>
                <a:srgbClr val="FF0066"/>
              </a:buClr>
              <a:buSzPct val="75000"/>
              <a:buFontTx/>
              <a:defRPr sz="1800"/>
            </a:lvl5pPr>
          </a:lstStyle>
          <a:p>
            <a:pPr marL="0" lvl="0" indent="0" eaLnBrk="1" hangingPunct="1">
              <a:lnSpc>
                <a:spcPct val="90000"/>
              </a:lnSpc>
              <a:buClr>
                <a:srgbClr val="993300"/>
              </a:buClr>
              <a:buNone/>
            </a:pPr>
            <a:r>
              <a:rPr lang="en-US" altLang="zh-CN" sz="2000" dirty="0">
                <a:solidFill>
                  <a:srgbClr val="0000FF"/>
                </a:solidFill>
              </a:rPr>
              <a:t>CSEnter()</a:t>
            </a:r>
          </a:p>
          <a:p>
            <a:pPr lvl="1" indent="-285750" eaLnBrk="1" hangingPunct="1">
              <a:lnSpc>
                <a:spcPct val="90000"/>
              </a:lnSpc>
              <a:buClr>
                <a:srgbClr val="CC6600"/>
              </a:buClr>
              <a:buSzPct val="80000"/>
              <a:buFontTx/>
              <a:buNone/>
            </a:pPr>
            <a:r>
              <a:rPr lang="en-US" altLang="zh-CN" sz="2000" dirty="0">
                <a:solidFill>
                  <a:srgbClr val="0000FF"/>
                </a:solidFill>
              </a:rPr>
              <a:t>{</a:t>
            </a:r>
          </a:p>
          <a:p>
            <a:pPr lvl="2" indent="-228600" eaLnBrk="1" hangingPunct="1">
              <a:lnSpc>
                <a:spcPct val="90000"/>
              </a:lnSpc>
              <a:buClr>
                <a:srgbClr val="009900"/>
              </a:buClr>
              <a:buSzPct val="75000"/>
              <a:buFontTx/>
              <a:buNone/>
            </a:pPr>
            <a:r>
              <a:rPr lang="en-US" altLang="zh-CN" dirty="0">
                <a:solidFill>
                  <a:srgbClr val="0000FF"/>
                </a:solidFill>
              </a:rPr>
              <a:t>while(inside) continue;</a:t>
            </a:r>
          </a:p>
          <a:p>
            <a:pPr lvl="2" indent="-228600" eaLnBrk="1" hangingPunct="1">
              <a:lnSpc>
                <a:spcPct val="90000"/>
              </a:lnSpc>
              <a:buClr>
                <a:srgbClr val="009900"/>
              </a:buClr>
              <a:buSzPct val="75000"/>
              <a:buFontTx/>
              <a:buNone/>
            </a:pPr>
            <a:r>
              <a:rPr lang="en-US" altLang="zh-CN" dirty="0">
                <a:solidFill>
                  <a:srgbClr val="0000FF"/>
                </a:solidFill>
              </a:rPr>
              <a:t>inside = true;</a:t>
            </a:r>
          </a:p>
          <a:p>
            <a:pPr lvl="1" indent="-285750" eaLnBrk="1" hangingPunct="1">
              <a:lnSpc>
                <a:spcPct val="90000"/>
              </a:lnSpc>
              <a:buClr>
                <a:srgbClr val="CC6600"/>
              </a:buClr>
              <a:buSzPct val="80000"/>
              <a:buFontTx/>
              <a:buNone/>
            </a:pPr>
            <a:r>
              <a:rPr lang="en-US" altLang="zh-CN" sz="2000" dirty="0">
                <a:solidFill>
                  <a:srgbClr val="0000FF"/>
                </a:solidFill>
              </a:rPr>
              <a:t>}</a:t>
            </a:r>
          </a:p>
          <a:p>
            <a:pPr lvl="1" indent="-285750" eaLnBrk="1" hangingPunct="1">
              <a:lnSpc>
                <a:spcPct val="90000"/>
              </a:lnSpc>
              <a:buClr>
                <a:srgbClr val="CC6600"/>
              </a:buClr>
              <a:buSzPct val="80000"/>
              <a:buFontTx/>
              <a:buNone/>
            </a:pPr>
            <a:r>
              <a:rPr lang="en-US" altLang="zh-CN" sz="2000" dirty="0">
                <a:solidFill>
                  <a:srgbClr val="0000FF"/>
                </a:solidFill>
              </a:rPr>
              <a:t>#Critical section</a:t>
            </a:r>
          </a:p>
          <a:p>
            <a:pPr marL="0" indent="0">
              <a:lnSpc>
                <a:spcPct val="90000"/>
              </a:lnSpc>
              <a:spcBef>
                <a:spcPct val="20000"/>
              </a:spcBef>
              <a:buNone/>
            </a:pPr>
            <a:r>
              <a:rPr lang="en-US" altLang="zh-CN" sz="2000" dirty="0" err="1">
                <a:solidFill>
                  <a:srgbClr val="0000FF"/>
                </a:solidFill>
                <a:latin typeface="Verdana" panose="020B0604030504040204" pitchFamily="34" charset="0"/>
              </a:rPr>
              <a:t>CSExit</a:t>
            </a:r>
            <a:r>
              <a:rPr lang="en-US" altLang="zh-CN" sz="2000" dirty="0">
                <a:solidFill>
                  <a:srgbClr val="0000FF"/>
                </a:solidFill>
                <a:latin typeface="Verdana" panose="020B0604030504040204" pitchFamily="34" charset="0"/>
              </a:rPr>
              <a:t>()</a:t>
            </a:r>
          </a:p>
          <a:p>
            <a:pPr marL="457200" lvl="1" indent="0">
              <a:lnSpc>
                <a:spcPct val="90000"/>
              </a:lnSpc>
              <a:spcBef>
                <a:spcPct val="20000"/>
              </a:spcBef>
              <a:buNone/>
            </a:pPr>
            <a:r>
              <a:rPr lang="en-US" altLang="zh-CN" sz="2000" dirty="0">
                <a:solidFill>
                  <a:srgbClr val="0000FF"/>
                </a:solidFill>
                <a:latin typeface="Verdana" panose="020B0604030504040204" pitchFamily="34" charset="0"/>
              </a:rPr>
              <a:t>{</a:t>
            </a:r>
          </a:p>
          <a:p>
            <a:pPr marL="914400" lvl="2" indent="0">
              <a:lnSpc>
                <a:spcPct val="90000"/>
              </a:lnSpc>
              <a:spcBef>
                <a:spcPct val="20000"/>
              </a:spcBef>
              <a:buNone/>
            </a:pPr>
            <a:r>
              <a:rPr lang="en-US" altLang="zh-CN" dirty="0">
                <a:solidFill>
                  <a:srgbClr val="0000FF"/>
                </a:solidFill>
                <a:latin typeface="Verdana" panose="020B0604030504040204" pitchFamily="34" charset="0"/>
              </a:rPr>
              <a:t>inside = false;</a:t>
            </a:r>
          </a:p>
          <a:p>
            <a:pPr marL="457200" lvl="1" indent="0">
              <a:lnSpc>
                <a:spcPct val="90000"/>
              </a:lnSpc>
              <a:spcBef>
                <a:spcPct val="20000"/>
              </a:spcBef>
              <a:buNone/>
            </a:pPr>
            <a:r>
              <a:rPr lang="en-US" altLang="zh-CN" sz="2000" dirty="0">
                <a:solidFill>
                  <a:srgbClr val="0000FF"/>
                </a:solidFill>
                <a:latin typeface="Verdana" panose="020B0604030504040204" pitchFamily="34" charset="0"/>
              </a:rPr>
              <a:t>}</a:t>
            </a:r>
            <a:endParaRPr lang="en-US" altLang="zh-CN" sz="2000" dirty="0">
              <a:solidFill>
                <a:srgbClr val="0000FF"/>
              </a:solidFill>
            </a:endParaRPr>
          </a:p>
        </p:txBody>
      </p:sp>
      <p:sp>
        <p:nvSpPr>
          <p:cNvPr id="37891" name="Rectangle 4"/>
          <p:cNvSpPr>
            <a:spLocks noGrp="1"/>
          </p:cNvSpPr>
          <p:nvPr>
            <p:ph type="body" sz="half" idx="4294967295"/>
          </p:nvPr>
        </p:nvSpPr>
        <p:spPr>
          <a:xfrm>
            <a:off x="557213" y="936625"/>
            <a:ext cx="8316912" cy="914400"/>
          </a:xfrm>
          <a:ln/>
        </p:spPr>
        <p:txBody>
          <a:bodyPr vert="horz" wrap="square" lIns="91440" tIns="45720" rIns="91440" bIns="45720" anchor="t" anchorCtr="0"/>
          <a:lstStyle>
            <a:lvl1pPr lvl="0">
              <a:buClr>
                <a:srgbClr val="993300"/>
              </a:buClr>
              <a:buSzPct val="90000"/>
              <a:buFont typeface="Monotype Sorts" charset="2"/>
              <a:defRPr sz="2800"/>
            </a:lvl1pPr>
            <a:lvl2pPr lvl="1">
              <a:buClr>
                <a:srgbClr val="CC6600"/>
              </a:buClr>
              <a:buSzPct val="80000"/>
              <a:buFont typeface="Monotype Sorts" charset="2"/>
              <a:defRPr sz="2400"/>
            </a:lvl2pPr>
            <a:lvl3pPr lvl="2">
              <a:buClr>
                <a:srgbClr val="009900"/>
              </a:buClr>
              <a:buSzPct val="75000"/>
              <a:buFont typeface="Webdings" panose="05030102010509060703" pitchFamily="18" charset="2"/>
              <a:defRPr sz="2000"/>
            </a:lvl3pPr>
            <a:lvl4pPr lvl="3">
              <a:buClr>
                <a:schemeClr val="hlink"/>
              </a:buClr>
              <a:buSzPct val="75000"/>
              <a:buFontTx/>
              <a:defRPr sz="1800"/>
            </a:lvl4pPr>
            <a:lvl5pPr lvl="4">
              <a:buClr>
                <a:srgbClr val="FF0066"/>
              </a:buClr>
              <a:buSzPct val="75000"/>
              <a:buFontTx/>
              <a:defRPr sz="1800"/>
            </a:lvl5pPr>
          </a:lstStyle>
          <a:p>
            <a:pPr lvl="0" eaLnBrk="1" hangingPunct="1">
              <a:lnSpc>
                <a:spcPct val="90000"/>
              </a:lnSpc>
              <a:buClr>
                <a:srgbClr val="993300"/>
              </a:buClr>
            </a:pPr>
            <a:r>
              <a:rPr lang="en-US" altLang="zh-CN" sz="2400" dirty="0"/>
              <a:t>A first idea:</a:t>
            </a:r>
          </a:p>
          <a:p>
            <a:pPr lvl="1" indent="-285750" eaLnBrk="1" hangingPunct="1">
              <a:lnSpc>
                <a:spcPct val="90000"/>
              </a:lnSpc>
              <a:buClr>
                <a:srgbClr val="CC6600"/>
              </a:buClr>
              <a:buSzPct val="80000"/>
              <a:buFont typeface="Monotype Sorts" charset="2"/>
              <a:buChar char="l"/>
            </a:pPr>
            <a:r>
              <a:rPr lang="en-US" altLang="zh-CN" sz="2400" dirty="0"/>
              <a:t>Have a boolean flag, </a:t>
            </a:r>
            <a:r>
              <a:rPr lang="en-US" altLang="zh-CN" sz="2400" i="1" dirty="0">
                <a:solidFill>
                  <a:srgbClr val="FF0000"/>
                </a:solidFill>
              </a:rPr>
              <a:t>inside</a:t>
            </a:r>
            <a:r>
              <a:rPr lang="en-US" altLang="zh-CN" sz="2400" dirty="0"/>
              <a:t>.  Initially </a:t>
            </a:r>
            <a:r>
              <a:rPr lang="en-US" altLang="zh-CN" sz="2400" dirty="0">
                <a:solidFill>
                  <a:srgbClr val="FF0000"/>
                </a:solidFill>
              </a:rPr>
              <a:t>false</a:t>
            </a:r>
            <a:r>
              <a:rPr lang="en-US" altLang="zh-CN" sz="2400" dirty="0"/>
              <a:t>.</a:t>
            </a:r>
          </a:p>
        </p:txBody>
      </p:sp>
      <p:sp>
        <p:nvSpPr>
          <p:cNvPr id="37892" name="Rectangle 5"/>
          <p:cNvSpPr/>
          <p:nvPr/>
        </p:nvSpPr>
        <p:spPr>
          <a:xfrm>
            <a:off x="4943475" y="3008630"/>
            <a:ext cx="4038600" cy="2639695"/>
          </a:xfrm>
          <a:prstGeom prst="rect">
            <a:avLst/>
          </a:prstGeom>
          <a:noFill/>
          <a:ln w="9525">
            <a:noFill/>
          </a:ln>
        </p:spPr>
        <p:txBody>
          <a:bodyPr anchor="t" anchorCtr="0"/>
          <a:lstStyle/>
          <a:p>
            <a:pPr eaLnBrk="0" hangingPunct="0">
              <a:lnSpc>
                <a:spcPct val="90000"/>
              </a:lnSpc>
              <a:spcBef>
                <a:spcPct val="20000"/>
              </a:spcBef>
            </a:pPr>
            <a:endParaRPr lang="en-US" altLang="zh-CN" sz="2400" dirty="0">
              <a:solidFill>
                <a:srgbClr val="0000FF"/>
              </a:solidFill>
              <a:latin typeface="Verdana" panose="020B0604030504040204" pitchFamily="34" charset="0"/>
            </a:endParaRPr>
          </a:p>
        </p:txBody>
      </p:sp>
      <p:sp>
        <p:nvSpPr>
          <p:cNvPr id="121863" name="AutoShape 7"/>
          <p:cNvSpPr/>
          <p:nvPr/>
        </p:nvSpPr>
        <p:spPr>
          <a:xfrm>
            <a:off x="685800" y="1851025"/>
            <a:ext cx="7534275" cy="927100"/>
          </a:xfrm>
          <a:prstGeom prst="wedgeRectCallout">
            <a:avLst>
              <a:gd name="adj1" fmla="val -26342"/>
              <a:gd name="adj2" fmla="val 67328"/>
            </a:avLst>
          </a:prstGeom>
          <a:solidFill>
            <a:schemeClr val="accent1"/>
          </a:solidFill>
          <a:ln w="9525" cap="flat" cmpd="sng">
            <a:solidFill>
              <a:schemeClr val="tx1"/>
            </a:solidFill>
            <a:prstDash val="solid"/>
            <a:miter/>
            <a:headEnd type="none" w="med" len="med"/>
            <a:tailEnd type="none" w="med" len="med"/>
          </a:ln>
        </p:spPr>
        <p:txBody>
          <a:bodyPr anchor="t" anchorCtr="0"/>
          <a:lstStyle/>
          <a:p>
            <a:pPr eaLnBrk="0" hangingPunct="0"/>
            <a:r>
              <a:rPr lang="en-US" altLang="zh-CN" sz="1600" b="1" dirty="0">
                <a:latin typeface="Verdana" panose="020B0604030504040204" pitchFamily="34" charset="0"/>
              </a:rPr>
              <a:t>Code is </a:t>
            </a:r>
            <a:r>
              <a:rPr lang="en-US" altLang="zh-CN" sz="1600" b="1" u="sng" dirty="0">
                <a:latin typeface="Verdana" panose="020B0604030504040204" pitchFamily="34" charset="0"/>
              </a:rPr>
              <a:t>unsafe</a:t>
            </a:r>
            <a:r>
              <a:rPr lang="en-US" altLang="zh-CN" sz="1600" b="1" dirty="0">
                <a:latin typeface="Verdana" panose="020B0604030504040204" pitchFamily="34" charset="0"/>
              </a:rPr>
              <a:t>: thread 0 could finish the while test when inside is false, but then 1 might call CSEnter() before 0 can set inside to true!</a:t>
            </a:r>
          </a:p>
        </p:txBody>
      </p:sp>
      <p:sp>
        <p:nvSpPr>
          <p:cNvPr id="11" name="Rectangle 3">
            <a:extLst>
              <a:ext uri="{FF2B5EF4-FFF2-40B4-BE49-F238E27FC236}">
                <a16:creationId xmlns:a16="http://schemas.microsoft.com/office/drawing/2014/main" id="{0E7A15F5-774E-468F-9963-B3DDB5927849}"/>
              </a:ext>
            </a:extLst>
          </p:cNvPr>
          <p:cNvSpPr txBox="1">
            <a:spLocks/>
          </p:cNvSpPr>
          <p:nvPr/>
        </p:nvSpPr>
        <p:spPr>
          <a:xfrm>
            <a:off x="5000080" y="3008630"/>
            <a:ext cx="3726180" cy="3459162"/>
          </a:xfrm>
          <a:prstGeom prst="rect">
            <a:avLst/>
          </a:prstGeom>
          <a:noFill/>
          <a:ln w="9525">
            <a:noFill/>
          </a:ln>
        </p:spPr>
        <p:txBody>
          <a:bodyPr vert="horz" wrap="square" lIns="91440" tIns="45720" rIns="91440" bIns="45720" anchor="t" anchorCtr="0"/>
          <a:lstStyle>
            <a:lvl1pPr marL="342900" lvl="0" indent="-342900" algn="l" rtl="0" eaLnBrk="0" fontAlgn="base" hangingPunct="0">
              <a:spcBef>
                <a:spcPct val="35000"/>
              </a:spcBef>
              <a:spcAft>
                <a:spcPct val="0"/>
              </a:spcAft>
              <a:buClr>
                <a:srgbClr val="993300"/>
              </a:buClr>
              <a:buSzPct val="90000"/>
              <a:buFont typeface="Monotype Sorts" charset="2"/>
              <a:buChar char="n"/>
              <a:defRPr kumimoji="1" sz="2800">
                <a:solidFill>
                  <a:schemeClr val="tx1"/>
                </a:solidFill>
                <a:latin typeface="+mn-lt"/>
                <a:ea typeface="MS PGothic" panose="020B0600070205080204" pitchFamily="34" charset="-128"/>
                <a:cs typeface="+mn-cs"/>
              </a:defRPr>
            </a:lvl1pPr>
            <a:lvl2pPr marL="742950" lvl="1" indent="-285750" algn="l" rtl="0" eaLnBrk="0" fontAlgn="base" hangingPunct="0">
              <a:spcBef>
                <a:spcPct val="35000"/>
              </a:spcBef>
              <a:spcAft>
                <a:spcPct val="0"/>
              </a:spcAft>
              <a:buClr>
                <a:srgbClr val="CC6600"/>
              </a:buClr>
              <a:buSzPct val="80000"/>
              <a:buFont typeface="Monotype Sorts" charset="2"/>
              <a:buChar char="l"/>
              <a:defRPr kumimoji="1" sz="2400">
                <a:solidFill>
                  <a:schemeClr val="tx1"/>
                </a:solidFill>
                <a:latin typeface="+mn-lt"/>
                <a:ea typeface="MS PGothic" panose="020B0600070205080204" pitchFamily="34" charset="-128"/>
              </a:defRPr>
            </a:lvl2pPr>
            <a:lvl3pPr marL="1085850" lvl="2"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000">
                <a:solidFill>
                  <a:schemeClr val="tx1"/>
                </a:solidFill>
                <a:latin typeface="+mn-lt"/>
                <a:ea typeface="MS PGothic" panose="020B0600070205080204" pitchFamily="34" charset="-128"/>
              </a:defRPr>
            </a:lvl3pPr>
            <a:lvl4pPr marL="1428750" lvl="3" indent="-228600" algn="l" rtl="0" eaLnBrk="0" fontAlgn="base" hangingPunct="0">
              <a:spcBef>
                <a:spcPct val="35000"/>
              </a:spcBef>
              <a:spcAft>
                <a:spcPct val="0"/>
              </a:spcAft>
              <a:buClr>
                <a:schemeClr val="hlink"/>
              </a:buClr>
              <a:buSzPct val="75000"/>
              <a:buFontTx/>
              <a:buChar char="–"/>
              <a:defRPr kumimoji="1" sz="1800">
                <a:solidFill>
                  <a:schemeClr val="tx1"/>
                </a:solidFill>
                <a:latin typeface="+mn-lt"/>
                <a:ea typeface="MS PGothic" panose="020B0600070205080204" pitchFamily="34" charset="-128"/>
              </a:defRPr>
            </a:lvl4pPr>
            <a:lvl5pPr marL="1771650" lvl="4" indent="-228600" algn="l" rtl="0" eaLnBrk="0" fontAlgn="base" hangingPunct="0">
              <a:spcBef>
                <a:spcPct val="35000"/>
              </a:spcBef>
              <a:spcAft>
                <a:spcPct val="0"/>
              </a:spcAft>
              <a:buClr>
                <a:srgbClr val="FF0066"/>
              </a:buClr>
              <a:buSzPct val="75000"/>
              <a:buFontTx/>
              <a:buChar char="»"/>
              <a:defRPr kumimoji="1" sz="18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9pPr>
          </a:lstStyle>
          <a:p>
            <a:pPr marL="0" indent="0" eaLnBrk="1" hangingPunct="1">
              <a:lnSpc>
                <a:spcPct val="90000"/>
              </a:lnSpc>
              <a:buFont typeface="Monotype Sorts" charset="2"/>
              <a:buNone/>
            </a:pPr>
            <a:r>
              <a:rPr lang="en-US" altLang="zh-CN" sz="2000" kern="0" dirty="0" err="1">
                <a:solidFill>
                  <a:srgbClr val="FF0000"/>
                </a:solidFill>
              </a:rPr>
              <a:t>CSEnter</a:t>
            </a:r>
            <a:r>
              <a:rPr lang="en-US" altLang="zh-CN" sz="2000" kern="0" dirty="0">
                <a:solidFill>
                  <a:srgbClr val="FF0000"/>
                </a:solidFill>
              </a:rPr>
              <a:t>()</a:t>
            </a:r>
          </a:p>
          <a:p>
            <a:pPr lvl="1" eaLnBrk="1" hangingPunct="1">
              <a:lnSpc>
                <a:spcPct val="90000"/>
              </a:lnSpc>
              <a:buFontTx/>
              <a:buNone/>
            </a:pPr>
            <a:r>
              <a:rPr lang="en-US" altLang="zh-CN" sz="2000" kern="0" dirty="0">
                <a:solidFill>
                  <a:srgbClr val="FF0000"/>
                </a:solidFill>
              </a:rPr>
              <a:t>{</a:t>
            </a:r>
          </a:p>
          <a:p>
            <a:pPr lvl="2" eaLnBrk="1" hangingPunct="1">
              <a:lnSpc>
                <a:spcPct val="90000"/>
              </a:lnSpc>
              <a:buFontTx/>
              <a:buNone/>
            </a:pPr>
            <a:r>
              <a:rPr lang="en-US" altLang="zh-CN" kern="0" dirty="0">
                <a:solidFill>
                  <a:srgbClr val="FF0000"/>
                </a:solidFill>
              </a:rPr>
              <a:t>while(inside) continue;</a:t>
            </a:r>
          </a:p>
          <a:p>
            <a:pPr lvl="2" eaLnBrk="1" hangingPunct="1">
              <a:lnSpc>
                <a:spcPct val="90000"/>
              </a:lnSpc>
              <a:buFontTx/>
              <a:buNone/>
            </a:pPr>
            <a:r>
              <a:rPr lang="en-US" altLang="zh-CN" kern="0" dirty="0">
                <a:solidFill>
                  <a:srgbClr val="FF0000"/>
                </a:solidFill>
              </a:rPr>
              <a:t>inside = true;</a:t>
            </a:r>
          </a:p>
          <a:p>
            <a:pPr lvl="1" eaLnBrk="1" hangingPunct="1">
              <a:lnSpc>
                <a:spcPct val="90000"/>
              </a:lnSpc>
              <a:buFontTx/>
              <a:buNone/>
            </a:pPr>
            <a:r>
              <a:rPr lang="en-US" altLang="zh-CN" sz="2000" kern="0" dirty="0">
                <a:solidFill>
                  <a:srgbClr val="FF0000"/>
                </a:solidFill>
              </a:rPr>
              <a:t>}</a:t>
            </a:r>
          </a:p>
          <a:p>
            <a:pPr lvl="1" eaLnBrk="1" hangingPunct="1">
              <a:lnSpc>
                <a:spcPct val="90000"/>
              </a:lnSpc>
              <a:buFontTx/>
              <a:buNone/>
            </a:pPr>
            <a:r>
              <a:rPr lang="en-US" altLang="zh-CN" sz="2000" kern="0" dirty="0">
                <a:solidFill>
                  <a:srgbClr val="FF0000"/>
                </a:solidFill>
              </a:rPr>
              <a:t>#Critical section</a:t>
            </a:r>
          </a:p>
          <a:p>
            <a:pPr marL="0" indent="0">
              <a:lnSpc>
                <a:spcPct val="90000"/>
              </a:lnSpc>
              <a:spcBef>
                <a:spcPct val="20000"/>
              </a:spcBef>
              <a:buFont typeface="Monotype Sorts" charset="2"/>
              <a:buNone/>
            </a:pPr>
            <a:r>
              <a:rPr lang="en-US" altLang="zh-CN" sz="2000" kern="0" dirty="0" err="1">
                <a:solidFill>
                  <a:srgbClr val="FF0000"/>
                </a:solidFill>
                <a:latin typeface="Verdana" panose="020B0604030504040204" pitchFamily="34" charset="0"/>
              </a:rPr>
              <a:t>CSExit</a:t>
            </a:r>
            <a:r>
              <a:rPr lang="en-US" altLang="zh-CN" sz="2000" kern="0" dirty="0">
                <a:solidFill>
                  <a:srgbClr val="FF0000"/>
                </a:solidFill>
                <a:latin typeface="Verdana" panose="020B0604030504040204" pitchFamily="34" charset="0"/>
              </a:rPr>
              <a:t>()</a:t>
            </a:r>
          </a:p>
          <a:p>
            <a:pPr marL="457200" lvl="1" indent="0">
              <a:lnSpc>
                <a:spcPct val="90000"/>
              </a:lnSpc>
              <a:spcBef>
                <a:spcPct val="20000"/>
              </a:spcBef>
              <a:buFont typeface="Monotype Sorts" charset="2"/>
              <a:buNone/>
            </a:pPr>
            <a:r>
              <a:rPr lang="en-US" altLang="zh-CN" sz="2000" kern="0" dirty="0">
                <a:solidFill>
                  <a:srgbClr val="FF0000"/>
                </a:solidFill>
                <a:latin typeface="Verdana" panose="020B0604030504040204" pitchFamily="34" charset="0"/>
              </a:rPr>
              <a:t>{</a:t>
            </a:r>
          </a:p>
          <a:p>
            <a:pPr marL="914400" lvl="2" indent="0">
              <a:lnSpc>
                <a:spcPct val="90000"/>
              </a:lnSpc>
              <a:spcBef>
                <a:spcPct val="20000"/>
              </a:spcBef>
              <a:buFont typeface="Webdings" panose="05030102010509060703" pitchFamily="18" charset="2"/>
              <a:buNone/>
            </a:pPr>
            <a:r>
              <a:rPr lang="en-US" altLang="zh-CN" kern="0" dirty="0">
                <a:solidFill>
                  <a:srgbClr val="FF0000"/>
                </a:solidFill>
                <a:latin typeface="Verdana" panose="020B0604030504040204" pitchFamily="34" charset="0"/>
              </a:rPr>
              <a:t>inside = false;</a:t>
            </a:r>
          </a:p>
          <a:p>
            <a:pPr marL="457200" lvl="1" indent="0">
              <a:lnSpc>
                <a:spcPct val="90000"/>
              </a:lnSpc>
              <a:spcBef>
                <a:spcPct val="20000"/>
              </a:spcBef>
              <a:buFont typeface="Monotype Sorts" charset="2"/>
              <a:buNone/>
            </a:pPr>
            <a:r>
              <a:rPr lang="en-US" altLang="zh-CN" sz="2000" kern="0" dirty="0">
                <a:solidFill>
                  <a:srgbClr val="FF0000"/>
                </a:solidFill>
                <a:latin typeface="Verdana" panose="020B0604030504040204" pitchFamily="34" charset="0"/>
              </a:rPr>
              <a:t>}</a:t>
            </a:r>
            <a:endParaRPr lang="en-US" altLang="zh-CN" sz="2000" kern="0" dirty="0">
              <a:solidFill>
                <a:srgbClr val="FF0000"/>
              </a:solidFill>
            </a:endParaRPr>
          </a:p>
        </p:txBody>
      </p:sp>
      <p:sp>
        <p:nvSpPr>
          <p:cNvPr id="2" name="等腰三角形 1">
            <a:extLst>
              <a:ext uri="{FF2B5EF4-FFF2-40B4-BE49-F238E27FC236}">
                <a16:creationId xmlns:a16="http://schemas.microsoft.com/office/drawing/2014/main" id="{C845D07C-6A0F-437E-8709-55B832770B71}"/>
              </a:ext>
            </a:extLst>
          </p:cNvPr>
          <p:cNvSpPr/>
          <p:nvPr/>
        </p:nvSpPr>
        <p:spPr bwMode="auto">
          <a:xfrm rot="5400000">
            <a:off x="1423137" y="4012646"/>
            <a:ext cx="274320" cy="219551"/>
          </a:xfrm>
          <a:prstGeom prst="triangle">
            <a:avLst/>
          </a:prstGeom>
          <a:solidFill>
            <a:srgbClr val="0066FF"/>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2" name="Text Box 6">
            <a:extLst>
              <a:ext uri="{FF2B5EF4-FFF2-40B4-BE49-F238E27FC236}">
                <a16:creationId xmlns:a16="http://schemas.microsoft.com/office/drawing/2014/main" id="{FD13EAC9-8E82-45F5-A23D-BCE09618F7FC}"/>
              </a:ext>
            </a:extLst>
          </p:cNvPr>
          <p:cNvSpPr txBox="1"/>
          <p:nvPr/>
        </p:nvSpPr>
        <p:spPr>
          <a:xfrm>
            <a:off x="157637" y="2765425"/>
            <a:ext cx="662361" cy="523220"/>
          </a:xfrm>
          <a:prstGeom prst="rect">
            <a:avLst/>
          </a:prstGeom>
          <a:noFill/>
          <a:ln w="57150">
            <a:noFill/>
          </a:ln>
        </p:spPr>
        <p:txBody>
          <a:bodyPr wrap="none" anchor="ctr" anchorCtr="0">
            <a:spAutoFit/>
          </a:bodyPr>
          <a:lstStyle/>
          <a:p>
            <a:pPr algn="ctr" eaLnBrk="0" hangingPunct="0"/>
            <a:r>
              <a:rPr lang="en-US" altLang="zh-CN" sz="2800" dirty="0">
                <a:solidFill>
                  <a:srgbClr val="0000FF"/>
                </a:solidFill>
                <a:latin typeface="Comic Sans MS" panose="030F0702030302020204" pitchFamily="66" charset="0"/>
              </a:rPr>
              <a:t>T</a:t>
            </a:r>
            <a:r>
              <a:rPr lang="en-US" altLang="zh-CN" dirty="0">
                <a:solidFill>
                  <a:srgbClr val="0000FF"/>
                </a:solidFill>
                <a:latin typeface="Comic Sans MS" panose="030F0702030302020204" pitchFamily="66" charset="0"/>
              </a:rPr>
              <a:t>0:</a:t>
            </a:r>
            <a:endParaRPr lang="en-US" altLang="zh-CN" sz="2800" dirty="0">
              <a:solidFill>
                <a:srgbClr val="0000FF"/>
              </a:solidFill>
              <a:latin typeface="Comic Sans MS" panose="030F0702030302020204" pitchFamily="66" charset="0"/>
            </a:endParaRPr>
          </a:p>
        </p:txBody>
      </p:sp>
      <p:sp>
        <p:nvSpPr>
          <p:cNvPr id="13" name="Text Box 6">
            <a:extLst>
              <a:ext uri="{FF2B5EF4-FFF2-40B4-BE49-F238E27FC236}">
                <a16:creationId xmlns:a16="http://schemas.microsoft.com/office/drawing/2014/main" id="{57FB0792-BC8F-4D80-879E-30EE43EEDE5C}"/>
              </a:ext>
            </a:extLst>
          </p:cNvPr>
          <p:cNvSpPr txBox="1"/>
          <p:nvPr/>
        </p:nvSpPr>
        <p:spPr>
          <a:xfrm>
            <a:off x="4417869" y="2742565"/>
            <a:ext cx="620683" cy="523220"/>
          </a:xfrm>
          <a:prstGeom prst="rect">
            <a:avLst/>
          </a:prstGeom>
          <a:noFill/>
          <a:ln w="57150">
            <a:noFill/>
          </a:ln>
        </p:spPr>
        <p:txBody>
          <a:bodyPr wrap="none" anchor="ctr" anchorCtr="0">
            <a:spAutoFit/>
          </a:bodyPr>
          <a:lstStyle/>
          <a:p>
            <a:pPr algn="ctr" eaLnBrk="0" hangingPunct="0"/>
            <a:r>
              <a:rPr lang="en-US" altLang="zh-CN" sz="2800" dirty="0">
                <a:solidFill>
                  <a:srgbClr val="FF0000"/>
                </a:solidFill>
                <a:latin typeface="Comic Sans MS" panose="030F0702030302020204" pitchFamily="66" charset="0"/>
              </a:rPr>
              <a:t>T</a:t>
            </a:r>
            <a:r>
              <a:rPr lang="en-US" altLang="zh-CN" dirty="0">
                <a:solidFill>
                  <a:srgbClr val="FF0000"/>
                </a:solidFill>
                <a:latin typeface="Comic Sans MS" panose="030F0702030302020204" pitchFamily="66" charset="0"/>
              </a:rPr>
              <a:t>1:</a:t>
            </a:r>
            <a:endParaRPr lang="en-US" altLang="zh-CN" sz="2800" dirty="0">
              <a:solidFill>
                <a:srgbClr val="FF0000"/>
              </a:solidFill>
              <a:latin typeface="Comic Sans MS" panose="030F0702030302020204" pitchFamily="66" charset="0"/>
            </a:endParaRPr>
          </a:p>
        </p:txBody>
      </p:sp>
      <p:sp>
        <p:nvSpPr>
          <p:cNvPr id="14" name="等腰三角形 13">
            <a:extLst>
              <a:ext uri="{FF2B5EF4-FFF2-40B4-BE49-F238E27FC236}">
                <a16:creationId xmlns:a16="http://schemas.microsoft.com/office/drawing/2014/main" id="{BB99C943-B804-48E8-BC9B-691134F37689}"/>
              </a:ext>
            </a:extLst>
          </p:cNvPr>
          <p:cNvSpPr/>
          <p:nvPr/>
        </p:nvSpPr>
        <p:spPr bwMode="auto">
          <a:xfrm rot="5400000">
            <a:off x="5605225" y="4012646"/>
            <a:ext cx="274320" cy="219551"/>
          </a:xfrm>
          <a:prstGeom prst="triangle">
            <a:avLst/>
          </a:prstGeom>
          <a:solidFill>
            <a:srgbClr val="FF00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4" name="矩形 3">
            <a:extLst>
              <a:ext uri="{FF2B5EF4-FFF2-40B4-BE49-F238E27FC236}">
                <a16:creationId xmlns:a16="http://schemas.microsoft.com/office/drawing/2014/main" id="{87092705-B294-4AAC-8711-5F91F68583A4}"/>
              </a:ext>
            </a:extLst>
          </p:cNvPr>
          <p:cNvSpPr/>
          <p:nvPr/>
        </p:nvSpPr>
        <p:spPr bwMode="auto">
          <a:xfrm>
            <a:off x="2424112" y="3773837"/>
            <a:ext cx="738187" cy="348712"/>
          </a:xfrm>
          <a:prstGeom prst="rect">
            <a:avLst/>
          </a:prstGeom>
          <a:noFill/>
          <a:ln w="28575" cap="flat" cmpd="sng" algn="ctr">
            <a:solidFill>
              <a:schemeClr val="accent4"/>
            </a:solidFill>
            <a:prstDash val="sysDash"/>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5" name="矩形 14">
            <a:extLst>
              <a:ext uri="{FF2B5EF4-FFF2-40B4-BE49-F238E27FC236}">
                <a16:creationId xmlns:a16="http://schemas.microsoft.com/office/drawing/2014/main" id="{F1AF4F7A-3D30-4865-8823-C86516FF7DDA}"/>
              </a:ext>
            </a:extLst>
          </p:cNvPr>
          <p:cNvSpPr/>
          <p:nvPr/>
        </p:nvSpPr>
        <p:spPr bwMode="auto">
          <a:xfrm>
            <a:off x="6593681" y="3761374"/>
            <a:ext cx="738187" cy="348712"/>
          </a:xfrm>
          <a:prstGeom prst="rect">
            <a:avLst/>
          </a:prstGeom>
          <a:noFill/>
          <a:ln w="28575" cap="flat" cmpd="sng" algn="ctr">
            <a:solidFill>
              <a:schemeClr val="accent4"/>
            </a:solidFill>
            <a:prstDash val="sysDash"/>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5" name="矩形 4">
            <a:extLst>
              <a:ext uri="{FF2B5EF4-FFF2-40B4-BE49-F238E27FC236}">
                <a16:creationId xmlns:a16="http://schemas.microsoft.com/office/drawing/2014/main" id="{7FC33E88-700A-4015-9D0C-AA22AF89EA78}"/>
              </a:ext>
            </a:extLst>
          </p:cNvPr>
          <p:cNvSpPr/>
          <p:nvPr/>
        </p:nvSpPr>
        <p:spPr>
          <a:xfrm>
            <a:off x="2759152" y="3288645"/>
            <a:ext cx="1475084" cy="400110"/>
          </a:xfrm>
          <a:prstGeom prst="rect">
            <a:avLst/>
          </a:prstGeom>
        </p:spPr>
        <p:txBody>
          <a:bodyPr wrap="none">
            <a:spAutoFit/>
          </a:bodyPr>
          <a:lstStyle/>
          <a:p>
            <a:r>
              <a:rPr lang="zh-CN" altLang="en-US" b="1" dirty="0">
                <a:ea typeface="宋体" panose="02010600030101010101" pitchFamily="2" charset="-122"/>
                <a:sym typeface="+mn-ea"/>
              </a:rPr>
              <a:t>唯一性标识</a:t>
            </a:r>
            <a:endParaRPr lang="zh-CN" altLang="en-US" dirty="0"/>
          </a:p>
        </p:txBody>
      </p:sp>
      <p:sp>
        <p:nvSpPr>
          <p:cNvPr id="6" name="十字形 5">
            <a:extLst>
              <a:ext uri="{FF2B5EF4-FFF2-40B4-BE49-F238E27FC236}">
                <a16:creationId xmlns:a16="http://schemas.microsoft.com/office/drawing/2014/main" id="{6BA985ED-FF35-4300-9C41-099843D1E62A}"/>
              </a:ext>
            </a:extLst>
          </p:cNvPr>
          <p:cNvSpPr/>
          <p:nvPr/>
        </p:nvSpPr>
        <p:spPr bwMode="auto">
          <a:xfrm rot="2651331">
            <a:off x="2432775" y="3289030"/>
            <a:ext cx="398138" cy="399342"/>
          </a:xfrm>
          <a:prstGeom prst="plus">
            <a:avLst>
              <a:gd name="adj" fmla="val 40665"/>
            </a:avLst>
          </a:prstGeom>
          <a:solidFill>
            <a:srgbClr val="FF00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Tree>
    <p:extLst>
      <p:ext uri="{BB962C8B-B14F-4D97-AF65-F5344CB8AC3E}">
        <p14:creationId xmlns:p14="http://schemas.microsoft.com/office/powerpoint/2010/main" val="2393734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5" grpId="0" animBg="1"/>
      <p:bldP spid="5" grpId="0"/>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p:cNvSpPr>
          <p:nvPr>
            <p:ph type="title" idx="4294967295"/>
          </p:nvPr>
        </p:nvSpPr>
        <p:spPr>
          <a:xfrm>
            <a:off x="579438" y="288925"/>
            <a:ext cx="8229600" cy="576263"/>
          </a:xfrm>
          <a:ln/>
        </p:spPr>
        <p:txBody>
          <a:bodyPr vert="horz" wrap="square" lIns="91440" tIns="45720" rIns="91440" bIns="45720" anchor="b" anchorCtr="0"/>
          <a:lstStyle/>
          <a:p>
            <a:pPr eaLnBrk="1" hangingPunct="1"/>
            <a:r>
              <a:rPr lang="en-US" altLang="zh-CN" dirty="0"/>
              <a:t>Solving the problem: Take 2</a:t>
            </a:r>
          </a:p>
        </p:txBody>
      </p:sp>
      <p:sp>
        <p:nvSpPr>
          <p:cNvPr id="39938" name="Rectangle 3"/>
          <p:cNvSpPr>
            <a:spLocks noGrp="1"/>
          </p:cNvSpPr>
          <p:nvPr>
            <p:ph type="body" sz="half" idx="4294967295"/>
          </p:nvPr>
        </p:nvSpPr>
        <p:spPr>
          <a:xfrm>
            <a:off x="830580" y="2875280"/>
            <a:ext cx="4191000" cy="4500880"/>
          </a:xfrm>
          <a:ln/>
        </p:spPr>
        <p:txBody>
          <a:bodyPr vert="horz" wrap="square" lIns="91440" tIns="45720" rIns="91440" bIns="45720" anchor="t" anchorCtr="0"/>
          <a:lstStyle>
            <a:lvl1pPr lvl="0">
              <a:buClr>
                <a:srgbClr val="993300"/>
              </a:buClr>
              <a:buSzPct val="90000"/>
              <a:buFont typeface="Monotype Sorts" charset="2"/>
              <a:defRPr sz="2800"/>
            </a:lvl1pPr>
            <a:lvl2pPr lvl="1">
              <a:buClr>
                <a:srgbClr val="CC6600"/>
              </a:buClr>
              <a:buSzPct val="80000"/>
              <a:buFont typeface="Monotype Sorts" charset="2"/>
              <a:defRPr sz="2400"/>
            </a:lvl2pPr>
            <a:lvl3pPr lvl="2">
              <a:buClr>
                <a:srgbClr val="009900"/>
              </a:buClr>
              <a:buSzPct val="75000"/>
              <a:buFont typeface="Webdings" panose="05030102010509060703" pitchFamily="18" charset="2"/>
              <a:defRPr sz="2000"/>
            </a:lvl3pPr>
            <a:lvl4pPr lvl="3">
              <a:buClr>
                <a:schemeClr val="hlink"/>
              </a:buClr>
              <a:buSzPct val="75000"/>
              <a:buFontTx/>
              <a:defRPr sz="1800"/>
            </a:lvl4pPr>
            <a:lvl5pPr lvl="4">
              <a:buClr>
                <a:srgbClr val="FF0066"/>
              </a:buClr>
              <a:buSzPct val="75000"/>
              <a:buFontTx/>
              <a:defRPr sz="1800"/>
            </a:lvl5pPr>
          </a:lstStyle>
          <a:p>
            <a:pPr marL="0" lvl="0" indent="0" eaLnBrk="1" hangingPunct="1">
              <a:lnSpc>
                <a:spcPct val="90000"/>
              </a:lnSpc>
              <a:buClr>
                <a:srgbClr val="993300"/>
              </a:buClr>
              <a:buNone/>
            </a:pPr>
            <a:r>
              <a:rPr lang="en-US" altLang="zh-CN" sz="2000" dirty="0">
                <a:solidFill>
                  <a:srgbClr val="0000FF"/>
                </a:solidFill>
              </a:rPr>
              <a:t>CSEnter(int i)</a:t>
            </a:r>
          </a:p>
          <a:p>
            <a:pPr lvl="1" indent="-285750" eaLnBrk="1" hangingPunct="1">
              <a:lnSpc>
                <a:spcPct val="90000"/>
              </a:lnSpc>
              <a:buClr>
                <a:srgbClr val="CC6600"/>
              </a:buClr>
              <a:buSzPct val="80000"/>
              <a:buFontTx/>
              <a:buNone/>
            </a:pPr>
            <a:r>
              <a:rPr lang="en-US" altLang="zh-CN" sz="2000" dirty="0">
                <a:solidFill>
                  <a:srgbClr val="0000FF"/>
                </a:solidFill>
              </a:rPr>
              <a:t>{</a:t>
            </a:r>
          </a:p>
          <a:p>
            <a:pPr lvl="2" indent="-228600" eaLnBrk="1" hangingPunct="1">
              <a:lnSpc>
                <a:spcPct val="90000"/>
              </a:lnSpc>
              <a:buClr>
                <a:srgbClr val="009900"/>
              </a:buClr>
              <a:buSzPct val="75000"/>
              <a:buFontTx/>
              <a:buNone/>
            </a:pPr>
            <a:r>
              <a:rPr lang="en-US" altLang="zh-CN" dirty="0">
                <a:solidFill>
                  <a:srgbClr val="0000FF"/>
                </a:solidFill>
              </a:rPr>
              <a:t>inside[i] = true;</a:t>
            </a:r>
          </a:p>
          <a:p>
            <a:pPr lvl="2" indent="-228600" eaLnBrk="1" hangingPunct="1">
              <a:lnSpc>
                <a:spcPct val="90000"/>
              </a:lnSpc>
              <a:buClr>
                <a:srgbClr val="009900"/>
              </a:buClr>
              <a:buSzPct val="75000"/>
              <a:buFontTx/>
              <a:buNone/>
            </a:pPr>
            <a:r>
              <a:rPr lang="en-US" altLang="zh-CN" dirty="0">
                <a:solidFill>
                  <a:srgbClr val="0000FF"/>
                </a:solidFill>
              </a:rPr>
              <a:t>while(inside[j]) continue;</a:t>
            </a:r>
          </a:p>
          <a:p>
            <a:pPr lvl="1" indent="-285750" eaLnBrk="1" hangingPunct="1">
              <a:lnSpc>
                <a:spcPct val="90000"/>
              </a:lnSpc>
              <a:buClr>
                <a:srgbClr val="CC6600"/>
              </a:buClr>
              <a:buSzPct val="80000"/>
              <a:buFontTx/>
              <a:buNone/>
            </a:pPr>
            <a:r>
              <a:rPr lang="en-US" altLang="zh-CN" sz="2000" dirty="0">
                <a:solidFill>
                  <a:srgbClr val="0000FF"/>
                </a:solidFill>
              </a:rPr>
              <a:t>}</a:t>
            </a:r>
          </a:p>
          <a:p>
            <a:pPr lvl="1" eaLnBrk="1" hangingPunct="1">
              <a:lnSpc>
                <a:spcPct val="90000"/>
              </a:lnSpc>
              <a:buNone/>
            </a:pPr>
            <a:r>
              <a:rPr lang="en-US" altLang="zh-CN" sz="2000" dirty="0">
                <a:solidFill>
                  <a:srgbClr val="0000FF"/>
                </a:solidFill>
              </a:rPr>
              <a:t>#Critical section</a:t>
            </a:r>
          </a:p>
          <a:p>
            <a:pPr marL="0" indent="0">
              <a:lnSpc>
                <a:spcPct val="90000"/>
              </a:lnSpc>
              <a:spcBef>
                <a:spcPct val="20000"/>
              </a:spcBef>
              <a:buNone/>
            </a:pPr>
            <a:r>
              <a:rPr lang="en-US" altLang="zh-CN" sz="2000" dirty="0" err="1">
                <a:solidFill>
                  <a:srgbClr val="0000FF"/>
                </a:solidFill>
                <a:latin typeface="Verdana" panose="020B0604030504040204" pitchFamily="34" charset="0"/>
              </a:rPr>
              <a:t>CSExit</a:t>
            </a:r>
            <a:r>
              <a:rPr lang="en-US" altLang="zh-CN" sz="2000" dirty="0">
                <a:solidFill>
                  <a:srgbClr val="0000FF"/>
                </a:solidFill>
                <a:latin typeface="Verdana" panose="020B0604030504040204" pitchFamily="34" charset="0"/>
              </a:rPr>
              <a:t>(int </a:t>
            </a:r>
            <a:r>
              <a:rPr lang="en-US" altLang="zh-CN" sz="2000" dirty="0" err="1">
                <a:solidFill>
                  <a:srgbClr val="0000FF"/>
                </a:solidFill>
                <a:latin typeface="Verdana" panose="020B0604030504040204" pitchFamily="34" charset="0"/>
              </a:rPr>
              <a:t>i</a:t>
            </a:r>
            <a:r>
              <a:rPr lang="en-US" altLang="zh-CN" sz="2000" dirty="0">
                <a:solidFill>
                  <a:srgbClr val="0000FF"/>
                </a:solidFill>
                <a:latin typeface="Verdana" panose="020B0604030504040204" pitchFamily="34" charset="0"/>
              </a:rPr>
              <a:t>)</a:t>
            </a:r>
          </a:p>
          <a:p>
            <a:pPr marL="457200" lvl="1" indent="0">
              <a:lnSpc>
                <a:spcPct val="90000"/>
              </a:lnSpc>
              <a:spcBef>
                <a:spcPct val="20000"/>
              </a:spcBef>
              <a:buNone/>
            </a:pPr>
            <a:r>
              <a:rPr lang="en-US" altLang="zh-CN" sz="2000" dirty="0">
                <a:solidFill>
                  <a:srgbClr val="0000FF"/>
                </a:solidFill>
                <a:latin typeface="Verdana" panose="020B0604030504040204" pitchFamily="34" charset="0"/>
              </a:rPr>
              <a:t>{</a:t>
            </a:r>
          </a:p>
          <a:p>
            <a:pPr marL="914400" lvl="2" indent="0">
              <a:lnSpc>
                <a:spcPct val="90000"/>
              </a:lnSpc>
              <a:spcBef>
                <a:spcPct val="20000"/>
              </a:spcBef>
              <a:buNone/>
            </a:pPr>
            <a:r>
              <a:rPr lang="en-US" altLang="zh-CN" dirty="0">
                <a:solidFill>
                  <a:srgbClr val="0000FF"/>
                </a:solidFill>
                <a:latin typeface="Verdana" panose="020B0604030504040204" pitchFamily="34" charset="0"/>
              </a:rPr>
              <a:t>Inside[</a:t>
            </a:r>
            <a:r>
              <a:rPr lang="en-US" altLang="zh-CN" dirty="0" err="1">
                <a:solidFill>
                  <a:srgbClr val="0000FF"/>
                </a:solidFill>
                <a:latin typeface="Verdana" panose="020B0604030504040204" pitchFamily="34" charset="0"/>
              </a:rPr>
              <a:t>i</a:t>
            </a:r>
            <a:r>
              <a:rPr lang="en-US" altLang="zh-CN" dirty="0">
                <a:solidFill>
                  <a:srgbClr val="0000FF"/>
                </a:solidFill>
                <a:latin typeface="Verdana" panose="020B0604030504040204" pitchFamily="34" charset="0"/>
              </a:rPr>
              <a:t>] = false;</a:t>
            </a:r>
          </a:p>
          <a:p>
            <a:pPr marL="457200" lvl="1" indent="0">
              <a:lnSpc>
                <a:spcPct val="90000"/>
              </a:lnSpc>
              <a:spcBef>
                <a:spcPct val="20000"/>
              </a:spcBef>
              <a:buNone/>
            </a:pPr>
            <a:r>
              <a:rPr lang="en-US" altLang="zh-CN" sz="2000" dirty="0">
                <a:solidFill>
                  <a:srgbClr val="0000FF"/>
                </a:solidFill>
                <a:latin typeface="Verdana" panose="020B0604030504040204" pitchFamily="34" charset="0"/>
              </a:rPr>
              <a:t>}</a:t>
            </a:r>
            <a:endParaRPr lang="en-US" altLang="zh-CN" sz="2000" dirty="0">
              <a:solidFill>
                <a:srgbClr val="0000FF"/>
              </a:solidFill>
            </a:endParaRPr>
          </a:p>
        </p:txBody>
      </p:sp>
      <p:sp>
        <p:nvSpPr>
          <p:cNvPr id="39939" name="Rectangle 4"/>
          <p:cNvSpPr>
            <a:spLocks noGrp="1"/>
          </p:cNvSpPr>
          <p:nvPr>
            <p:ph type="body" sz="half" idx="4294967295"/>
          </p:nvPr>
        </p:nvSpPr>
        <p:spPr>
          <a:xfrm>
            <a:off x="446405" y="882634"/>
            <a:ext cx="8077200" cy="914400"/>
          </a:xfrm>
          <a:ln/>
        </p:spPr>
        <p:txBody>
          <a:bodyPr vert="horz" wrap="square" lIns="91440" tIns="45720" rIns="91440" bIns="45720" anchor="t" anchorCtr="0"/>
          <a:lstStyle>
            <a:lvl1pPr lvl="0">
              <a:buClr>
                <a:srgbClr val="993300"/>
              </a:buClr>
              <a:buSzPct val="90000"/>
              <a:buFont typeface="Monotype Sorts" charset="2"/>
              <a:defRPr sz="2800"/>
            </a:lvl1pPr>
            <a:lvl2pPr lvl="1">
              <a:buClr>
                <a:srgbClr val="CC6600"/>
              </a:buClr>
              <a:buSzPct val="80000"/>
              <a:buFont typeface="Monotype Sorts" charset="2"/>
              <a:defRPr sz="2400"/>
            </a:lvl2pPr>
            <a:lvl3pPr lvl="2">
              <a:buClr>
                <a:srgbClr val="009900"/>
              </a:buClr>
              <a:buSzPct val="75000"/>
              <a:buFont typeface="Webdings" panose="05030102010509060703" pitchFamily="18" charset="2"/>
              <a:defRPr sz="2000"/>
            </a:lvl3pPr>
            <a:lvl4pPr lvl="3">
              <a:buClr>
                <a:schemeClr val="hlink"/>
              </a:buClr>
              <a:buSzPct val="75000"/>
              <a:buFontTx/>
              <a:defRPr sz="1800"/>
            </a:lvl4pPr>
            <a:lvl5pPr lvl="4">
              <a:buClr>
                <a:srgbClr val="FF0066"/>
              </a:buClr>
              <a:buSzPct val="75000"/>
              <a:buFontTx/>
              <a:defRPr sz="1800"/>
            </a:lvl5pPr>
          </a:lstStyle>
          <a:p>
            <a:pPr lvl="0" eaLnBrk="1" hangingPunct="1">
              <a:lnSpc>
                <a:spcPct val="90000"/>
              </a:lnSpc>
              <a:buClr>
                <a:srgbClr val="993300"/>
              </a:buClr>
            </a:pPr>
            <a:r>
              <a:rPr lang="en-US" altLang="zh-CN" sz="2400" dirty="0"/>
              <a:t>A different idea (assumes just two threads):</a:t>
            </a:r>
          </a:p>
          <a:p>
            <a:pPr lvl="1" indent="-285750" eaLnBrk="1" hangingPunct="1">
              <a:lnSpc>
                <a:spcPct val="90000"/>
              </a:lnSpc>
              <a:buClr>
                <a:srgbClr val="CC6600"/>
              </a:buClr>
              <a:buSzPct val="80000"/>
              <a:buFont typeface="Monotype Sorts" charset="2"/>
              <a:buChar char="l"/>
            </a:pPr>
            <a:r>
              <a:rPr lang="en-US" altLang="zh-CN" sz="2400" dirty="0"/>
              <a:t>Have a boolean flag, </a:t>
            </a:r>
            <a:r>
              <a:rPr lang="en-US" altLang="zh-CN" sz="2400" i="1" dirty="0">
                <a:solidFill>
                  <a:srgbClr val="FF0000"/>
                </a:solidFill>
              </a:rPr>
              <a:t>inside[i]</a:t>
            </a:r>
            <a:r>
              <a:rPr lang="en-US" altLang="zh-CN" sz="2400" dirty="0"/>
              <a:t>.  Initially </a:t>
            </a:r>
            <a:r>
              <a:rPr lang="en-US" altLang="zh-CN" sz="2400" dirty="0">
                <a:solidFill>
                  <a:srgbClr val="FF0000"/>
                </a:solidFill>
              </a:rPr>
              <a:t>false</a:t>
            </a:r>
            <a:r>
              <a:rPr lang="en-US" altLang="zh-CN" sz="2400" dirty="0"/>
              <a:t>.</a:t>
            </a:r>
          </a:p>
        </p:txBody>
      </p:sp>
      <p:sp>
        <p:nvSpPr>
          <p:cNvPr id="39940" name="Rectangle 5"/>
          <p:cNvSpPr/>
          <p:nvPr/>
        </p:nvSpPr>
        <p:spPr>
          <a:xfrm>
            <a:off x="4564380" y="3065780"/>
            <a:ext cx="4038600" cy="2573020"/>
          </a:xfrm>
          <a:prstGeom prst="rect">
            <a:avLst/>
          </a:prstGeom>
          <a:noFill/>
          <a:ln w="9525">
            <a:noFill/>
          </a:ln>
        </p:spPr>
        <p:txBody>
          <a:bodyPr anchor="t" anchorCtr="0"/>
          <a:lstStyle/>
          <a:p>
            <a:pPr eaLnBrk="0" hangingPunct="0">
              <a:lnSpc>
                <a:spcPct val="90000"/>
              </a:lnSpc>
              <a:spcBef>
                <a:spcPct val="20000"/>
              </a:spcBef>
            </a:pPr>
            <a:endParaRPr lang="en-US" altLang="zh-CN" sz="2400" dirty="0">
              <a:solidFill>
                <a:srgbClr val="0000FF"/>
              </a:solidFill>
              <a:latin typeface="Verdana" panose="020B0604030504040204" pitchFamily="34" charset="0"/>
            </a:endParaRPr>
          </a:p>
        </p:txBody>
      </p:sp>
      <p:sp>
        <p:nvSpPr>
          <p:cNvPr id="123911" name="AutoShape 7"/>
          <p:cNvSpPr/>
          <p:nvPr/>
        </p:nvSpPr>
        <p:spPr>
          <a:xfrm>
            <a:off x="725487" y="1767608"/>
            <a:ext cx="7519035" cy="762000"/>
          </a:xfrm>
          <a:prstGeom prst="wedgeRectCallout">
            <a:avLst>
              <a:gd name="adj1" fmla="val -30491"/>
              <a:gd name="adj2" fmla="val 74166"/>
            </a:avLst>
          </a:prstGeom>
          <a:solidFill>
            <a:schemeClr val="accent1"/>
          </a:solidFill>
          <a:ln w="9525" cap="flat" cmpd="sng">
            <a:solidFill>
              <a:schemeClr val="tx1"/>
            </a:solidFill>
            <a:prstDash val="solid"/>
            <a:miter/>
            <a:headEnd type="none" w="med" len="med"/>
            <a:tailEnd type="none" w="med" len="med"/>
          </a:ln>
        </p:spPr>
        <p:txBody>
          <a:bodyPr anchor="t" anchorCtr="0"/>
          <a:lstStyle/>
          <a:p>
            <a:pPr algn="ctr" eaLnBrk="0" hangingPunct="0"/>
            <a:r>
              <a:rPr lang="en-US" altLang="zh-CN" sz="1800" b="1" dirty="0">
                <a:latin typeface="Verdana" panose="020B0604030504040204" pitchFamily="34" charset="0"/>
              </a:rPr>
              <a:t>Code </a:t>
            </a:r>
            <a:r>
              <a:rPr lang="en-US" altLang="zh-CN" sz="1800" b="1" u="sng" dirty="0">
                <a:latin typeface="Verdana" panose="020B0604030504040204" pitchFamily="34" charset="0"/>
              </a:rPr>
              <a:t>isn’t live</a:t>
            </a:r>
            <a:r>
              <a:rPr lang="en-US" altLang="zh-CN" sz="1800" b="1" dirty="0">
                <a:latin typeface="Verdana" panose="020B0604030504040204" pitchFamily="34" charset="0"/>
              </a:rPr>
              <a:t>: with bad luck, both threads could be looping, with 0 looking at 1, and 1 looking at 0</a:t>
            </a:r>
          </a:p>
        </p:txBody>
      </p:sp>
      <p:sp>
        <p:nvSpPr>
          <p:cNvPr id="10" name="Text Box 6">
            <a:extLst>
              <a:ext uri="{FF2B5EF4-FFF2-40B4-BE49-F238E27FC236}">
                <a16:creationId xmlns:a16="http://schemas.microsoft.com/office/drawing/2014/main" id="{6B0E934B-00D2-4B44-87BC-093450695056}"/>
              </a:ext>
            </a:extLst>
          </p:cNvPr>
          <p:cNvSpPr txBox="1"/>
          <p:nvPr/>
        </p:nvSpPr>
        <p:spPr>
          <a:xfrm>
            <a:off x="336549" y="2613670"/>
            <a:ext cx="662361" cy="523220"/>
          </a:xfrm>
          <a:prstGeom prst="rect">
            <a:avLst/>
          </a:prstGeom>
          <a:noFill/>
          <a:ln w="57150">
            <a:noFill/>
          </a:ln>
        </p:spPr>
        <p:txBody>
          <a:bodyPr wrap="none" anchor="ctr" anchorCtr="0">
            <a:spAutoFit/>
          </a:bodyPr>
          <a:lstStyle/>
          <a:p>
            <a:pPr algn="ctr" eaLnBrk="0" hangingPunct="0"/>
            <a:r>
              <a:rPr lang="en-US" altLang="zh-CN" sz="2800" dirty="0">
                <a:solidFill>
                  <a:srgbClr val="0000FF"/>
                </a:solidFill>
                <a:latin typeface="Comic Sans MS" panose="030F0702030302020204" pitchFamily="66" charset="0"/>
              </a:rPr>
              <a:t>T</a:t>
            </a:r>
            <a:r>
              <a:rPr lang="en-US" altLang="zh-CN" dirty="0">
                <a:solidFill>
                  <a:srgbClr val="0000FF"/>
                </a:solidFill>
                <a:latin typeface="Comic Sans MS" panose="030F0702030302020204" pitchFamily="66" charset="0"/>
              </a:rPr>
              <a:t>0:</a:t>
            </a:r>
            <a:endParaRPr lang="en-US" altLang="zh-CN" sz="2800" dirty="0">
              <a:solidFill>
                <a:srgbClr val="0000FF"/>
              </a:solidFill>
              <a:latin typeface="Comic Sans MS" panose="030F0702030302020204" pitchFamily="66" charset="0"/>
            </a:endParaRPr>
          </a:p>
        </p:txBody>
      </p:sp>
      <p:sp>
        <p:nvSpPr>
          <p:cNvPr id="11" name="Text Box 6">
            <a:extLst>
              <a:ext uri="{FF2B5EF4-FFF2-40B4-BE49-F238E27FC236}">
                <a16:creationId xmlns:a16="http://schemas.microsoft.com/office/drawing/2014/main" id="{F3B1187B-D190-49D0-ABD1-28147EAFE422}"/>
              </a:ext>
            </a:extLst>
          </p:cNvPr>
          <p:cNvSpPr txBox="1"/>
          <p:nvPr/>
        </p:nvSpPr>
        <p:spPr>
          <a:xfrm>
            <a:off x="4528676" y="2610115"/>
            <a:ext cx="620683" cy="523220"/>
          </a:xfrm>
          <a:prstGeom prst="rect">
            <a:avLst/>
          </a:prstGeom>
          <a:noFill/>
          <a:ln w="57150">
            <a:noFill/>
          </a:ln>
        </p:spPr>
        <p:txBody>
          <a:bodyPr wrap="none" anchor="ctr" anchorCtr="0">
            <a:spAutoFit/>
          </a:bodyPr>
          <a:lstStyle/>
          <a:p>
            <a:pPr algn="ctr" eaLnBrk="0" hangingPunct="0"/>
            <a:r>
              <a:rPr lang="en-US" altLang="zh-CN" sz="2800" dirty="0">
                <a:solidFill>
                  <a:srgbClr val="FF0000"/>
                </a:solidFill>
                <a:latin typeface="Comic Sans MS" panose="030F0702030302020204" pitchFamily="66" charset="0"/>
              </a:rPr>
              <a:t>T</a:t>
            </a:r>
            <a:r>
              <a:rPr lang="en-US" altLang="zh-CN" dirty="0">
                <a:solidFill>
                  <a:srgbClr val="FF0000"/>
                </a:solidFill>
                <a:latin typeface="Comic Sans MS" panose="030F0702030302020204" pitchFamily="66" charset="0"/>
              </a:rPr>
              <a:t>1:</a:t>
            </a:r>
            <a:endParaRPr lang="en-US" altLang="zh-CN" sz="2800" dirty="0">
              <a:solidFill>
                <a:srgbClr val="FF0000"/>
              </a:solidFill>
              <a:latin typeface="Comic Sans MS" panose="030F0702030302020204" pitchFamily="66" charset="0"/>
            </a:endParaRPr>
          </a:p>
        </p:txBody>
      </p:sp>
      <p:sp>
        <p:nvSpPr>
          <p:cNvPr id="13" name="等腰三角形 12">
            <a:extLst>
              <a:ext uri="{FF2B5EF4-FFF2-40B4-BE49-F238E27FC236}">
                <a16:creationId xmlns:a16="http://schemas.microsoft.com/office/drawing/2014/main" id="{5EA8C740-D7D8-424D-8DF9-0C6E1BBA3145}"/>
              </a:ext>
            </a:extLst>
          </p:cNvPr>
          <p:cNvSpPr/>
          <p:nvPr/>
        </p:nvSpPr>
        <p:spPr bwMode="auto">
          <a:xfrm rot="5400000">
            <a:off x="1452971" y="3702400"/>
            <a:ext cx="274320" cy="219551"/>
          </a:xfrm>
          <a:prstGeom prst="triangle">
            <a:avLst/>
          </a:prstGeom>
          <a:solidFill>
            <a:srgbClr val="0066FF"/>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4" name="Rectangle 3">
            <a:extLst>
              <a:ext uri="{FF2B5EF4-FFF2-40B4-BE49-F238E27FC236}">
                <a16:creationId xmlns:a16="http://schemas.microsoft.com/office/drawing/2014/main" id="{0AC06F28-85B4-467E-ADB5-63C7BA02A974}"/>
              </a:ext>
            </a:extLst>
          </p:cNvPr>
          <p:cNvSpPr txBox="1">
            <a:spLocks/>
          </p:cNvSpPr>
          <p:nvPr/>
        </p:nvSpPr>
        <p:spPr>
          <a:xfrm>
            <a:off x="5057284" y="2871725"/>
            <a:ext cx="4191000" cy="4500880"/>
          </a:xfrm>
          <a:prstGeom prst="rect">
            <a:avLst/>
          </a:prstGeom>
          <a:noFill/>
          <a:ln w="9525">
            <a:noFill/>
          </a:ln>
        </p:spPr>
        <p:txBody>
          <a:bodyPr vert="horz" wrap="square" lIns="91440" tIns="45720" rIns="91440" bIns="45720" anchor="t" anchorCtr="0"/>
          <a:lstStyle>
            <a:lvl1pPr marL="342900" lvl="0" indent="-342900" algn="l" rtl="0" eaLnBrk="0" fontAlgn="base" hangingPunct="0">
              <a:spcBef>
                <a:spcPct val="35000"/>
              </a:spcBef>
              <a:spcAft>
                <a:spcPct val="0"/>
              </a:spcAft>
              <a:buClr>
                <a:srgbClr val="993300"/>
              </a:buClr>
              <a:buSzPct val="90000"/>
              <a:buFont typeface="Monotype Sorts" charset="2"/>
              <a:buChar char="n"/>
              <a:defRPr kumimoji="1" sz="2800">
                <a:solidFill>
                  <a:schemeClr val="tx1"/>
                </a:solidFill>
                <a:latin typeface="+mn-lt"/>
                <a:ea typeface="MS PGothic" panose="020B0600070205080204" pitchFamily="34" charset="-128"/>
                <a:cs typeface="+mn-cs"/>
              </a:defRPr>
            </a:lvl1pPr>
            <a:lvl2pPr marL="742950" lvl="1" indent="-285750" algn="l" rtl="0" eaLnBrk="0" fontAlgn="base" hangingPunct="0">
              <a:spcBef>
                <a:spcPct val="35000"/>
              </a:spcBef>
              <a:spcAft>
                <a:spcPct val="0"/>
              </a:spcAft>
              <a:buClr>
                <a:srgbClr val="CC6600"/>
              </a:buClr>
              <a:buSzPct val="80000"/>
              <a:buFont typeface="Monotype Sorts" charset="2"/>
              <a:buChar char="l"/>
              <a:defRPr kumimoji="1" sz="2400">
                <a:solidFill>
                  <a:schemeClr val="tx1"/>
                </a:solidFill>
                <a:latin typeface="+mn-lt"/>
                <a:ea typeface="MS PGothic" panose="020B0600070205080204" pitchFamily="34" charset="-128"/>
              </a:defRPr>
            </a:lvl2pPr>
            <a:lvl3pPr marL="1085850" lvl="2"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000">
                <a:solidFill>
                  <a:schemeClr val="tx1"/>
                </a:solidFill>
                <a:latin typeface="+mn-lt"/>
                <a:ea typeface="MS PGothic" panose="020B0600070205080204" pitchFamily="34" charset="-128"/>
              </a:defRPr>
            </a:lvl3pPr>
            <a:lvl4pPr marL="1428750" lvl="3" indent="-228600" algn="l" rtl="0" eaLnBrk="0" fontAlgn="base" hangingPunct="0">
              <a:spcBef>
                <a:spcPct val="35000"/>
              </a:spcBef>
              <a:spcAft>
                <a:spcPct val="0"/>
              </a:spcAft>
              <a:buClr>
                <a:schemeClr val="hlink"/>
              </a:buClr>
              <a:buSzPct val="75000"/>
              <a:buFontTx/>
              <a:buChar char="–"/>
              <a:defRPr kumimoji="1" sz="1800">
                <a:solidFill>
                  <a:schemeClr val="tx1"/>
                </a:solidFill>
                <a:latin typeface="+mn-lt"/>
                <a:ea typeface="MS PGothic" panose="020B0600070205080204" pitchFamily="34" charset="-128"/>
              </a:defRPr>
            </a:lvl4pPr>
            <a:lvl5pPr marL="1771650" lvl="4" indent="-228600" algn="l" rtl="0" eaLnBrk="0" fontAlgn="base" hangingPunct="0">
              <a:spcBef>
                <a:spcPct val="35000"/>
              </a:spcBef>
              <a:spcAft>
                <a:spcPct val="0"/>
              </a:spcAft>
              <a:buClr>
                <a:srgbClr val="FF0066"/>
              </a:buClr>
              <a:buSzPct val="75000"/>
              <a:buFontTx/>
              <a:buChar char="»"/>
              <a:defRPr kumimoji="1" sz="18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9pPr>
          </a:lstStyle>
          <a:p>
            <a:pPr marL="0" indent="0" eaLnBrk="1" hangingPunct="1">
              <a:lnSpc>
                <a:spcPct val="90000"/>
              </a:lnSpc>
              <a:buFont typeface="Monotype Sorts" charset="2"/>
              <a:buNone/>
            </a:pPr>
            <a:r>
              <a:rPr lang="en-US" altLang="zh-CN" sz="2000" kern="0" dirty="0" err="1">
                <a:solidFill>
                  <a:srgbClr val="FF0000"/>
                </a:solidFill>
              </a:rPr>
              <a:t>CSEnter</a:t>
            </a:r>
            <a:r>
              <a:rPr lang="en-US" altLang="zh-CN" sz="2000" kern="0" dirty="0">
                <a:solidFill>
                  <a:srgbClr val="FF0000"/>
                </a:solidFill>
              </a:rPr>
              <a:t>(int j)</a:t>
            </a:r>
          </a:p>
          <a:p>
            <a:pPr lvl="1" eaLnBrk="1" hangingPunct="1">
              <a:lnSpc>
                <a:spcPct val="90000"/>
              </a:lnSpc>
              <a:buFontTx/>
              <a:buNone/>
            </a:pPr>
            <a:r>
              <a:rPr lang="en-US" altLang="zh-CN" sz="2000" kern="0" dirty="0">
                <a:solidFill>
                  <a:srgbClr val="FF0000"/>
                </a:solidFill>
              </a:rPr>
              <a:t>{</a:t>
            </a:r>
          </a:p>
          <a:p>
            <a:pPr lvl="2" eaLnBrk="1" hangingPunct="1">
              <a:lnSpc>
                <a:spcPct val="90000"/>
              </a:lnSpc>
              <a:buFontTx/>
              <a:buNone/>
            </a:pPr>
            <a:r>
              <a:rPr lang="en-US" altLang="zh-CN" kern="0" dirty="0">
                <a:solidFill>
                  <a:srgbClr val="FF0000"/>
                </a:solidFill>
              </a:rPr>
              <a:t>inside[j] = true;</a:t>
            </a:r>
          </a:p>
          <a:p>
            <a:pPr lvl="2" eaLnBrk="1" hangingPunct="1">
              <a:lnSpc>
                <a:spcPct val="90000"/>
              </a:lnSpc>
              <a:buFontTx/>
              <a:buNone/>
            </a:pPr>
            <a:r>
              <a:rPr lang="en-US" altLang="zh-CN" kern="0" dirty="0">
                <a:solidFill>
                  <a:srgbClr val="FF0000"/>
                </a:solidFill>
              </a:rPr>
              <a:t>while(inside[</a:t>
            </a:r>
            <a:r>
              <a:rPr lang="en-US" altLang="zh-CN" kern="0" dirty="0" err="1">
                <a:solidFill>
                  <a:srgbClr val="FF0000"/>
                </a:solidFill>
              </a:rPr>
              <a:t>i</a:t>
            </a:r>
            <a:r>
              <a:rPr lang="en-US" altLang="zh-CN" kern="0" dirty="0">
                <a:solidFill>
                  <a:srgbClr val="FF0000"/>
                </a:solidFill>
              </a:rPr>
              <a:t>]) continue;</a:t>
            </a:r>
          </a:p>
          <a:p>
            <a:pPr lvl="1" eaLnBrk="1" hangingPunct="1">
              <a:lnSpc>
                <a:spcPct val="90000"/>
              </a:lnSpc>
              <a:buFontTx/>
              <a:buNone/>
            </a:pPr>
            <a:r>
              <a:rPr lang="en-US" altLang="zh-CN" sz="2000" kern="0" dirty="0">
                <a:solidFill>
                  <a:srgbClr val="FF0000"/>
                </a:solidFill>
              </a:rPr>
              <a:t>}</a:t>
            </a:r>
          </a:p>
          <a:p>
            <a:pPr lvl="1" eaLnBrk="1" hangingPunct="1">
              <a:lnSpc>
                <a:spcPct val="90000"/>
              </a:lnSpc>
              <a:buFont typeface="Monotype Sorts" charset="2"/>
              <a:buNone/>
            </a:pPr>
            <a:r>
              <a:rPr lang="en-US" altLang="zh-CN" sz="2000" kern="0" dirty="0">
                <a:solidFill>
                  <a:srgbClr val="FF0000"/>
                </a:solidFill>
              </a:rPr>
              <a:t>#Critical section</a:t>
            </a:r>
          </a:p>
          <a:p>
            <a:pPr marL="0" indent="0">
              <a:lnSpc>
                <a:spcPct val="90000"/>
              </a:lnSpc>
              <a:spcBef>
                <a:spcPct val="20000"/>
              </a:spcBef>
              <a:buFont typeface="Monotype Sorts" charset="2"/>
              <a:buNone/>
            </a:pPr>
            <a:r>
              <a:rPr lang="en-US" altLang="zh-CN" sz="2000" kern="0" dirty="0" err="1">
                <a:solidFill>
                  <a:srgbClr val="FF0000"/>
                </a:solidFill>
                <a:latin typeface="Verdana" panose="020B0604030504040204" pitchFamily="34" charset="0"/>
              </a:rPr>
              <a:t>CSExit</a:t>
            </a:r>
            <a:r>
              <a:rPr lang="en-US" altLang="zh-CN" sz="2000" kern="0" dirty="0">
                <a:solidFill>
                  <a:srgbClr val="FF0000"/>
                </a:solidFill>
                <a:latin typeface="Verdana" panose="020B0604030504040204" pitchFamily="34" charset="0"/>
              </a:rPr>
              <a:t>(int j)</a:t>
            </a:r>
          </a:p>
          <a:p>
            <a:pPr marL="457200" lvl="1" indent="0">
              <a:lnSpc>
                <a:spcPct val="90000"/>
              </a:lnSpc>
              <a:spcBef>
                <a:spcPct val="20000"/>
              </a:spcBef>
              <a:buFont typeface="Monotype Sorts" charset="2"/>
              <a:buNone/>
            </a:pPr>
            <a:r>
              <a:rPr lang="en-US" altLang="zh-CN" sz="2000" kern="0" dirty="0">
                <a:solidFill>
                  <a:srgbClr val="FF0000"/>
                </a:solidFill>
                <a:latin typeface="Verdana" panose="020B0604030504040204" pitchFamily="34" charset="0"/>
              </a:rPr>
              <a:t>{</a:t>
            </a:r>
          </a:p>
          <a:p>
            <a:pPr marL="914400" lvl="2" indent="0">
              <a:lnSpc>
                <a:spcPct val="90000"/>
              </a:lnSpc>
              <a:spcBef>
                <a:spcPct val="20000"/>
              </a:spcBef>
              <a:buFont typeface="Webdings" panose="05030102010509060703" pitchFamily="18" charset="2"/>
              <a:buNone/>
            </a:pPr>
            <a:r>
              <a:rPr lang="en-US" altLang="zh-CN" kern="0" dirty="0">
                <a:solidFill>
                  <a:srgbClr val="FF0000"/>
                </a:solidFill>
                <a:latin typeface="Verdana" panose="020B0604030504040204" pitchFamily="34" charset="0"/>
              </a:rPr>
              <a:t>Inside[j] = false;</a:t>
            </a:r>
          </a:p>
          <a:p>
            <a:pPr marL="457200" lvl="1" indent="0">
              <a:lnSpc>
                <a:spcPct val="90000"/>
              </a:lnSpc>
              <a:spcBef>
                <a:spcPct val="20000"/>
              </a:spcBef>
              <a:buFont typeface="Monotype Sorts" charset="2"/>
              <a:buNone/>
            </a:pPr>
            <a:r>
              <a:rPr lang="en-US" altLang="zh-CN" sz="2000" kern="0" dirty="0">
                <a:solidFill>
                  <a:srgbClr val="FF0000"/>
                </a:solidFill>
                <a:latin typeface="Verdana" panose="020B0604030504040204" pitchFamily="34" charset="0"/>
              </a:rPr>
              <a:t>}</a:t>
            </a:r>
            <a:endParaRPr lang="en-US" altLang="zh-CN" sz="2000" kern="0" dirty="0">
              <a:solidFill>
                <a:srgbClr val="FF0000"/>
              </a:solidFill>
            </a:endParaRPr>
          </a:p>
        </p:txBody>
      </p:sp>
      <p:sp>
        <p:nvSpPr>
          <p:cNvPr id="15" name="等腰三角形 14">
            <a:extLst>
              <a:ext uri="{FF2B5EF4-FFF2-40B4-BE49-F238E27FC236}">
                <a16:creationId xmlns:a16="http://schemas.microsoft.com/office/drawing/2014/main" id="{9C476DE9-BA7A-422D-8FE0-03AC4AFA612D}"/>
              </a:ext>
            </a:extLst>
          </p:cNvPr>
          <p:cNvSpPr/>
          <p:nvPr/>
        </p:nvSpPr>
        <p:spPr bwMode="auto">
          <a:xfrm rot="5400000">
            <a:off x="5643970" y="3702401"/>
            <a:ext cx="274320" cy="219551"/>
          </a:xfrm>
          <a:prstGeom prst="triangle">
            <a:avLst/>
          </a:prstGeom>
          <a:solidFill>
            <a:srgbClr val="FF33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2" name="矩形 11">
            <a:extLst>
              <a:ext uri="{FF2B5EF4-FFF2-40B4-BE49-F238E27FC236}">
                <a16:creationId xmlns:a16="http://schemas.microsoft.com/office/drawing/2014/main" id="{5FC9DFF2-CD4F-4F48-A63E-4F7CA06BCCF5}"/>
              </a:ext>
            </a:extLst>
          </p:cNvPr>
          <p:cNvSpPr/>
          <p:nvPr/>
        </p:nvSpPr>
        <p:spPr bwMode="auto">
          <a:xfrm>
            <a:off x="1735611" y="3637819"/>
            <a:ext cx="1723869" cy="348712"/>
          </a:xfrm>
          <a:prstGeom prst="rect">
            <a:avLst/>
          </a:prstGeom>
          <a:noFill/>
          <a:ln w="28575" cap="flat" cmpd="sng" algn="ctr">
            <a:solidFill>
              <a:schemeClr val="accent4"/>
            </a:solidFill>
            <a:prstDash val="sysDash"/>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6" name="矩形 15">
            <a:extLst>
              <a:ext uri="{FF2B5EF4-FFF2-40B4-BE49-F238E27FC236}">
                <a16:creationId xmlns:a16="http://schemas.microsoft.com/office/drawing/2014/main" id="{0FB78F9E-236C-47A8-8ECE-857B32F8D9EB}"/>
              </a:ext>
            </a:extLst>
          </p:cNvPr>
          <p:cNvSpPr/>
          <p:nvPr/>
        </p:nvSpPr>
        <p:spPr bwMode="auto">
          <a:xfrm>
            <a:off x="5979950" y="3637819"/>
            <a:ext cx="1683695" cy="348712"/>
          </a:xfrm>
          <a:prstGeom prst="rect">
            <a:avLst/>
          </a:prstGeom>
          <a:noFill/>
          <a:ln w="28575" cap="flat" cmpd="sng" algn="ctr">
            <a:solidFill>
              <a:schemeClr val="accent4"/>
            </a:solidFill>
            <a:prstDash val="sysDash"/>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7" name="矩形 16">
            <a:extLst>
              <a:ext uri="{FF2B5EF4-FFF2-40B4-BE49-F238E27FC236}">
                <a16:creationId xmlns:a16="http://schemas.microsoft.com/office/drawing/2014/main" id="{BDEC8D0D-79BC-4FF7-A400-37BC6AECBAA3}"/>
              </a:ext>
            </a:extLst>
          </p:cNvPr>
          <p:cNvSpPr/>
          <p:nvPr/>
        </p:nvSpPr>
        <p:spPr>
          <a:xfrm>
            <a:off x="3459480" y="4348960"/>
            <a:ext cx="1467068" cy="400110"/>
          </a:xfrm>
          <a:prstGeom prst="rect">
            <a:avLst/>
          </a:prstGeom>
        </p:spPr>
        <p:txBody>
          <a:bodyPr wrap="none">
            <a:spAutoFit/>
          </a:bodyPr>
          <a:lstStyle/>
          <a:p>
            <a:r>
              <a:rPr lang="zh-CN" altLang="en-US" b="1" dirty="0">
                <a:ea typeface="宋体" panose="02010600030101010101" pitchFamily="2" charset="-122"/>
              </a:rPr>
              <a:t>能不能访问</a:t>
            </a:r>
          </a:p>
        </p:txBody>
      </p:sp>
      <p:sp>
        <p:nvSpPr>
          <p:cNvPr id="18" name="十字形 17">
            <a:extLst>
              <a:ext uri="{FF2B5EF4-FFF2-40B4-BE49-F238E27FC236}">
                <a16:creationId xmlns:a16="http://schemas.microsoft.com/office/drawing/2014/main" id="{364EFE9D-F124-4490-B0B3-DC476D5C996F}"/>
              </a:ext>
            </a:extLst>
          </p:cNvPr>
          <p:cNvSpPr/>
          <p:nvPr/>
        </p:nvSpPr>
        <p:spPr bwMode="auto">
          <a:xfrm rot="2651331">
            <a:off x="3133103" y="4349345"/>
            <a:ext cx="398138" cy="399342"/>
          </a:xfrm>
          <a:prstGeom prst="plus">
            <a:avLst>
              <a:gd name="adj" fmla="val 40665"/>
            </a:avLst>
          </a:prstGeom>
          <a:solidFill>
            <a:srgbClr val="FF00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Tree>
    <p:extLst>
      <p:ext uri="{BB962C8B-B14F-4D97-AF65-F5344CB8AC3E}">
        <p14:creationId xmlns:p14="http://schemas.microsoft.com/office/powerpoint/2010/main" val="3393753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7" grpId="0"/>
      <p:bldP spid="1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p:cNvSpPr>
          <p:nvPr>
            <p:ph type="title" idx="4294967295"/>
          </p:nvPr>
        </p:nvSpPr>
        <p:spPr>
          <a:ln/>
        </p:spPr>
        <p:txBody>
          <a:bodyPr vert="horz" wrap="square" lIns="91440" tIns="45720" rIns="91440" bIns="45720" anchor="b" anchorCtr="0"/>
          <a:lstStyle/>
          <a:p>
            <a:pPr eaLnBrk="1" hangingPunct="1"/>
            <a:r>
              <a:rPr lang="en-US" altLang="zh-CN" dirty="0"/>
              <a:t>Solving the problem: Take 3</a:t>
            </a:r>
          </a:p>
        </p:txBody>
      </p:sp>
      <p:sp>
        <p:nvSpPr>
          <p:cNvPr id="41986" name="Rectangle 3"/>
          <p:cNvSpPr>
            <a:spLocks noGrp="1"/>
          </p:cNvSpPr>
          <p:nvPr>
            <p:ph type="body" sz="half" idx="4294967295"/>
          </p:nvPr>
        </p:nvSpPr>
        <p:spPr>
          <a:xfrm>
            <a:off x="717551" y="3048000"/>
            <a:ext cx="3854449" cy="3532187"/>
          </a:xfrm>
          <a:ln/>
        </p:spPr>
        <p:txBody>
          <a:bodyPr vert="horz" wrap="square" lIns="91440" tIns="45720" rIns="91440" bIns="45720" anchor="t" anchorCtr="0"/>
          <a:lstStyle>
            <a:lvl1pPr lvl="0">
              <a:buClr>
                <a:srgbClr val="993300"/>
              </a:buClr>
              <a:buSzPct val="90000"/>
              <a:buFont typeface="Monotype Sorts" charset="2"/>
              <a:defRPr sz="2800"/>
            </a:lvl1pPr>
            <a:lvl2pPr lvl="1">
              <a:buClr>
                <a:srgbClr val="CC6600"/>
              </a:buClr>
              <a:buSzPct val="80000"/>
              <a:buFont typeface="Monotype Sorts" charset="2"/>
              <a:defRPr sz="2400"/>
            </a:lvl2pPr>
            <a:lvl3pPr lvl="2">
              <a:buClr>
                <a:srgbClr val="009900"/>
              </a:buClr>
              <a:buSzPct val="75000"/>
              <a:buFont typeface="Webdings" panose="05030102010509060703" pitchFamily="18" charset="2"/>
              <a:defRPr sz="2000"/>
            </a:lvl3pPr>
            <a:lvl4pPr lvl="3">
              <a:buClr>
                <a:schemeClr val="hlink"/>
              </a:buClr>
              <a:buSzPct val="75000"/>
              <a:buFontTx/>
              <a:defRPr sz="1800"/>
            </a:lvl4pPr>
            <a:lvl5pPr lvl="4">
              <a:buClr>
                <a:srgbClr val="FF0066"/>
              </a:buClr>
              <a:buSzPct val="75000"/>
              <a:buFontTx/>
              <a:defRPr sz="1800"/>
            </a:lvl5pPr>
          </a:lstStyle>
          <a:p>
            <a:pPr marL="0" lvl="0" indent="0" eaLnBrk="1" hangingPunct="1">
              <a:lnSpc>
                <a:spcPct val="90000"/>
              </a:lnSpc>
              <a:buClr>
                <a:srgbClr val="993300"/>
              </a:buClr>
              <a:buNone/>
            </a:pPr>
            <a:r>
              <a:rPr lang="en-US" altLang="zh-CN" sz="2000" dirty="0">
                <a:solidFill>
                  <a:srgbClr val="0000FF"/>
                </a:solidFill>
              </a:rPr>
              <a:t>CSEnter(int i)</a:t>
            </a:r>
          </a:p>
          <a:p>
            <a:pPr lvl="1" indent="-285750" eaLnBrk="1" hangingPunct="1">
              <a:lnSpc>
                <a:spcPct val="90000"/>
              </a:lnSpc>
              <a:buClr>
                <a:srgbClr val="CC6600"/>
              </a:buClr>
              <a:buSzPct val="80000"/>
              <a:buFontTx/>
              <a:buNone/>
            </a:pPr>
            <a:r>
              <a:rPr lang="en-US" altLang="zh-CN" sz="2000" dirty="0">
                <a:solidFill>
                  <a:srgbClr val="0000FF"/>
                </a:solidFill>
              </a:rPr>
              <a:t>{</a:t>
            </a:r>
          </a:p>
          <a:p>
            <a:pPr lvl="2" indent="-228600" eaLnBrk="1" hangingPunct="1">
              <a:lnSpc>
                <a:spcPct val="90000"/>
              </a:lnSpc>
              <a:buClr>
                <a:srgbClr val="009900"/>
              </a:buClr>
              <a:buSzPct val="75000"/>
              <a:buFontTx/>
              <a:buNone/>
            </a:pPr>
            <a:r>
              <a:rPr lang="en-US" altLang="zh-CN" dirty="0">
                <a:solidFill>
                  <a:srgbClr val="0000FF"/>
                </a:solidFill>
              </a:rPr>
              <a:t>while(turn != i) continue; </a:t>
            </a:r>
          </a:p>
          <a:p>
            <a:pPr lvl="1" indent="-285750" eaLnBrk="1" hangingPunct="1">
              <a:lnSpc>
                <a:spcPct val="90000"/>
              </a:lnSpc>
              <a:buClr>
                <a:srgbClr val="CC6600"/>
              </a:buClr>
              <a:buSzPct val="80000"/>
              <a:buFontTx/>
              <a:buNone/>
            </a:pPr>
            <a:r>
              <a:rPr lang="en-US" altLang="zh-CN" sz="2000" dirty="0">
                <a:solidFill>
                  <a:srgbClr val="0000FF"/>
                </a:solidFill>
              </a:rPr>
              <a:t>}</a:t>
            </a:r>
          </a:p>
          <a:p>
            <a:pPr lvl="1" eaLnBrk="1" hangingPunct="1">
              <a:lnSpc>
                <a:spcPct val="90000"/>
              </a:lnSpc>
              <a:buNone/>
            </a:pPr>
            <a:r>
              <a:rPr lang="en-US" altLang="zh-CN" sz="2000" dirty="0">
                <a:solidFill>
                  <a:srgbClr val="0000FF"/>
                </a:solidFill>
              </a:rPr>
              <a:t>#Critical section</a:t>
            </a:r>
          </a:p>
          <a:p>
            <a:pPr marL="0" indent="0">
              <a:lnSpc>
                <a:spcPct val="90000"/>
              </a:lnSpc>
              <a:spcBef>
                <a:spcPct val="20000"/>
              </a:spcBef>
              <a:buNone/>
            </a:pPr>
            <a:r>
              <a:rPr lang="en-US" altLang="zh-CN" sz="2000" dirty="0" err="1">
                <a:solidFill>
                  <a:srgbClr val="0000FF"/>
                </a:solidFill>
                <a:latin typeface="Verdana" panose="020B0604030504040204" pitchFamily="34" charset="0"/>
              </a:rPr>
              <a:t>CSExit</a:t>
            </a:r>
            <a:r>
              <a:rPr lang="en-US" altLang="zh-CN" sz="2000" dirty="0">
                <a:solidFill>
                  <a:srgbClr val="0000FF"/>
                </a:solidFill>
                <a:latin typeface="Verdana" panose="020B0604030504040204" pitchFamily="34" charset="0"/>
              </a:rPr>
              <a:t>(int </a:t>
            </a:r>
            <a:r>
              <a:rPr lang="en-US" altLang="zh-CN" sz="2000" dirty="0" err="1">
                <a:solidFill>
                  <a:srgbClr val="0000FF"/>
                </a:solidFill>
                <a:latin typeface="Verdana" panose="020B0604030504040204" pitchFamily="34" charset="0"/>
              </a:rPr>
              <a:t>i</a:t>
            </a:r>
            <a:r>
              <a:rPr lang="en-US" altLang="zh-CN" sz="2000" dirty="0">
                <a:solidFill>
                  <a:srgbClr val="0000FF"/>
                </a:solidFill>
                <a:latin typeface="Verdana" panose="020B0604030504040204" pitchFamily="34" charset="0"/>
              </a:rPr>
              <a:t>)</a:t>
            </a:r>
          </a:p>
          <a:p>
            <a:pPr marL="457200" lvl="1" indent="0">
              <a:lnSpc>
                <a:spcPct val="90000"/>
              </a:lnSpc>
              <a:spcBef>
                <a:spcPct val="20000"/>
              </a:spcBef>
              <a:buNone/>
            </a:pPr>
            <a:r>
              <a:rPr lang="en-US" altLang="zh-CN" sz="2000" dirty="0">
                <a:solidFill>
                  <a:srgbClr val="0000FF"/>
                </a:solidFill>
                <a:latin typeface="Verdana" panose="020B0604030504040204" pitchFamily="34" charset="0"/>
              </a:rPr>
              <a:t>{</a:t>
            </a:r>
          </a:p>
          <a:p>
            <a:pPr marL="914400" lvl="2" indent="0">
              <a:lnSpc>
                <a:spcPct val="90000"/>
              </a:lnSpc>
              <a:spcBef>
                <a:spcPct val="20000"/>
              </a:spcBef>
              <a:buNone/>
            </a:pPr>
            <a:r>
              <a:rPr lang="en-US" altLang="zh-CN" dirty="0">
                <a:solidFill>
                  <a:srgbClr val="0000FF"/>
                </a:solidFill>
                <a:latin typeface="Verdana" panose="020B0604030504040204" pitchFamily="34" charset="0"/>
              </a:rPr>
              <a:t>turn = </a:t>
            </a:r>
            <a:r>
              <a:rPr lang="en-US" altLang="zh-CN" dirty="0" err="1">
                <a:solidFill>
                  <a:srgbClr val="0000FF"/>
                </a:solidFill>
                <a:latin typeface="Verdana" panose="020B0604030504040204" pitchFamily="34" charset="0"/>
              </a:rPr>
              <a:t>i</a:t>
            </a:r>
            <a:r>
              <a:rPr lang="en-US" altLang="zh-CN" dirty="0">
                <a:solidFill>
                  <a:srgbClr val="0000FF"/>
                </a:solidFill>
                <a:latin typeface="Verdana" panose="020B0604030504040204" pitchFamily="34" charset="0"/>
              </a:rPr>
              <a:t> ^ 1;</a:t>
            </a:r>
          </a:p>
          <a:p>
            <a:pPr marL="457200" lvl="1" indent="0">
              <a:lnSpc>
                <a:spcPct val="90000"/>
              </a:lnSpc>
              <a:spcBef>
                <a:spcPct val="20000"/>
              </a:spcBef>
              <a:buNone/>
            </a:pPr>
            <a:r>
              <a:rPr lang="en-US" altLang="zh-CN" sz="2000" dirty="0">
                <a:solidFill>
                  <a:srgbClr val="0000FF"/>
                </a:solidFill>
                <a:latin typeface="Verdana" panose="020B0604030504040204" pitchFamily="34" charset="0"/>
              </a:rPr>
              <a:t>}</a:t>
            </a:r>
            <a:endParaRPr lang="en-US" altLang="zh-CN" sz="2000" dirty="0">
              <a:solidFill>
                <a:srgbClr val="0000FF"/>
              </a:solidFill>
            </a:endParaRPr>
          </a:p>
        </p:txBody>
      </p:sp>
      <p:sp>
        <p:nvSpPr>
          <p:cNvPr id="41987" name="Rectangle 4"/>
          <p:cNvSpPr>
            <a:spLocks noGrp="1"/>
          </p:cNvSpPr>
          <p:nvPr>
            <p:ph type="body" sz="half" idx="4294967295"/>
          </p:nvPr>
        </p:nvSpPr>
        <p:spPr>
          <a:xfrm>
            <a:off x="509588" y="949325"/>
            <a:ext cx="8077200" cy="914400"/>
          </a:xfrm>
          <a:ln/>
        </p:spPr>
        <p:txBody>
          <a:bodyPr vert="horz" wrap="square" lIns="91440" tIns="45720" rIns="91440" bIns="45720" anchor="t" anchorCtr="0"/>
          <a:lstStyle>
            <a:lvl1pPr lvl="0">
              <a:buClr>
                <a:srgbClr val="993300"/>
              </a:buClr>
              <a:buSzPct val="90000"/>
              <a:buFont typeface="Monotype Sorts" charset="2"/>
              <a:defRPr sz="2800"/>
            </a:lvl1pPr>
            <a:lvl2pPr lvl="1">
              <a:buClr>
                <a:srgbClr val="CC6600"/>
              </a:buClr>
              <a:buSzPct val="80000"/>
              <a:buFont typeface="Monotype Sorts" charset="2"/>
              <a:defRPr sz="2400"/>
            </a:lvl2pPr>
            <a:lvl3pPr lvl="2">
              <a:buClr>
                <a:srgbClr val="009900"/>
              </a:buClr>
              <a:buSzPct val="75000"/>
              <a:buFont typeface="Webdings" panose="05030102010509060703" pitchFamily="18" charset="2"/>
              <a:defRPr sz="2000"/>
            </a:lvl3pPr>
            <a:lvl4pPr lvl="3">
              <a:buClr>
                <a:schemeClr val="hlink"/>
              </a:buClr>
              <a:buSzPct val="75000"/>
              <a:buFontTx/>
              <a:defRPr sz="1800"/>
            </a:lvl4pPr>
            <a:lvl5pPr lvl="4">
              <a:buClr>
                <a:srgbClr val="FF0066"/>
              </a:buClr>
              <a:buSzPct val="75000"/>
              <a:buFontTx/>
              <a:defRPr sz="1800"/>
            </a:lvl5pPr>
          </a:lstStyle>
          <a:p>
            <a:pPr lvl="0" eaLnBrk="1" hangingPunct="1">
              <a:lnSpc>
                <a:spcPct val="90000"/>
              </a:lnSpc>
              <a:buClr>
                <a:srgbClr val="993300"/>
              </a:buClr>
            </a:pPr>
            <a:r>
              <a:rPr lang="en-US" altLang="zh-CN" sz="2400" dirty="0"/>
              <a:t>Another broken solution, for two threads</a:t>
            </a:r>
          </a:p>
          <a:p>
            <a:pPr lvl="1" indent="-285750" eaLnBrk="1" hangingPunct="1">
              <a:lnSpc>
                <a:spcPct val="90000"/>
              </a:lnSpc>
              <a:buClr>
                <a:srgbClr val="CC6600"/>
              </a:buClr>
              <a:buSzPct val="80000"/>
              <a:buFont typeface="Monotype Sorts" charset="2"/>
              <a:buChar char="l"/>
            </a:pPr>
            <a:r>
              <a:rPr lang="en-US" altLang="zh-CN" sz="2400" dirty="0"/>
              <a:t>Have a turn variable, </a:t>
            </a:r>
            <a:r>
              <a:rPr lang="en-US" altLang="zh-CN" sz="2400" i="1" dirty="0">
                <a:solidFill>
                  <a:srgbClr val="FF0000"/>
                </a:solidFill>
              </a:rPr>
              <a:t>turn</a:t>
            </a:r>
            <a:r>
              <a:rPr lang="en-US" altLang="zh-CN" sz="2400" dirty="0"/>
              <a:t>, initially </a:t>
            </a:r>
            <a:r>
              <a:rPr lang="en-US" altLang="zh-CN" sz="2400" dirty="0">
                <a:solidFill>
                  <a:srgbClr val="FF0000"/>
                </a:solidFill>
              </a:rPr>
              <a:t>1</a:t>
            </a:r>
            <a:r>
              <a:rPr lang="en-US" altLang="zh-CN" sz="2400" dirty="0"/>
              <a:t>.</a:t>
            </a:r>
          </a:p>
        </p:txBody>
      </p:sp>
      <p:sp>
        <p:nvSpPr>
          <p:cNvPr id="41988" name="Rectangle 5"/>
          <p:cNvSpPr/>
          <p:nvPr/>
        </p:nvSpPr>
        <p:spPr>
          <a:xfrm>
            <a:off x="5105400" y="3333750"/>
            <a:ext cx="4038600" cy="2287905"/>
          </a:xfrm>
          <a:prstGeom prst="rect">
            <a:avLst/>
          </a:prstGeom>
          <a:noFill/>
          <a:ln w="9525">
            <a:noFill/>
          </a:ln>
        </p:spPr>
        <p:txBody>
          <a:bodyPr anchor="t" anchorCtr="0"/>
          <a:lstStyle/>
          <a:p>
            <a:pPr eaLnBrk="0" hangingPunct="0">
              <a:lnSpc>
                <a:spcPct val="90000"/>
              </a:lnSpc>
              <a:spcBef>
                <a:spcPct val="20000"/>
              </a:spcBef>
            </a:pPr>
            <a:endParaRPr lang="en-US" altLang="zh-CN" sz="2400" dirty="0">
              <a:solidFill>
                <a:srgbClr val="0000FF"/>
              </a:solidFill>
              <a:latin typeface="Verdana" panose="020B0604030504040204" pitchFamily="34" charset="0"/>
            </a:endParaRPr>
          </a:p>
        </p:txBody>
      </p:sp>
      <p:sp>
        <p:nvSpPr>
          <p:cNvPr id="118793" name="AutoShape 9"/>
          <p:cNvSpPr/>
          <p:nvPr/>
        </p:nvSpPr>
        <p:spPr>
          <a:xfrm>
            <a:off x="746125" y="1792002"/>
            <a:ext cx="7651750" cy="995680"/>
          </a:xfrm>
          <a:prstGeom prst="wedgeRectCallout">
            <a:avLst>
              <a:gd name="adj1" fmla="val -27103"/>
              <a:gd name="adj2" fmla="val 75701"/>
            </a:avLst>
          </a:prstGeom>
          <a:solidFill>
            <a:schemeClr val="accent1"/>
          </a:solidFill>
          <a:ln w="9525" cap="flat" cmpd="sng">
            <a:solidFill>
              <a:schemeClr val="tx1"/>
            </a:solidFill>
            <a:prstDash val="solid"/>
            <a:miter/>
            <a:headEnd type="none" w="med" len="med"/>
            <a:tailEnd type="none" w="med" len="med"/>
          </a:ln>
        </p:spPr>
        <p:txBody>
          <a:bodyPr anchor="t" anchorCtr="0"/>
          <a:lstStyle/>
          <a:p>
            <a:pPr eaLnBrk="0" hangingPunct="0"/>
            <a:r>
              <a:rPr lang="en-US" altLang="zh-CN" sz="1600" b="1" dirty="0">
                <a:latin typeface="Verdana" panose="020B0604030504040204" pitchFamily="34" charset="0"/>
              </a:rPr>
              <a:t>Code </a:t>
            </a:r>
            <a:r>
              <a:rPr lang="en-US" altLang="zh-CN" sz="1600" b="1" u="sng" dirty="0">
                <a:latin typeface="Verdana" panose="020B0604030504040204" pitchFamily="34" charset="0"/>
              </a:rPr>
              <a:t>isn’t live</a:t>
            </a:r>
            <a:r>
              <a:rPr lang="en-US" altLang="zh-CN" sz="1600" b="1" dirty="0">
                <a:latin typeface="Verdana" panose="020B0604030504040204" pitchFamily="34" charset="0"/>
              </a:rPr>
              <a:t>: thread 1 can’t enter unless thread 0 did first, and vice-versa.  But perhaps one thread needs to enter many times and the other fewer times, or not at all</a:t>
            </a:r>
          </a:p>
        </p:txBody>
      </p:sp>
      <p:sp>
        <p:nvSpPr>
          <p:cNvPr id="9" name="Rectangle 3">
            <a:extLst>
              <a:ext uri="{FF2B5EF4-FFF2-40B4-BE49-F238E27FC236}">
                <a16:creationId xmlns:a16="http://schemas.microsoft.com/office/drawing/2014/main" id="{D1F0D060-0B4A-4418-90B5-6FEA642C02A0}"/>
              </a:ext>
            </a:extLst>
          </p:cNvPr>
          <p:cNvSpPr txBox="1">
            <a:spLocks/>
          </p:cNvSpPr>
          <p:nvPr/>
        </p:nvSpPr>
        <p:spPr>
          <a:xfrm>
            <a:off x="4610100" y="3047999"/>
            <a:ext cx="3854449" cy="3532187"/>
          </a:xfrm>
          <a:prstGeom prst="rect">
            <a:avLst/>
          </a:prstGeom>
          <a:noFill/>
          <a:ln w="9525">
            <a:noFill/>
          </a:ln>
        </p:spPr>
        <p:txBody>
          <a:bodyPr vert="horz" wrap="square" lIns="91440" tIns="45720" rIns="91440" bIns="45720" anchor="t" anchorCtr="0"/>
          <a:lstStyle>
            <a:lvl1pPr marL="342900" lvl="0" indent="-342900" algn="l" rtl="0" eaLnBrk="0" fontAlgn="base" hangingPunct="0">
              <a:spcBef>
                <a:spcPct val="35000"/>
              </a:spcBef>
              <a:spcAft>
                <a:spcPct val="0"/>
              </a:spcAft>
              <a:buClr>
                <a:srgbClr val="993300"/>
              </a:buClr>
              <a:buSzPct val="90000"/>
              <a:buFont typeface="Monotype Sorts" charset="2"/>
              <a:buChar char="n"/>
              <a:defRPr kumimoji="1" sz="2800">
                <a:solidFill>
                  <a:schemeClr val="tx1"/>
                </a:solidFill>
                <a:latin typeface="+mn-lt"/>
                <a:ea typeface="MS PGothic" panose="020B0600070205080204" pitchFamily="34" charset="-128"/>
                <a:cs typeface="+mn-cs"/>
              </a:defRPr>
            </a:lvl1pPr>
            <a:lvl2pPr marL="742950" lvl="1" indent="-285750" algn="l" rtl="0" eaLnBrk="0" fontAlgn="base" hangingPunct="0">
              <a:spcBef>
                <a:spcPct val="35000"/>
              </a:spcBef>
              <a:spcAft>
                <a:spcPct val="0"/>
              </a:spcAft>
              <a:buClr>
                <a:srgbClr val="CC6600"/>
              </a:buClr>
              <a:buSzPct val="80000"/>
              <a:buFont typeface="Monotype Sorts" charset="2"/>
              <a:buChar char="l"/>
              <a:defRPr kumimoji="1" sz="2400">
                <a:solidFill>
                  <a:schemeClr val="tx1"/>
                </a:solidFill>
                <a:latin typeface="+mn-lt"/>
                <a:ea typeface="MS PGothic" panose="020B0600070205080204" pitchFamily="34" charset="-128"/>
              </a:defRPr>
            </a:lvl2pPr>
            <a:lvl3pPr marL="1085850" lvl="2"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000">
                <a:solidFill>
                  <a:schemeClr val="tx1"/>
                </a:solidFill>
                <a:latin typeface="+mn-lt"/>
                <a:ea typeface="MS PGothic" panose="020B0600070205080204" pitchFamily="34" charset="-128"/>
              </a:defRPr>
            </a:lvl3pPr>
            <a:lvl4pPr marL="1428750" lvl="3" indent="-228600" algn="l" rtl="0" eaLnBrk="0" fontAlgn="base" hangingPunct="0">
              <a:spcBef>
                <a:spcPct val="35000"/>
              </a:spcBef>
              <a:spcAft>
                <a:spcPct val="0"/>
              </a:spcAft>
              <a:buClr>
                <a:schemeClr val="hlink"/>
              </a:buClr>
              <a:buSzPct val="75000"/>
              <a:buFontTx/>
              <a:buChar char="–"/>
              <a:defRPr kumimoji="1" sz="1800">
                <a:solidFill>
                  <a:schemeClr val="tx1"/>
                </a:solidFill>
                <a:latin typeface="+mn-lt"/>
                <a:ea typeface="MS PGothic" panose="020B0600070205080204" pitchFamily="34" charset="-128"/>
              </a:defRPr>
            </a:lvl4pPr>
            <a:lvl5pPr marL="1771650" lvl="4" indent="-228600" algn="l" rtl="0" eaLnBrk="0" fontAlgn="base" hangingPunct="0">
              <a:spcBef>
                <a:spcPct val="35000"/>
              </a:spcBef>
              <a:spcAft>
                <a:spcPct val="0"/>
              </a:spcAft>
              <a:buClr>
                <a:srgbClr val="FF0066"/>
              </a:buClr>
              <a:buSzPct val="75000"/>
              <a:buFontTx/>
              <a:buChar char="»"/>
              <a:defRPr kumimoji="1" sz="18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9pPr>
          </a:lstStyle>
          <a:p>
            <a:pPr marL="0" indent="0" eaLnBrk="1" hangingPunct="1">
              <a:lnSpc>
                <a:spcPct val="90000"/>
              </a:lnSpc>
              <a:buFont typeface="Monotype Sorts" charset="2"/>
              <a:buNone/>
            </a:pPr>
            <a:r>
              <a:rPr lang="en-US" altLang="zh-CN" sz="2000" kern="0" dirty="0">
                <a:solidFill>
                  <a:srgbClr val="FF0000"/>
                </a:solidFill>
              </a:rPr>
              <a:t>Other processing…</a:t>
            </a:r>
          </a:p>
        </p:txBody>
      </p:sp>
      <p:sp>
        <p:nvSpPr>
          <p:cNvPr id="10" name="Text Box 6">
            <a:extLst>
              <a:ext uri="{FF2B5EF4-FFF2-40B4-BE49-F238E27FC236}">
                <a16:creationId xmlns:a16="http://schemas.microsoft.com/office/drawing/2014/main" id="{76697F8C-BE00-4CC3-975B-36D4D730C8DC}"/>
              </a:ext>
            </a:extLst>
          </p:cNvPr>
          <p:cNvSpPr txBox="1"/>
          <p:nvPr/>
        </p:nvSpPr>
        <p:spPr>
          <a:xfrm>
            <a:off x="271276" y="2706402"/>
            <a:ext cx="662361" cy="523220"/>
          </a:xfrm>
          <a:prstGeom prst="rect">
            <a:avLst/>
          </a:prstGeom>
          <a:noFill/>
          <a:ln w="57150">
            <a:noFill/>
          </a:ln>
        </p:spPr>
        <p:txBody>
          <a:bodyPr wrap="none" anchor="ctr" anchorCtr="0">
            <a:spAutoFit/>
          </a:bodyPr>
          <a:lstStyle/>
          <a:p>
            <a:pPr algn="ctr" eaLnBrk="0" hangingPunct="0"/>
            <a:r>
              <a:rPr lang="en-US" altLang="zh-CN" sz="2800" dirty="0">
                <a:solidFill>
                  <a:srgbClr val="0000FF"/>
                </a:solidFill>
                <a:latin typeface="Comic Sans MS" panose="030F0702030302020204" pitchFamily="66" charset="0"/>
              </a:rPr>
              <a:t>T</a:t>
            </a:r>
            <a:r>
              <a:rPr lang="en-US" altLang="zh-CN" dirty="0">
                <a:solidFill>
                  <a:srgbClr val="0000FF"/>
                </a:solidFill>
                <a:latin typeface="Comic Sans MS" panose="030F0702030302020204" pitchFamily="66" charset="0"/>
              </a:rPr>
              <a:t>0:</a:t>
            </a:r>
            <a:endParaRPr lang="en-US" altLang="zh-CN" sz="2800" dirty="0">
              <a:solidFill>
                <a:srgbClr val="0000FF"/>
              </a:solidFill>
              <a:latin typeface="Comic Sans MS" panose="030F0702030302020204" pitchFamily="66" charset="0"/>
            </a:endParaRPr>
          </a:p>
        </p:txBody>
      </p:sp>
      <p:sp>
        <p:nvSpPr>
          <p:cNvPr id="11" name="Text Box 6">
            <a:extLst>
              <a:ext uri="{FF2B5EF4-FFF2-40B4-BE49-F238E27FC236}">
                <a16:creationId xmlns:a16="http://schemas.microsoft.com/office/drawing/2014/main" id="{9A0E294F-44EB-401A-B930-4EACD80B3096}"/>
              </a:ext>
            </a:extLst>
          </p:cNvPr>
          <p:cNvSpPr txBox="1"/>
          <p:nvPr/>
        </p:nvSpPr>
        <p:spPr>
          <a:xfrm>
            <a:off x="4237846" y="2706402"/>
            <a:ext cx="620683" cy="523220"/>
          </a:xfrm>
          <a:prstGeom prst="rect">
            <a:avLst/>
          </a:prstGeom>
          <a:noFill/>
          <a:ln w="57150">
            <a:noFill/>
          </a:ln>
        </p:spPr>
        <p:txBody>
          <a:bodyPr wrap="none" anchor="ctr" anchorCtr="0">
            <a:spAutoFit/>
          </a:bodyPr>
          <a:lstStyle/>
          <a:p>
            <a:pPr algn="ctr" eaLnBrk="0" hangingPunct="0"/>
            <a:r>
              <a:rPr lang="en-US" altLang="zh-CN" sz="2800" dirty="0">
                <a:solidFill>
                  <a:srgbClr val="FF0000"/>
                </a:solidFill>
                <a:latin typeface="Comic Sans MS" panose="030F0702030302020204" pitchFamily="66" charset="0"/>
              </a:rPr>
              <a:t>T</a:t>
            </a:r>
            <a:r>
              <a:rPr lang="en-US" altLang="zh-CN" dirty="0">
                <a:solidFill>
                  <a:srgbClr val="FF0000"/>
                </a:solidFill>
                <a:latin typeface="Comic Sans MS" panose="030F0702030302020204" pitchFamily="66" charset="0"/>
              </a:rPr>
              <a:t>1:</a:t>
            </a:r>
            <a:endParaRPr lang="en-US" altLang="zh-CN" sz="2800" dirty="0">
              <a:solidFill>
                <a:srgbClr val="FF0000"/>
              </a:solidFill>
              <a:latin typeface="Comic Sans MS" panose="030F0702030302020204" pitchFamily="66" charset="0"/>
            </a:endParaRPr>
          </a:p>
        </p:txBody>
      </p:sp>
      <p:sp>
        <p:nvSpPr>
          <p:cNvPr id="12" name="等腰三角形 11">
            <a:extLst>
              <a:ext uri="{FF2B5EF4-FFF2-40B4-BE49-F238E27FC236}">
                <a16:creationId xmlns:a16="http://schemas.microsoft.com/office/drawing/2014/main" id="{7FBC978C-747F-42E4-8BBF-0E8D242445B5}"/>
              </a:ext>
            </a:extLst>
          </p:cNvPr>
          <p:cNvSpPr/>
          <p:nvPr/>
        </p:nvSpPr>
        <p:spPr bwMode="auto">
          <a:xfrm rot="5400000">
            <a:off x="1375479" y="3896130"/>
            <a:ext cx="274320" cy="219551"/>
          </a:xfrm>
          <a:prstGeom prst="triangle">
            <a:avLst/>
          </a:prstGeom>
          <a:solidFill>
            <a:srgbClr val="0066FF"/>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3" name="等腰三角形 12">
            <a:extLst>
              <a:ext uri="{FF2B5EF4-FFF2-40B4-BE49-F238E27FC236}">
                <a16:creationId xmlns:a16="http://schemas.microsoft.com/office/drawing/2014/main" id="{FB3396A1-CABB-4F71-BFB6-AA153A0B121D}"/>
              </a:ext>
            </a:extLst>
          </p:cNvPr>
          <p:cNvSpPr/>
          <p:nvPr/>
        </p:nvSpPr>
        <p:spPr bwMode="auto">
          <a:xfrm rot="5400000">
            <a:off x="4434839" y="3119847"/>
            <a:ext cx="274320" cy="219551"/>
          </a:xfrm>
          <a:prstGeom prst="triangle">
            <a:avLst/>
          </a:prstGeom>
          <a:solidFill>
            <a:srgbClr val="FF33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4" name="矩形 13">
            <a:extLst>
              <a:ext uri="{FF2B5EF4-FFF2-40B4-BE49-F238E27FC236}">
                <a16:creationId xmlns:a16="http://schemas.microsoft.com/office/drawing/2014/main" id="{5AF02555-A785-4561-99E0-D169D9EA3313}"/>
              </a:ext>
            </a:extLst>
          </p:cNvPr>
          <p:cNvSpPr/>
          <p:nvPr/>
        </p:nvSpPr>
        <p:spPr>
          <a:xfrm>
            <a:off x="5585460" y="3712233"/>
            <a:ext cx="1467068" cy="400110"/>
          </a:xfrm>
          <a:prstGeom prst="rect">
            <a:avLst/>
          </a:prstGeom>
        </p:spPr>
        <p:txBody>
          <a:bodyPr wrap="none">
            <a:spAutoFit/>
          </a:bodyPr>
          <a:lstStyle/>
          <a:p>
            <a:r>
              <a:rPr lang="zh-CN" altLang="en-US" b="1" dirty="0">
                <a:ea typeface="宋体" panose="02010600030101010101" pitchFamily="2" charset="-122"/>
              </a:rPr>
              <a:t>想不想访问</a:t>
            </a:r>
          </a:p>
        </p:txBody>
      </p:sp>
      <p:sp>
        <p:nvSpPr>
          <p:cNvPr id="15" name="十字形 14">
            <a:extLst>
              <a:ext uri="{FF2B5EF4-FFF2-40B4-BE49-F238E27FC236}">
                <a16:creationId xmlns:a16="http://schemas.microsoft.com/office/drawing/2014/main" id="{2A53DB14-5C49-46E0-B4A4-3C3BC00FDBD3}"/>
              </a:ext>
            </a:extLst>
          </p:cNvPr>
          <p:cNvSpPr/>
          <p:nvPr/>
        </p:nvSpPr>
        <p:spPr bwMode="auto">
          <a:xfrm rot="2651331">
            <a:off x="5259083" y="3712618"/>
            <a:ext cx="398138" cy="399342"/>
          </a:xfrm>
          <a:prstGeom prst="plus">
            <a:avLst>
              <a:gd name="adj" fmla="val 40665"/>
            </a:avLst>
          </a:prstGeom>
          <a:solidFill>
            <a:srgbClr val="FF00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6" name="矩形 15">
            <a:extLst>
              <a:ext uri="{FF2B5EF4-FFF2-40B4-BE49-F238E27FC236}">
                <a16:creationId xmlns:a16="http://schemas.microsoft.com/office/drawing/2014/main" id="{59FDEC79-FA08-492A-B86E-04E9D1B1A9C5}"/>
              </a:ext>
            </a:extLst>
          </p:cNvPr>
          <p:cNvSpPr/>
          <p:nvPr/>
        </p:nvSpPr>
        <p:spPr bwMode="auto">
          <a:xfrm>
            <a:off x="2307727" y="3794354"/>
            <a:ext cx="511673" cy="348712"/>
          </a:xfrm>
          <a:prstGeom prst="rect">
            <a:avLst/>
          </a:prstGeom>
          <a:noFill/>
          <a:ln w="28575" cap="flat" cmpd="sng" algn="ctr">
            <a:solidFill>
              <a:schemeClr val="accent4"/>
            </a:solidFill>
            <a:prstDash val="sysDash"/>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Tree>
    <p:extLst>
      <p:ext uri="{BB962C8B-B14F-4D97-AF65-F5344CB8AC3E}">
        <p14:creationId xmlns:p14="http://schemas.microsoft.com/office/powerpoint/2010/main" val="488433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1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p:cNvSpPr>
          <p:nvPr>
            <p:ph type="title"/>
          </p:nvPr>
        </p:nvSpPr>
        <p:spPr>
          <a:ln/>
        </p:spPr>
        <p:txBody>
          <a:bodyPr vert="horz" wrap="square" lIns="91440" tIns="45720" rIns="91440" bIns="45720" anchor="b" anchorCtr="0"/>
          <a:lstStyle/>
          <a:p>
            <a:pPr eaLnBrk="1" hangingPunct="1"/>
            <a:r>
              <a:rPr lang="en-US" altLang="zh-CN" dirty="0"/>
              <a:t>Objectives</a:t>
            </a:r>
          </a:p>
        </p:txBody>
      </p:sp>
      <p:sp>
        <p:nvSpPr>
          <p:cNvPr id="11266" name="Rectangle 3"/>
          <p:cNvSpPr>
            <a:spLocks noGrp="1"/>
          </p:cNvSpPr>
          <p:nvPr>
            <p:ph idx="1"/>
          </p:nvPr>
        </p:nvSpPr>
        <p:spPr>
          <a:xfrm>
            <a:off x="469900" y="1360488"/>
            <a:ext cx="8405813" cy="5062537"/>
          </a:xfrm>
          <a:ln/>
        </p:spPr>
        <p:txBody>
          <a:bodyPr vert="horz" wrap="square" lIns="91440" tIns="45720" rIns="91440" bIns="45720" anchor="t" anchorCtr="0"/>
          <a:lstStyle/>
          <a:p>
            <a:r>
              <a:rPr lang="en-US" altLang="zh-CN" sz="2400" dirty="0"/>
              <a:t>To introduce the </a:t>
            </a:r>
            <a:r>
              <a:rPr lang="en-US" altLang="zh-CN" sz="2400" dirty="0">
                <a:solidFill>
                  <a:srgbClr val="FF3300"/>
                </a:solidFill>
              </a:rPr>
              <a:t>critical-section(</a:t>
            </a:r>
            <a:r>
              <a:rPr lang="zh-CN" altLang="en-US" sz="2400" dirty="0">
                <a:solidFill>
                  <a:srgbClr val="FF3300"/>
                </a:solidFill>
                <a:ea typeface="宋体" panose="02010600030101010101" pitchFamily="2" charset="-122"/>
              </a:rPr>
              <a:t>临界区</a:t>
            </a:r>
            <a:r>
              <a:rPr lang="en-US" altLang="zh-CN" sz="2400" dirty="0">
                <a:solidFill>
                  <a:srgbClr val="FF3300"/>
                </a:solidFill>
              </a:rPr>
              <a:t>)</a:t>
            </a:r>
            <a:r>
              <a:rPr lang="en-US" altLang="zh-CN" sz="2400" dirty="0"/>
              <a:t> problem, whose solutions can be used to ensure the consistency of shared data</a:t>
            </a:r>
          </a:p>
          <a:p>
            <a:r>
              <a:rPr lang="en-US" altLang="zh-CN" sz="2400" dirty="0"/>
              <a:t>To present both </a:t>
            </a:r>
            <a:r>
              <a:rPr lang="en-US" altLang="zh-CN" sz="2400" dirty="0">
                <a:solidFill>
                  <a:srgbClr val="FF0000"/>
                </a:solidFill>
              </a:rPr>
              <a:t>software</a:t>
            </a:r>
            <a:r>
              <a:rPr lang="en-US" altLang="zh-CN" sz="2400" dirty="0"/>
              <a:t> and </a:t>
            </a:r>
            <a:r>
              <a:rPr lang="en-US" altLang="zh-CN" sz="2400" dirty="0">
                <a:solidFill>
                  <a:srgbClr val="FF0000"/>
                </a:solidFill>
              </a:rPr>
              <a:t>hardware solutions </a:t>
            </a:r>
            <a:r>
              <a:rPr lang="en-US" altLang="zh-CN" sz="2400" dirty="0"/>
              <a:t>of the critical-section problem</a:t>
            </a:r>
          </a:p>
          <a:p>
            <a:r>
              <a:rPr lang="en-US" altLang="zh-CN" sz="2400" dirty="0"/>
              <a:t>To introduce the concept of an </a:t>
            </a:r>
            <a:r>
              <a:rPr lang="en-US" altLang="zh-CN" sz="2400" dirty="0">
                <a:solidFill>
                  <a:srgbClr val="FF0000"/>
                </a:solidFill>
              </a:rPr>
              <a:t>atomic transaction </a:t>
            </a:r>
            <a:r>
              <a:rPr lang="en-US" altLang="zh-CN" sz="2400" dirty="0"/>
              <a:t>and describe mechanisms to ensure atomicity</a:t>
            </a:r>
          </a:p>
        </p:txBody>
      </p:sp>
    </p:spTree>
    <p:extLst>
      <p:ext uri="{BB962C8B-B14F-4D97-AF65-F5344CB8AC3E}">
        <p14:creationId xmlns:p14="http://schemas.microsoft.com/office/powerpoint/2010/main" val="3961443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nodeType="clickEffect">
                                  <p:stCondLst>
                                    <p:cond delay="0"/>
                                  </p:stCondLst>
                                  <p:childTnLst>
                                    <p:animClr clrSpc="rgb" dir="cw">
                                      <p:cBhvr override="childStyle">
                                        <p:cTn id="6" dur="250" autoRev="1" fill="remove"/>
                                        <p:tgtEl>
                                          <p:spTgt spid="11266">
                                            <p:txEl>
                                              <p:pRg st="1" end="1"/>
                                            </p:txEl>
                                          </p:spTgt>
                                        </p:tgtEl>
                                        <p:attrNameLst>
                                          <p:attrName>style.color</p:attrName>
                                        </p:attrNameLst>
                                      </p:cBhvr>
                                      <p:to>
                                        <a:schemeClr val="bg1"/>
                                      </p:to>
                                    </p:animClr>
                                    <p:animClr clrSpc="rgb" dir="cw">
                                      <p:cBhvr>
                                        <p:cTn id="7" dur="250" autoRev="1" fill="remove"/>
                                        <p:tgtEl>
                                          <p:spTgt spid="11266">
                                            <p:txEl>
                                              <p:pRg st="1" end="1"/>
                                            </p:txEl>
                                          </p:spTgt>
                                        </p:tgtEl>
                                        <p:attrNameLst>
                                          <p:attrName>fillcolor</p:attrName>
                                        </p:attrNameLst>
                                      </p:cBhvr>
                                      <p:to>
                                        <a:schemeClr val="bg1"/>
                                      </p:to>
                                    </p:animClr>
                                    <p:set>
                                      <p:cBhvr>
                                        <p:cTn id="8" dur="250" autoRev="1" fill="remove"/>
                                        <p:tgtEl>
                                          <p:spTgt spid="11266">
                                            <p:txEl>
                                              <p:pRg st="1" end="1"/>
                                            </p:txEl>
                                          </p:spTgt>
                                        </p:tgtEl>
                                        <p:attrNameLst>
                                          <p:attrName>fill.type</p:attrName>
                                        </p:attrNameLst>
                                      </p:cBhvr>
                                      <p:to>
                                        <p:strVal val="solid"/>
                                      </p:to>
                                    </p:set>
                                    <p:set>
                                      <p:cBhvr>
                                        <p:cTn id="9" dur="250" autoRev="1" fill="remove"/>
                                        <p:tgtEl>
                                          <p:spTgt spid="11266">
                                            <p:txEl>
                                              <p:pRg st="1" end="1"/>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p:cNvSpPr>
          <p:nvPr>
            <p:ph type="title"/>
          </p:nvPr>
        </p:nvSpPr>
        <p:spPr>
          <a:ln/>
        </p:spPr>
        <p:txBody>
          <a:bodyPr vert="horz" wrap="square" lIns="91440" tIns="45720" rIns="91440" bIns="45720" anchor="b" anchorCtr="0"/>
          <a:lstStyle/>
          <a:p>
            <a:br>
              <a:rPr lang="zh-CN" altLang="en-US" dirty="0"/>
            </a:br>
            <a:br>
              <a:rPr lang="zh-CN" altLang="en-US" dirty="0"/>
            </a:br>
            <a:r>
              <a:rPr lang="en-US" altLang="zh-CN" dirty="0"/>
              <a:t>Peterson’s Solution</a:t>
            </a:r>
          </a:p>
        </p:txBody>
      </p:sp>
      <p:sp>
        <p:nvSpPr>
          <p:cNvPr id="51202" name="Rectangle 3"/>
          <p:cNvSpPr>
            <a:spLocks noGrp="1"/>
          </p:cNvSpPr>
          <p:nvPr>
            <p:ph idx="1"/>
          </p:nvPr>
        </p:nvSpPr>
        <p:spPr>
          <a:xfrm>
            <a:off x="379413" y="871538"/>
            <a:ext cx="8764587" cy="5413375"/>
          </a:xfrm>
          <a:ln/>
        </p:spPr>
        <p:txBody>
          <a:bodyPr vert="horz" wrap="square" lIns="91440" tIns="45720" rIns="91440" bIns="45720" anchor="t" anchorCtr="0"/>
          <a:lstStyle/>
          <a:p>
            <a:pPr defTabSz="914400">
              <a:lnSpc>
                <a:spcPct val="90000"/>
              </a:lnSpc>
              <a:tabLst>
                <a:tab pos="744855" algn="l"/>
                <a:tab pos="1025525" algn="l"/>
                <a:tab pos="1260475" algn="l"/>
              </a:tabLst>
            </a:pPr>
            <a:r>
              <a:rPr lang="en-US" altLang="zh-CN" sz="2400" b="1" dirty="0">
                <a:ea typeface="宋体" panose="02010600030101010101" pitchFamily="2" charset="-122"/>
              </a:rPr>
              <a:t>A classic </a:t>
            </a:r>
            <a:r>
              <a:rPr lang="en-US" altLang="zh-CN" sz="2400" b="1" dirty="0">
                <a:solidFill>
                  <a:srgbClr val="FF0000"/>
                </a:solidFill>
                <a:ea typeface="宋体" panose="02010600030101010101" pitchFamily="2" charset="-122"/>
              </a:rPr>
              <a:t>software-based</a:t>
            </a:r>
            <a:r>
              <a:rPr lang="en-US" altLang="zh-CN" sz="2400" b="1" dirty="0">
                <a:ea typeface="宋体" panose="02010600030101010101" pitchFamily="2" charset="-122"/>
              </a:rPr>
              <a:t> solution to the critical section problem.</a:t>
            </a:r>
          </a:p>
          <a:p>
            <a:pPr defTabSz="914400">
              <a:lnSpc>
                <a:spcPct val="90000"/>
              </a:lnSpc>
              <a:tabLst>
                <a:tab pos="744855" algn="l"/>
                <a:tab pos="1025525" algn="l"/>
                <a:tab pos="1260475" algn="l"/>
              </a:tabLst>
            </a:pPr>
            <a:r>
              <a:rPr lang="en-US" altLang="zh-CN" sz="2400" b="1" dirty="0">
                <a:ea typeface="宋体" panose="02010600030101010101" pitchFamily="2" charset="-122"/>
              </a:rPr>
              <a:t>Works for </a:t>
            </a:r>
            <a:r>
              <a:rPr lang="en-US" altLang="zh-CN" sz="2400" b="1" dirty="0">
                <a:solidFill>
                  <a:srgbClr val="FF0000"/>
                </a:solidFill>
                <a:ea typeface="宋体" panose="02010600030101010101" pitchFamily="2" charset="-122"/>
              </a:rPr>
              <a:t>two processes</a:t>
            </a:r>
            <a:r>
              <a:rPr lang="en-US" altLang="zh-CN" sz="2400" b="1" dirty="0">
                <a:ea typeface="宋体" panose="02010600030101010101" pitchFamily="2" charset="-122"/>
              </a:rPr>
              <a:t>.</a:t>
            </a:r>
          </a:p>
          <a:p>
            <a:pPr defTabSz="914400">
              <a:lnSpc>
                <a:spcPct val="90000"/>
              </a:lnSpc>
              <a:tabLst>
                <a:tab pos="744855" algn="l"/>
                <a:tab pos="1025525" algn="l"/>
                <a:tab pos="1260475" algn="l"/>
              </a:tabLst>
            </a:pPr>
            <a:r>
              <a:rPr lang="en-US" altLang="zh-CN" sz="2400" b="1" dirty="0">
                <a:ea typeface="宋体" panose="02010600030101010101" pitchFamily="2" charset="-122"/>
              </a:rPr>
              <a:t>The two processes share two variables:</a:t>
            </a:r>
          </a:p>
          <a:p>
            <a:pPr lvl="1">
              <a:lnSpc>
                <a:spcPct val="90000"/>
              </a:lnSpc>
              <a:tabLst>
                <a:tab pos="744855" algn="l"/>
                <a:tab pos="1025525" algn="l"/>
                <a:tab pos="1260475" algn="l"/>
              </a:tabLst>
            </a:pPr>
            <a:r>
              <a:rPr lang="en-US" altLang="zh-CN" sz="2400" dirty="0">
                <a:ea typeface="宋体" panose="02010600030101010101" pitchFamily="2" charset="-122"/>
              </a:rPr>
              <a:t>int</a:t>
            </a:r>
            <a:r>
              <a:rPr lang="en-US" altLang="zh-CN" sz="2400" dirty="0">
                <a:solidFill>
                  <a:srgbClr val="FF0000"/>
                </a:solidFill>
                <a:ea typeface="宋体" panose="02010600030101010101" pitchFamily="2" charset="-122"/>
              </a:rPr>
              <a:t> turn</a:t>
            </a:r>
            <a:r>
              <a:rPr lang="zh-CN" altLang="en-US" sz="2400" dirty="0">
                <a:ea typeface="宋体" panose="02010600030101010101" pitchFamily="2" charset="-122"/>
              </a:rPr>
              <a:t>：</a:t>
            </a:r>
            <a:r>
              <a:rPr lang="en-US" altLang="zh-CN" sz="2400" dirty="0">
                <a:ea typeface="宋体" panose="02010600030101010101" pitchFamily="2" charset="-122"/>
              </a:rPr>
              <a:t>indicates whose turn it is to enter the critical section. (</a:t>
            </a:r>
            <a:r>
              <a:rPr lang="zh-CN" altLang="en-US" sz="2400" dirty="0">
                <a:ea typeface="宋体" panose="02010600030101010101" pitchFamily="2" charset="-122"/>
              </a:rPr>
              <a:t>唯一性标识、能不能访问</a:t>
            </a:r>
            <a:r>
              <a:rPr lang="en-US" altLang="zh-CN" sz="2400" dirty="0">
                <a:ea typeface="宋体" panose="02010600030101010101" pitchFamily="2" charset="-122"/>
              </a:rPr>
              <a:t>)</a:t>
            </a:r>
          </a:p>
          <a:p>
            <a:pPr lvl="1" defTabSz="914400">
              <a:lnSpc>
                <a:spcPct val="90000"/>
              </a:lnSpc>
              <a:tabLst>
                <a:tab pos="744855" algn="l"/>
                <a:tab pos="1025525" algn="l"/>
                <a:tab pos="1260475" algn="l"/>
              </a:tabLst>
            </a:pPr>
            <a:r>
              <a:rPr lang="en-US" altLang="zh-CN" sz="2400" dirty="0">
                <a:ea typeface="宋体" panose="02010600030101010101" pitchFamily="2" charset="-122"/>
              </a:rPr>
              <a:t>Boolean </a:t>
            </a:r>
            <a:r>
              <a:rPr lang="en-US" altLang="zh-CN" sz="2400" dirty="0">
                <a:solidFill>
                  <a:srgbClr val="FF0000"/>
                </a:solidFill>
                <a:ea typeface="宋体" panose="02010600030101010101" pitchFamily="2" charset="-122"/>
              </a:rPr>
              <a:t>flag[2]</a:t>
            </a:r>
            <a:r>
              <a:rPr lang="zh-CN" altLang="en-US" sz="2400" dirty="0">
                <a:ea typeface="宋体" panose="02010600030101010101" pitchFamily="2" charset="-122"/>
                <a:sym typeface="+mn-ea"/>
              </a:rPr>
              <a:t>：</a:t>
            </a:r>
            <a:r>
              <a:rPr lang="en-US" altLang="zh-CN" sz="2400" dirty="0">
                <a:ea typeface="宋体" panose="02010600030101010101" pitchFamily="2" charset="-122"/>
              </a:rPr>
              <a:t>The </a:t>
            </a:r>
            <a:r>
              <a:rPr lang="en-US" altLang="zh-CN" sz="2400" dirty="0">
                <a:solidFill>
                  <a:srgbClr val="FF0000"/>
                </a:solidFill>
                <a:ea typeface="宋体" panose="02010600030101010101" pitchFamily="2" charset="-122"/>
              </a:rPr>
              <a:t>flag</a:t>
            </a:r>
            <a:r>
              <a:rPr lang="en-US" altLang="zh-CN" sz="2400" dirty="0">
                <a:ea typeface="宋体" panose="02010600030101010101" pitchFamily="2" charset="-122"/>
              </a:rPr>
              <a:t> array is used to indicate if a process is ready to enter the critical section. </a:t>
            </a:r>
            <a:r>
              <a:rPr lang="en-US" altLang="zh-CN" sz="2400" dirty="0">
                <a:solidFill>
                  <a:srgbClr val="FF0000"/>
                </a:solidFill>
                <a:ea typeface="宋体" panose="02010600030101010101" pitchFamily="2" charset="-122"/>
              </a:rPr>
              <a:t>flag[</a:t>
            </a:r>
            <a:r>
              <a:rPr lang="en-US" altLang="zh-CN" sz="2400" dirty="0" err="1">
                <a:solidFill>
                  <a:srgbClr val="FF0000"/>
                </a:solidFill>
                <a:ea typeface="宋体" panose="02010600030101010101" pitchFamily="2" charset="-122"/>
              </a:rPr>
              <a:t>i</a:t>
            </a:r>
            <a:r>
              <a:rPr lang="en-US" altLang="zh-CN" sz="2400" dirty="0">
                <a:solidFill>
                  <a:srgbClr val="FF0000"/>
                </a:solidFill>
                <a:ea typeface="宋体" panose="02010600030101010101" pitchFamily="2" charset="-122"/>
              </a:rPr>
              <a:t>] </a:t>
            </a:r>
            <a:r>
              <a:rPr lang="en-US" altLang="zh-CN" sz="2400" dirty="0">
                <a:ea typeface="宋体" panose="02010600030101010101" pitchFamily="2" charset="-122"/>
              </a:rPr>
              <a:t>= true implies that process </a:t>
            </a:r>
            <a:r>
              <a:rPr lang="en-US" altLang="zh-CN" sz="2400" dirty="0">
                <a:solidFill>
                  <a:srgbClr val="0000FF"/>
                </a:solidFill>
                <a:ea typeface="宋体" panose="02010600030101010101" pitchFamily="2" charset="-122"/>
              </a:rPr>
              <a:t>P</a:t>
            </a:r>
            <a:r>
              <a:rPr lang="en-US" altLang="zh-CN" sz="2400" baseline="-25000" dirty="0">
                <a:solidFill>
                  <a:srgbClr val="0000FF"/>
                </a:solidFill>
                <a:ea typeface="宋体" panose="02010600030101010101" pitchFamily="2" charset="-122"/>
              </a:rPr>
              <a:t>i</a:t>
            </a:r>
            <a:r>
              <a:rPr lang="en-US" altLang="zh-CN" sz="2400" dirty="0">
                <a:ea typeface="宋体" panose="02010600030101010101" pitchFamily="2" charset="-122"/>
              </a:rPr>
              <a:t> is ready! (</a:t>
            </a:r>
            <a:r>
              <a:rPr lang="zh-CN" altLang="en-US" sz="2400" dirty="0">
                <a:ea typeface="宋体" panose="02010600030101010101" pitchFamily="2" charset="-122"/>
              </a:rPr>
              <a:t>想不想访问</a:t>
            </a:r>
            <a:r>
              <a:rPr lang="en-US" altLang="zh-CN" sz="2400" dirty="0">
                <a:ea typeface="宋体" panose="02010600030101010101" pitchFamily="2" charset="-122"/>
              </a:rPr>
              <a:t>)</a:t>
            </a:r>
            <a:endParaRPr lang="en-US" altLang="zh-CN" sz="2400" dirty="0">
              <a:solidFill>
                <a:srgbClr val="FF0000"/>
              </a:solidFill>
              <a:ea typeface="宋体" panose="02010600030101010101" pitchFamily="2" charset="-122"/>
            </a:endParaRPr>
          </a:p>
          <a:p>
            <a:pPr defTabSz="914400">
              <a:lnSpc>
                <a:spcPct val="90000"/>
              </a:lnSpc>
              <a:tabLst>
                <a:tab pos="744855" algn="l"/>
                <a:tab pos="1025525" algn="l"/>
                <a:tab pos="1260475" algn="l"/>
              </a:tabLst>
            </a:pPr>
            <a:endParaRPr lang="en-US" altLang="zh-CN" sz="2400" b="1" dirty="0">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p:cNvSpPr>
          <p:nvPr>
            <p:ph type="title"/>
          </p:nvPr>
        </p:nvSpPr>
        <p:spPr>
          <a:ln/>
        </p:spPr>
        <p:txBody>
          <a:bodyPr vert="horz" wrap="square" lIns="91440" tIns="45720" rIns="91440" bIns="45720" anchor="b" anchorCtr="0"/>
          <a:lstStyle/>
          <a:p>
            <a:pPr eaLnBrk="1" hangingPunct="1"/>
            <a:r>
              <a:rPr lang="en-US" altLang="zh-CN" sz="2800" dirty="0"/>
              <a:t>Peterson’s Algorithm</a:t>
            </a:r>
            <a:endParaRPr lang="zh-CN" altLang="en-US" sz="2800" dirty="0"/>
          </a:p>
        </p:txBody>
      </p:sp>
      <p:graphicFrame>
        <p:nvGraphicFramePr>
          <p:cNvPr id="351236" name="Object 4"/>
          <p:cNvGraphicFramePr/>
          <p:nvPr>
            <p:extLst>
              <p:ext uri="{D42A27DB-BD31-4B8C-83A1-F6EECF244321}">
                <p14:modId xmlns:p14="http://schemas.microsoft.com/office/powerpoint/2010/main" val="251030837"/>
              </p:ext>
            </p:extLst>
          </p:nvPr>
        </p:nvGraphicFramePr>
        <p:xfrm>
          <a:off x="611188" y="1633855"/>
          <a:ext cx="3748087" cy="2295525"/>
        </p:xfrm>
        <a:graphic>
          <a:graphicData uri="http://schemas.openxmlformats.org/presentationml/2006/ole">
            <mc:AlternateContent xmlns:mc="http://schemas.openxmlformats.org/markup-compatibility/2006">
              <mc:Choice xmlns:v="urn:schemas-microsoft-com:vml" Requires="v">
                <p:oleObj spid="_x0000_s4493" r:id="rId4" imgW="2395855" imgH="1143000" progId="Visio.Drawing.6">
                  <p:embed/>
                </p:oleObj>
              </mc:Choice>
              <mc:Fallback>
                <p:oleObj r:id="rId4" imgW="2395855" imgH="1143000" progId="Visio.Drawing.6">
                  <p:embed/>
                  <p:pic>
                    <p:nvPicPr>
                      <p:cNvPr id="0" name="图片 3078"/>
                      <p:cNvPicPr/>
                      <p:nvPr/>
                    </p:nvPicPr>
                    <p:blipFill>
                      <a:blip r:embed="rId5"/>
                      <a:stretch>
                        <a:fillRect/>
                      </a:stretch>
                    </p:blipFill>
                    <p:spPr>
                      <a:xfrm>
                        <a:off x="611188" y="1633855"/>
                        <a:ext cx="3748087" cy="2295525"/>
                      </a:xfrm>
                      <a:prstGeom prst="rect">
                        <a:avLst/>
                      </a:prstGeom>
                      <a:solidFill>
                        <a:srgbClr val="99CCFF"/>
                      </a:solidFill>
                      <a:ln w="38100">
                        <a:noFill/>
                        <a:miter/>
                      </a:ln>
                    </p:spPr>
                  </p:pic>
                </p:oleObj>
              </mc:Fallback>
            </mc:AlternateContent>
          </a:graphicData>
        </a:graphic>
      </p:graphicFrame>
      <p:graphicFrame>
        <p:nvGraphicFramePr>
          <p:cNvPr id="351237" name="Object 5"/>
          <p:cNvGraphicFramePr>
            <a:graphicFrameLocks noGrp="1"/>
          </p:cNvGraphicFramePr>
          <p:nvPr>
            <p:ph sz="half" idx="2"/>
            <p:extLst>
              <p:ext uri="{D42A27DB-BD31-4B8C-83A1-F6EECF244321}">
                <p14:modId xmlns:p14="http://schemas.microsoft.com/office/powerpoint/2010/main" val="1230940228"/>
              </p:ext>
            </p:extLst>
          </p:nvPr>
        </p:nvGraphicFramePr>
        <p:xfrm>
          <a:off x="4689475" y="1617980"/>
          <a:ext cx="3894138" cy="2295525"/>
        </p:xfrm>
        <a:graphic>
          <a:graphicData uri="http://schemas.openxmlformats.org/presentationml/2006/ole">
            <mc:AlternateContent xmlns:mc="http://schemas.openxmlformats.org/markup-compatibility/2006">
              <mc:Choice xmlns:v="urn:schemas-microsoft-com:vml" Requires="v">
                <p:oleObj spid="_x0000_s4494" r:id="rId6" imgW="2393315" imgH="1147445" progId="Visio.Drawing.6">
                  <p:embed/>
                </p:oleObj>
              </mc:Choice>
              <mc:Fallback>
                <p:oleObj r:id="rId6" imgW="2393315" imgH="1147445" progId="Visio.Drawing.6">
                  <p:embed/>
                  <p:pic>
                    <p:nvPicPr>
                      <p:cNvPr id="0" name="图片 3077"/>
                      <p:cNvPicPr/>
                      <p:nvPr/>
                    </p:nvPicPr>
                    <p:blipFill>
                      <a:blip r:embed="rId7"/>
                      <a:stretch>
                        <a:fillRect/>
                      </a:stretch>
                    </p:blipFill>
                    <p:spPr>
                      <a:xfrm>
                        <a:off x="4689475" y="1617980"/>
                        <a:ext cx="3894138" cy="2295525"/>
                      </a:xfrm>
                      <a:prstGeom prst="rect">
                        <a:avLst/>
                      </a:prstGeom>
                      <a:solidFill>
                        <a:srgbClr val="99CCFF"/>
                      </a:solidFill>
                      <a:ln w="38100">
                        <a:miter/>
                      </a:ln>
                    </p:spPr>
                  </p:pic>
                </p:oleObj>
              </mc:Fallback>
            </mc:AlternateContent>
          </a:graphicData>
        </a:graphic>
      </p:graphicFrame>
      <p:sp>
        <p:nvSpPr>
          <p:cNvPr id="53252" name="Text Box 7"/>
          <p:cNvSpPr txBox="1"/>
          <p:nvPr/>
        </p:nvSpPr>
        <p:spPr>
          <a:xfrm>
            <a:off x="4724400" y="3802380"/>
            <a:ext cx="3492500" cy="366713"/>
          </a:xfrm>
          <a:prstGeom prst="rect">
            <a:avLst/>
          </a:prstGeom>
          <a:noFill/>
          <a:ln w="9525">
            <a:noFill/>
          </a:ln>
        </p:spPr>
        <p:txBody>
          <a:bodyPr anchor="t" anchorCtr="0">
            <a:spAutoFit/>
          </a:bodyPr>
          <a:lstStyle/>
          <a:p>
            <a:pPr eaLnBrk="0" hangingPunct="0">
              <a:spcBef>
                <a:spcPct val="50000"/>
              </a:spcBef>
            </a:pPr>
            <a:endParaRPr lang="zh-CN" altLang="en-US" dirty="0">
              <a:latin typeface="Verdana" panose="020B0604030504040204" pitchFamily="34" charset="0"/>
            </a:endParaRPr>
          </a:p>
        </p:txBody>
      </p:sp>
      <p:sp>
        <p:nvSpPr>
          <p:cNvPr id="351240" name="Rectangle 8"/>
          <p:cNvSpPr/>
          <p:nvPr/>
        </p:nvSpPr>
        <p:spPr>
          <a:xfrm>
            <a:off x="457200" y="3901438"/>
            <a:ext cx="8229600" cy="492125"/>
          </a:xfrm>
          <a:prstGeom prst="rect">
            <a:avLst/>
          </a:prstGeom>
          <a:noFill/>
          <a:ln w="9525">
            <a:noFill/>
          </a:ln>
        </p:spPr>
        <p:txBody>
          <a:bodyPr anchor="t" anchorCtr="0">
            <a:spAutoFit/>
          </a:bodyPr>
          <a:lstStyle/>
          <a:p>
            <a:pPr eaLnBrk="0" hangingPunct="0">
              <a:lnSpc>
                <a:spcPct val="150000"/>
              </a:lnSpc>
              <a:spcBef>
                <a:spcPct val="20000"/>
              </a:spcBef>
              <a:buClr>
                <a:srgbClr val="FF0000"/>
              </a:buClr>
            </a:pPr>
            <a:r>
              <a:rPr lang="en-US" altLang="zh-CN" b="1" dirty="0">
                <a:latin typeface="Verdana" panose="020B0604030504040204" pitchFamily="34" charset="0"/>
              </a:rPr>
              <a:t>                  Pi                                               Pj</a:t>
            </a:r>
          </a:p>
        </p:txBody>
      </p:sp>
      <p:sp>
        <p:nvSpPr>
          <p:cNvPr id="2" name="文本框 1"/>
          <p:cNvSpPr txBox="1"/>
          <p:nvPr/>
        </p:nvSpPr>
        <p:spPr>
          <a:xfrm>
            <a:off x="611188" y="4415790"/>
            <a:ext cx="4391025" cy="1014730"/>
          </a:xfrm>
          <a:prstGeom prst="rect">
            <a:avLst/>
          </a:prstGeom>
          <a:noFill/>
        </p:spPr>
        <p:txBody>
          <a:bodyPr wrap="none" rtlCol="0">
            <a:spAutoFit/>
          </a:bodyPr>
          <a:lstStyle/>
          <a:p>
            <a:r>
              <a:rPr lang="zh-CN" altLang="en-US" b="1" dirty="0">
                <a:ea typeface="宋体" panose="02010600030101010101" pitchFamily="2" charset="-122"/>
              </a:rPr>
              <a:t>进程</a:t>
            </a:r>
            <a:r>
              <a:rPr lang="en-US" altLang="zh-CN" b="1" dirty="0">
                <a:ea typeface="宋体" panose="02010600030101010101" pitchFamily="2" charset="-122"/>
              </a:rPr>
              <a:t>Pi</a:t>
            </a:r>
            <a:r>
              <a:rPr lang="zh-CN" altLang="en-US" b="1" dirty="0">
                <a:ea typeface="宋体" panose="02010600030101010101" pitchFamily="2" charset="-122"/>
              </a:rPr>
              <a:t>与</a:t>
            </a:r>
            <a:r>
              <a:rPr lang="en-US" altLang="zh-CN" b="1" dirty="0" err="1">
                <a:ea typeface="宋体" panose="02010600030101010101" pitchFamily="2" charset="-122"/>
              </a:rPr>
              <a:t>Pj</a:t>
            </a:r>
            <a:r>
              <a:rPr lang="zh-CN" altLang="en-US" b="1" dirty="0">
                <a:ea typeface="宋体" panose="02010600030101010101" pitchFamily="2" charset="-122"/>
              </a:rPr>
              <a:t>共享两个参数：</a:t>
            </a:r>
          </a:p>
          <a:p>
            <a:r>
              <a:rPr lang="en-US" altLang="zh-CN" dirty="0">
                <a:ea typeface="宋体" panose="02010600030101010101" pitchFamily="2" charset="-122"/>
              </a:rPr>
              <a:t>   flag[]; (</a:t>
            </a:r>
            <a:r>
              <a:rPr lang="zh-CN" altLang="en-US" dirty="0">
                <a:ea typeface="宋体" panose="02010600030101010101" pitchFamily="2" charset="-122"/>
              </a:rPr>
              <a:t>想不想访问</a:t>
            </a:r>
            <a:r>
              <a:rPr lang="en-US" altLang="zh-CN" dirty="0">
                <a:ea typeface="宋体" panose="02010600030101010101" pitchFamily="2" charset="-122"/>
              </a:rPr>
              <a:t>)</a:t>
            </a:r>
          </a:p>
          <a:p>
            <a:r>
              <a:rPr lang="en-US" altLang="zh-CN" dirty="0">
                <a:ea typeface="宋体" panose="02010600030101010101" pitchFamily="2" charset="-122"/>
              </a:rPr>
              <a:t>   turn;   (</a:t>
            </a:r>
            <a:r>
              <a:rPr lang="zh-CN" altLang="en-US" dirty="0">
                <a:ea typeface="宋体" panose="02010600030101010101" pitchFamily="2" charset="-122"/>
              </a:rPr>
              <a:t>唯一性标识；能不能访问</a:t>
            </a:r>
            <a:r>
              <a:rPr lang="en-US" altLang="zh-CN" dirty="0">
                <a:ea typeface="宋体" panose="02010600030101010101" pitchFamily="2" charset="-122"/>
              </a:rPr>
              <a:t>)</a:t>
            </a:r>
          </a:p>
        </p:txBody>
      </p:sp>
      <p:sp>
        <p:nvSpPr>
          <p:cNvPr id="4" name="文本框 3"/>
          <p:cNvSpPr txBox="1"/>
          <p:nvPr/>
        </p:nvSpPr>
        <p:spPr>
          <a:xfrm>
            <a:off x="3081655" y="923925"/>
            <a:ext cx="3124200" cy="521970"/>
          </a:xfrm>
          <a:prstGeom prst="rect">
            <a:avLst/>
          </a:prstGeom>
          <a:noFill/>
        </p:spPr>
        <p:txBody>
          <a:bodyPr wrap="none" rtlCol="0">
            <a:spAutoFit/>
          </a:bodyPr>
          <a:lstStyle/>
          <a:p>
            <a:r>
              <a:rPr lang="en-US" altLang="zh-CN" sz="2800" dirty="0"/>
              <a:t>“</a:t>
            </a:r>
            <a:r>
              <a:rPr lang="zh-CN" altLang="en-US" sz="2800" dirty="0"/>
              <a:t>礼貌的</a:t>
            </a:r>
            <a:r>
              <a:rPr lang="en-US" altLang="zh-CN" sz="2800" dirty="0"/>
              <a:t>Peterson”</a:t>
            </a:r>
          </a:p>
        </p:txBody>
      </p:sp>
      <p:sp>
        <p:nvSpPr>
          <p:cNvPr id="3" name="矩形 2">
            <a:extLst>
              <a:ext uri="{FF2B5EF4-FFF2-40B4-BE49-F238E27FC236}">
                <a16:creationId xmlns:a16="http://schemas.microsoft.com/office/drawing/2014/main" id="{7491DCF6-E1F6-435B-BF5A-ABF6BD48BC0B}"/>
              </a:ext>
            </a:extLst>
          </p:cNvPr>
          <p:cNvSpPr/>
          <p:nvPr/>
        </p:nvSpPr>
        <p:spPr bwMode="auto">
          <a:xfrm>
            <a:off x="685800" y="1706880"/>
            <a:ext cx="1790700" cy="365760"/>
          </a:xfrm>
          <a:prstGeom prst="rect">
            <a:avLst/>
          </a:prstGeom>
          <a:noFill/>
          <a:ln w="19050" cap="flat" cmpd="sng" algn="ctr">
            <a:solidFill>
              <a:srgbClr val="FF3300"/>
            </a:solidFill>
            <a:prstDash val="sysDash"/>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0" name="矩形 9">
            <a:extLst>
              <a:ext uri="{FF2B5EF4-FFF2-40B4-BE49-F238E27FC236}">
                <a16:creationId xmlns:a16="http://schemas.microsoft.com/office/drawing/2014/main" id="{DE9C93FB-CB78-422A-A55F-2F826DA63E3A}"/>
              </a:ext>
            </a:extLst>
          </p:cNvPr>
          <p:cNvSpPr/>
          <p:nvPr/>
        </p:nvSpPr>
        <p:spPr bwMode="auto">
          <a:xfrm>
            <a:off x="2551112" y="1706880"/>
            <a:ext cx="1289368" cy="365760"/>
          </a:xfrm>
          <a:prstGeom prst="rect">
            <a:avLst/>
          </a:prstGeom>
          <a:noFill/>
          <a:ln w="19050" cap="flat" cmpd="sng" algn="ctr">
            <a:solidFill>
              <a:srgbClr val="FF3300"/>
            </a:solidFill>
            <a:prstDash val="sysDash"/>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1" name="矩形 10">
            <a:extLst>
              <a:ext uri="{FF2B5EF4-FFF2-40B4-BE49-F238E27FC236}">
                <a16:creationId xmlns:a16="http://schemas.microsoft.com/office/drawing/2014/main" id="{7B6DBBA8-4045-4111-9C41-BFC1A7C46335}"/>
              </a:ext>
            </a:extLst>
          </p:cNvPr>
          <p:cNvSpPr/>
          <p:nvPr/>
        </p:nvSpPr>
        <p:spPr bwMode="auto">
          <a:xfrm>
            <a:off x="685800" y="2103118"/>
            <a:ext cx="3474720" cy="365760"/>
          </a:xfrm>
          <a:prstGeom prst="rect">
            <a:avLst/>
          </a:prstGeom>
          <a:noFill/>
          <a:ln w="19050" cap="flat" cmpd="sng" algn="ctr">
            <a:solidFill>
              <a:srgbClr val="FF3300"/>
            </a:solidFill>
            <a:prstDash val="sysDash"/>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2" name="矩形 11">
            <a:extLst>
              <a:ext uri="{FF2B5EF4-FFF2-40B4-BE49-F238E27FC236}">
                <a16:creationId xmlns:a16="http://schemas.microsoft.com/office/drawing/2014/main" id="{2242C545-D324-4EF7-83F0-562387F470C7}"/>
              </a:ext>
            </a:extLst>
          </p:cNvPr>
          <p:cNvSpPr/>
          <p:nvPr/>
        </p:nvSpPr>
        <p:spPr bwMode="auto">
          <a:xfrm>
            <a:off x="685800" y="3035935"/>
            <a:ext cx="3474720" cy="365760"/>
          </a:xfrm>
          <a:prstGeom prst="rect">
            <a:avLst/>
          </a:prstGeom>
          <a:noFill/>
          <a:ln w="19050" cap="flat" cmpd="sng" algn="ctr">
            <a:solidFill>
              <a:srgbClr val="FF3300"/>
            </a:solidFill>
            <a:prstDash val="sysDash"/>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3" name="文本框 12">
            <a:extLst>
              <a:ext uri="{FF2B5EF4-FFF2-40B4-BE49-F238E27FC236}">
                <a16:creationId xmlns:a16="http://schemas.microsoft.com/office/drawing/2014/main" id="{04C39E30-1E01-4A98-BDA7-1024F078CE59}"/>
              </a:ext>
            </a:extLst>
          </p:cNvPr>
          <p:cNvSpPr txBox="1"/>
          <p:nvPr/>
        </p:nvSpPr>
        <p:spPr>
          <a:xfrm>
            <a:off x="611188" y="5552438"/>
            <a:ext cx="6326505" cy="1014730"/>
          </a:xfrm>
          <a:prstGeom prst="rect">
            <a:avLst/>
          </a:prstGeom>
          <a:noFill/>
        </p:spPr>
        <p:txBody>
          <a:bodyPr wrap="none" rtlCol="0">
            <a:spAutoFit/>
          </a:bodyPr>
          <a:lstStyle/>
          <a:p>
            <a:r>
              <a:rPr lang="zh-CN" b="1" dirty="0">
                <a:ea typeface="宋体" panose="02010600030101010101" pitchFamily="2" charset="-122"/>
              </a:rPr>
              <a:t>思考：</a:t>
            </a:r>
          </a:p>
          <a:p>
            <a:r>
              <a:rPr lang="en-US" altLang="zh-CN" b="1" dirty="0">
                <a:ea typeface="宋体" panose="02010600030101010101" pitchFamily="2" charset="-122"/>
              </a:rPr>
              <a:t>         </a:t>
            </a:r>
            <a:r>
              <a:rPr lang="zh-CN" b="1" dirty="0">
                <a:ea typeface="宋体" panose="02010600030101010101" pitchFamily="2" charset="-122"/>
              </a:rPr>
              <a:t>如果不是只有两个进程呢？程序中需要改动吗？</a:t>
            </a:r>
          </a:p>
          <a:p>
            <a:r>
              <a:rPr lang="en-US" altLang="zh-CN" dirty="0">
                <a:ea typeface="宋体" panose="02010600030101010101" pitchFamily="2" charset="-122"/>
              </a:rPr>
              <a:t>         </a:t>
            </a:r>
            <a:r>
              <a:rPr lang="zh-CN" altLang="en-US" b="1" dirty="0">
                <a:ea typeface="宋体" panose="02010600030101010101" pitchFamily="2" charset="-122"/>
              </a:rPr>
              <a:t>如果要改动，改动哪里？</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1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1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p:bldP spid="4" grpId="0"/>
      <p:bldP spid="3" grpId="0" animBg="1"/>
      <p:bldP spid="3" grpId="1" animBg="1"/>
      <p:bldP spid="10" grpId="0" animBg="1"/>
      <p:bldP spid="10" grpId="1" animBg="1"/>
      <p:bldP spid="11" grpId="0" animBg="1"/>
      <p:bldP spid="11" grpId="1" animBg="1"/>
      <p:bldP spid="12" grpId="0" animBg="1"/>
      <p:bldP spid="13" grpId="0"/>
      <p:bldP spid="13"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BA708A-8BD4-4A2E-AA05-20B09092770F}"/>
              </a:ext>
            </a:extLst>
          </p:cNvPr>
          <p:cNvSpPr>
            <a:spLocks noGrp="1"/>
          </p:cNvSpPr>
          <p:nvPr>
            <p:ph type="title"/>
          </p:nvPr>
        </p:nvSpPr>
        <p:spPr/>
        <p:txBody>
          <a:bodyPr/>
          <a:lstStyle/>
          <a:p>
            <a:r>
              <a:rPr lang="en-US" altLang="zh-CN" dirty="0"/>
              <a:t>Dekker</a:t>
            </a:r>
            <a:r>
              <a:rPr lang="zh-CN" altLang="en-US" dirty="0"/>
              <a:t> </a:t>
            </a:r>
            <a:r>
              <a:rPr lang="en-US" altLang="zh-CN" dirty="0"/>
              <a:t>Algorithm</a:t>
            </a:r>
            <a:endParaRPr lang="zh-CN" altLang="en-US" dirty="0"/>
          </a:p>
        </p:txBody>
      </p:sp>
      <p:sp>
        <p:nvSpPr>
          <p:cNvPr id="3" name="内容占位符 2">
            <a:extLst>
              <a:ext uri="{FF2B5EF4-FFF2-40B4-BE49-F238E27FC236}">
                <a16:creationId xmlns:a16="http://schemas.microsoft.com/office/drawing/2014/main" id="{6488AED6-19F3-4F1F-AE9E-301432918626}"/>
              </a:ext>
            </a:extLst>
          </p:cNvPr>
          <p:cNvSpPr>
            <a:spLocks noGrp="1"/>
          </p:cNvSpPr>
          <p:nvPr>
            <p:ph idx="1"/>
          </p:nvPr>
        </p:nvSpPr>
        <p:spPr>
          <a:xfrm>
            <a:off x="457200" y="854075"/>
            <a:ext cx="8229600" cy="5726112"/>
          </a:xfrm>
        </p:spPr>
        <p:txBody>
          <a:bodyPr/>
          <a:lstStyle/>
          <a:p>
            <a:r>
              <a:rPr lang="en-US" altLang="zh-CN" dirty="0"/>
              <a:t>Set flag[]=false; turn=0;</a:t>
            </a:r>
          </a:p>
          <a:p>
            <a:pPr marL="514350" lvl="1" indent="0">
              <a:buNone/>
            </a:pPr>
            <a:r>
              <a:rPr lang="en-US" altLang="zh-CN" dirty="0">
                <a:solidFill>
                  <a:srgbClr val="0000FF"/>
                </a:solidFill>
                <a:ea typeface="宋体" panose="02010600030101010101" pitchFamily="2" charset="-122"/>
                <a:cs typeface="+mn-cs"/>
              </a:rPr>
              <a:t>do{</a:t>
            </a:r>
          </a:p>
          <a:p>
            <a:pPr marL="800100" lvl="2" indent="0">
              <a:buNone/>
            </a:pPr>
            <a:r>
              <a:rPr lang="en-US" altLang="zh-CN" sz="2800" dirty="0">
                <a:solidFill>
                  <a:srgbClr val="0000FF"/>
                </a:solidFill>
                <a:ea typeface="宋体" panose="02010600030101010101" pitchFamily="2" charset="-122"/>
                <a:cs typeface="+mn-cs"/>
              </a:rPr>
              <a:t>	flag[</a:t>
            </a:r>
            <a:r>
              <a:rPr lang="en-US" altLang="zh-CN" sz="2800" dirty="0" err="1">
                <a:solidFill>
                  <a:srgbClr val="0000FF"/>
                </a:solidFill>
                <a:ea typeface="宋体" panose="02010600030101010101" pitchFamily="2" charset="-122"/>
                <a:cs typeface="+mn-cs"/>
              </a:rPr>
              <a:t>i</a:t>
            </a:r>
            <a:r>
              <a:rPr lang="en-US" altLang="zh-CN" sz="2800" dirty="0">
                <a:solidFill>
                  <a:srgbClr val="0000FF"/>
                </a:solidFill>
                <a:ea typeface="宋体" panose="02010600030101010101" pitchFamily="2" charset="-122"/>
                <a:cs typeface="+mn-cs"/>
              </a:rPr>
              <a:t>]=true;</a:t>
            </a:r>
          </a:p>
          <a:p>
            <a:pPr marL="800100" lvl="2" indent="0">
              <a:buNone/>
            </a:pPr>
            <a:r>
              <a:rPr lang="en-US" altLang="zh-CN" sz="2800" dirty="0">
                <a:solidFill>
                  <a:srgbClr val="0000FF"/>
                </a:solidFill>
                <a:ea typeface="宋体" panose="02010600030101010101" pitchFamily="2" charset="-122"/>
                <a:cs typeface="+mn-cs"/>
              </a:rPr>
              <a:t>	while flag[j]==true{</a:t>
            </a:r>
          </a:p>
          <a:p>
            <a:pPr marL="1143000" lvl="3" indent="0">
              <a:buNone/>
            </a:pPr>
            <a:r>
              <a:rPr lang="en-US" altLang="zh-CN" sz="2400" dirty="0">
                <a:solidFill>
                  <a:srgbClr val="0000FF"/>
                </a:solidFill>
                <a:ea typeface="宋体" panose="02010600030101010101" pitchFamily="2" charset="-122"/>
                <a:cs typeface="+mn-cs"/>
              </a:rPr>
              <a:t>        if turn !=</a:t>
            </a:r>
            <a:r>
              <a:rPr lang="en-US" altLang="zh-CN" sz="2400" dirty="0" err="1">
                <a:solidFill>
                  <a:srgbClr val="0000FF"/>
                </a:solidFill>
                <a:ea typeface="宋体" panose="02010600030101010101" pitchFamily="2" charset="-122"/>
                <a:cs typeface="+mn-cs"/>
              </a:rPr>
              <a:t>i</a:t>
            </a:r>
            <a:r>
              <a:rPr lang="en-US" altLang="zh-CN" sz="2400" dirty="0">
                <a:solidFill>
                  <a:srgbClr val="0000FF"/>
                </a:solidFill>
                <a:ea typeface="宋体" panose="02010600030101010101" pitchFamily="2" charset="-122"/>
                <a:cs typeface="+mn-cs"/>
              </a:rPr>
              <a:t>{</a:t>
            </a:r>
          </a:p>
          <a:p>
            <a:pPr marL="1143000" lvl="3" indent="0">
              <a:buNone/>
            </a:pPr>
            <a:r>
              <a:rPr lang="en-US" altLang="zh-CN" sz="2400" dirty="0">
                <a:solidFill>
                  <a:srgbClr val="0000FF"/>
                </a:solidFill>
                <a:ea typeface="宋体" panose="02010600030101010101" pitchFamily="2" charset="-122"/>
                <a:cs typeface="+mn-cs"/>
              </a:rPr>
              <a:t>		flag[</a:t>
            </a:r>
            <a:r>
              <a:rPr lang="en-US" altLang="zh-CN" sz="2400" dirty="0" err="1">
                <a:solidFill>
                  <a:srgbClr val="0000FF"/>
                </a:solidFill>
                <a:ea typeface="宋体" panose="02010600030101010101" pitchFamily="2" charset="-122"/>
                <a:cs typeface="+mn-cs"/>
              </a:rPr>
              <a:t>i</a:t>
            </a:r>
            <a:r>
              <a:rPr lang="en-US" altLang="zh-CN" sz="2400" dirty="0">
                <a:solidFill>
                  <a:srgbClr val="0000FF"/>
                </a:solidFill>
                <a:ea typeface="宋体" panose="02010600030101010101" pitchFamily="2" charset="-122"/>
                <a:cs typeface="+mn-cs"/>
              </a:rPr>
              <a:t>]=false;</a:t>
            </a:r>
          </a:p>
          <a:p>
            <a:pPr marL="1143000" lvl="3" indent="0">
              <a:buNone/>
            </a:pPr>
            <a:r>
              <a:rPr lang="en-US" altLang="zh-CN" sz="2400" dirty="0">
                <a:solidFill>
                  <a:srgbClr val="0000FF"/>
                </a:solidFill>
                <a:ea typeface="宋体" panose="02010600030101010101" pitchFamily="2" charset="-122"/>
                <a:cs typeface="+mn-cs"/>
              </a:rPr>
              <a:t>		while (turn != </a:t>
            </a:r>
            <a:r>
              <a:rPr lang="en-US" altLang="zh-CN" sz="2400" dirty="0" err="1">
                <a:solidFill>
                  <a:srgbClr val="0000FF"/>
                </a:solidFill>
                <a:ea typeface="宋体" panose="02010600030101010101" pitchFamily="2" charset="-122"/>
                <a:cs typeface="+mn-cs"/>
              </a:rPr>
              <a:t>i</a:t>
            </a:r>
            <a:r>
              <a:rPr lang="en-US" altLang="zh-CN" sz="2400" dirty="0">
                <a:solidFill>
                  <a:srgbClr val="0000FF"/>
                </a:solidFill>
                <a:ea typeface="宋体" panose="02010600030101010101" pitchFamily="2" charset="-122"/>
                <a:cs typeface="+mn-cs"/>
              </a:rPr>
              <a:t>);</a:t>
            </a:r>
          </a:p>
          <a:p>
            <a:pPr marL="1143000" lvl="3" indent="0">
              <a:buNone/>
            </a:pPr>
            <a:r>
              <a:rPr lang="en-US" altLang="zh-CN" sz="2400" dirty="0">
                <a:solidFill>
                  <a:srgbClr val="0000FF"/>
                </a:solidFill>
                <a:ea typeface="宋体" panose="02010600030101010101" pitchFamily="2" charset="-122"/>
                <a:cs typeface="+mn-cs"/>
              </a:rPr>
              <a:t>		flag[</a:t>
            </a:r>
            <a:r>
              <a:rPr lang="en-US" altLang="zh-CN" sz="2400" dirty="0" err="1">
                <a:solidFill>
                  <a:srgbClr val="0000FF"/>
                </a:solidFill>
                <a:ea typeface="宋体" panose="02010600030101010101" pitchFamily="2" charset="-122"/>
                <a:cs typeface="+mn-cs"/>
              </a:rPr>
              <a:t>i</a:t>
            </a:r>
            <a:r>
              <a:rPr lang="en-US" altLang="zh-CN" sz="2400" dirty="0">
                <a:solidFill>
                  <a:srgbClr val="0000FF"/>
                </a:solidFill>
                <a:ea typeface="宋体" panose="02010600030101010101" pitchFamily="2" charset="-122"/>
                <a:cs typeface="+mn-cs"/>
              </a:rPr>
              <a:t>] =true;</a:t>
            </a:r>
          </a:p>
          <a:p>
            <a:pPr marL="1485900" lvl="4" indent="0">
              <a:buNone/>
            </a:pPr>
            <a:r>
              <a:rPr lang="en-US" altLang="zh-CN" sz="2400" dirty="0">
                <a:solidFill>
                  <a:srgbClr val="0000FF"/>
                </a:solidFill>
                <a:ea typeface="宋体" panose="02010600030101010101" pitchFamily="2" charset="-122"/>
                <a:cs typeface="+mn-cs"/>
              </a:rPr>
              <a:t>   }</a:t>
            </a:r>
          </a:p>
          <a:p>
            <a:pPr marL="1485900" lvl="4" indent="0">
              <a:buNone/>
            </a:pPr>
            <a:r>
              <a:rPr lang="en-US" altLang="zh-CN" sz="2400" dirty="0">
                <a:solidFill>
                  <a:srgbClr val="0000FF"/>
                </a:solidFill>
                <a:ea typeface="宋体" panose="02010600030101010101" pitchFamily="2" charset="-122"/>
                <a:cs typeface="+mn-cs"/>
              </a:rPr>
              <a:t>}</a:t>
            </a:r>
          </a:p>
          <a:p>
            <a:pPr marL="514350" lvl="1" indent="0">
              <a:buNone/>
            </a:pPr>
            <a:r>
              <a:rPr lang="en-US" altLang="zh-CN" dirty="0">
                <a:solidFill>
                  <a:srgbClr val="0000FF"/>
                </a:solidFill>
                <a:ea typeface="宋体" panose="02010600030101010101" pitchFamily="2" charset="-122"/>
                <a:cs typeface="+mn-cs"/>
              </a:rPr>
              <a:t>  }</a:t>
            </a:r>
            <a:endParaRPr lang="zh-CN" altLang="en-US" dirty="0">
              <a:solidFill>
                <a:srgbClr val="0000FF"/>
              </a:solidFill>
              <a:ea typeface="宋体" panose="02010600030101010101" pitchFamily="2" charset="-122"/>
              <a:cs typeface="+mn-cs"/>
            </a:endParaRPr>
          </a:p>
        </p:txBody>
      </p:sp>
      <p:sp>
        <p:nvSpPr>
          <p:cNvPr id="4" name="矩形 3">
            <a:extLst>
              <a:ext uri="{FF2B5EF4-FFF2-40B4-BE49-F238E27FC236}">
                <a16:creationId xmlns:a16="http://schemas.microsoft.com/office/drawing/2014/main" id="{C9CE0B4B-D8E9-4848-BDF9-E837DED3EF93}"/>
              </a:ext>
            </a:extLst>
          </p:cNvPr>
          <p:cNvSpPr/>
          <p:nvPr/>
        </p:nvSpPr>
        <p:spPr>
          <a:xfrm>
            <a:off x="4861560" y="1430337"/>
            <a:ext cx="4572000" cy="1815882"/>
          </a:xfrm>
          <a:prstGeom prst="rect">
            <a:avLst/>
          </a:prstGeom>
        </p:spPr>
        <p:txBody>
          <a:bodyPr>
            <a:spAutoFit/>
          </a:bodyPr>
          <a:lstStyle/>
          <a:p>
            <a:pPr marL="857250" lvl="2"/>
            <a:r>
              <a:rPr kumimoji="1" lang="zh-CN" altLang="en-US" sz="2800" dirty="0">
                <a:solidFill>
                  <a:srgbClr val="0000FF"/>
                </a:solidFill>
                <a:latin typeface="+mn-lt"/>
                <a:ea typeface="宋体" panose="02010600030101010101" pitchFamily="2" charset="-122"/>
              </a:rPr>
              <a:t>临界区</a:t>
            </a:r>
            <a:endParaRPr kumimoji="1" lang="en-US" altLang="zh-CN" sz="2800" dirty="0">
              <a:solidFill>
                <a:srgbClr val="0000FF"/>
              </a:solidFill>
              <a:latin typeface="+mn-lt"/>
              <a:ea typeface="宋体" panose="02010600030101010101" pitchFamily="2" charset="-122"/>
            </a:endParaRPr>
          </a:p>
          <a:p>
            <a:pPr marL="857250" lvl="2"/>
            <a:r>
              <a:rPr kumimoji="1" lang="en-US" altLang="zh-CN" sz="2800" dirty="0">
                <a:solidFill>
                  <a:srgbClr val="0000FF"/>
                </a:solidFill>
                <a:latin typeface="+mn-lt"/>
                <a:ea typeface="宋体" panose="02010600030101010101" pitchFamily="2" charset="-122"/>
              </a:rPr>
              <a:t>turn=1;</a:t>
            </a:r>
          </a:p>
          <a:p>
            <a:pPr marL="857250" lvl="2"/>
            <a:r>
              <a:rPr kumimoji="1" lang="en-US" altLang="zh-CN" sz="2800" dirty="0">
                <a:solidFill>
                  <a:srgbClr val="0000FF"/>
                </a:solidFill>
                <a:latin typeface="+mn-lt"/>
                <a:ea typeface="宋体" panose="02010600030101010101" pitchFamily="2" charset="-122"/>
              </a:rPr>
              <a:t>flag[</a:t>
            </a:r>
            <a:r>
              <a:rPr kumimoji="1" lang="en-US" altLang="zh-CN" sz="2800" dirty="0" err="1">
                <a:solidFill>
                  <a:srgbClr val="0000FF"/>
                </a:solidFill>
                <a:latin typeface="+mn-lt"/>
                <a:ea typeface="宋体" panose="02010600030101010101" pitchFamily="2" charset="-122"/>
              </a:rPr>
              <a:t>i</a:t>
            </a:r>
            <a:r>
              <a:rPr kumimoji="1" lang="en-US" altLang="zh-CN" sz="2800" dirty="0">
                <a:solidFill>
                  <a:srgbClr val="0000FF"/>
                </a:solidFill>
                <a:latin typeface="+mn-lt"/>
                <a:ea typeface="宋体" panose="02010600030101010101" pitchFamily="2" charset="-122"/>
              </a:rPr>
              <a:t>]=false;</a:t>
            </a:r>
          </a:p>
          <a:p>
            <a:pPr marL="857250" lvl="2"/>
            <a:endParaRPr lang="zh-CN" altLang="en-US" sz="2800" dirty="0"/>
          </a:p>
        </p:txBody>
      </p:sp>
      <p:sp>
        <p:nvSpPr>
          <p:cNvPr id="5" name="文本框 4">
            <a:extLst>
              <a:ext uri="{FF2B5EF4-FFF2-40B4-BE49-F238E27FC236}">
                <a16:creationId xmlns:a16="http://schemas.microsoft.com/office/drawing/2014/main" id="{77327303-8143-4260-8D6F-DE6276763B1F}"/>
              </a:ext>
            </a:extLst>
          </p:cNvPr>
          <p:cNvSpPr txBox="1"/>
          <p:nvPr/>
        </p:nvSpPr>
        <p:spPr>
          <a:xfrm>
            <a:off x="3009900" y="5742940"/>
            <a:ext cx="3595984" cy="523220"/>
          </a:xfrm>
          <a:prstGeom prst="rect">
            <a:avLst/>
          </a:prstGeom>
          <a:noFill/>
        </p:spPr>
        <p:txBody>
          <a:bodyPr wrap="none" rtlCol="0">
            <a:spAutoFit/>
          </a:bodyPr>
          <a:lstStyle/>
          <a:p>
            <a:r>
              <a:rPr lang="en-US" altLang="zh-CN" sz="2800" dirty="0"/>
              <a:t>“</a:t>
            </a:r>
            <a:r>
              <a:rPr lang="zh-CN" altLang="en-US" sz="2800" dirty="0"/>
              <a:t>举手放手的</a:t>
            </a:r>
            <a:r>
              <a:rPr lang="en-US" altLang="zh-CN" sz="2800" dirty="0"/>
              <a:t>Dekker”</a:t>
            </a:r>
          </a:p>
        </p:txBody>
      </p:sp>
    </p:spTree>
    <p:extLst>
      <p:ext uri="{BB962C8B-B14F-4D97-AF65-F5344CB8AC3E}">
        <p14:creationId xmlns:p14="http://schemas.microsoft.com/office/powerpoint/2010/main" val="265677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p:cNvSpPr>
          <p:nvPr>
            <p:ph type="title"/>
          </p:nvPr>
        </p:nvSpPr>
        <p:spPr>
          <a:ln/>
        </p:spPr>
        <p:txBody>
          <a:bodyPr vert="horz" wrap="square" lIns="91440" tIns="45720" rIns="91440" bIns="45720" anchor="b" anchorCtr="0"/>
          <a:lstStyle/>
          <a:p>
            <a:pPr eaLnBrk="1" hangingPunct="1"/>
            <a:r>
              <a:rPr lang="en-US" altLang="zh-CN" dirty="0"/>
              <a:t>Objectives</a:t>
            </a:r>
          </a:p>
        </p:txBody>
      </p:sp>
      <p:sp>
        <p:nvSpPr>
          <p:cNvPr id="11266" name="Rectangle 3"/>
          <p:cNvSpPr>
            <a:spLocks noGrp="1"/>
          </p:cNvSpPr>
          <p:nvPr>
            <p:ph idx="1"/>
          </p:nvPr>
        </p:nvSpPr>
        <p:spPr>
          <a:xfrm>
            <a:off x="469900" y="1360488"/>
            <a:ext cx="8405813" cy="5062537"/>
          </a:xfrm>
          <a:ln/>
        </p:spPr>
        <p:txBody>
          <a:bodyPr vert="horz" wrap="square" lIns="91440" tIns="45720" rIns="91440" bIns="45720" anchor="t" anchorCtr="0"/>
          <a:lstStyle/>
          <a:p>
            <a:r>
              <a:rPr lang="en-US" altLang="zh-CN" sz="2400" dirty="0"/>
              <a:t>To introduce the </a:t>
            </a:r>
            <a:r>
              <a:rPr lang="en-US" altLang="zh-CN" sz="2400" dirty="0">
                <a:solidFill>
                  <a:srgbClr val="FF3300"/>
                </a:solidFill>
              </a:rPr>
              <a:t>critical-section(</a:t>
            </a:r>
            <a:r>
              <a:rPr lang="zh-CN" altLang="en-US" sz="2400" dirty="0">
                <a:solidFill>
                  <a:srgbClr val="FF3300"/>
                </a:solidFill>
                <a:ea typeface="宋体" panose="02010600030101010101" pitchFamily="2" charset="-122"/>
              </a:rPr>
              <a:t>临界区</a:t>
            </a:r>
            <a:r>
              <a:rPr lang="en-US" altLang="zh-CN" sz="2400" dirty="0">
                <a:solidFill>
                  <a:srgbClr val="FF3300"/>
                </a:solidFill>
              </a:rPr>
              <a:t>)</a:t>
            </a:r>
            <a:r>
              <a:rPr lang="en-US" altLang="zh-CN" sz="2400" dirty="0"/>
              <a:t> problem, whose solutions can be used to ensure the consistency of shared data</a:t>
            </a:r>
          </a:p>
          <a:p>
            <a:r>
              <a:rPr lang="en-US" altLang="zh-CN" sz="2400" dirty="0"/>
              <a:t>To present both </a:t>
            </a:r>
            <a:r>
              <a:rPr lang="en-US" altLang="zh-CN" sz="2400" dirty="0">
                <a:solidFill>
                  <a:srgbClr val="FF0000"/>
                </a:solidFill>
              </a:rPr>
              <a:t>software</a:t>
            </a:r>
            <a:r>
              <a:rPr lang="en-US" altLang="zh-CN" sz="2400" dirty="0"/>
              <a:t> and </a:t>
            </a:r>
            <a:r>
              <a:rPr lang="en-US" altLang="zh-CN" sz="2400" dirty="0">
                <a:solidFill>
                  <a:srgbClr val="FF0000"/>
                </a:solidFill>
              </a:rPr>
              <a:t>hardware solutions </a:t>
            </a:r>
            <a:r>
              <a:rPr lang="en-US" altLang="zh-CN" sz="2400" dirty="0"/>
              <a:t>of the critical-section problem</a:t>
            </a:r>
          </a:p>
          <a:p>
            <a:r>
              <a:rPr lang="en-US" altLang="zh-CN" sz="2400" dirty="0"/>
              <a:t>To introduce the concept of an </a:t>
            </a:r>
            <a:r>
              <a:rPr lang="en-US" altLang="zh-CN" sz="2400" dirty="0">
                <a:solidFill>
                  <a:srgbClr val="FF0000"/>
                </a:solidFill>
              </a:rPr>
              <a:t>atomic transaction </a:t>
            </a:r>
            <a:r>
              <a:rPr lang="en-US" altLang="zh-CN" sz="2400" dirty="0"/>
              <a:t>and describe mechanisms to ensure atomicity</a:t>
            </a:r>
          </a:p>
        </p:txBody>
      </p:sp>
    </p:spTree>
    <p:extLst>
      <p:ext uri="{BB962C8B-B14F-4D97-AF65-F5344CB8AC3E}">
        <p14:creationId xmlns:p14="http://schemas.microsoft.com/office/powerpoint/2010/main" val="3309950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nodeType="clickEffect">
                                  <p:stCondLst>
                                    <p:cond delay="0"/>
                                  </p:stCondLst>
                                  <p:childTnLst>
                                    <p:animClr clrSpc="rgb" dir="cw">
                                      <p:cBhvr override="childStyle">
                                        <p:cTn id="6" dur="250" autoRev="1" fill="remove"/>
                                        <p:tgtEl>
                                          <p:spTgt spid="11266">
                                            <p:txEl>
                                              <p:pRg st="2" end="2"/>
                                            </p:txEl>
                                          </p:spTgt>
                                        </p:tgtEl>
                                        <p:attrNameLst>
                                          <p:attrName>style.color</p:attrName>
                                        </p:attrNameLst>
                                      </p:cBhvr>
                                      <p:to>
                                        <a:schemeClr val="bg1"/>
                                      </p:to>
                                    </p:animClr>
                                    <p:animClr clrSpc="rgb" dir="cw">
                                      <p:cBhvr>
                                        <p:cTn id="7" dur="250" autoRev="1" fill="remove"/>
                                        <p:tgtEl>
                                          <p:spTgt spid="11266">
                                            <p:txEl>
                                              <p:pRg st="2" end="2"/>
                                            </p:txEl>
                                          </p:spTgt>
                                        </p:tgtEl>
                                        <p:attrNameLst>
                                          <p:attrName>fillcolor</p:attrName>
                                        </p:attrNameLst>
                                      </p:cBhvr>
                                      <p:to>
                                        <a:schemeClr val="bg1"/>
                                      </p:to>
                                    </p:animClr>
                                    <p:set>
                                      <p:cBhvr>
                                        <p:cTn id="8" dur="250" autoRev="1" fill="remove"/>
                                        <p:tgtEl>
                                          <p:spTgt spid="11266">
                                            <p:txEl>
                                              <p:pRg st="2" end="2"/>
                                            </p:txEl>
                                          </p:spTgt>
                                        </p:tgtEl>
                                        <p:attrNameLst>
                                          <p:attrName>fill.type</p:attrName>
                                        </p:attrNameLst>
                                      </p:cBhvr>
                                      <p:to>
                                        <p:strVal val="solid"/>
                                      </p:to>
                                    </p:set>
                                    <p:set>
                                      <p:cBhvr>
                                        <p:cTn id="9" dur="250" autoRev="1" fill="remove"/>
                                        <p:tgtEl>
                                          <p:spTgt spid="11266">
                                            <p:txEl>
                                              <p:pRg st="2" end="2"/>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p:cNvSpPr>
          <p:nvPr>
            <p:ph type="title" idx="4294967295"/>
          </p:nvPr>
        </p:nvSpPr>
        <p:spPr>
          <a:xfrm>
            <a:off x="1112838" y="0"/>
            <a:ext cx="7275512" cy="885825"/>
          </a:xfrm>
          <a:ln/>
        </p:spPr>
        <p:txBody>
          <a:bodyPr vert="horz" wrap="square" lIns="91440" tIns="45720" rIns="91440" bIns="45720" anchor="b" anchorCtr="0"/>
          <a:lstStyle/>
          <a:p>
            <a:br>
              <a:rPr lang="zh-CN" altLang="en-US" dirty="0"/>
            </a:br>
            <a:br>
              <a:rPr lang="zh-CN" altLang="en-US" dirty="0"/>
            </a:br>
            <a:r>
              <a:rPr lang="en-US" altLang="zh-CN" dirty="0"/>
              <a:t>Synchronization Hardware</a:t>
            </a:r>
            <a:endParaRPr lang="zh-CN" altLang="en-US" dirty="0"/>
          </a:p>
        </p:txBody>
      </p:sp>
      <p:sp>
        <p:nvSpPr>
          <p:cNvPr id="56322" name="Rectangle 3"/>
          <p:cNvSpPr>
            <a:spLocks noGrp="1"/>
          </p:cNvSpPr>
          <p:nvPr>
            <p:ph type="body" idx="4294967295"/>
          </p:nvPr>
        </p:nvSpPr>
        <p:spPr>
          <a:xfrm>
            <a:off x="488950" y="1200150"/>
            <a:ext cx="8372475" cy="5199063"/>
          </a:xfrm>
          <a:ln/>
        </p:spPr>
        <p:txBody>
          <a:bodyPr vert="horz" wrap="square" lIns="91440" tIns="45720" rIns="91440" bIns="45720" anchor="t" anchorCtr="0"/>
          <a:lstStyle/>
          <a:p>
            <a:pPr defTabSz="914400">
              <a:tabLst>
                <a:tab pos="744855" algn="l"/>
                <a:tab pos="1025525" algn="l"/>
                <a:tab pos="1260475" algn="l"/>
              </a:tabLst>
            </a:pPr>
            <a:r>
              <a:rPr lang="en-US" altLang="zh-CN" sz="2400" dirty="0">
                <a:ea typeface="宋体" panose="02010600030101010101" pitchFamily="2" charset="-122"/>
              </a:rPr>
              <a:t>Many systems provide </a:t>
            </a:r>
            <a:r>
              <a:rPr lang="en-US" altLang="zh-CN" sz="2400" dirty="0">
                <a:solidFill>
                  <a:srgbClr val="FF0000"/>
                </a:solidFill>
                <a:ea typeface="宋体" panose="02010600030101010101" pitchFamily="2" charset="-122"/>
              </a:rPr>
              <a:t>hardware</a:t>
            </a:r>
            <a:r>
              <a:rPr lang="en-US" altLang="zh-CN" sz="2400" dirty="0">
                <a:ea typeface="宋体" panose="02010600030101010101" pitchFamily="2" charset="-122"/>
              </a:rPr>
              <a:t> support for critical section code.</a:t>
            </a:r>
            <a:r>
              <a:rPr lang="zh-CN" altLang="en-US" sz="2400" dirty="0">
                <a:ea typeface="宋体" panose="02010600030101010101" pitchFamily="2" charset="-122"/>
              </a:rPr>
              <a:t>（许多系统为临界区代码提供</a:t>
            </a:r>
            <a:r>
              <a:rPr lang="zh-CN" altLang="en-US" sz="2400" dirty="0">
                <a:solidFill>
                  <a:srgbClr val="FF0000"/>
                </a:solidFill>
                <a:ea typeface="宋体" panose="02010600030101010101" pitchFamily="2" charset="-122"/>
              </a:rPr>
              <a:t>硬件</a:t>
            </a:r>
            <a:r>
              <a:rPr lang="zh-CN" altLang="en-US" sz="2400" dirty="0">
                <a:ea typeface="宋体" panose="02010600030101010101" pitchFamily="2" charset="-122"/>
              </a:rPr>
              <a:t>支持）</a:t>
            </a:r>
            <a:endParaRPr lang="en-US" altLang="zh-CN" sz="2400" dirty="0">
              <a:ea typeface="宋体" panose="02010600030101010101" pitchFamily="2" charset="-122"/>
            </a:endParaRPr>
          </a:p>
          <a:p>
            <a:pPr defTabSz="914400">
              <a:tabLst>
                <a:tab pos="744855" algn="l"/>
                <a:tab pos="1025525" algn="l"/>
                <a:tab pos="1260475" algn="l"/>
              </a:tabLst>
            </a:pPr>
            <a:r>
              <a:rPr lang="en-US" altLang="zh-CN" sz="2400" dirty="0">
                <a:ea typeface="宋体" panose="02010600030101010101" pitchFamily="2" charset="-122"/>
              </a:rPr>
              <a:t>Hardware features can make programming task easier and improve system efficiency.</a:t>
            </a:r>
            <a:r>
              <a:rPr lang="zh-CN" altLang="en-US" sz="2400" dirty="0">
                <a:ea typeface="宋体" panose="02010600030101010101" pitchFamily="2" charset="-122"/>
              </a:rPr>
              <a:t>（优点：简化编程任务，提高系统效率）</a:t>
            </a:r>
            <a:endParaRPr lang="en-US" altLang="zh-CN" sz="2400" dirty="0">
              <a:ea typeface="宋体" panose="02010600030101010101" pitchFamily="2" charset="-122"/>
            </a:endParaRPr>
          </a:p>
          <a:p>
            <a:pPr defTabSz="914400">
              <a:tabLst>
                <a:tab pos="744855" algn="l"/>
                <a:tab pos="1025525" algn="l"/>
                <a:tab pos="1260475" algn="l"/>
              </a:tabLst>
            </a:pPr>
            <a:r>
              <a:rPr lang="en-US" altLang="zh-CN" sz="2400" dirty="0">
                <a:ea typeface="宋体" panose="02010600030101010101" pitchFamily="2" charset="-122"/>
              </a:rPr>
              <a:t>Modern machines provide special atomic hardware instructions to solve critical section problem in a relatively simple manner.</a:t>
            </a:r>
          </a:p>
          <a:p>
            <a:pPr lvl="2" defTabSz="914400">
              <a:tabLst>
                <a:tab pos="744855" algn="l"/>
                <a:tab pos="1025525" algn="l"/>
                <a:tab pos="1260475" algn="l"/>
              </a:tabLst>
            </a:pPr>
            <a:r>
              <a:rPr lang="en-US" altLang="zh-CN" dirty="0">
                <a:solidFill>
                  <a:srgbClr val="FF0000"/>
                </a:solidFill>
                <a:ea typeface="宋体" panose="02010600030101010101" pitchFamily="2" charset="-122"/>
              </a:rPr>
              <a:t>Atomic (</a:t>
            </a:r>
            <a:r>
              <a:rPr lang="zh-CN" altLang="en-US" dirty="0">
                <a:solidFill>
                  <a:srgbClr val="FF0000"/>
                </a:solidFill>
                <a:ea typeface="宋体" panose="02010600030101010101" pitchFamily="2" charset="-122"/>
              </a:rPr>
              <a:t>原子</a:t>
            </a:r>
            <a:r>
              <a:rPr lang="en-US" altLang="zh-CN" dirty="0">
                <a:solidFill>
                  <a:srgbClr val="FF0000"/>
                </a:solidFill>
                <a:ea typeface="宋体" panose="02010600030101010101" pitchFamily="2" charset="-122"/>
              </a:rPr>
              <a:t>)= non-interruptable</a:t>
            </a:r>
          </a:p>
          <a:p>
            <a:pPr lvl="1" defTabSz="914400">
              <a:tabLst>
                <a:tab pos="744855" algn="l"/>
                <a:tab pos="1025525" algn="l"/>
                <a:tab pos="1260475" algn="l"/>
              </a:tabLst>
            </a:pPr>
            <a:r>
              <a:rPr lang="zh-CN" altLang="en-US" sz="2400" dirty="0">
                <a:ea typeface="宋体" panose="02010600030101010101" pitchFamily="2" charset="-122"/>
              </a:rPr>
              <a:t>通过特殊的内存访问电路</a:t>
            </a:r>
            <a:endParaRPr lang="en-US" altLang="zh-CN" sz="2400" dirty="0">
              <a:ea typeface="宋体" panose="02010600030101010101" pitchFamily="2" charset="-122"/>
            </a:endParaRPr>
          </a:p>
          <a:p>
            <a:pPr lvl="1" defTabSz="914400">
              <a:tabLst>
                <a:tab pos="744855" algn="l"/>
                <a:tab pos="1025525" algn="l"/>
                <a:tab pos="1260475" algn="l"/>
              </a:tabLst>
            </a:pPr>
            <a:r>
              <a:rPr lang="zh-CN" altLang="en-US" sz="2400" dirty="0">
                <a:ea typeface="宋体" panose="02010600030101010101" pitchFamily="2" charset="-122"/>
              </a:rPr>
              <a:t>针对单处理器和多处理器</a:t>
            </a:r>
            <a:endParaRPr lang="en-US" altLang="zh-CN" sz="2400" dirty="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32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32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632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632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632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p:cNvSpPr>
          <p:nvPr>
            <p:ph type="title"/>
          </p:nvPr>
        </p:nvSpPr>
        <p:spPr>
          <a:ln/>
        </p:spPr>
        <p:txBody>
          <a:bodyPr vert="horz" wrap="square" lIns="91440" tIns="45720" rIns="91440" bIns="45720" anchor="b" anchorCtr="0"/>
          <a:lstStyle/>
          <a:p>
            <a:br>
              <a:rPr lang="zh-CN" altLang="en-US" sz="2800" dirty="0"/>
            </a:br>
            <a:br>
              <a:rPr lang="zh-CN" altLang="en-US" sz="2800" dirty="0"/>
            </a:br>
            <a:r>
              <a:rPr lang="en-US" altLang="zh-CN" sz="2400" dirty="0"/>
              <a:t>Solution to Critical-section Problem Using Locks </a:t>
            </a:r>
          </a:p>
        </p:txBody>
      </p:sp>
      <p:sp>
        <p:nvSpPr>
          <p:cNvPr id="58370" name="Rectangle 3"/>
          <p:cNvSpPr>
            <a:spLocks noGrp="1"/>
          </p:cNvSpPr>
          <p:nvPr>
            <p:ph idx="1"/>
          </p:nvPr>
        </p:nvSpPr>
        <p:spPr>
          <a:xfrm>
            <a:off x="457200" y="1065848"/>
            <a:ext cx="8229600" cy="4530725"/>
          </a:xfrm>
          <a:ln/>
        </p:spPr>
        <p:txBody>
          <a:bodyPr vert="horz" wrap="square" lIns="91440" tIns="45720" rIns="91440" bIns="45720" anchor="t" anchorCtr="0"/>
          <a:lstStyle/>
          <a:p>
            <a:r>
              <a:rPr lang="en-US" altLang="zh-CN" sz="2400" dirty="0"/>
              <a:t>In general, any solution  to critical-section requires a </a:t>
            </a:r>
            <a:r>
              <a:rPr lang="en-US" altLang="zh-CN" sz="2400" dirty="0">
                <a:solidFill>
                  <a:srgbClr val="FF0000"/>
                </a:solidFill>
              </a:rPr>
              <a:t>lock</a:t>
            </a:r>
            <a:r>
              <a:rPr lang="en-US" altLang="zh-CN" sz="2400" dirty="0"/>
              <a:t> </a:t>
            </a:r>
            <a:r>
              <a:rPr lang="en-US" altLang="zh-CN" sz="2400" dirty="0">
                <a:solidFill>
                  <a:srgbClr val="FF0000"/>
                </a:solidFill>
              </a:rPr>
              <a:t>(</a:t>
            </a:r>
            <a:r>
              <a:rPr lang="zh-CN" altLang="en-US" sz="2400" dirty="0">
                <a:solidFill>
                  <a:srgbClr val="FF0000"/>
                </a:solidFill>
                <a:ea typeface="宋体" panose="02010600030101010101" pitchFamily="2" charset="-122"/>
              </a:rPr>
              <a:t>锁</a:t>
            </a:r>
            <a:r>
              <a:rPr lang="en-US" altLang="zh-CN" sz="2400" dirty="0">
                <a:solidFill>
                  <a:srgbClr val="FF0000"/>
                </a:solidFill>
              </a:rPr>
              <a:t>)</a:t>
            </a:r>
            <a:r>
              <a:rPr lang="en-US" altLang="zh-CN" sz="2400" dirty="0"/>
              <a:t> in order to prevent race condition. </a:t>
            </a:r>
          </a:p>
          <a:p>
            <a:pPr lvl="2">
              <a:buNone/>
            </a:pPr>
            <a:r>
              <a:rPr lang="en-US" altLang="zh-CN" dirty="0">
                <a:solidFill>
                  <a:srgbClr val="0000FF"/>
                </a:solidFill>
                <a:ea typeface="宋体" panose="02010600030101010101" pitchFamily="2" charset="-122"/>
              </a:rPr>
              <a:t>do  { </a:t>
            </a:r>
          </a:p>
          <a:p>
            <a:pPr lvl="2">
              <a:buNone/>
            </a:pPr>
            <a:r>
              <a:rPr lang="en-US" altLang="zh-CN" dirty="0">
                <a:solidFill>
                  <a:srgbClr val="0000FF"/>
                </a:solidFill>
                <a:ea typeface="宋体" panose="02010600030101010101" pitchFamily="2" charset="-122"/>
              </a:rPr>
              <a:t>          Acquire lock</a:t>
            </a:r>
          </a:p>
          <a:p>
            <a:pPr lvl="2">
              <a:buNone/>
            </a:pPr>
            <a:r>
              <a:rPr lang="en-US" altLang="zh-CN" dirty="0">
                <a:solidFill>
                  <a:srgbClr val="0000FF"/>
                </a:solidFill>
                <a:ea typeface="宋体" panose="02010600030101010101" pitchFamily="2" charset="-122"/>
              </a:rPr>
              <a:t>                    #critical section </a:t>
            </a:r>
          </a:p>
          <a:p>
            <a:pPr lvl="2">
              <a:buNone/>
            </a:pPr>
            <a:r>
              <a:rPr lang="en-US" altLang="zh-CN" dirty="0">
                <a:solidFill>
                  <a:srgbClr val="0000FF"/>
                </a:solidFill>
                <a:ea typeface="宋体" panose="02010600030101010101" pitchFamily="2" charset="-122"/>
              </a:rPr>
              <a:t>          Release lock</a:t>
            </a:r>
          </a:p>
          <a:p>
            <a:pPr lvl="2">
              <a:buNone/>
            </a:pPr>
            <a:r>
              <a:rPr lang="en-US" altLang="zh-CN" dirty="0">
                <a:solidFill>
                  <a:srgbClr val="0000FF"/>
                </a:solidFill>
                <a:ea typeface="宋体" panose="02010600030101010101" pitchFamily="2" charset="-122"/>
              </a:rPr>
              <a:t>                  #remainder section</a:t>
            </a:r>
          </a:p>
          <a:p>
            <a:pPr lvl="2">
              <a:buNone/>
            </a:pPr>
            <a:r>
              <a:rPr lang="en-US" altLang="zh-CN" dirty="0">
                <a:solidFill>
                  <a:srgbClr val="0000FF"/>
                </a:solidFill>
                <a:ea typeface="宋体" panose="02010600030101010101" pitchFamily="2" charset="-122"/>
              </a:rPr>
              <a:t>} while (true)</a:t>
            </a:r>
          </a:p>
          <a:p>
            <a:r>
              <a:rPr lang="en-US" altLang="zh-CN" sz="2400" dirty="0"/>
              <a:t>Two atomic algorithms:</a:t>
            </a:r>
          </a:p>
          <a:p>
            <a:pPr lvl="1"/>
            <a:r>
              <a:rPr lang="en-US" altLang="zh-CN" sz="2000" dirty="0" err="1">
                <a:cs typeface="+mn-cs"/>
              </a:rPr>
              <a:t>TestAndSet</a:t>
            </a:r>
            <a:endParaRPr lang="en-US" altLang="zh-CN" sz="2000" dirty="0">
              <a:cs typeface="+mn-cs"/>
            </a:endParaRPr>
          </a:p>
          <a:p>
            <a:pPr lvl="1"/>
            <a:r>
              <a:rPr lang="en-US" altLang="zh-CN" sz="2000" dirty="0" err="1">
                <a:cs typeface="+mn-cs"/>
              </a:rPr>
              <a:t>Swep</a:t>
            </a:r>
            <a:endParaRPr lang="en-US" altLang="zh-CN" sz="2000" dirty="0">
              <a:cs typeface="+mn-cs"/>
            </a:endParaRPr>
          </a:p>
          <a:p>
            <a:pPr>
              <a:buNone/>
            </a:pP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370">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370">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837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p:cNvSpPr>
          <p:nvPr>
            <p:ph type="title"/>
          </p:nvPr>
        </p:nvSpPr>
        <p:spPr>
          <a:ln/>
        </p:spPr>
        <p:txBody>
          <a:bodyPr vert="horz" wrap="square" lIns="91440" tIns="45720" rIns="91440" bIns="45720" anchor="b" anchorCtr="0"/>
          <a:lstStyle/>
          <a:p>
            <a:br>
              <a:rPr lang="zh-CN" altLang="en-US" sz="2800" dirty="0"/>
            </a:br>
            <a:br>
              <a:rPr lang="zh-CN" altLang="en-US" sz="2800" dirty="0"/>
            </a:br>
            <a:r>
              <a:rPr lang="en-US" altLang="zh-CN" sz="2800" dirty="0"/>
              <a:t>Solution 1: </a:t>
            </a:r>
            <a:r>
              <a:rPr lang="en-US" altLang="zh-CN" sz="2800" dirty="0" err="1"/>
              <a:t>TestAndSet</a:t>
            </a:r>
            <a:r>
              <a:rPr lang="en-US" altLang="zh-CN" sz="2800" dirty="0"/>
              <a:t> Instruction </a:t>
            </a:r>
          </a:p>
        </p:txBody>
      </p:sp>
      <p:sp>
        <p:nvSpPr>
          <p:cNvPr id="60418" name="Rectangle 3"/>
          <p:cNvSpPr>
            <a:spLocks noGrp="1"/>
          </p:cNvSpPr>
          <p:nvPr>
            <p:ph idx="1"/>
          </p:nvPr>
        </p:nvSpPr>
        <p:spPr>
          <a:xfrm>
            <a:off x="623888" y="1233488"/>
            <a:ext cx="8229600" cy="4852987"/>
          </a:xfrm>
          <a:ln/>
        </p:spPr>
        <p:txBody>
          <a:bodyPr vert="horz" wrap="square" lIns="91440" tIns="45720" rIns="91440" bIns="45720" anchor="t" anchorCtr="0"/>
          <a:lstStyle/>
          <a:p>
            <a:pPr defTabSz="914400">
              <a:lnSpc>
                <a:spcPct val="90000"/>
              </a:lnSpc>
              <a:tabLst>
                <a:tab pos="744855" algn="l"/>
                <a:tab pos="1025525" algn="l"/>
                <a:tab pos="1260475" algn="l"/>
              </a:tabLst>
            </a:pPr>
            <a:r>
              <a:rPr lang="en-US" altLang="zh-CN" sz="2400" dirty="0">
                <a:ea typeface="宋体" panose="02010600030101010101" pitchFamily="2" charset="-122"/>
              </a:rPr>
              <a:t>Definition:</a:t>
            </a:r>
          </a:p>
          <a:p>
            <a:pPr defTabSz="914400">
              <a:lnSpc>
                <a:spcPct val="90000"/>
              </a:lnSpc>
              <a:tabLst>
                <a:tab pos="744855" algn="l"/>
                <a:tab pos="1025525" algn="l"/>
                <a:tab pos="1260475" algn="l"/>
              </a:tabLst>
            </a:pPr>
            <a:endParaRPr lang="en-US" altLang="zh-CN" sz="2400" dirty="0">
              <a:ea typeface="宋体" panose="02010600030101010101" pitchFamily="2" charset="-122"/>
            </a:endParaRPr>
          </a:p>
          <a:p>
            <a:pPr defTabSz="914400">
              <a:lnSpc>
                <a:spcPct val="90000"/>
              </a:lnSpc>
              <a:buNone/>
              <a:tabLst>
                <a:tab pos="744855" algn="l"/>
                <a:tab pos="1025525" algn="l"/>
                <a:tab pos="1260475" algn="l"/>
              </a:tabLst>
            </a:pPr>
            <a:r>
              <a:rPr lang="en-US" altLang="zh-CN" sz="2400" dirty="0">
                <a:ea typeface="宋体" panose="02010600030101010101" pitchFamily="2" charset="-122"/>
              </a:rPr>
              <a:t>         </a:t>
            </a:r>
            <a:r>
              <a:rPr lang="en-US" altLang="zh-CN" sz="2400" dirty="0">
                <a:solidFill>
                  <a:srgbClr val="0000FF"/>
                </a:solidFill>
                <a:ea typeface="宋体" panose="02010600030101010101" pitchFamily="2" charset="-122"/>
              </a:rPr>
              <a:t>boolean TestAndSet (boolean *</a:t>
            </a:r>
            <a:r>
              <a:rPr lang="en-US" altLang="zh-CN" sz="2400" dirty="0">
                <a:solidFill>
                  <a:srgbClr val="FF0000"/>
                </a:solidFill>
                <a:ea typeface="宋体" panose="02010600030101010101" pitchFamily="2" charset="-122"/>
              </a:rPr>
              <a:t>target</a:t>
            </a:r>
            <a:r>
              <a:rPr lang="en-US" altLang="zh-CN" sz="2400" dirty="0">
                <a:solidFill>
                  <a:srgbClr val="0000FF"/>
                </a:solidFill>
                <a:ea typeface="宋体" panose="02010600030101010101" pitchFamily="2" charset="-122"/>
              </a:rPr>
              <a:t>)</a:t>
            </a:r>
          </a:p>
          <a:p>
            <a:pPr defTabSz="914400">
              <a:lnSpc>
                <a:spcPct val="90000"/>
              </a:lnSpc>
              <a:buNone/>
              <a:tabLst>
                <a:tab pos="744855" algn="l"/>
                <a:tab pos="1025525" algn="l"/>
                <a:tab pos="1260475" algn="l"/>
              </a:tabLst>
            </a:pPr>
            <a:r>
              <a:rPr lang="en-US" altLang="zh-CN" sz="2400" dirty="0">
                <a:solidFill>
                  <a:srgbClr val="0000FF"/>
                </a:solidFill>
                <a:ea typeface="宋体" panose="02010600030101010101" pitchFamily="2" charset="-122"/>
              </a:rPr>
              <a:t>          {</a:t>
            </a:r>
          </a:p>
          <a:p>
            <a:pPr defTabSz="914400">
              <a:lnSpc>
                <a:spcPct val="90000"/>
              </a:lnSpc>
              <a:buNone/>
              <a:tabLst>
                <a:tab pos="744855" algn="l"/>
                <a:tab pos="1025525" algn="l"/>
                <a:tab pos="1260475" algn="l"/>
              </a:tabLst>
            </a:pPr>
            <a:r>
              <a:rPr lang="en-US" altLang="zh-CN" sz="2400" dirty="0">
                <a:solidFill>
                  <a:srgbClr val="0000FF"/>
                </a:solidFill>
                <a:ea typeface="宋体" panose="02010600030101010101" pitchFamily="2" charset="-122"/>
              </a:rPr>
              <a:t>               boolean rv = *target;</a:t>
            </a:r>
          </a:p>
          <a:p>
            <a:pPr defTabSz="914400">
              <a:lnSpc>
                <a:spcPct val="90000"/>
              </a:lnSpc>
              <a:buNone/>
              <a:tabLst>
                <a:tab pos="744855" algn="l"/>
                <a:tab pos="1025525" algn="l"/>
                <a:tab pos="1260475" algn="l"/>
              </a:tabLst>
            </a:pPr>
            <a:r>
              <a:rPr lang="en-US" altLang="zh-CN" sz="2400" dirty="0">
                <a:solidFill>
                  <a:srgbClr val="0000FF"/>
                </a:solidFill>
                <a:ea typeface="宋体" panose="02010600030101010101" pitchFamily="2" charset="-122"/>
              </a:rPr>
              <a:t>               *target = TRUE;</a:t>
            </a:r>
          </a:p>
          <a:p>
            <a:pPr defTabSz="914400">
              <a:lnSpc>
                <a:spcPct val="90000"/>
              </a:lnSpc>
              <a:buNone/>
              <a:tabLst>
                <a:tab pos="744855" algn="l"/>
                <a:tab pos="1025525" algn="l"/>
                <a:tab pos="1260475" algn="l"/>
              </a:tabLst>
            </a:pPr>
            <a:r>
              <a:rPr lang="en-US" altLang="zh-CN" sz="2400" dirty="0">
                <a:solidFill>
                  <a:srgbClr val="0000FF"/>
                </a:solidFill>
                <a:ea typeface="宋体" panose="02010600030101010101" pitchFamily="2" charset="-122"/>
              </a:rPr>
              <a:t>               return rv:</a:t>
            </a:r>
          </a:p>
          <a:p>
            <a:pPr defTabSz="914400">
              <a:lnSpc>
                <a:spcPct val="90000"/>
              </a:lnSpc>
              <a:buNone/>
              <a:tabLst>
                <a:tab pos="744855" algn="l"/>
                <a:tab pos="1025525" algn="l"/>
                <a:tab pos="1260475" algn="l"/>
              </a:tabLst>
            </a:pPr>
            <a:r>
              <a:rPr lang="en-US" altLang="zh-CN" sz="2400" dirty="0">
                <a:solidFill>
                  <a:srgbClr val="0000FF"/>
                </a:solidFill>
                <a:ea typeface="宋体" panose="02010600030101010101" pitchFamily="2" charset="-122"/>
              </a:rPr>
              <a:t>          }</a:t>
            </a:r>
          </a:p>
        </p:txBody>
      </p:sp>
      <p:sp>
        <p:nvSpPr>
          <p:cNvPr id="2" name="矩形 1">
            <a:extLst>
              <a:ext uri="{FF2B5EF4-FFF2-40B4-BE49-F238E27FC236}">
                <a16:creationId xmlns:a16="http://schemas.microsoft.com/office/drawing/2014/main" id="{EFCC9FA0-6539-45CC-977B-E0A75CCF8AD9}"/>
              </a:ext>
            </a:extLst>
          </p:cNvPr>
          <p:cNvSpPr/>
          <p:nvPr/>
        </p:nvSpPr>
        <p:spPr bwMode="auto">
          <a:xfrm>
            <a:off x="4381500" y="2118360"/>
            <a:ext cx="2125980" cy="434340"/>
          </a:xfrm>
          <a:prstGeom prst="rect">
            <a:avLst/>
          </a:prstGeom>
          <a:noFill/>
          <a:ln w="28575" cap="flat" cmpd="sng" algn="ctr">
            <a:solidFill>
              <a:schemeClr val="tx1"/>
            </a:solidFill>
            <a:prstDash val="sysDash"/>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5" name="矩形 4">
            <a:extLst>
              <a:ext uri="{FF2B5EF4-FFF2-40B4-BE49-F238E27FC236}">
                <a16:creationId xmlns:a16="http://schemas.microsoft.com/office/drawing/2014/main" id="{0D6078EB-64EA-4F90-86DD-3F983DD0784D}"/>
              </a:ext>
            </a:extLst>
          </p:cNvPr>
          <p:cNvSpPr/>
          <p:nvPr/>
        </p:nvSpPr>
        <p:spPr bwMode="auto">
          <a:xfrm>
            <a:off x="1874520" y="3055620"/>
            <a:ext cx="2994660" cy="434340"/>
          </a:xfrm>
          <a:prstGeom prst="rect">
            <a:avLst/>
          </a:prstGeom>
          <a:noFill/>
          <a:ln w="28575" cap="flat" cmpd="sng" algn="ctr">
            <a:solidFill>
              <a:schemeClr val="tx1"/>
            </a:solidFill>
            <a:prstDash val="sysDash"/>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6" name="矩形 5">
            <a:extLst>
              <a:ext uri="{FF2B5EF4-FFF2-40B4-BE49-F238E27FC236}">
                <a16:creationId xmlns:a16="http://schemas.microsoft.com/office/drawing/2014/main" id="{65E1CA34-49CF-4B15-97BF-5EA026DCF4DA}"/>
              </a:ext>
            </a:extLst>
          </p:cNvPr>
          <p:cNvSpPr/>
          <p:nvPr/>
        </p:nvSpPr>
        <p:spPr bwMode="auto">
          <a:xfrm>
            <a:off x="1874520" y="3489960"/>
            <a:ext cx="2994660" cy="434340"/>
          </a:xfrm>
          <a:prstGeom prst="rect">
            <a:avLst/>
          </a:prstGeom>
          <a:noFill/>
          <a:ln w="28575" cap="flat" cmpd="sng" algn="ctr">
            <a:solidFill>
              <a:schemeClr val="tx1"/>
            </a:solidFill>
            <a:prstDash val="sysDash"/>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7" name="矩形 6">
            <a:extLst>
              <a:ext uri="{FF2B5EF4-FFF2-40B4-BE49-F238E27FC236}">
                <a16:creationId xmlns:a16="http://schemas.microsoft.com/office/drawing/2014/main" id="{AC506FA9-C833-4DB0-BF10-D7BB800CCA9F}"/>
              </a:ext>
            </a:extLst>
          </p:cNvPr>
          <p:cNvSpPr/>
          <p:nvPr/>
        </p:nvSpPr>
        <p:spPr bwMode="auto">
          <a:xfrm>
            <a:off x="1874520" y="3940492"/>
            <a:ext cx="2994660" cy="434340"/>
          </a:xfrm>
          <a:prstGeom prst="rect">
            <a:avLst/>
          </a:prstGeom>
          <a:noFill/>
          <a:ln w="28575" cap="flat" cmpd="sng" algn="ctr">
            <a:solidFill>
              <a:schemeClr val="tx1"/>
            </a:solidFill>
            <a:prstDash val="sysDash"/>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par>
                          <p:cTn id="11" fill="hold">
                            <p:stCondLst>
                              <p:cond delay="0"/>
                            </p:stCondLst>
                            <p:childTnLst>
                              <p:par>
                                <p:cTn id="12" presetID="1" presetClass="exit" presetSubtype="0" fill="hold" grpId="1" nodeType="afterEffect">
                                  <p:stCondLst>
                                    <p:cond delay="0"/>
                                  </p:stCondLst>
                                  <p:childTnLst>
                                    <p:set>
                                      <p:cBhvr>
                                        <p:cTn id="13" dur="1" fill="hold">
                                          <p:stCondLst>
                                            <p:cond delay="0"/>
                                          </p:stCondLst>
                                        </p:cTn>
                                        <p:tgtEl>
                                          <p:spTgt spid="2"/>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par>
                                <p:cTn id="18" presetID="1" presetClass="exit" presetSubtype="0" fill="hold" grpId="1" nodeType="withEffect">
                                  <p:stCondLst>
                                    <p:cond delay="0"/>
                                  </p:stCondLst>
                                  <p:childTnLst>
                                    <p:set>
                                      <p:cBhvr>
                                        <p:cTn id="19" dur="1" fill="hold">
                                          <p:stCondLst>
                                            <p:cond delay="0"/>
                                          </p:stCondLst>
                                        </p:cTn>
                                        <p:tgtEl>
                                          <p:spTgt spid="5"/>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childTnLst>
                                </p:cTn>
                              </p:par>
                              <p:par>
                                <p:cTn id="24" presetID="1" presetClass="exit" presetSubtype="0" fill="hold" grpId="1" nodeType="withEffect">
                                  <p:stCondLst>
                                    <p:cond delay="0"/>
                                  </p:stCondLst>
                                  <p:childTnLst>
                                    <p:set>
                                      <p:cBhvr>
                                        <p:cTn id="25"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5" grpId="0" animBg="1"/>
      <p:bldP spid="5" grpId="1" animBg="1"/>
      <p:bldP spid="6" grpId="0" animBg="1"/>
      <p:bldP spid="6" grpId="1" animBg="1"/>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4"/>
          <p:cNvSpPr>
            <a:spLocks noGrp="1"/>
          </p:cNvSpPr>
          <p:nvPr>
            <p:ph type="title"/>
          </p:nvPr>
        </p:nvSpPr>
        <p:spPr>
          <a:ln/>
        </p:spPr>
        <p:txBody>
          <a:bodyPr vert="horz" wrap="square" lIns="91440" tIns="45720" rIns="91440" bIns="45720" anchor="b" anchorCtr="0"/>
          <a:lstStyle/>
          <a:p>
            <a:pPr eaLnBrk="1" hangingPunct="1"/>
            <a:r>
              <a:rPr lang="en-US" altLang="zh-CN" dirty="0"/>
              <a:t>Solution using TestAndSet</a:t>
            </a:r>
            <a:endParaRPr lang="zh-CN" altLang="en-US" dirty="0"/>
          </a:p>
        </p:txBody>
      </p:sp>
      <p:graphicFrame>
        <p:nvGraphicFramePr>
          <p:cNvPr id="506885" name="Object 5"/>
          <p:cNvGraphicFramePr>
            <a:graphicFrameLocks noGrp="1"/>
          </p:cNvGraphicFramePr>
          <p:nvPr>
            <p:ph sz="half" idx="2"/>
          </p:nvPr>
        </p:nvGraphicFramePr>
        <p:xfrm>
          <a:off x="2775585" y="2320925"/>
          <a:ext cx="3786505" cy="2216150"/>
        </p:xfrm>
        <a:graphic>
          <a:graphicData uri="http://schemas.openxmlformats.org/presentationml/2006/ole">
            <mc:AlternateContent xmlns:mc="http://schemas.openxmlformats.org/markup-compatibility/2006">
              <mc:Choice xmlns:v="urn:schemas-microsoft-com:vml" Requires="v">
                <p:oleObj spid="_x0000_s5317" r:id="rId4" imgW="1577340" imgH="914400" progId="Visio.Drawing.6">
                  <p:embed/>
                </p:oleObj>
              </mc:Choice>
              <mc:Fallback>
                <p:oleObj r:id="rId4" imgW="1577340" imgH="914400" progId="Visio.Drawing.6">
                  <p:embed/>
                  <p:pic>
                    <p:nvPicPr>
                      <p:cNvPr id="0" name="图片 3079"/>
                      <p:cNvPicPr/>
                      <p:nvPr/>
                    </p:nvPicPr>
                    <p:blipFill>
                      <a:blip r:embed="rId5"/>
                      <a:stretch>
                        <a:fillRect/>
                      </a:stretch>
                    </p:blipFill>
                    <p:spPr>
                      <a:xfrm>
                        <a:off x="2775585" y="2320925"/>
                        <a:ext cx="3786505" cy="2216150"/>
                      </a:xfrm>
                      <a:prstGeom prst="rect">
                        <a:avLst/>
                      </a:prstGeom>
                      <a:solidFill>
                        <a:srgbClr val="99CCFF"/>
                      </a:solidFill>
                      <a:ln w="38100">
                        <a:miter/>
                      </a:ln>
                    </p:spPr>
                  </p:pic>
                </p:oleObj>
              </mc:Fallback>
            </mc:AlternateContent>
          </a:graphicData>
        </a:graphic>
      </p:graphicFrame>
      <p:sp>
        <p:nvSpPr>
          <p:cNvPr id="62467" name="Rectangle 5"/>
          <p:cNvSpPr/>
          <p:nvPr/>
        </p:nvSpPr>
        <p:spPr>
          <a:xfrm>
            <a:off x="906463" y="1220788"/>
            <a:ext cx="7727950" cy="420687"/>
          </a:xfrm>
          <a:prstGeom prst="rect">
            <a:avLst/>
          </a:prstGeom>
          <a:noFill/>
          <a:ln w="9525">
            <a:noFill/>
          </a:ln>
        </p:spPr>
        <p:txBody>
          <a:bodyPr anchor="t" anchorCtr="0">
            <a:spAutoFit/>
          </a:bodyPr>
          <a:lstStyle/>
          <a:p>
            <a:pPr eaLnBrk="0" hangingPunct="0">
              <a:lnSpc>
                <a:spcPct val="90000"/>
              </a:lnSpc>
            </a:pPr>
            <a:r>
              <a:rPr lang="en-US" altLang="zh-CN" sz="2400" dirty="0">
                <a:latin typeface="Verdana" panose="020B0604030504040204" pitchFamily="34" charset="0"/>
              </a:rPr>
              <a:t>Shared boolean variable lock, initialized to </a:t>
            </a:r>
            <a:r>
              <a:rPr lang="en-US" altLang="zh-CN" sz="2400" dirty="0">
                <a:solidFill>
                  <a:srgbClr val="FF0000"/>
                </a:solidFill>
                <a:latin typeface="Verdana" panose="020B0604030504040204" pitchFamily="34" charset="0"/>
              </a:rPr>
              <a:t>false</a:t>
            </a:r>
            <a:r>
              <a:rPr lang="en-US" altLang="zh-CN" sz="2400" dirty="0">
                <a:latin typeface="Verdana" panose="020B0604030504040204" pitchFamily="34" charset="0"/>
              </a:rPr>
              <a:t>.</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p:cNvSpPr>
            <a:spLocks noGrp="1"/>
          </p:cNvSpPr>
          <p:nvPr>
            <p:ph type="title" idx="4294967295"/>
          </p:nvPr>
        </p:nvSpPr>
        <p:spPr>
          <a:xfrm>
            <a:off x="885825" y="277813"/>
            <a:ext cx="8229600" cy="576262"/>
          </a:xfrm>
          <a:ln/>
        </p:spPr>
        <p:txBody>
          <a:bodyPr vert="horz" wrap="square" lIns="91440" tIns="45720" rIns="91440" bIns="45720" anchor="b" anchorCtr="0"/>
          <a:lstStyle/>
          <a:p>
            <a:br>
              <a:rPr lang="zh-CN" altLang="en-US" dirty="0"/>
            </a:br>
            <a:br>
              <a:rPr lang="zh-CN" altLang="en-US" dirty="0"/>
            </a:br>
            <a:r>
              <a:rPr lang="en-US" altLang="zh-CN" dirty="0"/>
              <a:t>Solution using TestAndSet</a:t>
            </a:r>
          </a:p>
        </p:txBody>
      </p:sp>
      <p:sp>
        <p:nvSpPr>
          <p:cNvPr id="64514" name="矩形 3"/>
          <p:cNvSpPr/>
          <p:nvPr/>
        </p:nvSpPr>
        <p:spPr>
          <a:xfrm>
            <a:off x="466090" y="963295"/>
            <a:ext cx="8458200" cy="3802380"/>
          </a:xfrm>
          <a:prstGeom prst="rect">
            <a:avLst/>
          </a:prstGeom>
          <a:noFill/>
          <a:ln w="9525">
            <a:noFill/>
          </a:ln>
        </p:spPr>
        <p:txBody>
          <a:bodyPr anchor="t" anchorCtr="0">
            <a:spAutoFit/>
          </a:bodyPr>
          <a:lstStyle/>
          <a:p>
            <a:pPr defTabSz="914400" eaLnBrk="0" hangingPunct="0">
              <a:lnSpc>
                <a:spcPct val="90000"/>
              </a:lnSpc>
              <a:tabLst>
                <a:tab pos="744855" algn="l"/>
                <a:tab pos="1025525" algn="l"/>
                <a:tab pos="1260475" algn="l"/>
              </a:tabLst>
            </a:pPr>
            <a:r>
              <a:rPr lang="en-US" altLang="zh-CN" sz="2400" dirty="0">
                <a:latin typeface="Verdana" panose="020B0604030504040204" pitchFamily="34" charset="0"/>
                <a:ea typeface="宋体" panose="02010600030101010101" pitchFamily="2" charset="-122"/>
              </a:rPr>
              <a:t>Shared boolean variable lock, initialized to </a:t>
            </a:r>
            <a:r>
              <a:rPr lang="en-US" altLang="zh-CN" sz="2400" dirty="0">
                <a:solidFill>
                  <a:srgbClr val="FF0000"/>
                </a:solidFill>
                <a:latin typeface="Verdana" panose="020B0604030504040204" pitchFamily="34" charset="0"/>
                <a:ea typeface="宋体" panose="02010600030101010101" pitchFamily="2" charset="-122"/>
              </a:rPr>
              <a:t>false</a:t>
            </a:r>
            <a:r>
              <a:rPr lang="en-US" altLang="zh-CN" sz="2400" dirty="0">
                <a:latin typeface="Verdana" panose="020B0604030504040204" pitchFamily="34" charset="0"/>
                <a:ea typeface="宋体" panose="02010600030101010101" pitchFamily="2" charset="-122"/>
              </a:rPr>
              <a:t>.</a:t>
            </a:r>
          </a:p>
          <a:p>
            <a:pPr defTabSz="914400" eaLnBrk="0" hangingPunct="0">
              <a:lnSpc>
                <a:spcPct val="90000"/>
              </a:lnSpc>
              <a:tabLst>
                <a:tab pos="744855" algn="l"/>
                <a:tab pos="1025525" algn="l"/>
                <a:tab pos="1260475" algn="l"/>
              </a:tabLst>
            </a:pPr>
            <a:endParaRPr lang="en-US" altLang="zh-CN" sz="2400" dirty="0">
              <a:latin typeface="Verdana" panose="020B0604030504040204" pitchFamily="34" charset="0"/>
              <a:ea typeface="宋体" panose="02010600030101010101" pitchFamily="2" charset="-122"/>
            </a:endParaRPr>
          </a:p>
          <a:p>
            <a:pPr lvl="2" defTabSz="914400" eaLnBrk="0" hangingPunct="0">
              <a:lnSpc>
                <a:spcPct val="90000"/>
              </a:lnSpc>
              <a:buFont typeface="Monotype Sorts" charset="2"/>
              <a:tabLst>
                <a:tab pos="744855" algn="l"/>
                <a:tab pos="1025525" algn="l"/>
                <a:tab pos="1260475" algn="l"/>
              </a:tabLst>
            </a:pPr>
            <a:r>
              <a:rPr lang="en-US" altLang="zh-CN" dirty="0">
                <a:solidFill>
                  <a:srgbClr val="0000FF"/>
                </a:solidFill>
                <a:latin typeface="Verdana" panose="020B0604030504040204" pitchFamily="34" charset="0"/>
                <a:ea typeface="宋体" panose="02010600030101010101" pitchFamily="2" charset="-122"/>
              </a:rPr>
              <a:t>while (true) {</a:t>
            </a:r>
          </a:p>
          <a:p>
            <a:pPr lvl="2" defTabSz="914400" eaLnBrk="0" hangingPunct="0">
              <a:lnSpc>
                <a:spcPct val="90000"/>
              </a:lnSpc>
              <a:buFont typeface="Monotype Sorts" charset="2"/>
              <a:tabLst>
                <a:tab pos="744855" algn="l"/>
                <a:tab pos="1025525" algn="l"/>
                <a:tab pos="1260475" algn="l"/>
              </a:tabLst>
            </a:pPr>
            <a:r>
              <a:rPr lang="en-US" altLang="zh-CN" dirty="0">
                <a:solidFill>
                  <a:srgbClr val="0000FF"/>
                </a:solidFill>
                <a:latin typeface="Verdana" panose="020B0604030504040204" pitchFamily="34" charset="0"/>
                <a:ea typeface="宋体" panose="02010600030101010101" pitchFamily="2" charset="-122"/>
              </a:rPr>
              <a:t>   while ( TestAndSet (&amp;lock ))</a:t>
            </a:r>
          </a:p>
          <a:p>
            <a:pPr lvl="2" defTabSz="914400" eaLnBrk="0" hangingPunct="0">
              <a:lnSpc>
                <a:spcPct val="90000"/>
              </a:lnSpc>
              <a:buFont typeface="Monotype Sorts" charset="2"/>
              <a:tabLst>
                <a:tab pos="744855" algn="l"/>
                <a:tab pos="1025525" algn="l"/>
                <a:tab pos="1260475" algn="l"/>
              </a:tabLst>
            </a:pPr>
            <a:r>
              <a:rPr lang="en-US" altLang="zh-CN" dirty="0">
                <a:solidFill>
                  <a:srgbClr val="0000FF"/>
                </a:solidFill>
                <a:latin typeface="Verdana" panose="020B0604030504040204" pitchFamily="34" charset="0"/>
                <a:ea typeface="宋体" panose="02010600030101010101" pitchFamily="2" charset="-122"/>
              </a:rPr>
              <a:t>        ;   /* do nothing</a:t>
            </a:r>
          </a:p>
          <a:p>
            <a:pPr lvl="2" defTabSz="914400" eaLnBrk="0" hangingPunct="0">
              <a:lnSpc>
                <a:spcPct val="90000"/>
              </a:lnSpc>
              <a:buFont typeface="Monotype Sorts" charset="2"/>
              <a:tabLst>
                <a:tab pos="744855" algn="l"/>
                <a:tab pos="1025525" algn="l"/>
                <a:tab pos="1260475" algn="l"/>
              </a:tabLst>
            </a:pPr>
            <a:endParaRPr lang="en-US" altLang="zh-CN" dirty="0">
              <a:solidFill>
                <a:srgbClr val="0000FF"/>
              </a:solidFill>
              <a:latin typeface="Verdana" panose="020B0604030504040204" pitchFamily="34" charset="0"/>
              <a:ea typeface="宋体" panose="02010600030101010101" pitchFamily="2" charset="-122"/>
            </a:endParaRPr>
          </a:p>
          <a:p>
            <a:pPr lvl="2" defTabSz="914400" eaLnBrk="0" hangingPunct="0">
              <a:lnSpc>
                <a:spcPct val="90000"/>
              </a:lnSpc>
              <a:buFont typeface="Monotype Sorts" charset="2"/>
              <a:tabLst>
                <a:tab pos="744855" algn="l"/>
                <a:tab pos="1025525" algn="l"/>
                <a:tab pos="1260475" algn="l"/>
              </a:tabLst>
            </a:pPr>
            <a:r>
              <a:rPr lang="en-US" altLang="zh-CN" dirty="0">
                <a:solidFill>
                  <a:srgbClr val="0000FF"/>
                </a:solidFill>
                <a:latin typeface="Verdana" panose="020B0604030504040204" pitchFamily="34" charset="0"/>
                <a:ea typeface="宋体" panose="02010600030101010101" pitchFamily="2" charset="-122"/>
              </a:rPr>
              <a:t>   //    critical section</a:t>
            </a:r>
          </a:p>
          <a:p>
            <a:pPr lvl="2" defTabSz="914400" eaLnBrk="0" hangingPunct="0">
              <a:lnSpc>
                <a:spcPct val="90000"/>
              </a:lnSpc>
              <a:buFont typeface="Monotype Sorts" charset="2"/>
              <a:tabLst>
                <a:tab pos="744855" algn="l"/>
                <a:tab pos="1025525" algn="l"/>
                <a:tab pos="1260475" algn="l"/>
              </a:tabLst>
            </a:pPr>
            <a:endParaRPr lang="en-US" altLang="zh-CN" dirty="0">
              <a:solidFill>
                <a:srgbClr val="0000FF"/>
              </a:solidFill>
              <a:latin typeface="Verdana" panose="020B0604030504040204" pitchFamily="34" charset="0"/>
              <a:ea typeface="宋体" panose="02010600030101010101" pitchFamily="2" charset="-122"/>
            </a:endParaRPr>
          </a:p>
          <a:p>
            <a:pPr lvl="2" defTabSz="914400" eaLnBrk="0" hangingPunct="0">
              <a:lnSpc>
                <a:spcPct val="90000"/>
              </a:lnSpc>
              <a:buFont typeface="Monotype Sorts" charset="2"/>
              <a:tabLst>
                <a:tab pos="744855" algn="l"/>
                <a:tab pos="1025525" algn="l"/>
                <a:tab pos="1260475" algn="l"/>
              </a:tabLst>
            </a:pPr>
            <a:r>
              <a:rPr lang="en-US" altLang="zh-CN" dirty="0">
                <a:solidFill>
                  <a:srgbClr val="0000FF"/>
                </a:solidFill>
                <a:latin typeface="Verdana" panose="020B0604030504040204" pitchFamily="34" charset="0"/>
                <a:ea typeface="宋体" panose="02010600030101010101" pitchFamily="2" charset="-122"/>
              </a:rPr>
              <a:t>   lock = FALSE;</a:t>
            </a:r>
          </a:p>
          <a:p>
            <a:pPr lvl="2" defTabSz="914400" eaLnBrk="0" hangingPunct="0">
              <a:lnSpc>
                <a:spcPct val="90000"/>
              </a:lnSpc>
              <a:buFont typeface="Monotype Sorts" charset="2"/>
              <a:tabLst>
                <a:tab pos="744855" algn="l"/>
                <a:tab pos="1025525" algn="l"/>
                <a:tab pos="1260475" algn="l"/>
              </a:tabLst>
            </a:pPr>
            <a:endParaRPr lang="en-US" altLang="zh-CN" dirty="0">
              <a:solidFill>
                <a:srgbClr val="0000FF"/>
              </a:solidFill>
              <a:latin typeface="Verdana" panose="020B0604030504040204" pitchFamily="34" charset="0"/>
              <a:ea typeface="宋体" panose="02010600030101010101" pitchFamily="2" charset="-122"/>
            </a:endParaRPr>
          </a:p>
          <a:p>
            <a:pPr lvl="2" defTabSz="914400" eaLnBrk="0" hangingPunct="0">
              <a:lnSpc>
                <a:spcPct val="90000"/>
              </a:lnSpc>
              <a:buFont typeface="Monotype Sorts" charset="2"/>
              <a:tabLst>
                <a:tab pos="744855" algn="l"/>
                <a:tab pos="1025525" algn="l"/>
                <a:tab pos="1260475" algn="l"/>
              </a:tabLst>
            </a:pPr>
            <a:r>
              <a:rPr lang="en-US" altLang="zh-CN" dirty="0">
                <a:solidFill>
                  <a:srgbClr val="0000FF"/>
                </a:solidFill>
                <a:latin typeface="Verdana" panose="020B0604030504040204" pitchFamily="34" charset="0"/>
                <a:ea typeface="宋体" panose="02010600030101010101" pitchFamily="2" charset="-122"/>
              </a:rPr>
              <a:t>   //      remainder section </a:t>
            </a:r>
          </a:p>
          <a:p>
            <a:pPr lvl="2" defTabSz="914400" eaLnBrk="0" hangingPunct="0">
              <a:lnSpc>
                <a:spcPct val="90000"/>
              </a:lnSpc>
              <a:buFont typeface="Monotype Sorts" charset="2"/>
              <a:tabLst>
                <a:tab pos="744855" algn="l"/>
                <a:tab pos="1025525" algn="l"/>
                <a:tab pos="1260475" algn="l"/>
              </a:tabLst>
            </a:pPr>
            <a:endParaRPr lang="en-US" altLang="zh-CN" dirty="0">
              <a:solidFill>
                <a:srgbClr val="0000FF"/>
              </a:solidFill>
              <a:latin typeface="Verdana" panose="020B0604030504040204" pitchFamily="34" charset="0"/>
              <a:ea typeface="宋体" panose="02010600030101010101" pitchFamily="2" charset="-122"/>
            </a:endParaRPr>
          </a:p>
          <a:p>
            <a:pPr lvl="2" defTabSz="914400" eaLnBrk="0" hangingPunct="0">
              <a:lnSpc>
                <a:spcPct val="90000"/>
              </a:lnSpc>
              <a:buFont typeface="Monotype Sorts" charset="2"/>
              <a:tabLst>
                <a:tab pos="744855" algn="l"/>
                <a:tab pos="1025525" algn="l"/>
                <a:tab pos="1260475" algn="l"/>
              </a:tabLst>
            </a:pPr>
            <a:r>
              <a:rPr lang="en-US" altLang="zh-CN" dirty="0">
                <a:solidFill>
                  <a:srgbClr val="0000FF"/>
                </a:solidFill>
                <a:latin typeface="Verdana" panose="020B0604030504040204" pitchFamily="34" charset="0"/>
                <a:ea typeface="宋体" panose="02010600030101010101" pitchFamily="2" charset="-122"/>
              </a:rPr>
              <a:t>}</a:t>
            </a:r>
          </a:p>
        </p:txBody>
      </p:sp>
      <p:sp>
        <p:nvSpPr>
          <p:cNvPr id="2" name="文本框 1"/>
          <p:cNvSpPr txBox="1"/>
          <p:nvPr/>
        </p:nvSpPr>
        <p:spPr>
          <a:xfrm>
            <a:off x="524510" y="4874895"/>
            <a:ext cx="6216650" cy="1753235"/>
          </a:xfrm>
          <a:prstGeom prst="rect">
            <a:avLst/>
          </a:prstGeom>
          <a:noFill/>
        </p:spPr>
        <p:txBody>
          <a:bodyPr wrap="square" rtlCol="0" anchor="t">
            <a:spAutoFit/>
          </a:bodyPr>
          <a:lstStyle/>
          <a:p>
            <a:pPr defTabSz="914400">
              <a:lnSpc>
                <a:spcPct val="90000"/>
              </a:lnSpc>
              <a:buNone/>
              <a:tabLst>
                <a:tab pos="744855" algn="l"/>
                <a:tab pos="1025525" algn="l"/>
                <a:tab pos="1260475" algn="l"/>
              </a:tabLst>
            </a:pPr>
            <a:r>
              <a:rPr lang="en-US" altLang="zh-CN" dirty="0">
                <a:solidFill>
                  <a:srgbClr val="0070C0"/>
                </a:solidFill>
                <a:ea typeface="宋体" panose="02010600030101010101" pitchFamily="2" charset="-122"/>
                <a:sym typeface="+mn-ea"/>
              </a:rPr>
              <a:t>         boolean TestAndSet (boolean *target)</a:t>
            </a:r>
            <a:endParaRPr lang="en-US" altLang="zh-CN" dirty="0">
              <a:solidFill>
                <a:srgbClr val="0070C0"/>
              </a:solidFill>
              <a:ea typeface="宋体" panose="02010600030101010101" pitchFamily="2" charset="-122"/>
            </a:endParaRPr>
          </a:p>
          <a:p>
            <a:pPr defTabSz="914400">
              <a:lnSpc>
                <a:spcPct val="90000"/>
              </a:lnSpc>
              <a:buNone/>
              <a:tabLst>
                <a:tab pos="744855" algn="l"/>
                <a:tab pos="1025525" algn="l"/>
                <a:tab pos="1260475" algn="l"/>
              </a:tabLst>
            </a:pPr>
            <a:r>
              <a:rPr lang="en-US" altLang="zh-CN" dirty="0">
                <a:solidFill>
                  <a:srgbClr val="0070C0"/>
                </a:solidFill>
                <a:ea typeface="宋体" panose="02010600030101010101" pitchFamily="2" charset="-122"/>
                <a:sym typeface="+mn-ea"/>
              </a:rPr>
              <a:t>          {</a:t>
            </a:r>
            <a:endParaRPr lang="en-US" altLang="zh-CN" dirty="0">
              <a:solidFill>
                <a:srgbClr val="0070C0"/>
              </a:solidFill>
              <a:ea typeface="宋体" panose="02010600030101010101" pitchFamily="2" charset="-122"/>
            </a:endParaRPr>
          </a:p>
          <a:p>
            <a:pPr defTabSz="914400">
              <a:lnSpc>
                <a:spcPct val="90000"/>
              </a:lnSpc>
              <a:buNone/>
              <a:tabLst>
                <a:tab pos="744855" algn="l"/>
                <a:tab pos="1025525" algn="l"/>
                <a:tab pos="1260475" algn="l"/>
              </a:tabLst>
            </a:pPr>
            <a:r>
              <a:rPr lang="en-US" altLang="zh-CN" dirty="0">
                <a:solidFill>
                  <a:srgbClr val="0070C0"/>
                </a:solidFill>
                <a:ea typeface="宋体" panose="02010600030101010101" pitchFamily="2" charset="-122"/>
                <a:sym typeface="+mn-ea"/>
              </a:rPr>
              <a:t>               boolean rv = *target;</a:t>
            </a:r>
            <a:endParaRPr lang="en-US" altLang="zh-CN" dirty="0">
              <a:solidFill>
                <a:srgbClr val="0070C0"/>
              </a:solidFill>
              <a:ea typeface="宋体" panose="02010600030101010101" pitchFamily="2" charset="-122"/>
            </a:endParaRPr>
          </a:p>
          <a:p>
            <a:pPr defTabSz="914400">
              <a:lnSpc>
                <a:spcPct val="90000"/>
              </a:lnSpc>
              <a:buNone/>
              <a:tabLst>
                <a:tab pos="744855" algn="l"/>
                <a:tab pos="1025525" algn="l"/>
                <a:tab pos="1260475" algn="l"/>
              </a:tabLst>
            </a:pPr>
            <a:r>
              <a:rPr lang="en-US" altLang="zh-CN" dirty="0">
                <a:solidFill>
                  <a:srgbClr val="0070C0"/>
                </a:solidFill>
                <a:ea typeface="宋体" panose="02010600030101010101" pitchFamily="2" charset="-122"/>
                <a:sym typeface="+mn-ea"/>
              </a:rPr>
              <a:t>               *target = TRUE;</a:t>
            </a:r>
            <a:endParaRPr lang="en-US" altLang="zh-CN" dirty="0">
              <a:solidFill>
                <a:srgbClr val="0070C0"/>
              </a:solidFill>
              <a:ea typeface="宋体" panose="02010600030101010101" pitchFamily="2" charset="-122"/>
            </a:endParaRPr>
          </a:p>
          <a:p>
            <a:pPr defTabSz="914400">
              <a:lnSpc>
                <a:spcPct val="90000"/>
              </a:lnSpc>
              <a:buNone/>
              <a:tabLst>
                <a:tab pos="744855" algn="l"/>
                <a:tab pos="1025525" algn="l"/>
                <a:tab pos="1260475" algn="l"/>
              </a:tabLst>
            </a:pPr>
            <a:r>
              <a:rPr lang="en-US" altLang="zh-CN" dirty="0">
                <a:solidFill>
                  <a:srgbClr val="0070C0"/>
                </a:solidFill>
                <a:ea typeface="宋体" panose="02010600030101010101" pitchFamily="2" charset="-122"/>
                <a:sym typeface="+mn-ea"/>
              </a:rPr>
              <a:t>               return </a:t>
            </a:r>
            <a:r>
              <a:rPr lang="en-US" altLang="zh-CN" dirty="0" err="1">
                <a:solidFill>
                  <a:srgbClr val="0070C0"/>
                </a:solidFill>
                <a:ea typeface="宋体" panose="02010600030101010101" pitchFamily="2" charset="-122"/>
                <a:sym typeface="+mn-ea"/>
              </a:rPr>
              <a:t>rv</a:t>
            </a:r>
            <a:r>
              <a:rPr lang="en-US" altLang="zh-CN" dirty="0">
                <a:solidFill>
                  <a:srgbClr val="0070C0"/>
                </a:solidFill>
                <a:ea typeface="宋体" panose="02010600030101010101" pitchFamily="2" charset="-122"/>
                <a:sym typeface="+mn-ea"/>
              </a:rPr>
              <a:t>;</a:t>
            </a:r>
            <a:endParaRPr lang="en-US" altLang="zh-CN" dirty="0">
              <a:solidFill>
                <a:srgbClr val="0070C0"/>
              </a:solidFill>
              <a:ea typeface="宋体" panose="02010600030101010101" pitchFamily="2" charset="-122"/>
            </a:endParaRPr>
          </a:p>
          <a:p>
            <a:pPr defTabSz="914400">
              <a:lnSpc>
                <a:spcPct val="90000"/>
              </a:lnSpc>
              <a:buNone/>
              <a:tabLst>
                <a:tab pos="744855" algn="l"/>
                <a:tab pos="1025525" algn="l"/>
                <a:tab pos="1260475" algn="l"/>
              </a:tabLst>
            </a:pPr>
            <a:r>
              <a:rPr lang="en-US" altLang="zh-CN" dirty="0">
                <a:solidFill>
                  <a:srgbClr val="0070C0"/>
                </a:solidFill>
                <a:ea typeface="宋体" panose="02010600030101010101" pitchFamily="2" charset="-122"/>
                <a:sym typeface="+mn-ea"/>
              </a:rPr>
              <a:t>          }</a:t>
            </a:r>
          </a:p>
        </p:txBody>
      </p:sp>
      <p:sp>
        <p:nvSpPr>
          <p:cNvPr id="3" name="等腰三角形 2">
            <a:extLst>
              <a:ext uri="{FF2B5EF4-FFF2-40B4-BE49-F238E27FC236}">
                <a16:creationId xmlns:a16="http://schemas.microsoft.com/office/drawing/2014/main" id="{274DD536-EE8A-4359-9F02-69BF96C97250}"/>
              </a:ext>
            </a:extLst>
          </p:cNvPr>
          <p:cNvSpPr/>
          <p:nvPr/>
        </p:nvSpPr>
        <p:spPr bwMode="auto">
          <a:xfrm rot="5400000">
            <a:off x="1457325" y="1998345"/>
            <a:ext cx="205740" cy="163830"/>
          </a:xfrm>
          <a:prstGeom prst="triangle">
            <a:avLst/>
          </a:prstGeom>
          <a:solidFill>
            <a:srgbClr val="FF00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6" name="等腰三角形 5">
            <a:extLst>
              <a:ext uri="{FF2B5EF4-FFF2-40B4-BE49-F238E27FC236}">
                <a16:creationId xmlns:a16="http://schemas.microsoft.com/office/drawing/2014/main" id="{37EF0E12-6B41-4CEE-8B80-D1B8959E01C8}"/>
              </a:ext>
            </a:extLst>
          </p:cNvPr>
          <p:cNvSpPr/>
          <p:nvPr/>
        </p:nvSpPr>
        <p:spPr bwMode="auto">
          <a:xfrm rot="5400000">
            <a:off x="1539240" y="5532437"/>
            <a:ext cx="205740" cy="163830"/>
          </a:xfrm>
          <a:prstGeom prst="triangle">
            <a:avLst/>
          </a:prstGeom>
          <a:solidFill>
            <a:srgbClr val="FF00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9" name="等腰三角形 8">
            <a:extLst>
              <a:ext uri="{FF2B5EF4-FFF2-40B4-BE49-F238E27FC236}">
                <a16:creationId xmlns:a16="http://schemas.microsoft.com/office/drawing/2014/main" id="{E5ED7C2F-0F2A-49A3-A589-310671A4E2B3}"/>
              </a:ext>
            </a:extLst>
          </p:cNvPr>
          <p:cNvSpPr/>
          <p:nvPr/>
        </p:nvSpPr>
        <p:spPr bwMode="auto">
          <a:xfrm rot="5400000">
            <a:off x="1539240" y="5800725"/>
            <a:ext cx="205740" cy="163830"/>
          </a:xfrm>
          <a:prstGeom prst="triangle">
            <a:avLst/>
          </a:prstGeom>
          <a:solidFill>
            <a:srgbClr val="FF00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0" name="等腰三角形 9">
            <a:extLst>
              <a:ext uri="{FF2B5EF4-FFF2-40B4-BE49-F238E27FC236}">
                <a16:creationId xmlns:a16="http://schemas.microsoft.com/office/drawing/2014/main" id="{3233E78F-8FB1-4FF1-A01E-C55509908F84}"/>
              </a:ext>
            </a:extLst>
          </p:cNvPr>
          <p:cNvSpPr/>
          <p:nvPr/>
        </p:nvSpPr>
        <p:spPr bwMode="auto">
          <a:xfrm rot="5400000">
            <a:off x="1539240" y="6085523"/>
            <a:ext cx="205740" cy="163830"/>
          </a:xfrm>
          <a:prstGeom prst="triangle">
            <a:avLst/>
          </a:prstGeom>
          <a:solidFill>
            <a:srgbClr val="FF00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4" name="对话气泡: 圆角矩形 3">
            <a:extLst>
              <a:ext uri="{FF2B5EF4-FFF2-40B4-BE49-F238E27FC236}">
                <a16:creationId xmlns:a16="http://schemas.microsoft.com/office/drawing/2014/main" id="{771ABB59-AC65-4DBF-8DA7-5A3F661D92B3}"/>
              </a:ext>
            </a:extLst>
          </p:cNvPr>
          <p:cNvSpPr/>
          <p:nvPr/>
        </p:nvSpPr>
        <p:spPr bwMode="auto">
          <a:xfrm>
            <a:off x="3240405" y="6318886"/>
            <a:ext cx="784860" cy="411480"/>
          </a:xfrm>
          <a:prstGeom prst="wedgeRoundRectCallout">
            <a:avLst>
              <a:gd name="adj1" fmla="val -69376"/>
              <a:gd name="adj2" fmla="val -48611"/>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Verdana" panose="020B0604030504040204" pitchFamily="34" charset="0"/>
              </a:rPr>
              <a:t>false</a:t>
            </a:r>
            <a:endParaRPr kumimoji="0" lang="zh-CN" altLang="en-US" sz="1800" b="0" i="0" u="none" strike="noStrike" cap="none" normalizeH="0" baseline="0" dirty="0">
              <a:ln>
                <a:noFill/>
              </a:ln>
              <a:solidFill>
                <a:schemeClr val="tx1"/>
              </a:solidFill>
              <a:effectLst/>
              <a:latin typeface="Verdana" panose="020B0604030504040204" pitchFamily="34" charset="0"/>
            </a:endParaRPr>
          </a:p>
        </p:txBody>
      </p:sp>
      <p:sp>
        <p:nvSpPr>
          <p:cNvPr id="13" name="等腰三角形 12">
            <a:extLst>
              <a:ext uri="{FF2B5EF4-FFF2-40B4-BE49-F238E27FC236}">
                <a16:creationId xmlns:a16="http://schemas.microsoft.com/office/drawing/2014/main" id="{017E0C48-E146-4108-A993-C28BDA48803F}"/>
              </a:ext>
            </a:extLst>
          </p:cNvPr>
          <p:cNvSpPr/>
          <p:nvPr/>
        </p:nvSpPr>
        <p:spPr bwMode="auto">
          <a:xfrm rot="5400000">
            <a:off x="1457325" y="2799079"/>
            <a:ext cx="205740" cy="163830"/>
          </a:xfrm>
          <a:prstGeom prst="triangle">
            <a:avLst/>
          </a:prstGeom>
          <a:solidFill>
            <a:srgbClr val="FF00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4" name="等腰三角形 13">
            <a:extLst>
              <a:ext uri="{FF2B5EF4-FFF2-40B4-BE49-F238E27FC236}">
                <a16:creationId xmlns:a16="http://schemas.microsoft.com/office/drawing/2014/main" id="{82045356-D6E8-42F3-902F-363B01EFB8C2}"/>
              </a:ext>
            </a:extLst>
          </p:cNvPr>
          <p:cNvSpPr/>
          <p:nvPr/>
        </p:nvSpPr>
        <p:spPr bwMode="auto">
          <a:xfrm rot="5400000">
            <a:off x="1457325" y="3347085"/>
            <a:ext cx="205740" cy="163830"/>
          </a:xfrm>
          <a:prstGeom prst="triangle">
            <a:avLst/>
          </a:prstGeom>
          <a:solidFill>
            <a:srgbClr val="FF00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9"/>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xit" presetSubtype="0" fill="hold" grpId="1" nodeType="withEffect">
                                  <p:stCondLst>
                                    <p:cond delay="0"/>
                                  </p:stCondLst>
                                  <p:childTnLst>
                                    <p:set>
                                      <p:cBhvr>
                                        <p:cTn id="34" dur="1" fill="hold">
                                          <p:stCondLst>
                                            <p:cond delay="0"/>
                                          </p:stCondLst>
                                        </p:cTn>
                                        <p:tgtEl>
                                          <p:spTgt spid="4"/>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6" grpId="0" animBg="1"/>
      <p:bldP spid="6" grpId="1" animBg="1"/>
      <p:bldP spid="9" grpId="0" animBg="1"/>
      <p:bldP spid="9" grpId="1" animBg="1"/>
      <p:bldP spid="10" grpId="0" animBg="1"/>
      <p:bldP spid="4" grpId="0" animBg="1"/>
      <p:bldP spid="4" grpId="1" animBg="1"/>
      <p:bldP spid="13" grpId="0" animBg="1"/>
      <p:bldP spid="13" grpId="1" animBg="1"/>
      <p:bldP spid="1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p:cNvSpPr>
          <p:nvPr>
            <p:ph type="title" idx="4294967295"/>
          </p:nvPr>
        </p:nvSpPr>
        <p:spPr>
          <a:ln/>
        </p:spPr>
        <p:txBody>
          <a:bodyPr vert="horz" wrap="square" lIns="91440" tIns="45720" rIns="91440" bIns="45720" anchor="b" anchorCtr="0"/>
          <a:lstStyle/>
          <a:p>
            <a:br>
              <a:rPr lang="zh-CN" altLang="en-US" dirty="0"/>
            </a:br>
            <a:br>
              <a:rPr lang="zh-CN" altLang="en-US" dirty="0"/>
            </a:br>
            <a:r>
              <a:rPr lang="en-US" altLang="zh-CN" dirty="0"/>
              <a:t>Solution 2:  Swap Instruction</a:t>
            </a:r>
          </a:p>
        </p:txBody>
      </p:sp>
      <p:sp>
        <p:nvSpPr>
          <p:cNvPr id="66562" name="Rectangle 3"/>
          <p:cNvSpPr>
            <a:spLocks noGrp="1"/>
          </p:cNvSpPr>
          <p:nvPr>
            <p:ph type="body" idx="4294967295"/>
          </p:nvPr>
        </p:nvSpPr>
        <p:spPr>
          <a:xfrm>
            <a:off x="504825" y="1011238"/>
            <a:ext cx="8229600" cy="5178425"/>
          </a:xfrm>
          <a:ln/>
        </p:spPr>
        <p:txBody>
          <a:bodyPr vert="horz" wrap="square" lIns="91440" tIns="45720" rIns="91440" bIns="45720" anchor="t" anchorCtr="0"/>
          <a:lstStyle/>
          <a:p>
            <a:pPr defTabSz="914400">
              <a:lnSpc>
                <a:spcPct val="90000"/>
              </a:lnSpc>
              <a:tabLst>
                <a:tab pos="744855" algn="l"/>
                <a:tab pos="1025525" algn="l"/>
                <a:tab pos="1260475" algn="l"/>
              </a:tabLst>
            </a:pPr>
            <a:r>
              <a:rPr lang="en-US" altLang="zh-CN" sz="2400" dirty="0">
                <a:ea typeface="宋体" panose="02010600030101010101" pitchFamily="2" charset="-122"/>
              </a:rPr>
              <a:t>Definition:</a:t>
            </a:r>
          </a:p>
          <a:p>
            <a:pPr defTabSz="914400">
              <a:lnSpc>
                <a:spcPct val="90000"/>
              </a:lnSpc>
              <a:tabLst>
                <a:tab pos="744855" algn="l"/>
                <a:tab pos="1025525" algn="l"/>
                <a:tab pos="1260475" algn="l"/>
              </a:tabLst>
            </a:pPr>
            <a:endParaRPr lang="en-US" altLang="zh-CN" sz="2400" dirty="0">
              <a:ea typeface="宋体" panose="02010600030101010101" pitchFamily="2" charset="-122"/>
            </a:endParaRPr>
          </a:p>
          <a:p>
            <a:pPr defTabSz="914400">
              <a:lnSpc>
                <a:spcPct val="90000"/>
              </a:lnSpc>
              <a:buNone/>
              <a:tabLst>
                <a:tab pos="744855" algn="l"/>
                <a:tab pos="1025525" algn="l"/>
                <a:tab pos="1260475" algn="l"/>
              </a:tabLst>
            </a:pPr>
            <a:r>
              <a:rPr lang="en-US" altLang="zh-CN" sz="2400" dirty="0">
                <a:ea typeface="宋体" panose="02010600030101010101" pitchFamily="2" charset="-122"/>
              </a:rPr>
              <a:t>         </a:t>
            </a:r>
            <a:r>
              <a:rPr lang="en-US" altLang="zh-CN" sz="2400" dirty="0">
                <a:solidFill>
                  <a:srgbClr val="0000FF"/>
                </a:solidFill>
                <a:ea typeface="宋体" panose="02010600030101010101" pitchFamily="2" charset="-122"/>
              </a:rPr>
              <a:t>void Swap (boolean *a, boolean *b)</a:t>
            </a:r>
          </a:p>
          <a:p>
            <a:pPr defTabSz="914400">
              <a:lnSpc>
                <a:spcPct val="90000"/>
              </a:lnSpc>
              <a:buNone/>
              <a:tabLst>
                <a:tab pos="744855" algn="l"/>
                <a:tab pos="1025525" algn="l"/>
                <a:tab pos="1260475" algn="l"/>
              </a:tabLst>
            </a:pPr>
            <a:r>
              <a:rPr lang="en-US" altLang="zh-CN" sz="2400" dirty="0">
                <a:solidFill>
                  <a:srgbClr val="0000FF"/>
                </a:solidFill>
                <a:ea typeface="宋体" panose="02010600030101010101" pitchFamily="2" charset="-122"/>
              </a:rPr>
              <a:t>          {</a:t>
            </a:r>
          </a:p>
          <a:p>
            <a:pPr defTabSz="914400">
              <a:lnSpc>
                <a:spcPct val="90000"/>
              </a:lnSpc>
              <a:buNone/>
              <a:tabLst>
                <a:tab pos="744855" algn="l"/>
                <a:tab pos="1025525" algn="l"/>
                <a:tab pos="1260475" algn="l"/>
              </a:tabLst>
            </a:pPr>
            <a:r>
              <a:rPr lang="en-US" altLang="zh-CN" sz="2400" dirty="0">
                <a:solidFill>
                  <a:srgbClr val="0000FF"/>
                </a:solidFill>
                <a:ea typeface="宋体" panose="02010600030101010101" pitchFamily="2" charset="-122"/>
              </a:rPr>
              <a:t>                  boolean temp = *a;</a:t>
            </a:r>
          </a:p>
          <a:p>
            <a:pPr defTabSz="914400">
              <a:lnSpc>
                <a:spcPct val="90000"/>
              </a:lnSpc>
              <a:buNone/>
              <a:tabLst>
                <a:tab pos="744855" algn="l"/>
                <a:tab pos="1025525" algn="l"/>
                <a:tab pos="1260475" algn="l"/>
              </a:tabLst>
            </a:pPr>
            <a:r>
              <a:rPr lang="en-US" altLang="zh-CN" sz="2400" dirty="0">
                <a:solidFill>
                  <a:srgbClr val="0000FF"/>
                </a:solidFill>
                <a:ea typeface="宋体" panose="02010600030101010101" pitchFamily="2" charset="-122"/>
              </a:rPr>
              <a:t>                  *a = *b;</a:t>
            </a:r>
          </a:p>
          <a:p>
            <a:pPr defTabSz="914400">
              <a:lnSpc>
                <a:spcPct val="90000"/>
              </a:lnSpc>
              <a:buNone/>
              <a:tabLst>
                <a:tab pos="744855" algn="l"/>
                <a:tab pos="1025525" algn="l"/>
                <a:tab pos="1260475" algn="l"/>
              </a:tabLst>
            </a:pPr>
            <a:r>
              <a:rPr lang="en-US" altLang="zh-CN" sz="2400" dirty="0">
                <a:solidFill>
                  <a:srgbClr val="0000FF"/>
                </a:solidFill>
                <a:ea typeface="宋体" panose="02010600030101010101" pitchFamily="2" charset="-122"/>
              </a:rPr>
              <a:t>                  *b = temp;</a:t>
            </a:r>
          </a:p>
          <a:p>
            <a:pPr defTabSz="914400">
              <a:lnSpc>
                <a:spcPct val="90000"/>
              </a:lnSpc>
              <a:buNone/>
              <a:tabLst>
                <a:tab pos="744855" algn="l"/>
                <a:tab pos="1025525" algn="l"/>
                <a:tab pos="1260475" algn="l"/>
              </a:tabLst>
            </a:pPr>
            <a:r>
              <a:rPr lang="en-US" altLang="zh-CN" sz="2400" dirty="0">
                <a:solidFill>
                  <a:srgbClr val="0000FF"/>
                </a:solidFill>
                <a:ea typeface="宋体" panose="02010600030101010101" pitchFamily="2" charset="-122"/>
              </a:rPr>
              <a:t>          }</a:t>
            </a:r>
          </a:p>
          <a:p>
            <a:pPr defTabSz="914400" eaLnBrk="1" hangingPunct="1">
              <a:lnSpc>
                <a:spcPct val="150000"/>
              </a:lnSpc>
              <a:tabLst>
                <a:tab pos="744855" algn="l"/>
                <a:tab pos="1025525" algn="l"/>
                <a:tab pos="1260475" algn="l"/>
              </a:tabLst>
            </a:pPr>
            <a:endParaRPr lang="en-US" altLang="zh-CN" sz="2400" dirty="0"/>
          </a:p>
        </p:txBody>
      </p:sp>
      <p:sp>
        <p:nvSpPr>
          <p:cNvPr id="5" name="矩形 4">
            <a:extLst>
              <a:ext uri="{FF2B5EF4-FFF2-40B4-BE49-F238E27FC236}">
                <a16:creationId xmlns:a16="http://schemas.microsoft.com/office/drawing/2014/main" id="{26A0D7B0-9EE8-4099-9E05-1ABEB33AD820}"/>
              </a:ext>
            </a:extLst>
          </p:cNvPr>
          <p:cNvSpPr/>
          <p:nvPr/>
        </p:nvSpPr>
        <p:spPr bwMode="auto">
          <a:xfrm>
            <a:off x="2956560" y="1920240"/>
            <a:ext cx="3101340" cy="434340"/>
          </a:xfrm>
          <a:prstGeom prst="rect">
            <a:avLst/>
          </a:prstGeom>
          <a:noFill/>
          <a:ln w="28575" cap="flat" cmpd="sng" algn="ctr">
            <a:solidFill>
              <a:schemeClr val="tx1"/>
            </a:solidFill>
            <a:prstDash val="sysDash"/>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6" name="矩形 5">
            <a:extLst>
              <a:ext uri="{FF2B5EF4-FFF2-40B4-BE49-F238E27FC236}">
                <a16:creationId xmlns:a16="http://schemas.microsoft.com/office/drawing/2014/main" id="{DDD53C6B-BCA0-419B-A78D-488DAAE8729A}"/>
              </a:ext>
            </a:extLst>
          </p:cNvPr>
          <p:cNvSpPr/>
          <p:nvPr/>
        </p:nvSpPr>
        <p:spPr bwMode="auto">
          <a:xfrm>
            <a:off x="1882140" y="2814002"/>
            <a:ext cx="3101340" cy="434340"/>
          </a:xfrm>
          <a:prstGeom prst="rect">
            <a:avLst/>
          </a:prstGeom>
          <a:noFill/>
          <a:ln w="28575" cap="flat" cmpd="sng" algn="ctr">
            <a:solidFill>
              <a:schemeClr val="tx1"/>
            </a:solidFill>
            <a:prstDash val="sysDash"/>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7" name="矩形 6">
            <a:extLst>
              <a:ext uri="{FF2B5EF4-FFF2-40B4-BE49-F238E27FC236}">
                <a16:creationId xmlns:a16="http://schemas.microsoft.com/office/drawing/2014/main" id="{1EF5F8AB-79A9-4F8F-901F-D7170E132338}"/>
              </a:ext>
            </a:extLst>
          </p:cNvPr>
          <p:cNvSpPr/>
          <p:nvPr/>
        </p:nvSpPr>
        <p:spPr bwMode="auto">
          <a:xfrm>
            <a:off x="1882140" y="3248342"/>
            <a:ext cx="3101340" cy="434340"/>
          </a:xfrm>
          <a:prstGeom prst="rect">
            <a:avLst/>
          </a:prstGeom>
          <a:noFill/>
          <a:ln w="28575" cap="flat" cmpd="sng" algn="ctr">
            <a:solidFill>
              <a:schemeClr val="tx1"/>
            </a:solidFill>
            <a:prstDash val="sysDash"/>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8" name="矩形 7">
            <a:extLst>
              <a:ext uri="{FF2B5EF4-FFF2-40B4-BE49-F238E27FC236}">
                <a16:creationId xmlns:a16="http://schemas.microsoft.com/office/drawing/2014/main" id="{8F733826-61DE-461F-A376-00CB396E75AC}"/>
              </a:ext>
            </a:extLst>
          </p:cNvPr>
          <p:cNvSpPr/>
          <p:nvPr/>
        </p:nvSpPr>
        <p:spPr bwMode="auto">
          <a:xfrm>
            <a:off x="1882140" y="3729989"/>
            <a:ext cx="3101340" cy="434340"/>
          </a:xfrm>
          <a:prstGeom prst="rect">
            <a:avLst/>
          </a:prstGeom>
          <a:noFill/>
          <a:ln w="28575" cap="flat" cmpd="sng" algn="ctr">
            <a:solidFill>
              <a:schemeClr val="tx1"/>
            </a:solidFill>
            <a:prstDash val="sysDash"/>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P spid="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p:cNvSpPr>
          <p:nvPr>
            <p:ph type="title"/>
          </p:nvPr>
        </p:nvSpPr>
        <p:spPr>
          <a:xfrm>
            <a:off x="1057275" y="217488"/>
            <a:ext cx="7215188" cy="519112"/>
          </a:xfrm>
          <a:ln/>
        </p:spPr>
        <p:txBody>
          <a:bodyPr vert="horz" wrap="square" lIns="91440" tIns="45720" rIns="91440" bIns="45720" anchor="b" anchorCtr="0"/>
          <a:lstStyle/>
          <a:p>
            <a:pPr eaLnBrk="1" hangingPunct="1"/>
            <a:r>
              <a:rPr lang="en-US" altLang="zh-CN" dirty="0"/>
              <a:t>Solution using Swap</a:t>
            </a:r>
            <a:endParaRPr lang="zh-CN" altLang="en-US" dirty="0"/>
          </a:p>
        </p:txBody>
      </p:sp>
      <p:graphicFrame>
        <p:nvGraphicFramePr>
          <p:cNvPr id="362500" name="Object 4"/>
          <p:cNvGraphicFramePr/>
          <p:nvPr>
            <p:extLst>
              <p:ext uri="{D42A27DB-BD31-4B8C-83A1-F6EECF244321}">
                <p14:modId xmlns:p14="http://schemas.microsoft.com/office/powerpoint/2010/main" val="2355610285"/>
              </p:ext>
            </p:extLst>
          </p:nvPr>
        </p:nvGraphicFramePr>
        <p:xfrm>
          <a:off x="2802890" y="2331720"/>
          <a:ext cx="3484245" cy="3268980"/>
        </p:xfrm>
        <a:graphic>
          <a:graphicData uri="http://schemas.openxmlformats.org/presentationml/2006/ole">
            <mc:AlternateContent xmlns:mc="http://schemas.openxmlformats.org/markup-compatibility/2006">
              <mc:Choice xmlns:v="urn:schemas-microsoft-com:vml" Requires="v">
                <p:oleObj spid="_x0000_s6339" r:id="rId4" imgW="1751330" imgH="1630680" progId="Visio.Drawing.6">
                  <p:embed/>
                </p:oleObj>
              </mc:Choice>
              <mc:Fallback>
                <p:oleObj r:id="rId4" imgW="1751330" imgH="1630680" progId="Visio.Drawing.6">
                  <p:embed/>
                  <p:pic>
                    <p:nvPicPr>
                      <p:cNvPr id="0" name="图片 3076"/>
                      <p:cNvPicPr/>
                      <p:nvPr/>
                    </p:nvPicPr>
                    <p:blipFill>
                      <a:blip r:embed="rId5"/>
                      <a:stretch>
                        <a:fillRect/>
                      </a:stretch>
                    </p:blipFill>
                    <p:spPr>
                      <a:xfrm>
                        <a:off x="2802890" y="2331720"/>
                        <a:ext cx="3484245" cy="3268980"/>
                      </a:xfrm>
                      <a:prstGeom prst="rect">
                        <a:avLst/>
                      </a:prstGeom>
                      <a:solidFill>
                        <a:srgbClr val="99CCFF"/>
                      </a:solidFill>
                      <a:ln w="38100">
                        <a:noFill/>
                        <a:miter/>
                      </a:ln>
                    </p:spPr>
                  </p:pic>
                </p:oleObj>
              </mc:Fallback>
            </mc:AlternateContent>
          </a:graphicData>
        </a:graphic>
      </p:graphicFrame>
      <p:sp>
        <p:nvSpPr>
          <p:cNvPr id="68611" name="Rectangle 5"/>
          <p:cNvSpPr/>
          <p:nvPr/>
        </p:nvSpPr>
        <p:spPr>
          <a:xfrm>
            <a:off x="417513" y="1079500"/>
            <a:ext cx="8255000" cy="757130"/>
          </a:xfrm>
          <a:prstGeom prst="rect">
            <a:avLst/>
          </a:prstGeom>
          <a:noFill/>
          <a:ln w="9525">
            <a:noFill/>
          </a:ln>
        </p:spPr>
        <p:txBody>
          <a:bodyPr anchor="t" anchorCtr="0">
            <a:spAutoFit/>
          </a:bodyPr>
          <a:lstStyle/>
          <a:p>
            <a:pPr eaLnBrk="0" hangingPunct="0">
              <a:lnSpc>
                <a:spcPct val="90000"/>
              </a:lnSpc>
              <a:spcBef>
                <a:spcPct val="35000"/>
              </a:spcBef>
              <a:buClr>
                <a:srgbClr val="993300"/>
              </a:buClr>
              <a:buSzPct val="90000"/>
              <a:buFont typeface="Monotype Sorts" charset="2"/>
              <a:buChar char="n"/>
            </a:pPr>
            <a:r>
              <a:rPr lang="en-US" altLang="zh-CN" sz="2400" dirty="0">
                <a:latin typeface="Verdana" panose="020B0604030504040204" pitchFamily="34" charset="0"/>
              </a:rPr>
              <a:t>Shared Boolean variable lock initialized to </a:t>
            </a:r>
            <a:r>
              <a:rPr lang="en-US" altLang="zh-CN" sz="2400" dirty="0">
                <a:solidFill>
                  <a:srgbClr val="FF0000"/>
                </a:solidFill>
                <a:latin typeface="Verdana" panose="020B0604030504040204" pitchFamily="34" charset="0"/>
              </a:rPr>
              <a:t>FALSE</a:t>
            </a:r>
            <a:r>
              <a:rPr lang="en-US" altLang="zh-CN" sz="2400" dirty="0">
                <a:latin typeface="Verdana" panose="020B0604030504040204" pitchFamily="34" charset="0"/>
              </a:rPr>
              <a:t>; Each process has a local Boolean variable key.</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2500"/>
                                        </p:tgtEl>
                                        <p:attrNameLst>
                                          <p:attrName>style.visibility</p:attrName>
                                        </p:attrNameLst>
                                      </p:cBhvr>
                                      <p:to>
                                        <p:strVal val="visible"/>
                                      </p:to>
                                    </p:set>
                                    <p:anim calcmode="lin" valueType="num">
                                      <p:cBhvr additive="base">
                                        <p:cTn id="7" dur="500" fill="hold"/>
                                        <p:tgtEl>
                                          <p:spTgt spid="362500"/>
                                        </p:tgtEl>
                                        <p:attrNameLst>
                                          <p:attrName>ppt_x</p:attrName>
                                        </p:attrNameLst>
                                      </p:cBhvr>
                                      <p:tavLst>
                                        <p:tav tm="0">
                                          <p:val>
                                            <p:strVal val="#ppt_x"/>
                                          </p:val>
                                        </p:tav>
                                        <p:tav tm="100000">
                                          <p:val>
                                            <p:strVal val="#ppt_x"/>
                                          </p:val>
                                        </p:tav>
                                      </p:tavLst>
                                    </p:anim>
                                    <p:anim calcmode="lin" valueType="num">
                                      <p:cBhvr additive="base">
                                        <p:cTn id="8" dur="500" fill="hold"/>
                                        <p:tgtEl>
                                          <p:spTgt spid="3625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p:cNvSpPr>
          <p:nvPr>
            <p:ph type="title"/>
          </p:nvPr>
        </p:nvSpPr>
        <p:spPr>
          <a:xfrm>
            <a:off x="520700" y="0"/>
            <a:ext cx="8623300" cy="771525"/>
          </a:xfrm>
          <a:ln/>
        </p:spPr>
        <p:txBody>
          <a:bodyPr vert="horz" wrap="square" lIns="91440" tIns="45720" rIns="91440" bIns="45720" anchor="b" anchorCtr="0"/>
          <a:lstStyle/>
          <a:p>
            <a:br>
              <a:rPr lang="zh-CN" altLang="en-US" dirty="0"/>
            </a:br>
            <a:br>
              <a:rPr lang="zh-CN" altLang="en-US" dirty="0"/>
            </a:br>
            <a:r>
              <a:rPr lang="en-US" altLang="zh-CN" dirty="0"/>
              <a:t>Solution using Swap</a:t>
            </a:r>
          </a:p>
        </p:txBody>
      </p:sp>
      <p:sp>
        <p:nvSpPr>
          <p:cNvPr id="70658" name="Rectangle 3"/>
          <p:cNvSpPr>
            <a:spLocks noGrp="1"/>
          </p:cNvSpPr>
          <p:nvPr>
            <p:ph idx="1"/>
          </p:nvPr>
        </p:nvSpPr>
        <p:spPr>
          <a:xfrm>
            <a:off x="407988" y="1233496"/>
            <a:ext cx="8229600" cy="4530725"/>
          </a:xfrm>
          <a:ln/>
        </p:spPr>
        <p:txBody>
          <a:bodyPr vert="horz" wrap="square" lIns="91440" tIns="45720" rIns="91440" bIns="45720" anchor="t" anchorCtr="0"/>
          <a:lstStyle/>
          <a:p>
            <a:pPr defTabSz="914400">
              <a:lnSpc>
                <a:spcPct val="90000"/>
              </a:lnSpc>
              <a:tabLst>
                <a:tab pos="744855" algn="l"/>
                <a:tab pos="1025525" algn="l"/>
                <a:tab pos="1260475" algn="l"/>
              </a:tabLst>
            </a:pPr>
            <a:r>
              <a:rPr lang="en-US" altLang="zh-CN" sz="2400" dirty="0">
                <a:ea typeface="宋体" panose="02010600030101010101" pitchFamily="2" charset="-122"/>
              </a:rPr>
              <a:t>Shared Boolean variable lock initialized to </a:t>
            </a:r>
            <a:r>
              <a:rPr lang="en-US" altLang="zh-CN" sz="2400" dirty="0">
                <a:solidFill>
                  <a:srgbClr val="FF0000"/>
                </a:solidFill>
                <a:ea typeface="宋体" panose="02010600030101010101" pitchFamily="2" charset="-122"/>
              </a:rPr>
              <a:t>FALSE</a:t>
            </a:r>
            <a:r>
              <a:rPr lang="en-US" altLang="zh-CN" sz="2400" dirty="0">
                <a:ea typeface="宋体" panose="02010600030101010101" pitchFamily="2" charset="-122"/>
              </a:rPr>
              <a:t>; Each process has a local Boolean variable key.</a:t>
            </a:r>
          </a:p>
          <a:p>
            <a:pPr defTabSz="914400">
              <a:lnSpc>
                <a:spcPct val="90000"/>
              </a:lnSpc>
              <a:tabLst>
                <a:tab pos="744855" algn="l"/>
                <a:tab pos="1025525" algn="l"/>
                <a:tab pos="1260475" algn="l"/>
              </a:tabLst>
            </a:pPr>
            <a:r>
              <a:rPr lang="en-US" altLang="zh-CN" sz="2400" dirty="0">
                <a:ea typeface="宋体" panose="02010600030101010101" pitchFamily="2" charset="-122"/>
              </a:rPr>
              <a:t>Solution:</a:t>
            </a:r>
          </a:p>
          <a:p>
            <a:pPr defTabSz="914400">
              <a:lnSpc>
                <a:spcPct val="90000"/>
              </a:lnSpc>
              <a:buNone/>
              <a:tabLst>
                <a:tab pos="744855" algn="l"/>
                <a:tab pos="1025525" algn="l"/>
                <a:tab pos="1260475" algn="l"/>
              </a:tabLst>
            </a:pPr>
            <a:r>
              <a:rPr lang="en-US" altLang="zh-CN" sz="2400" dirty="0">
                <a:ea typeface="宋体" panose="02010600030101010101" pitchFamily="2" charset="-122"/>
              </a:rPr>
              <a:t> </a:t>
            </a:r>
          </a:p>
        </p:txBody>
      </p:sp>
      <p:sp>
        <p:nvSpPr>
          <p:cNvPr id="70659" name="Text Box 4"/>
          <p:cNvSpPr txBox="1"/>
          <p:nvPr/>
        </p:nvSpPr>
        <p:spPr>
          <a:xfrm>
            <a:off x="1422400" y="165100"/>
            <a:ext cx="3100388" cy="457200"/>
          </a:xfrm>
          <a:prstGeom prst="rect">
            <a:avLst/>
          </a:prstGeom>
          <a:noFill/>
          <a:ln w="9525">
            <a:noFill/>
          </a:ln>
        </p:spPr>
        <p:txBody>
          <a:bodyPr anchor="ctr" anchorCtr="0"/>
          <a:lstStyle/>
          <a:p>
            <a:pPr algn="ctr" eaLnBrk="0" hangingPunct="0"/>
            <a:endParaRPr lang="zh-CN" altLang="en-US" sz="3200" b="1" dirty="0">
              <a:solidFill>
                <a:schemeClr val="tx2"/>
              </a:solidFill>
              <a:latin typeface="Helvetica" pitchFamily="34" charset="0"/>
            </a:endParaRPr>
          </a:p>
        </p:txBody>
      </p:sp>
      <p:sp>
        <p:nvSpPr>
          <p:cNvPr id="3" name="矩形 2">
            <a:extLst>
              <a:ext uri="{FF2B5EF4-FFF2-40B4-BE49-F238E27FC236}">
                <a16:creationId xmlns:a16="http://schemas.microsoft.com/office/drawing/2014/main" id="{C5DFFFC0-8C84-4BB3-AD5E-49239F7A233A}"/>
              </a:ext>
            </a:extLst>
          </p:cNvPr>
          <p:cNvSpPr/>
          <p:nvPr/>
        </p:nvSpPr>
        <p:spPr>
          <a:xfrm>
            <a:off x="1702434" y="2667951"/>
            <a:ext cx="6961505" cy="3416320"/>
          </a:xfrm>
          <a:prstGeom prst="rect">
            <a:avLst/>
          </a:prstGeom>
        </p:spPr>
        <p:txBody>
          <a:bodyPr wrap="square">
            <a:spAutoFit/>
          </a:bodyPr>
          <a:lstStyle/>
          <a:p>
            <a:pPr>
              <a:lnSpc>
                <a:spcPct val="90000"/>
              </a:lnSpc>
              <a:tabLst>
                <a:tab pos="744855" algn="l"/>
                <a:tab pos="1025525" algn="l"/>
                <a:tab pos="1260475" algn="l"/>
              </a:tabLst>
            </a:pPr>
            <a:r>
              <a:rPr lang="en-US" altLang="zh-CN" dirty="0">
                <a:solidFill>
                  <a:srgbClr val="0000FF"/>
                </a:solidFill>
                <a:ea typeface="宋体" panose="02010600030101010101" pitchFamily="2" charset="-122"/>
              </a:rPr>
              <a:t> while (true)  {</a:t>
            </a:r>
          </a:p>
          <a:p>
            <a:pPr>
              <a:lnSpc>
                <a:spcPct val="90000"/>
              </a:lnSpc>
              <a:tabLst>
                <a:tab pos="744855" algn="l"/>
                <a:tab pos="1025525" algn="l"/>
                <a:tab pos="1260475" algn="l"/>
              </a:tabLst>
            </a:pPr>
            <a:r>
              <a:rPr lang="en-US" altLang="zh-CN" dirty="0">
                <a:solidFill>
                  <a:srgbClr val="0000FF"/>
                </a:solidFill>
                <a:ea typeface="宋体" panose="02010600030101010101" pitchFamily="2" charset="-122"/>
              </a:rPr>
              <a:t>                    key = TRUE;</a:t>
            </a:r>
          </a:p>
          <a:p>
            <a:pPr>
              <a:lnSpc>
                <a:spcPct val="90000"/>
              </a:lnSpc>
              <a:tabLst>
                <a:tab pos="744855" algn="l"/>
                <a:tab pos="1025525" algn="l"/>
                <a:tab pos="1260475" algn="l"/>
              </a:tabLst>
            </a:pPr>
            <a:r>
              <a:rPr lang="en-US" altLang="zh-CN" dirty="0">
                <a:solidFill>
                  <a:srgbClr val="0000FF"/>
                </a:solidFill>
                <a:ea typeface="宋体" panose="02010600030101010101" pitchFamily="2" charset="-122"/>
              </a:rPr>
              <a:t>                    while ( key == TRUE)</a:t>
            </a:r>
          </a:p>
          <a:p>
            <a:pPr>
              <a:lnSpc>
                <a:spcPct val="90000"/>
              </a:lnSpc>
              <a:tabLst>
                <a:tab pos="744855" algn="l"/>
                <a:tab pos="1025525" algn="l"/>
                <a:tab pos="1260475" algn="l"/>
              </a:tabLst>
            </a:pPr>
            <a:r>
              <a:rPr lang="en-US" altLang="zh-CN" dirty="0">
                <a:solidFill>
                  <a:srgbClr val="0000FF"/>
                </a:solidFill>
                <a:ea typeface="宋体" panose="02010600030101010101" pitchFamily="2" charset="-122"/>
              </a:rPr>
              <a:t>                             Swap (&amp;lock, &amp;key );</a:t>
            </a:r>
          </a:p>
          <a:p>
            <a:pPr>
              <a:lnSpc>
                <a:spcPct val="90000"/>
              </a:lnSpc>
              <a:tabLst>
                <a:tab pos="744855" algn="l"/>
                <a:tab pos="1025525" algn="l"/>
                <a:tab pos="1260475" algn="l"/>
              </a:tabLst>
            </a:pPr>
            <a:r>
              <a:rPr lang="en-US" altLang="zh-CN" dirty="0">
                <a:solidFill>
                  <a:srgbClr val="0000FF"/>
                </a:solidFill>
                <a:ea typeface="宋体" panose="02010600030101010101" pitchFamily="2" charset="-122"/>
              </a:rPr>
              <a:t>      </a:t>
            </a:r>
          </a:p>
          <a:p>
            <a:pPr>
              <a:lnSpc>
                <a:spcPct val="90000"/>
              </a:lnSpc>
              <a:tabLst>
                <a:tab pos="744855" algn="l"/>
                <a:tab pos="1025525" algn="l"/>
                <a:tab pos="1260475" algn="l"/>
              </a:tabLst>
            </a:pPr>
            <a:r>
              <a:rPr lang="en-US" altLang="zh-CN" dirty="0">
                <a:solidFill>
                  <a:srgbClr val="0000FF"/>
                </a:solidFill>
                <a:ea typeface="宋体" panose="02010600030101010101" pitchFamily="2" charset="-122"/>
              </a:rPr>
              <a:t>                    //    critical section</a:t>
            </a:r>
          </a:p>
          <a:p>
            <a:pPr>
              <a:lnSpc>
                <a:spcPct val="90000"/>
              </a:lnSpc>
              <a:tabLst>
                <a:tab pos="744855" algn="l"/>
                <a:tab pos="1025525" algn="l"/>
                <a:tab pos="1260475" algn="l"/>
              </a:tabLst>
            </a:pPr>
            <a:endParaRPr lang="en-US" altLang="zh-CN" dirty="0">
              <a:solidFill>
                <a:srgbClr val="0000FF"/>
              </a:solidFill>
              <a:ea typeface="宋体" panose="02010600030101010101" pitchFamily="2" charset="-122"/>
            </a:endParaRPr>
          </a:p>
          <a:p>
            <a:pPr>
              <a:lnSpc>
                <a:spcPct val="90000"/>
              </a:lnSpc>
              <a:tabLst>
                <a:tab pos="744855" algn="l"/>
                <a:tab pos="1025525" algn="l"/>
                <a:tab pos="1260475" algn="l"/>
              </a:tabLst>
            </a:pPr>
            <a:r>
              <a:rPr lang="en-US" altLang="zh-CN" dirty="0">
                <a:solidFill>
                  <a:srgbClr val="0000FF"/>
                </a:solidFill>
                <a:ea typeface="宋体" panose="02010600030101010101" pitchFamily="2" charset="-122"/>
              </a:rPr>
              <a:t>                     lock = FALSE;</a:t>
            </a:r>
          </a:p>
          <a:p>
            <a:pPr>
              <a:lnSpc>
                <a:spcPct val="90000"/>
              </a:lnSpc>
              <a:tabLst>
                <a:tab pos="744855" algn="l"/>
                <a:tab pos="1025525" algn="l"/>
                <a:tab pos="1260475" algn="l"/>
              </a:tabLst>
            </a:pPr>
            <a:endParaRPr lang="en-US" altLang="zh-CN" dirty="0">
              <a:solidFill>
                <a:srgbClr val="0000FF"/>
              </a:solidFill>
              <a:ea typeface="宋体" panose="02010600030101010101" pitchFamily="2" charset="-122"/>
            </a:endParaRPr>
          </a:p>
          <a:p>
            <a:pPr>
              <a:lnSpc>
                <a:spcPct val="90000"/>
              </a:lnSpc>
              <a:tabLst>
                <a:tab pos="744855" algn="l"/>
                <a:tab pos="1025525" algn="l"/>
                <a:tab pos="1260475" algn="l"/>
              </a:tabLst>
            </a:pPr>
            <a:r>
              <a:rPr lang="en-US" altLang="zh-CN" dirty="0">
                <a:solidFill>
                  <a:srgbClr val="0000FF"/>
                </a:solidFill>
                <a:ea typeface="宋体" panose="02010600030101010101" pitchFamily="2" charset="-122"/>
              </a:rPr>
              <a:t>                    //      remainder section </a:t>
            </a:r>
          </a:p>
          <a:p>
            <a:pPr>
              <a:lnSpc>
                <a:spcPct val="90000"/>
              </a:lnSpc>
              <a:tabLst>
                <a:tab pos="744855" algn="l"/>
                <a:tab pos="1025525" algn="l"/>
                <a:tab pos="1260475" algn="l"/>
              </a:tabLst>
            </a:pPr>
            <a:r>
              <a:rPr lang="en-US" altLang="zh-CN" dirty="0">
                <a:solidFill>
                  <a:srgbClr val="0000FF"/>
                </a:solidFill>
                <a:ea typeface="宋体" panose="02010600030101010101" pitchFamily="2" charset="-122"/>
              </a:rPr>
              <a:t>           }</a:t>
            </a:r>
          </a:p>
          <a:p>
            <a:pPr>
              <a:lnSpc>
                <a:spcPct val="90000"/>
              </a:lnSpc>
              <a:tabLst>
                <a:tab pos="744855" algn="l"/>
                <a:tab pos="1025525" algn="l"/>
                <a:tab pos="1260475" algn="l"/>
              </a:tabLst>
            </a:pPr>
            <a:r>
              <a:rPr lang="en-US" altLang="zh-CN" dirty="0">
                <a:solidFill>
                  <a:srgbClr val="0000FF"/>
                </a:solidFill>
                <a:ea typeface="宋体" panose="02010600030101010101" pitchFamily="2" charset="-122"/>
              </a:rPr>
              <a:t> </a:t>
            </a:r>
            <a:endParaRPr lang="zh-CN" altLang="en-US" dirty="0">
              <a:solidFill>
                <a:srgbClr val="0000FF"/>
              </a:solidFill>
              <a:ea typeface="宋体" panose="02010600030101010101" pitchFamily="2" charset="-122"/>
            </a:endParaRPr>
          </a:p>
        </p:txBody>
      </p:sp>
      <p:sp>
        <p:nvSpPr>
          <p:cNvPr id="17" name="等腰三角形 16">
            <a:extLst>
              <a:ext uri="{FF2B5EF4-FFF2-40B4-BE49-F238E27FC236}">
                <a16:creationId xmlns:a16="http://schemas.microsoft.com/office/drawing/2014/main" id="{CF756476-A0BA-4BDC-9C36-06F1AEA47589}"/>
              </a:ext>
            </a:extLst>
          </p:cNvPr>
          <p:cNvSpPr/>
          <p:nvPr/>
        </p:nvSpPr>
        <p:spPr bwMode="auto">
          <a:xfrm rot="5400000">
            <a:off x="3301365" y="3042285"/>
            <a:ext cx="205740" cy="163830"/>
          </a:xfrm>
          <a:prstGeom prst="triangle">
            <a:avLst/>
          </a:prstGeom>
          <a:solidFill>
            <a:srgbClr val="FF00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8" name="等腰三角形 17">
            <a:extLst>
              <a:ext uri="{FF2B5EF4-FFF2-40B4-BE49-F238E27FC236}">
                <a16:creationId xmlns:a16="http://schemas.microsoft.com/office/drawing/2014/main" id="{67E763F2-5E76-47B5-97B6-367B66A36887}"/>
              </a:ext>
            </a:extLst>
          </p:cNvPr>
          <p:cNvSpPr/>
          <p:nvPr/>
        </p:nvSpPr>
        <p:spPr bwMode="auto">
          <a:xfrm rot="5400000">
            <a:off x="3301365" y="3314074"/>
            <a:ext cx="205740" cy="163830"/>
          </a:xfrm>
          <a:prstGeom prst="triangle">
            <a:avLst/>
          </a:prstGeom>
          <a:solidFill>
            <a:srgbClr val="FF00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19" name="等腰三角形 18">
            <a:extLst>
              <a:ext uri="{FF2B5EF4-FFF2-40B4-BE49-F238E27FC236}">
                <a16:creationId xmlns:a16="http://schemas.microsoft.com/office/drawing/2014/main" id="{A4ECB246-2008-4003-A6DD-204628C08EC2}"/>
              </a:ext>
            </a:extLst>
          </p:cNvPr>
          <p:cNvSpPr/>
          <p:nvPr/>
        </p:nvSpPr>
        <p:spPr bwMode="auto">
          <a:xfrm rot="5400000">
            <a:off x="4078605" y="3580774"/>
            <a:ext cx="205740" cy="163830"/>
          </a:xfrm>
          <a:prstGeom prst="triangle">
            <a:avLst/>
          </a:prstGeom>
          <a:solidFill>
            <a:srgbClr val="FF00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20" name="等腰三角形 19">
            <a:extLst>
              <a:ext uri="{FF2B5EF4-FFF2-40B4-BE49-F238E27FC236}">
                <a16:creationId xmlns:a16="http://schemas.microsoft.com/office/drawing/2014/main" id="{E34CDEA4-91D8-425A-9B58-F30AE2F06CB6}"/>
              </a:ext>
            </a:extLst>
          </p:cNvPr>
          <p:cNvSpPr/>
          <p:nvPr/>
        </p:nvSpPr>
        <p:spPr bwMode="auto">
          <a:xfrm rot="5400000">
            <a:off x="3301365" y="4174962"/>
            <a:ext cx="205740" cy="163830"/>
          </a:xfrm>
          <a:prstGeom prst="triangle">
            <a:avLst/>
          </a:prstGeom>
          <a:solidFill>
            <a:srgbClr val="FF0000"/>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1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1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18" grpId="0" animBg="1"/>
      <p:bldP spid="18" grpId="1" animBg="1"/>
      <p:bldP spid="19" grpId="0" animBg="1"/>
      <p:bldP spid="2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8162C5-E339-44FD-857F-967E7DBE7B44}"/>
              </a:ext>
            </a:extLst>
          </p:cNvPr>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忙等待和无忙等待</a:t>
            </a:r>
          </a:p>
        </p:txBody>
      </p:sp>
      <p:sp>
        <p:nvSpPr>
          <p:cNvPr id="3" name="内容占位符 2">
            <a:extLst>
              <a:ext uri="{FF2B5EF4-FFF2-40B4-BE49-F238E27FC236}">
                <a16:creationId xmlns:a16="http://schemas.microsoft.com/office/drawing/2014/main" id="{5134CC72-0D01-4BEF-8A6A-8DAE07ED0D31}"/>
              </a:ext>
            </a:extLst>
          </p:cNvPr>
          <p:cNvSpPr>
            <a:spLocks noGrp="1"/>
          </p:cNvSpPr>
          <p:nvPr>
            <p:ph idx="1"/>
          </p:nvPr>
        </p:nvSpPr>
        <p:spPr>
          <a:xfrm>
            <a:off x="457200" y="1163638"/>
            <a:ext cx="3352800" cy="576262"/>
          </a:xfrm>
        </p:spPr>
        <p:txBody>
          <a:bodyPr/>
          <a:lstStyle/>
          <a:p>
            <a:r>
              <a:rPr lang="zh-CN" altLang="en-US" dirty="0">
                <a:latin typeface="宋体" panose="02010600030101010101" pitchFamily="2" charset="-122"/>
                <a:ea typeface="宋体" panose="02010600030101010101" pitchFamily="2" charset="-122"/>
              </a:rPr>
              <a:t>忙等待</a:t>
            </a:r>
          </a:p>
        </p:txBody>
      </p:sp>
      <p:sp>
        <p:nvSpPr>
          <p:cNvPr id="4" name="矩形 3">
            <a:extLst>
              <a:ext uri="{FF2B5EF4-FFF2-40B4-BE49-F238E27FC236}">
                <a16:creationId xmlns:a16="http://schemas.microsoft.com/office/drawing/2014/main" id="{63FE677B-B367-42B8-A243-561B84DA1B01}"/>
              </a:ext>
            </a:extLst>
          </p:cNvPr>
          <p:cNvSpPr/>
          <p:nvPr/>
        </p:nvSpPr>
        <p:spPr>
          <a:xfrm>
            <a:off x="822960" y="1874728"/>
            <a:ext cx="6294120" cy="3108543"/>
          </a:xfrm>
          <a:prstGeom prst="rect">
            <a:avLst/>
          </a:prstGeom>
        </p:spPr>
        <p:txBody>
          <a:bodyPr wrap="square">
            <a:spAutoFit/>
          </a:bodyPr>
          <a:lstStyle/>
          <a:p>
            <a:pPr marL="857250" lvl="2"/>
            <a:r>
              <a:rPr lang="en-US" altLang="zh-CN" sz="2800" dirty="0" err="1">
                <a:solidFill>
                  <a:srgbClr val="0000FF"/>
                </a:solidFill>
              </a:rPr>
              <a:t>AcquireLoc</a:t>
            </a:r>
            <a:r>
              <a:rPr lang="en-US" altLang="zh-CN" sz="2800" dirty="0">
                <a:solidFill>
                  <a:srgbClr val="0000FF"/>
                </a:solidFill>
              </a:rPr>
              <a:t>(){</a:t>
            </a:r>
          </a:p>
          <a:p>
            <a:pPr marL="857250" lvl="2"/>
            <a:r>
              <a:rPr lang="en-US" altLang="zh-CN" sz="2800" dirty="0">
                <a:solidFill>
                  <a:srgbClr val="0000FF"/>
                </a:solidFill>
              </a:rPr>
              <a:t>	    while(</a:t>
            </a:r>
            <a:r>
              <a:rPr lang="en-US" altLang="zh-CN" sz="2800" dirty="0" err="1">
                <a:solidFill>
                  <a:srgbClr val="0000FF"/>
                </a:solidFill>
              </a:rPr>
              <a:t>TestandSet</a:t>
            </a:r>
            <a:r>
              <a:rPr lang="en-US" altLang="zh-CN" sz="2800" dirty="0">
                <a:solidFill>
                  <a:srgbClr val="0000FF"/>
                </a:solidFill>
              </a:rPr>
              <a:t>(&amp;lock))</a:t>
            </a:r>
          </a:p>
          <a:p>
            <a:pPr marL="857250" lvl="2"/>
            <a:r>
              <a:rPr lang="en-US" altLang="zh-CN" sz="2800" dirty="0">
                <a:solidFill>
                  <a:srgbClr val="0000FF"/>
                </a:solidFill>
              </a:rPr>
              <a:t>}</a:t>
            </a:r>
          </a:p>
          <a:p>
            <a:pPr marL="857250" lvl="2"/>
            <a:r>
              <a:rPr lang="zh-CN" altLang="en-US" sz="2800" dirty="0">
                <a:solidFill>
                  <a:srgbClr val="0000FF"/>
                </a:solidFill>
              </a:rPr>
              <a:t>临界区</a:t>
            </a:r>
            <a:endParaRPr lang="en-US" altLang="zh-CN" sz="2800" dirty="0">
              <a:solidFill>
                <a:srgbClr val="0000FF"/>
              </a:solidFill>
            </a:endParaRPr>
          </a:p>
          <a:p>
            <a:pPr marL="857250" lvl="2"/>
            <a:r>
              <a:rPr lang="en-US" altLang="zh-CN" sz="2800" dirty="0">
                <a:solidFill>
                  <a:srgbClr val="0000FF"/>
                </a:solidFill>
              </a:rPr>
              <a:t>Release(){</a:t>
            </a:r>
          </a:p>
          <a:p>
            <a:pPr marL="857250" lvl="2"/>
            <a:r>
              <a:rPr lang="en-US" altLang="zh-CN" sz="2800" dirty="0">
                <a:solidFill>
                  <a:srgbClr val="0000FF"/>
                </a:solidFill>
              </a:rPr>
              <a:t>	  *lock=false;</a:t>
            </a:r>
          </a:p>
          <a:p>
            <a:pPr marL="857250" lvl="2"/>
            <a:r>
              <a:rPr lang="en-US" altLang="zh-CN" sz="2800" dirty="0">
                <a:solidFill>
                  <a:srgbClr val="0000FF"/>
                </a:solidFill>
              </a:rPr>
              <a:t>}</a:t>
            </a:r>
            <a:endParaRPr lang="zh-CN" altLang="en-US" sz="2800" dirty="0">
              <a:solidFill>
                <a:srgbClr val="0000FF"/>
              </a:solidFill>
            </a:endParaRPr>
          </a:p>
        </p:txBody>
      </p:sp>
    </p:spTree>
    <p:extLst>
      <p:ext uri="{BB962C8B-B14F-4D97-AF65-F5344CB8AC3E}">
        <p14:creationId xmlns:p14="http://schemas.microsoft.com/office/powerpoint/2010/main" val="26819430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8162C5-E339-44FD-857F-967E7DBE7B44}"/>
              </a:ext>
            </a:extLst>
          </p:cNvPr>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忙等待和无忙等待</a:t>
            </a:r>
          </a:p>
        </p:txBody>
      </p:sp>
      <p:sp>
        <p:nvSpPr>
          <p:cNvPr id="3" name="内容占位符 2">
            <a:extLst>
              <a:ext uri="{FF2B5EF4-FFF2-40B4-BE49-F238E27FC236}">
                <a16:creationId xmlns:a16="http://schemas.microsoft.com/office/drawing/2014/main" id="{5134CC72-0D01-4BEF-8A6A-8DAE07ED0D31}"/>
              </a:ext>
            </a:extLst>
          </p:cNvPr>
          <p:cNvSpPr>
            <a:spLocks noGrp="1"/>
          </p:cNvSpPr>
          <p:nvPr>
            <p:ph idx="1"/>
          </p:nvPr>
        </p:nvSpPr>
        <p:spPr>
          <a:xfrm>
            <a:off x="457200" y="1163638"/>
            <a:ext cx="3352800" cy="576262"/>
          </a:xfrm>
        </p:spPr>
        <p:txBody>
          <a:bodyPr/>
          <a:lstStyle/>
          <a:p>
            <a:r>
              <a:rPr lang="zh-CN" altLang="en-US" dirty="0">
                <a:latin typeface="宋体" panose="02010600030101010101" pitchFamily="2" charset="-122"/>
                <a:ea typeface="宋体" panose="02010600030101010101" pitchFamily="2" charset="-122"/>
              </a:rPr>
              <a:t>无忙等待</a:t>
            </a:r>
          </a:p>
        </p:txBody>
      </p:sp>
      <p:sp>
        <p:nvSpPr>
          <p:cNvPr id="4" name="矩形 3">
            <a:extLst>
              <a:ext uri="{FF2B5EF4-FFF2-40B4-BE49-F238E27FC236}">
                <a16:creationId xmlns:a16="http://schemas.microsoft.com/office/drawing/2014/main" id="{63FE677B-B367-42B8-A243-561B84DA1B01}"/>
              </a:ext>
            </a:extLst>
          </p:cNvPr>
          <p:cNvSpPr/>
          <p:nvPr/>
        </p:nvSpPr>
        <p:spPr>
          <a:xfrm>
            <a:off x="457200" y="1770638"/>
            <a:ext cx="8503920" cy="4832092"/>
          </a:xfrm>
          <a:prstGeom prst="rect">
            <a:avLst/>
          </a:prstGeom>
        </p:spPr>
        <p:txBody>
          <a:bodyPr wrap="square">
            <a:spAutoFit/>
          </a:bodyPr>
          <a:lstStyle/>
          <a:p>
            <a:pPr marL="857250" lvl="2"/>
            <a:r>
              <a:rPr lang="en-US" altLang="zh-CN" sz="2800" dirty="0" err="1">
                <a:solidFill>
                  <a:srgbClr val="0000FF"/>
                </a:solidFill>
              </a:rPr>
              <a:t>AcquireLoc</a:t>
            </a:r>
            <a:r>
              <a:rPr lang="en-US" altLang="zh-CN" sz="2800" dirty="0">
                <a:solidFill>
                  <a:srgbClr val="0000FF"/>
                </a:solidFill>
              </a:rPr>
              <a:t>(){</a:t>
            </a:r>
          </a:p>
          <a:p>
            <a:pPr marL="857250" lvl="2"/>
            <a:r>
              <a:rPr lang="en-US" altLang="zh-CN" sz="2800" dirty="0">
                <a:solidFill>
                  <a:srgbClr val="0000FF"/>
                </a:solidFill>
              </a:rPr>
              <a:t>	    while(</a:t>
            </a:r>
            <a:r>
              <a:rPr lang="en-US" altLang="zh-CN" sz="2800" dirty="0" err="1">
                <a:solidFill>
                  <a:srgbClr val="0000FF"/>
                </a:solidFill>
              </a:rPr>
              <a:t>TestandSet</a:t>
            </a:r>
            <a:r>
              <a:rPr lang="en-US" altLang="zh-CN" sz="2800" dirty="0">
                <a:solidFill>
                  <a:srgbClr val="0000FF"/>
                </a:solidFill>
              </a:rPr>
              <a:t>(&amp;lock))</a:t>
            </a:r>
          </a:p>
          <a:p>
            <a:pPr marL="857250" lvl="2"/>
            <a:r>
              <a:rPr lang="en-US" altLang="zh-CN" sz="2800" dirty="0">
                <a:solidFill>
                  <a:srgbClr val="0000FF"/>
                </a:solidFill>
              </a:rPr>
              <a:t>		</a:t>
            </a:r>
            <a:r>
              <a:rPr lang="en-US" altLang="zh-CN" sz="2800" dirty="0">
                <a:solidFill>
                  <a:srgbClr val="FF0000"/>
                </a:solidFill>
              </a:rPr>
              <a:t>add this TCB to wait queue q;</a:t>
            </a:r>
          </a:p>
          <a:p>
            <a:pPr marL="857250" lvl="2"/>
            <a:r>
              <a:rPr lang="en-US" altLang="zh-CN" sz="2800" dirty="0">
                <a:solidFill>
                  <a:srgbClr val="0000FF"/>
                </a:solidFill>
              </a:rPr>
              <a:t>}</a:t>
            </a:r>
          </a:p>
          <a:p>
            <a:pPr marL="857250" lvl="2"/>
            <a:r>
              <a:rPr lang="zh-CN" altLang="en-US" sz="2800" dirty="0">
                <a:solidFill>
                  <a:srgbClr val="0000FF"/>
                </a:solidFill>
              </a:rPr>
              <a:t>临界区</a:t>
            </a:r>
            <a:endParaRPr lang="en-US" altLang="zh-CN" sz="2800" dirty="0">
              <a:solidFill>
                <a:srgbClr val="0000FF"/>
              </a:solidFill>
            </a:endParaRPr>
          </a:p>
          <a:p>
            <a:pPr marL="857250" lvl="2"/>
            <a:r>
              <a:rPr lang="en-US" altLang="zh-CN" sz="2800" dirty="0">
                <a:solidFill>
                  <a:srgbClr val="0000FF"/>
                </a:solidFill>
              </a:rPr>
              <a:t>Release() (){</a:t>
            </a:r>
          </a:p>
          <a:p>
            <a:pPr marL="857250" lvl="2"/>
            <a:r>
              <a:rPr lang="en-US" altLang="zh-CN" sz="2800" dirty="0">
                <a:solidFill>
                  <a:srgbClr val="0000FF"/>
                </a:solidFill>
              </a:rPr>
              <a:t>	  *lock=false;</a:t>
            </a:r>
          </a:p>
          <a:p>
            <a:pPr marL="857250" lvl="2"/>
            <a:r>
              <a:rPr lang="en-US" altLang="zh-CN" sz="2800" dirty="0">
                <a:solidFill>
                  <a:srgbClr val="FF0000"/>
                </a:solidFill>
              </a:rPr>
              <a:t>	  remove one thread t from q;</a:t>
            </a:r>
          </a:p>
          <a:p>
            <a:pPr marL="857250" lvl="2"/>
            <a:r>
              <a:rPr lang="en-US" altLang="zh-CN" sz="2800" dirty="0">
                <a:solidFill>
                  <a:srgbClr val="FF0000"/>
                </a:solidFill>
              </a:rPr>
              <a:t>  wakeup(t)</a:t>
            </a:r>
          </a:p>
          <a:p>
            <a:pPr marL="857250" lvl="2"/>
            <a:r>
              <a:rPr lang="en-US" altLang="zh-CN" sz="2800" dirty="0">
                <a:solidFill>
                  <a:srgbClr val="0000FF"/>
                </a:solidFill>
              </a:rPr>
              <a:t>}</a:t>
            </a:r>
            <a:endParaRPr lang="zh-CN" altLang="en-US" sz="2800" dirty="0">
              <a:solidFill>
                <a:srgbClr val="0000FF"/>
              </a:solidFill>
            </a:endParaRPr>
          </a:p>
          <a:p>
            <a:pPr marL="857250" lvl="2"/>
            <a:endParaRPr lang="zh-CN" altLang="en-US" sz="2800" dirty="0">
              <a:solidFill>
                <a:srgbClr val="0000FF"/>
              </a:solidFill>
            </a:endParaRPr>
          </a:p>
        </p:txBody>
      </p:sp>
    </p:spTree>
    <p:extLst>
      <p:ext uri="{BB962C8B-B14F-4D97-AF65-F5344CB8AC3E}">
        <p14:creationId xmlns:p14="http://schemas.microsoft.com/office/powerpoint/2010/main" val="19250968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D0EF76-C445-43F9-84BE-27F9C3B1C842}"/>
              </a:ext>
            </a:extLst>
          </p:cNvPr>
          <p:cNvSpPr>
            <a:spLocks noGrp="1"/>
          </p:cNvSpPr>
          <p:nvPr>
            <p:ph type="title"/>
          </p:nvPr>
        </p:nvSpPr>
        <p:spPr>
          <a:noFill/>
          <a:ln w="9525">
            <a:noFill/>
          </a:ln>
        </p:spPr>
        <p:txBody>
          <a:bodyPr anchor="b" anchorCtr="0"/>
          <a:lstStyle/>
          <a:p>
            <a:r>
              <a:rPr lang="zh-CN" altLang="en-US" dirty="0">
                <a:latin typeface="黑体" panose="02010609060101010101" pitchFamily="49" charset="-122"/>
                <a:ea typeface="黑体" panose="02010609060101010101" pitchFamily="49" charset="-122"/>
              </a:rPr>
              <a:t>原子操作优点</a:t>
            </a:r>
          </a:p>
        </p:txBody>
      </p:sp>
      <p:sp>
        <p:nvSpPr>
          <p:cNvPr id="3" name="内容占位符 2">
            <a:extLst>
              <a:ext uri="{FF2B5EF4-FFF2-40B4-BE49-F238E27FC236}">
                <a16:creationId xmlns:a16="http://schemas.microsoft.com/office/drawing/2014/main" id="{081C9C26-EE47-4674-8457-61635E0F6244}"/>
              </a:ext>
            </a:extLst>
          </p:cNvPr>
          <p:cNvSpPr>
            <a:spLocks noGrp="1"/>
          </p:cNvSpPr>
          <p:nvPr>
            <p:ph idx="1"/>
          </p:nvPr>
        </p:nvSpPr>
        <p:spPr>
          <a:xfrm>
            <a:off x="457200" y="1163637"/>
            <a:ext cx="8229600" cy="4530725"/>
          </a:xfrm>
        </p:spPr>
        <p:txBody>
          <a:bodyPr/>
          <a:lstStyle/>
          <a:p>
            <a:r>
              <a:rPr lang="zh-CN" altLang="en-US" dirty="0">
                <a:latin typeface="宋体" panose="02010600030101010101" pitchFamily="2" charset="-122"/>
                <a:ea typeface="宋体" panose="02010600030101010101" pitchFamily="2" charset="-122"/>
              </a:rPr>
              <a:t>适用于单处理器或者共享主存的多处理器中</a:t>
            </a:r>
            <a:r>
              <a:rPr lang="zh-CN" altLang="en-US" dirty="0">
                <a:solidFill>
                  <a:srgbClr val="FF0000"/>
                </a:solidFill>
                <a:latin typeface="宋体" panose="02010600030101010101" pitchFamily="2" charset="-122"/>
                <a:ea typeface="宋体" panose="02010600030101010101" pitchFamily="2" charset="-122"/>
              </a:rPr>
              <a:t>任意数量的进程。</a:t>
            </a:r>
            <a:endParaRPr lang="en-US" altLang="zh-CN" dirty="0">
              <a:solidFill>
                <a:srgbClr val="FF0000"/>
              </a:solidFill>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简单并且容易证明</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可以用于支持多临界区</a:t>
            </a:r>
          </a:p>
        </p:txBody>
      </p:sp>
    </p:spTree>
    <p:extLst>
      <p:ext uri="{BB962C8B-B14F-4D97-AF65-F5344CB8AC3E}">
        <p14:creationId xmlns:p14="http://schemas.microsoft.com/office/powerpoint/2010/main" val="2978070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E4A983-367A-49FC-8944-F33291588720}"/>
              </a:ext>
            </a:extLst>
          </p:cNvPr>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原子操作的缺点</a:t>
            </a:r>
          </a:p>
        </p:txBody>
      </p:sp>
      <p:sp>
        <p:nvSpPr>
          <p:cNvPr id="3" name="内容占位符 2">
            <a:extLst>
              <a:ext uri="{FF2B5EF4-FFF2-40B4-BE49-F238E27FC236}">
                <a16:creationId xmlns:a16="http://schemas.microsoft.com/office/drawing/2014/main" id="{E3DFDF27-B7B6-4009-BC8F-DF2FB0833D0E}"/>
              </a:ext>
            </a:extLst>
          </p:cNvPr>
          <p:cNvSpPr>
            <a:spLocks noGrp="1"/>
          </p:cNvSpPr>
          <p:nvPr>
            <p:ph idx="1"/>
          </p:nvPr>
        </p:nvSpPr>
        <p:spPr>
          <a:xfrm>
            <a:off x="457200" y="1163637"/>
            <a:ext cx="8229600" cy="4530725"/>
          </a:xfrm>
        </p:spPr>
        <p:txBody>
          <a:bodyPr/>
          <a:lstStyle/>
          <a:p>
            <a:r>
              <a:rPr lang="zh-CN" altLang="en-US" dirty="0">
                <a:latin typeface="宋体" panose="02010600030101010101" pitchFamily="2" charset="-122"/>
                <a:ea typeface="宋体" panose="02010600030101010101" pitchFamily="2" charset="-122"/>
              </a:rPr>
              <a:t>忙等待消耗处理器时间</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当进程离开临界区并且多个进程在等待的时候可能导致饥饿</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死锁：</a:t>
            </a:r>
            <a:endParaRPr lang="en-US" altLang="zh-CN" dirty="0">
              <a:latin typeface="宋体" panose="02010600030101010101" pitchFamily="2" charset="-122"/>
              <a:ea typeface="宋体" panose="02010600030101010101" pitchFamily="2" charset="-122"/>
            </a:endParaRPr>
          </a:p>
          <a:p>
            <a:pPr lvl="1"/>
            <a:r>
              <a:rPr lang="zh-CN" altLang="en-US" dirty="0">
                <a:latin typeface="宋体" panose="02010600030101010101" pitchFamily="2" charset="-122"/>
                <a:ea typeface="宋体" panose="02010600030101010101" pitchFamily="2" charset="-122"/>
              </a:rPr>
              <a:t>如果一个低优先级的进程拥有临界区，但同时一个高优先级进程也有需求，那么高优先级进程会获得处理器，但不得不等待临界区</a:t>
            </a:r>
          </a:p>
        </p:txBody>
      </p:sp>
    </p:spTree>
    <p:extLst>
      <p:ext uri="{BB962C8B-B14F-4D97-AF65-F5344CB8AC3E}">
        <p14:creationId xmlns:p14="http://schemas.microsoft.com/office/powerpoint/2010/main" val="1772585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F297A5-2B50-4AEB-9E98-BF90D6BDF00E}"/>
              </a:ext>
            </a:extLst>
          </p:cNvPr>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禁用中断</a:t>
            </a:r>
          </a:p>
        </p:txBody>
      </p:sp>
      <p:sp>
        <p:nvSpPr>
          <p:cNvPr id="3" name="内容占位符 2">
            <a:extLst>
              <a:ext uri="{FF2B5EF4-FFF2-40B4-BE49-F238E27FC236}">
                <a16:creationId xmlns:a16="http://schemas.microsoft.com/office/drawing/2014/main" id="{96699585-37F0-45A1-B91E-06B0B0B0B228}"/>
              </a:ext>
            </a:extLst>
          </p:cNvPr>
          <p:cNvSpPr>
            <a:spLocks noGrp="1"/>
          </p:cNvSpPr>
          <p:nvPr>
            <p:ph idx="1"/>
          </p:nvPr>
        </p:nvSpPr>
        <p:spPr>
          <a:xfrm>
            <a:off x="457200" y="1163637"/>
            <a:ext cx="8549640" cy="4530725"/>
          </a:xfrm>
        </p:spPr>
        <p:txBody>
          <a:bodyPr/>
          <a:lstStyle/>
          <a:p>
            <a:r>
              <a:rPr lang="zh-CN" altLang="en-US" dirty="0">
                <a:latin typeface="宋体" panose="02010600030101010101" pitchFamily="2" charset="-122"/>
                <a:ea typeface="宋体" panose="02010600030101010101" pitchFamily="2" charset="-122"/>
              </a:rPr>
              <a:t>没有中断，没有上下文切换，因此没有并发</a:t>
            </a:r>
            <a:endParaRPr lang="en-US" altLang="zh-CN" dirty="0">
              <a:latin typeface="宋体" panose="02010600030101010101" pitchFamily="2" charset="-122"/>
              <a:ea typeface="宋体" panose="02010600030101010101" pitchFamily="2" charset="-122"/>
            </a:endParaRPr>
          </a:p>
          <a:p>
            <a:pPr lvl="1"/>
            <a:r>
              <a:rPr lang="zh-CN" altLang="en-US" dirty="0">
                <a:latin typeface="宋体" panose="02010600030101010101" pitchFamily="2" charset="-122"/>
                <a:ea typeface="宋体" panose="02010600030101010101" pitchFamily="2" charset="-122"/>
              </a:rPr>
              <a:t>硬件将中断处理延迟到中断被启用之后</a:t>
            </a:r>
            <a:endParaRPr lang="en-US" altLang="zh-CN" dirty="0">
              <a:latin typeface="宋体" panose="02010600030101010101" pitchFamily="2" charset="-122"/>
              <a:ea typeface="宋体" panose="02010600030101010101" pitchFamily="2" charset="-122"/>
            </a:endParaRPr>
          </a:p>
          <a:p>
            <a:pPr lvl="1"/>
            <a:r>
              <a:rPr lang="zh-CN" altLang="en-US" dirty="0">
                <a:latin typeface="宋体" panose="02010600030101010101" pitchFamily="2" charset="-122"/>
                <a:ea typeface="宋体" panose="02010600030101010101" pitchFamily="2" charset="-122"/>
              </a:rPr>
              <a:t>大多数现代计算机体系结构都提供指令来完成</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进入临界区</a:t>
            </a:r>
            <a:endParaRPr lang="en-US" altLang="zh-CN" dirty="0">
              <a:latin typeface="宋体" panose="02010600030101010101" pitchFamily="2" charset="-122"/>
              <a:ea typeface="宋体" panose="02010600030101010101" pitchFamily="2" charset="-122"/>
            </a:endParaRPr>
          </a:p>
          <a:p>
            <a:pPr lvl="1"/>
            <a:r>
              <a:rPr lang="zh-CN" altLang="en-US" dirty="0">
                <a:latin typeface="宋体" panose="02010600030101010101" pitchFamily="2" charset="-122"/>
                <a:ea typeface="宋体" panose="02010600030101010101" pitchFamily="2" charset="-122"/>
              </a:rPr>
              <a:t>禁用中断</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离开临界区</a:t>
            </a:r>
            <a:endParaRPr lang="en-US" altLang="zh-CN" dirty="0">
              <a:latin typeface="宋体" panose="02010600030101010101" pitchFamily="2" charset="-122"/>
              <a:ea typeface="宋体" panose="02010600030101010101" pitchFamily="2" charset="-122"/>
            </a:endParaRPr>
          </a:p>
          <a:p>
            <a:pPr lvl="1"/>
            <a:r>
              <a:rPr lang="zh-CN" altLang="en-US" dirty="0">
                <a:latin typeface="宋体" panose="02010600030101010101" pitchFamily="2" charset="-122"/>
                <a:ea typeface="宋体" panose="02010600030101010101" pitchFamily="2" charset="-122"/>
              </a:rPr>
              <a:t>开启中断</a:t>
            </a:r>
            <a:endParaRPr lang="en-US" altLang="zh-CN" dirty="0">
              <a:latin typeface="宋体" panose="02010600030101010101" pitchFamily="2" charset="-122"/>
              <a:ea typeface="宋体" panose="02010600030101010101" pitchFamily="2" charset="-122"/>
            </a:endParaRPr>
          </a:p>
          <a:p>
            <a:pPr lvl="1"/>
            <a:endParaRPr lang="zh-CN" altLang="en-US"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600792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F297A5-2B50-4AEB-9E98-BF90D6BDF00E}"/>
              </a:ext>
            </a:extLst>
          </p:cNvPr>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禁用中断缺点</a:t>
            </a:r>
          </a:p>
        </p:txBody>
      </p:sp>
      <p:sp>
        <p:nvSpPr>
          <p:cNvPr id="3" name="内容占位符 2">
            <a:extLst>
              <a:ext uri="{FF2B5EF4-FFF2-40B4-BE49-F238E27FC236}">
                <a16:creationId xmlns:a16="http://schemas.microsoft.com/office/drawing/2014/main" id="{96699585-37F0-45A1-B91E-06B0B0B0B228}"/>
              </a:ext>
            </a:extLst>
          </p:cNvPr>
          <p:cNvSpPr>
            <a:spLocks noGrp="1"/>
          </p:cNvSpPr>
          <p:nvPr>
            <p:ph idx="1"/>
          </p:nvPr>
        </p:nvSpPr>
        <p:spPr>
          <a:xfrm>
            <a:off x="623570" y="1163637"/>
            <a:ext cx="8229600" cy="4530725"/>
          </a:xfrm>
        </p:spPr>
        <p:txBody>
          <a:bodyPr/>
          <a:lstStyle/>
          <a:p>
            <a:r>
              <a:rPr lang="zh-CN" altLang="en-US" dirty="0">
                <a:latin typeface="宋体" panose="02010600030101010101" pitchFamily="2" charset="-122"/>
                <a:ea typeface="宋体" panose="02010600030101010101" pitchFamily="2" charset="-122"/>
              </a:rPr>
              <a:t>一旦中断被禁用</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线程就无法被停止</a:t>
            </a:r>
            <a:endParaRPr lang="en-US" altLang="zh-CN" dirty="0">
              <a:latin typeface="宋体" panose="02010600030101010101" pitchFamily="2" charset="-122"/>
              <a:ea typeface="宋体" panose="02010600030101010101" pitchFamily="2" charset="-122"/>
            </a:endParaRPr>
          </a:p>
          <a:p>
            <a:pPr lvl="1"/>
            <a:r>
              <a:rPr lang="zh-CN" altLang="en-US" dirty="0">
                <a:latin typeface="宋体" panose="02010600030101010101" pitchFamily="2" charset="-122"/>
                <a:ea typeface="宋体" panose="02010600030101010101" pitchFamily="2" charset="-122"/>
              </a:rPr>
              <a:t>整个系统都会为该线程停下来</a:t>
            </a:r>
            <a:endParaRPr lang="en-US" altLang="zh-CN" dirty="0">
              <a:latin typeface="宋体" panose="02010600030101010101" pitchFamily="2" charset="-122"/>
              <a:ea typeface="宋体" panose="02010600030101010101" pitchFamily="2" charset="-122"/>
            </a:endParaRPr>
          </a:p>
          <a:p>
            <a:pPr lvl="1"/>
            <a:r>
              <a:rPr lang="zh-CN" altLang="en-US" dirty="0">
                <a:latin typeface="宋体" panose="02010600030101010101" pitchFamily="2" charset="-122"/>
                <a:ea typeface="宋体" panose="02010600030101010101" pitchFamily="2" charset="-122"/>
              </a:rPr>
              <a:t>可能导致其他线程处于饥饿状态</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如果临界区可以任意长：</a:t>
            </a:r>
            <a:endParaRPr lang="en-US" altLang="zh-CN" dirty="0">
              <a:latin typeface="宋体" panose="02010600030101010101" pitchFamily="2" charset="-122"/>
              <a:ea typeface="宋体" panose="02010600030101010101" pitchFamily="2" charset="-122"/>
            </a:endParaRPr>
          </a:p>
          <a:p>
            <a:pPr lvl="1"/>
            <a:r>
              <a:rPr lang="zh-CN" altLang="en-US" dirty="0">
                <a:latin typeface="宋体" panose="02010600030101010101" pitchFamily="2" charset="-122"/>
                <a:ea typeface="宋体" panose="02010600030101010101" pitchFamily="2" charset="-122"/>
              </a:rPr>
              <a:t>无法限制响应中断所需的时间</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只能禁用该</a:t>
            </a:r>
            <a:r>
              <a:rPr lang="en-US" altLang="zh-CN" dirty="0">
                <a:latin typeface="宋体" panose="02010600030101010101" pitchFamily="2" charset="-122"/>
                <a:ea typeface="宋体" panose="02010600030101010101" pitchFamily="2" charset="-122"/>
              </a:rPr>
              <a:t>CPU</a:t>
            </a:r>
            <a:r>
              <a:rPr lang="zh-CN" altLang="en-US" dirty="0">
                <a:latin typeface="宋体" panose="02010600030101010101" pitchFamily="2" charset="-122"/>
                <a:ea typeface="宋体" panose="02010600030101010101" pitchFamily="2" charset="-122"/>
              </a:rPr>
              <a:t>自己的中断指令，无法控制其他</a:t>
            </a:r>
            <a:r>
              <a:rPr lang="en-US" altLang="zh-CN" dirty="0">
                <a:latin typeface="宋体" panose="02010600030101010101" pitchFamily="2" charset="-122"/>
                <a:ea typeface="宋体" panose="02010600030101010101" pitchFamily="2" charset="-122"/>
              </a:rPr>
              <a:t>CPU</a:t>
            </a:r>
            <a:r>
              <a:rPr lang="zh-CN" altLang="en-US" dirty="0">
                <a:latin typeface="宋体" panose="02010600030101010101" pitchFamily="2" charset="-122"/>
                <a:ea typeface="宋体" panose="02010600030101010101" pitchFamily="2" charset="-122"/>
              </a:rPr>
              <a:t>的中断指令，仍然存在隐患</a:t>
            </a:r>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pPr lvl="1"/>
            <a:endParaRPr lang="en-US" altLang="zh-CN" dirty="0">
              <a:latin typeface="宋体" panose="02010600030101010101" pitchFamily="2" charset="-122"/>
              <a:ea typeface="宋体" panose="02010600030101010101" pitchFamily="2" charset="-122"/>
            </a:endParaRPr>
          </a:p>
          <a:p>
            <a:pPr lvl="1"/>
            <a:endParaRPr lang="zh-CN" altLang="en-US"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573131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1"/>
          <p:cNvSpPr>
            <a:spLocks noGrp="1"/>
          </p:cNvSpPr>
          <p:nvPr>
            <p:ph type="title"/>
          </p:nvPr>
        </p:nvSpPr>
        <p:spPr>
          <a:ln/>
        </p:spPr>
        <p:txBody>
          <a:bodyPr anchor="b" anchorCtr="0"/>
          <a:lstStyle/>
          <a:p>
            <a:r>
              <a:rPr lang="en-US" altLang="zh-CN"/>
              <a:t>An example</a:t>
            </a:r>
          </a:p>
        </p:txBody>
      </p:sp>
      <p:sp>
        <p:nvSpPr>
          <p:cNvPr id="72706" name="内容占位符 2"/>
          <p:cNvSpPr>
            <a:spLocks noGrp="1"/>
          </p:cNvSpPr>
          <p:nvPr>
            <p:ph idx="1"/>
          </p:nvPr>
        </p:nvSpPr>
        <p:spPr>
          <a:xfrm>
            <a:off x="542925" y="1048068"/>
            <a:ext cx="8229600" cy="4530725"/>
          </a:xfrm>
          <a:ln/>
        </p:spPr>
        <p:txBody>
          <a:bodyPr anchor="t" anchorCtr="0"/>
          <a:lstStyle/>
          <a:p>
            <a:r>
              <a:rPr lang="zh-CN" altLang="en-US" sz="2800" dirty="0">
                <a:ea typeface="宋体" panose="02010600030101010101" pitchFamily="2" charset="-122"/>
              </a:rPr>
              <a:t>当队列中有</a:t>
            </a:r>
            <a:r>
              <a:rPr lang="en-US" altLang="zh-CN" sz="2800" dirty="0">
                <a:ea typeface="宋体" panose="02010600030101010101" pitchFamily="2" charset="-122"/>
              </a:rPr>
              <a:t>n</a:t>
            </a:r>
            <a:r>
              <a:rPr lang="zh-CN" altLang="en-US" sz="2800" dirty="0">
                <a:ea typeface="宋体" panose="02010600030101010101" pitchFamily="2" charset="-122"/>
              </a:rPr>
              <a:t>个进程</a:t>
            </a:r>
            <a:r>
              <a:rPr lang="en-US" altLang="zh-CN" sz="2800" dirty="0">
                <a:ea typeface="宋体" panose="02010600030101010101" pitchFamily="2" charset="-122"/>
              </a:rPr>
              <a:t>p</a:t>
            </a:r>
            <a:r>
              <a:rPr lang="en-US" altLang="zh-CN" sz="2000" dirty="0">
                <a:ea typeface="宋体" panose="02010600030101010101" pitchFamily="2" charset="-122"/>
              </a:rPr>
              <a:t>0</a:t>
            </a:r>
            <a:r>
              <a:rPr lang="en-US" altLang="zh-CN" sz="2800" dirty="0">
                <a:ea typeface="宋体" panose="02010600030101010101" pitchFamily="2" charset="-122"/>
              </a:rPr>
              <a:t>,p</a:t>
            </a:r>
            <a:r>
              <a:rPr lang="en-US" altLang="zh-CN" sz="2000" dirty="0">
                <a:ea typeface="宋体" panose="02010600030101010101" pitchFamily="2" charset="-122"/>
              </a:rPr>
              <a:t>2</a:t>
            </a:r>
            <a:r>
              <a:rPr lang="en-US" altLang="zh-CN" sz="2800">
                <a:ea typeface="宋体" panose="02010600030101010101" pitchFamily="2" charset="-122"/>
              </a:rPr>
              <a:t>,...p</a:t>
            </a:r>
            <a:r>
              <a:rPr lang="en-US" altLang="zh-CN" sz="2000">
                <a:ea typeface="宋体" panose="02010600030101010101" pitchFamily="2" charset="-122"/>
              </a:rPr>
              <a:t>n-1</a:t>
            </a:r>
            <a:r>
              <a:rPr lang="en-US" altLang="zh-CN" sz="2800">
                <a:ea typeface="宋体" panose="02010600030101010101" pitchFamily="2" charset="-122"/>
              </a:rPr>
              <a:t>,</a:t>
            </a:r>
            <a:r>
              <a:rPr lang="zh-CN" altLang="en-US" sz="2800" dirty="0">
                <a:ea typeface="宋体" panose="02010600030101010101" pitchFamily="2" charset="-122"/>
              </a:rPr>
              <a:t>如何管理他们的临界区？用原语写出一段访问临界资源的代码。</a:t>
            </a:r>
          </a:p>
        </p:txBody>
      </p:sp>
      <p:sp>
        <p:nvSpPr>
          <p:cNvPr id="3" name="文本框 2"/>
          <p:cNvSpPr txBox="1"/>
          <p:nvPr/>
        </p:nvSpPr>
        <p:spPr>
          <a:xfrm>
            <a:off x="2192216" y="1850732"/>
            <a:ext cx="6237898" cy="4569460"/>
          </a:xfrm>
          <a:prstGeom prst="rect">
            <a:avLst/>
          </a:prstGeom>
          <a:noFill/>
        </p:spPr>
        <p:txBody>
          <a:bodyPr wrap="square" rtlCol="0" anchor="t">
            <a:spAutoFit/>
          </a:bodyPr>
          <a:lstStyle/>
          <a:p>
            <a:pPr defTabSz="914400">
              <a:lnSpc>
                <a:spcPct val="90000"/>
              </a:lnSpc>
              <a:buNone/>
              <a:tabLst>
                <a:tab pos="744855" algn="l"/>
                <a:tab pos="1025525" algn="l"/>
                <a:tab pos="1260475" algn="l"/>
              </a:tabLst>
            </a:pPr>
            <a:r>
              <a:rPr lang="en-US" altLang="zh-CN" sz="1800" dirty="0">
                <a:ea typeface="宋体" panose="02010600030101010101" pitchFamily="2" charset="-122"/>
                <a:sym typeface="+mn-ea"/>
              </a:rPr>
              <a:t> </a:t>
            </a:r>
            <a:r>
              <a:rPr lang="en-US" altLang="zh-CN" sz="1800" b="1" dirty="0">
                <a:solidFill>
                  <a:srgbClr val="0000FF"/>
                </a:solidFill>
                <a:ea typeface="宋体" panose="02010600030101010101" pitchFamily="2" charset="-122"/>
                <a:sym typeface="+mn-ea"/>
              </a:rPr>
              <a:t>do {</a:t>
            </a:r>
            <a:endParaRPr lang="en-US" altLang="zh-CN" sz="1800" b="1" dirty="0">
              <a:solidFill>
                <a:srgbClr val="0000FF"/>
              </a:solidFill>
              <a:ea typeface="宋体" panose="02010600030101010101" pitchFamily="2" charset="-122"/>
            </a:endParaRPr>
          </a:p>
          <a:p>
            <a:pPr defTabSz="914400">
              <a:lnSpc>
                <a:spcPct val="90000"/>
              </a:lnSpc>
              <a:buNone/>
              <a:tabLst>
                <a:tab pos="744855" algn="l"/>
                <a:tab pos="1025525" algn="l"/>
                <a:tab pos="1260475" algn="l"/>
              </a:tabLst>
            </a:pPr>
            <a:r>
              <a:rPr lang="en-US" altLang="zh-CN" sz="1800" b="1" dirty="0">
                <a:solidFill>
                  <a:srgbClr val="0000FF"/>
                </a:solidFill>
                <a:ea typeface="宋体" panose="02010600030101010101" pitchFamily="2" charset="-122"/>
                <a:sym typeface="+mn-ea"/>
              </a:rPr>
              <a:t>       	waiting[i]=true;</a:t>
            </a:r>
          </a:p>
          <a:p>
            <a:pPr defTabSz="914400">
              <a:lnSpc>
                <a:spcPct val="90000"/>
              </a:lnSpc>
              <a:buNone/>
              <a:tabLst>
                <a:tab pos="744855" algn="l"/>
                <a:tab pos="1025525" algn="l"/>
                <a:tab pos="1260475" algn="l"/>
              </a:tabLst>
            </a:pPr>
            <a:r>
              <a:rPr lang="en-US" altLang="zh-CN" sz="1800" b="1" dirty="0">
                <a:solidFill>
                  <a:srgbClr val="0000FF"/>
                </a:solidFill>
                <a:ea typeface="宋体" panose="02010600030101010101" pitchFamily="2" charset="-122"/>
                <a:sym typeface="+mn-ea"/>
              </a:rPr>
              <a:t>	key = true;</a:t>
            </a:r>
          </a:p>
          <a:p>
            <a:pPr defTabSz="914400">
              <a:lnSpc>
                <a:spcPct val="90000"/>
              </a:lnSpc>
              <a:buNone/>
              <a:tabLst>
                <a:tab pos="744855" algn="l"/>
                <a:tab pos="1025525" algn="l"/>
                <a:tab pos="1260475" algn="l"/>
              </a:tabLst>
            </a:pPr>
            <a:r>
              <a:rPr lang="en-US" altLang="zh-CN" sz="1800" b="1" dirty="0">
                <a:solidFill>
                  <a:srgbClr val="0000FF"/>
                </a:solidFill>
                <a:ea typeface="宋体" panose="02010600030101010101" pitchFamily="2" charset="-122"/>
                <a:sym typeface="+mn-ea"/>
              </a:rPr>
              <a:t>         while (waiting[i] &amp;&amp; key)</a:t>
            </a:r>
            <a:endParaRPr lang="en-US" altLang="zh-CN" sz="1800" b="1" dirty="0">
              <a:solidFill>
                <a:srgbClr val="0000FF"/>
              </a:solidFill>
              <a:ea typeface="宋体" panose="02010600030101010101" pitchFamily="2" charset="-122"/>
            </a:endParaRPr>
          </a:p>
          <a:p>
            <a:pPr defTabSz="914400">
              <a:lnSpc>
                <a:spcPct val="90000"/>
              </a:lnSpc>
              <a:buNone/>
              <a:tabLst>
                <a:tab pos="744855" algn="l"/>
                <a:tab pos="1025525" algn="l"/>
                <a:tab pos="1260475" algn="l"/>
              </a:tabLst>
            </a:pPr>
            <a:r>
              <a:rPr lang="en-US" altLang="zh-CN" sz="1800" b="1" dirty="0">
                <a:solidFill>
                  <a:srgbClr val="0000FF"/>
                </a:solidFill>
                <a:ea typeface="宋体" panose="02010600030101010101" pitchFamily="2" charset="-122"/>
                <a:sym typeface="+mn-ea"/>
              </a:rPr>
              <a:t>               key=TestAndSet (&amp;lock);      </a:t>
            </a:r>
            <a:endParaRPr lang="en-US" altLang="zh-CN" sz="1800" b="1" dirty="0">
              <a:solidFill>
                <a:srgbClr val="0000FF"/>
              </a:solidFill>
              <a:ea typeface="宋体" panose="02010600030101010101" pitchFamily="2" charset="-122"/>
            </a:endParaRPr>
          </a:p>
          <a:p>
            <a:pPr defTabSz="914400">
              <a:lnSpc>
                <a:spcPct val="90000"/>
              </a:lnSpc>
              <a:buNone/>
              <a:tabLst>
                <a:tab pos="744855" algn="l"/>
                <a:tab pos="1025525" algn="l"/>
                <a:tab pos="1260475" algn="l"/>
              </a:tabLst>
            </a:pPr>
            <a:r>
              <a:rPr lang="en-US" altLang="zh-CN" sz="1800" b="1" dirty="0">
                <a:solidFill>
                  <a:srgbClr val="0000FF"/>
                </a:solidFill>
                <a:ea typeface="宋体" panose="02010600030101010101" pitchFamily="2" charset="-122"/>
                <a:sym typeface="+mn-ea"/>
              </a:rPr>
              <a:t>          </a:t>
            </a:r>
          </a:p>
          <a:p>
            <a:pPr defTabSz="914400">
              <a:lnSpc>
                <a:spcPct val="90000"/>
              </a:lnSpc>
              <a:buNone/>
              <a:tabLst>
                <a:tab pos="744855" algn="l"/>
                <a:tab pos="1025525" algn="l"/>
                <a:tab pos="1260475" algn="l"/>
              </a:tabLst>
            </a:pPr>
            <a:r>
              <a:rPr lang="en-US" altLang="zh-CN" sz="1800" b="1" dirty="0">
                <a:solidFill>
                  <a:srgbClr val="0000FF"/>
                </a:solidFill>
                <a:ea typeface="宋体" panose="02010600030101010101" pitchFamily="2" charset="-122"/>
                <a:sym typeface="+mn-ea"/>
              </a:rPr>
              <a:t>	//    critical section</a:t>
            </a:r>
            <a:endParaRPr lang="en-US" altLang="zh-CN" sz="1800" b="1" dirty="0">
              <a:solidFill>
                <a:srgbClr val="0000FF"/>
              </a:solidFill>
              <a:ea typeface="宋体" panose="02010600030101010101" pitchFamily="2" charset="-122"/>
            </a:endParaRPr>
          </a:p>
          <a:p>
            <a:pPr defTabSz="914400">
              <a:lnSpc>
                <a:spcPct val="90000"/>
              </a:lnSpc>
              <a:buNone/>
              <a:tabLst>
                <a:tab pos="744855" algn="l"/>
                <a:tab pos="1025525" algn="l"/>
                <a:tab pos="1260475" algn="l"/>
              </a:tabLst>
            </a:pPr>
            <a:endParaRPr lang="en-US" altLang="zh-CN" sz="1800" b="1" dirty="0">
              <a:solidFill>
                <a:srgbClr val="0000FF"/>
              </a:solidFill>
              <a:ea typeface="宋体" panose="02010600030101010101" pitchFamily="2" charset="-122"/>
            </a:endParaRPr>
          </a:p>
          <a:p>
            <a:pPr defTabSz="914400">
              <a:lnSpc>
                <a:spcPct val="90000"/>
              </a:lnSpc>
              <a:buNone/>
              <a:tabLst>
                <a:tab pos="744855" algn="l"/>
                <a:tab pos="1025525" algn="l"/>
                <a:tab pos="1260475" algn="l"/>
              </a:tabLst>
            </a:pPr>
            <a:r>
              <a:rPr lang="en-US" altLang="zh-CN" sz="1800" b="1" dirty="0">
                <a:solidFill>
                  <a:srgbClr val="0000FF"/>
                </a:solidFill>
                <a:ea typeface="宋体" panose="02010600030101010101" pitchFamily="2" charset="-122"/>
                <a:sym typeface="+mn-ea"/>
              </a:rPr>
              <a:t>          j=(i+1) % n;</a:t>
            </a:r>
          </a:p>
          <a:p>
            <a:pPr defTabSz="914400">
              <a:lnSpc>
                <a:spcPct val="90000"/>
              </a:lnSpc>
              <a:buNone/>
              <a:tabLst>
                <a:tab pos="744855" algn="l"/>
                <a:tab pos="1025525" algn="l"/>
                <a:tab pos="1260475" algn="l"/>
              </a:tabLst>
            </a:pPr>
            <a:r>
              <a:rPr lang="en-US" altLang="zh-CN" sz="1800" b="1" dirty="0">
                <a:solidFill>
                  <a:srgbClr val="0000FF"/>
                </a:solidFill>
                <a:ea typeface="宋体" panose="02010600030101010101" pitchFamily="2" charset="-122"/>
                <a:sym typeface="+mn-ea"/>
              </a:rPr>
              <a:t>	while((j != i)) &amp;&amp; !waiting[j]</a:t>
            </a:r>
          </a:p>
          <a:p>
            <a:pPr defTabSz="914400">
              <a:lnSpc>
                <a:spcPct val="90000"/>
              </a:lnSpc>
              <a:buNone/>
              <a:tabLst>
                <a:tab pos="744855" algn="l"/>
                <a:tab pos="1025525" algn="l"/>
                <a:tab pos="1260475" algn="l"/>
              </a:tabLst>
            </a:pPr>
            <a:r>
              <a:rPr lang="en-US" altLang="zh-CN" sz="1800" b="1" dirty="0">
                <a:solidFill>
                  <a:srgbClr val="0000FF"/>
                </a:solidFill>
                <a:ea typeface="宋体" panose="02010600030101010101" pitchFamily="2" charset="-122"/>
                <a:sym typeface="+mn-ea"/>
              </a:rPr>
              <a:t>		j=(j+1) % n;</a:t>
            </a:r>
            <a:endParaRPr lang="en-US" altLang="zh-CN" sz="1800" b="1" dirty="0">
              <a:solidFill>
                <a:srgbClr val="0000FF"/>
              </a:solidFill>
              <a:ea typeface="宋体" panose="02010600030101010101" pitchFamily="2" charset="-122"/>
            </a:endParaRPr>
          </a:p>
          <a:p>
            <a:pPr defTabSz="914400">
              <a:lnSpc>
                <a:spcPct val="90000"/>
              </a:lnSpc>
              <a:buNone/>
              <a:tabLst>
                <a:tab pos="744855" algn="l"/>
                <a:tab pos="1025525" algn="l"/>
                <a:tab pos="1260475" algn="l"/>
              </a:tabLst>
            </a:pPr>
            <a:endParaRPr lang="en-US" altLang="zh-CN" sz="1800" b="1" dirty="0">
              <a:solidFill>
                <a:srgbClr val="0000FF"/>
              </a:solidFill>
              <a:ea typeface="宋体" panose="02010600030101010101" pitchFamily="2" charset="-122"/>
            </a:endParaRPr>
          </a:p>
          <a:p>
            <a:pPr defTabSz="914400">
              <a:lnSpc>
                <a:spcPct val="90000"/>
              </a:lnSpc>
              <a:buNone/>
              <a:tabLst>
                <a:tab pos="744855" algn="l"/>
                <a:tab pos="1025525" algn="l"/>
                <a:tab pos="1260475" algn="l"/>
              </a:tabLst>
            </a:pPr>
            <a:r>
              <a:rPr lang="en-US" altLang="zh-CN" sz="1800" b="1" dirty="0">
                <a:solidFill>
                  <a:srgbClr val="0000FF"/>
                </a:solidFill>
                <a:ea typeface="宋体" panose="02010600030101010101" pitchFamily="2" charset="-122"/>
                <a:sym typeface="+mn-ea"/>
              </a:rPr>
              <a:t>         if(j == i) </a:t>
            </a:r>
          </a:p>
          <a:p>
            <a:pPr defTabSz="914400">
              <a:lnSpc>
                <a:spcPct val="90000"/>
              </a:lnSpc>
              <a:buNone/>
              <a:tabLst>
                <a:tab pos="744855" algn="l"/>
                <a:tab pos="1025525" algn="l"/>
                <a:tab pos="1260475" algn="l"/>
              </a:tabLst>
            </a:pPr>
            <a:r>
              <a:rPr lang="en-US" altLang="zh-CN" sz="1800" b="1" dirty="0">
                <a:solidFill>
                  <a:srgbClr val="0000FF"/>
                </a:solidFill>
                <a:ea typeface="宋体" panose="02010600030101010101" pitchFamily="2" charset="-122"/>
                <a:sym typeface="+mn-ea"/>
              </a:rPr>
              <a:t>		lock=false;</a:t>
            </a:r>
          </a:p>
          <a:p>
            <a:pPr defTabSz="914400">
              <a:lnSpc>
                <a:spcPct val="90000"/>
              </a:lnSpc>
              <a:buNone/>
              <a:tabLst>
                <a:tab pos="744855" algn="l"/>
                <a:tab pos="1025525" algn="l"/>
                <a:tab pos="1260475" algn="l"/>
              </a:tabLst>
            </a:pPr>
            <a:r>
              <a:rPr lang="en-US" altLang="zh-CN" sz="1800" b="1" dirty="0">
                <a:solidFill>
                  <a:srgbClr val="0000FF"/>
                </a:solidFill>
                <a:ea typeface="宋体" panose="02010600030101010101" pitchFamily="2" charset="-122"/>
                <a:sym typeface="+mn-ea"/>
              </a:rPr>
              <a:t>	else</a:t>
            </a:r>
          </a:p>
          <a:p>
            <a:pPr defTabSz="914400">
              <a:lnSpc>
                <a:spcPct val="90000"/>
              </a:lnSpc>
              <a:buNone/>
              <a:tabLst>
                <a:tab pos="744855" algn="l"/>
                <a:tab pos="1025525" algn="l"/>
                <a:tab pos="1260475" algn="l"/>
              </a:tabLst>
            </a:pPr>
            <a:r>
              <a:rPr lang="en-US" altLang="zh-CN" sz="1800" b="1" dirty="0">
                <a:solidFill>
                  <a:srgbClr val="0000FF"/>
                </a:solidFill>
                <a:ea typeface="宋体" panose="02010600030101010101" pitchFamily="2" charset="-122"/>
                <a:sym typeface="+mn-ea"/>
              </a:rPr>
              <a:t>		waiting[j]=false;</a:t>
            </a:r>
          </a:p>
          <a:p>
            <a:pPr defTabSz="914400">
              <a:lnSpc>
                <a:spcPct val="90000"/>
              </a:lnSpc>
              <a:buNone/>
              <a:tabLst>
                <a:tab pos="744855" algn="l"/>
                <a:tab pos="1025525" algn="l"/>
                <a:tab pos="1260475" algn="l"/>
              </a:tabLst>
            </a:pPr>
            <a:endParaRPr lang="en-US" altLang="zh-CN" sz="1800" b="1" dirty="0">
              <a:solidFill>
                <a:srgbClr val="0000FF"/>
              </a:solidFill>
              <a:ea typeface="宋体" panose="02010600030101010101" pitchFamily="2" charset="-122"/>
            </a:endParaRPr>
          </a:p>
          <a:p>
            <a:pPr defTabSz="914400">
              <a:lnSpc>
                <a:spcPct val="90000"/>
              </a:lnSpc>
              <a:buNone/>
              <a:tabLst>
                <a:tab pos="744855" algn="l"/>
                <a:tab pos="1025525" algn="l"/>
                <a:tab pos="1260475" algn="l"/>
              </a:tabLst>
            </a:pPr>
            <a:r>
              <a:rPr lang="en-US" altLang="zh-CN" sz="1800" b="1" dirty="0">
                <a:solidFill>
                  <a:srgbClr val="0000FF"/>
                </a:solidFill>
                <a:ea typeface="宋体" panose="02010600030101010101" pitchFamily="2" charset="-122"/>
                <a:sym typeface="+mn-ea"/>
              </a:rPr>
              <a:t>}while(true)</a:t>
            </a:r>
          </a:p>
        </p:txBody>
      </p:sp>
      <p:sp>
        <p:nvSpPr>
          <p:cNvPr id="4" name="文本框 3"/>
          <p:cNvSpPr txBox="1"/>
          <p:nvPr/>
        </p:nvSpPr>
        <p:spPr>
          <a:xfrm>
            <a:off x="5092950" y="2023685"/>
            <a:ext cx="2187080" cy="400110"/>
          </a:xfrm>
          <a:prstGeom prst="rect">
            <a:avLst/>
          </a:prstGeom>
          <a:noFill/>
        </p:spPr>
        <p:txBody>
          <a:bodyPr wrap="square" rtlCol="0">
            <a:spAutoFit/>
          </a:bodyPr>
          <a:lstStyle/>
          <a:p>
            <a:r>
              <a:rPr lang="en-US" altLang="zh-CN" b="1" dirty="0">
                <a:solidFill>
                  <a:srgbClr val="FF0000"/>
                </a:solidFill>
              </a:rPr>
              <a:t>(</a:t>
            </a:r>
            <a:r>
              <a:rPr lang="zh-CN" altLang="en-US" b="1" dirty="0">
                <a:solidFill>
                  <a:srgbClr val="FF0000"/>
                </a:solidFill>
                <a:ea typeface="宋体" panose="02010600030101010101" pitchFamily="2" charset="-122"/>
              </a:rPr>
              <a:t>想不想访问</a:t>
            </a:r>
            <a:r>
              <a:rPr lang="en-US" altLang="zh-CN" b="1" dirty="0">
                <a:solidFill>
                  <a:srgbClr val="FF0000"/>
                </a:solidFill>
              </a:rPr>
              <a:t>)</a:t>
            </a:r>
          </a:p>
        </p:txBody>
      </p:sp>
      <p:sp>
        <p:nvSpPr>
          <p:cNvPr id="5" name="文本框 4"/>
          <p:cNvSpPr txBox="1"/>
          <p:nvPr/>
        </p:nvSpPr>
        <p:spPr>
          <a:xfrm>
            <a:off x="4488430" y="2287210"/>
            <a:ext cx="2187080" cy="400110"/>
          </a:xfrm>
          <a:prstGeom prst="rect">
            <a:avLst/>
          </a:prstGeom>
          <a:noFill/>
        </p:spPr>
        <p:txBody>
          <a:bodyPr wrap="square" rtlCol="0">
            <a:spAutoFit/>
          </a:bodyPr>
          <a:lstStyle/>
          <a:p>
            <a:r>
              <a:rPr lang="en-US" altLang="zh-CN" b="1" dirty="0">
                <a:solidFill>
                  <a:srgbClr val="FF0000"/>
                </a:solidFill>
              </a:rPr>
              <a:t>(</a:t>
            </a:r>
            <a:r>
              <a:rPr lang="zh-CN" altLang="en-US" b="1" dirty="0">
                <a:solidFill>
                  <a:srgbClr val="FF0000"/>
                </a:solidFill>
                <a:ea typeface="宋体" panose="02010600030101010101" pitchFamily="2" charset="-122"/>
              </a:rPr>
              <a:t>唯一性标识</a:t>
            </a:r>
            <a:r>
              <a:rPr lang="en-US" altLang="zh-CN" b="1" dirty="0">
                <a:solidFill>
                  <a:srgbClr val="FF0000"/>
                </a:solidFill>
              </a:rPr>
              <a:t>)</a:t>
            </a:r>
          </a:p>
        </p:txBody>
      </p:sp>
      <p:sp>
        <p:nvSpPr>
          <p:cNvPr id="6" name="文本框 5"/>
          <p:cNvSpPr txBox="1"/>
          <p:nvPr/>
        </p:nvSpPr>
        <p:spPr>
          <a:xfrm>
            <a:off x="5180580" y="3028890"/>
            <a:ext cx="2187080" cy="400110"/>
          </a:xfrm>
          <a:prstGeom prst="rect">
            <a:avLst/>
          </a:prstGeom>
          <a:noFill/>
        </p:spPr>
        <p:txBody>
          <a:bodyPr wrap="square" rtlCol="0">
            <a:spAutoFit/>
          </a:bodyPr>
          <a:lstStyle/>
          <a:p>
            <a:r>
              <a:rPr lang="en-US" altLang="zh-CN" b="1" dirty="0">
                <a:solidFill>
                  <a:srgbClr val="FF0000"/>
                </a:solidFill>
              </a:rPr>
              <a:t>(</a:t>
            </a:r>
            <a:r>
              <a:rPr lang="zh-CN" altLang="en-US" b="1" dirty="0">
                <a:solidFill>
                  <a:srgbClr val="FF0000"/>
                </a:solidFill>
                <a:ea typeface="宋体" panose="02010600030101010101" pitchFamily="2" charset="-122"/>
              </a:rPr>
              <a:t>能不能访问</a:t>
            </a:r>
            <a:r>
              <a:rPr lang="en-US" altLang="zh-CN" b="1" dirty="0">
                <a:solidFill>
                  <a:srgbClr val="FF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F297A5-2B50-4AEB-9E98-BF90D6BDF00E}"/>
              </a:ext>
            </a:extLst>
          </p:cNvPr>
          <p:cNvSpPr>
            <a:spLocks noGrp="1"/>
          </p:cNvSpPr>
          <p:nvPr>
            <p:ph type="title"/>
          </p:nvPr>
        </p:nvSpPr>
        <p:spPr>
          <a:noFill/>
          <a:ln w="9525">
            <a:noFill/>
          </a:ln>
        </p:spPr>
        <p:txBody>
          <a:bodyPr anchor="b" anchorCtr="0"/>
          <a:lstStyle/>
          <a:p>
            <a:r>
              <a:rPr lang="zh-CN" altLang="en-US" dirty="0">
                <a:latin typeface="黑体" panose="02010609060101010101" pitchFamily="49" charset="-122"/>
                <a:ea typeface="黑体" panose="02010609060101010101" pitchFamily="49" charset="-122"/>
              </a:rPr>
              <a:t>临界区小结</a:t>
            </a:r>
          </a:p>
        </p:txBody>
      </p:sp>
      <p:sp>
        <p:nvSpPr>
          <p:cNvPr id="3" name="内容占位符 2">
            <a:extLst>
              <a:ext uri="{FF2B5EF4-FFF2-40B4-BE49-F238E27FC236}">
                <a16:creationId xmlns:a16="http://schemas.microsoft.com/office/drawing/2014/main" id="{96699585-37F0-45A1-B91E-06B0B0B0B228}"/>
              </a:ext>
            </a:extLst>
          </p:cNvPr>
          <p:cNvSpPr>
            <a:spLocks noGrp="1"/>
          </p:cNvSpPr>
          <p:nvPr>
            <p:ph idx="1"/>
          </p:nvPr>
        </p:nvSpPr>
        <p:spPr>
          <a:xfrm>
            <a:off x="457200" y="989648"/>
            <a:ext cx="8686800" cy="4530725"/>
          </a:xfrm>
        </p:spPr>
        <p:txBody>
          <a:bodyPr/>
          <a:lstStyle/>
          <a:p>
            <a:r>
              <a:rPr lang="zh-CN" altLang="en-US" sz="2400" dirty="0">
                <a:latin typeface="宋体" panose="02010600030101010101" pitchFamily="2" charset="-122"/>
                <a:ea typeface="宋体" panose="02010600030101010101" pitchFamily="2" charset="-122"/>
              </a:rPr>
              <a:t>锁是解决临界区问题的常用方法：</a:t>
            </a:r>
            <a:endParaRPr lang="en-US" altLang="zh-CN" sz="2400" dirty="0">
              <a:latin typeface="宋体" panose="02010600030101010101" pitchFamily="2" charset="-122"/>
              <a:ea typeface="宋体" panose="02010600030101010101" pitchFamily="2" charset="-122"/>
            </a:endParaRPr>
          </a:p>
          <a:p>
            <a:pPr lvl="1"/>
            <a:r>
              <a:rPr lang="zh-CN" altLang="en-US" sz="2400" dirty="0">
                <a:latin typeface="宋体" panose="02010600030101010101" pitchFamily="2" charset="-122"/>
                <a:ea typeface="宋体" panose="02010600030101010101" pitchFamily="2" charset="-122"/>
              </a:rPr>
              <a:t>互斥可以使用锁来实现</a:t>
            </a:r>
            <a:endParaRPr lang="en-US" altLang="zh-CN" sz="2400" dirty="0">
              <a:latin typeface="宋体" panose="02010600030101010101" pitchFamily="2" charset="-122"/>
              <a:ea typeface="宋体" panose="02010600030101010101" pitchFamily="2" charset="-122"/>
            </a:endParaRPr>
          </a:p>
          <a:p>
            <a:pPr lvl="1"/>
            <a:r>
              <a:rPr lang="zh-CN" altLang="en-US" sz="2400" dirty="0">
                <a:latin typeface="宋体" panose="02010600030101010101" pitchFamily="2" charset="-122"/>
                <a:ea typeface="宋体" panose="02010600030101010101" pitchFamily="2" charset="-122"/>
              </a:rPr>
              <a:t>通常需要一定等级的硬件支持</a:t>
            </a:r>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常用的三种实现方法：</a:t>
            </a:r>
            <a:endParaRPr lang="en-US" altLang="zh-CN" sz="2400" dirty="0">
              <a:latin typeface="宋体" panose="02010600030101010101" pitchFamily="2" charset="-122"/>
              <a:ea typeface="宋体" panose="02010600030101010101" pitchFamily="2" charset="-122"/>
            </a:endParaRPr>
          </a:p>
          <a:p>
            <a:pPr lvl="1"/>
            <a:r>
              <a:rPr lang="zh-CN" altLang="en-US" sz="2400" dirty="0">
                <a:latin typeface="宋体" panose="02010600030101010101" pitchFamily="2" charset="-122"/>
                <a:ea typeface="宋体" panose="02010600030101010101" pitchFamily="2" charset="-122"/>
              </a:rPr>
              <a:t>禁用中断（仅限于单处理器）</a:t>
            </a:r>
            <a:endParaRPr lang="en-US" altLang="zh-CN" sz="2400" dirty="0">
              <a:latin typeface="宋体" panose="02010600030101010101" pitchFamily="2" charset="-122"/>
              <a:ea typeface="宋体" panose="02010600030101010101" pitchFamily="2" charset="-122"/>
            </a:endParaRPr>
          </a:p>
          <a:p>
            <a:pPr lvl="1"/>
            <a:r>
              <a:rPr lang="zh-CN" altLang="en-US" sz="2400" dirty="0">
                <a:latin typeface="宋体" panose="02010600030101010101" pitchFamily="2" charset="-122"/>
                <a:ea typeface="宋体" panose="02010600030101010101" pitchFamily="2" charset="-122"/>
              </a:rPr>
              <a:t>软件方法（复杂）</a:t>
            </a:r>
            <a:endParaRPr lang="en-US" altLang="zh-CN" sz="2400" dirty="0">
              <a:latin typeface="宋体" panose="02010600030101010101" pitchFamily="2" charset="-122"/>
              <a:ea typeface="宋体" panose="02010600030101010101" pitchFamily="2" charset="-122"/>
            </a:endParaRPr>
          </a:p>
          <a:p>
            <a:pPr lvl="1"/>
            <a:r>
              <a:rPr lang="zh-CN" altLang="en-US" sz="2400" dirty="0">
                <a:latin typeface="宋体" panose="02010600030101010101" pitchFamily="2" charset="-122"/>
                <a:ea typeface="宋体" panose="02010600030101010101" pitchFamily="2" charset="-122"/>
              </a:rPr>
              <a:t>硬件方法（原子操作指令，单处理器或多处理器均可）</a:t>
            </a:r>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可选的实现内容：</a:t>
            </a:r>
            <a:endParaRPr lang="en-US" altLang="zh-CN" sz="2400" dirty="0">
              <a:latin typeface="宋体" panose="02010600030101010101" pitchFamily="2" charset="-122"/>
              <a:ea typeface="宋体" panose="02010600030101010101" pitchFamily="2" charset="-122"/>
            </a:endParaRPr>
          </a:p>
          <a:p>
            <a:pPr lvl="1"/>
            <a:r>
              <a:rPr lang="zh-CN" altLang="en-US" sz="2400" dirty="0">
                <a:latin typeface="宋体" panose="02010600030101010101" pitchFamily="2" charset="-122"/>
                <a:ea typeface="宋体" panose="02010600030101010101" pitchFamily="2" charset="-122"/>
              </a:rPr>
              <a:t>有忙等待</a:t>
            </a:r>
            <a:endParaRPr lang="en-US" altLang="zh-CN" sz="2400" dirty="0">
              <a:latin typeface="宋体" panose="02010600030101010101" pitchFamily="2" charset="-122"/>
              <a:ea typeface="宋体" panose="02010600030101010101" pitchFamily="2" charset="-122"/>
            </a:endParaRPr>
          </a:p>
          <a:p>
            <a:pPr lvl="1"/>
            <a:r>
              <a:rPr lang="zh-CN" altLang="en-US" sz="2400" dirty="0">
                <a:latin typeface="宋体" panose="02010600030101010101" pitchFamily="2" charset="-122"/>
                <a:ea typeface="宋体" panose="02010600030101010101" pitchFamily="2" charset="-122"/>
              </a:rPr>
              <a:t>无忙等待</a:t>
            </a:r>
          </a:p>
        </p:txBody>
      </p:sp>
    </p:spTree>
    <p:extLst>
      <p:ext uri="{BB962C8B-B14F-4D97-AF65-F5344CB8AC3E}">
        <p14:creationId xmlns:p14="http://schemas.microsoft.com/office/powerpoint/2010/main" val="1486593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本节小结</a:t>
            </a:r>
          </a:p>
        </p:txBody>
      </p:sp>
      <p:sp>
        <p:nvSpPr>
          <p:cNvPr id="9218" name="Rectangle 3"/>
          <p:cNvSpPr>
            <a:spLocks noGrp="1"/>
          </p:cNvSpPr>
          <p:nvPr>
            <p:ph idx="1"/>
          </p:nvPr>
        </p:nvSpPr>
        <p:spPr>
          <a:xfrm>
            <a:off x="563245" y="1233805"/>
            <a:ext cx="8472805" cy="4530725"/>
          </a:xfrm>
        </p:spPr>
        <p:txBody>
          <a:bodyPr vert="horz" wrap="square" lIns="91440" tIns="45720" rIns="91440" bIns="45720" anchor="t" anchorCtr="0"/>
          <a:lstStyle/>
          <a:p>
            <a:r>
              <a:rPr lang="en-US" altLang="zh-CN" sz="2400" b="1" dirty="0"/>
              <a:t>Background (race condition, </a:t>
            </a:r>
            <a:r>
              <a:rPr lang="zh-CN" altLang="en-US" sz="2400" b="1" dirty="0">
                <a:ea typeface="宋体" panose="02010600030101010101" pitchFamily="2" charset="-122"/>
              </a:rPr>
              <a:t>竞争条件</a:t>
            </a:r>
            <a:r>
              <a:rPr lang="en-US" altLang="zh-CN" sz="2400" b="1" dirty="0"/>
              <a:t>)</a:t>
            </a:r>
          </a:p>
          <a:p>
            <a:r>
              <a:rPr lang="en-US" altLang="zh-CN" sz="2400" b="1" dirty="0"/>
              <a:t>The Critical-Section Problem (</a:t>
            </a:r>
            <a:r>
              <a:rPr lang="zh-CN" altLang="en-US" sz="2400" b="1" dirty="0">
                <a:ea typeface="宋体" panose="02010600030101010101" pitchFamily="2" charset="-122"/>
              </a:rPr>
              <a:t>临界区问题</a:t>
            </a:r>
            <a:r>
              <a:rPr lang="en-US" altLang="zh-CN" sz="2400" b="1" dirty="0"/>
              <a:t>)</a:t>
            </a:r>
          </a:p>
          <a:p>
            <a:r>
              <a:rPr lang="en-US" altLang="zh-CN" sz="2400" b="1" dirty="0"/>
              <a:t>Peterson’s Solution (</a:t>
            </a:r>
            <a:r>
              <a:rPr lang="en-US" altLang="zh-CN" sz="2400" b="1"/>
              <a:t>software-based)</a:t>
            </a:r>
            <a:endParaRPr lang="en-US" altLang="zh-CN" sz="2400" b="1" dirty="0"/>
          </a:p>
          <a:p>
            <a:r>
              <a:rPr lang="en-US" altLang="zh-CN" sz="2400" b="1" dirty="0"/>
              <a:t>Synchronization Hardware (hardware-based: automic)</a:t>
            </a:r>
          </a:p>
          <a:p>
            <a:r>
              <a:rPr lang="en-US" altLang="zh-CN" sz="2400" dirty="0"/>
              <a:t>Semaphores</a:t>
            </a:r>
          </a:p>
          <a:p>
            <a:r>
              <a:rPr lang="en-US" altLang="zh-CN" sz="2400" dirty="0"/>
              <a:t>Classic Problems of Synchronization</a:t>
            </a:r>
          </a:p>
          <a:p>
            <a:r>
              <a:rPr lang="en-US" altLang="zh-CN" sz="2400" dirty="0"/>
              <a:t>Monitors</a:t>
            </a:r>
          </a:p>
          <a:p>
            <a:r>
              <a:rPr lang="en-US" altLang="zh-CN" sz="2400" dirty="0"/>
              <a:t>Synchronization Examples </a:t>
            </a:r>
          </a:p>
          <a:p>
            <a:r>
              <a:rPr lang="en-US" altLang="zh-CN" sz="2400" dirty="0"/>
              <a:t>Atomic Transactions</a:t>
            </a:r>
          </a:p>
          <a:p>
            <a:pPr>
              <a:buNone/>
            </a:pPr>
            <a:endParaRPr lang="zh-CN" alt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6B4E28-A854-4413-A3BB-2E4B34D8EC17}"/>
              </a:ext>
            </a:extLst>
          </p:cNvPr>
          <p:cNvSpPr>
            <a:spLocks noGrp="1"/>
          </p:cNvSpPr>
          <p:nvPr>
            <p:ph type="title"/>
          </p:nvPr>
        </p:nvSpPr>
        <p:spPr/>
        <p:txBody>
          <a:bodyPr/>
          <a:lstStyle/>
          <a:p>
            <a:r>
              <a:rPr lang="zh-CN" altLang="en-US" dirty="0"/>
              <a:t>习题</a:t>
            </a:r>
          </a:p>
        </p:txBody>
      </p:sp>
      <p:sp>
        <p:nvSpPr>
          <p:cNvPr id="3" name="内容占位符 2">
            <a:extLst>
              <a:ext uri="{FF2B5EF4-FFF2-40B4-BE49-F238E27FC236}">
                <a16:creationId xmlns:a16="http://schemas.microsoft.com/office/drawing/2014/main" id="{DDF3B92B-D352-4553-A2FB-5D156F28C7FF}"/>
              </a:ext>
            </a:extLst>
          </p:cNvPr>
          <p:cNvSpPr>
            <a:spLocks noGrp="1"/>
          </p:cNvSpPr>
          <p:nvPr>
            <p:ph idx="1"/>
          </p:nvPr>
        </p:nvSpPr>
        <p:spPr>
          <a:xfrm>
            <a:off x="457200" y="1163637"/>
            <a:ext cx="8229600" cy="4530725"/>
          </a:xfrm>
        </p:spPr>
        <p:txBody>
          <a:bodyPr/>
          <a:lstStyle/>
          <a:p>
            <a:r>
              <a:rPr lang="en-US" altLang="zh-CN" dirty="0">
                <a:latin typeface="黑体" panose="02010609060101010101" pitchFamily="49" charset="-122"/>
                <a:ea typeface="黑体" panose="02010609060101010101" pitchFamily="49" charset="-122"/>
              </a:rPr>
              <a:t>1. </a:t>
            </a:r>
            <a:r>
              <a:rPr lang="zh-CN" altLang="en-US" dirty="0">
                <a:latin typeface="黑体" panose="02010609060101010101" pitchFamily="49" charset="-122"/>
                <a:ea typeface="黑体" panose="02010609060101010101" pitchFamily="49" charset="-122"/>
              </a:rPr>
              <a:t>操作系统中有一组常称为特殊系统调用的程序，它不能被系统中断，在操作系统中称为（）</a:t>
            </a:r>
            <a:endParaRPr lang="en-US" altLang="zh-CN" dirty="0">
              <a:latin typeface="黑体" panose="02010609060101010101" pitchFamily="49" charset="-122"/>
              <a:ea typeface="黑体" panose="02010609060101010101" pitchFamily="49" charset="-122"/>
            </a:endParaRPr>
          </a:p>
          <a:p>
            <a:pPr marL="400050" lvl="1" indent="0">
              <a:buNone/>
            </a:pPr>
            <a:r>
              <a:rPr lang="en-US" altLang="zh-CN" dirty="0">
                <a:latin typeface="黑体" panose="02010609060101010101" pitchFamily="49" charset="-122"/>
                <a:ea typeface="黑体" panose="02010609060101010101" pitchFamily="49" charset="-122"/>
              </a:rPr>
              <a:t>A  </a:t>
            </a:r>
            <a:r>
              <a:rPr lang="zh-CN" altLang="en-US" dirty="0">
                <a:latin typeface="黑体" panose="02010609060101010101" pitchFamily="49" charset="-122"/>
                <a:ea typeface="黑体" panose="02010609060101010101" pitchFamily="49" charset="-122"/>
              </a:rPr>
              <a:t>初始化程序</a:t>
            </a:r>
            <a:endParaRPr lang="en-US" altLang="zh-CN" dirty="0">
              <a:latin typeface="黑体" panose="02010609060101010101" pitchFamily="49" charset="-122"/>
              <a:ea typeface="黑体" panose="02010609060101010101" pitchFamily="49" charset="-122"/>
            </a:endParaRPr>
          </a:p>
          <a:p>
            <a:pPr marL="400050" lvl="1" indent="0">
              <a:buNone/>
            </a:pPr>
            <a:endParaRPr lang="en-US" altLang="zh-CN" dirty="0">
              <a:latin typeface="黑体" panose="02010609060101010101" pitchFamily="49" charset="-122"/>
              <a:ea typeface="黑体" panose="02010609060101010101" pitchFamily="49" charset="-122"/>
            </a:endParaRPr>
          </a:p>
          <a:p>
            <a:pPr marL="400050" lvl="1" indent="0">
              <a:buNone/>
            </a:pPr>
            <a:r>
              <a:rPr lang="en-US" altLang="zh-CN" dirty="0">
                <a:latin typeface="黑体" panose="02010609060101010101" pitchFamily="49" charset="-122"/>
                <a:ea typeface="黑体" panose="02010609060101010101" pitchFamily="49" charset="-122"/>
              </a:rPr>
              <a:t>C  </a:t>
            </a:r>
            <a:r>
              <a:rPr lang="zh-CN" altLang="en-US" dirty="0">
                <a:latin typeface="黑体" panose="02010609060101010101" pitchFamily="49" charset="-122"/>
                <a:ea typeface="黑体" panose="02010609060101010101" pitchFamily="49" charset="-122"/>
              </a:rPr>
              <a:t>子程序</a:t>
            </a:r>
            <a:endParaRPr lang="en-US" altLang="zh-CN" dirty="0">
              <a:latin typeface="黑体" panose="02010609060101010101" pitchFamily="49" charset="-122"/>
              <a:ea typeface="黑体" panose="02010609060101010101" pitchFamily="49" charset="-122"/>
            </a:endParaRPr>
          </a:p>
          <a:p>
            <a:pPr marL="400050" lvl="1" indent="0">
              <a:buNone/>
            </a:pPr>
            <a:r>
              <a:rPr lang="en-US" altLang="zh-CN" dirty="0">
                <a:latin typeface="黑体" panose="02010609060101010101" pitchFamily="49" charset="-122"/>
                <a:ea typeface="黑体" panose="02010609060101010101" pitchFamily="49" charset="-122"/>
              </a:rPr>
              <a:t>D  </a:t>
            </a:r>
            <a:r>
              <a:rPr lang="zh-CN" altLang="en-US" dirty="0">
                <a:latin typeface="黑体" panose="02010609060101010101" pitchFamily="49" charset="-122"/>
                <a:ea typeface="黑体" panose="02010609060101010101" pitchFamily="49" charset="-122"/>
              </a:rPr>
              <a:t>控制模块</a:t>
            </a:r>
          </a:p>
        </p:txBody>
      </p:sp>
      <p:sp>
        <p:nvSpPr>
          <p:cNvPr id="4" name="矩形 3">
            <a:extLst>
              <a:ext uri="{FF2B5EF4-FFF2-40B4-BE49-F238E27FC236}">
                <a16:creationId xmlns:a16="http://schemas.microsoft.com/office/drawing/2014/main" id="{F5390CEC-3935-45C8-9FB8-1E87E327FB39}"/>
              </a:ext>
            </a:extLst>
          </p:cNvPr>
          <p:cNvSpPr/>
          <p:nvPr/>
        </p:nvSpPr>
        <p:spPr>
          <a:xfrm>
            <a:off x="864458" y="3359149"/>
            <a:ext cx="1441420" cy="523220"/>
          </a:xfrm>
          <a:prstGeom prst="rect">
            <a:avLst/>
          </a:prstGeom>
        </p:spPr>
        <p:txBody>
          <a:bodyPr wrap="none">
            <a:spAutoFit/>
          </a:bodyPr>
          <a:lstStyle/>
          <a:p>
            <a:r>
              <a:rPr kumimoji="1" lang="en-US" altLang="zh-CN" sz="2800" dirty="0">
                <a:latin typeface="黑体" panose="02010609060101010101" pitchFamily="49" charset="-122"/>
                <a:ea typeface="黑体" panose="02010609060101010101" pitchFamily="49" charset="-122"/>
              </a:rPr>
              <a:t>B  </a:t>
            </a:r>
            <a:r>
              <a:rPr kumimoji="1" lang="zh-CN" altLang="en-US" sz="2800" dirty="0">
                <a:latin typeface="黑体" panose="02010609060101010101" pitchFamily="49" charset="-122"/>
                <a:ea typeface="黑体" panose="02010609060101010101" pitchFamily="49" charset="-122"/>
              </a:rPr>
              <a:t>原语</a:t>
            </a:r>
            <a:endParaRPr kumimoji="1" lang="en-US" altLang="zh-CN" sz="28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105757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100" fill="hold"/>
                                        <p:tgtEl>
                                          <p:spTgt spid="4">
                                            <p:txEl>
                                              <p:pRg st="0" end="0"/>
                                            </p:txEl>
                                          </p:spTgt>
                                        </p:tgtEl>
                                        <p:attrNameLst>
                                          <p:attrName>style.color</p:attrName>
                                        </p:attrNameLst>
                                      </p:cBhvr>
                                      <p:to>
                                        <a:srgbClr val="FF0000"/>
                                      </p:to>
                                    </p:animClr>
                                    <p:animClr clrSpc="rgb" dir="cw">
                                      <p:cBhvr>
                                        <p:cTn id="7" dur="100" fill="hold"/>
                                        <p:tgtEl>
                                          <p:spTgt spid="4">
                                            <p:txEl>
                                              <p:pRg st="0" end="0"/>
                                            </p:txEl>
                                          </p:spTgt>
                                        </p:tgtEl>
                                        <p:attrNameLst>
                                          <p:attrName>fillcolor</p:attrName>
                                        </p:attrNameLst>
                                      </p:cBhvr>
                                      <p:to>
                                        <a:srgbClr val="FF0000"/>
                                      </p:to>
                                    </p:animClr>
                                    <p:set>
                                      <p:cBhvr>
                                        <p:cTn id="8" dur="100" fill="hold"/>
                                        <p:tgtEl>
                                          <p:spTgt spid="4">
                                            <p:txEl>
                                              <p:pRg st="0" end="0"/>
                                            </p:txEl>
                                          </p:spTgt>
                                        </p:tgtEl>
                                        <p:attrNameLst>
                                          <p:attrName>fill.type</p:attrName>
                                        </p:attrNameLst>
                                      </p:cBhvr>
                                      <p:to>
                                        <p:strVal val="solid"/>
                                      </p:to>
                                    </p:set>
                                    <p:set>
                                      <p:cBhvr>
                                        <p:cTn id="9" dur="100" fill="hold"/>
                                        <p:tgtEl>
                                          <p:spTgt spid="4">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6B4E28-A854-4413-A3BB-2E4B34D8EC17}"/>
              </a:ext>
            </a:extLst>
          </p:cNvPr>
          <p:cNvSpPr>
            <a:spLocks noGrp="1"/>
          </p:cNvSpPr>
          <p:nvPr>
            <p:ph type="title"/>
          </p:nvPr>
        </p:nvSpPr>
        <p:spPr/>
        <p:txBody>
          <a:bodyPr/>
          <a:lstStyle/>
          <a:p>
            <a:r>
              <a:rPr lang="zh-CN" altLang="en-US" dirty="0"/>
              <a:t>习题</a:t>
            </a:r>
          </a:p>
        </p:txBody>
      </p:sp>
      <p:sp>
        <p:nvSpPr>
          <p:cNvPr id="3" name="内容占位符 2">
            <a:extLst>
              <a:ext uri="{FF2B5EF4-FFF2-40B4-BE49-F238E27FC236}">
                <a16:creationId xmlns:a16="http://schemas.microsoft.com/office/drawing/2014/main" id="{DDF3B92B-D352-4553-A2FB-5D156F28C7FF}"/>
              </a:ext>
            </a:extLst>
          </p:cNvPr>
          <p:cNvSpPr>
            <a:spLocks noGrp="1"/>
          </p:cNvSpPr>
          <p:nvPr>
            <p:ph idx="1"/>
          </p:nvPr>
        </p:nvSpPr>
        <p:spPr>
          <a:xfrm>
            <a:off x="457200" y="1163637"/>
            <a:ext cx="8229600" cy="4530725"/>
          </a:xfrm>
        </p:spPr>
        <p:txBody>
          <a:bodyPr/>
          <a:lstStyle/>
          <a:p>
            <a:r>
              <a:rPr lang="en-US" altLang="zh-CN" dirty="0">
                <a:latin typeface="黑体" panose="02010609060101010101" pitchFamily="49" charset="-122"/>
                <a:ea typeface="黑体" panose="02010609060101010101" pitchFamily="49" charset="-122"/>
              </a:rPr>
              <a:t>2. </a:t>
            </a:r>
            <a:r>
              <a:rPr lang="zh-CN" altLang="en-US" dirty="0">
                <a:latin typeface="黑体" panose="02010609060101010101" pitchFamily="49" charset="-122"/>
                <a:ea typeface="黑体" panose="02010609060101010101" pitchFamily="49" charset="-122"/>
              </a:rPr>
              <a:t>在一段时间内，只允许一个进程访问的资源称为（）</a:t>
            </a:r>
            <a:endParaRPr lang="en-US" altLang="zh-CN" dirty="0">
              <a:latin typeface="黑体" panose="02010609060101010101" pitchFamily="49" charset="-122"/>
              <a:ea typeface="黑体" panose="02010609060101010101" pitchFamily="49" charset="-122"/>
            </a:endParaRPr>
          </a:p>
          <a:p>
            <a:pPr marL="400050" lvl="1" indent="0">
              <a:buNone/>
            </a:pPr>
            <a:r>
              <a:rPr lang="en-US" altLang="zh-CN" dirty="0">
                <a:latin typeface="黑体" panose="02010609060101010101" pitchFamily="49" charset="-122"/>
                <a:ea typeface="黑体" panose="02010609060101010101" pitchFamily="49" charset="-122"/>
              </a:rPr>
              <a:t>A  </a:t>
            </a:r>
            <a:r>
              <a:rPr lang="zh-CN" altLang="en-US" dirty="0">
                <a:latin typeface="黑体" panose="02010609060101010101" pitchFamily="49" charset="-122"/>
                <a:ea typeface="黑体" panose="02010609060101010101" pitchFamily="49" charset="-122"/>
              </a:rPr>
              <a:t>共享资源</a:t>
            </a:r>
            <a:endParaRPr lang="en-US" altLang="zh-CN" dirty="0">
              <a:latin typeface="黑体" panose="02010609060101010101" pitchFamily="49" charset="-122"/>
              <a:ea typeface="黑体" panose="02010609060101010101" pitchFamily="49" charset="-122"/>
            </a:endParaRPr>
          </a:p>
          <a:p>
            <a:pPr marL="400050" lvl="1" indent="0">
              <a:buNone/>
            </a:pPr>
            <a:r>
              <a:rPr lang="en-US" altLang="zh-CN" dirty="0">
                <a:latin typeface="黑体" panose="02010609060101010101" pitchFamily="49" charset="-122"/>
                <a:ea typeface="黑体" panose="02010609060101010101" pitchFamily="49" charset="-122"/>
              </a:rPr>
              <a:t>B  </a:t>
            </a:r>
            <a:r>
              <a:rPr lang="zh-CN" altLang="en-US" dirty="0">
                <a:latin typeface="黑体" panose="02010609060101010101" pitchFamily="49" charset="-122"/>
                <a:ea typeface="黑体" panose="02010609060101010101" pitchFamily="49" charset="-122"/>
              </a:rPr>
              <a:t>临界区</a:t>
            </a:r>
            <a:endParaRPr lang="en-US" altLang="zh-CN" dirty="0">
              <a:latin typeface="黑体" panose="02010609060101010101" pitchFamily="49" charset="-122"/>
              <a:ea typeface="黑体" panose="02010609060101010101" pitchFamily="49" charset="-122"/>
            </a:endParaRPr>
          </a:p>
          <a:p>
            <a:pPr marL="400050" lvl="1" indent="0">
              <a:buNone/>
            </a:pPr>
            <a:endParaRPr lang="en-US" altLang="zh-CN" dirty="0">
              <a:latin typeface="黑体" panose="02010609060101010101" pitchFamily="49" charset="-122"/>
              <a:ea typeface="黑体" panose="02010609060101010101" pitchFamily="49" charset="-122"/>
            </a:endParaRPr>
          </a:p>
          <a:p>
            <a:pPr marL="400050" lvl="1" indent="0">
              <a:buNone/>
            </a:pPr>
            <a:r>
              <a:rPr lang="en-US" altLang="zh-CN" dirty="0">
                <a:latin typeface="黑体" panose="02010609060101010101" pitchFamily="49" charset="-122"/>
                <a:ea typeface="黑体" panose="02010609060101010101" pitchFamily="49" charset="-122"/>
              </a:rPr>
              <a:t>D  </a:t>
            </a:r>
            <a:r>
              <a:rPr lang="zh-CN" altLang="en-US" dirty="0">
                <a:latin typeface="黑体" panose="02010609060101010101" pitchFamily="49" charset="-122"/>
                <a:ea typeface="黑体" panose="02010609060101010101" pitchFamily="49" charset="-122"/>
              </a:rPr>
              <a:t>共享区</a:t>
            </a:r>
          </a:p>
        </p:txBody>
      </p:sp>
      <p:sp>
        <p:nvSpPr>
          <p:cNvPr id="4" name="矩形 3">
            <a:extLst>
              <a:ext uri="{FF2B5EF4-FFF2-40B4-BE49-F238E27FC236}">
                <a16:creationId xmlns:a16="http://schemas.microsoft.com/office/drawing/2014/main" id="{F5390CEC-3935-45C8-9FB8-1E87E327FB39}"/>
              </a:ext>
            </a:extLst>
          </p:cNvPr>
          <p:cNvSpPr/>
          <p:nvPr/>
        </p:nvSpPr>
        <p:spPr>
          <a:xfrm>
            <a:off x="856838" y="3428999"/>
            <a:ext cx="2159566" cy="523220"/>
          </a:xfrm>
          <a:prstGeom prst="rect">
            <a:avLst/>
          </a:prstGeom>
        </p:spPr>
        <p:txBody>
          <a:bodyPr wrap="none">
            <a:spAutoFit/>
          </a:bodyPr>
          <a:lstStyle/>
          <a:p>
            <a:r>
              <a:rPr kumimoji="1" lang="en-US" altLang="zh-CN" sz="2800" dirty="0">
                <a:latin typeface="黑体" panose="02010609060101010101" pitchFamily="49" charset="-122"/>
                <a:ea typeface="黑体" panose="02010609060101010101" pitchFamily="49" charset="-122"/>
              </a:rPr>
              <a:t>C  </a:t>
            </a:r>
            <a:r>
              <a:rPr kumimoji="1" lang="zh-CN" altLang="en-US" sz="2800" dirty="0">
                <a:latin typeface="黑体" panose="02010609060101010101" pitchFamily="49" charset="-122"/>
                <a:ea typeface="黑体" panose="02010609060101010101" pitchFamily="49" charset="-122"/>
              </a:rPr>
              <a:t>临界资源</a:t>
            </a:r>
            <a:endParaRPr kumimoji="1" lang="en-US" altLang="zh-CN" sz="28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274803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100" fill="hold"/>
                                        <p:tgtEl>
                                          <p:spTgt spid="4">
                                            <p:txEl>
                                              <p:pRg st="0" end="0"/>
                                            </p:txEl>
                                          </p:spTgt>
                                        </p:tgtEl>
                                        <p:attrNameLst>
                                          <p:attrName>style.color</p:attrName>
                                        </p:attrNameLst>
                                      </p:cBhvr>
                                      <p:to>
                                        <a:srgbClr val="FF0000"/>
                                      </p:to>
                                    </p:animClr>
                                    <p:animClr clrSpc="rgb" dir="cw">
                                      <p:cBhvr>
                                        <p:cTn id="7" dur="100" fill="hold"/>
                                        <p:tgtEl>
                                          <p:spTgt spid="4">
                                            <p:txEl>
                                              <p:pRg st="0" end="0"/>
                                            </p:txEl>
                                          </p:spTgt>
                                        </p:tgtEl>
                                        <p:attrNameLst>
                                          <p:attrName>fillcolor</p:attrName>
                                        </p:attrNameLst>
                                      </p:cBhvr>
                                      <p:to>
                                        <a:srgbClr val="FF0000"/>
                                      </p:to>
                                    </p:animClr>
                                    <p:set>
                                      <p:cBhvr>
                                        <p:cTn id="8" dur="100" fill="hold"/>
                                        <p:tgtEl>
                                          <p:spTgt spid="4">
                                            <p:txEl>
                                              <p:pRg st="0" end="0"/>
                                            </p:txEl>
                                          </p:spTgt>
                                        </p:tgtEl>
                                        <p:attrNameLst>
                                          <p:attrName>fill.type</p:attrName>
                                        </p:attrNameLst>
                                      </p:cBhvr>
                                      <p:to>
                                        <p:strVal val="solid"/>
                                      </p:to>
                                    </p:set>
                                    <p:set>
                                      <p:cBhvr>
                                        <p:cTn id="9" dur="100" fill="hold"/>
                                        <p:tgtEl>
                                          <p:spTgt spid="4">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6B4E28-A854-4413-A3BB-2E4B34D8EC17}"/>
              </a:ext>
            </a:extLst>
          </p:cNvPr>
          <p:cNvSpPr>
            <a:spLocks noGrp="1"/>
          </p:cNvSpPr>
          <p:nvPr>
            <p:ph type="title"/>
          </p:nvPr>
        </p:nvSpPr>
        <p:spPr/>
        <p:txBody>
          <a:bodyPr/>
          <a:lstStyle/>
          <a:p>
            <a:r>
              <a:rPr lang="zh-CN" altLang="en-US" dirty="0"/>
              <a:t>习题</a:t>
            </a:r>
          </a:p>
        </p:txBody>
      </p:sp>
      <p:sp>
        <p:nvSpPr>
          <p:cNvPr id="3" name="内容占位符 2">
            <a:extLst>
              <a:ext uri="{FF2B5EF4-FFF2-40B4-BE49-F238E27FC236}">
                <a16:creationId xmlns:a16="http://schemas.microsoft.com/office/drawing/2014/main" id="{DDF3B92B-D352-4553-A2FB-5D156F28C7FF}"/>
              </a:ext>
            </a:extLst>
          </p:cNvPr>
          <p:cNvSpPr>
            <a:spLocks noGrp="1"/>
          </p:cNvSpPr>
          <p:nvPr>
            <p:ph idx="1"/>
          </p:nvPr>
        </p:nvSpPr>
        <p:spPr>
          <a:xfrm>
            <a:off x="457200" y="1163637"/>
            <a:ext cx="8229600" cy="4530725"/>
          </a:xfrm>
        </p:spPr>
        <p:txBody>
          <a:bodyPr/>
          <a:lstStyle/>
          <a:p>
            <a:r>
              <a:rPr lang="en-US" altLang="zh-CN" dirty="0">
                <a:latin typeface="黑体" panose="02010609060101010101" pitchFamily="49" charset="-122"/>
                <a:ea typeface="黑体" panose="02010609060101010101" pitchFamily="49" charset="-122"/>
              </a:rPr>
              <a:t>3. </a:t>
            </a:r>
            <a:r>
              <a:rPr lang="zh-CN" altLang="en-US" dirty="0">
                <a:latin typeface="黑体" panose="02010609060101010101" pitchFamily="49" charset="-122"/>
                <a:ea typeface="黑体" panose="02010609060101010101" pitchFamily="49" charset="-122"/>
              </a:rPr>
              <a:t>临界区是指并发进程中访问共享变量的（）段</a:t>
            </a:r>
            <a:endParaRPr lang="en-US" altLang="zh-CN" dirty="0">
              <a:latin typeface="黑体" panose="02010609060101010101" pitchFamily="49" charset="-122"/>
              <a:ea typeface="黑体" panose="02010609060101010101" pitchFamily="49" charset="-122"/>
            </a:endParaRPr>
          </a:p>
          <a:p>
            <a:pPr marL="400050" lvl="1" indent="0">
              <a:buNone/>
            </a:pPr>
            <a:r>
              <a:rPr lang="en-US" altLang="zh-CN" dirty="0">
                <a:latin typeface="黑体" panose="02010609060101010101" pitchFamily="49" charset="-122"/>
                <a:ea typeface="黑体" panose="02010609060101010101" pitchFamily="49" charset="-122"/>
              </a:rPr>
              <a:t>A  </a:t>
            </a:r>
            <a:r>
              <a:rPr lang="zh-CN" altLang="en-US" dirty="0">
                <a:latin typeface="黑体" panose="02010609060101010101" pitchFamily="49" charset="-122"/>
                <a:ea typeface="黑体" panose="02010609060101010101" pitchFamily="49" charset="-122"/>
              </a:rPr>
              <a:t>管理信息</a:t>
            </a:r>
            <a:endParaRPr lang="en-US" altLang="zh-CN" dirty="0">
              <a:latin typeface="黑体" panose="02010609060101010101" pitchFamily="49" charset="-122"/>
              <a:ea typeface="黑体" panose="02010609060101010101" pitchFamily="49" charset="-122"/>
            </a:endParaRPr>
          </a:p>
          <a:p>
            <a:pPr marL="400050" lvl="1" indent="0">
              <a:buNone/>
            </a:pPr>
            <a:r>
              <a:rPr lang="en-US" altLang="zh-CN" dirty="0">
                <a:latin typeface="黑体" panose="02010609060101010101" pitchFamily="49" charset="-122"/>
                <a:ea typeface="黑体" panose="02010609060101010101" pitchFamily="49" charset="-122"/>
              </a:rPr>
              <a:t>B  </a:t>
            </a:r>
            <a:r>
              <a:rPr lang="zh-CN" altLang="en-US" dirty="0">
                <a:latin typeface="黑体" panose="02010609060101010101" pitchFamily="49" charset="-122"/>
                <a:ea typeface="黑体" panose="02010609060101010101" pitchFamily="49" charset="-122"/>
              </a:rPr>
              <a:t>信息存储</a:t>
            </a:r>
            <a:endParaRPr lang="en-US" altLang="zh-CN" dirty="0">
              <a:latin typeface="黑体" panose="02010609060101010101" pitchFamily="49" charset="-122"/>
              <a:ea typeface="黑体" panose="02010609060101010101" pitchFamily="49" charset="-122"/>
            </a:endParaRPr>
          </a:p>
          <a:p>
            <a:pPr marL="400050" lvl="1" indent="0">
              <a:buNone/>
            </a:pPr>
            <a:endParaRPr lang="en-US" altLang="zh-CN" dirty="0">
              <a:latin typeface="黑体" panose="02010609060101010101" pitchFamily="49" charset="-122"/>
              <a:ea typeface="黑体" panose="02010609060101010101" pitchFamily="49" charset="-122"/>
            </a:endParaRPr>
          </a:p>
          <a:p>
            <a:pPr marL="400050" lvl="1" indent="0">
              <a:buNone/>
            </a:pPr>
            <a:r>
              <a:rPr lang="en-US" altLang="zh-CN" dirty="0">
                <a:latin typeface="黑体" panose="02010609060101010101" pitchFamily="49" charset="-122"/>
                <a:ea typeface="黑体" panose="02010609060101010101" pitchFamily="49" charset="-122"/>
              </a:rPr>
              <a:t>D  </a:t>
            </a:r>
            <a:r>
              <a:rPr lang="zh-CN" altLang="en-US" dirty="0">
                <a:latin typeface="黑体" panose="02010609060101010101" pitchFamily="49" charset="-122"/>
                <a:ea typeface="黑体" panose="02010609060101010101" pitchFamily="49" charset="-122"/>
              </a:rPr>
              <a:t>数据</a:t>
            </a:r>
          </a:p>
        </p:txBody>
      </p:sp>
      <p:sp>
        <p:nvSpPr>
          <p:cNvPr id="4" name="矩形 3">
            <a:extLst>
              <a:ext uri="{FF2B5EF4-FFF2-40B4-BE49-F238E27FC236}">
                <a16:creationId xmlns:a16="http://schemas.microsoft.com/office/drawing/2014/main" id="{F5390CEC-3935-45C8-9FB8-1E87E327FB39}"/>
              </a:ext>
            </a:extLst>
          </p:cNvPr>
          <p:cNvSpPr/>
          <p:nvPr/>
        </p:nvSpPr>
        <p:spPr>
          <a:xfrm>
            <a:off x="856838" y="3428999"/>
            <a:ext cx="1441420" cy="523220"/>
          </a:xfrm>
          <a:prstGeom prst="rect">
            <a:avLst/>
          </a:prstGeom>
        </p:spPr>
        <p:txBody>
          <a:bodyPr wrap="none">
            <a:spAutoFit/>
          </a:bodyPr>
          <a:lstStyle/>
          <a:p>
            <a:r>
              <a:rPr kumimoji="1" lang="en-US" altLang="zh-CN" sz="2800" dirty="0">
                <a:latin typeface="黑体" panose="02010609060101010101" pitchFamily="49" charset="-122"/>
                <a:ea typeface="黑体" panose="02010609060101010101" pitchFamily="49" charset="-122"/>
              </a:rPr>
              <a:t>C  </a:t>
            </a:r>
            <a:r>
              <a:rPr kumimoji="1" lang="zh-CN" altLang="en-US" sz="2800" dirty="0">
                <a:latin typeface="黑体" panose="02010609060101010101" pitchFamily="49" charset="-122"/>
                <a:ea typeface="黑体" panose="02010609060101010101" pitchFamily="49" charset="-122"/>
              </a:rPr>
              <a:t>程序</a:t>
            </a:r>
            <a:endParaRPr kumimoji="1" lang="en-US" altLang="zh-CN" sz="28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665824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100" fill="hold"/>
                                        <p:tgtEl>
                                          <p:spTgt spid="4">
                                            <p:txEl>
                                              <p:pRg st="0" end="0"/>
                                            </p:txEl>
                                          </p:spTgt>
                                        </p:tgtEl>
                                        <p:attrNameLst>
                                          <p:attrName>style.color</p:attrName>
                                        </p:attrNameLst>
                                      </p:cBhvr>
                                      <p:to>
                                        <a:srgbClr val="FF0000"/>
                                      </p:to>
                                    </p:animClr>
                                    <p:animClr clrSpc="rgb" dir="cw">
                                      <p:cBhvr>
                                        <p:cTn id="7" dur="100" fill="hold"/>
                                        <p:tgtEl>
                                          <p:spTgt spid="4">
                                            <p:txEl>
                                              <p:pRg st="0" end="0"/>
                                            </p:txEl>
                                          </p:spTgt>
                                        </p:tgtEl>
                                        <p:attrNameLst>
                                          <p:attrName>fillcolor</p:attrName>
                                        </p:attrNameLst>
                                      </p:cBhvr>
                                      <p:to>
                                        <a:srgbClr val="FF0000"/>
                                      </p:to>
                                    </p:animClr>
                                    <p:set>
                                      <p:cBhvr>
                                        <p:cTn id="8" dur="100" fill="hold"/>
                                        <p:tgtEl>
                                          <p:spTgt spid="4">
                                            <p:txEl>
                                              <p:pRg st="0" end="0"/>
                                            </p:txEl>
                                          </p:spTgt>
                                        </p:tgtEl>
                                        <p:attrNameLst>
                                          <p:attrName>fill.type</p:attrName>
                                        </p:attrNameLst>
                                      </p:cBhvr>
                                      <p:to>
                                        <p:strVal val="solid"/>
                                      </p:to>
                                    </p:set>
                                    <p:set>
                                      <p:cBhvr>
                                        <p:cTn id="9" dur="100" fill="hold"/>
                                        <p:tgtEl>
                                          <p:spTgt spid="4">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EC7EE37-06C9-4AF5-9056-154C678BCF7A}"/>
              </a:ext>
            </a:extLst>
          </p:cNvPr>
          <p:cNvSpPr txBox="1">
            <a:spLocks noChangeArrowheads="1"/>
          </p:cNvSpPr>
          <p:nvPr/>
        </p:nvSpPr>
        <p:spPr bwMode="auto">
          <a:xfrm>
            <a:off x="358775" y="958850"/>
            <a:ext cx="8343900" cy="514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zh-CN" sz="2800">
                <a:latin typeface="Verdana" panose="020B0604030504040204" pitchFamily="34" charset="0"/>
              </a:rPr>
              <a:t>【</a:t>
            </a:r>
            <a:r>
              <a:rPr kumimoji="0" lang="zh-CN" altLang="en-US" sz="2800">
                <a:latin typeface="Verdana" panose="020B0604030504040204" pitchFamily="34" charset="0"/>
              </a:rPr>
              <a:t>多选</a:t>
            </a:r>
            <a:r>
              <a:rPr kumimoji="0" lang="en-US" altLang="zh-CN" sz="2800">
                <a:latin typeface="Verdana" panose="020B0604030504040204" pitchFamily="34" charset="0"/>
              </a:rPr>
              <a:t>】</a:t>
            </a:r>
            <a:r>
              <a:rPr kumimoji="0" lang="zh-CN" altLang="en-US" sz="2800">
                <a:latin typeface="Verdana" panose="020B0604030504040204" pitchFamily="34" charset="0"/>
              </a:rPr>
              <a:t>在单处理机系统中，设系统中有</a:t>
            </a:r>
            <a:r>
              <a:rPr kumimoji="0" lang="en-US" altLang="zh-CN" sz="2800">
                <a:latin typeface="Verdana" panose="020B0604030504040204" pitchFamily="34" charset="0"/>
              </a:rPr>
              <a:t>n</a:t>
            </a:r>
            <a:r>
              <a:rPr kumimoji="0" lang="zh-CN" altLang="en-US" sz="2800">
                <a:latin typeface="Verdana" panose="020B0604030504040204" pitchFamily="34" charset="0"/>
              </a:rPr>
              <a:t>个进程（</a:t>
            </a:r>
            <a:r>
              <a:rPr kumimoji="0" lang="en-US" altLang="zh-CN" sz="2800">
                <a:latin typeface="Verdana" panose="020B0604030504040204" pitchFamily="34" charset="0"/>
              </a:rPr>
              <a:t>n&gt;2</a:t>
            </a:r>
            <a:r>
              <a:rPr kumimoji="0" lang="zh-CN" altLang="en-US" sz="2800">
                <a:latin typeface="Verdana" panose="020B0604030504040204" pitchFamily="34" charset="0"/>
              </a:rPr>
              <a:t>）</a:t>
            </a:r>
            <a:r>
              <a:rPr kumimoji="0" lang="en-US" altLang="zh-CN" sz="2800">
                <a:latin typeface="Verdana" panose="020B0604030504040204" pitchFamily="34" charset="0"/>
              </a:rPr>
              <a:t>,</a:t>
            </a:r>
            <a:r>
              <a:rPr kumimoji="0" lang="zh-CN" altLang="en-US" sz="2800">
                <a:latin typeface="Verdana" panose="020B0604030504040204" pitchFamily="34" charset="0"/>
              </a:rPr>
              <a:t>且当前处理机没有执行进程调度程序，下述情况哪些可能发生（ ）。</a:t>
            </a:r>
          </a:p>
          <a:p>
            <a:pPr>
              <a:spcBef>
                <a:spcPct val="0"/>
              </a:spcBef>
              <a:buClrTx/>
              <a:buSzTx/>
              <a:buFontTx/>
              <a:buNone/>
            </a:pPr>
            <a:r>
              <a:rPr kumimoji="0" lang="en-US" altLang="zh-CN" sz="2800">
                <a:latin typeface="Verdana" panose="020B0604030504040204" pitchFamily="34" charset="0"/>
              </a:rPr>
              <a:t>A.</a:t>
            </a:r>
            <a:r>
              <a:rPr kumimoji="0" lang="zh-CN" altLang="en-US" sz="2800">
                <a:latin typeface="Verdana" panose="020B0604030504040204" pitchFamily="34" charset="0"/>
              </a:rPr>
              <a:t>没有运行的进程，有</a:t>
            </a:r>
            <a:r>
              <a:rPr kumimoji="0" lang="en-US" altLang="zh-CN" sz="2800">
                <a:latin typeface="Verdana" panose="020B0604030504040204" pitchFamily="34" charset="0"/>
              </a:rPr>
              <a:t>2</a:t>
            </a:r>
            <a:r>
              <a:rPr kumimoji="0" lang="zh-CN" altLang="en-US" sz="2800">
                <a:latin typeface="Verdana" panose="020B0604030504040204" pitchFamily="34" charset="0"/>
              </a:rPr>
              <a:t>个进程处于就绪状态，</a:t>
            </a:r>
            <a:r>
              <a:rPr kumimoji="0" lang="en-US" altLang="zh-CN" sz="2800">
                <a:latin typeface="Verdana" panose="020B0604030504040204" pitchFamily="34" charset="0"/>
              </a:rPr>
              <a:t>n</a:t>
            </a:r>
            <a:r>
              <a:rPr kumimoji="0" lang="zh-CN" altLang="en-US" sz="2800">
                <a:latin typeface="Verdana" panose="020B0604030504040204" pitchFamily="34" charset="0"/>
              </a:rPr>
              <a:t>个进程处于等待状态。  </a:t>
            </a:r>
          </a:p>
          <a:p>
            <a:pPr>
              <a:spcBef>
                <a:spcPct val="0"/>
              </a:spcBef>
              <a:buClrTx/>
              <a:buSzTx/>
              <a:buFontTx/>
              <a:buNone/>
            </a:pPr>
            <a:r>
              <a:rPr kumimoji="0" lang="en-US" altLang="zh-CN" sz="2800">
                <a:latin typeface="Verdana" panose="020B0604030504040204" pitchFamily="34" charset="0"/>
              </a:rPr>
              <a:t>B.</a:t>
            </a:r>
            <a:r>
              <a:rPr kumimoji="0" lang="zh-CN" altLang="en-US" sz="2800">
                <a:latin typeface="Verdana" panose="020B0604030504040204" pitchFamily="34" charset="0"/>
              </a:rPr>
              <a:t>一个进程处于运行状态，</a:t>
            </a:r>
            <a:r>
              <a:rPr kumimoji="0" lang="en-US" altLang="zh-CN" sz="2800">
                <a:latin typeface="Verdana" panose="020B0604030504040204" pitchFamily="34" charset="0"/>
              </a:rPr>
              <a:t>n-1</a:t>
            </a:r>
            <a:r>
              <a:rPr kumimoji="0" lang="zh-CN" altLang="en-US" sz="2800">
                <a:latin typeface="Verdana" panose="020B0604030504040204" pitchFamily="34" charset="0"/>
              </a:rPr>
              <a:t>个进程处于等待状态</a:t>
            </a:r>
          </a:p>
          <a:p>
            <a:pPr>
              <a:spcBef>
                <a:spcPct val="0"/>
              </a:spcBef>
              <a:buClrTx/>
              <a:buSzTx/>
              <a:buFontTx/>
              <a:buNone/>
            </a:pPr>
            <a:r>
              <a:rPr kumimoji="0" lang="en-US" altLang="zh-CN" sz="2800">
                <a:latin typeface="Verdana" panose="020B0604030504040204" pitchFamily="34" charset="0"/>
              </a:rPr>
              <a:t>C. </a:t>
            </a:r>
            <a:r>
              <a:rPr kumimoji="0" lang="zh-CN" altLang="en-US" sz="2800">
                <a:latin typeface="Verdana" panose="020B0604030504040204" pitchFamily="34" charset="0"/>
              </a:rPr>
              <a:t>一个进程处于运行状态，</a:t>
            </a:r>
            <a:r>
              <a:rPr kumimoji="0" lang="en-US" altLang="zh-CN" sz="2800">
                <a:latin typeface="Verdana" panose="020B0604030504040204" pitchFamily="34" charset="0"/>
              </a:rPr>
              <a:t>1</a:t>
            </a:r>
            <a:r>
              <a:rPr kumimoji="0" lang="zh-CN" altLang="en-US" sz="2800">
                <a:latin typeface="Verdana" panose="020B0604030504040204" pitchFamily="34" charset="0"/>
              </a:rPr>
              <a:t>个进程处于就绪状态，</a:t>
            </a:r>
            <a:r>
              <a:rPr kumimoji="0" lang="en-US" altLang="zh-CN" sz="2800">
                <a:latin typeface="Verdana" panose="020B0604030504040204" pitchFamily="34" charset="0"/>
              </a:rPr>
              <a:t>n-2</a:t>
            </a:r>
            <a:r>
              <a:rPr kumimoji="0" lang="zh-CN" altLang="en-US" sz="2800">
                <a:latin typeface="Verdana" panose="020B0604030504040204" pitchFamily="34" charset="0"/>
              </a:rPr>
              <a:t>个进程处于等待状态。</a:t>
            </a:r>
          </a:p>
          <a:p>
            <a:pPr>
              <a:spcBef>
                <a:spcPct val="0"/>
              </a:spcBef>
              <a:buClrTx/>
              <a:buSzTx/>
              <a:buFontTx/>
              <a:buNone/>
            </a:pPr>
            <a:r>
              <a:rPr kumimoji="0" lang="en-US" altLang="zh-CN" sz="2800">
                <a:latin typeface="Verdana" panose="020B0604030504040204" pitchFamily="34" charset="0"/>
              </a:rPr>
              <a:t>D. </a:t>
            </a:r>
            <a:r>
              <a:rPr kumimoji="0" lang="zh-CN" altLang="en-US" sz="2800">
                <a:latin typeface="Verdana" panose="020B0604030504040204" pitchFamily="34" charset="0"/>
              </a:rPr>
              <a:t>一个进程处于运行状态，</a:t>
            </a:r>
            <a:r>
              <a:rPr kumimoji="0" lang="en-US" altLang="zh-CN" sz="2800">
                <a:latin typeface="Verdana" panose="020B0604030504040204" pitchFamily="34" charset="0"/>
              </a:rPr>
              <a:t>n-1</a:t>
            </a:r>
            <a:r>
              <a:rPr kumimoji="0" lang="zh-CN" altLang="en-US" sz="2800">
                <a:latin typeface="Verdana" panose="020B0604030504040204" pitchFamily="34" charset="0"/>
              </a:rPr>
              <a:t>个进程处于就绪状态，没有进程处于等待状态</a:t>
            </a:r>
          </a:p>
          <a:p>
            <a:pPr>
              <a:spcBef>
                <a:spcPct val="0"/>
              </a:spcBef>
              <a:buClrTx/>
              <a:buSzTx/>
              <a:buFontTx/>
              <a:buNone/>
            </a:pPr>
            <a:endParaRPr kumimoji="0" lang="en-US" altLang="zh-CN" sz="2400">
              <a:latin typeface="Verdana" panose="020B0604030504040204" pitchFamily="34" charset="0"/>
            </a:endParaRPr>
          </a:p>
          <a:p>
            <a:pPr>
              <a:spcBef>
                <a:spcPct val="0"/>
              </a:spcBef>
              <a:buClrTx/>
              <a:buSzTx/>
              <a:buFontTx/>
              <a:buNone/>
            </a:pPr>
            <a:r>
              <a:rPr kumimoji="0" lang="zh-CN" altLang="en-US" sz="2400">
                <a:latin typeface="Verdana" panose="020B0604030504040204" pitchFamily="34" charset="0"/>
              </a:rPr>
              <a:t>答案：</a:t>
            </a:r>
            <a:r>
              <a:rPr kumimoji="0" lang="en-US" altLang="zh-CN" sz="2400">
                <a:latin typeface="Verdana" panose="020B0604030504040204" pitchFamily="34" charset="0"/>
              </a:rPr>
              <a:t> BCD</a:t>
            </a:r>
          </a:p>
        </p:txBody>
      </p:sp>
      <p:sp>
        <p:nvSpPr>
          <p:cNvPr id="231427" name="文本框 2">
            <a:extLst>
              <a:ext uri="{FF2B5EF4-FFF2-40B4-BE49-F238E27FC236}">
                <a16:creationId xmlns:a16="http://schemas.microsoft.com/office/drawing/2014/main" id="{09F73BB2-BE27-4FD1-A49F-9EE496E89B32}"/>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p:cNvSpPr>
          <p:nvPr>
            <p:ph type="title"/>
          </p:nvPr>
        </p:nvSpPr>
        <p:spPr>
          <a:ln/>
        </p:spPr>
        <p:txBody>
          <a:bodyPr vert="horz" wrap="square" lIns="91440" tIns="45720" rIns="91440" bIns="45720" anchor="b" anchorCtr="0"/>
          <a:lstStyle/>
          <a:p>
            <a:br>
              <a:rPr lang="zh-CN" altLang="en-US" dirty="0"/>
            </a:br>
            <a:br>
              <a:rPr lang="zh-CN" altLang="en-US" dirty="0"/>
            </a:br>
            <a:r>
              <a:rPr lang="en-US" altLang="zh-CN" dirty="0"/>
              <a:t>Chapter 6: Process Synchronization</a:t>
            </a:r>
          </a:p>
        </p:txBody>
      </p:sp>
      <p:sp>
        <p:nvSpPr>
          <p:cNvPr id="9218" name="Rectangle 3"/>
          <p:cNvSpPr>
            <a:spLocks noGrp="1"/>
          </p:cNvSpPr>
          <p:nvPr>
            <p:ph idx="1"/>
          </p:nvPr>
        </p:nvSpPr>
        <p:spPr>
          <a:ln/>
        </p:spPr>
        <p:txBody>
          <a:bodyPr vert="horz" wrap="square" lIns="91440" tIns="45720" rIns="91440" bIns="45720" anchor="t" anchorCtr="0"/>
          <a:lstStyle/>
          <a:p>
            <a:r>
              <a:rPr lang="en-US" altLang="zh-CN" sz="2400" dirty="0"/>
              <a:t>Background</a:t>
            </a:r>
          </a:p>
          <a:p>
            <a:r>
              <a:rPr lang="en-US" altLang="zh-CN" sz="2400" dirty="0"/>
              <a:t>The Critical-Section Problem</a:t>
            </a:r>
          </a:p>
          <a:p>
            <a:r>
              <a:rPr lang="en-US" altLang="zh-CN" sz="2400" dirty="0"/>
              <a:t>Peterson’s Solution</a:t>
            </a:r>
          </a:p>
          <a:p>
            <a:r>
              <a:rPr lang="en-US" altLang="zh-CN" sz="2400" dirty="0"/>
              <a:t>Synchronization Hardware</a:t>
            </a:r>
          </a:p>
          <a:p>
            <a:r>
              <a:rPr lang="en-US" altLang="zh-CN" sz="2400" dirty="0">
                <a:solidFill>
                  <a:srgbClr val="C00000"/>
                </a:solidFill>
              </a:rPr>
              <a:t>Semaphores</a:t>
            </a:r>
          </a:p>
          <a:p>
            <a:r>
              <a:rPr lang="en-US" altLang="zh-CN" sz="2400" dirty="0"/>
              <a:t>Classic Problems of Synchronization</a:t>
            </a:r>
          </a:p>
          <a:p>
            <a:r>
              <a:rPr lang="en-US" altLang="zh-CN" sz="2400" dirty="0"/>
              <a:t>Monitors</a:t>
            </a:r>
          </a:p>
          <a:p>
            <a:r>
              <a:rPr lang="en-US" altLang="zh-CN" sz="2400" dirty="0"/>
              <a:t>Synchronization Examples </a:t>
            </a:r>
          </a:p>
          <a:p>
            <a:r>
              <a:rPr lang="en-US" altLang="zh-CN" sz="2400" dirty="0"/>
              <a:t>Atomic Transactions</a:t>
            </a:r>
          </a:p>
          <a:p>
            <a:pPr>
              <a:buNone/>
            </a:pPr>
            <a:endParaRPr lang="zh-CN" altLang="en-US" sz="2400" dirty="0"/>
          </a:p>
        </p:txBody>
      </p:sp>
    </p:spTree>
    <p:extLst>
      <p:ext uri="{BB962C8B-B14F-4D97-AF65-F5344CB8AC3E}">
        <p14:creationId xmlns:p14="http://schemas.microsoft.com/office/powerpoint/2010/main" val="25802774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p:cNvSpPr>
          <p:nvPr>
            <p:ph type="title"/>
          </p:nvPr>
        </p:nvSpPr>
        <p:spPr>
          <a:ln/>
        </p:spPr>
        <p:txBody>
          <a:bodyPr vert="horz" wrap="square" lIns="91440" tIns="45720" rIns="91440" bIns="45720" anchor="b" anchorCtr="0"/>
          <a:lstStyle/>
          <a:p>
            <a:r>
              <a:rPr lang="en-US" altLang="zh-CN" dirty="0">
                <a:ea typeface="宋体" panose="02010600030101010101" pitchFamily="2" charset="-122"/>
              </a:rPr>
              <a:t>Semaphore</a:t>
            </a:r>
          </a:p>
        </p:txBody>
      </p:sp>
      <p:sp>
        <p:nvSpPr>
          <p:cNvPr id="27651" name="Rectangle 3"/>
          <p:cNvSpPr>
            <a:spLocks noGrp="1"/>
          </p:cNvSpPr>
          <p:nvPr>
            <p:ph idx="1"/>
          </p:nvPr>
        </p:nvSpPr>
        <p:spPr>
          <a:xfrm>
            <a:off x="566738" y="1058863"/>
            <a:ext cx="8181975" cy="5475287"/>
          </a:xfrm>
          <a:ln/>
        </p:spPr>
        <p:txBody>
          <a:bodyPr vert="horz" wrap="square" lIns="91440" tIns="45720" rIns="91440" bIns="45720" anchor="t" anchorCtr="0"/>
          <a:lstStyle/>
          <a:p>
            <a:pPr>
              <a:lnSpc>
                <a:spcPct val="90000"/>
              </a:lnSpc>
            </a:pPr>
            <a:r>
              <a:rPr lang="en-US" altLang="zh-CN" sz="2400" i="1" dirty="0">
                <a:ea typeface="宋体" panose="02010600030101010101" pitchFamily="2" charset="-122"/>
              </a:rPr>
              <a:t>A </a:t>
            </a:r>
            <a:r>
              <a:rPr lang="en-US" altLang="zh-CN" sz="2400" dirty="0">
                <a:ea typeface="宋体" panose="02010600030101010101" pitchFamily="2" charset="-122"/>
              </a:rPr>
              <a:t>Semaphore is a special integer variable</a:t>
            </a:r>
            <a:r>
              <a:rPr lang="zh-CN" altLang="en-US" sz="2400" dirty="0">
                <a:ea typeface="宋体" panose="02010600030101010101" pitchFamily="2" charset="-122"/>
              </a:rPr>
              <a:t>（特殊的整数变量）</a:t>
            </a:r>
            <a:r>
              <a:rPr lang="en-US" altLang="zh-CN" sz="2400" dirty="0">
                <a:ea typeface="宋体" panose="02010600030101010101" pitchFamily="2" charset="-122"/>
              </a:rPr>
              <a:t>, it can be accessed only through two standard </a:t>
            </a:r>
            <a:r>
              <a:rPr lang="en-US" altLang="zh-CN" sz="2400" dirty="0">
                <a:solidFill>
                  <a:srgbClr val="FF0000"/>
                </a:solidFill>
                <a:ea typeface="宋体" panose="02010600030101010101" pitchFamily="2" charset="-122"/>
              </a:rPr>
              <a:t>atomic </a:t>
            </a:r>
            <a:r>
              <a:rPr lang="en-US" altLang="zh-CN" sz="2400" dirty="0">
                <a:ea typeface="宋体" panose="02010600030101010101" pitchFamily="2" charset="-122"/>
              </a:rPr>
              <a:t>operations:</a:t>
            </a:r>
          </a:p>
          <a:p>
            <a:pPr lvl="1">
              <a:lnSpc>
                <a:spcPct val="90000"/>
              </a:lnSpc>
            </a:pPr>
            <a:r>
              <a:rPr lang="en-US" altLang="zh-CN" sz="2400" dirty="0">
                <a:ea typeface="宋体" panose="02010600030101010101" pitchFamily="2" charset="-122"/>
              </a:rPr>
              <a:t>Wait()  and  Signal()</a:t>
            </a:r>
          </a:p>
          <a:p>
            <a:pPr lvl="1">
              <a:lnSpc>
                <a:spcPct val="90000"/>
              </a:lnSpc>
            </a:pPr>
            <a:r>
              <a:rPr lang="en-US" altLang="zh-CN" sz="2400" dirty="0">
                <a:ea typeface="宋体" panose="02010600030101010101" pitchFamily="2" charset="-122"/>
              </a:rPr>
              <a:t>Originally called </a:t>
            </a:r>
            <a:r>
              <a:rPr lang="en-US" altLang="zh-CN" sz="2400" dirty="0">
                <a:solidFill>
                  <a:srgbClr val="0000FF"/>
                </a:solidFill>
                <a:ea typeface="宋体" panose="02010600030101010101" pitchFamily="2" charset="-122"/>
              </a:rPr>
              <a:t>P()</a:t>
            </a:r>
            <a:r>
              <a:rPr lang="en-US" altLang="zh-CN" sz="2400" dirty="0">
                <a:ea typeface="宋体" panose="02010600030101010101" pitchFamily="2" charset="-122"/>
              </a:rPr>
              <a:t> and</a:t>
            </a:r>
            <a:r>
              <a:rPr lang="en-US" altLang="zh-CN" sz="2400" i="1" dirty="0">
                <a:ea typeface="宋体" panose="02010600030101010101" pitchFamily="2" charset="-122"/>
              </a:rPr>
              <a:t> </a:t>
            </a:r>
            <a:r>
              <a:rPr lang="en-US" altLang="zh-CN" sz="2400" dirty="0">
                <a:solidFill>
                  <a:srgbClr val="0000FF"/>
                </a:solidFill>
                <a:ea typeface="宋体" panose="02010600030101010101" pitchFamily="2" charset="-122"/>
              </a:rPr>
              <a:t>V()</a:t>
            </a:r>
          </a:p>
          <a:p>
            <a:pPr lvl="1">
              <a:lnSpc>
                <a:spcPct val="90000"/>
              </a:lnSpc>
            </a:pPr>
            <a:r>
              <a:rPr lang="en-US" altLang="zh-CN" sz="2400" dirty="0">
                <a:solidFill>
                  <a:srgbClr val="0000FF"/>
                </a:solidFill>
                <a:ea typeface="宋体" panose="02010600030101010101" pitchFamily="2" charset="-122"/>
                <a:sym typeface="Symbol" panose="05050102010706020507" pitchFamily="18" charset="2"/>
              </a:rPr>
              <a:t>Wait(S) {</a:t>
            </a:r>
          </a:p>
          <a:p>
            <a:pPr lvl="1">
              <a:lnSpc>
                <a:spcPct val="90000"/>
              </a:lnSpc>
              <a:buNone/>
            </a:pPr>
            <a:r>
              <a:rPr lang="en-US" altLang="zh-CN" sz="2400" dirty="0">
                <a:solidFill>
                  <a:srgbClr val="0000FF"/>
                </a:solidFill>
                <a:ea typeface="宋体" panose="02010600030101010101" pitchFamily="2" charset="-122"/>
                <a:sym typeface="Symbol" panose="05050102010706020507" pitchFamily="18" charset="2"/>
              </a:rPr>
              <a:t>          while S &lt;= 0</a:t>
            </a:r>
          </a:p>
          <a:p>
            <a:pPr lvl="1">
              <a:lnSpc>
                <a:spcPct val="90000"/>
              </a:lnSpc>
              <a:buNone/>
            </a:pPr>
            <a:r>
              <a:rPr lang="en-US" altLang="zh-CN" sz="2400" dirty="0">
                <a:solidFill>
                  <a:srgbClr val="0000FF"/>
                </a:solidFill>
                <a:ea typeface="宋体" panose="02010600030101010101" pitchFamily="2" charset="-122"/>
                <a:sym typeface="Symbol" panose="05050102010706020507" pitchFamily="18" charset="2"/>
              </a:rPr>
              <a:t>		          ; // busy wait</a:t>
            </a:r>
          </a:p>
          <a:p>
            <a:pPr lvl="1">
              <a:lnSpc>
                <a:spcPct val="90000"/>
              </a:lnSpc>
              <a:buNone/>
            </a:pPr>
            <a:r>
              <a:rPr lang="en-US" altLang="zh-CN" sz="2400" dirty="0">
                <a:solidFill>
                  <a:srgbClr val="0000FF"/>
                </a:solidFill>
                <a:ea typeface="宋体" panose="02010600030101010101" pitchFamily="2" charset="-122"/>
                <a:sym typeface="Symbol" panose="05050102010706020507" pitchFamily="18" charset="2"/>
              </a:rPr>
              <a:t>          S--;</a:t>
            </a:r>
          </a:p>
          <a:p>
            <a:pPr lvl="1">
              <a:lnSpc>
                <a:spcPct val="90000"/>
              </a:lnSpc>
              <a:buNone/>
            </a:pPr>
            <a:r>
              <a:rPr lang="en-US" altLang="zh-CN" sz="2400" dirty="0">
                <a:solidFill>
                  <a:srgbClr val="0000FF"/>
                </a:solidFill>
                <a:ea typeface="宋体" panose="02010600030101010101" pitchFamily="2" charset="-122"/>
                <a:sym typeface="Symbol" panose="05050102010706020507" pitchFamily="18" charset="2"/>
              </a:rPr>
              <a:t>            }</a:t>
            </a:r>
          </a:p>
          <a:p>
            <a:pPr lvl="1">
              <a:lnSpc>
                <a:spcPct val="90000"/>
              </a:lnSpc>
            </a:pPr>
            <a:r>
              <a:rPr lang="en-US" altLang="zh-CN" sz="2400" dirty="0">
                <a:solidFill>
                  <a:srgbClr val="0000FF"/>
                </a:solidFill>
                <a:ea typeface="宋体" panose="02010600030101010101" pitchFamily="2" charset="-122"/>
                <a:sym typeface="Symbol" panose="05050102010706020507" pitchFamily="18" charset="2"/>
              </a:rPr>
              <a:t>signal (S) { </a:t>
            </a:r>
          </a:p>
          <a:p>
            <a:pPr lvl="1">
              <a:lnSpc>
                <a:spcPct val="90000"/>
              </a:lnSpc>
              <a:buNone/>
            </a:pPr>
            <a:r>
              <a:rPr lang="en-US" altLang="zh-CN" sz="2400" dirty="0">
                <a:solidFill>
                  <a:srgbClr val="0000FF"/>
                </a:solidFill>
                <a:ea typeface="宋体" panose="02010600030101010101" pitchFamily="2" charset="-122"/>
                <a:sym typeface="Symbol" panose="05050102010706020507" pitchFamily="18" charset="2"/>
              </a:rPr>
              <a:t>        S++;</a:t>
            </a:r>
          </a:p>
          <a:p>
            <a:pPr lvl="1">
              <a:lnSpc>
                <a:spcPct val="90000"/>
              </a:lnSpc>
              <a:buNone/>
            </a:pPr>
            <a:r>
              <a:rPr lang="en-US" altLang="zh-CN" sz="2400" dirty="0">
                <a:solidFill>
                  <a:srgbClr val="0000FF"/>
                </a:solidFill>
                <a:ea typeface="宋体" panose="02010600030101010101" pitchFamily="2" charset="-122"/>
                <a:sym typeface="Symbol" panose="05050102010706020507" pitchFamily="18" charset="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651">
                                            <p:txEl>
                                              <p:pRg st="3" end="3"/>
                                            </p:txEl>
                                          </p:spTgt>
                                        </p:tgtEl>
                                        <p:attrNameLst>
                                          <p:attrName>style.visibility</p:attrName>
                                        </p:attrNameLst>
                                      </p:cBhvr>
                                      <p:to>
                                        <p:strVal val="visible"/>
                                      </p:to>
                                    </p:set>
                                    <p:anim calcmode="lin" valueType="num">
                                      <p:cBhvr additive="base">
                                        <p:cTn id="7" dur="500" fill="hold"/>
                                        <p:tgtEl>
                                          <p:spTgt spid="27651">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1">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7651">
                                            <p:txEl>
                                              <p:pRg st="4" end="4"/>
                                            </p:txEl>
                                          </p:spTgt>
                                        </p:tgtEl>
                                        <p:attrNameLst>
                                          <p:attrName>style.visibility</p:attrName>
                                        </p:attrNameLst>
                                      </p:cBhvr>
                                      <p:to>
                                        <p:strVal val="visible"/>
                                      </p:to>
                                    </p:set>
                                    <p:anim calcmode="lin" valueType="num">
                                      <p:cBhvr additive="base">
                                        <p:cTn id="11" dur="500" fill="hold"/>
                                        <p:tgtEl>
                                          <p:spTgt spid="27651">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7651">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7651">
                                            <p:txEl>
                                              <p:pRg st="5" end="5"/>
                                            </p:txEl>
                                          </p:spTgt>
                                        </p:tgtEl>
                                        <p:attrNameLst>
                                          <p:attrName>style.visibility</p:attrName>
                                        </p:attrNameLst>
                                      </p:cBhvr>
                                      <p:to>
                                        <p:strVal val="visible"/>
                                      </p:to>
                                    </p:set>
                                    <p:anim calcmode="lin" valueType="num">
                                      <p:cBhvr additive="base">
                                        <p:cTn id="15" dur="500" fill="hold"/>
                                        <p:tgtEl>
                                          <p:spTgt spid="27651">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7651">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7651">
                                            <p:txEl>
                                              <p:pRg st="6" end="6"/>
                                            </p:txEl>
                                          </p:spTgt>
                                        </p:tgtEl>
                                        <p:attrNameLst>
                                          <p:attrName>style.visibility</p:attrName>
                                        </p:attrNameLst>
                                      </p:cBhvr>
                                      <p:to>
                                        <p:strVal val="visible"/>
                                      </p:to>
                                    </p:set>
                                    <p:anim calcmode="lin" valueType="num">
                                      <p:cBhvr additive="base">
                                        <p:cTn id="19" dur="500" fill="hold"/>
                                        <p:tgtEl>
                                          <p:spTgt spid="27651">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651">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7651">
                                            <p:txEl>
                                              <p:pRg st="7" end="7"/>
                                            </p:txEl>
                                          </p:spTgt>
                                        </p:tgtEl>
                                        <p:attrNameLst>
                                          <p:attrName>style.visibility</p:attrName>
                                        </p:attrNameLst>
                                      </p:cBhvr>
                                      <p:to>
                                        <p:strVal val="visible"/>
                                      </p:to>
                                    </p:set>
                                    <p:anim calcmode="lin" valueType="num">
                                      <p:cBhvr additive="base">
                                        <p:cTn id="23" dur="500" fill="hold"/>
                                        <p:tgtEl>
                                          <p:spTgt spid="27651">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765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7651">
                                            <p:txEl>
                                              <p:pRg st="8" end="8"/>
                                            </p:txEl>
                                          </p:spTgt>
                                        </p:tgtEl>
                                        <p:attrNameLst>
                                          <p:attrName>style.visibility</p:attrName>
                                        </p:attrNameLst>
                                      </p:cBhvr>
                                      <p:to>
                                        <p:strVal val="visible"/>
                                      </p:to>
                                    </p:set>
                                    <p:anim calcmode="lin" valueType="num">
                                      <p:cBhvr additive="base">
                                        <p:cTn id="29" dur="500" fill="hold"/>
                                        <p:tgtEl>
                                          <p:spTgt spid="27651">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7651">
                                            <p:txEl>
                                              <p:pRg st="8" end="8"/>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7651">
                                            <p:txEl>
                                              <p:pRg st="9" end="9"/>
                                            </p:txEl>
                                          </p:spTgt>
                                        </p:tgtEl>
                                        <p:attrNameLst>
                                          <p:attrName>style.visibility</p:attrName>
                                        </p:attrNameLst>
                                      </p:cBhvr>
                                      <p:to>
                                        <p:strVal val="visible"/>
                                      </p:to>
                                    </p:set>
                                    <p:anim calcmode="lin" valueType="num">
                                      <p:cBhvr additive="base">
                                        <p:cTn id="33" dur="500" fill="hold"/>
                                        <p:tgtEl>
                                          <p:spTgt spid="27651">
                                            <p:txEl>
                                              <p:pRg st="9" end="9"/>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7651">
                                            <p:txEl>
                                              <p:pRg st="9" end="9"/>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7651">
                                            <p:txEl>
                                              <p:pRg st="10" end="10"/>
                                            </p:txEl>
                                          </p:spTgt>
                                        </p:tgtEl>
                                        <p:attrNameLst>
                                          <p:attrName>style.visibility</p:attrName>
                                        </p:attrNameLst>
                                      </p:cBhvr>
                                      <p:to>
                                        <p:strVal val="visible"/>
                                      </p:to>
                                    </p:set>
                                    <p:anim calcmode="lin" valueType="num">
                                      <p:cBhvr additive="base">
                                        <p:cTn id="37" dur="500" fill="hold"/>
                                        <p:tgtEl>
                                          <p:spTgt spid="27651">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7651">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p:cNvSpPr>
            <a:spLocks noGrp="1"/>
          </p:cNvSpPr>
          <p:nvPr>
            <p:ph type="title"/>
          </p:nvPr>
        </p:nvSpPr>
        <p:spPr>
          <a:ln/>
        </p:spPr>
        <p:txBody>
          <a:bodyPr vert="horz" wrap="square" lIns="91440" tIns="45720" rIns="91440" bIns="45720" anchor="b" anchorCtr="0"/>
          <a:lstStyle/>
          <a:p>
            <a:r>
              <a:rPr lang="en-US" altLang="zh-CN" dirty="0">
                <a:ea typeface="宋体" panose="02010600030101010101" pitchFamily="2" charset="-122"/>
              </a:rPr>
              <a:t>Semaphore Implementation</a:t>
            </a:r>
          </a:p>
        </p:txBody>
      </p:sp>
      <p:sp>
        <p:nvSpPr>
          <p:cNvPr id="77826" name="Rectangle 3"/>
          <p:cNvSpPr>
            <a:spLocks noGrp="1"/>
          </p:cNvSpPr>
          <p:nvPr>
            <p:ph idx="1"/>
          </p:nvPr>
        </p:nvSpPr>
        <p:spPr>
          <a:xfrm>
            <a:off x="550863" y="1282700"/>
            <a:ext cx="8302625" cy="4483100"/>
          </a:xfrm>
          <a:ln/>
        </p:spPr>
        <p:txBody>
          <a:bodyPr vert="horz" wrap="square" lIns="91440" tIns="45720" rIns="91440" bIns="45720" anchor="t" anchorCtr="0"/>
          <a:lstStyle/>
          <a:p>
            <a:r>
              <a:rPr lang="en-US" altLang="zh-CN" sz="2400" dirty="0">
                <a:ea typeface="宋体" panose="02010600030101010101" pitchFamily="2" charset="-122"/>
              </a:rPr>
              <a:t>The main disadvantage of the above semaphore definition is </a:t>
            </a:r>
            <a:r>
              <a:rPr lang="en-US" altLang="zh-CN" sz="2400" dirty="0">
                <a:solidFill>
                  <a:srgbClr val="FF3300"/>
                </a:solidFill>
                <a:ea typeface="宋体" panose="02010600030101010101" pitchFamily="2" charset="-122"/>
              </a:rPr>
              <a:t>busy waiting</a:t>
            </a:r>
            <a:r>
              <a:rPr lang="en-US" altLang="zh-CN" sz="2400" dirty="0">
                <a:ea typeface="宋体" panose="02010600030101010101" pitchFamily="2" charset="-122"/>
              </a:rPr>
              <a:t> which wastes CPU cycles.</a:t>
            </a:r>
          </a:p>
          <a:p>
            <a:pPr lvl="1"/>
            <a:r>
              <a:rPr lang="en-US" altLang="zh-CN" sz="2400" dirty="0">
                <a:ea typeface="宋体" panose="02010600030101010101" pitchFamily="2" charset="-122"/>
              </a:rPr>
              <a:t>Spinlock</a:t>
            </a:r>
            <a:r>
              <a:rPr lang="zh-CN" altLang="en-US" sz="2400" dirty="0">
                <a:ea typeface="宋体" panose="02010600030101010101" pitchFamily="2" charset="-122"/>
              </a:rPr>
              <a:t>（自旋锁）</a:t>
            </a:r>
            <a:endParaRPr lang="en-US" altLang="zh-CN" sz="2400" dirty="0">
              <a:ea typeface="宋体" panose="02010600030101010101" pitchFamily="2" charset="-122"/>
            </a:endParaRPr>
          </a:p>
          <a:p>
            <a:pPr lvl="1"/>
            <a:r>
              <a:rPr lang="en-US" altLang="zh-CN" sz="2400" dirty="0">
                <a:ea typeface="宋体" panose="02010600030101010101" pitchFamily="2" charset="-122"/>
              </a:rPr>
              <a:t>Process spins while waiting for the lock.</a:t>
            </a:r>
          </a:p>
          <a:p>
            <a:pPr lvl="1"/>
            <a:r>
              <a:rPr lang="en-US" altLang="zh-CN" sz="2400" dirty="0">
                <a:ea typeface="宋体" panose="02010600030101010101" pitchFamily="2" charset="-122"/>
              </a:rPr>
              <a:t>In a multiprocessor system, spinlock is often used to protect a short code.</a:t>
            </a:r>
            <a:r>
              <a:rPr lang="zh-CN" altLang="en-US" sz="2400" dirty="0">
                <a:ea typeface="宋体" panose="02010600030101010101" pitchFamily="2" charset="-122"/>
              </a:rPr>
              <a:t>（通常用于保护</a:t>
            </a:r>
            <a:r>
              <a:rPr lang="zh-CN" altLang="en-US" sz="2400" u="sng" dirty="0">
                <a:ea typeface="宋体" panose="02010600030101010101" pitchFamily="2" charset="-122"/>
              </a:rPr>
              <a:t>短</a:t>
            </a:r>
            <a:r>
              <a:rPr lang="zh-CN" altLang="en-US" sz="2400" dirty="0">
                <a:ea typeface="宋体" panose="02010600030101010101" pitchFamily="2" charset="-122"/>
              </a:rPr>
              <a:t>代码）</a:t>
            </a:r>
            <a:endParaRPr lang="en-US" altLang="zh-CN" sz="2400" dirty="0">
              <a:ea typeface="宋体" panose="02010600030101010101" pitchFamily="2" charset="-122"/>
            </a:endParaRPr>
          </a:p>
          <a:p>
            <a:r>
              <a:rPr lang="en-US" altLang="zh-CN" sz="2400" dirty="0">
                <a:ea typeface="宋体" panose="02010600030101010101" pitchFamily="2" charset="-122"/>
              </a:rPr>
              <a:t>Note that applications may spend lots of time in critical sections and therefore this is </a:t>
            </a:r>
            <a:r>
              <a:rPr lang="en-US" altLang="zh-CN" sz="2400" dirty="0">
                <a:solidFill>
                  <a:srgbClr val="FF0000"/>
                </a:solidFill>
                <a:ea typeface="宋体" panose="02010600030101010101" pitchFamily="2" charset="-122"/>
              </a:rPr>
              <a:t>not a good solution</a:t>
            </a:r>
            <a:r>
              <a:rPr lang="en-US" altLang="zh-CN" sz="2400" dirty="0">
                <a:ea typeface="宋体" panose="02010600030101010101" pitchFamily="2" charset="-122"/>
              </a:rPr>
              <a:t>.</a:t>
            </a:r>
            <a:r>
              <a:rPr lang="zh-CN" altLang="en-US" sz="2400" dirty="0">
                <a:ea typeface="宋体" panose="02010600030101010101" pitchFamily="2" charset="-122"/>
              </a:rPr>
              <a:t>（不是一个好的解决方案）</a:t>
            </a:r>
            <a:endParaRPr lang="en-US" altLang="zh-CN" sz="2400" dirty="0">
              <a:ea typeface="宋体" panose="02010600030101010101" pitchFamily="2" charset="-122"/>
            </a:endParaRPr>
          </a:p>
          <a:p>
            <a:pPr>
              <a:buNone/>
            </a:pPr>
            <a:r>
              <a:rPr lang="en-US" altLang="zh-CN" sz="2400" dirty="0">
                <a:ea typeface="宋体" panose="02010600030101010101" pitchFamily="2" charset="-122"/>
              </a:rPr>
              <a:t> </a:t>
            </a:r>
          </a:p>
          <a:p>
            <a:pPr lvl="1">
              <a:buNone/>
            </a:pPr>
            <a:endParaRPr lang="en-US" altLang="zh-CN"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82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p:cNvSpPr>
            <a:spLocks noGrp="1"/>
          </p:cNvSpPr>
          <p:nvPr>
            <p:ph type="title"/>
          </p:nvPr>
        </p:nvSpPr>
        <p:spPr>
          <a:xfrm>
            <a:off x="685800" y="142875"/>
            <a:ext cx="8077200" cy="609600"/>
          </a:xfrm>
          <a:ln/>
        </p:spPr>
        <p:txBody>
          <a:bodyPr vert="horz" wrap="square" lIns="91440" tIns="45720" rIns="91440" bIns="45720" anchor="b" anchorCtr="0"/>
          <a:lstStyle/>
          <a:p>
            <a:r>
              <a:rPr lang="en-US" altLang="zh-CN" sz="2400" dirty="0">
                <a:ea typeface="宋体" panose="02010600030101010101" pitchFamily="2" charset="-122"/>
              </a:rPr>
              <a:t>Semaphore Implementation with no Busy waiting</a:t>
            </a:r>
            <a:r>
              <a:rPr lang="en-US" altLang="zh-CN" sz="2800" dirty="0">
                <a:ea typeface="宋体" panose="02010600030101010101" pitchFamily="2" charset="-122"/>
              </a:rPr>
              <a:t> </a:t>
            </a:r>
          </a:p>
        </p:txBody>
      </p:sp>
      <p:sp>
        <p:nvSpPr>
          <p:cNvPr id="79874" name="Rectangle 3"/>
          <p:cNvSpPr>
            <a:spLocks noGrp="1"/>
          </p:cNvSpPr>
          <p:nvPr>
            <p:ph idx="1"/>
          </p:nvPr>
        </p:nvSpPr>
        <p:spPr>
          <a:xfrm>
            <a:off x="469900" y="1057275"/>
            <a:ext cx="8267700" cy="5068888"/>
          </a:xfrm>
          <a:ln/>
        </p:spPr>
        <p:txBody>
          <a:bodyPr vert="horz" wrap="square" lIns="91440" tIns="45720" rIns="91440" bIns="45720" anchor="t" anchorCtr="0"/>
          <a:lstStyle/>
          <a:p>
            <a:r>
              <a:rPr lang="en-US" altLang="zh-CN" sz="2400" dirty="0">
                <a:ea typeface="宋体" panose="02010600030101010101" pitchFamily="2" charset="-122"/>
              </a:rPr>
              <a:t>To overcome busy waiting, we can modify the implementation of semaphore S and the definition of wait() and signal(). </a:t>
            </a:r>
            <a:r>
              <a:rPr lang="zh-CN" altLang="en-US" sz="2400" dirty="0">
                <a:ea typeface="宋体" panose="02010600030101010101" pitchFamily="2" charset="-122"/>
              </a:rPr>
              <a:t>（修改</a:t>
            </a:r>
            <a:r>
              <a:rPr lang="en-US" altLang="zh-CN" sz="2400" dirty="0">
                <a:ea typeface="宋体" panose="02010600030101010101" pitchFamily="2" charset="-122"/>
              </a:rPr>
              <a:t>wait()</a:t>
            </a:r>
            <a:r>
              <a:rPr lang="zh-CN" altLang="en-US" sz="2400" dirty="0">
                <a:ea typeface="宋体" panose="02010600030101010101" pitchFamily="2" charset="-122"/>
              </a:rPr>
              <a:t>和</a:t>
            </a:r>
            <a:r>
              <a:rPr lang="en-US" altLang="zh-CN" sz="2400" dirty="0">
                <a:ea typeface="宋体" panose="02010600030101010101" pitchFamily="2" charset="-122"/>
              </a:rPr>
              <a:t>signal()</a:t>
            </a:r>
            <a:r>
              <a:rPr lang="zh-CN" altLang="en-US" sz="2400" dirty="0">
                <a:ea typeface="宋体" panose="02010600030101010101" pitchFamily="2" charset="-122"/>
              </a:rPr>
              <a:t>的定义）</a:t>
            </a:r>
            <a:endParaRPr lang="en-US" altLang="zh-CN" sz="2400" dirty="0">
              <a:ea typeface="宋体" panose="02010600030101010101" pitchFamily="2" charset="-122"/>
            </a:endParaRPr>
          </a:p>
          <a:p>
            <a:r>
              <a:rPr lang="en-US" altLang="zh-CN" sz="2400" dirty="0">
                <a:ea typeface="宋体" panose="02010600030101010101" pitchFamily="2" charset="-122"/>
              </a:rPr>
              <a:t>Now that a semaphore is a </a:t>
            </a:r>
            <a:r>
              <a:rPr lang="en-US" altLang="zh-CN" sz="2400" dirty="0">
                <a:solidFill>
                  <a:srgbClr val="C00000"/>
                </a:solidFill>
                <a:ea typeface="宋体" panose="02010600030101010101" pitchFamily="2" charset="-122"/>
              </a:rPr>
              <a:t>struct.</a:t>
            </a:r>
            <a:r>
              <a:rPr lang="en-US" altLang="zh-CN" sz="2400" dirty="0">
                <a:ea typeface="宋体" panose="02010600030101010101" pitchFamily="2" charset="-122"/>
              </a:rPr>
              <a:t> </a:t>
            </a:r>
          </a:p>
          <a:p>
            <a:pPr lvl="1"/>
            <a:r>
              <a:rPr lang="en-US" altLang="zh-CN" sz="2400" dirty="0">
                <a:ea typeface="宋体" panose="02010600030101010101" pitchFamily="2" charset="-122"/>
              </a:rPr>
              <a:t> a value (of type integer)</a:t>
            </a:r>
          </a:p>
          <a:p>
            <a:pPr lvl="1"/>
            <a:r>
              <a:rPr lang="en-US" altLang="zh-CN" sz="2400" dirty="0">
                <a:ea typeface="宋体" panose="02010600030101010101" pitchFamily="2" charset="-122"/>
              </a:rPr>
              <a:t> a waiting queue</a:t>
            </a:r>
          </a:p>
          <a:p>
            <a:r>
              <a:rPr lang="en-US" altLang="zh-CN" sz="2400" dirty="0">
                <a:ea typeface="宋体" panose="02010600030101010101" pitchFamily="2" charset="-122"/>
              </a:rPr>
              <a:t>Two operations:</a:t>
            </a:r>
          </a:p>
          <a:p>
            <a:pPr lvl="1"/>
            <a:r>
              <a:rPr lang="en-US" altLang="zh-CN" sz="2400" dirty="0">
                <a:solidFill>
                  <a:srgbClr val="0000FF"/>
                </a:solidFill>
                <a:ea typeface="宋体" panose="02010600030101010101" pitchFamily="2" charset="-122"/>
              </a:rPr>
              <a:t>block</a:t>
            </a:r>
            <a:r>
              <a:rPr lang="en-US" altLang="zh-CN" sz="2400" dirty="0">
                <a:ea typeface="宋体" panose="02010600030101010101" pitchFamily="2" charset="-122"/>
              </a:rPr>
              <a:t> – place the process invoking the operation on the  appropriate waiting queue.</a:t>
            </a:r>
          </a:p>
          <a:p>
            <a:pPr lvl="1"/>
            <a:r>
              <a:rPr lang="en-US" altLang="zh-CN" sz="2400" dirty="0">
                <a:solidFill>
                  <a:srgbClr val="0000FF"/>
                </a:solidFill>
                <a:ea typeface="宋体" panose="02010600030101010101" pitchFamily="2" charset="-122"/>
              </a:rPr>
              <a:t>wakeup </a:t>
            </a:r>
            <a:r>
              <a:rPr lang="en-US" altLang="zh-CN" sz="2400" dirty="0">
                <a:ea typeface="宋体" panose="02010600030101010101" pitchFamily="2" charset="-122"/>
              </a:rPr>
              <a:t>– remove one of processes in the waiting queue and place it in the ready queue.</a:t>
            </a:r>
          </a:p>
          <a:p>
            <a:pPr>
              <a:buNone/>
            </a:pPr>
            <a:r>
              <a:rPr lang="en-US" altLang="zh-CN" sz="2400" dirty="0">
                <a:solidFill>
                  <a:srgbClr val="0000FF"/>
                </a:solidFill>
                <a:ea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87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987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987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p:cNvSpPr>
          <p:nvPr>
            <p:ph type="title"/>
          </p:nvPr>
        </p:nvSpPr>
        <p:spPr>
          <a:xfrm>
            <a:off x="685800" y="142875"/>
            <a:ext cx="8458200" cy="581025"/>
          </a:xfrm>
          <a:ln/>
        </p:spPr>
        <p:txBody>
          <a:bodyPr vert="horz" wrap="square" lIns="91440" tIns="45720" rIns="91440" bIns="45720" anchor="b" anchorCtr="0"/>
          <a:lstStyle/>
          <a:p>
            <a:r>
              <a:rPr lang="en-US" altLang="zh-CN" sz="2400" dirty="0">
                <a:ea typeface="宋体" panose="02010600030101010101" pitchFamily="2" charset="-122"/>
              </a:rPr>
              <a:t>Semaphore Implementation with no Busy waiting</a:t>
            </a:r>
            <a:r>
              <a:rPr lang="en-US" altLang="zh-CN" sz="2800" dirty="0">
                <a:ea typeface="宋体" panose="02010600030101010101" pitchFamily="2" charset="-122"/>
              </a:rPr>
              <a:t> </a:t>
            </a:r>
            <a:r>
              <a:rPr lang="en-US" altLang="zh-CN" sz="2400" dirty="0">
                <a:ea typeface="宋体" panose="02010600030101010101" pitchFamily="2" charset="-122"/>
              </a:rPr>
              <a:t>(Cont.)</a:t>
            </a:r>
          </a:p>
        </p:txBody>
      </p:sp>
      <p:sp>
        <p:nvSpPr>
          <p:cNvPr id="31747" name="Rectangle 3"/>
          <p:cNvSpPr>
            <a:spLocks noGrp="1"/>
          </p:cNvSpPr>
          <p:nvPr>
            <p:ph idx="1"/>
          </p:nvPr>
        </p:nvSpPr>
        <p:spPr>
          <a:xfrm>
            <a:off x="434975" y="1028700"/>
            <a:ext cx="8534400" cy="4940300"/>
          </a:xfrm>
          <a:ln/>
        </p:spPr>
        <p:txBody>
          <a:bodyPr vert="horz" wrap="square" lIns="91440" tIns="45720" rIns="91440" bIns="45720" anchor="t" anchorCtr="0"/>
          <a:lstStyle/>
          <a:p>
            <a:pPr>
              <a:lnSpc>
                <a:spcPct val="80000"/>
              </a:lnSpc>
            </a:pPr>
            <a:r>
              <a:rPr lang="en-US" altLang="zh-CN" sz="2000" dirty="0">
                <a:ea typeface="宋体" panose="02010600030101010101" pitchFamily="2" charset="-122"/>
              </a:rPr>
              <a:t>Implementation of wait:</a:t>
            </a:r>
          </a:p>
          <a:p>
            <a:pPr>
              <a:lnSpc>
                <a:spcPct val="80000"/>
              </a:lnSpc>
              <a:buNone/>
            </a:pPr>
            <a:r>
              <a:rPr lang="en-US" altLang="zh-CN" sz="2000" dirty="0">
                <a:ea typeface="宋体" panose="02010600030101010101" pitchFamily="2" charset="-122"/>
              </a:rPr>
              <a:t>                        </a:t>
            </a:r>
            <a:r>
              <a:rPr lang="en-US" altLang="zh-CN" sz="2000" dirty="0">
                <a:solidFill>
                  <a:srgbClr val="0000FF"/>
                </a:solidFill>
                <a:ea typeface="宋体" panose="02010600030101010101" pitchFamily="2" charset="-122"/>
              </a:rPr>
              <a:t>wait (S){ </a:t>
            </a:r>
          </a:p>
          <a:p>
            <a:pPr>
              <a:lnSpc>
                <a:spcPct val="80000"/>
              </a:lnSpc>
              <a:buNone/>
            </a:pPr>
            <a:r>
              <a:rPr lang="en-US" altLang="zh-CN" sz="2000" i="1" dirty="0">
                <a:solidFill>
                  <a:srgbClr val="0000FF"/>
                </a:solidFill>
                <a:ea typeface="宋体" panose="02010600030101010101" pitchFamily="2" charset="-122"/>
              </a:rPr>
              <a:t>	                          </a:t>
            </a:r>
            <a:r>
              <a:rPr lang="en-US" altLang="zh-CN" sz="2000" dirty="0">
                <a:solidFill>
                  <a:srgbClr val="0000FF"/>
                </a:solidFill>
                <a:ea typeface="宋体" panose="02010600030101010101" pitchFamily="2" charset="-122"/>
              </a:rPr>
              <a:t>value--;</a:t>
            </a:r>
          </a:p>
          <a:p>
            <a:pPr>
              <a:lnSpc>
                <a:spcPct val="80000"/>
              </a:lnSpc>
              <a:buNone/>
            </a:pPr>
            <a:r>
              <a:rPr lang="en-US" altLang="zh-CN" sz="2000" dirty="0">
                <a:solidFill>
                  <a:srgbClr val="0000FF"/>
                </a:solidFill>
                <a:ea typeface="宋体" panose="02010600030101010101" pitchFamily="2" charset="-122"/>
              </a:rPr>
              <a:t>	                          if (value </a:t>
            </a:r>
            <a:r>
              <a:rPr lang="en-US" altLang="zh-CN" sz="2000" i="1" dirty="0">
                <a:solidFill>
                  <a:srgbClr val="0000FF"/>
                </a:solidFill>
                <a:ea typeface="宋体" panose="02010600030101010101" pitchFamily="2" charset="-122"/>
              </a:rPr>
              <a:t>&lt; </a:t>
            </a:r>
            <a:r>
              <a:rPr lang="en-US" altLang="zh-CN" sz="2000" dirty="0">
                <a:solidFill>
                  <a:srgbClr val="0000FF"/>
                </a:solidFill>
                <a:ea typeface="宋体" panose="02010600030101010101" pitchFamily="2" charset="-122"/>
              </a:rPr>
              <a:t>0) { </a:t>
            </a:r>
          </a:p>
          <a:p>
            <a:pPr>
              <a:lnSpc>
                <a:spcPct val="80000"/>
              </a:lnSpc>
              <a:buNone/>
            </a:pPr>
            <a:r>
              <a:rPr lang="en-US" altLang="zh-CN" sz="2000" i="1" dirty="0">
                <a:solidFill>
                  <a:srgbClr val="0000FF"/>
                </a:solidFill>
                <a:ea typeface="宋体" panose="02010600030101010101" pitchFamily="2" charset="-122"/>
              </a:rPr>
              <a:t>			              add this process to waiting queue</a:t>
            </a:r>
          </a:p>
          <a:p>
            <a:pPr>
              <a:lnSpc>
                <a:spcPct val="80000"/>
              </a:lnSpc>
              <a:buNone/>
            </a:pPr>
            <a:r>
              <a:rPr lang="en-US" altLang="zh-CN" sz="2000" dirty="0">
                <a:solidFill>
                  <a:srgbClr val="0000FF"/>
                </a:solidFill>
                <a:ea typeface="宋体" panose="02010600030101010101" pitchFamily="2" charset="-122"/>
              </a:rPr>
              <a:t>			               block();  }</a:t>
            </a:r>
          </a:p>
          <a:p>
            <a:pPr>
              <a:lnSpc>
                <a:spcPct val="80000"/>
              </a:lnSpc>
              <a:buNone/>
            </a:pPr>
            <a:r>
              <a:rPr lang="en-US" altLang="zh-CN" sz="2000" dirty="0">
                <a:solidFill>
                  <a:srgbClr val="0000FF"/>
                </a:solidFill>
                <a:ea typeface="宋体" panose="02010600030101010101" pitchFamily="2" charset="-122"/>
              </a:rPr>
              <a:t>                         }</a:t>
            </a:r>
          </a:p>
          <a:p>
            <a:pPr>
              <a:lnSpc>
                <a:spcPct val="80000"/>
              </a:lnSpc>
              <a:buNone/>
            </a:pPr>
            <a:endParaRPr lang="en-US" altLang="zh-CN" sz="2000" dirty="0">
              <a:solidFill>
                <a:srgbClr val="0000FF"/>
              </a:solidFill>
              <a:ea typeface="宋体" panose="02010600030101010101" pitchFamily="2" charset="-122"/>
            </a:endParaRPr>
          </a:p>
          <a:p>
            <a:pPr>
              <a:lnSpc>
                <a:spcPct val="80000"/>
              </a:lnSpc>
            </a:pPr>
            <a:r>
              <a:rPr lang="en-US" altLang="zh-CN" sz="2000" dirty="0">
                <a:ea typeface="宋体" panose="02010600030101010101" pitchFamily="2" charset="-122"/>
              </a:rPr>
              <a:t>Implementation of signal:</a:t>
            </a:r>
          </a:p>
          <a:p>
            <a:pPr>
              <a:lnSpc>
                <a:spcPct val="80000"/>
              </a:lnSpc>
              <a:buNone/>
            </a:pPr>
            <a:r>
              <a:rPr lang="en-US" altLang="zh-CN" sz="2000" dirty="0">
                <a:ea typeface="宋体" panose="02010600030101010101" pitchFamily="2" charset="-122"/>
              </a:rPr>
              <a:t>                        </a:t>
            </a:r>
            <a:r>
              <a:rPr lang="en-US" altLang="zh-CN" sz="2000" dirty="0">
                <a:solidFill>
                  <a:srgbClr val="0000FF"/>
                </a:solidFill>
                <a:ea typeface="宋体" panose="02010600030101010101" pitchFamily="2" charset="-122"/>
              </a:rPr>
              <a:t>Signal (S){ </a:t>
            </a:r>
          </a:p>
          <a:p>
            <a:pPr>
              <a:lnSpc>
                <a:spcPct val="80000"/>
              </a:lnSpc>
              <a:buNone/>
            </a:pPr>
            <a:r>
              <a:rPr lang="en-US" altLang="zh-CN" sz="2000" dirty="0">
                <a:solidFill>
                  <a:srgbClr val="0000FF"/>
                </a:solidFill>
                <a:ea typeface="宋体" panose="02010600030101010101" pitchFamily="2" charset="-122"/>
              </a:rPr>
              <a:t>	                             value++;</a:t>
            </a:r>
          </a:p>
          <a:p>
            <a:pPr>
              <a:lnSpc>
                <a:spcPct val="80000"/>
              </a:lnSpc>
              <a:buNone/>
            </a:pPr>
            <a:r>
              <a:rPr lang="en-US" altLang="zh-CN" sz="2000" dirty="0">
                <a:solidFill>
                  <a:srgbClr val="0000FF"/>
                </a:solidFill>
                <a:ea typeface="宋体" panose="02010600030101010101" pitchFamily="2" charset="-122"/>
              </a:rPr>
              <a:t>	                              if (value </a:t>
            </a:r>
            <a:r>
              <a:rPr lang="en-US" altLang="zh-CN" sz="2000" i="1" dirty="0">
                <a:solidFill>
                  <a:srgbClr val="0000FF"/>
                </a:solidFill>
                <a:ea typeface="宋体" panose="02010600030101010101" pitchFamily="2" charset="-122"/>
              </a:rPr>
              <a:t>&lt;</a:t>
            </a:r>
            <a:r>
              <a:rPr lang="en-US" altLang="zh-CN" sz="2000" dirty="0">
                <a:solidFill>
                  <a:srgbClr val="0000FF"/>
                </a:solidFill>
                <a:ea typeface="宋体" panose="02010600030101010101" pitchFamily="2" charset="-122"/>
              </a:rPr>
              <a:t>= 0) { </a:t>
            </a:r>
          </a:p>
          <a:p>
            <a:pPr>
              <a:lnSpc>
                <a:spcPct val="80000"/>
              </a:lnSpc>
              <a:buNone/>
            </a:pPr>
            <a:r>
              <a:rPr lang="en-US" altLang="zh-CN" sz="2000" i="1" dirty="0">
                <a:solidFill>
                  <a:srgbClr val="0000FF"/>
                </a:solidFill>
                <a:ea typeface="宋体" panose="02010600030101010101" pitchFamily="2" charset="-122"/>
              </a:rPr>
              <a:t>			                 remove a process P from the waiting queue</a:t>
            </a:r>
          </a:p>
          <a:p>
            <a:pPr>
              <a:lnSpc>
                <a:spcPct val="80000"/>
              </a:lnSpc>
              <a:buNone/>
            </a:pPr>
            <a:r>
              <a:rPr lang="en-US" altLang="zh-CN" sz="2000" dirty="0">
                <a:solidFill>
                  <a:srgbClr val="0000FF"/>
                </a:solidFill>
                <a:ea typeface="宋体" panose="02010600030101010101" pitchFamily="2" charset="-122"/>
              </a:rPr>
              <a:t>			                  wakeup(P);  }</a:t>
            </a:r>
          </a:p>
          <a:p>
            <a:pPr>
              <a:lnSpc>
                <a:spcPct val="80000"/>
              </a:lnSpc>
              <a:buNone/>
            </a:pPr>
            <a:r>
              <a:rPr lang="en-US" altLang="zh-CN" sz="2000" dirty="0">
                <a:solidFill>
                  <a:srgbClr val="0000FF"/>
                </a:solidFill>
                <a:ea typeface="宋体" panose="02010600030101010101" pitchFamily="2" charset="-122"/>
              </a:rPr>
              <a:t>                        }</a:t>
            </a:r>
          </a:p>
          <a:p>
            <a:pPr>
              <a:lnSpc>
                <a:spcPct val="80000"/>
              </a:lnSpc>
              <a:buNone/>
            </a:pPr>
            <a:endParaRPr lang="en-US" altLang="zh-CN" sz="2000" dirty="0">
              <a:solidFill>
                <a:srgbClr val="0000FF"/>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747">
                                            <p:txEl>
                                              <p:pRg st="8" end="8"/>
                                            </p:txEl>
                                          </p:spTgt>
                                        </p:tgtEl>
                                        <p:attrNameLst>
                                          <p:attrName>style.visibility</p:attrName>
                                        </p:attrNameLst>
                                      </p:cBhvr>
                                      <p:to>
                                        <p:strVal val="visible"/>
                                      </p:to>
                                    </p:set>
                                    <p:anim calcmode="lin" valueType="num">
                                      <p:cBhvr additive="base">
                                        <p:cTn id="7" dur="500" fill="hold"/>
                                        <p:tgtEl>
                                          <p:spTgt spid="31747">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747">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1747">
                                            <p:txEl>
                                              <p:pRg st="9" end="9"/>
                                            </p:txEl>
                                          </p:spTgt>
                                        </p:tgtEl>
                                        <p:attrNameLst>
                                          <p:attrName>style.visibility</p:attrName>
                                        </p:attrNameLst>
                                      </p:cBhvr>
                                      <p:to>
                                        <p:strVal val="visible"/>
                                      </p:to>
                                    </p:set>
                                    <p:anim calcmode="lin" valueType="num">
                                      <p:cBhvr additive="base">
                                        <p:cTn id="11" dur="500" fill="hold"/>
                                        <p:tgtEl>
                                          <p:spTgt spid="31747">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1747">
                                            <p:txEl>
                                              <p:pRg st="9" end="9"/>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1747">
                                            <p:txEl>
                                              <p:pRg st="10" end="10"/>
                                            </p:txEl>
                                          </p:spTgt>
                                        </p:tgtEl>
                                        <p:attrNameLst>
                                          <p:attrName>style.visibility</p:attrName>
                                        </p:attrNameLst>
                                      </p:cBhvr>
                                      <p:to>
                                        <p:strVal val="visible"/>
                                      </p:to>
                                    </p:set>
                                    <p:anim calcmode="lin" valueType="num">
                                      <p:cBhvr additive="base">
                                        <p:cTn id="15" dur="500" fill="hold"/>
                                        <p:tgtEl>
                                          <p:spTgt spid="31747">
                                            <p:txEl>
                                              <p:pRg st="10" end="1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1747">
                                            <p:txEl>
                                              <p:pRg st="10" end="10"/>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1747">
                                            <p:txEl>
                                              <p:pRg st="11" end="11"/>
                                            </p:txEl>
                                          </p:spTgt>
                                        </p:tgtEl>
                                        <p:attrNameLst>
                                          <p:attrName>style.visibility</p:attrName>
                                        </p:attrNameLst>
                                      </p:cBhvr>
                                      <p:to>
                                        <p:strVal val="visible"/>
                                      </p:to>
                                    </p:set>
                                    <p:anim calcmode="lin" valueType="num">
                                      <p:cBhvr additive="base">
                                        <p:cTn id="19" dur="500" fill="hold"/>
                                        <p:tgtEl>
                                          <p:spTgt spid="31747">
                                            <p:txEl>
                                              <p:pRg st="11" end="1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747">
                                            <p:txEl>
                                              <p:pRg st="11" end="11"/>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1747">
                                            <p:txEl>
                                              <p:pRg st="12" end="12"/>
                                            </p:txEl>
                                          </p:spTgt>
                                        </p:tgtEl>
                                        <p:attrNameLst>
                                          <p:attrName>style.visibility</p:attrName>
                                        </p:attrNameLst>
                                      </p:cBhvr>
                                      <p:to>
                                        <p:strVal val="visible"/>
                                      </p:to>
                                    </p:set>
                                    <p:anim calcmode="lin" valueType="num">
                                      <p:cBhvr additive="base">
                                        <p:cTn id="23" dur="500" fill="hold"/>
                                        <p:tgtEl>
                                          <p:spTgt spid="31747">
                                            <p:txEl>
                                              <p:pRg st="12" end="1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1747">
                                            <p:txEl>
                                              <p:pRg st="12" end="1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1747">
                                            <p:txEl>
                                              <p:pRg st="13" end="13"/>
                                            </p:txEl>
                                          </p:spTgt>
                                        </p:tgtEl>
                                        <p:attrNameLst>
                                          <p:attrName>style.visibility</p:attrName>
                                        </p:attrNameLst>
                                      </p:cBhvr>
                                      <p:to>
                                        <p:strVal val="visible"/>
                                      </p:to>
                                    </p:set>
                                    <p:anim calcmode="lin" valueType="num">
                                      <p:cBhvr additive="base">
                                        <p:cTn id="27" dur="500" fill="hold"/>
                                        <p:tgtEl>
                                          <p:spTgt spid="31747">
                                            <p:txEl>
                                              <p:pRg st="13" end="1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1747">
                                            <p:txEl>
                                              <p:pRg st="13" end="13"/>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1747">
                                            <p:txEl>
                                              <p:pRg st="14" end="14"/>
                                            </p:txEl>
                                          </p:spTgt>
                                        </p:tgtEl>
                                        <p:attrNameLst>
                                          <p:attrName>style.visibility</p:attrName>
                                        </p:attrNameLst>
                                      </p:cBhvr>
                                      <p:to>
                                        <p:strVal val="visible"/>
                                      </p:to>
                                    </p:set>
                                    <p:anim calcmode="lin" valueType="num">
                                      <p:cBhvr additive="base">
                                        <p:cTn id="31" dur="500" fill="hold"/>
                                        <p:tgtEl>
                                          <p:spTgt spid="31747">
                                            <p:txEl>
                                              <p:pRg st="14" end="1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1747">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a:spLocks noGrp="1"/>
          </p:cNvSpPr>
          <p:nvPr>
            <p:ph type="title"/>
          </p:nvPr>
        </p:nvSpPr>
        <p:spPr>
          <a:xfrm>
            <a:off x="609600" y="309563"/>
            <a:ext cx="8534400" cy="457200"/>
          </a:xfrm>
          <a:ln/>
        </p:spPr>
        <p:txBody>
          <a:bodyPr vert="horz" wrap="square" lIns="91440" tIns="45720" rIns="91440" bIns="45720" anchor="b" anchorCtr="0"/>
          <a:lstStyle/>
          <a:p>
            <a:r>
              <a:rPr lang="en-US" altLang="zh-CN" sz="2800" dirty="0">
                <a:ea typeface="宋体" panose="02010600030101010101" pitchFamily="2" charset="-122"/>
              </a:rPr>
              <a:t>Semaphore as General Synchronization Tool</a:t>
            </a:r>
          </a:p>
        </p:txBody>
      </p:sp>
      <p:sp>
        <p:nvSpPr>
          <p:cNvPr id="28675" name="Rectangle 3"/>
          <p:cNvSpPr>
            <a:spLocks noGrp="1"/>
          </p:cNvSpPr>
          <p:nvPr>
            <p:ph idx="1"/>
          </p:nvPr>
        </p:nvSpPr>
        <p:spPr>
          <a:xfrm>
            <a:off x="508000" y="1131888"/>
            <a:ext cx="8288338" cy="4633912"/>
          </a:xfrm>
          <a:ln/>
        </p:spPr>
        <p:txBody>
          <a:bodyPr vert="horz" wrap="square" lIns="91440" tIns="45720" rIns="91440" bIns="45720" anchor="t" anchorCtr="0"/>
          <a:lstStyle/>
          <a:p>
            <a:pPr defTabSz="914400">
              <a:lnSpc>
                <a:spcPct val="80000"/>
              </a:lnSpc>
              <a:tabLst>
                <a:tab pos="2005330" algn="ctr"/>
                <a:tab pos="4518025" algn="ctr"/>
              </a:tabLst>
            </a:pPr>
            <a:r>
              <a:rPr lang="en-US" altLang="zh-CN" sz="2400" dirty="0">
                <a:solidFill>
                  <a:srgbClr val="FF0000"/>
                </a:solidFill>
                <a:ea typeface="宋体" panose="02010600030101010101" pitchFamily="2" charset="-122"/>
              </a:rPr>
              <a:t>Counting </a:t>
            </a:r>
            <a:r>
              <a:rPr lang="en-US" altLang="zh-CN" sz="2400" dirty="0">
                <a:ea typeface="宋体" panose="02010600030101010101" pitchFamily="2" charset="-122"/>
              </a:rPr>
              <a:t>semaphore</a:t>
            </a:r>
          </a:p>
          <a:p>
            <a:pPr lvl="1" defTabSz="914400">
              <a:lnSpc>
                <a:spcPct val="80000"/>
              </a:lnSpc>
              <a:tabLst>
                <a:tab pos="2005330" algn="ctr"/>
                <a:tab pos="4518025" algn="ctr"/>
              </a:tabLst>
            </a:pPr>
            <a:r>
              <a:rPr lang="en-US" altLang="zh-CN" sz="2400" dirty="0">
                <a:ea typeface="宋体" panose="02010600030101010101" pitchFamily="2" charset="-122"/>
              </a:rPr>
              <a:t> integer value can range over an unrestricted domain</a:t>
            </a:r>
          </a:p>
          <a:p>
            <a:pPr lvl="1" defTabSz="914400">
              <a:lnSpc>
                <a:spcPct val="80000"/>
              </a:lnSpc>
              <a:tabLst>
                <a:tab pos="2005330" algn="ctr"/>
                <a:tab pos="4518025" algn="ctr"/>
              </a:tabLst>
            </a:pPr>
            <a:r>
              <a:rPr lang="en-US" altLang="zh-CN" sz="2400" dirty="0">
                <a:ea typeface="宋体" panose="02010600030101010101" pitchFamily="2" charset="-122"/>
              </a:rPr>
              <a:t>Can be used to control access to a given resource consisting of a finite number of instances.</a:t>
            </a:r>
          </a:p>
          <a:p>
            <a:pPr defTabSz="914400">
              <a:lnSpc>
                <a:spcPct val="80000"/>
              </a:lnSpc>
              <a:tabLst>
                <a:tab pos="2005330" algn="ctr"/>
                <a:tab pos="4518025" algn="ctr"/>
              </a:tabLst>
            </a:pPr>
            <a:r>
              <a:rPr lang="en-US" altLang="zh-CN" sz="2400" dirty="0">
                <a:solidFill>
                  <a:srgbClr val="FF0000"/>
                </a:solidFill>
                <a:ea typeface="宋体" panose="02010600030101010101" pitchFamily="2" charset="-122"/>
              </a:rPr>
              <a:t>Binary</a:t>
            </a:r>
            <a:r>
              <a:rPr lang="en-US" altLang="zh-CN" sz="2400" dirty="0">
                <a:ea typeface="宋体" panose="02010600030101010101" pitchFamily="2" charset="-122"/>
              </a:rPr>
              <a:t> semaphore </a:t>
            </a:r>
          </a:p>
          <a:p>
            <a:pPr lvl="1" defTabSz="914400">
              <a:lnSpc>
                <a:spcPct val="80000"/>
              </a:lnSpc>
              <a:tabLst>
                <a:tab pos="2005330" algn="ctr"/>
                <a:tab pos="4518025" algn="ctr"/>
              </a:tabLst>
            </a:pPr>
            <a:r>
              <a:rPr lang="en-US" altLang="zh-CN" sz="2400" dirty="0">
                <a:ea typeface="宋体" panose="02010600030101010101" pitchFamily="2" charset="-122"/>
              </a:rPr>
              <a:t>integer value can range only between 0 and 1; can be simpler to implement</a:t>
            </a:r>
          </a:p>
          <a:p>
            <a:pPr lvl="1" defTabSz="914400">
              <a:lnSpc>
                <a:spcPct val="80000"/>
              </a:lnSpc>
              <a:tabLst>
                <a:tab pos="2005330" algn="ctr"/>
                <a:tab pos="4518025" algn="ctr"/>
              </a:tabLst>
            </a:pPr>
            <a:r>
              <a:rPr lang="en-US" altLang="zh-CN" sz="2400" dirty="0">
                <a:ea typeface="宋体" panose="02010600030101010101" pitchFamily="2" charset="-122"/>
                <a:sym typeface="MT Extra" panose="05050102010205020202" pitchFamily="18" charset="2"/>
              </a:rPr>
              <a:t>Also known as </a:t>
            </a:r>
            <a:r>
              <a:rPr lang="en-US" altLang="zh-CN" sz="2400" dirty="0">
                <a:solidFill>
                  <a:srgbClr val="FF0000"/>
                </a:solidFill>
                <a:ea typeface="宋体" panose="02010600030101010101" pitchFamily="2" charset="-122"/>
                <a:sym typeface="MT Extra" panose="05050102010205020202" pitchFamily="18" charset="2"/>
              </a:rPr>
              <a:t>mutex locks</a:t>
            </a:r>
            <a:r>
              <a:rPr lang="zh-CN" altLang="en-US" sz="2400" dirty="0">
                <a:solidFill>
                  <a:srgbClr val="FF0000"/>
                </a:solidFill>
                <a:ea typeface="宋体" panose="02010600030101010101" pitchFamily="2" charset="-122"/>
                <a:sym typeface="MT Extra" panose="05050102010205020202" pitchFamily="18" charset="2"/>
              </a:rPr>
              <a:t>（互斥锁）</a:t>
            </a:r>
            <a:endParaRPr lang="en-US" altLang="zh-CN" sz="2400" dirty="0">
              <a:solidFill>
                <a:srgbClr val="FF0000"/>
              </a:solidFill>
              <a:ea typeface="宋体" panose="02010600030101010101" pitchFamily="2" charset="-122"/>
            </a:endParaRPr>
          </a:p>
          <a:p>
            <a:pPr defTabSz="914400">
              <a:lnSpc>
                <a:spcPct val="80000"/>
              </a:lnSpc>
              <a:tabLst>
                <a:tab pos="2005330" algn="ctr"/>
                <a:tab pos="4518025" algn="ctr"/>
              </a:tabLst>
            </a:pPr>
            <a:endParaRPr lang="en-US" altLang="zh-CN" sz="2400" dirty="0">
              <a:ea typeface="宋体" panose="02010600030101010101" pitchFamily="2" charset="-122"/>
            </a:endParaRPr>
          </a:p>
          <a:p>
            <a:pPr lvl="1" defTabSz="914400">
              <a:lnSpc>
                <a:spcPct val="80000"/>
              </a:lnSpc>
              <a:tabLst>
                <a:tab pos="2005330" algn="ctr"/>
                <a:tab pos="4518025" algn="ctr"/>
              </a:tabLst>
            </a:pPr>
            <a:r>
              <a:rPr lang="en-US" altLang="zh-CN" sz="2400" dirty="0">
                <a:ea typeface="宋体" panose="02010600030101010101" pitchFamily="2" charset="-122"/>
                <a:sym typeface="MT Extra" panose="05050102010205020202" pitchFamily="18" charset="2"/>
              </a:rPr>
              <a:t>Provides mutual exclusion</a:t>
            </a:r>
          </a:p>
          <a:p>
            <a:pPr lvl="1" defTabSz="914400">
              <a:lnSpc>
                <a:spcPct val="80000"/>
              </a:lnSpc>
              <a:tabLst>
                <a:tab pos="2005330" algn="ctr"/>
                <a:tab pos="4518025" algn="ctr"/>
              </a:tabLst>
            </a:pPr>
            <a:r>
              <a:rPr lang="en-US" altLang="zh-CN" sz="2000" dirty="0">
                <a:solidFill>
                  <a:srgbClr val="0000FF"/>
                </a:solidFill>
                <a:ea typeface="宋体" panose="02010600030101010101" pitchFamily="2" charset="-122"/>
                <a:sym typeface="MT Extra" panose="05050102010205020202" pitchFamily="18" charset="2"/>
              </a:rPr>
              <a:t>Semaphore S;    //  initialized to 1</a:t>
            </a:r>
          </a:p>
          <a:p>
            <a:pPr lvl="1" defTabSz="914400">
              <a:lnSpc>
                <a:spcPct val="80000"/>
              </a:lnSpc>
              <a:tabLst>
                <a:tab pos="2005330" algn="ctr"/>
                <a:tab pos="4518025" algn="ctr"/>
              </a:tabLst>
            </a:pPr>
            <a:r>
              <a:rPr lang="en-US" altLang="zh-CN" sz="2000" dirty="0">
                <a:solidFill>
                  <a:srgbClr val="0000FF"/>
                </a:solidFill>
                <a:ea typeface="宋体" panose="02010600030101010101" pitchFamily="2" charset="-122"/>
                <a:sym typeface="MT Extra" panose="05050102010205020202" pitchFamily="18" charset="2"/>
              </a:rPr>
              <a:t>wait (S);</a:t>
            </a:r>
          </a:p>
          <a:p>
            <a:pPr lvl="1" defTabSz="914400">
              <a:lnSpc>
                <a:spcPct val="80000"/>
              </a:lnSpc>
              <a:buNone/>
              <a:tabLst>
                <a:tab pos="2005330" algn="ctr"/>
                <a:tab pos="4518025" algn="ctr"/>
              </a:tabLst>
            </a:pPr>
            <a:r>
              <a:rPr lang="en-US" altLang="zh-CN" sz="2000" dirty="0">
                <a:solidFill>
                  <a:srgbClr val="0000FF"/>
                </a:solidFill>
                <a:ea typeface="宋体" panose="02010600030101010101" pitchFamily="2" charset="-122"/>
                <a:sym typeface="MT Extra" panose="05050102010205020202" pitchFamily="18" charset="2"/>
              </a:rPr>
              <a:t>            Critical Section</a:t>
            </a:r>
          </a:p>
          <a:p>
            <a:pPr lvl="1" defTabSz="914400">
              <a:lnSpc>
                <a:spcPct val="80000"/>
              </a:lnSpc>
              <a:buNone/>
              <a:tabLst>
                <a:tab pos="2005330" algn="ctr"/>
                <a:tab pos="4518025" algn="ctr"/>
              </a:tabLst>
            </a:pPr>
            <a:r>
              <a:rPr lang="en-US" altLang="zh-CN" sz="2000" dirty="0">
                <a:solidFill>
                  <a:srgbClr val="0000FF"/>
                </a:solidFill>
                <a:ea typeface="宋体" panose="02010600030101010101" pitchFamily="2" charset="-122"/>
                <a:sym typeface="MT Extra" panose="05050102010205020202" pitchFamily="18" charset="2"/>
              </a:rPr>
              <a:t>    signal (S);</a:t>
            </a:r>
          </a:p>
          <a:p>
            <a:pPr defTabSz="914400">
              <a:lnSpc>
                <a:spcPct val="80000"/>
              </a:lnSpc>
              <a:buNone/>
              <a:tabLst>
                <a:tab pos="2005330" algn="ctr"/>
                <a:tab pos="4518025" algn="ctr"/>
              </a:tabLst>
            </a:pPr>
            <a:endParaRPr lang="en-US" altLang="zh-CN" sz="2000" dirty="0">
              <a:solidFill>
                <a:srgbClr val="0000FF"/>
              </a:solidFill>
              <a:ea typeface="宋体" panose="02010600030101010101" pitchFamily="2" charset="-122"/>
              <a:sym typeface="MT Extra" panose="05050102010205020202"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675">
                                            <p:txEl>
                                              <p:pRg st="7" end="7"/>
                                            </p:txEl>
                                          </p:spTgt>
                                        </p:tgtEl>
                                        <p:attrNameLst>
                                          <p:attrName>style.visibility</p:attrName>
                                        </p:attrNameLst>
                                      </p:cBhvr>
                                      <p:to>
                                        <p:strVal val="visible"/>
                                      </p:to>
                                    </p:set>
                                    <p:anim calcmode="lin" valueType="num">
                                      <p:cBhvr additive="base">
                                        <p:cTn id="7" dur="500" fill="hold"/>
                                        <p:tgtEl>
                                          <p:spTgt spid="28675">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675">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8675">
                                            <p:txEl>
                                              <p:pRg st="8" end="8"/>
                                            </p:txEl>
                                          </p:spTgt>
                                        </p:tgtEl>
                                        <p:attrNameLst>
                                          <p:attrName>style.visibility</p:attrName>
                                        </p:attrNameLst>
                                      </p:cBhvr>
                                      <p:to>
                                        <p:strVal val="visible"/>
                                      </p:to>
                                    </p:set>
                                    <p:anim calcmode="lin" valueType="num">
                                      <p:cBhvr additive="base">
                                        <p:cTn id="11" dur="500" fill="hold"/>
                                        <p:tgtEl>
                                          <p:spTgt spid="28675">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8675">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8675">
                                            <p:txEl>
                                              <p:pRg st="9" end="9"/>
                                            </p:txEl>
                                          </p:spTgt>
                                        </p:tgtEl>
                                        <p:attrNameLst>
                                          <p:attrName>style.visibility</p:attrName>
                                        </p:attrNameLst>
                                      </p:cBhvr>
                                      <p:to>
                                        <p:strVal val="visible"/>
                                      </p:to>
                                    </p:set>
                                    <p:anim calcmode="lin" valueType="num">
                                      <p:cBhvr additive="base">
                                        <p:cTn id="15" dur="500" fill="hold"/>
                                        <p:tgtEl>
                                          <p:spTgt spid="28675">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8675">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8675">
                                            <p:txEl>
                                              <p:pRg st="10" end="10"/>
                                            </p:txEl>
                                          </p:spTgt>
                                        </p:tgtEl>
                                        <p:attrNameLst>
                                          <p:attrName>style.visibility</p:attrName>
                                        </p:attrNameLst>
                                      </p:cBhvr>
                                      <p:to>
                                        <p:strVal val="visible"/>
                                      </p:to>
                                    </p:set>
                                    <p:anim calcmode="lin" valueType="num">
                                      <p:cBhvr additive="base">
                                        <p:cTn id="19" dur="500" fill="hold"/>
                                        <p:tgtEl>
                                          <p:spTgt spid="28675">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8675">
                                            <p:txEl>
                                              <p:pRg st="10" end="1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8675">
                                            <p:txEl>
                                              <p:pRg st="11" end="11"/>
                                            </p:txEl>
                                          </p:spTgt>
                                        </p:tgtEl>
                                        <p:attrNameLst>
                                          <p:attrName>style.visibility</p:attrName>
                                        </p:attrNameLst>
                                      </p:cBhvr>
                                      <p:to>
                                        <p:strVal val="visible"/>
                                      </p:to>
                                    </p:set>
                                    <p:anim calcmode="lin" valueType="num">
                                      <p:cBhvr additive="base">
                                        <p:cTn id="23" dur="500" fill="hold"/>
                                        <p:tgtEl>
                                          <p:spTgt spid="28675">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8675">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p:cNvSpPr>
          <p:nvPr>
            <p:ph type="title"/>
          </p:nvPr>
        </p:nvSpPr>
        <p:spPr>
          <a:ln/>
        </p:spPr>
        <p:txBody>
          <a:bodyPr vert="horz" wrap="square" lIns="91440" tIns="45720" rIns="91440" bIns="45720" anchor="b" anchorCtr="0"/>
          <a:lstStyle/>
          <a:p>
            <a:r>
              <a:rPr lang="en-US" altLang="zh-CN" dirty="0">
                <a:ea typeface="宋体" panose="02010600030101010101" pitchFamily="2" charset="-122"/>
              </a:rPr>
              <a:t>Deadlock and Starvation</a:t>
            </a:r>
          </a:p>
        </p:txBody>
      </p:sp>
      <p:sp>
        <p:nvSpPr>
          <p:cNvPr id="83970" name="Rectangle 3"/>
          <p:cNvSpPr>
            <a:spLocks noGrp="1"/>
          </p:cNvSpPr>
          <p:nvPr>
            <p:ph idx="1"/>
          </p:nvPr>
        </p:nvSpPr>
        <p:spPr>
          <a:xfrm>
            <a:off x="550863" y="958850"/>
            <a:ext cx="8012112" cy="5699125"/>
          </a:xfrm>
          <a:ln/>
        </p:spPr>
        <p:txBody>
          <a:bodyPr vert="horz" wrap="square" lIns="91440" tIns="45720" rIns="91440" bIns="45720" anchor="t" anchorCtr="0"/>
          <a:lstStyle/>
          <a:p>
            <a:pPr defTabSz="914400">
              <a:lnSpc>
                <a:spcPct val="80000"/>
              </a:lnSpc>
              <a:tabLst>
                <a:tab pos="1887855" algn="ctr"/>
                <a:tab pos="4572000" algn="ctr"/>
              </a:tabLst>
            </a:pPr>
            <a:r>
              <a:rPr lang="en-US" altLang="zh-CN" sz="2000" dirty="0">
                <a:solidFill>
                  <a:srgbClr val="FF0000"/>
                </a:solidFill>
                <a:ea typeface="宋体" panose="02010600030101010101" pitchFamily="2" charset="-122"/>
              </a:rPr>
              <a:t>The implementation of a semaphore with a waiting queue may result in one of the two following situations.</a:t>
            </a:r>
            <a:r>
              <a:rPr lang="zh-CN" altLang="en-US" sz="2000" dirty="0">
                <a:solidFill>
                  <a:srgbClr val="FF0000"/>
                </a:solidFill>
                <a:ea typeface="宋体" panose="02010600030101010101" pitchFamily="2" charset="-122"/>
              </a:rPr>
              <a:t>（导致死锁和饥饿）</a:t>
            </a:r>
            <a:endParaRPr lang="en-US" altLang="zh-CN" sz="2000" dirty="0">
              <a:solidFill>
                <a:srgbClr val="FF0000"/>
              </a:solidFill>
              <a:ea typeface="宋体" panose="02010600030101010101" pitchFamily="2" charset="-122"/>
            </a:endParaRPr>
          </a:p>
          <a:p>
            <a:pPr defTabSz="914400">
              <a:lnSpc>
                <a:spcPct val="80000"/>
              </a:lnSpc>
              <a:tabLst>
                <a:tab pos="1887855" algn="ctr"/>
                <a:tab pos="4572000" algn="ctr"/>
              </a:tabLst>
            </a:pPr>
            <a:r>
              <a:rPr lang="en-US" altLang="zh-CN" sz="2000" dirty="0">
                <a:solidFill>
                  <a:srgbClr val="FF0000"/>
                </a:solidFill>
                <a:ea typeface="宋体" panose="02010600030101010101" pitchFamily="2" charset="-122"/>
              </a:rPr>
              <a:t>Deadlock</a:t>
            </a:r>
            <a:r>
              <a:rPr lang="zh-CN" altLang="en-US" sz="2000" dirty="0">
                <a:solidFill>
                  <a:srgbClr val="FF0000"/>
                </a:solidFill>
                <a:ea typeface="宋体" panose="02010600030101010101" pitchFamily="2" charset="-122"/>
              </a:rPr>
              <a:t>（死锁）</a:t>
            </a:r>
            <a:r>
              <a:rPr lang="en-US" altLang="zh-CN" sz="2000" dirty="0">
                <a:solidFill>
                  <a:schemeClr val="tx2"/>
                </a:solidFill>
                <a:ea typeface="宋体" panose="02010600030101010101" pitchFamily="2" charset="-122"/>
              </a:rPr>
              <a:t> </a:t>
            </a:r>
            <a:r>
              <a:rPr lang="en-US" altLang="zh-CN" sz="2000" dirty="0">
                <a:ea typeface="宋体" panose="02010600030101010101" pitchFamily="2" charset="-122"/>
              </a:rPr>
              <a:t>– two or more processes are waiting indefinitely for an event that can be caused by only one of the waiting processes</a:t>
            </a:r>
          </a:p>
          <a:p>
            <a:pPr defTabSz="914400">
              <a:lnSpc>
                <a:spcPct val="80000"/>
              </a:lnSpc>
              <a:tabLst>
                <a:tab pos="1887855" algn="ctr"/>
                <a:tab pos="4572000" algn="ctr"/>
              </a:tabLst>
            </a:pPr>
            <a:r>
              <a:rPr lang="en-US" altLang="zh-CN" sz="2000" dirty="0">
                <a:ea typeface="宋体" panose="02010600030101010101" pitchFamily="2" charset="-122"/>
              </a:rPr>
              <a:t>Let </a:t>
            </a:r>
            <a:r>
              <a:rPr lang="en-US" altLang="zh-CN" sz="2000" dirty="0">
                <a:solidFill>
                  <a:srgbClr val="0000FF"/>
                </a:solidFill>
                <a:ea typeface="宋体" panose="02010600030101010101" pitchFamily="2" charset="-122"/>
              </a:rPr>
              <a:t>S</a:t>
            </a:r>
            <a:r>
              <a:rPr lang="en-US" altLang="zh-CN" sz="2000" dirty="0">
                <a:ea typeface="宋体" panose="02010600030101010101" pitchFamily="2" charset="-122"/>
              </a:rPr>
              <a:t> and </a:t>
            </a:r>
            <a:r>
              <a:rPr lang="en-US" altLang="zh-CN" sz="2000" dirty="0">
                <a:solidFill>
                  <a:srgbClr val="0000FF"/>
                </a:solidFill>
                <a:ea typeface="宋体" panose="02010600030101010101" pitchFamily="2" charset="-122"/>
              </a:rPr>
              <a:t>Q</a:t>
            </a:r>
            <a:r>
              <a:rPr lang="en-US" altLang="zh-CN" sz="2000" dirty="0">
                <a:ea typeface="宋体" panose="02010600030101010101" pitchFamily="2" charset="-122"/>
              </a:rPr>
              <a:t> be two semaphores initialized to 1</a:t>
            </a:r>
          </a:p>
          <a:p>
            <a:pPr defTabSz="914400">
              <a:lnSpc>
                <a:spcPct val="80000"/>
              </a:lnSpc>
              <a:buNone/>
              <a:tabLst>
                <a:tab pos="1887855" algn="ctr"/>
                <a:tab pos="4572000" algn="ctr"/>
              </a:tabLst>
            </a:pPr>
            <a:r>
              <a:rPr lang="en-US" altLang="zh-CN" sz="2000" i="1" dirty="0">
                <a:ea typeface="宋体" panose="02010600030101010101" pitchFamily="2" charset="-122"/>
              </a:rPr>
              <a:t>		</a:t>
            </a:r>
            <a:r>
              <a:rPr lang="en-US" altLang="zh-CN" sz="2000" i="1" dirty="0">
                <a:solidFill>
                  <a:srgbClr val="0000FF"/>
                </a:solidFill>
                <a:ea typeface="宋体" panose="02010600030101010101" pitchFamily="2" charset="-122"/>
              </a:rPr>
              <a:t>P</a:t>
            </a:r>
            <a:r>
              <a:rPr lang="en-US" altLang="zh-CN" sz="2000" baseline="-25000" dirty="0">
                <a:solidFill>
                  <a:srgbClr val="0000FF"/>
                </a:solidFill>
                <a:ea typeface="宋体" panose="02010600030101010101" pitchFamily="2" charset="-122"/>
              </a:rPr>
              <a:t>0</a:t>
            </a:r>
            <a:r>
              <a:rPr lang="en-US" altLang="zh-CN" sz="2000" dirty="0">
                <a:solidFill>
                  <a:srgbClr val="0000FF"/>
                </a:solidFill>
                <a:ea typeface="宋体" panose="02010600030101010101" pitchFamily="2" charset="-122"/>
              </a:rPr>
              <a:t>		</a:t>
            </a:r>
            <a:r>
              <a:rPr lang="en-US" altLang="zh-CN" sz="2000" i="1" dirty="0">
                <a:solidFill>
                  <a:srgbClr val="0000FF"/>
                </a:solidFill>
                <a:ea typeface="宋体" panose="02010600030101010101" pitchFamily="2" charset="-122"/>
              </a:rPr>
              <a:t>P</a:t>
            </a:r>
            <a:r>
              <a:rPr lang="en-US" altLang="zh-CN" sz="2000" baseline="-25000" dirty="0">
                <a:solidFill>
                  <a:srgbClr val="0000FF"/>
                </a:solidFill>
                <a:ea typeface="宋体" panose="02010600030101010101" pitchFamily="2" charset="-122"/>
              </a:rPr>
              <a:t>1</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wait (S); 	                                     wait (Q);</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wait (Q); 	                                     wait (S);</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 		.</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 		.</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 		.</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signal  (S); 	                                       signal (Q);</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signal (Q); 	                                       signal (S);</a:t>
            </a:r>
          </a:p>
          <a:p>
            <a:pPr defTabSz="914400">
              <a:lnSpc>
                <a:spcPct val="80000"/>
              </a:lnSpc>
              <a:tabLst>
                <a:tab pos="1887855" algn="ctr"/>
                <a:tab pos="4572000" algn="ctr"/>
              </a:tabLst>
            </a:pPr>
            <a:r>
              <a:rPr lang="en-US" altLang="zh-CN" sz="2000" dirty="0">
                <a:solidFill>
                  <a:srgbClr val="FF0000"/>
                </a:solidFill>
                <a:ea typeface="宋体" panose="02010600030101010101" pitchFamily="2" charset="-122"/>
                <a:sym typeface="MT Extra" panose="05050102010205020202" pitchFamily="18" charset="2"/>
              </a:rPr>
              <a:t>Starvation</a:t>
            </a:r>
            <a:r>
              <a:rPr lang="zh-CN" altLang="en-US" sz="2000" dirty="0">
                <a:solidFill>
                  <a:srgbClr val="FF0000"/>
                </a:solidFill>
                <a:ea typeface="宋体" panose="02010600030101010101" pitchFamily="2" charset="-122"/>
                <a:sym typeface="MT Extra" panose="05050102010205020202" pitchFamily="18" charset="2"/>
              </a:rPr>
              <a:t>（饥饿）</a:t>
            </a:r>
            <a:r>
              <a:rPr lang="en-US" altLang="zh-CN" sz="2000" dirty="0">
                <a:solidFill>
                  <a:srgbClr val="FF0000"/>
                </a:solidFill>
                <a:ea typeface="宋体" panose="02010600030101010101" pitchFamily="2" charset="-122"/>
                <a:sym typeface="MT Extra" panose="05050102010205020202" pitchFamily="18" charset="2"/>
              </a:rPr>
              <a:t> </a:t>
            </a:r>
            <a:r>
              <a:rPr lang="en-US" altLang="zh-CN" sz="2000" dirty="0">
                <a:ea typeface="宋体" panose="02010600030101010101" pitchFamily="2" charset="-122"/>
              </a:rPr>
              <a:t> – indefinite blocking.  A process may never be removed from the semaphore queue in which it is suspended.</a:t>
            </a:r>
          </a:p>
        </p:txBody>
      </p:sp>
      <p:sp>
        <p:nvSpPr>
          <p:cNvPr id="2" name="等腰三角形 1">
            <a:extLst>
              <a:ext uri="{FF2B5EF4-FFF2-40B4-BE49-F238E27FC236}">
                <a16:creationId xmlns:a16="http://schemas.microsoft.com/office/drawing/2014/main" id="{F9D83CA6-90B6-4B04-9E78-EC670397B79A}"/>
              </a:ext>
            </a:extLst>
          </p:cNvPr>
          <p:cNvSpPr/>
          <p:nvPr/>
        </p:nvSpPr>
        <p:spPr bwMode="auto">
          <a:xfrm rot="5400000">
            <a:off x="1824752" y="3112815"/>
            <a:ext cx="226032" cy="226031"/>
          </a:xfrm>
          <a:prstGeom prst="triangle">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Tree>
    <p:extLst>
      <p:ext uri="{BB962C8B-B14F-4D97-AF65-F5344CB8AC3E}">
        <p14:creationId xmlns:p14="http://schemas.microsoft.com/office/powerpoint/2010/main" val="554386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970">
                                            <p:txEl>
                                              <p:pRg st="11" end="1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p:cNvSpPr>
          <p:nvPr>
            <p:ph type="title"/>
          </p:nvPr>
        </p:nvSpPr>
        <p:spPr>
          <a:ln/>
        </p:spPr>
        <p:txBody>
          <a:bodyPr vert="horz" wrap="square" lIns="91440" tIns="45720" rIns="91440" bIns="45720" anchor="b" anchorCtr="0"/>
          <a:lstStyle/>
          <a:p>
            <a:r>
              <a:rPr lang="en-US" altLang="zh-CN" dirty="0">
                <a:ea typeface="宋体" panose="02010600030101010101" pitchFamily="2" charset="-122"/>
              </a:rPr>
              <a:t>Deadlock and Starvation</a:t>
            </a:r>
          </a:p>
        </p:txBody>
      </p:sp>
      <p:sp>
        <p:nvSpPr>
          <p:cNvPr id="83970" name="Rectangle 3"/>
          <p:cNvSpPr>
            <a:spLocks noGrp="1"/>
          </p:cNvSpPr>
          <p:nvPr>
            <p:ph idx="1"/>
          </p:nvPr>
        </p:nvSpPr>
        <p:spPr>
          <a:xfrm>
            <a:off x="550863" y="958850"/>
            <a:ext cx="8012112" cy="5699125"/>
          </a:xfrm>
          <a:ln/>
        </p:spPr>
        <p:txBody>
          <a:bodyPr vert="horz" wrap="square" lIns="91440" tIns="45720" rIns="91440" bIns="45720" anchor="t" anchorCtr="0"/>
          <a:lstStyle/>
          <a:p>
            <a:pPr defTabSz="914400">
              <a:lnSpc>
                <a:spcPct val="80000"/>
              </a:lnSpc>
              <a:tabLst>
                <a:tab pos="1887855" algn="ctr"/>
                <a:tab pos="4572000" algn="ctr"/>
              </a:tabLst>
            </a:pPr>
            <a:r>
              <a:rPr lang="en-US" altLang="zh-CN" sz="2000" dirty="0">
                <a:solidFill>
                  <a:srgbClr val="FF0000"/>
                </a:solidFill>
                <a:ea typeface="宋体" panose="02010600030101010101" pitchFamily="2" charset="-122"/>
              </a:rPr>
              <a:t>The implementation of a semaphore with a waiting queue may result in one of the two following situations.</a:t>
            </a:r>
          </a:p>
          <a:p>
            <a:pPr defTabSz="914400">
              <a:lnSpc>
                <a:spcPct val="80000"/>
              </a:lnSpc>
              <a:tabLst>
                <a:tab pos="1887855" algn="ctr"/>
                <a:tab pos="4572000" algn="ctr"/>
              </a:tabLst>
            </a:pPr>
            <a:r>
              <a:rPr lang="en-US" altLang="zh-CN" sz="2000" dirty="0">
                <a:solidFill>
                  <a:srgbClr val="FF0000"/>
                </a:solidFill>
                <a:ea typeface="宋体" panose="02010600030101010101" pitchFamily="2" charset="-122"/>
              </a:rPr>
              <a:t>Deadlock</a:t>
            </a:r>
            <a:r>
              <a:rPr lang="en-US" altLang="zh-CN" sz="2000" dirty="0">
                <a:solidFill>
                  <a:schemeClr val="tx2"/>
                </a:solidFill>
                <a:ea typeface="宋体" panose="02010600030101010101" pitchFamily="2" charset="-122"/>
              </a:rPr>
              <a:t> </a:t>
            </a:r>
            <a:r>
              <a:rPr lang="en-US" altLang="zh-CN" sz="2000" dirty="0">
                <a:ea typeface="宋体" panose="02010600030101010101" pitchFamily="2" charset="-122"/>
              </a:rPr>
              <a:t>– two or more processes are waiting indefinitely for an event that can be caused by only one of the waiting processes</a:t>
            </a:r>
          </a:p>
          <a:p>
            <a:pPr defTabSz="914400">
              <a:lnSpc>
                <a:spcPct val="80000"/>
              </a:lnSpc>
              <a:tabLst>
                <a:tab pos="1887855" algn="ctr"/>
                <a:tab pos="4572000" algn="ctr"/>
              </a:tabLst>
            </a:pPr>
            <a:r>
              <a:rPr lang="en-US" altLang="zh-CN" sz="2000" dirty="0">
                <a:ea typeface="宋体" panose="02010600030101010101" pitchFamily="2" charset="-122"/>
              </a:rPr>
              <a:t>Let </a:t>
            </a:r>
            <a:r>
              <a:rPr lang="en-US" altLang="zh-CN" sz="2000" dirty="0">
                <a:solidFill>
                  <a:srgbClr val="0000FF"/>
                </a:solidFill>
                <a:ea typeface="宋体" panose="02010600030101010101" pitchFamily="2" charset="-122"/>
              </a:rPr>
              <a:t>S</a:t>
            </a:r>
            <a:r>
              <a:rPr lang="en-US" altLang="zh-CN" sz="2000" dirty="0">
                <a:ea typeface="宋体" panose="02010600030101010101" pitchFamily="2" charset="-122"/>
              </a:rPr>
              <a:t> and </a:t>
            </a:r>
            <a:r>
              <a:rPr lang="en-US" altLang="zh-CN" sz="2000" dirty="0">
                <a:solidFill>
                  <a:srgbClr val="0000FF"/>
                </a:solidFill>
                <a:ea typeface="宋体" panose="02010600030101010101" pitchFamily="2" charset="-122"/>
              </a:rPr>
              <a:t>Q</a:t>
            </a:r>
            <a:r>
              <a:rPr lang="en-US" altLang="zh-CN" sz="2000" dirty="0">
                <a:ea typeface="宋体" panose="02010600030101010101" pitchFamily="2" charset="-122"/>
              </a:rPr>
              <a:t> be two semaphores initialized to 1</a:t>
            </a:r>
          </a:p>
          <a:p>
            <a:pPr defTabSz="914400">
              <a:lnSpc>
                <a:spcPct val="80000"/>
              </a:lnSpc>
              <a:buNone/>
              <a:tabLst>
                <a:tab pos="1887855" algn="ctr"/>
                <a:tab pos="4572000" algn="ctr"/>
              </a:tabLst>
            </a:pPr>
            <a:r>
              <a:rPr lang="en-US" altLang="zh-CN" sz="2000" i="1" dirty="0">
                <a:ea typeface="宋体" panose="02010600030101010101" pitchFamily="2" charset="-122"/>
              </a:rPr>
              <a:t>		</a:t>
            </a:r>
            <a:r>
              <a:rPr lang="en-US" altLang="zh-CN" sz="2000" i="1" dirty="0">
                <a:solidFill>
                  <a:srgbClr val="0000FF"/>
                </a:solidFill>
                <a:ea typeface="宋体" panose="02010600030101010101" pitchFamily="2" charset="-122"/>
              </a:rPr>
              <a:t>P</a:t>
            </a:r>
            <a:r>
              <a:rPr lang="en-US" altLang="zh-CN" sz="2000" baseline="-25000" dirty="0">
                <a:solidFill>
                  <a:srgbClr val="0000FF"/>
                </a:solidFill>
                <a:ea typeface="宋体" panose="02010600030101010101" pitchFamily="2" charset="-122"/>
              </a:rPr>
              <a:t>0</a:t>
            </a:r>
            <a:r>
              <a:rPr lang="en-US" altLang="zh-CN" sz="2000" dirty="0">
                <a:solidFill>
                  <a:srgbClr val="0000FF"/>
                </a:solidFill>
                <a:ea typeface="宋体" panose="02010600030101010101" pitchFamily="2" charset="-122"/>
              </a:rPr>
              <a:t>		</a:t>
            </a:r>
            <a:r>
              <a:rPr lang="en-US" altLang="zh-CN" sz="2000" i="1" dirty="0">
                <a:solidFill>
                  <a:srgbClr val="0000FF"/>
                </a:solidFill>
                <a:ea typeface="宋体" panose="02010600030101010101" pitchFamily="2" charset="-122"/>
              </a:rPr>
              <a:t>P</a:t>
            </a:r>
            <a:r>
              <a:rPr lang="en-US" altLang="zh-CN" sz="2000" baseline="-25000" dirty="0">
                <a:solidFill>
                  <a:srgbClr val="0000FF"/>
                </a:solidFill>
                <a:ea typeface="宋体" panose="02010600030101010101" pitchFamily="2" charset="-122"/>
              </a:rPr>
              <a:t>1</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a:t>
            </a:r>
            <a:r>
              <a:rPr lang="en-US" altLang="zh-CN" sz="2000" dirty="0">
                <a:solidFill>
                  <a:srgbClr val="C00000"/>
                </a:solidFill>
                <a:ea typeface="宋体" panose="02010600030101010101" pitchFamily="2" charset="-122"/>
              </a:rPr>
              <a:t>wait (S); </a:t>
            </a:r>
            <a:r>
              <a:rPr lang="en-US" altLang="zh-CN" sz="2000" dirty="0">
                <a:solidFill>
                  <a:srgbClr val="0000FF"/>
                </a:solidFill>
                <a:ea typeface="宋体" panose="02010600030101010101" pitchFamily="2" charset="-122"/>
              </a:rPr>
              <a:t>	                                     wait (Q);</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wait (Q); 	                                     wait (S);</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 		.</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 		.</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 		.</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signal  (S); 	                                       signal (Q);</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signal (Q); 	                                       signal (S);</a:t>
            </a:r>
          </a:p>
        </p:txBody>
      </p:sp>
      <p:sp>
        <p:nvSpPr>
          <p:cNvPr id="5" name="等腰三角形 4">
            <a:extLst>
              <a:ext uri="{FF2B5EF4-FFF2-40B4-BE49-F238E27FC236}">
                <a16:creationId xmlns:a16="http://schemas.microsoft.com/office/drawing/2014/main" id="{BEDCE823-4DBB-4F8D-9757-1EDD24E8ECCC}"/>
              </a:ext>
            </a:extLst>
          </p:cNvPr>
          <p:cNvSpPr/>
          <p:nvPr/>
        </p:nvSpPr>
        <p:spPr bwMode="auto">
          <a:xfrm rot="5400000">
            <a:off x="5715858" y="2902452"/>
            <a:ext cx="226032" cy="226031"/>
          </a:xfrm>
          <a:prstGeom prst="triangle">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p:cNvSpPr>
          <p:nvPr>
            <p:ph type="title"/>
          </p:nvPr>
        </p:nvSpPr>
        <p:spPr>
          <a:ln/>
        </p:spPr>
        <p:txBody>
          <a:bodyPr vert="horz" wrap="square" lIns="91440" tIns="45720" rIns="91440" bIns="45720" anchor="b" anchorCtr="0"/>
          <a:lstStyle/>
          <a:p>
            <a:r>
              <a:rPr lang="en-US" altLang="zh-CN" dirty="0">
                <a:ea typeface="宋体" panose="02010600030101010101" pitchFamily="2" charset="-122"/>
              </a:rPr>
              <a:t>Deadlock and Starvation</a:t>
            </a:r>
          </a:p>
        </p:txBody>
      </p:sp>
      <p:sp>
        <p:nvSpPr>
          <p:cNvPr id="83970" name="Rectangle 3"/>
          <p:cNvSpPr>
            <a:spLocks noGrp="1"/>
          </p:cNvSpPr>
          <p:nvPr>
            <p:ph idx="1"/>
          </p:nvPr>
        </p:nvSpPr>
        <p:spPr>
          <a:xfrm>
            <a:off x="550863" y="958850"/>
            <a:ext cx="8012112" cy="5699125"/>
          </a:xfrm>
          <a:ln/>
        </p:spPr>
        <p:txBody>
          <a:bodyPr vert="horz" wrap="square" lIns="91440" tIns="45720" rIns="91440" bIns="45720" anchor="t" anchorCtr="0"/>
          <a:lstStyle/>
          <a:p>
            <a:pPr defTabSz="914400">
              <a:lnSpc>
                <a:spcPct val="80000"/>
              </a:lnSpc>
              <a:tabLst>
                <a:tab pos="1887855" algn="ctr"/>
                <a:tab pos="4572000" algn="ctr"/>
              </a:tabLst>
            </a:pPr>
            <a:r>
              <a:rPr lang="en-US" altLang="zh-CN" sz="2000" dirty="0">
                <a:solidFill>
                  <a:srgbClr val="FF0000"/>
                </a:solidFill>
                <a:ea typeface="宋体" panose="02010600030101010101" pitchFamily="2" charset="-122"/>
              </a:rPr>
              <a:t>The implementation of a semaphore with a waiting queue may result in one of the two following situations.</a:t>
            </a:r>
          </a:p>
          <a:p>
            <a:pPr defTabSz="914400">
              <a:lnSpc>
                <a:spcPct val="80000"/>
              </a:lnSpc>
              <a:tabLst>
                <a:tab pos="1887855" algn="ctr"/>
                <a:tab pos="4572000" algn="ctr"/>
              </a:tabLst>
            </a:pPr>
            <a:r>
              <a:rPr lang="en-US" altLang="zh-CN" sz="2000" dirty="0">
                <a:solidFill>
                  <a:srgbClr val="FF0000"/>
                </a:solidFill>
                <a:ea typeface="宋体" panose="02010600030101010101" pitchFamily="2" charset="-122"/>
              </a:rPr>
              <a:t>Deadlock</a:t>
            </a:r>
            <a:r>
              <a:rPr lang="en-US" altLang="zh-CN" sz="2000" dirty="0">
                <a:solidFill>
                  <a:schemeClr val="tx2"/>
                </a:solidFill>
                <a:ea typeface="宋体" panose="02010600030101010101" pitchFamily="2" charset="-122"/>
              </a:rPr>
              <a:t> </a:t>
            </a:r>
            <a:r>
              <a:rPr lang="en-US" altLang="zh-CN" sz="2000" dirty="0">
                <a:ea typeface="宋体" panose="02010600030101010101" pitchFamily="2" charset="-122"/>
              </a:rPr>
              <a:t>– two or more processes are waiting indefinitely for an event that can be caused by only one of the waiting processes</a:t>
            </a:r>
          </a:p>
          <a:p>
            <a:pPr defTabSz="914400">
              <a:lnSpc>
                <a:spcPct val="80000"/>
              </a:lnSpc>
              <a:tabLst>
                <a:tab pos="1887855" algn="ctr"/>
                <a:tab pos="4572000" algn="ctr"/>
              </a:tabLst>
            </a:pPr>
            <a:r>
              <a:rPr lang="en-US" altLang="zh-CN" sz="2000" dirty="0">
                <a:ea typeface="宋体" panose="02010600030101010101" pitchFamily="2" charset="-122"/>
              </a:rPr>
              <a:t>Let </a:t>
            </a:r>
            <a:r>
              <a:rPr lang="en-US" altLang="zh-CN" sz="2000" dirty="0">
                <a:solidFill>
                  <a:srgbClr val="0000FF"/>
                </a:solidFill>
                <a:ea typeface="宋体" panose="02010600030101010101" pitchFamily="2" charset="-122"/>
              </a:rPr>
              <a:t>S</a:t>
            </a:r>
            <a:r>
              <a:rPr lang="en-US" altLang="zh-CN" sz="2000" dirty="0">
                <a:ea typeface="宋体" panose="02010600030101010101" pitchFamily="2" charset="-122"/>
              </a:rPr>
              <a:t> and </a:t>
            </a:r>
            <a:r>
              <a:rPr lang="en-US" altLang="zh-CN" sz="2000" dirty="0">
                <a:solidFill>
                  <a:srgbClr val="0000FF"/>
                </a:solidFill>
                <a:ea typeface="宋体" panose="02010600030101010101" pitchFamily="2" charset="-122"/>
              </a:rPr>
              <a:t>Q</a:t>
            </a:r>
            <a:r>
              <a:rPr lang="en-US" altLang="zh-CN" sz="2000" dirty="0">
                <a:ea typeface="宋体" panose="02010600030101010101" pitchFamily="2" charset="-122"/>
              </a:rPr>
              <a:t> be two semaphores initialized to 1</a:t>
            </a:r>
          </a:p>
          <a:p>
            <a:pPr defTabSz="914400">
              <a:lnSpc>
                <a:spcPct val="80000"/>
              </a:lnSpc>
              <a:buNone/>
              <a:tabLst>
                <a:tab pos="1887855" algn="ctr"/>
                <a:tab pos="4572000" algn="ctr"/>
              </a:tabLst>
            </a:pPr>
            <a:r>
              <a:rPr lang="en-US" altLang="zh-CN" sz="2000" i="1" dirty="0">
                <a:ea typeface="宋体" panose="02010600030101010101" pitchFamily="2" charset="-122"/>
              </a:rPr>
              <a:t>		</a:t>
            </a:r>
            <a:r>
              <a:rPr lang="en-US" altLang="zh-CN" sz="2000" i="1" dirty="0">
                <a:solidFill>
                  <a:srgbClr val="0000FF"/>
                </a:solidFill>
                <a:ea typeface="宋体" panose="02010600030101010101" pitchFamily="2" charset="-122"/>
              </a:rPr>
              <a:t>P</a:t>
            </a:r>
            <a:r>
              <a:rPr lang="en-US" altLang="zh-CN" sz="2000" baseline="-25000" dirty="0">
                <a:solidFill>
                  <a:srgbClr val="0000FF"/>
                </a:solidFill>
                <a:ea typeface="宋体" panose="02010600030101010101" pitchFamily="2" charset="-122"/>
              </a:rPr>
              <a:t>0</a:t>
            </a:r>
            <a:r>
              <a:rPr lang="en-US" altLang="zh-CN" sz="2000" dirty="0">
                <a:solidFill>
                  <a:srgbClr val="0000FF"/>
                </a:solidFill>
                <a:ea typeface="宋体" panose="02010600030101010101" pitchFamily="2" charset="-122"/>
              </a:rPr>
              <a:t>		</a:t>
            </a:r>
            <a:r>
              <a:rPr lang="en-US" altLang="zh-CN" sz="2000" i="1" dirty="0">
                <a:solidFill>
                  <a:srgbClr val="0000FF"/>
                </a:solidFill>
                <a:ea typeface="宋体" panose="02010600030101010101" pitchFamily="2" charset="-122"/>
              </a:rPr>
              <a:t>P</a:t>
            </a:r>
            <a:r>
              <a:rPr lang="en-US" altLang="zh-CN" sz="2000" baseline="-25000" dirty="0">
                <a:solidFill>
                  <a:srgbClr val="0000FF"/>
                </a:solidFill>
                <a:ea typeface="宋体" panose="02010600030101010101" pitchFamily="2" charset="-122"/>
              </a:rPr>
              <a:t>1</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a:t>
            </a:r>
            <a:r>
              <a:rPr lang="en-US" altLang="zh-CN" sz="2000" dirty="0">
                <a:solidFill>
                  <a:srgbClr val="C00000"/>
                </a:solidFill>
                <a:ea typeface="宋体" panose="02010600030101010101" pitchFamily="2" charset="-122"/>
              </a:rPr>
              <a:t>wait (S); </a:t>
            </a:r>
            <a:r>
              <a:rPr lang="en-US" altLang="zh-CN" sz="2000" dirty="0">
                <a:solidFill>
                  <a:srgbClr val="0000FF"/>
                </a:solidFill>
                <a:ea typeface="宋体" panose="02010600030101010101" pitchFamily="2" charset="-122"/>
              </a:rPr>
              <a:t>	                                     </a:t>
            </a:r>
            <a:r>
              <a:rPr lang="en-US" altLang="zh-CN" sz="2000" dirty="0">
                <a:solidFill>
                  <a:srgbClr val="C00000"/>
                </a:solidFill>
                <a:ea typeface="宋体" panose="02010600030101010101" pitchFamily="2" charset="-122"/>
              </a:rPr>
              <a:t>wait (Q);</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wait (Q); 	                                     wait (S);</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 		.</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 		.</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 		.</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signal  (S); 	                                       signal (Q);</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signal (Q); 	                                       signal (S);</a:t>
            </a:r>
          </a:p>
        </p:txBody>
      </p:sp>
      <p:sp>
        <p:nvSpPr>
          <p:cNvPr id="6" name="等腰三角形 5">
            <a:extLst>
              <a:ext uri="{FF2B5EF4-FFF2-40B4-BE49-F238E27FC236}">
                <a16:creationId xmlns:a16="http://schemas.microsoft.com/office/drawing/2014/main" id="{CFA99372-7866-4F36-92A8-739412DEF014}"/>
              </a:ext>
            </a:extLst>
          </p:cNvPr>
          <p:cNvSpPr/>
          <p:nvPr/>
        </p:nvSpPr>
        <p:spPr bwMode="auto">
          <a:xfrm rot="5400000">
            <a:off x="1893871" y="3241500"/>
            <a:ext cx="226032" cy="226031"/>
          </a:xfrm>
          <a:prstGeom prst="triangle">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2" name="矩形 1">
            <a:extLst>
              <a:ext uri="{FF2B5EF4-FFF2-40B4-BE49-F238E27FC236}">
                <a16:creationId xmlns:a16="http://schemas.microsoft.com/office/drawing/2014/main" id="{4158A168-475C-419B-8D7D-9518FCD3EE1F}"/>
              </a:ext>
            </a:extLst>
          </p:cNvPr>
          <p:cNvSpPr/>
          <p:nvPr/>
        </p:nvSpPr>
        <p:spPr bwMode="auto">
          <a:xfrm>
            <a:off x="6061753" y="4566863"/>
            <a:ext cx="1469204" cy="344184"/>
          </a:xfrm>
          <a:prstGeom prst="rect">
            <a:avLst/>
          </a:prstGeom>
          <a:noFill/>
          <a:ln w="28575" cap="flat" cmpd="sng" algn="ctr">
            <a:solidFill>
              <a:schemeClr val="accent5">
                <a:lumMod val="50000"/>
              </a:schemeClr>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Tree>
    <p:extLst>
      <p:ext uri="{BB962C8B-B14F-4D97-AF65-F5344CB8AC3E}">
        <p14:creationId xmlns:p14="http://schemas.microsoft.com/office/powerpoint/2010/main" val="3838285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p:cNvSpPr>
          <p:nvPr>
            <p:ph type="title"/>
          </p:nvPr>
        </p:nvSpPr>
        <p:spPr>
          <a:ln/>
        </p:spPr>
        <p:txBody>
          <a:bodyPr vert="horz" wrap="square" lIns="91440" tIns="45720" rIns="91440" bIns="45720" anchor="b" anchorCtr="0"/>
          <a:lstStyle/>
          <a:p>
            <a:r>
              <a:rPr lang="en-US" altLang="zh-CN" dirty="0">
                <a:ea typeface="宋体" panose="02010600030101010101" pitchFamily="2" charset="-122"/>
              </a:rPr>
              <a:t>Deadlock and Starvation</a:t>
            </a:r>
          </a:p>
        </p:txBody>
      </p:sp>
      <p:sp>
        <p:nvSpPr>
          <p:cNvPr id="83970" name="Rectangle 3"/>
          <p:cNvSpPr>
            <a:spLocks noGrp="1"/>
          </p:cNvSpPr>
          <p:nvPr>
            <p:ph idx="1"/>
          </p:nvPr>
        </p:nvSpPr>
        <p:spPr>
          <a:xfrm>
            <a:off x="550863" y="958850"/>
            <a:ext cx="8012112" cy="5699125"/>
          </a:xfrm>
          <a:ln/>
        </p:spPr>
        <p:txBody>
          <a:bodyPr vert="horz" wrap="square" lIns="91440" tIns="45720" rIns="91440" bIns="45720" anchor="t" anchorCtr="0"/>
          <a:lstStyle/>
          <a:p>
            <a:pPr defTabSz="914400">
              <a:lnSpc>
                <a:spcPct val="80000"/>
              </a:lnSpc>
              <a:tabLst>
                <a:tab pos="1887855" algn="ctr"/>
                <a:tab pos="4572000" algn="ctr"/>
              </a:tabLst>
            </a:pPr>
            <a:r>
              <a:rPr lang="en-US" altLang="zh-CN" sz="2000" dirty="0">
                <a:solidFill>
                  <a:srgbClr val="FF0000"/>
                </a:solidFill>
                <a:ea typeface="宋体" panose="02010600030101010101" pitchFamily="2" charset="-122"/>
              </a:rPr>
              <a:t>The implementation of a semaphore with a waiting queue may result in one of the two following situations.</a:t>
            </a:r>
          </a:p>
          <a:p>
            <a:pPr defTabSz="914400">
              <a:lnSpc>
                <a:spcPct val="80000"/>
              </a:lnSpc>
              <a:tabLst>
                <a:tab pos="1887855" algn="ctr"/>
                <a:tab pos="4572000" algn="ctr"/>
              </a:tabLst>
            </a:pPr>
            <a:r>
              <a:rPr lang="en-US" altLang="zh-CN" sz="2000" dirty="0">
                <a:solidFill>
                  <a:srgbClr val="FF0000"/>
                </a:solidFill>
                <a:ea typeface="宋体" panose="02010600030101010101" pitchFamily="2" charset="-122"/>
              </a:rPr>
              <a:t>Deadlock</a:t>
            </a:r>
            <a:r>
              <a:rPr lang="en-US" altLang="zh-CN" sz="2000" dirty="0">
                <a:solidFill>
                  <a:schemeClr val="tx2"/>
                </a:solidFill>
                <a:ea typeface="宋体" panose="02010600030101010101" pitchFamily="2" charset="-122"/>
              </a:rPr>
              <a:t> </a:t>
            </a:r>
            <a:r>
              <a:rPr lang="en-US" altLang="zh-CN" sz="2000" dirty="0">
                <a:ea typeface="宋体" panose="02010600030101010101" pitchFamily="2" charset="-122"/>
              </a:rPr>
              <a:t>– two or more processes are waiting indefinitely for an event that can be caused by only one of the waiting processes</a:t>
            </a:r>
          </a:p>
          <a:p>
            <a:pPr defTabSz="914400">
              <a:lnSpc>
                <a:spcPct val="80000"/>
              </a:lnSpc>
              <a:tabLst>
                <a:tab pos="1887855" algn="ctr"/>
                <a:tab pos="4572000" algn="ctr"/>
              </a:tabLst>
            </a:pPr>
            <a:r>
              <a:rPr lang="en-US" altLang="zh-CN" sz="2000" dirty="0">
                <a:ea typeface="宋体" panose="02010600030101010101" pitchFamily="2" charset="-122"/>
              </a:rPr>
              <a:t>Let </a:t>
            </a:r>
            <a:r>
              <a:rPr lang="en-US" altLang="zh-CN" sz="2000" dirty="0">
                <a:solidFill>
                  <a:srgbClr val="0000FF"/>
                </a:solidFill>
                <a:ea typeface="宋体" panose="02010600030101010101" pitchFamily="2" charset="-122"/>
              </a:rPr>
              <a:t>S</a:t>
            </a:r>
            <a:r>
              <a:rPr lang="en-US" altLang="zh-CN" sz="2000" dirty="0">
                <a:ea typeface="宋体" panose="02010600030101010101" pitchFamily="2" charset="-122"/>
              </a:rPr>
              <a:t> and </a:t>
            </a:r>
            <a:r>
              <a:rPr lang="en-US" altLang="zh-CN" sz="2000" dirty="0">
                <a:solidFill>
                  <a:srgbClr val="0000FF"/>
                </a:solidFill>
                <a:ea typeface="宋体" panose="02010600030101010101" pitchFamily="2" charset="-122"/>
              </a:rPr>
              <a:t>Q</a:t>
            </a:r>
            <a:r>
              <a:rPr lang="en-US" altLang="zh-CN" sz="2000" dirty="0">
                <a:ea typeface="宋体" panose="02010600030101010101" pitchFamily="2" charset="-122"/>
              </a:rPr>
              <a:t> be two semaphores initialized to 1</a:t>
            </a:r>
          </a:p>
          <a:p>
            <a:pPr defTabSz="914400">
              <a:lnSpc>
                <a:spcPct val="80000"/>
              </a:lnSpc>
              <a:buNone/>
              <a:tabLst>
                <a:tab pos="1887855" algn="ctr"/>
                <a:tab pos="4572000" algn="ctr"/>
              </a:tabLst>
            </a:pPr>
            <a:r>
              <a:rPr lang="en-US" altLang="zh-CN" sz="2000" i="1" dirty="0">
                <a:ea typeface="宋体" panose="02010600030101010101" pitchFamily="2" charset="-122"/>
              </a:rPr>
              <a:t>		</a:t>
            </a:r>
            <a:r>
              <a:rPr lang="en-US" altLang="zh-CN" sz="2000" i="1" dirty="0">
                <a:solidFill>
                  <a:srgbClr val="0000FF"/>
                </a:solidFill>
                <a:ea typeface="宋体" panose="02010600030101010101" pitchFamily="2" charset="-122"/>
              </a:rPr>
              <a:t>P</a:t>
            </a:r>
            <a:r>
              <a:rPr lang="en-US" altLang="zh-CN" sz="2000" baseline="-25000" dirty="0">
                <a:solidFill>
                  <a:srgbClr val="0000FF"/>
                </a:solidFill>
                <a:ea typeface="宋体" panose="02010600030101010101" pitchFamily="2" charset="-122"/>
              </a:rPr>
              <a:t>0</a:t>
            </a:r>
            <a:r>
              <a:rPr lang="en-US" altLang="zh-CN" sz="2000" dirty="0">
                <a:solidFill>
                  <a:srgbClr val="0000FF"/>
                </a:solidFill>
                <a:ea typeface="宋体" panose="02010600030101010101" pitchFamily="2" charset="-122"/>
              </a:rPr>
              <a:t>		</a:t>
            </a:r>
            <a:r>
              <a:rPr lang="en-US" altLang="zh-CN" sz="2000" i="1" dirty="0">
                <a:solidFill>
                  <a:srgbClr val="0000FF"/>
                </a:solidFill>
                <a:ea typeface="宋体" panose="02010600030101010101" pitchFamily="2" charset="-122"/>
              </a:rPr>
              <a:t>P</a:t>
            </a:r>
            <a:r>
              <a:rPr lang="en-US" altLang="zh-CN" sz="2000" baseline="-25000" dirty="0">
                <a:solidFill>
                  <a:srgbClr val="0000FF"/>
                </a:solidFill>
                <a:ea typeface="宋体" panose="02010600030101010101" pitchFamily="2" charset="-122"/>
              </a:rPr>
              <a:t>1</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a:t>
            </a:r>
            <a:r>
              <a:rPr lang="en-US" altLang="zh-CN" sz="2000" dirty="0">
                <a:solidFill>
                  <a:srgbClr val="C00000"/>
                </a:solidFill>
                <a:ea typeface="宋体" panose="02010600030101010101" pitchFamily="2" charset="-122"/>
              </a:rPr>
              <a:t>wait (S); 	                                     wait (Q);</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wait (Q); 	                                     wait (S);</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 		.</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 		.</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 		.</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signal  (S); 	                                       signal (Q);</a:t>
            </a:r>
          </a:p>
          <a:p>
            <a:pPr defTabSz="914400">
              <a:lnSpc>
                <a:spcPct val="80000"/>
              </a:lnSpc>
              <a:buNone/>
              <a:tabLst>
                <a:tab pos="1887855" algn="ctr"/>
                <a:tab pos="4572000" algn="ctr"/>
              </a:tabLst>
            </a:pPr>
            <a:r>
              <a:rPr lang="en-US" altLang="zh-CN" sz="2000" dirty="0">
                <a:solidFill>
                  <a:srgbClr val="0000FF"/>
                </a:solidFill>
                <a:ea typeface="宋体" panose="02010600030101010101" pitchFamily="2" charset="-122"/>
              </a:rPr>
              <a:t>		        signal (Q); 	                                       signal (S);</a:t>
            </a:r>
          </a:p>
          <a:p>
            <a:pPr defTabSz="914400">
              <a:lnSpc>
                <a:spcPct val="80000"/>
              </a:lnSpc>
              <a:tabLst>
                <a:tab pos="1887855" algn="ctr"/>
                <a:tab pos="4572000" algn="ctr"/>
              </a:tabLst>
            </a:pPr>
            <a:r>
              <a:rPr lang="en-US" altLang="zh-CN" sz="2000" dirty="0">
                <a:solidFill>
                  <a:srgbClr val="FF0000"/>
                </a:solidFill>
                <a:ea typeface="宋体" panose="02010600030101010101" pitchFamily="2" charset="-122"/>
                <a:sym typeface="MT Extra" panose="05050102010205020202" pitchFamily="18" charset="2"/>
              </a:rPr>
              <a:t>Starvation </a:t>
            </a:r>
            <a:r>
              <a:rPr lang="en-US" altLang="zh-CN" sz="2000" dirty="0">
                <a:ea typeface="宋体" panose="02010600030101010101" pitchFamily="2" charset="-122"/>
              </a:rPr>
              <a:t> – indefinite blocking.  A process may never be removed from the semaphore queue in which it is suspended.</a:t>
            </a:r>
          </a:p>
        </p:txBody>
      </p:sp>
      <p:sp>
        <p:nvSpPr>
          <p:cNvPr id="6" name="等腰三角形 5">
            <a:extLst>
              <a:ext uri="{FF2B5EF4-FFF2-40B4-BE49-F238E27FC236}">
                <a16:creationId xmlns:a16="http://schemas.microsoft.com/office/drawing/2014/main" id="{02A5FE77-AA16-4E47-9BC9-D71C1749B4BC}"/>
              </a:ext>
            </a:extLst>
          </p:cNvPr>
          <p:cNvSpPr/>
          <p:nvPr/>
        </p:nvSpPr>
        <p:spPr bwMode="auto">
          <a:xfrm rot="5400000">
            <a:off x="1893871" y="3241500"/>
            <a:ext cx="226032" cy="226031"/>
          </a:xfrm>
          <a:prstGeom prst="triangle">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
        <p:nvSpPr>
          <p:cNvPr id="7" name="矩形 6">
            <a:extLst>
              <a:ext uri="{FF2B5EF4-FFF2-40B4-BE49-F238E27FC236}">
                <a16:creationId xmlns:a16="http://schemas.microsoft.com/office/drawing/2014/main" id="{D4E993BA-1D58-445A-AE4C-9633CDFA9259}"/>
              </a:ext>
            </a:extLst>
          </p:cNvPr>
          <p:cNvSpPr/>
          <p:nvPr/>
        </p:nvSpPr>
        <p:spPr bwMode="auto">
          <a:xfrm>
            <a:off x="6061753" y="4566863"/>
            <a:ext cx="1469204" cy="344184"/>
          </a:xfrm>
          <a:prstGeom prst="rect">
            <a:avLst/>
          </a:prstGeom>
          <a:noFill/>
          <a:ln w="28575" cap="flat" cmpd="sng" algn="ctr">
            <a:solidFill>
              <a:schemeClr val="accent5">
                <a:lumMod val="50000"/>
              </a:schemeClr>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Tree>
    <p:extLst>
      <p:ext uri="{BB962C8B-B14F-4D97-AF65-F5344CB8AC3E}">
        <p14:creationId xmlns:p14="http://schemas.microsoft.com/office/powerpoint/2010/main" val="1350612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397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Text Box 2"/>
          <p:cNvSpPr txBox="1"/>
          <p:nvPr/>
        </p:nvSpPr>
        <p:spPr>
          <a:xfrm>
            <a:off x="354013" y="1128713"/>
            <a:ext cx="8458200" cy="5032375"/>
          </a:xfrm>
          <a:prstGeom prst="rect">
            <a:avLst/>
          </a:prstGeom>
          <a:noFill/>
          <a:ln w="9525">
            <a:noFill/>
          </a:ln>
        </p:spPr>
        <p:txBody>
          <a:bodyPr anchor="t" anchorCtr="0">
            <a:spAutoFit/>
          </a:bodyPr>
          <a:lstStyle/>
          <a:p>
            <a:pPr eaLnBrk="0" hangingPunct="0">
              <a:lnSpc>
                <a:spcPct val="90000"/>
              </a:lnSpc>
            </a:pPr>
            <a:r>
              <a:rPr lang="zh-CN" altLang="en-US" sz="1800"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Swait(S1, S2, …, Sn)</a:t>
            </a:r>
          </a:p>
          <a:p>
            <a:pPr eaLnBrk="0" hangingPunct="0">
              <a:lnSpc>
                <a:spcPct val="90000"/>
              </a:lnSpc>
            </a:pP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 {</a:t>
            </a:r>
          </a:p>
          <a:p>
            <a:pPr eaLnBrk="0" hangingPunct="0">
              <a:lnSpc>
                <a:spcPct val="90000"/>
              </a:lnSpc>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while (TRUE)</a:t>
            </a:r>
          </a:p>
          <a:p>
            <a:pPr eaLnBrk="0" hangingPunct="0">
              <a:lnSpc>
                <a:spcPct val="90000"/>
              </a:lnSpc>
            </a:pPr>
            <a:r>
              <a:rPr lang="en-US" altLang="zh-CN" b="1" dirty="0">
                <a:latin typeface="宋体" panose="02010600030101010101" pitchFamily="2" charset="-122"/>
                <a:ea typeface="宋体" panose="02010600030101010101" pitchFamily="2" charset="-122"/>
              </a:rPr>
              <a:t> {</a:t>
            </a:r>
          </a:p>
          <a:p>
            <a:pPr eaLnBrk="0" hangingPunct="0">
              <a:lnSpc>
                <a:spcPct val="90000"/>
              </a:lnSpc>
            </a:pPr>
            <a:r>
              <a:rPr lang="en-US" altLang="zh-CN" b="1" dirty="0">
                <a:latin typeface="宋体" panose="02010600030101010101" pitchFamily="2" charset="-122"/>
                <a:ea typeface="宋体" panose="02010600030101010101" pitchFamily="2" charset="-122"/>
              </a:rPr>
              <a:t>      if (S1 &gt;=1 &amp;&amp; S2 &gt;= 1 &amp;&amp; … &amp;&amp; Sn &gt;= 1) </a:t>
            </a:r>
          </a:p>
          <a:p>
            <a:pPr eaLnBrk="0" hangingPunct="0">
              <a:lnSpc>
                <a:spcPct val="90000"/>
              </a:lnSpc>
            </a:pPr>
            <a:r>
              <a:rPr lang="en-US" altLang="zh-CN" b="1" dirty="0">
                <a:latin typeface="宋体" panose="02010600030101010101" pitchFamily="2" charset="-122"/>
                <a:ea typeface="宋体" panose="02010600030101010101" pitchFamily="2" charset="-122"/>
              </a:rPr>
              <a:t>      {		</a:t>
            </a:r>
            <a:endParaRPr lang="zh-CN" altLang="en-US" b="1" dirty="0">
              <a:latin typeface="宋体" panose="02010600030101010101" pitchFamily="2" charset="-122"/>
              <a:ea typeface="宋体" panose="02010600030101010101" pitchFamily="2" charset="-122"/>
            </a:endParaRPr>
          </a:p>
          <a:p>
            <a:pPr eaLnBrk="0" hangingPunct="0">
              <a:lnSpc>
                <a:spcPct val="90000"/>
              </a:lnSpc>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for (i = 1; i &lt;= n; ++i)  --Si;	</a:t>
            </a:r>
          </a:p>
          <a:p>
            <a:pPr eaLnBrk="0" hangingPunct="0">
              <a:lnSpc>
                <a:spcPct val="90000"/>
              </a:lnSpc>
            </a:pPr>
            <a:endParaRPr lang="zh-CN" altLang="en-US" b="1" dirty="0">
              <a:latin typeface="宋体" panose="02010600030101010101" pitchFamily="2" charset="-122"/>
              <a:ea typeface="宋体" panose="02010600030101010101" pitchFamily="2" charset="-122"/>
            </a:endParaRPr>
          </a:p>
          <a:p>
            <a:pPr eaLnBrk="0" hangingPunct="0">
              <a:lnSpc>
                <a:spcPct val="90000"/>
              </a:lnSpc>
            </a:pPr>
            <a:r>
              <a:rPr lang="en-US" altLang="zh-CN" b="1" dirty="0">
                <a:latin typeface="宋体" panose="02010600030101010101" pitchFamily="2" charset="-122"/>
                <a:ea typeface="宋体" panose="02010600030101010101" pitchFamily="2" charset="-122"/>
              </a:rPr>
              <a:t>        break;</a:t>
            </a:r>
          </a:p>
          <a:p>
            <a:pPr eaLnBrk="0" hangingPunct="0">
              <a:lnSpc>
                <a:spcPct val="90000"/>
              </a:lnSpc>
            </a:pPr>
            <a:r>
              <a:rPr lang="en-US" altLang="zh-CN" b="1" dirty="0">
                <a:latin typeface="宋体" panose="02010600030101010101" pitchFamily="2" charset="-122"/>
                <a:ea typeface="宋体" panose="02010600030101010101" pitchFamily="2" charset="-122"/>
              </a:rPr>
              <a:t>      }</a:t>
            </a:r>
          </a:p>
          <a:p>
            <a:pPr eaLnBrk="0" hangingPunct="0">
              <a:lnSpc>
                <a:spcPct val="90000"/>
              </a:lnSpc>
            </a:pPr>
            <a:r>
              <a:rPr lang="en-US" altLang="zh-CN" b="1" dirty="0">
                <a:latin typeface="宋体" panose="02010600030101010101" pitchFamily="2" charset="-122"/>
                <a:ea typeface="宋体" panose="02010600030101010101" pitchFamily="2" charset="-122"/>
              </a:rPr>
              <a:t>  else</a:t>
            </a:r>
          </a:p>
          <a:p>
            <a:pPr eaLnBrk="0" hangingPunct="0">
              <a:lnSpc>
                <a:spcPct val="120000"/>
              </a:lnSpc>
            </a:pPr>
            <a:r>
              <a:rPr lang="en-US" altLang="zh-CN" b="1" dirty="0">
                <a:latin typeface="宋体" panose="02010600030101010101" pitchFamily="2" charset="-122"/>
                <a:ea typeface="宋体" panose="02010600030101010101" pitchFamily="2" charset="-122"/>
              </a:rPr>
              <a:t>  {    add the process to </a:t>
            </a:r>
            <a:r>
              <a:rPr lang="en-US" altLang="zh-CN" b="1" dirty="0">
                <a:latin typeface="Verdana" panose="020B0604030504040204" pitchFamily="34" charset="0"/>
              </a:rPr>
              <a:t>Sj.queue</a:t>
            </a:r>
            <a:r>
              <a:rPr lang="en-US" altLang="zh-CN" dirty="0">
                <a:latin typeface="Verdana" panose="020B0604030504040204" pitchFamily="34" charset="0"/>
              </a:rPr>
              <a:t> </a:t>
            </a:r>
            <a:r>
              <a:rPr lang="en-US" altLang="zh-CN" b="1" dirty="0">
                <a:latin typeface="宋体" panose="02010600030101010101" pitchFamily="2" charset="-122"/>
                <a:ea typeface="宋体" panose="02010600030101010101" pitchFamily="2" charset="-122"/>
              </a:rPr>
              <a:t>//no available resource to use and S</a:t>
            </a:r>
            <a:r>
              <a:rPr lang="en-US" altLang="zh-CN" b="1" baseline="-25000" dirty="0">
                <a:latin typeface="宋体" panose="02010600030101010101" pitchFamily="2" charset="-122"/>
                <a:ea typeface="宋体" panose="02010600030101010101" pitchFamily="2" charset="-122"/>
              </a:rPr>
              <a:t>j </a:t>
            </a:r>
            <a:r>
              <a:rPr lang="en-US" altLang="zh-CN" b="1" dirty="0">
                <a:latin typeface="宋体" panose="02010600030101010101" pitchFamily="2" charset="-122"/>
                <a:ea typeface="宋体" panose="02010600030101010101" pitchFamily="2" charset="-122"/>
              </a:rPr>
              <a:t>is the first</a:t>
            </a:r>
            <a:r>
              <a:rPr lang="en-US" altLang="zh-CN" b="1" baseline="-25000"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semaphore of which value is less than 1</a:t>
            </a:r>
            <a:r>
              <a:rPr lang="en-US" altLang="zh-CN" b="1" baseline="-25000"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a:t>
            </a:r>
          </a:p>
          <a:p>
            <a:pPr eaLnBrk="0" hangingPunct="0">
              <a:lnSpc>
                <a:spcPct val="120000"/>
              </a:lnSpc>
            </a:pPr>
            <a:r>
              <a:rPr lang="en-US" altLang="zh-CN" b="1" dirty="0">
                <a:latin typeface="宋体" panose="02010600030101010101" pitchFamily="2" charset="-122"/>
                <a:ea typeface="宋体" panose="02010600030101010101" pitchFamily="2" charset="-122"/>
              </a:rPr>
              <a:t>        block();</a:t>
            </a:r>
          </a:p>
          <a:p>
            <a:pPr eaLnBrk="0" hangingPunct="0">
              <a:lnSpc>
                <a:spcPct val="90000"/>
              </a:lnSpc>
            </a:pPr>
            <a:r>
              <a:rPr lang="zh-CN" altLang="en-US" b="1" dirty="0">
                <a:latin typeface="宋体" panose="02010600030101010101" pitchFamily="2" charset="-122"/>
                <a:ea typeface="宋体" panose="02010600030101010101" pitchFamily="2" charset="-122"/>
              </a:rPr>
              <a:t>      }</a:t>
            </a:r>
          </a:p>
          <a:p>
            <a:pPr eaLnBrk="0" hangingPunct="0">
              <a:lnSpc>
                <a:spcPct val="90000"/>
              </a:lnSpc>
            </a:pPr>
            <a:r>
              <a:rPr lang="zh-CN" altLang="en-US" b="1" dirty="0">
                <a:latin typeface="宋体" panose="02010600030101010101" pitchFamily="2" charset="-122"/>
                <a:ea typeface="宋体" panose="02010600030101010101" pitchFamily="2" charset="-122"/>
              </a:rPr>
              <a:t> }</a:t>
            </a:r>
          </a:p>
          <a:p>
            <a:pPr eaLnBrk="0" hangingPunct="0">
              <a:lnSpc>
                <a:spcPct val="90000"/>
              </a:lnSpc>
            </a:pPr>
            <a:r>
              <a:rPr lang="zh-CN" altLang="en-US" b="1" dirty="0">
                <a:latin typeface="宋体" panose="02010600030101010101" pitchFamily="2" charset="-122"/>
                <a:ea typeface="宋体" panose="02010600030101010101" pitchFamily="2" charset="-122"/>
              </a:rPr>
              <a:t> }</a:t>
            </a:r>
          </a:p>
        </p:txBody>
      </p:sp>
      <p:sp>
        <p:nvSpPr>
          <p:cNvPr id="86018" name="Rectangle 3"/>
          <p:cNvSpPr/>
          <p:nvPr/>
        </p:nvSpPr>
        <p:spPr>
          <a:xfrm>
            <a:off x="1471613" y="269875"/>
            <a:ext cx="6234112" cy="579438"/>
          </a:xfrm>
          <a:prstGeom prst="rect">
            <a:avLst/>
          </a:prstGeom>
          <a:noFill/>
          <a:ln w="9525">
            <a:noFill/>
          </a:ln>
        </p:spPr>
        <p:txBody>
          <a:bodyPr anchor="t" anchorCtr="0">
            <a:spAutoFit/>
          </a:bodyPr>
          <a:lstStyle/>
          <a:p>
            <a:pPr algn="ctr" eaLnBrk="0" hangingPunct="0"/>
            <a:r>
              <a:rPr lang="en-US" altLang="zh-CN" sz="3200" b="1" dirty="0">
                <a:solidFill>
                  <a:srgbClr val="006699"/>
                </a:solidFill>
                <a:latin typeface="Arial" panose="020B0604020202020204" pitchFamily="34" charset="0"/>
                <a:ea typeface="宋体" panose="02010600030101010101" pitchFamily="2" charset="-122"/>
              </a:rPr>
              <a:t>AND</a:t>
            </a:r>
            <a:r>
              <a:rPr lang="zh-CN" altLang="en-US" sz="3200" b="1" dirty="0">
                <a:solidFill>
                  <a:srgbClr val="006699"/>
                </a:solidFill>
                <a:latin typeface="Arial" panose="020B0604020202020204" pitchFamily="34" charset="0"/>
                <a:ea typeface="宋体" panose="02010600030101010101" pitchFamily="2" charset="-122"/>
              </a:rPr>
              <a:t> </a:t>
            </a:r>
            <a:r>
              <a:rPr lang="en-US" altLang="zh-CN" sz="3200" b="1" dirty="0">
                <a:solidFill>
                  <a:srgbClr val="006699"/>
                </a:solidFill>
                <a:latin typeface="Arial" panose="020B0604020202020204" pitchFamily="34" charset="0"/>
                <a:ea typeface="宋体" panose="02010600030101010101" pitchFamily="2" charset="-122"/>
              </a:rPr>
              <a:t>Semaphore</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p:cNvSpPr/>
          <p:nvPr/>
        </p:nvSpPr>
        <p:spPr>
          <a:xfrm>
            <a:off x="866775" y="974725"/>
            <a:ext cx="7464425" cy="6186488"/>
          </a:xfrm>
          <a:prstGeom prst="rect">
            <a:avLst/>
          </a:prstGeom>
          <a:noFill/>
          <a:ln w="9525">
            <a:noFill/>
          </a:ln>
        </p:spPr>
        <p:txBody>
          <a:bodyPr anchor="t" anchorCtr="0">
            <a:spAutoFit/>
          </a:bodyPr>
          <a:lstStyle/>
          <a:p>
            <a:pPr eaLnBrk="0" hangingPunct="0"/>
            <a:r>
              <a:rPr lang="zh-CN" altLang="en-US" sz="1800"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Ssignal(S1, S2, …, Sn)</a:t>
            </a:r>
          </a:p>
          <a:p>
            <a:pPr eaLnBrk="0" hangingPunct="0"/>
            <a:r>
              <a:rPr lang="en-US" altLang="zh-CN" sz="1800" b="1" dirty="0">
                <a:latin typeface="宋体" panose="02010600030101010101" pitchFamily="2" charset="-122"/>
                <a:ea typeface="宋体" panose="02010600030101010101" pitchFamily="2" charset="-122"/>
              </a:rPr>
              <a:t> {</a:t>
            </a:r>
          </a:p>
          <a:p>
            <a:pPr eaLnBrk="0" hangingPunct="0"/>
            <a:r>
              <a:rPr lang="en-US" altLang="zh-CN" sz="1800" b="1" dirty="0">
                <a:latin typeface="宋体" panose="02010600030101010101" pitchFamily="2" charset="-122"/>
                <a:ea typeface="宋体" panose="02010600030101010101" pitchFamily="2" charset="-122"/>
              </a:rPr>
              <a:t>   for (i = 1; i &lt;= n; ++i)</a:t>
            </a:r>
          </a:p>
          <a:p>
            <a:pPr eaLnBrk="0" hangingPunct="0"/>
            <a:r>
              <a:rPr lang="en-US" altLang="zh-CN" sz="1800" b="1" dirty="0">
                <a:latin typeface="宋体" panose="02010600030101010101" pitchFamily="2" charset="-122"/>
                <a:ea typeface="宋体" panose="02010600030101010101" pitchFamily="2" charset="-122"/>
              </a:rPr>
              <a:t>   {</a:t>
            </a:r>
          </a:p>
          <a:p>
            <a:pPr eaLnBrk="0" hangingPunct="0"/>
            <a:r>
              <a:rPr lang="en-US" altLang="zh-CN" sz="1800" b="1" dirty="0">
                <a:latin typeface="宋体" panose="02010600030101010101" pitchFamily="2" charset="-122"/>
                <a:ea typeface="宋体" panose="02010600030101010101" pitchFamily="2" charset="-122"/>
              </a:rPr>
              <a:t>     ++Si;	//release resources</a:t>
            </a:r>
            <a:r>
              <a:rPr lang="zh-CN" altLang="en-US" sz="1800" b="1" dirty="0">
                <a:latin typeface="宋体" panose="02010600030101010101" pitchFamily="2" charset="-122"/>
                <a:ea typeface="宋体" panose="02010600030101010101" pitchFamily="2" charset="-122"/>
              </a:rPr>
              <a:t>；</a:t>
            </a:r>
          </a:p>
          <a:p>
            <a:pPr eaLnBrk="0" hangingPunct="0"/>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for (each process P waiting in Si.queue)</a:t>
            </a:r>
          </a:p>
          <a:p>
            <a:pPr eaLnBrk="0" hangingPunct="0"/>
            <a:r>
              <a:rPr lang="en-US" altLang="zh-CN" sz="1800" b="1" dirty="0">
                <a:latin typeface="宋体" panose="02010600030101010101" pitchFamily="2" charset="-122"/>
                <a:ea typeface="宋体" panose="02010600030101010101" pitchFamily="2" charset="-122"/>
              </a:rPr>
              <a:t>           //check if there is some process waiting</a:t>
            </a:r>
            <a:r>
              <a:rPr lang="zh-CN" altLang="en-US" sz="1800" b="1" dirty="0">
                <a:latin typeface="宋体" panose="02010600030101010101" pitchFamily="2" charset="-122"/>
                <a:ea typeface="宋体" panose="02010600030101010101" pitchFamily="2" charset="-122"/>
              </a:rPr>
              <a:t>；</a:t>
            </a:r>
          </a:p>
          <a:p>
            <a:pPr eaLnBrk="0" hangingPunct="0"/>
            <a:r>
              <a:rPr lang="zh-CN" altLang="en-US" sz="1800" b="1" dirty="0">
                <a:latin typeface="宋体" panose="02010600030101010101" pitchFamily="2" charset="-122"/>
                <a:ea typeface="宋体" panose="02010600030101010101" pitchFamily="2" charset="-122"/>
              </a:rPr>
              <a:t>     {</a:t>
            </a:r>
          </a:p>
          <a:p>
            <a:pPr eaLnBrk="0" hangingPunct="0"/>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remove a process P from Si.queue;</a:t>
            </a:r>
          </a:p>
          <a:p>
            <a:pPr eaLnBrk="0" hangingPunct="0"/>
            <a:r>
              <a:rPr lang="en-US" altLang="zh-CN" sz="1800" b="1" dirty="0">
                <a:latin typeface="宋体" panose="02010600030101010101" pitchFamily="2" charset="-122"/>
                <a:ea typeface="宋体" panose="02010600030101010101" pitchFamily="2" charset="-122"/>
              </a:rPr>
              <a:t>       if (</a:t>
            </a:r>
            <a:r>
              <a:rPr lang="en-US" altLang="zh-CN" sz="1800" b="1" dirty="0">
                <a:solidFill>
                  <a:srgbClr val="FF0000"/>
                </a:solidFill>
                <a:latin typeface="宋体" panose="02010600030101010101" pitchFamily="2" charset="-122"/>
                <a:ea typeface="宋体" panose="02010600030101010101" pitchFamily="2" charset="-122"/>
              </a:rPr>
              <a:t>Swait(S1, S2, …, Sn) </a:t>
            </a:r>
            <a:r>
              <a:rPr lang="zh-CN" altLang="en-US" sz="1800" b="1" dirty="0">
                <a:latin typeface="宋体" panose="02010600030101010101" pitchFamily="2" charset="-122"/>
                <a:ea typeface="宋体" panose="02010600030101010101" pitchFamily="2" charset="-122"/>
              </a:rPr>
              <a:t>)</a:t>
            </a:r>
          </a:p>
          <a:p>
            <a:pPr eaLnBrk="0" hangingPunct="0"/>
            <a:r>
              <a:rPr lang="zh-CN" altLang="en-US" sz="1800" b="1" dirty="0">
                <a:latin typeface="宋体" panose="02010600030101010101" pitchFamily="2" charset="-122"/>
                <a:ea typeface="宋体" panose="02010600030101010101" pitchFamily="2" charset="-122"/>
              </a:rPr>
              <a:t>            //</a:t>
            </a:r>
            <a:r>
              <a:rPr lang="en-US" altLang="zh-CN" sz="1800" b="1" dirty="0">
                <a:solidFill>
                  <a:srgbClr val="FF0000"/>
                </a:solidFill>
                <a:latin typeface="宋体" panose="02010600030101010101" pitchFamily="2" charset="-122"/>
                <a:ea typeface="宋体" panose="02010600030101010101" pitchFamily="2" charset="-122"/>
              </a:rPr>
              <a:t>different from  signal, P will be waken up when it acquires all resources </a:t>
            </a:r>
            <a:r>
              <a:rPr lang="zh-CN" altLang="en-US" sz="1800" b="1" dirty="0">
                <a:latin typeface="宋体" panose="02010600030101010101" pitchFamily="2" charset="-122"/>
                <a:ea typeface="宋体" panose="02010600030101010101" pitchFamily="2" charset="-122"/>
              </a:rPr>
              <a:t>；</a:t>
            </a:r>
          </a:p>
          <a:p>
            <a:pPr eaLnBrk="0" hangingPunct="0"/>
            <a:r>
              <a:rPr lang="zh-CN" altLang="en-US" sz="1800" b="1" dirty="0">
                <a:latin typeface="宋体" panose="02010600030101010101" pitchFamily="2" charset="-122"/>
                <a:ea typeface="宋体" panose="02010600030101010101" pitchFamily="2" charset="-122"/>
              </a:rPr>
              <a:t>           {	//</a:t>
            </a:r>
            <a:r>
              <a:rPr lang="en-US" altLang="zh-CN" sz="1800" b="1" dirty="0">
                <a:latin typeface="宋体" panose="02010600030101010101" pitchFamily="2" charset="-122"/>
                <a:ea typeface="宋体" panose="02010600030101010101" pitchFamily="2" charset="-122"/>
              </a:rPr>
              <a:t>all needed resources are available</a:t>
            </a:r>
            <a:r>
              <a:rPr lang="zh-CN" altLang="en-US" sz="1800" b="1" dirty="0">
                <a:latin typeface="宋体" panose="02010600030101010101" pitchFamily="2" charset="-122"/>
                <a:ea typeface="宋体" panose="02010600030101010101" pitchFamily="2" charset="-122"/>
              </a:rPr>
              <a:t>；</a:t>
            </a:r>
          </a:p>
          <a:p>
            <a:pPr eaLnBrk="0" hangingPunct="0"/>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wakeup(P);</a:t>
            </a:r>
          </a:p>
          <a:p>
            <a:pPr eaLnBrk="0" hangingPunct="0"/>
            <a:r>
              <a:rPr lang="zh-CN" altLang="en-US" sz="1800" b="1" dirty="0">
                <a:latin typeface="宋体" panose="02010600030101010101" pitchFamily="2" charset="-122"/>
                <a:ea typeface="宋体" panose="02010600030101010101" pitchFamily="2" charset="-122"/>
              </a:rPr>
              <a:t>           }</a:t>
            </a:r>
          </a:p>
          <a:p>
            <a:pPr eaLnBrk="0" hangingPunct="0"/>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else</a:t>
            </a:r>
          </a:p>
          <a:p>
            <a:pPr eaLnBrk="0" hangingPunct="0"/>
            <a:r>
              <a:rPr lang="en-US" altLang="zh-CN" sz="1800" b="1" dirty="0">
                <a:latin typeface="宋体" panose="02010600030101010101" pitchFamily="2" charset="-122"/>
                <a:ea typeface="宋体" panose="02010600030101010101" pitchFamily="2" charset="-122"/>
              </a:rPr>
              <a:t>           {	//otherwise</a:t>
            </a:r>
            <a:r>
              <a:rPr lang="zh-CN" altLang="en-US" sz="1800" b="1" dirty="0">
                <a:latin typeface="宋体" panose="02010600030101010101" pitchFamily="2" charset="-122"/>
                <a:ea typeface="宋体" panose="02010600030101010101" pitchFamily="2" charset="-122"/>
              </a:rPr>
              <a:t>；</a:t>
            </a:r>
          </a:p>
          <a:p>
            <a:pPr eaLnBrk="0" hangingPunct="0"/>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add process P to another waiting queue</a:t>
            </a:r>
            <a:r>
              <a:rPr lang="zh-CN" altLang="en-US" sz="1800" b="1" dirty="0">
                <a:latin typeface="宋体" panose="02010600030101010101" pitchFamily="2" charset="-122"/>
                <a:ea typeface="宋体" panose="02010600030101010101" pitchFamily="2" charset="-122"/>
              </a:rPr>
              <a:t>；</a:t>
            </a:r>
          </a:p>
          <a:p>
            <a:pPr eaLnBrk="0" hangingPunct="0"/>
            <a:r>
              <a:rPr lang="zh-CN" altLang="en-US" sz="1800" b="1" dirty="0">
                <a:latin typeface="宋体" panose="02010600030101010101" pitchFamily="2" charset="-122"/>
                <a:ea typeface="宋体" panose="02010600030101010101" pitchFamily="2" charset="-122"/>
              </a:rPr>
              <a:t>           }</a:t>
            </a:r>
          </a:p>
          <a:p>
            <a:pPr eaLnBrk="0" hangingPunct="0"/>
            <a:r>
              <a:rPr lang="zh-CN" altLang="en-US" sz="1800" b="1" dirty="0">
                <a:latin typeface="宋体" panose="02010600030101010101" pitchFamily="2" charset="-122"/>
                <a:ea typeface="宋体" panose="02010600030101010101" pitchFamily="2" charset="-122"/>
              </a:rPr>
              <a:t>     }</a:t>
            </a:r>
          </a:p>
          <a:p>
            <a:pPr eaLnBrk="0" hangingPunct="0"/>
            <a:r>
              <a:rPr lang="zh-CN" altLang="en-US" sz="1800" b="1" dirty="0">
                <a:latin typeface="宋体" panose="02010600030101010101" pitchFamily="2" charset="-122"/>
                <a:ea typeface="宋体" panose="02010600030101010101" pitchFamily="2" charset="-122"/>
              </a:rPr>
              <a:t>   }</a:t>
            </a:r>
          </a:p>
          <a:p>
            <a:pPr eaLnBrk="0" hangingPunct="0"/>
            <a:r>
              <a:rPr lang="zh-CN" altLang="en-US" sz="1800" b="1" dirty="0">
                <a:latin typeface="宋体" panose="02010600030101010101" pitchFamily="2" charset="-122"/>
                <a:ea typeface="宋体" panose="02010600030101010101" pitchFamily="2" charset="-122"/>
              </a:rPr>
              <a:t> }</a:t>
            </a:r>
          </a:p>
        </p:txBody>
      </p:sp>
      <p:sp>
        <p:nvSpPr>
          <p:cNvPr id="88066" name="Rectangle 3"/>
          <p:cNvSpPr/>
          <p:nvPr/>
        </p:nvSpPr>
        <p:spPr>
          <a:xfrm>
            <a:off x="590550" y="198438"/>
            <a:ext cx="7745413" cy="579437"/>
          </a:xfrm>
          <a:prstGeom prst="rect">
            <a:avLst/>
          </a:prstGeom>
          <a:noFill/>
          <a:ln w="9525">
            <a:noFill/>
          </a:ln>
        </p:spPr>
        <p:txBody>
          <a:bodyPr anchor="t" anchorCtr="0">
            <a:spAutoFit/>
          </a:bodyPr>
          <a:lstStyle/>
          <a:p>
            <a:pPr algn="ctr" eaLnBrk="0" hangingPunct="0"/>
            <a:r>
              <a:rPr lang="en-US" altLang="zh-CN" sz="3200" b="1" dirty="0">
                <a:solidFill>
                  <a:srgbClr val="006699"/>
                </a:solidFill>
                <a:latin typeface="Verdana" panose="020B0604030504040204" pitchFamily="34" charset="0"/>
              </a:rPr>
              <a:t>AND</a:t>
            </a:r>
            <a:r>
              <a:rPr lang="zh-CN" altLang="en-US" sz="3200" b="1" dirty="0">
                <a:solidFill>
                  <a:srgbClr val="006699"/>
                </a:solidFill>
                <a:latin typeface="Verdana" panose="020B0604030504040204" pitchFamily="34" charset="0"/>
              </a:rPr>
              <a:t> </a:t>
            </a:r>
            <a:r>
              <a:rPr lang="en-US" altLang="zh-CN" sz="3200" b="1" dirty="0">
                <a:solidFill>
                  <a:srgbClr val="006699"/>
                </a:solidFill>
                <a:latin typeface="Verdana" panose="020B0604030504040204" pitchFamily="34" charset="0"/>
              </a:rPr>
              <a:t>Semaphore</a:t>
            </a:r>
            <a:endParaRPr lang="zh-CN" altLang="en-US" sz="3200" b="1" dirty="0">
              <a:solidFill>
                <a:srgbClr val="006699"/>
              </a:solidFill>
              <a:latin typeface="Arial" panose="020B0604020202020204" pitchFamily="34" charset="0"/>
              <a:ea typeface="宋体" panose="02010600030101010101" pitchFamily="2" charset="-122"/>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p:cNvSpPr>
            <a:spLocks noGrp="1"/>
          </p:cNvSpPr>
          <p:nvPr>
            <p:ph type="title"/>
          </p:nvPr>
        </p:nvSpPr>
        <p:spPr>
          <a:xfrm>
            <a:off x="866116" y="383123"/>
            <a:ext cx="8277884" cy="390525"/>
          </a:xfrm>
          <a:ln/>
        </p:spPr>
        <p:txBody>
          <a:bodyPr vert="horz" wrap="square" lIns="91440" tIns="45720" rIns="91440" bIns="45720" anchor="b" anchorCtr="0"/>
          <a:lstStyle/>
          <a:p>
            <a:pPr eaLnBrk="1" hangingPunct="1"/>
            <a:r>
              <a:rPr lang="en-US" altLang="zh-CN" sz="2800" dirty="0"/>
              <a:t>(</a:t>
            </a:r>
            <a:r>
              <a:rPr lang="zh-CN" altLang="en-US" sz="2800" dirty="0"/>
              <a:t>互斥）</a:t>
            </a:r>
            <a:r>
              <a:rPr lang="en-US" altLang="zh-CN" sz="2800" dirty="0"/>
              <a:t>Mutual exclusion using semaphore</a:t>
            </a:r>
          </a:p>
        </p:txBody>
      </p:sp>
      <p:graphicFrame>
        <p:nvGraphicFramePr>
          <p:cNvPr id="89090" name="Object 4"/>
          <p:cNvGraphicFramePr/>
          <p:nvPr/>
        </p:nvGraphicFramePr>
        <p:xfrm>
          <a:off x="2012950" y="2601913"/>
          <a:ext cx="5786438" cy="3024187"/>
        </p:xfrm>
        <a:graphic>
          <a:graphicData uri="http://schemas.openxmlformats.org/presentationml/2006/ole">
            <mc:AlternateContent xmlns:mc="http://schemas.openxmlformats.org/markup-compatibility/2006">
              <mc:Choice xmlns:v="urn:schemas-microsoft-com:vml" Requires="v">
                <p:oleObj spid="_x0000_s7362" name="Visio" r:id="rId4" imgW="1748155" imgH="968375" progId="Visio.Drawing.11">
                  <p:embed/>
                </p:oleObj>
              </mc:Choice>
              <mc:Fallback>
                <p:oleObj name="Visio" r:id="rId4" imgW="1748155" imgH="968375" progId="Visio.Drawing.11">
                  <p:embed/>
                  <p:pic>
                    <p:nvPicPr>
                      <p:cNvPr id="0" name="图片 3081"/>
                      <p:cNvPicPr/>
                      <p:nvPr/>
                    </p:nvPicPr>
                    <p:blipFill>
                      <a:blip r:embed="rId5"/>
                      <a:stretch>
                        <a:fillRect/>
                      </a:stretch>
                    </p:blipFill>
                    <p:spPr>
                      <a:xfrm>
                        <a:off x="2012950" y="2601913"/>
                        <a:ext cx="5786438" cy="3024187"/>
                      </a:xfrm>
                      <a:prstGeom prst="rect">
                        <a:avLst/>
                      </a:prstGeom>
                      <a:solidFill>
                        <a:srgbClr val="99CCFF"/>
                      </a:solidFill>
                      <a:ln w="38100">
                        <a:noFill/>
                        <a:miter/>
                      </a:ln>
                    </p:spPr>
                  </p:pic>
                </p:oleObj>
              </mc:Fallback>
            </mc:AlternateContent>
          </a:graphicData>
        </a:graphic>
      </p:graphicFrame>
      <p:sp>
        <p:nvSpPr>
          <p:cNvPr id="89091" name="矩形 3"/>
          <p:cNvSpPr/>
          <p:nvPr/>
        </p:nvSpPr>
        <p:spPr>
          <a:xfrm>
            <a:off x="452438" y="1358900"/>
            <a:ext cx="8201025" cy="733425"/>
          </a:xfrm>
          <a:prstGeom prst="rect">
            <a:avLst/>
          </a:prstGeom>
          <a:noFill/>
          <a:ln w="9525">
            <a:noFill/>
          </a:ln>
        </p:spPr>
        <p:txBody>
          <a:bodyPr anchor="t" anchorCtr="0">
            <a:spAutoFit/>
          </a:bodyPr>
          <a:lstStyle/>
          <a:p>
            <a:pPr lvl="1" indent="0" defTabSz="914400" eaLnBrk="0" hangingPunct="0">
              <a:lnSpc>
                <a:spcPct val="150000"/>
              </a:lnSpc>
              <a:tabLst>
                <a:tab pos="2005330" algn="ctr"/>
                <a:tab pos="4518025" algn="ctr"/>
              </a:tabLst>
            </a:pPr>
            <a:r>
              <a:rPr lang="en-US" altLang="zh-CN" sz="2800" dirty="0">
                <a:solidFill>
                  <a:srgbClr val="0000FF"/>
                </a:solidFill>
                <a:latin typeface="Verdana" panose="020B0604030504040204" pitchFamily="34" charset="0"/>
                <a:ea typeface="宋体" panose="02010600030101010101" pitchFamily="2" charset="-122"/>
                <a:sym typeface="MT Extra" panose="05050102010205020202" pitchFamily="18" charset="2"/>
              </a:rPr>
              <a:t>Semaphore mutex ;    //  initialized to 1</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p:cNvSpPr>
            <a:spLocks noGrp="1"/>
          </p:cNvSpPr>
          <p:nvPr>
            <p:ph type="title" idx="4294967295"/>
          </p:nvPr>
        </p:nvSpPr>
        <p:spPr>
          <a:xfrm>
            <a:off x="914400" y="228600"/>
            <a:ext cx="8077200" cy="609600"/>
          </a:xfrm>
          <a:ln/>
        </p:spPr>
        <p:txBody>
          <a:bodyPr vert="horz" wrap="square" lIns="91440" tIns="45720" rIns="91440" bIns="45720" anchor="b" anchorCtr="0"/>
          <a:lstStyle/>
          <a:p>
            <a:r>
              <a:rPr lang="zh-CN" altLang="en-US" sz="2800" dirty="0"/>
              <a:t>（同步）</a:t>
            </a:r>
            <a:r>
              <a:rPr lang="en-US" altLang="zh-CN" sz="2800" dirty="0"/>
              <a:t>Synchronization using semaphore</a:t>
            </a:r>
          </a:p>
        </p:txBody>
      </p:sp>
      <p:sp>
        <p:nvSpPr>
          <p:cNvPr id="91138" name="Rectangle 3"/>
          <p:cNvSpPr>
            <a:spLocks noGrp="1"/>
          </p:cNvSpPr>
          <p:nvPr>
            <p:ph type="body" idx="4294967295"/>
          </p:nvPr>
        </p:nvSpPr>
        <p:spPr>
          <a:xfrm>
            <a:off x="538163" y="854075"/>
            <a:ext cx="8229600" cy="2462213"/>
          </a:xfrm>
          <a:ln/>
        </p:spPr>
        <p:txBody>
          <a:bodyPr vert="horz" wrap="square" lIns="91440" tIns="45720" rIns="91440" bIns="45720" anchor="t" anchorCtr="0"/>
          <a:lstStyle/>
          <a:p>
            <a:pPr>
              <a:lnSpc>
                <a:spcPct val="80000"/>
              </a:lnSpc>
              <a:spcBef>
                <a:spcPct val="0"/>
              </a:spcBef>
              <a:buClrTx/>
              <a:buSzTx/>
              <a:buFontTx/>
              <a:buNone/>
            </a:pPr>
            <a:endParaRPr lang="en-US" altLang="zh-CN" sz="2400" dirty="0">
              <a:ea typeface="宋体" panose="02010600030101010101" pitchFamily="2" charset="-122"/>
            </a:endParaRPr>
          </a:p>
          <a:p>
            <a:pPr>
              <a:lnSpc>
                <a:spcPct val="80000"/>
              </a:lnSpc>
              <a:buFont typeface="Monotype Sorts" charset="2"/>
              <a:buChar char="n"/>
            </a:pPr>
            <a:r>
              <a:rPr lang="en-US" altLang="zh-CN" sz="2400" dirty="0">
                <a:ea typeface="宋体" panose="02010600030101010101" pitchFamily="2" charset="-122"/>
              </a:rPr>
              <a:t>Consider </a:t>
            </a:r>
            <a:r>
              <a:rPr lang="en-US" altLang="zh-CN" sz="2400" dirty="0"/>
              <a:t>two concurrently running processes P1  and  P2, P1 with a statement C1 and P2 with a statement C2. suppose we require that C2 be executed only after C1 has completed</a:t>
            </a:r>
          </a:p>
          <a:p>
            <a:pPr>
              <a:lnSpc>
                <a:spcPct val="80000"/>
              </a:lnSpc>
            </a:pPr>
            <a:r>
              <a:rPr lang="en-US" altLang="zh-CN" sz="2400" dirty="0"/>
              <a:t>We can define a common semaphore S12, initialized to 0.</a:t>
            </a:r>
          </a:p>
        </p:txBody>
      </p:sp>
      <p:graphicFrame>
        <p:nvGraphicFramePr>
          <p:cNvPr id="91139" name="Object 3"/>
          <p:cNvGraphicFramePr/>
          <p:nvPr/>
        </p:nvGraphicFramePr>
        <p:xfrm>
          <a:off x="1385888" y="3654425"/>
          <a:ext cx="6429375" cy="2139950"/>
        </p:xfrm>
        <a:graphic>
          <a:graphicData uri="http://schemas.openxmlformats.org/presentationml/2006/ole">
            <mc:AlternateContent xmlns:mc="http://schemas.openxmlformats.org/markup-compatibility/2006">
              <mc:Choice xmlns:v="urn:schemas-microsoft-com:vml" Requires="v">
                <p:oleObj spid="_x0000_s8386" r:id="rId4" imgW="2494915" imgH="946150" progId="Visio.Drawing.6">
                  <p:embed/>
                </p:oleObj>
              </mc:Choice>
              <mc:Fallback>
                <p:oleObj r:id="rId4" imgW="2494915" imgH="946150" progId="Visio.Drawing.6">
                  <p:embed/>
                  <p:pic>
                    <p:nvPicPr>
                      <p:cNvPr id="0" name="图片 3082"/>
                      <p:cNvPicPr/>
                      <p:nvPr/>
                    </p:nvPicPr>
                    <p:blipFill>
                      <a:blip r:embed="rId5"/>
                      <a:stretch>
                        <a:fillRect/>
                      </a:stretch>
                    </p:blipFill>
                    <p:spPr>
                      <a:xfrm>
                        <a:off x="1385888" y="3654425"/>
                        <a:ext cx="6429375" cy="2139950"/>
                      </a:xfrm>
                      <a:prstGeom prst="rect">
                        <a:avLst/>
                      </a:prstGeom>
                      <a:solidFill>
                        <a:srgbClr val="99CCFF"/>
                      </a:soli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13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p:cNvSpPr>
            <a:spLocks noGrp="1"/>
          </p:cNvSpPr>
          <p:nvPr>
            <p:ph type="body" idx="4294967295"/>
          </p:nvPr>
        </p:nvSpPr>
        <p:spPr>
          <a:xfrm>
            <a:off x="1354138" y="293688"/>
            <a:ext cx="7543800" cy="442912"/>
          </a:xfrm>
          <a:ln/>
        </p:spPr>
        <p:txBody>
          <a:bodyPr vert="horz" wrap="square" lIns="91440" tIns="45720" rIns="91440" bIns="45720" anchor="t" anchorCtr="0"/>
          <a:lstStyle/>
          <a:p>
            <a:pPr algn="just" eaLnBrk="1" hangingPunct="1">
              <a:lnSpc>
                <a:spcPct val="90000"/>
              </a:lnSpc>
              <a:buNone/>
            </a:pPr>
            <a:r>
              <a:rPr lang="en-US" altLang="zh-CN" dirty="0"/>
              <a:t>Example 1</a:t>
            </a:r>
            <a:endParaRPr lang="zh-CN" altLang="en-US" dirty="0"/>
          </a:p>
        </p:txBody>
      </p:sp>
      <p:grpSp>
        <p:nvGrpSpPr>
          <p:cNvPr id="93186" name="Group 3"/>
          <p:cNvGrpSpPr/>
          <p:nvPr/>
        </p:nvGrpSpPr>
        <p:grpSpPr>
          <a:xfrm>
            <a:off x="403225" y="1603375"/>
            <a:ext cx="8529638" cy="3384550"/>
            <a:chOff x="768" y="624"/>
            <a:chExt cx="4272" cy="1824"/>
          </a:xfrm>
        </p:grpSpPr>
        <p:sp>
          <p:nvSpPr>
            <p:cNvPr id="93187" name="Oval 4"/>
            <p:cNvSpPr/>
            <p:nvPr/>
          </p:nvSpPr>
          <p:spPr>
            <a:xfrm>
              <a:off x="768" y="1344"/>
              <a:ext cx="336" cy="336"/>
            </a:xfrm>
            <a:prstGeom prst="ellipse">
              <a:avLst/>
            </a:prstGeom>
            <a:solidFill>
              <a:srgbClr val="99FF33"/>
            </a:solidFill>
            <a:ln w="9525" cap="flat" cmpd="sng">
              <a:solidFill>
                <a:schemeClr val="accent2"/>
              </a:solidFill>
              <a:prstDash val="solid"/>
              <a:miter/>
              <a:headEnd type="none" w="med" len="med"/>
              <a:tailEnd type="none" w="med" len="med"/>
            </a:ln>
          </p:spPr>
          <p:txBody>
            <a:bodyPr wrap="none" lIns="90000" tIns="46800" rIns="90000" bIns="46800" anchor="ctr" anchorCtr="0"/>
            <a:lstStyle/>
            <a:p>
              <a:pPr algn="ctr" eaLnBrk="0" hangingPunct="0"/>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1</a:t>
              </a:r>
            </a:p>
          </p:txBody>
        </p:sp>
        <p:sp>
          <p:nvSpPr>
            <p:cNvPr id="93188" name="Oval 5"/>
            <p:cNvSpPr/>
            <p:nvPr/>
          </p:nvSpPr>
          <p:spPr>
            <a:xfrm>
              <a:off x="1680" y="1392"/>
              <a:ext cx="336" cy="336"/>
            </a:xfrm>
            <a:prstGeom prst="ellipse">
              <a:avLst/>
            </a:prstGeom>
            <a:solidFill>
              <a:srgbClr val="99FF33"/>
            </a:solidFill>
            <a:ln w="9525" cap="flat" cmpd="sng">
              <a:solidFill>
                <a:schemeClr val="accent2"/>
              </a:solidFill>
              <a:prstDash val="solid"/>
              <a:miter/>
              <a:headEnd type="none" w="med" len="med"/>
              <a:tailEnd type="none" w="med" len="med"/>
            </a:ln>
          </p:spPr>
          <p:txBody>
            <a:bodyPr wrap="none" lIns="90000" tIns="46800" rIns="90000" bIns="46800" anchor="ctr" anchorCtr="0"/>
            <a:lstStyle/>
            <a:p>
              <a:pPr algn="ctr" eaLnBrk="0" hangingPunct="0"/>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3</a:t>
              </a:r>
            </a:p>
          </p:txBody>
        </p:sp>
        <p:sp>
          <p:nvSpPr>
            <p:cNvPr id="93189" name="Oval 6"/>
            <p:cNvSpPr/>
            <p:nvPr/>
          </p:nvSpPr>
          <p:spPr>
            <a:xfrm>
              <a:off x="1680" y="624"/>
              <a:ext cx="336" cy="336"/>
            </a:xfrm>
            <a:prstGeom prst="ellipse">
              <a:avLst/>
            </a:prstGeom>
            <a:solidFill>
              <a:srgbClr val="99FF33"/>
            </a:solidFill>
            <a:ln w="9525" cap="flat" cmpd="sng">
              <a:solidFill>
                <a:schemeClr val="accent2"/>
              </a:solidFill>
              <a:prstDash val="solid"/>
              <a:miter/>
              <a:headEnd type="none" w="med" len="med"/>
              <a:tailEnd type="none" w="med" len="med"/>
            </a:ln>
          </p:spPr>
          <p:txBody>
            <a:bodyPr wrap="none" lIns="90000" tIns="46800" rIns="90000" bIns="46800" anchor="ctr" anchorCtr="0"/>
            <a:lstStyle/>
            <a:p>
              <a:pPr algn="ctr" eaLnBrk="0" hangingPunct="0"/>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2</a:t>
              </a:r>
            </a:p>
          </p:txBody>
        </p:sp>
        <p:sp>
          <p:nvSpPr>
            <p:cNvPr id="93190" name="Oval 7"/>
            <p:cNvSpPr/>
            <p:nvPr/>
          </p:nvSpPr>
          <p:spPr>
            <a:xfrm>
              <a:off x="1680" y="2112"/>
              <a:ext cx="336" cy="336"/>
            </a:xfrm>
            <a:prstGeom prst="ellipse">
              <a:avLst/>
            </a:prstGeom>
            <a:solidFill>
              <a:srgbClr val="99FF33"/>
            </a:solidFill>
            <a:ln w="9525" cap="flat" cmpd="sng">
              <a:solidFill>
                <a:schemeClr val="accent2"/>
              </a:solidFill>
              <a:prstDash val="solid"/>
              <a:miter/>
              <a:headEnd type="none" w="med" len="med"/>
              <a:tailEnd type="none" w="med" len="med"/>
            </a:ln>
          </p:spPr>
          <p:txBody>
            <a:bodyPr wrap="none" lIns="90000" tIns="46800" rIns="90000" bIns="46800" anchor="ctr" anchorCtr="0"/>
            <a:lstStyle/>
            <a:p>
              <a:pPr algn="ctr" eaLnBrk="0" hangingPunct="0"/>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4</a:t>
              </a:r>
            </a:p>
          </p:txBody>
        </p:sp>
        <p:sp>
          <p:nvSpPr>
            <p:cNvPr id="93191" name="Oval 8"/>
            <p:cNvSpPr/>
            <p:nvPr/>
          </p:nvSpPr>
          <p:spPr>
            <a:xfrm>
              <a:off x="2784" y="1056"/>
              <a:ext cx="336" cy="336"/>
            </a:xfrm>
            <a:prstGeom prst="ellipse">
              <a:avLst/>
            </a:prstGeom>
            <a:solidFill>
              <a:srgbClr val="99FF33"/>
            </a:solidFill>
            <a:ln w="9525" cap="flat" cmpd="sng">
              <a:solidFill>
                <a:schemeClr val="accent2"/>
              </a:solidFill>
              <a:prstDash val="solid"/>
              <a:miter/>
              <a:headEnd type="none" w="med" len="med"/>
              <a:tailEnd type="none" w="med" len="med"/>
            </a:ln>
          </p:spPr>
          <p:txBody>
            <a:bodyPr wrap="none" lIns="90000" tIns="46800" rIns="90000" bIns="46800" anchor="ctr" anchorCtr="0"/>
            <a:lstStyle/>
            <a:p>
              <a:pPr algn="ctr" eaLnBrk="0" hangingPunct="0"/>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5</a:t>
              </a:r>
            </a:p>
          </p:txBody>
        </p:sp>
        <p:sp>
          <p:nvSpPr>
            <p:cNvPr id="93192" name="Oval 9"/>
            <p:cNvSpPr/>
            <p:nvPr/>
          </p:nvSpPr>
          <p:spPr>
            <a:xfrm>
              <a:off x="2784" y="1824"/>
              <a:ext cx="336" cy="336"/>
            </a:xfrm>
            <a:prstGeom prst="ellipse">
              <a:avLst/>
            </a:prstGeom>
            <a:solidFill>
              <a:srgbClr val="99FF33"/>
            </a:solidFill>
            <a:ln w="9525" cap="flat" cmpd="sng">
              <a:solidFill>
                <a:schemeClr val="accent2"/>
              </a:solidFill>
              <a:prstDash val="solid"/>
              <a:miter/>
              <a:headEnd type="none" w="med" len="med"/>
              <a:tailEnd type="none" w="med" len="med"/>
            </a:ln>
          </p:spPr>
          <p:txBody>
            <a:bodyPr wrap="none" lIns="90000" tIns="46800" rIns="90000" bIns="46800" anchor="ctr" anchorCtr="0"/>
            <a:lstStyle/>
            <a:p>
              <a:pPr algn="ctr" eaLnBrk="0" hangingPunct="0"/>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6</a:t>
              </a:r>
            </a:p>
          </p:txBody>
        </p:sp>
        <p:sp>
          <p:nvSpPr>
            <p:cNvPr id="93193" name="Oval 10"/>
            <p:cNvSpPr/>
            <p:nvPr/>
          </p:nvSpPr>
          <p:spPr>
            <a:xfrm>
              <a:off x="3792" y="1392"/>
              <a:ext cx="336" cy="336"/>
            </a:xfrm>
            <a:prstGeom prst="ellipse">
              <a:avLst/>
            </a:prstGeom>
            <a:solidFill>
              <a:srgbClr val="99FF33"/>
            </a:solidFill>
            <a:ln w="9525" cap="flat" cmpd="sng">
              <a:solidFill>
                <a:schemeClr val="accent2"/>
              </a:solidFill>
              <a:prstDash val="solid"/>
              <a:miter/>
              <a:headEnd type="none" w="med" len="med"/>
              <a:tailEnd type="none" w="med" len="med"/>
            </a:ln>
          </p:spPr>
          <p:txBody>
            <a:bodyPr wrap="none" lIns="90000" tIns="46800" rIns="90000" bIns="46800" anchor="ctr" anchorCtr="0"/>
            <a:lstStyle/>
            <a:p>
              <a:pPr algn="ctr" eaLnBrk="0" hangingPunct="0"/>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7</a:t>
              </a:r>
            </a:p>
          </p:txBody>
        </p:sp>
        <p:sp>
          <p:nvSpPr>
            <p:cNvPr id="93194" name="Oval 11"/>
            <p:cNvSpPr/>
            <p:nvPr/>
          </p:nvSpPr>
          <p:spPr>
            <a:xfrm>
              <a:off x="4704" y="1392"/>
              <a:ext cx="336" cy="336"/>
            </a:xfrm>
            <a:prstGeom prst="ellipse">
              <a:avLst/>
            </a:prstGeom>
            <a:solidFill>
              <a:srgbClr val="99FF33"/>
            </a:solidFill>
            <a:ln w="9525" cap="flat" cmpd="sng">
              <a:solidFill>
                <a:schemeClr val="accent2"/>
              </a:solidFill>
              <a:prstDash val="solid"/>
              <a:miter/>
              <a:headEnd type="none" w="med" len="med"/>
              <a:tailEnd type="none" w="med" len="med"/>
            </a:ln>
          </p:spPr>
          <p:txBody>
            <a:bodyPr wrap="none" lIns="90000" tIns="46800" rIns="90000" bIns="46800" anchor="ctr" anchorCtr="0"/>
            <a:lstStyle/>
            <a:p>
              <a:pPr algn="ctr" eaLnBrk="0" hangingPunct="0"/>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8</a:t>
              </a:r>
            </a:p>
          </p:txBody>
        </p:sp>
        <p:sp>
          <p:nvSpPr>
            <p:cNvPr id="93195" name="Line 12"/>
            <p:cNvSpPr/>
            <p:nvPr/>
          </p:nvSpPr>
          <p:spPr>
            <a:xfrm flipV="1">
              <a:off x="1056" y="912"/>
              <a:ext cx="624" cy="480"/>
            </a:xfrm>
            <a:prstGeom prst="line">
              <a:avLst/>
            </a:prstGeom>
            <a:ln w="9525" cap="flat" cmpd="sng">
              <a:solidFill>
                <a:schemeClr val="accent2"/>
              </a:solidFill>
              <a:prstDash val="solid"/>
              <a:miter/>
              <a:headEnd type="none" w="med" len="med"/>
              <a:tailEnd type="triangle" w="med" len="med"/>
            </a:ln>
          </p:spPr>
        </p:sp>
        <p:sp>
          <p:nvSpPr>
            <p:cNvPr id="93196" name="Line 13"/>
            <p:cNvSpPr/>
            <p:nvPr/>
          </p:nvSpPr>
          <p:spPr>
            <a:xfrm>
              <a:off x="1104" y="1536"/>
              <a:ext cx="576" cy="0"/>
            </a:xfrm>
            <a:prstGeom prst="line">
              <a:avLst/>
            </a:prstGeom>
            <a:ln w="9525" cap="flat" cmpd="sng">
              <a:solidFill>
                <a:schemeClr val="accent2"/>
              </a:solidFill>
              <a:prstDash val="solid"/>
              <a:miter/>
              <a:headEnd type="none" w="med" len="med"/>
              <a:tailEnd type="triangle" w="med" len="med"/>
            </a:ln>
          </p:spPr>
        </p:sp>
        <p:sp>
          <p:nvSpPr>
            <p:cNvPr id="93197" name="Line 14"/>
            <p:cNvSpPr/>
            <p:nvPr/>
          </p:nvSpPr>
          <p:spPr>
            <a:xfrm>
              <a:off x="960" y="1680"/>
              <a:ext cx="720" cy="576"/>
            </a:xfrm>
            <a:prstGeom prst="line">
              <a:avLst/>
            </a:prstGeom>
            <a:ln w="9525" cap="flat" cmpd="sng">
              <a:solidFill>
                <a:schemeClr val="accent2"/>
              </a:solidFill>
              <a:prstDash val="solid"/>
              <a:miter/>
              <a:headEnd type="none" w="med" len="med"/>
              <a:tailEnd type="triangle" w="med" len="med"/>
            </a:ln>
          </p:spPr>
        </p:sp>
        <p:sp>
          <p:nvSpPr>
            <p:cNvPr id="93198" name="Line 15"/>
            <p:cNvSpPr/>
            <p:nvPr/>
          </p:nvSpPr>
          <p:spPr>
            <a:xfrm>
              <a:off x="2016" y="816"/>
              <a:ext cx="816" cy="288"/>
            </a:xfrm>
            <a:prstGeom prst="line">
              <a:avLst/>
            </a:prstGeom>
            <a:ln w="9525" cap="flat" cmpd="sng">
              <a:solidFill>
                <a:schemeClr val="accent2"/>
              </a:solidFill>
              <a:prstDash val="solid"/>
              <a:miter/>
              <a:headEnd type="none" w="med" len="med"/>
              <a:tailEnd type="triangle" w="med" len="med"/>
            </a:ln>
          </p:spPr>
        </p:sp>
        <p:sp>
          <p:nvSpPr>
            <p:cNvPr id="93199" name="Line 16"/>
            <p:cNvSpPr/>
            <p:nvPr/>
          </p:nvSpPr>
          <p:spPr>
            <a:xfrm flipV="1">
              <a:off x="2016" y="1248"/>
              <a:ext cx="768" cy="240"/>
            </a:xfrm>
            <a:prstGeom prst="line">
              <a:avLst/>
            </a:prstGeom>
            <a:ln w="9525" cap="flat" cmpd="sng">
              <a:solidFill>
                <a:schemeClr val="accent2"/>
              </a:solidFill>
              <a:prstDash val="solid"/>
              <a:miter/>
              <a:headEnd type="none" w="med" len="med"/>
              <a:tailEnd type="triangle" w="med" len="med"/>
            </a:ln>
          </p:spPr>
        </p:sp>
        <p:sp>
          <p:nvSpPr>
            <p:cNvPr id="93200" name="Line 17"/>
            <p:cNvSpPr/>
            <p:nvPr/>
          </p:nvSpPr>
          <p:spPr>
            <a:xfrm>
              <a:off x="2016" y="1584"/>
              <a:ext cx="768" cy="336"/>
            </a:xfrm>
            <a:prstGeom prst="line">
              <a:avLst/>
            </a:prstGeom>
            <a:ln w="9525" cap="flat" cmpd="sng">
              <a:solidFill>
                <a:schemeClr val="accent2"/>
              </a:solidFill>
              <a:prstDash val="solid"/>
              <a:miter/>
              <a:headEnd type="none" w="med" len="med"/>
              <a:tailEnd type="triangle" w="med" len="med"/>
            </a:ln>
          </p:spPr>
        </p:sp>
        <p:sp>
          <p:nvSpPr>
            <p:cNvPr id="93201" name="Line 18"/>
            <p:cNvSpPr/>
            <p:nvPr/>
          </p:nvSpPr>
          <p:spPr>
            <a:xfrm>
              <a:off x="3120" y="1200"/>
              <a:ext cx="720" cy="240"/>
            </a:xfrm>
            <a:prstGeom prst="line">
              <a:avLst/>
            </a:prstGeom>
            <a:ln w="9525" cap="flat" cmpd="sng">
              <a:solidFill>
                <a:schemeClr val="accent2"/>
              </a:solidFill>
              <a:prstDash val="solid"/>
              <a:miter/>
              <a:headEnd type="none" w="med" len="med"/>
              <a:tailEnd type="triangle" w="med" len="med"/>
            </a:ln>
          </p:spPr>
        </p:sp>
        <p:sp>
          <p:nvSpPr>
            <p:cNvPr id="93202" name="Line 19"/>
            <p:cNvSpPr/>
            <p:nvPr/>
          </p:nvSpPr>
          <p:spPr>
            <a:xfrm flipV="1">
              <a:off x="3120" y="1680"/>
              <a:ext cx="720" cy="384"/>
            </a:xfrm>
            <a:prstGeom prst="line">
              <a:avLst/>
            </a:prstGeom>
            <a:ln w="9525" cap="flat" cmpd="sng">
              <a:solidFill>
                <a:schemeClr val="accent2"/>
              </a:solidFill>
              <a:prstDash val="solid"/>
              <a:miter/>
              <a:headEnd type="none" w="med" len="med"/>
              <a:tailEnd type="triangle" w="med" len="med"/>
            </a:ln>
          </p:spPr>
        </p:sp>
        <p:sp>
          <p:nvSpPr>
            <p:cNvPr id="93203" name="Line 20"/>
            <p:cNvSpPr/>
            <p:nvPr/>
          </p:nvSpPr>
          <p:spPr>
            <a:xfrm flipV="1">
              <a:off x="2016" y="2112"/>
              <a:ext cx="816" cy="240"/>
            </a:xfrm>
            <a:prstGeom prst="line">
              <a:avLst/>
            </a:prstGeom>
            <a:ln w="9525" cap="flat" cmpd="sng">
              <a:solidFill>
                <a:schemeClr val="accent2"/>
              </a:solidFill>
              <a:prstDash val="solid"/>
              <a:miter/>
              <a:headEnd type="none" w="med" len="med"/>
              <a:tailEnd type="triangle" w="med" len="med"/>
            </a:ln>
          </p:spPr>
        </p:sp>
        <p:sp>
          <p:nvSpPr>
            <p:cNvPr id="93204" name="Line 21"/>
            <p:cNvSpPr/>
            <p:nvPr/>
          </p:nvSpPr>
          <p:spPr>
            <a:xfrm>
              <a:off x="4128" y="1536"/>
              <a:ext cx="576" cy="0"/>
            </a:xfrm>
            <a:prstGeom prst="line">
              <a:avLst/>
            </a:prstGeom>
            <a:ln w="9525" cap="flat" cmpd="sng">
              <a:solidFill>
                <a:schemeClr val="accent2"/>
              </a:solidFill>
              <a:prstDash val="solid"/>
              <a:miter/>
              <a:headEnd type="none" w="med" len="med"/>
              <a:tailEnd type="triangle" w="med" len="med"/>
            </a:ln>
          </p:spPr>
        </p:sp>
        <p:sp>
          <p:nvSpPr>
            <p:cNvPr id="93205" name="Text Box 22"/>
            <p:cNvSpPr txBox="1"/>
            <p:nvPr/>
          </p:nvSpPr>
          <p:spPr>
            <a:xfrm>
              <a:off x="1142" y="928"/>
              <a:ext cx="250" cy="214"/>
            </a:xfrm>
            <a:prstGeom prst="rect">
              <a:avLst/>
            </a:prstGeom>
            <a:solidFill>
              <a:schemeClr val="bg1"/>
            </a:solidFill>
            <a:ln w="9525" cap="flat" cmpd="sng">
              <a:solidFill>
                <a:schemeClr val="accent2"/>
              </a:solidFill>
              <a:prstDash val="solid"/>
              <a:miter/>
              <a:headEnd type="none" w="med" len="med"/>
              <a:tailEnd type="none" w="med" len="med"/>
            </a:ln>
          </p:spPr>
          <p:txBody>
            <a:bodyPr lIns="90000" tIns="46800" rIns="90000" bIns="46800" anchor="t" anchorCtr="0">
              <a:spAutoFit/>
            </a:bodyPr>
            <a:lstStyle/>
            <a:p>
              <a:pPr eaLnBrk="0" hangingPunct="0"/>
              <a:r>
                <a:rPr lang="en-US" altLang="zh-CN" sz="2400" b="1" dirty="0">
                  <a:latin typeface="Times New Roman" panose="02020603050405020304" pitchFamily="18" charset="0"/>
                </a:rPr>
                <a:t>a</a:t>
              </a:r>
            </a:p>
          </p:txBody>
        </p:sp>
        <p:sp>
          <p:nvSpPr>
            <p:cNvPr id="93206" name="Text Box 23"/>
            <p:cNvSpPr txBox="1"/>
            <p:nvPr/>
          </p:nvSpPr>
          <p:spPr>
            <a:xfrm>
              <a:off x="2256" y="1984"/>
              <a:ext cx="250" cy="250"/>
            </a:xfrm>
            <a:prstGeom prst="rect">
              <a:avLst/>
            </a:prstGeom>
            <a:solidFill>
              <a:schemeClr val="bg1"/>
            </a:solidFill>
            <a:ln w="9525" cap="flat" cmpd="sng">
              <a:solidFill>
                <a:schemeClr val="accent2"/>
              </a:solidFill>
              <a:prstDash val="solid"/>
              <a:miter/>
              <a:headEnd type="none" w="med" len="med"/>
              <a:tailEnd type="none" w="med" len="med"/>
            </a:ln>
          </p:spPr>
          <p:txBody>
            <a:bodyPr lIns="90000" tIns="46800" rIns="90000" bIns="46800" anchor="t" anchorCtr="0">
              <a:spAutoFit/>
            </a:bodyPr>
            <a:lstStyle/>
            <a:p>
              <a:pPr eaLnBrk="0" hangingPunct="0"/>
              <a:r>
                <a:rPr lang="en-US" altLang="zh-CN" sz="2400" b="1" dirty="0">
                  <a:latin typeface="Times New Roman" panose="02020603050405020304" pitchFamily="18" charset="0"/>
                </a:rPr>
                <a:t>g</a:t>
              </a:r>
            </a:p>
          </p:txBody>
        </p:sp>
        <p:sp>
          <p:nvSpPr>
            <p:cNvPr id="93207" name="Text Box 24"/>
            <p:cNvSpPr txBox="1"/>
            <p:nvPr/>
          </p:nvSpPr>
          <p:spPr>
            <a:xfrm>
              <a:off x="2256" y="1072"/>
              <a:ext cx="250" cy="250"/>
            </a:xfrm>
            <a:prstGeom prst="rect">
              <a:avLst/>
            </a:prstGeom>
            <a:solidFill>
              <a:schemeClr val="bg1"/>
            </a:solidFill>
            <a:ln w="9525" cap="flat" cmpd="sng">
              <a:solidFill>
                <a:schemeClr val="accent2"/>
              </a:solidFill>
              <a:prstDash val="solid"/>
              <a:miter/>
              <a:headEnd type="none" w="med" len="med"/>
              <a:tailEnd type="none" w="med" len="med"/>
            </a:ln>
          </p:spPr>
          <p:txBody>
            <a:bodyPr lIns="90000" tIns="46800" rIns="90000" bIns="46800" anchor="t" anchorCtr="0">
              <a:spAutoFit/>
            </a:bodyPr>
            <a:lstStyle/>
            <a:p>
              <a:pPr eaLnBrk="0" hangingPunct="0"/>
              <a:r>
                <a:rPr lang="en-US" altLang="zh-CN" sz="2400" b="1" dirty="0">
                  <a:latin typeface="Times New Roman" panose="02020603050405020304" pitchFamily="18" charset="0"/>
                </a:rPr>
                <a:t>e</a:t>
              </a:r>
            </a:p>
          </p:txBody>
        </p:sp>
        <p:sp>
          <p:nvSpPr>
            <p:cNvPr id="93208" name="Text Box 25"/>
            <p:cNvSpPr txBox="1"/>
            <p:nvPr/>
          </p:nvSpPr>
          <p:spPr>
            <a:xfrm>
              <a:off x="2256" y="1456"/>
              <a:ext cx="250" cy="250"/>
            </a:xfrm>
            <a:prstGeom prst="rect">
              <a:avLst/>
            </a:prstGeom>
            <a:solidFill>
              <a:schemeClr val="bg1"/>
            </a:solidFill>
            <a:ln w="9525" cap="flat" cmpd="sng">
              <a:solidFill>
                <a:schemeClr val="accent2"/>
              </a:solidFill>
              <a:prstDash val="solid"/>
              <a:miter/>
              <a:headEnd type="none" w="med" len="med"/>
              <a:tailEnd type="none" w="med" len="med"/>
            </a:ln>
          </p:spPr>
          <p:txBody>
            <a:bodyPr lIns="90000" tIns="46800" rIns="90000" bIns="46800" anchor="t" anchorCtr="0">
              <a:spAutoFit/>
            </a:bodyPr>
            <a:lstStyle/>
            <a:p>
              <a:pPr eaLnBrk="0" hangingPunct="0"/>
              <a:r>
                <a:rPr lang="en-US" altLang="zh-CN" sz="2400" b="1" dirty="0">
                  <a:latin typeface="Times New Roman" panose="02020603050405020304" pitchFamily="18" charset="0"/>
                </a:rPr>
                <a:t>f</a:t>
              </a:r>
            </a:p>
          </p:txBody>
        </p:sp>
        <p:sp>
          <p:nvSpPr>
            <p:cNvPr id="93209" name="Text Box 26"/>
            <p:cNvSpPr txBox="1"/>
            <p:nvPr/>
          </p:nvSpPr>
          <p:spPr>
            <a:xfrm>
              <a:off x="1248" y="1264"/>
              <a:ext cx="250" cy="215"/>
            </a:xfrm>
            <a:prstGeom prst="rect">
              <a:avLst/>
            </a:prstGeom>
            <a:solidFill>
              <a:schemeClr val="bg1"/>
            </a:solidFill>
            <a:ln w="9525" cap="flat" cmpd="sng">
              <a:solidFill>
                <a:schemeClr val="accent2"/>
              </a:solidFill>
              <a:prstDash val="solid"/>
              <a:miter/>
              <a:headEnd type="none" w="med" len="med"/>
              <a:tailEnd type="none" w="med" len="med"/>
            </a:ln>
          </p:spPr>
          <p:txBody>
            <a:bodyPr lIns="90000" tIns="46800" rIns="90000" bIns="46800" anchor="t" anchorCtr="0">
              <a:spAutoFit/>
            </a:bodyPr>
            <a:lstStyle/>
            <a:p>
              <a:pPr eaLnBrk="0" hangingPunct="0"/>
              <a:r>
                <a:rPr lang="en-US" altLang="zh-CN" sz="2400" b="1" dirty="0">
                  <a:latin typeface="Times New Roman" panose="02020603050405020304" pitchFamily="18" charset="0"/>
                </a:rPr>
                <a:t>b</a:t>
              </a:r>
            </a:p>
          </p:txBody>
        </p:sp>
        <p:sp>
          <p:nvSpPr>
            <p:cNvPr id="93210" name="Text Box 27"/>
            <p:cNvSpPr txBox="1"/>
            <p:nvPr/>
          </p:nvSpPr>
          <p:spPr>
            <a:xfrm>
              <a:off x="1200" y="1888"/>
              <a:ext cx="250" cy="214"/>
            </a:xfrm>
            <a:prstGeom prst="rect">
              <a:avLst/>
            </a:prstGeom>
            <a:solidFill>
              <a:schemeClr val="bg1"/>
            </a:solidFill>
            <a:ln w="9525" cap="flat" cmpd="sng">
              <a:solidFill>
                <a:schemeClr val="accent2"/>
              </a:solidFill>
              <a:prstDash val="solid"/>
              <a:miter/>
              <a:headEnd type="none" w="med" len="med"/>
              <a:tailEnd type="none" w="med" len="med"/>
            </a:ln>
          </p:spPr>
          <p:txBody>
            <a:bodyPr lIns="90000" tIns="46800" rIns="90000" bIns="46800" anchor="t" anchorCtr="0">
              <a:spAutoFit/>
            </a:bodyPr>
            <a:lstStyle/>
            <a:p>
              <a:pPr eaLnBrk="0" hangingPunct="0"/>
              <a:r>
                <a:rPr lang="en-US" altLang="zh-CN" sz="2400" b="1" dirty="0">
                  <a:latin typeface="Times New Roman" panose="02020603050405020304" pitchFamily="18" charset="0"/>
                </a:rPr>
                <a:t>c</a:t>
              </a:r>
            </a:p>
          </p:txBody>
        </p:sp>
        <p:sp>
          <p:nvSpPr>
            <p:cNvPr id="93211" name="Text Box 28"/>
            <p:cNvSpPr txBox="1"/>
            <p:nvPr/>
          </p:nvSpPr>
          <p:spPr>
            <a:xfrm>
              <a:off x="2304" y="672"/>
              <a:ext cx="250" cy="250"/>
            </a:xfrm>
            <a:prstGeom prst="rect">
              <a:avLst/>
            </a:prstGeom>
            <a:solidFill>
              <a:schemeClr val="bg1"/>
            </a:solidFill>
            <a:ln w="9525" cap="flat" cmpd="sng">
              <a:solidFill>
                <a:schemeClr val="accent2"/>
              </a:solidFill>
              <a:prstDash val="solid"/>
              <a:miter/>
              <a:headEnd type="none" w="med" len="med"/>
              <a:tailEnd type="none" w="med" len="med"/>
            </a:ln>
          </p:spPr>
          <p:txBody>
            <a:bodyPr lIns="90000" tIns="46800" rIns="90000" bIns="46800" anchor="t" anchorCtr="0">
              <a:spAutoFit/>
            </a:bodyPr>
            <a:lstStyle/>
            <a:p>
              <a:pPr eaLnBrk="0" hangingPunct="0"/>
              <a:r>
                <a:rPr lang="en-US" altLang="zh-CN" sz="2400" b="1" dirty="0">
                  <a:latin typeface="Times New Roman" panose="02020603050405020304" pitchFamily="18" charset="0"/>
                </a:rPr>
                <a:t>d</a:t>
              </a:r>
            </a:p>
          </p:txBody>
        </p:sp>
        <p:sp>
          <p:nvSpPr>
            <p:cNvPr id="93212" name="Text Box 29"/>
            <p:cNvSpPr txBox="1"/>
            <p:nvPr/>
          </p:nvSpPr>
          <p:spPr>
            <a:xfrm>
              <a:off x="3312" y="1008"/>
              <a:ext cx="250" cy="214"/>
            </a:xfrm>
            <a:prstGeom prst="rect">
              <a:avLst/>
            </a:prstGeom>
            <a:solidFill>
              <a:schemeClr val="bg1"/>
            </a:solidFill>
            <a:ln w="9525" cap="flat" cmpd="sng">
              <a:solidFill>
                <a:schemeClr val="accent2"/>
              </a:solidFill>
              <a:prstDash val="solid"/>
              <a:miter/>
              <a:headEnd type="none" w="med" len="med"/>
              <a:tailEnd type="none" w="med" len="med"/>
            </a:ln>
          </p:spPr>
          <p:txBody>
            <a:bodyPr lIns="90000" tIns="46800" rIns="90000" bIns="46800" anchor="t" anchorCtr="0">
              <a:spAutoFit/>
            </a:bodyPr>
            <a:lstStyle/>
            <a:p>
              <a:pPr eaLnBrk="0" hangingPunct="0"/>
              <a:r>
                <a:rPr lang="en-US" altLang="zh-CN" sz="2400" b="1" dirty="0">
                  <a:latin typeface="Times New Roman" panose="02020603050405020304" pitchFamily="18" charset="0"/>
                </a:rPr>
                <a:t>h</a:t>
              </a:r>
            </a:p>
          </p:txBody>
        </p:sp>
        <p:sp>
          <p:nvSpPr>
            <p:cNvPr id="93213" name="Text Box 30"/>
            <p:cNvSpPr txBox="1"/>
            <p:nvPr/>
          </p:nvSpPr>
          <p:spPr>
            <a:xfrm>
              <a:off x="3264" y="1680"/>
              <a:ext cx="250" cy="214"/>
            </a:xfrm>
            <a:prstGeom prst="rect">
              <a:avLst/>
            </a:prstGeom>
            <a:solidFill>
              <a:schemeClr val="bg1"/>
            </a:solidFill>
            <a:ln w="9525" cap="flat" cmpd="sng">
              <a:solidFill>
                <a:schemeClr val="accent2"/>
              </a:solidFill>
              <a:prstDash val="solid"/>
              <a:miter/>
              <a:headEnd type="none" w="med" len="med"/>
              <a:tailEnd type="none" w="med" len="med"/>
            </a:ln>
          </p:spPr>
          <p:txBody>
            <a:bodyPr lIns="90000" tIns="46800" rIns="90000" bIns="46800" anchor="t" anchorCtr="0">
              <a:spAutoFit/>
            </a:bodyPr>
            <a:lstStyle/>
            <a:p>
              <a:pPr eaLnBrk="0" hangingPunct="0"/>
              <a:r>
                <a:rPr lang="en-US" altLang="zh-CN" sz="2400" b="1" dirty="0">
                  <a:latin typeface="Times New Roman" panose="02020603050405020304" pitchFamily="18" charset="0"/>
                </a:rPr>
                <a:t>i</a:t>
              </a:r>
            </a:p>
          </p:txBody>
        </p:sp>
        <p:sp>
          <p:nvSpPr>
            <p:cNvPr id="93214" name="Text Box 31"/>
            <p:cNvSpPr txBox="1"/>
            <p:nvPr/>
          </p:nvSpPr>
          <p:spPr>
            <a:xfrm>
              <a:off x="4224" y="1296"/>
              <a:ext cx="250" cy="215"/>
            </a:xfrm>
            <a:prstGeom prst="rect">
              <a:avLst/>
            </a:prstGeom>
            <a:solidFill>
              <a:schemeClr val="bg1"/>
            </a:solidFill>
            <a:ln w="9525" cap="flat" cmpd="sng">
              <a:solidFill>
                <a:schemeClr val="accent2"/>
              </a:solidFill>
              <a:prstDash val="solid"/>
              <a:miter/>
              <a:headEnd type="none" w="med" len="med"/>
              <a:tailEnd type="none" w="med" len="med"/>
            </a:ln>
          </p:spPr>
          <p:txBody>
            <a:bodyPr lIns="90000" tIns="46800" rIns="90000" bIns="46800" anchor="t" anchorCtr="0">
              <a:spAutoFit/>
            </a:bodyPr>
            <a:lstStyle/>
            <a:p>
              <a:pPr eaLnBrk="0" hangingPunct="0"/>
              <a:r>
                <a:rPr lang="en-US" altLang="zh-CN" sz="2400" b="1" dirty="0">
                  <a:latin typeface="Times New Roman" panose="02020603050405020304" pitchFamily="18" charset="0"/>
                </a:rPr>
                <a:t>j</a:t>
              </a:r>
            </a:p>
          </p:txBody>
        </p:sp>
      </p:gr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p:cNvSpPr>
            <a:spLocks noGrp="1"/>
          </p:cNvSpPr>
          <p:nvPr>
            <p:ph type="body" idx="4294967295"/>
          </p:nvPr>
        </p:nvSpPr>
        <p:spPr>
          <a:xfrm>
            <a:off x="383307" y="855752"/>
            <a:ext cx="7710488" cy="6019800"/>
          </a:xfrm>
          <a:ln/>
        </p:spPr>
        <p:txBody>
          <a:bodyPr vert="horz" wrap="square" lIns="91440" tIns="45720" rIns="91440" bIns="45720" anchor="t" anchorCtr="0"/>
          <a:lstStyle/>
          <a:p>
            <a:pPr algn="just" eaLnBrk="1" hangingPunct="1">
              <a:buFontTx/>
              <a:buNone/>
            </a:pPr>
            <a:r>
              <a:rPr lang="en-US" altLang="zh-CN" sz="2400" dirty="0">
                <a:ea typeface="隶书" panose="02010509060101010101" pitchFamily="49" charset="-122"/>
              </a:rPr>
              <a:t>Struct </a:t>
            </a:r>
          </a:p>
          <a:p>
            <a:pPr algn="just" eaLnBrk="1" hangingPunct="1">
              <a:buFontTx/>
              <a:buNone/>
            </a:pPr>
            <a:r>
              <a:rPr lang="en-US" altLang="zh-CN" sz="2400" dirty="0">
                <a:ea typeface="隶书" panose="02010509060101010101" pitchFamily="49" charset="-122"/>
              </a:rPr>
              <a:t>smaphore a,b,c,d,e,f,g,h,I,j=0,0,0,0,0,0,0,0,0,0</a:t>
            </a:r>
            <a:endParaRPr lang="en-US" altLang="zh-CN" sz="2400" dirty="0"/>
          </a:p>
          <a:p>
            <a:pPr algn="just" eaLnBrk="1" hangingPunct="1">
              <a:buFontTx/>
              <a:buNone/>
            </a:pPr>
            <a:r>
              <a:rPr lang="en-US" altLang="zh-CN" sz="2400" dirty="0">
                <a:ea typeface="隶书" panose="02010509060101010101" pitchFamily="49" charset="-122"/>
              </a:rPr>
              <a:t>cobegin </a:t>
            </a:r>
            <a:endParaRPr lang="en-US" altLang="zh-CN" sz="2400" dirty="0"/>
          </a:p>
          <a:p>
            <a:pPr algn="just" eaLnBrk="1" hangingPunct="1">
              <a:buFontTx/>
              <a:buNone/>
            </a:pPr>
            <a:r>
              <a:rPr lang="en-US" altLang="zh-CN" sz="2400" dirty="0">
                <a:ea typeface="隶书" panose="02010509060101010101" pitchFamily="49" charset="-122"/>
              </a:rPr>
              <a:t>    {S1;V(a);V(b);V(c);}</a:t>
            </a:r>
            <a:endParaRPr lang="en-US" altLang="zh-CN" sz="2400" dirty="0"/>
          </a:p>
          <a:p>
            <a:pPr algn="just" eaLnBrk="1" hangingPunct="1">
              <a:buFontTx/>
              <a:buNone/>
            </a:pPr>
            <a:r>
              <a:rPr lang="en-US" altLang="zh-CN" sz="2400" dirty="0">
                <a:ea typeface="隶书" panose="02010509060101010101" pitchFamily="49" charset="-122"/>
              </a:rPr>
              <a:t>    {P(a);S2;V(d);}</a:t>
            </a:r>
            <a:endParaRPr lang="en-US" altLang="zh-CN" sz="2400" dirty="0"/>
          </a:p>
          <a:p>
            <a:pPr algn="just" eaLnBrk="1" hangingPunct="1">
              <a:buFontTx/>
              <a:buNone/>
            </a:pPr>
            <a:r>
              <a:rPr lang="en-US" altLang="zh-CN" sz="2400" dirty="0">
                <a:ea typeface="隶书" panose="02010509060101010101" pitchFamily="49" charset="-122"/>
              </a:rPr>
              <a:t>    {P(b);S3;V(e);V(f);}</a:t>
            </a:r>
            <a:endParaRPr lang="en-US" altLang="zh-CN" sz="2400" dirty="0"/>
          </a:p>
          <a:p>
            <a:pPr algn="just" eaLnBrk="1" hangingPunct="1">
              <a:buFontTx/>
              <a:buNone/>
            </a:pPr>
            <a:r>
              <a:rPr lang="en-US" altLang="zh-CN" sz="2400" dirty="0">
                <a:ea typeface="隶书" panose="02010509060101010101" pitchFamily="49" charset="-122"/>
              </a:rPr>
              <a:t>    {P(c);S4;V(g);}</a:t>
            </a:r>
            <a:endParaRPr lang="en-US" altLang="zh-CN" sz="2400" dirty="0"/>
          </a:p>
          <a:p>
            <a:pPr algn="just" eaLnBrk="1" hangingPunct="1">
              <a:buFontTx/>
              <a:buNone/>
            </a:pPr>
            <a:r>
              <a:rPr lang="en-US" altLang="zh-CN" sz="2400" dirty="0">
                <a:ea typeface="隶书" panose="02010509060101010101" pitchFamily="49" charset="-122"/>
              </a:rPr>
              <a:t>    {P(d);P(e);S5;V(h);}</a:t>
            </a:r>
            <a:endParaRPr lang="en-US" altLang="zh-CN" sz="2400" dirty="0"/>
          </a:p>
          <a:p>
            <a:pPr algn="just" eaLnBrk="1" hangingPunct="1">
              <a:buFontTx/>
              <a:buNone/>
            </a:pPr>
            <a:r>
              <a:rPr lang="en-US" altLang="zh-CN" sz="2400" dirty="0">
                <a:ea typeface="隶书" panose="02010509060101010101" pitchFamily="49" charset="-122"/>
              </a:rPr>
              <a:t>    {P(f);P(g);S6;V(i)}</a:t>
            </a:r>
            <a:endParaRPr lang="en-US" altLang="zh-CN" sz="2400" dirty="0"/>
          </a:p>
          <a:p>
            <a:pPr algn="just" eaLnBrk="1" hangingPunct="1">
              <a:buFontTx/>
              <a:buNone/>
            </a:pPr>
            <a:r>
              <a:rPr lang="en-US" altLang="zh-CN" sz="2400" dirty="0">
                <a:ea typeface="隶书" panose="02010509060101010101" pitchFamily="49" charset="-122"/>
              </a:rPr>
              <a:t>    {P(h);P(i);S7;V(j);}</a:t>
            </a:r>
          </a:p>
          <a:p>
            <a:pPr algn="just" eaLnBrk="1" hangingPunct="1">
              <a:buFontTx/>
              <a:buNone/>
            </a:pPr>
            <a:r>
              <a:rPr lang="en-US" altLang="zh-CN" sz="2400" dirty="0">
                <a:ea typeface="隶书" panose="02010509060101010101" pitchFamily="49" charset="-122"/>
              </a:rPr>
              <a:t>    {P(j);S8;}</a:t>
            </a:r>
            <a:endParaRPr lang="en-US" altLang="zh-CN" sz="2400" dirty="0"/>
          </a:p>
          <a:p>
            <a:pPr algn="just" eaLnBrk="1" hangingPunct="1">
              <a:buFontTx/>
              <a:buNone/>
            </a:pPr>
            <a:r>
              <a:rPr lang="en-US" altLang="zh-CN" sz="2400" dirty="0">
                <a:ea typeface="隶书" panose="02010509060101010101" pitchFamily="49" charset="-122"/>
              </a:rPr>
              <a:t>coend</a:t>
            </a:r>
            <a:endParaRPr lang="en-US" altLang="zh-CN" sz="2400" dirty="0"/>
          </a:p>
          <a:p>
            <a:pPr algn="just" eaLnBrk="1" hangingPunct="1">
              <a:buFont typeface="Monotype Sorts" charset="2"/>
              <a:buChar char="n"/>
            </a:pPr>
            <a:endParaRPr lang="zh-CN" altLang="en-US" sz="2400" dirty="0"/>
          </a:p>
        </p:txBody>
      </p:sp>
      <p:grpSp>
        <p:nvGrpSpPr>
          <p:cNvPr id="3" name="Group 3">
            <a:extLst>
              <a:ext uri="{FF2B5EF4-FFF2-40B4-BE49-F238E27FC236}">
                <a16:creationId xmlns:a16="http://schemas.microsoft.com/office/drawing/2014/main" id="{CB43B766-7922-4069-B7C0-851FE556E785}"/>
              </a:ext>
            </a:extLst>
          </p:cNvPr>
          <p:cNvGrpSpPr/>
          <p:nvPr/>
        </p:nvGrpSpPr>
        <p:grpSpPr>
          <a:xfrm>
            <a:off x="3621641" y="2062537"/>
            <a:ext cx="5435029" cy="2530011"/>
            <a:chOff x="768" y="624"/>
            <a:chExt cx="4272" cy="1824"/>
          </a:xfrm>
        </p:grpSpPr>
        <p:sp>
          <p:nvSpPr>
            <p:cNvPr id="4" name="Oval 4">
              <a:extLst>
                <a:ext uri="{FF2B5EF4-FFF2-40B4-BE49-F238E27FC236}">
                  <a16:creationId xmlns:a16="http://schemas.microsoft.com/office/drawing/2014/main" id="{0D7B2B21-DE05-4A5B-AD8F-512FA09AE4C6}"/>
                </a:ext>
              </a:extLst>
            </p:cNvPr>
            <p:cNvSpPr/>
            <p:nvPr/>
          </p:nvSpPr>
          <p:spPr>
            <a:xfrm>
              <a:off x="768" y="1344"/>
              <a:ext cx="336" cy="336"/>
            </a:xfrm>
            <a:prstGeom prst="ellipse">
              <a:avLst/>
            </a:prstGeom>
            <a:solidFill>
              <a:srgbClr val="99FF33"/>
            </a:solidFill>
            <a:ln w="9525" cap="flat" cmpd="sng">
              <a:solidFill>
                <a:schemeClr val="accent2"/>
              </a:solidFill>
              <a:prstDash val="solid"/>
              <a:miter/>
              <a:headEnd type="none" w="med" len="med"/>
              <a:tailEnd type="none" w="med" len="med"/>
            </a:ln>
          </p:spPr>
          <p:txBody>
            <a:bodyPr wrap="none" lIns="90000" tIns="46800" rIns="90000" bIns="46800" anchor="ctr" anchorCtr="0"/>
            <a:lstStyle/>
            <a:p>
              <a:pPr algn="ctr" eaLnBrk="0" hangingPunct="0"/>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1</a:t>
              </a:r>
            </a:p>
          </p:txBody>
        </p:sp>
        <p:sp>
          <p:nvSpPr>
            <p:cNvPr id="5" name="Oval 5">
              <a:extLst>
                <a:ext uri="{FF2B5EF4-FFF2-40B4-BE49-F238E27FC236}">
                  <a16:creationId xmlns:a16="http://schemas.microsoft.com/office/drawing/2014/main" id="{A320B501-48D8-4BAA-89F7-01D613349A15}"/>
                </a:ext>
              </a:extLst>
            </p:cNvPr>
            <p:cNvSpPr/>
            <p:nvPr/>
          </p:nvSpPr>
          <p:spPr>
            <a:xfrm>
              <a:off x="1680" y="1392"/>
              <a:ext cx="336" cy="336"/>
            </a:xfrm>
            <a:prstGeom prst="ellipse">
              <a:avLst/>
            </a:prstGeom>
            <a:solidFill>
              <a:srgbClr val="99FF33"/>
            </a:solidFill>
            <a:ln w="9525" cap="flat" cmpd="sng">
              <a:solidFill>
                <a:schemeClr val="accent2"/>
              </a:solidFill>
              <a:prstDash val="solid"/>
              <a:miter/>
              <a:headEnd type="none" w="med" len="med"/>
              <a:tailEnd type="none" w="med" len="med"/>
            </a:ln>
          </p:spPr>
          <p:txBody>
            <a:bodyPr wrap="none" lIns="90000" tIns="46800" rIns="90000" bIns="46800" anchor="ctr" anchorCtr="0"/>
            <a:lstStyle/>
            <a:p>
              <a:pPr algn="ctr" eaLnBrk="0" hangingPunct="0"/>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3</a:t>
              </a:r>
            </a:p>
          </p:txBody>
        </p:sp>
        <p:sp>
          <p:nvSpPr>
            <p:cNvPr id="6" name="Oval 6">
              <a:extLst>
                <a:ext uri="{FF2B5EF4-FFF2-40B4-BE49-F238E27FC236}">
                  <a16:creationId xmlns:a16="http://schemas.microsoft.com/office/drawing/2014/main" id="{2C755146-02C8-4ACD-9CA3-5A6DA18BFF5D}"/>
                </a:ext>
              </a:extLst>
            </p:cNvPr>
            <p:cNvSpPr/>
            <p:nvPr/>
          </p:nvSpPr>
          <p:spPr>
            <a:xfrm>
              <a:off x="1680" y="624"/>
              <a:ext cx="336" cy="336"/>
            </a:xfrm>
            <a:prstGeom prst="ellipse">
              <a:avLst/>
            </a:prstGeom>
            <a:solidFill>
              <a:srgbClr val="99FF33"/>
            </a:solidFill>
            <a:ln w="9525" cap="flat" cmpd="sng">
              <a:solidFill>
                <a:schemeClr val="accent2"/>
              </a:solidFill>
              <a:prstDash val="solid"/>
              <a:miter/>
              <a:headEnd type="none" w="med" len="med"/>
              <a:tailEnd type="none" w="med" len="med"/>
            </a:ln>
          </p:spPr>
          <p:txBody>
            <a:bodyPr wrap="none" lIns="90000" tIns="46800" rIns="90000" bIns="46800" anchor="ctr" anchorCtr="0"/>
            <a:lstStyle/>
            <a:p>
              <a:pPr algn="ctr" eaLnBrk="0" hangingPunct="0"/>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2</a:t>
              </a:r>
            </a:p>
          </p:txBody>
        </p:sp>
        <p:sp>
          <p:nvSpPr>
            <p:cNvPr id="7" name="Oval 7">
              <a:extLst>
                <a:ext uri="{FF2B5EF4-FFF2-40B4-BE49-F238E27FC236}">
                  <a16:creationId xmlns:a16="http://schemas.microsoft.com/office/drawing/2014/main" id="{59E4F948-E034-4316-B17E-A601E924F1D8}"/>
                </a:ext>
              </a:extLst>
            </p:cNvPr>
            <p:cNvSpPr/>
            <p:nvPr/>
          </p:nvSpPr>
          <p:spPr>
            <a:xfrm>
              <a:off x="1680" y="2112"/>
              <a:ext cx="336" cy="336"/>
            </a:xfrm>
            <a:prstGeom prst="ellipse">
              <a:avLst/>
            </a:prstGeom>
            <a:solidFill>
              <a:srgbClr val="99FF33"/>
            </a:solidFill>
            <a:ln w="9525" cap="flat" cmpd="sng">
              <a:solidFill>
                <a:schemeClr val="accent2"/>
              </a:solidFill>
              <a:prstDash val="solid"/>
              <a:miter/>
              <a:headEnd type="none" w="med" len="med"/>
              <a:tailEnd type="none" w="med" len="med"/>
            </a:ln>
          </p:spPr>
          <p:txBody>
            <a:bodyPr wrap="none" lIns="90000" tIns="46800" rIns="90000" bIns="46800" anchor="ctr" anchorCtr="0"/>
            <a:lstStyle/>
            <a:p>
              <a:pPr algn="ctr" eaLnBrk="0" hangingPunct="0"/>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4</a:t>
              </a:r>
            </a:p>
          </p:txBody>
        </p:sp>
        <p:sp>
          <p:nvSpPr>
            <p:cNvPr id="8" name="Oval 8">
              <a:extLst>
                <a:ext uri="{FF2B5EF4-FFF2-40B4-BE49-F238E27FC236}">
                  <a16:creationId xmlns:a16="http://schemas.microsoft.com/office/drawing/2014/main" id="{17838D52-D678-494B-BD20-1AD9D5D59614}"/>
                </a:ext>
              </a:extLst>
            </p:cNvPr>
            <p:cNvSpPr/>
            <p:nvPr/>
          </p:nvSpPr>
          <p:spPr>
            <a:xfrm>
              <a:off x="2784" y="1056"/>
              <a:ext cx="336" cy="336"/>
            </a:xfrm>
            <a:prstGeom prst="ellipse">
              <a:avLst/>
            </a:prstGeom>
            <a:solidFill>
              <a:srgbClr val="99FF33"/>
            </a:solidFill>
            <a:ln w="9525" cap="flat" cmpd="sng">
              <a:solidFill>
                <a:schemeClr val="accent2"/>
              </a:solidFill>
              <a:prstDash val="solid"/>
              <a:miter/>
              <a:headEnd type="none" w="med" len="med"/>
              <a:tailEnd type="none" w="med" len="med"/>
            </a:ln>
          </p:spPr>
          <p:txBody>
            <a:bodyPr wrap="none" lIns="90000" tIns="46800" rIns="90000" bIns="46800" anchor="ctr" anchorCtr="0"/>
            <a:lstStyle/>
            <a:p>
              <a:pPr algn="ctr" eaLnBrk="0" hangingPunct="0"/>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5</a:t>
              </a:r>
            </a:p>
          </p:txBody>
        </p:sp>
        <p:sp>
          <p:nvSpPr>
            <p:cNvPr id="9" name="Oval 9">
              <a:extLst>
                <a:ext uri="{FF2B5EF4-FFF2-40B4-BE49-F238E27FC236}">
                  <a16:creationId xmlns:a16="http://schemas.microsoft.com/office/drawing/2014/main" id="{FF25D58A-48B4-421F-BE92-46E0A10A071A}"/>
                </a:ext>
              </a:extLst>
            </p:cNvPr>
            <p:cNvSpPr/>
            <p:nvPr/>
          </p:nvSpPr>
          <p:spPr>
            <a:xfrm>
              <a:off x="2784" y="1824"/>
              <a:ext cx="336" cy="336"/>
            </a:xfrm>
            <a:prstGeom prst="ellipse">
              <a:avLst/>
            </a:prstGeom>
            <a:solidFill>
              <a:srgbClr val="99FF33"/>
            </a:solidFill>
            <a:ln w="9525" cap="flat" cmpd="sng">
              <a:solidFill>
                <a:schemeClr val="accent2"/>
              </a:solidFill>
              <a:prstDash val="solid"/>
              <a:miter/>
              <a:headEnd type="none" w="med" len="med"/>
              <a:tailEnd type="none" w="med" len="med"/>
            </a:ln>
          </p:spPr>
          <p:txBody>
            <a:bodyPr wrap="none" lIns="90000" tIns="46800" rIns="90000" bIns="46800" anchor="ctr" anchorCtr="0"/>
            <a:lstStyle/>
            <a:p>
              <a:pPr algn="ctr" eaLnBrk="0" hangingPunct="0"/>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6</a:t>
              </a:r>
            </a:p>
          </p:txBody>
        </p:sp>
        <p:sp>
          <p:nvSpPr>
            <p:cNvPr id="10" name="Oval 10">
              <a:extLst>
                <a:ext uri="{FF2B5EF4-FFF2-40B4-BE49-F238E27FC236}">
                  <a16:creationId xmlns:a16="http://schemas.microsoft.com/office/drawing/2014/main" id="{148B2578-B2B7-47C4-945C-0D3CAC5BBB7F}"/>
                </a:ext>
              </a:extLst>
            </p:cNvPr>
            <p:cNvSpPr/>
            <p:nvPr/>
          </p:nvSpPr>
          <p:spPr>
            <a:xfrm>
              <a:off x="3792" y="1392"/>
              <a:ext cx="336" cy="336"/>
            </a:xfrm>
            <a:prstGeom prst="ellipse">
              <a:avLst/>
            </a:prstGeom>
            <a:solidFill>
              <a:srgbClr val="99FF33"/>
            </a:solidFill>
            <a:ln w="9525" cap="flat" cmpd="sng">
              <a:solidFill>
                <a:schemeClr val="accent2"/>
              </a:solidFill>
              <a:prstDash val="solid"/>
              <a:miter/>
              <a:headEnd type="none" w="med" len="med"/>
              <a:tailEnd type="none" w="med" len="med"/>
            </a:ln>
          </p:spPr>
          <p:txBody>
            <a:bodyPr wrap="none" lIns="90000" tIns="46800" rIns="90000" bIns="46800" anchor="ctr" anchorCtr="0"/>
            <a:lstStyle/>
            <a:p>
              <a:pPr algn="ctr" eaLnBrk="0" hangingPunct="0"/>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7</a:t>
              </a:r>
            </a:p>
          </p:txBody>
        </p:sp>
        <p:sp>
          <p:nvSpPr>
            <p:cNvPr id="11" name="Oval 11">
              <a:extLst>
                <a:ext uri="{FF2B5EF4-FFF2-40B4-BE49-F238E27FC236}">
                  <a16:creationId xmlns:a16="http://schemas.microsoft.com/office/drawing/2014/main" id="{FC02CB01-57D6-450C-84B6-7B5867ADBBD7}"/>
                </a:ext>
              </a:extLst>
            </p:cNvPr>
            <p:cNvSpPr/>
            <p:nvPr/>
          </p:nvSpPr>
          <p:spPr>
            <a:xfrm>
              <a:off x="4704" y="1392"/>
              <a:ext cx="336" cy="336"/>
            </a:xfrm>
            <a:prstGeom prst="ellipse">
              <a:avLst/>
            </a:prstGeom>
            <a:solidFill>
              <a:srgbClr val="99FF33"/>
            </a:solidFill>
            <a:ln w="9525" cap="flat" cmpd="sng">
              <a:solidFill>
                <a:schemeClr val="accent2"/>
              </a:solidFill>
              <a:prstDash val="solid"/>
              <a:miter/>
              <a:headEnd type="none" w="med" len="med"/>
              <a:tailEnd type="none" w="med" len="med"/>
            </a:ln>
          </p:spPr>
          <p:txBody>
            <a:bodyPr wrap="none" lIns="90000" tIns="46800" rIns="90000" bIns="46800" anchor="ctr" anchorCtr="0"/>
            <a:lstStyle/>
            <a:p>
              <a:pPr algn="ctr" eaLnBrk="0" hangingPunct="0"/>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8</a:t>
              </a:r>
            </a:p>
          </p:txBody>
        </p:sp>
        <p:sp>
          <p:nvSpPr>
            <p:cNvPr id="12" name="Line 12">
              <a:extLst>
                <a:ext uri="{FF2B5EF4-FFF2-40B4-BE49-F238E27FC236}">
                  <a16:creationId xmlns:a16="http://schemas.microsoft.com/office/drawing/2014/main" id="{CECC5CB3-A242-4140-BD96-142ED74EF60F}"/>
                </a:ext>
              </a:extLst>
            </p:cNvPr>
            <p:cNvSpPr/>
            <p:nvPr/>
          </p:nvSpPr>
          <p:spPr>
            <a:xfrm flipV="1">
              <a:off x="1056" y="912"/>
              <a:ext cx="624" cy="480"/>
            </a:xfrm>
            <a:prstGeom prst="line">
              <a:avLst/>
            </a:prstGeom>
            <a:ln w="9525" cap="flat" cmpd="sng">
              <a:solidFill>
                <a:schemeClr val="accent2"/>
              </a:solidFill>
              <a:prstDash val="solid"/>
              <a:miter/>
              <a:headEnd type="none" w="med" len="med"/>
              <a:tailEnd type="triangle" w="med" len="med"/>
            </a:ln>
          </p:spPr>
        </p:sp>
        <p:sp>
          <p:nvSpPr>
            <p:cNvPr id="13" name="Line 13">
              <a:extLst>
                <a:ext uri="{FF2B5EF4-FFF2-40B4-BE49-F238E27FC236}">
                  <a16:creationId xmlns:a16="http://schemas.microsoft.com/office/drawing/2014/main" id="{BC5F21E9-9395-491D-83FE-120E9B17CF78}"/>
                </a:ext>
              </a:extLst>
            </p:cNvPr>
            <p:cNvSpPr/>
            <p:nvPr/>
          </p:nvSpPr>
          <p:spPr>
            <a:xfrm>
              <a:off x="1104" y="1536"/>
              <a:ext cx="576" cy="0"/>
            </a:xfrm>
            <a:prstGeom prst="line">
              <a:avLst/>
            </a:prstGeom>
            <a:ln w="9525" cap="flat" cmpd="sng">
              <a:solidFill>
                <a:schemeClr val="accent2"/>
              </a:solidFill>
              <a:prstDash val="solid"/>
              <a:miter/>
              <a:headEnd type="none" w="med" len="med"/>
              <a:tailEnd type="triangle" w="med" len="med"/>
            </a:ln>
          </p:spPr>
        </p:sp>
        <p:sp>
          <p:nvSpPr>
            <p:cNvPr id="14" name="Line 14">
              <a:extLst>
                <a:ext uri="{FF2B5EF4-FFF2-40B4-BE49-F238E27FC236}">
                  <a16:creationId xmlns:a16="http://schemas.microsoft.com/office/drawing/2014/main" id="{C9FE028B-196A-457F-8FC2-CA27B7EDA603}"/>
                </a:ext>
              </a:extLst>
            </p:cNvPr>
            <p:cNvSpPr/>
            <p:nvPr/>
          </p:nvSpPr>
          <p:spPr>
            <a:xfrm>
              <a:off x="960" y="1680"/>
              <a:ext cx="720" cy="576"/>
            </a:xfrm>
            <a:prstGeom prst="line">
              <a:avLst/>
            </a:prstGeom>
            <a:ln w="9525" cap="flat" cmpd="sng">
              <a:solidFill>
                <a:schemeClr val="accent2"/>
              </a:solidFill>
              <a:prstDash val="solid"/>
              <a:miter/>
              <a:headEnd type="none" w="med" len="med"/>
              <a:tailEnd type="triangle" w="med" len="med"/>
            </a:ln>
          </p:spPr>
        </p:sp>
        <p:sp>
          <p:nvSpPr>
            <p:cNvPr id="15" name="Line 15">
              <a:extLst>
                <a:ext uri="{FF2B5EF4-FFF2-40B4-BE49-F238E27FC236}">
                  <a16:creationId xmlns:a16="http://schemas.microsoft.com/office/drawing/2014/main" id="{809BB2C8-3835-40F9-963C-5AD94A565916}"/>
                </a:ext>
              </a:extLst>
            </p:cNvPr>
            <p:cNvSpPr/>
            <p:nvPr/>
          </p:nvSpPr>
          <p:spPr>
            <a:xfrm>
              <a:off x="2016" y="816"/>
              <a:ext cx="816" cy="288"/>
            </a:xfrm>
            <a:prstGeom prst="line">
              <a:avLst/>
            </a:prstGeom>
            <a:ln w="9525" cap="flat" cmpd="sng">
              <a:solidFill>
                <a:schemeClr val="accent2"/>
              </a:solidFill>
              <a:prstDash val="solid"/>
              <a:miter/>
              <a:headEnd type="none" w="med" len="med"/>
              <a:tailEnd type="triangle" w="med" len="med"/>
            </a:ln>
          </p:spPr>
        </p:sp>
        <p:sp>
          <p:nvSpPr>
            <p:cNvPr id="16" name="Line 16">
              <a:extLst>
                <a:ext uri="{FF2B5EF4-FFF2-40B4-BE49-F238E27FC236}">
                  <a16:creationId xmlns:a16="http://schemas.microsoft.com/office/drawing/2014/main" id="{CA37198F-8DAB-47D4-8A02-343BC7346DFC}"/>
                </a:ext>
              </a:extLst>
            </p:cNvPr>
            <p:cNvSpPr/>
            <p:nvPr/>
          </p:nvSpPr>
          <p:spPr>
            <a:xfrm flipV="1">
              <a:off x="2016" y="1248"/>
              <a:ext cx="768" cy="240"/>
            </a:xfrm>
            <a:prstGeom prst="line">
              <a:avLst/>
            </a:prstGeom>
            <a:ln w="9525" cap="flat" cmpd="sng">
              <a:solidFill>
                <a:schemeClr val="accent2"/>
              </a:solidFill>
              <a:prstDash val="solid"/>
              <a:miter/>
              <a:headEnd type="none" w="med" len="med"/>
              <a:tailEnd type="triangle" w="med" len="med"/>
            </a:ln>
          </p:spPr>
        </p:sp>
        <p:sp>
          <p:nvSpPr>
            <p:cNvPr id="17" name="Line 17">
              <a:extLst>
                <a:ext uri="{FF2B5EF4-FFF2-40B4-BE49-F238E27FC236}">
                  <a16:creationId xmlns:a16="http://schemas.microsoft.com/office/drawing/2014/main" id="{7E004874-5630-4C71-9842-F1FE08BCC619}"/>
                </a:ext>
              </a:extLst>
            </p:cNvPr>
            <p:cNvSpPr/>
            <p:nvPr/>
          </p:nvSpPr>
          <p:spPr>
            <a:xfrm>
              <a:off x="2016" y="1584"/>
              <a:ext cx="768" cy="336"/>
            </a:xfrm>
            <a:prstGeom prst="line">
              <a:avLst/>
            </a:prstGeom>
            <a:ln w="9525" cap="flat" cmpd="sng">
              <a:solidFill>
                <a:schemeClr val="accent2"/>
              </a:solidFill>
              <a:prstDash val="solid"/>
              <a:miter/>
              <a:headEnd type="none" w="med" len="med"/>
              <a:tailEnd type="triangle" w="med" len="med"/>
            </a:ln>
          </p:spPr>
        </p:sp>
        <p:sp>
          <p:nvSpPr>
            <p:cNvPr id="18" name="Line 18">
              <a:extLst>
                <a:ext uri="{FF2B5EF4-FFF2-40B4-BE49-F238E27FC236}">
                  <a16:creationId xmlns:a16="http://schemas.microsoft.com/office/drawing/2014/main" id="{E4A770D2-407C-4134-8EA0-944CC416F205}"/>
                </a:ext>
              </a:extLst>
            </p:cNvPr>
            <p:cNvSpPr/>
            <p:nvPr/>
          </p:nvSpPr>
          <p:spPr>
            <a:xfrm>
              <a:off x="3120" y="1200"/>
              <a:ext cx="720" cy="240"/>
            </a:xfrm>
            <a:prstGeom prst="line">
              <a:avLst/>
            </a:prstGeom>
            <a:ln w="9525" cap="flat" cmpd="sng">
              <a:solidFill>
                <a:schemeClr val="accent2"/>
              </a:solidFill>
              <a:prstDash val="solid"/>
              <a:miter/>
              <a:headEnd type="none" w="med" len="med"/>
              <a:tailEnd type="triangle" w="med" len="med"/>
            </a:ln>
          </p:spPr>
        </p:sp>
        <p:sp>
          <p:nvSpPr>
            <p:cNvPr id="19" name="Line 19">
              <a:extLst>
                <a:ext uri="{FF2B5EF4-FFF2-40B4-BE49-F238E27FC236}">
                  <a16:creationId xmlns:a16="http://schemas.microsoft.com/office/drawing/2014/main" id="{E4D79D69-DECC-4B3E-A114-1D6D5C9316B7}"/>
                </a:ext>
              </a:extLst>
            </p:cNvPr>
            <p:cNvSpPr/>
            <p:nvPr/>
          </p:nvSpPr>
          <p:spPr>
            <a:xfrm flipV="1">
              <a:off x="3120" y="1680"/>
              <a:ext cx="720" cy="384"/>
            </a:xfrm>
            <a:prstGeom prst="line">
              <a:avLst/>
            </a:prstGeom>
            <a:ln w="9525" cap="flat" cmpd="sng">
              <a:solidFill>
                <a:schemeClr val="accent2"/>
              </a:solidFill>
              <a:prstDash val="solid"/>
              <a:miter/>
              <a:headEnd type="none" w="med" len="med"/>
              <a:tailEnd type="triangle" w="med" len="med"/>
            </a:ln>
          </p:spPr>
        </p:sp>
        <p:sp>
          <p:nvSpPr>
            <p:cNvPr id="20" name="Line 20">
              <a:extLst>
                <a:ext uri="{FF2B5EF4-FFF2-40B4-BE49-F238E27FC236}">
                  <a16:creationId xmlns:a16="http://schemas.microsoft.com/office/drawing/2014/main" id="{7F2B3F9E-B32A-4144-93EC-E902E8381A00}"/>
                </a:ext>
              </a:extLst>
            </p:cNvPr>
            <p:cNvSpPr/>
            <p:nvPr/>
          </p:nvSpPr>
          <p:spPr>
            <a:xfrm flipV="1">
              <a:off x="2016" y="2112"/>
              <a:ext cx="816" cy="240"/>
            </a:xfrm>
            <a:prstGeom prst="line">
              <a:avLst/>
            </a:prstGeom>
            <a:ln w="9525" cap="flat" cmpd="sng">
              <a:solidFill>
                <a:schemeClr val="accent2"/>
              </a:solidFill>
              <a:prstDash val="solid"/>
              <a:miter/>
              <a:headEnd type="none" w="med" len="med"/>
              <a:tailEnd type="triangle" w="med" len="med"/>
            </a:ln>
          </p:spPr>
        </p:sp>
        <p:sp>
          <p:nvSpPr>
            <p:cNvPr id="21" name="Line 21">
              <a:extLst>
                <a:ext uri="{FF2B5EF4-FFF2-40B4-BE49-F238E27FC236}">
                  <a16:creationId xmlns:a16="http://schemas.microsoft.com/office/drawing/2014/main" id="{C7548DDF-DF60-4800-AFCB-593E1EAB00C8}"/>
                </a:ext>
              </a:extLst>
            </p:cNvPr>
            <p:cNvSpPr/>
            <p:nvPr/>
          </p:nvSpPr>
          <p:spPr>
            <a:xfrm>
              <a:off x="4128" y="1536"/>
              <a:ext cx="576" cy="0"/>
            </a:xfrm>
            <a:prstGeom prst="line">
              <a:avLst/>
            </a:prstGeom>
            <a:ln w="9525" cap="flat" cmpd="sng">
              <a:solidFill>
                <a:schemeClr val="accent2"/>
              </a:solidFill>
              <a:prstDash val="solid"/>
              <a:miter/>
              <a:headEnd type="none" w="med" len="med"/>
              <a:tailEnd type="triangle" w="med" len="med"/>
            </a:ln>
          </p:spPr>
          <p:txBody>
            <a:bodyPr/>
            <a:lstStyle/>
            <a:p>
              <a:endParaRPr lang="zh-CN" altLang="en-US"/>
            </a:p>
          </p:txBody>
        </p:sp>
        <p:sp>
          <p:nvSpPr>
            <p:cNvPr id="22" name="Text Box 22">
              <a:extLst>
                <a:ext uri="{FF2B5EF4-FFF2-40B4-BE49-F238E27FC236}">
                  <a16:creationId xmlns:a16="http://schemas.microsoft.com/office/drawing/2014/main" id="{F0AAE839-D437-4EE3-8CC5-99BD1F70A6AA}"/>
                </a:ext>
              </a:extLst>
            </p:cNvPr>
            <p:cNvSpPr txBox="1"/>
            <p:nvPr/>
          </p:nvSpPr>
          <p:spPr>
            <a:xfrm>
              <a:off x="1142" y="928"/>
              <a:ext cx="250" cy="214"/>
            </a:xfrm>
            <a:prstGeom prst="rect">
              <a:avLst/>
            </a:prstGeom>
            <a:solidFill>
              <a:schemeClr val="bg1"/>
            </a:solidFill>
            <a:ln w="9525" cap="flat" cmpd="sng">
              <a:solidFill>
                <a:schemeClr val="accent2"/>
              </a:solidFill>
              <a:prstDash val="solid"/>
              <a:miter/>
              <a:headEnd type="none" w="med" len="med"/>
              <a:tailEnd type="none" w="med" len="med"/>
            </a:ln>
          </p:spPr>
          <p:txBody>
            <a:bodyPr lIns="90000" tIns="46800" rIns="90000" bIns="46800" anchor="t" anchorCtr="0">
              <a:spAutoFit/>
            </a:bodyPr>
            <a:lstStyle/>
            <a:p>
              <a:pPr eaLnBrk="0" hangingPunct="0"/>
              <a:r>
                <a:rPr lang="en-US" altLang="zh-CN" sz="2400" b="1" dirty="0">
                  <a:latin typeface="Times New Roman" panose="02020603050405020304" pitchFamily="18" charset="0"/>
                </a:rPr>
                <a:t>a</a:t>
              </a:r>
            </a:p>
          </p:txBody>
        </p:sp>
        <p:sp>
          <p:nvSpPr>
            <p:cNvPr id="23" name="Text Box 23">
              <a:extLst>
                <a:ext uri="{FF2B5EF4-FFF2-40B4-BE49-F238E27FC236}">
                  <a16:creationId xmlns:a16="http://schemas.microsoft.com/office/drawing/2014/main" id="{9F2B09CA-F6AB-489B-9BD0-24EEE470A24F}"/>
                </a:ext>
              </a:extLst>
            </p:cNvPr>
            <p:cNvSpPr txBox="1"/>
            <p:nvPr/>
          </p:nvSpPr>
          <p:spPr>
            <a:xfrm>
              <a:off x="2256" y="1984"/>
              <a:ext cx="250" cy="250"/>
            </a:xfrm>
            <a:prstGeom prst="rect">
              <a:avLst/>
            </a:prstGeom>
            <a:solidFill>
              <a:schemeClr val="bg1"/>
            </a:solidFill>
            <a:ln w="9525" cap="flat" cmpd="sng">
              <a:solidFill>
                <a:schemeClr val="accent2"/>
              </a:solidFill>
              <a:prstDash val="solid"/>
              <a:miter/>
              <a:headEnd type="none" w="med" len="med"/>
              <a:tailEnd type="none" w="med" len="med"/>
            </a:ln>
          </p:spPr>
          <p:txBody>
            <a:bodyPr lIns="90000" tIns="46800" rIns="90000" bIns="46800" anchor="t" anchorCtr="0">
              <a:spAutoFit/>
            </a:bodyPr>
            <a:lstStyle/>
            <a:p>
              <a:pPr eaLnBrk="0" hangingPunct="0"/>
              <a:r>
                <a:rPr lang="en-US" altLang="zh-CN" sz="2400" b="1" dirty="0">
                  <a:latin typeface="Times New Roman" panose="02020603050405020304" pitchFamily="18" charset="0"/>
                </a:rPr>
                <a:t>g</a:t>
              </a:r>
            </a:p>
          </p:txBody>
        </p:sp>
        <p:sp>
          <p:nvSpPr>
            <p:cNvPr id="24" name="Text Box 24">
              <a:extLst>
                <a:ext uri="{FF2B5EF4-FFF2-40B4-BE49-F238E27FC236}">
                  <a16:creationId xmlns:a16="http://schemas.microsoft.com/office/drawing/2014/main" id="{0D2D56BC-DB1D-4093-B94A-ABA158801036}"/>
                </a:ext>
              </a:extLst>
            </p:cNvPr>
            <p:cNvSpPr txBox="1"/>
            <p:nvPr/>
          </p:nvSpPr>
          <p:spPr>
            <a:xfrm>
              <a:off x="2256" y="1072"/>
              <a:ext cx="250" cy="250"/>
            </a:xfrm>
            <a:prstGeom prst="rect">
              <a:avLst/>
            </a:prstGeom>
            <a:solidFill>
              <a:schemeClr val="bg1"/>
            </a:solidFill>
            <a:ln w="9525" cap="flat" cmpd="sng">
              <a:solidFill>
                <a:schemeClr val="accent2"/>
              </a:solidFill>
              <a:prstDash val="solid"/>
              <a:miter/>
              <a:headEnd type="none" w="med" len="med"/>
              <a:tailEnd type="none" w="med" len="med"/>
            </a:ln>
          </p:spPr>
          <p:txBody>
            <a:bodyPr lIns="90000" tIns="46800" rIns="90000" bIns="46800" anchor="t" anchorCtr="0">
              <a:spAutoFit/>
            </a:bodyPr>
            <a:lstStyle/>
            <a:p>
              <a:pPr eaLnBrk="0" hangingPunct="0"/>
              <a:r>
                <a:rPr lang="en-US" altLang="zh-CN" sz="2400" b="1" dirty="0">
                  <a:latin typeface="Times New Roman" panose="02020603050405020304" pitchFamily="18" charset="0"/>
                </a:rPr>
                <a:t>e</a:t>
              </a:r>
            </a:p>
          </p:txBody>
        </p:sp>
        <p:sp>
          <p:nvSpPr>
            <p:cNvPr id="25" name="Text Box 25">
              <a:extLst>
                <a:ext uri="{FF2B5EF4-FFF2-40B4-BE49-F238E27FC236}">
                  <a16:creationId xmlns:a16="http://schemas.microsoft.com/office/drawing/2014/main" id="{23943268-10A7-4724-A493-4EEAE46BC188}"/>
                </a:ext>
              </a:extLst>
            </p:cNvPr>
            <p:cNvSpPr txBox="1"/>
            <p:nvPr/>
          </p:nvSpPr>
          <p:spPr>
            <a:xfrm>
              <a:off x="2256" y="1456"/>
              <a:ext cx="250" cy="250"/>
            </a:xfrm>
            <a:prstGeom prst="rect">
              <a:avLst/>
            </a:prstGeom>
            <a:solidFill>
              <a:schemeClr val="bg1"/>
            </a:solidFill>
            <a:ln w="9525" cap="flat" cmpd="sng">
              <a:solidFill>
                <a:schemeClr val="accent2"/>
              </a:solidFill>
              <a:prstDash val="solid"/>
              <a:miter/>
              <a:headEnd type="none" w="med" len="med"/>
              <a:tailEnd type="none" w="med" len="med"/>
            </a:ln>
          </p:spPr>
          <p:txBody>
            <a:bodyPr lIns="90000" tIns="46800" rIns="90000" bIns="46800" anchor="t" anchorCtr="0">
              <a:spAutoFit/>
            </a:bodyPr>
            <a:lstStyle/>
            <a:p>
              <a:pPr eaLnBrk="0" hangingPunct="0"/>
              <a:r>
                <a:rPr lang="en-US" altLang="zh-CN" sz="2400" b="1" dirty="0">
                  <a:latin typeface="Times New Roman" panose="02020603050405020304" pitchFamily="18" charset="0"/>
                </a:rPr>
                <a:t>f</a:t>
              </a:r>
            </a:p>
          </p:txBody>
        </p:sp>
        <p:sp>
          <p:nvSpPr>
            <p:cNvPr id="26" name="Text Box 26">
              <a:extLst>
                <a:ext uri="{FF2B5EF4-FFF2-40B4-BE49-F238E27FC236}">
                  <a16:creationId xmlns:a16="http://schemas.microsoft.com/office/drawing/2014/main" id="{E7D4D3B0-EF18-4F87-B28C-6D1B23DF1E78}"/>
                </a:ext>
              </a:extLst>
            </p:cNvPr>
            <p:cNvSpPr txBox="1"/>
            <p:nvPr/>
          </p:nvSpPr>
          <p:spPr>
            <a:xfrm>
              <a:off x="1248" y="1264"/>
              <a:ext cx="250" cy="215"/>
            </a:xfrm>
            <a:prstGeom prst="rect">
              <a:avLst/>
            </a:prstGeom>
            <a:solidFill>
              <a:schemeClr val="bg1"/>
            </a:solidFill>
            <a:ln w="9525" cap="flat" cmpd="sng">
              <a:solidFill>
                <a:schemeClr val="accent2"/>
              </a:solidFill>
              <a:prstDash val="solid"/>
              <a:miter/>
              <a:headEnd type="none" w="med" len="med"/>
              <a:tailEnd type="none" w="med" len="med"/>
            </a:ln>
          </p:spPr>
          <p:txBody>
            <a:bodyPr lIns="90000" tIns="46800" rIns="90000" bIns="46800" anchor="t" anchorCtr="0">
              <a:spAutoFit/>
            </a:bodyPr>
            <a:lstStyle/>
            <a:p>
              <a:pPr eaLnBrk="0" hangingPunct="0"/>
              <a:r>
                <a:rPr lang="en-US" altLang="zh-CN" sz="2400" b="1" dirty="0">
                  <a:latin typeface="Times New Roman" panose="02020603050405020304" pitchFamily="18" charset="0"/>
                </a:rPr>
                <a:t>b</a:t>
              </a:r>
            </a:p>
          </p:txBody>
        </p:sp>
        <p:sp>
          <p:nvSpPr>
            <p:cNvPr id="27" name="Text Box 27">
              <a:extLst>
                <a:ext uri="{FF2B5EF4-FFF2-40B4-BE49-F238E27FC236}">
                  <a16:creationId xmlns:a16="http://schemas.microsoft.com/office/drawing/2014/main" id="{4E9CBA44-8D21-4894-9340-D7E1776664AD}"/>
                </a:ext>
              </a:extLst>
            </p:cNvPr>
            <p:cNvSpPr txBox="1"/>
            <p:nvPr/>
          </p:nvSpPr>
          <p:spPr>
            <a:xfrm>
              <a:off x="1200" y="1888"/>
              <a:ext cx="250" cy="214"/>
            </a:xfrm>
            <a:prstGeom prst="rect">
              <a:avLst/>
            </a:prstGeom>
            <a:solidFill>
              <a:schemeClr val="bg1"/>
            </a:solidFill>
            <a:ln w="9525" cap="flat" cmpd="sng">
              <a:solidFill>
                <a:schemeClr val="accent2"/>
              </a:solidFill>
              <a:prstDash val="solid"/>
              <a:miter/>
              <a:headEnd type="none" w="med" len="med"/>
              <a:tailEnd type="none" w="med" len="med"/>
            </a:ln>
          </p:spPr>
          <p:txBody>
            <a:bodyPr lIns="90000" tIns="46800" rIns="90000" bIns="46800" anchor="t" anchorCtr="0">
              <a:spAutoFit/>
            </a:bodyPr>
            <a:lstStyle/>
            <a:p>
              <a:pPr eaLnBrk="0" hangingPunct="0"/>
              <a:r>
                <a:rPr lang="en-US" altLang="zh-CN" sz="2400" b="1" dirty="0">
                  <a:latin typeface="Times New Roman" panose="02020603050405020304" pitchFamily="18" charset="0"/>
                </a:rPr>
                <a:t>c</a:t>
              </a:r>
            </a:p>
          </p:txBody>
        </p:sp>
        <p:sp>
          <p:nvSpPr>
            <p:cNvPr id="28" name="Text Box 28">
              <a:extLst>
                <a:ext uri="{FF2B5EF4-FFF2-40B4-BE49-F238E27FC236}">
                  <a16:creationId xmlns:a16="http://schemas.microsoft.com/office/drawing/2014/main" id="{57E5E4FD-94AC-43F7-89F7-E331BFCD2680}"/>
                </a:ext>
              </a:extLst>
            </p:cNvPr>
            <p:cNvSpPr txBox="1"/>
            <p:nvPr/>
          </p:nvSpPr>
          <p:spPr>
            <a:xfrm>
              <a:off x="2304" y="672"/>
              <a:ext cx="250" cy="250"/>
            </a:xfrm>
            <a:prstGeom prst="rect">
              <a:avLst/>
            </a:prstGeom>
            <a:solidFill>
              <a:schemeClr val="bg1"/>
            </a:solidFill>
            <a:ln w="9525" cap="flat" cmpd="sng">
              <a:solidFill>
                <a:schemeClr val="accent2"/>
              </a:solidFill>
              <a:prstDash val="solid"/>
              <a:miter/>
              <a:headEnd type="none" w="med" len="med"/>
              <a:tailEnd type="none" w="med" len="med"/>
            </a:ln>
          </p:spPr>
          <p:txBody>
            <a:bodyPr lIns="90000" tIns="46800" rIns="90000" bIns="46800" anchor="t" anchorCtr="0">
              <a:spAutoFit/>
            </a:bodyPr>
            <a:lstStyle/>
            <a:p>
              <a:pPr eaLnBrk="0" hangingPunct="0"/>
              <a:r>
                <a:rPr lang="en-US" altLang="zh-CN" sz="2400" b="1" dirty="0">
                  <a:latin typeface="Times New Roman" panose="02020603050405020304" pitchFamily="18" charset="0"/>
                </a:rPr>
                <a:t>d</a:t>
              </a:r>
            </a:p>
          </p:txBody>
        </p:sp>
        <p:sp>
          <p:nvSpPr>
            <p:cNvPr id="29" name="Text Box 29">
              <a:extLst>
                <a:ext uri="{FF2B5EF4-FFF2-40B4-BE49-F238E27FC236}">
                  <a16:creationId xmlns:a16="http://schemas.microsoft.com/office/drawing/2014/main" id="{FB9E7D7A-E417-457F-BF84-E7AC7741105B}"/>
                </a:ext>
              </a:extLst>
            </p:cNvPr>
            <p:cNvSpPr txBox="1"/>
            <p:nvPr/>
          </p:nvSpPr>
          <p:spPr>
            <a:xfrm>
              <a:off x="3312" y="1008"/>
              <a:ext cx="250" cy="214"/>
            </a:xfrm>
            <a:prstGeom prst="rect">
              <a:avLst/>
            </a:prstGeom>
            <a:solidFill>
              <a:schemeClr val="bg1"/>
            </a:solidFill>
            <a:ln w="9525" cap="flat" cmpd="sng">
              <a:solidFill>
                <a:schemeClr val="accent2"/>
              </a:solidFill>
              <a:prstDash val="solid"/>
              <a:miter/>
              <a:headEnd type="none" w="med" len="med"/>
              <a:tailEnd type="none" w="med" len="med"/>
            </a:ln>
          </p:spPr>
          <p:txBody>
            <a:bodyPr lIns="90000" tIns="46800" rIns="90000" bIns="46800" anchor="t" anchorCtr="0">
              <a:spAutoFit/>
            </a:bodyPr>
            <a:lstStyle/>
            <a:p>
              <a:pPr eaLnBrk="0" hangingPunct="0"/>
              <a:r>
                <a:rPr lang="en-US" altLang="zh-CN" sz="2400" b="1" dirty="0">
                  <a:latin typeface="Times New Roman" panose="02020603050405020304" pitchFamily="18" charset="0"/>
                </a:rPr>
                <a:t>h</a:t>
              </a:r>
            </a:p>
          </p:txBody>
        </p:sp>
        <p:sp>
          <p:nvSpPr>
            <p:cNvPr id="30" name="Text Box 30">
              <a:extLst>
                <a:ext uri="{FF2B5EF4-FFF2-40B4-BE49-F238E27FC236}">
                  <a16:creationId xmlns:a16="http://schemas.microsoft.com/office/drawing/2014/main" id="{9451B8C5-76BC-4E61-9C6D-D7DB936AE6CB}"/>
                </a:ext>
              </a:extLst>
            </p:cNvPr>
            <p:cNvSpPr txBox="1"/>
            <p:nvPr/>
          </p:nvSpPr>
          <p:spPr>
            <a:xfrm>
              <a:off x="3264" y="1680"/>
              <a:ext cx="250" cy="214"/>
            </a:xfrm>
            <a:prstGeom prst="rect">
              <a:avLst/>
            </a:prstGeom>
            <a:solidFill>
              <a:schemeClr val="bg1"/>
            </a:solidFill>
            <a:ln w="9525" cap="flat" cmpd="sng">
              <a:solidFill>
                <a:schemeClr val="accent2"/>
              </a:solidFill>
              <a:prstDash val="solid"/>
              <a:miter/>
              <a:headEnd type="none" w="med" len="med"/>
              <a:tailEnd type="none" w="med" len="med"/>
            </a:ln>
          </p:spPr>
          <p:txBody>
            <a:bodyPr lIns="90000" tIns="46800" rIns="90000" bIns="46800" anchor="t" anchorCtr="0">
              <a:spAutoFit/>
            </a:bodyPr>
            <a:lstStyle/>
            <a:p>
              <a:pPr eaLnBrk="0" hangingPunct="0"/>
              <a:r>
                <a:rPr lang="en-US" altLang="zh-CN" sz="2400" b="1" dirty="0">
                  <a:latin typeface="Times New Roman" panose="02020603050405020304" pitchFamily="18" charset="0"/>
                </a:rPr>
                <a:t>i</a:t>
              </a:r>
            </a:p>
          </p:txBody>
        </p:sp>
        <p:sp>
          <p:nvSpPr>
            <p:cNvPr id="31" name="Text Box 31">
              <a:extLst>
                <a:ext uri="{FF2B5EF4-FFF2-40B4-BE49-F238E27FC236}">
                  <a16:creationId xmlns:a16="http://schemas.microsoft.com/office/drawing/2014/main" id="{C2D2C340-6402-44D0-A7C9-DB5D244EAB6E}"/>
                </a:ext>
              </a:extLst>
            </p:cNvPr>
            <p:cNvSpPr txBox="1"/>
            <p:nvPr/>
          </p:nvSpPr>
          <p:spPr>
            <a:xfrm>
              <a:off x="4224" y="1296"/>
              <a:ext cx="250" cy="215"/>
            </a:xfrm>
            <a:prstGeom prst="rect">
              <a:avLst/>
            </a:prstGeom>
            <a:solidFill>
              <a:schemeClr val="bg1"/>
            </a:solidFill>
            <a:ln w="9525" cap="flat" cmpd="sng">
              <a:solidFill>
                <a:schemeClr val="accent2"/>
              </a:solidFill>
              <a:prstDash val="solid"/>
              <a:miter/>
              <a:headEnd type="none" w="med" len="med"/>
              <a:tailEnd type="none" w="med" len="med"/>
            </a:ln>
          </p:spPr>
          <p:txBody>
            <a:bodyPr lIns="90000" tIns="46800" rIns="90000" bIns="46800" anchor="t" anchorCtr="0">
              <a:spAutoFit/>
            </a:bodyPr>
            <a:lstStyle/>
            <a:p>
              <a:pPr eaLnBrk="0" hangingPunct="0"/>
              <a:r>
                <a:rPr lang="en-US" altLang="zh-CN" sz="2400" b="1" dirty="0">
                  <a:latin typeface="Times New Roman" panose="02020603050405020304" pitchFamily="18" charset="0"/>
                </a:rPr>
                <a:t>j</a:t>
              </a:r>
            </a:p>
          </p:txBody>
        </p:sp>
      </p:gr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p:cNvSpPr>
            <a:spLocks noGrp="1"/>
          </p:cNvSpPr>
          <p:nvPr>
            <p:ph type="body" idx="4294967295"/>
          </p:nvPr>
        </p:nvSpPr>
        <p:spPr>
          <a:xfrm>
            <a:off x="506413" y="1136650"/>
            <a:ext cx="8229600" cy="2963863"/>
          </a:xfrm>
          <a:ln/>
        </p:spPr>
        <p:txBody>
          <a:bodyPr vert="horz" wrap="square" lIns="91440" tIns="45720" rIns="91440" bIns="45720" anchor="t" anchorCtr="0"/>
          <a:lstStyle/>
          <a:p>
            <a:pPr algn="just" eaLnBrk="1" hangingPunct="1">
              <a:lnSpc>
                <a:spcPct val="150000"/>
              </a:lnSpc>
            </a:pPr>
            <a:r>
              <a:rPr lang="zh-CN" altLang="en-US" sz="2800" dirty="0"/>
              <a:t>（</a:t>
            </a:r>
            <a:r>
              <a:rPr lang="en-US" altLang="zh-CN" sz="2800" dirty="0"/>
              <a:t>A</a:t>
            </a:r>
            <a:r>
              <a:rPr lang="en-US" altLang="zh-CN" sz="2800" baseline="30000" dirty="0"/>
              <a:t>2</a:t>
            </a:r>
            <a:r>
              <a:rPr lang="en-US" altLang="zh-CN" sz="2800" dirty="0"/>
              <a:t>+3B）/(B+5A),</a:t>
            </a:r>
            <a:r>
              <a:rPr lang="zh-CN" altLang="en-US" sz="2800" dirty="0"/>
              <a:t>若</a:t>
            </a:r>
            <a:r>
              <a:rPr lang="en-US" altLang="zh-CN" sz="2800" dirty="0"/>
              <a:t>A,B</a:t>
            </a:r>
            <a:r>
              <a:rPr lang="zh-CN" altLang="en-US" sz="2800" dirty="0"/>
              <a:t>已赋值，</a:t>
            </a:r>
          </a:p>
          <a:p>
            <a:pPr algn="just" eaLnBrk="1" hangingPunct="1">
              <a:lnSpc>
                <a:spcPct val="150000"/>
              </a:lnSpc>
              <a:buNone/>
            </a:pPr>
            <a:r>
              <a:rPr lang="zh-CN" altLang="en-US" sz="2800" dirty="0">
                <a:latin typeface="华文宋体" panose="02010600040101010101" pitchFamily="2" charset="-122"/>
                <a:ea typeface="华文宋体" panose="02010600040101010101" pitchFamily="2" charset="-122"/>
              </a:rPr>
              <a:t>试画出该公式求值过程的前趋图。</a:t>
            </a:r>
          </a:p>
        </p:txBody>
      </p:sp>
      <p:sp>
        <p:nvSpPr>
          <p:cNvPr id="95234" name="Rectangle 3"/>
          <p:cNvSpPr/>
          <p:nvPr/>
        </p:nvSpPr>
        <p:spPr>
          <a:xfrm>
            <a:off x="1266825" y="268288"/>
            <a:ext cx="7096125" cy="579437"/>
          </a:xfrm>
          <a:prstGeom prst="rect">
            <a:avLst/>
          </a:prstGeom>
          <a:noFill/>
          <a:ln w="9525">
            <a:noFill/>
          </a:ln>
        </p:spPr>
        <p:txBody>
          <a:bodyPr anchor="t" anchorCtr="0">
            <a:spAutoFit/>
          </a:bodyPr>
          <a:lstStyle/>
          <a:p>
            <a:pPr eaLnBrk="0" hangingPunct="0"/>
            <a:r>
              <a:rPr lang="en-US" altLang="zh-CN" sz="3200" dirty="0">
                <a:latin typeface="Verdana" panose="020B0604030504040204" pitchFamily="34" charset="0"/>
              </a:rPr>
              <a:t>Example </a:t>
            </a:r>
            <a:r>
              <a:rPr lang="zh-CN" altLang="en-US" sz="3200" dirty="0">
                <a:latin typeface="Verdana" panose="020B0604030504040204" pitchFamily="34" charset="0"/>
              </a:rPr>
              <a:t>2</a:t>
            </a: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046663" y="3617913"/>
            <a:ext cx="3919537" cy="2895600"/>
            <a:chOff x="1104" y="768"/>
            <a:chExt cx="2304" cy="1824"/>
          </a:xfrm>
        </p:grpSpPr>
        <p:sp>
          <p:nvSpPr>
            <p:cNvPr id="96258" name="Oval 3"/>
            <p:cNvSpPr/>
            <p:nvPr/>
          </p:nvSpPr>
          <p:spPr>
            <a:xfrm>
              <a:off x="1104" y="768"/>
              <a:ext cx="384" cy="384"/>
            </a:xfrm>
            <a:prstGeom prst="ellipse">
              <a:avLst/>
            </a:prstGeom>
            <a:solidFill>
              <a:srgbClr val="FFCC00"/>
            </a:solidFill>
            <a:ln w="9525" cap="flat" cmpd="sng">
              <a:solidFill>
                <a:schemeClr val="tx1"/>
              </a:solidFill>
              <a:prstDash val="solid"/>
              <a:miter/>
              <a:headEnd type="none" w="med" len="med"/>
              <a:tailEnd type="none" w="med" len="med"/>
            </a:ln>
          </p:spPr>
          <p:txBody>
            <a:bodyPr wrap="none" lIns="90000" tIns="46800" rIns="90000" bIns="46800" anchor="ctr" anchorCtr="0"/>
            <a:lstStyle/>
            <a:p>
              <a:pPr algn="ctr" eaLnBrk="0" hangingPunct="0"/>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1</a:t>
              </a:r>
            </a:p>
          </p:txBody>
        </p:sp>
        <p:sp>
          <p:nvSpPr>
            <p:cNvPr id="96259" name="Oval 4"/>
            <p:cNvSpPr/>
            <p:nvPr/>
          </p:nvSpPr>
          <p:spPr>
            <a:xfrm>
              <a:off x="1584" y="1440"/>
              <a:ext cx="384" cy="384"/>
            </a:xfrm>
            <a:prstGeom prst="ellipse">
              <a:avLst/>
            </a:prstGeom>
            <a:solidFill>
              <a:srgbClr val="FFCC00"/>
            </a:solidFill>
            <a:ln w="9525" cap="flat" cmpd="sng">
              <a:solidFill>
                <a:schemeClr val="tx1"/>
              </a:solidFill>
              <a:prstDash val="solid"/>
              <a:miter/>
              <a:headEnd type="none" w="med" len="med"/>
              <a:tailEnd type="none" w="med" len="med"/>
            </a:ln>
          </p:spPr>
          <p:txBody>
            <a:bodyPr wrap="none" lIns="90000" tIns="46800" rIns="90000" bIns="46800" anchor="ctr" anchorCtr="0"/>
            <a:lstStyle/>
            <a:p>
              <a:pPr algn="ctr" eaLnBrk="0" hangingPunct="0"/>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4</a:t>
              </a:r>
            </a:p>
          </p:txBody>
        </p:sp>
        <p:sp>
          <p:nvSpPr>
            <p:cNvPr id="96260" name="Oval 5"/>
            <p:cNvSpPr/>
            <p:nvPr/>
          </p:nvSpPr>
          <p:spPr>
            <a:xfrm>
              <a:off x="2064" y="2208"/>
              <a:ext cx="384" cy="384"/>
            </a:xfrm>
            <a:prstGeom prst="ellipse">
              <a:avLst/>
            </a:prstGeom>
            <a:solidFill>
              <a:srgbClr val="FFCC00"/>
            </a:solidFill>
            <a:ln w="9525" cap="flat" cmpd="sng">
              <a:solidFill>
                <a:schemeClr val="tx1"/>
              </a:solidFill>
              <a:prstDash val="solid"/>
              <a:miter/>
              <a:headEnd type="none" w="med" len="med"/>
              <a:tailEnd type="none" w="med" len="med"/>
            </a:ln>
          </p:spPr>
          <p:txBody>
            <a:bodyPr wrap="none" lIns="90000" tIns="46800" rIns="90000" bIns="46800" anchor="ctr" anchorCtr="0"/>
            <a:lstStyle/>
            <a:p>
              <a:pPr algn="ctr" eaLnBrk="0" hangingPunct="0"/>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6</a:t>
              </a:r>
            </a:p>
          </p:txBody>
        </p:sp>
        <p:sp>
          <p:nvSpPr>
            <p:cNvPr id="96261" name="Oval 6"/>
            <p:cNvSpPr/>
            <p:nvPr/>
          </p:nvSpPr>
          <p:spPr>
            <a:xfrm>
              <a:off x="2592" y="1440"/>
              <a:ext cx="384" cy="384"/>
            </a:xfrm>
            <a:prstGeom prst="ellipse">
              <a:avLst/>
            </a:prstGeom>
            <a:solidFill>
              <a:srgbClr val="FFCC00"/>
            </a:solidFill>
            <a:ln w="9525" cap="flat" cmpd="sng">
              <a:solidFill>
                <a:schemeClr val="tx1"/>
              </a:solidFill>
              <a:prstDash val="solid"/>
              <a:miter/>
              <a:headEnd type="none" w="med" len="med"/>
              <a:tailEnd type="none" w="med" len="med"/>
            </a:ln>
          </p:spPr>
          <p:txBody>
            <a:bodyPr wrap="none" lIns="90000" tIns="46800" rIns="90000" bIns="46800" anchor="ctr" anchorCtr="0"/>
            <a:lstStyle/>
            <a:p>
              <a:pPr algn="ctr" eaLnBrk="0" hangingPunct="0"/>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5</a:t>
              </a:r>
            </a:p>
          </p:txBody>
        </p:sp>
        <p:sp>
          <p:nvSpPr>
            <p:cNvPr id="96262" name="Oval 7"/>
            <p:cNvSpPr/>
            <p:nvPr/>
          </p:nvSpPr>
          <p:spPr>
            <a:xfrm>
              <a:off x="3024" y="768"/>
              <a:ext cx="384" cy="384"/>
            </a:xfrm>
            <a:prstGeom prst="ellipse">
              <a:avLst/>
            </a:prstGeom>
            <a:solidFill>
              <a:srgbClr val="FFCC00"/>
            </a:solidFill>
            <a:ln w="9525" cap="flat" cmpd="sng">
              <a:solidFill>
                <a:schemeClr val="tx1"/>
              </a:solidFill>
              <a:prstDash val="solid"/>
              <a:miter/>
              <a:headEnd type="none" w="med" len="med"/>
              <a:tailEnd type="none" w="med" len="med"/>
            </a:ln>
          </p:spPr>
          <p:txBody>
            <a:bodyPr wrap="none" lIns="90000" tIns="46800" rIns="90000" bIns="46800" anchor="ctr" anchorCtr="0"/>
            <a:lstStyle/>
            <a:p>
              <a:pPr algn="ctr" eaLnBrk="0" hangingPunct="0"/>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3</a:t>
              </a:r>
            </a:p>
          </p:txBody>
        </p:sp>
        <p:sp>
          <p:nvSpPr>
            <p:cNvPr id="96263" name="Oval 8"/>
            <p:cNvSpPr/>
            <p:nvPr/>
          </p:nvSpPr>
          <p:spPr>
            <a:xfrm>
              <a:off x="2064" y="768"/>
              <a:ext cx="384" cy="384"/>
            </a:xfrm>
            <a:prstGeom prst="ellipse">
              <a:avLst/>
            </a:prstGeom>
            <a:solidFill>
              <a:srgbClr val="FFCC00"/>
            </a:solidFill>
            <a:ln w="9525" cap="flat" cmpd="sng">
              <a:solidFill>
                <a:schemeClr val="tx1"/>
              </a:solidFill>
              <a:prstDash val="solid"/>
              <a:miter/>
              <a:headEnd type="none" w="med" len="med"/>
              <a:tailEnd type="none" w="med" len="med"/>
            </a:ln>
          </p:spPr>
          <p:txBody>
            <a:bodyPr wrap="none" lIns="90000" tIns="46800" rIns="90000" bIns="46800" anchor="ctr" anchorCtr="0"/>
            <a:lstStyle/>
            <a:p>
              <a:pPr algn="ctr" eaLnBrk="0" hangingPunct="0"/>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2</a:t>
              </a:r>
            </a:p>
          </p:txBody>
        </p:sp>
        <p:sp>
          <p:nvSpPr>
            <p:cNvPr id="96264" name="Line 9"/>
            <p:cNvSpPr/>
            <p:nvPr/>
          </p:nvSpPr>
          <p:spPr>
            <a:xfrm>
              <a:off x="1344" y="1152"/>
              <a:ext cx="288" cy="336"/>
            </a:xfrm>
            <a:prstGeom prst="line">
              <a:avLst/>
            </a:prstGeom>
            <a:ln w="9525" cap="flat" cmpd="sng">
              <a:solidFill>
                <a:schemeClr val="tx1"/>
              </a:solidFill>
              <a:prstDash val="solid"/>
              <a:miter/>
              <a:headEnd type="none" w="med" len="med"/>
              <a:tailEnd type="triangle" w="med" len="med"/>
            </a:ln>
          </p:spPr>
        </p:sp>
        <p:sp>
          <p:nvSpPr>
            <p:cNvPr id="96265" name="Line 10"/>
            <p:cNvSpPr/>
            <p:nvPr/>
          </p:nvSpPr>
          <p:spPr>
            <a:xfrm flipH="1">
              <a:off x="1872" y="1152"/>
              <a:ext cx="288" cy="336"/>
            </a:xfrm>
            <a:prstGeom prst="line">
              <a:avLst/>
            </a:prstGeom>
            <a:ln w="9525" cap="flat" cmpd="sng">
              <a:solidFill>
                <a:schemeClr val="tx1"/>
              </a:solidFill>
              <a:prstDash val="solid"/>
              <a:miter/>
              <a:headEnd type="none" w="med" len="med"/>
              <a:tailEnd type="triangle" w="med" len="med"/>
            </a:ln>
          </p:spPr>
        </p:sp>
        <p:sp>
          <p:nvSpPr>
            <p:cNvPr id="96266" name="Line 11"/>
            <p:cNvSpPr/>
            <p:nvPr/>
          </p:nvSpPr>
          <p:spPr>
            <a:xfrm flipH="1">
              <a:off x="2880" y="1152"/>
              <a:ext cx="240" cy="336"/>
            </a:xfrm>
            <a:prstGeom prst="line">
              <a:avLst/>
            </a:prstGeom>
            <a:ln w="9525" cap="flat" cmpd="sng">
              <a:solidFill>
                <a:schemeClr val="tx1"/>
              </a:solidFill>
              <a:prstDash val="solid"/>
              <a:miter/>
              <a:headEnd type="none" w="med" len="med"/>
              <a:tailEnd type="triangle" w="med" len="med"/>
            </a:ln>
          </p:spPr>
        </p:sp>
        <p:sp>
          <p:nvSpPr>
            <p:cNvPr id="96267" name="Line 12"/>
            <p:cNvSpPr/>
            <p:nvPr/>
          </p:nvSpPr>
          <p:spPr>
            <a:xfrm>
              <a:off x="1824" y="1824"/>
              <a:ext cx="336" cy="432"/>
            </a:xfrm>
            <a:prstGeom prst="line">
              <a:avLst/>
            </a:prstGeom>
            <a:ln w="9525" cap="flat" cmpd="sng">
              <a:solidFill>
                <a:schemeClr val="tx1"/>
              </a:solidFill>
              <a:prstDash val="solid"/>
              <a:miter/>
              <a:headEnd type="none" w="med" len="med"/>
              <a:tailEnd type="triangle" w="med" len="med"/>
            </a:ln>
          </p:spPr>
        </p:sp>
        <p:sp>
          <p:nvSpPr>
            <p:cNvPr id="96268" name="Line 13"/>
            <p:cNvSpPr/>
            <p:nvPr/>
          </p:nvSpPr>
          <p:spPr>
            <a:xfrm flipH="1">
              <a:off x="2352" y="1824"/>
              <a:ext cx="336" cy="432"/>
            </a:xfrm>
            <a:prstGeom prst="line">
              <a:avLst/>
            </a:prstGeom>
            <a:ln w="9525" cap="flat" cmpd="sng">
              <a:solidFill>
                <a:schemeClr val="tx1"/>
              </a:solidFill>
              <a:prstDash val="solid"/>
              <a:miter/>
              <a:headEnd type="none" w="med" len="med"/>
              <a:tailEnd type="triangle" w="med" len="med"/>
            </a:ln>
          </p:spPr>
        </p:sp>
      </p:grpSp>
      <p:grpSp>
        <p:nvGrpSpPr>
          <p:cNvPr id="96269" name="Group 14"/>
          <p:cNvGrpSpPr/>
          <p:nvPr/>
        </p:nvGrpSpPr>
        <p:grpSpPr>
          <a:xfrm>
            <a:off x="336550" y="952500"/>
            <a:ext cx="5470525" cy="4213225"/>
            <a:chOff x="279" y="144"/>
            <a:chExt cx="3572" cy="2886"/>
          </a:xfrm>
        </p:grpSpPr>
        <p:sp>
          <p:nvSpPr>
            <p:cNvPr id="96270" name="Text Box 15"/>
            <p:cNvSpPr txBox="1"/>
            <p:nvPr/>
          </p:nvSpPr>
          <p:spPr>
            <a:xfrm>
              <a:off x="279" y="762"/>
              <a:ext cx="1062" cy="294"/>
            </a:xfrm>
            <a:prstGeom prst="rect">
              <a:avLst/>
            </a:prstGeom>
            <a:solidFill>
              <a:srgbClr val="99CCFF"/>
            </a:solidFill>
            <a:ln w="9525" cap="flat" cmpd="sng">
              <a:solidFill>
                <a:schemeClr val="tx1"/>
              </a:solidFill>
              <a:prstDash val="solid"/>
              <a:miter/>
              <a:headEnd type="none" w="med" len="med"/>
              <a:tailEnd type="none" w="med" len="med"/>
            </a:ln>
          </p:spPr>
          <p:txBody>
            <a:bodyPr wrap="none" lIns="90000" tIns="46800" rIns="90000" bIns="46800" anchor="t" anchorCtr="0">
              <a:spAutoFit/>
            </a:bodyPr>
            <a:lstStyle/>
            <a:p>
              <a:pPr eaLnBrk="0" hangingPunct="0"/>
              <a:r>
                <a:rPr lang="en-US" altLang="zh-CN" sz="2400" b="1" dirty="0">
                  <a:latin typeface="Times New Roman" panose="02020603050405020304" pitchFamily="18" charset="0"/>
                </a:rPr>
                <a:t>S1:x1=A*A</a:t>
              </a:r>
            </a:p>
          </p:txBody>
        </p:sp>
        <p:sp>
          <p:nvSpPr>
            <p:cNvPr id="96271" name="Text Box 16"/>
            <p:cNvSpPr txBox="1"/>
            <p:nvPr/>
          </p:nvSpPr>
          <p:spPr>
            <a:xfrm>
              <a:off x="1584" y="768"/>
              <a:ext cx="1008" cy="294"/>
            </a:xfrm>
            <a:prstGeom prst="rect">
              <a:avLst/>
            </a:prstGeom>
            <a:solidFill>
              <a:srgbClr val="99CCFF"/>
            </a:solidFill>
            <a:ln w="9525" cap="flat" cmpd="sng">
              <a:solidFill>
                <a:schemeClr val="tx1"/>
              </a:solidFill>
              <a:prstDash val="solid"/>
              <a:miter/>
              <a:headEnd type="none" w="med" len="med"/>
              <a:tailEnd type="none" w="med" len="med"/>
            </a:ln>
          </p:spPr>
          <p:txBody>
            <a:bodyPr wrap="none" lIns="90000" tIns="46800" rIns="90000" bIns="46800" anchor="t" anchorCtr="0">
              <a:spAutoFit/>
            </a:bodyPr>
            <a:lstStyle/>
            <a:p>
              <a:pPr eaLnBrk="0" hangingPunct="0"/>
              <a:r>
                <a:rPr lang="en-US" altLang="zh-CN" sz="2400" b="1" dirty="0">
                  <a:latin typeface="Times New Roman" panose="02020603050405020304" pitchFamily="18" charset="0"/>
                </a:rPr>
                <a:t>S2:x2=3*B</a:t>
              </a:r>
            </a:p>
          </p:txBody>
        </p:sp>
        <p:sp>
          <p:nvSpPr>
            <p:cNvPr id="96272" name="Text Box 17"/>
            <p:cNvSpPr txBox="1"/>
            <p:nvPr/>
          </p:nvSpPr>
          <p:spPr>
            <a:xfrm>
              <a:off x="2832" y="768"/>
              <a:ext cx="1019" cy="294"/>
            </a:xfrm>
            <a:prstGeom prst="rect">
              <a:avLst/>
            </a:prstGeom>
            <a:solidFill>
              <a:srgbClr val="99CCFF"/>
            </a:solidFill>
            <a:ln w="9525" cap="flat" cmpd="sng">
              <a:solidFill>
                <a:schemeClr val="tx1"/>
              </a:solidFill>
              <a:prstDash val="solid"/>
              <a:miter/>
              <a:headEnd type="none" w="med" len="med"/>
              <a:tailEnd type="none" w="med" len="med"/>
            </a:ln>
          </p:spPr>
          <p:txBody>
            <a:bodyPr wrap="none" lIns="90000" tIns="46800" rIns="90000" bIns="46800" anchor="t" anchorCtr="0">
              <a:spAutoFit/>
            </a:bodyPr>
            <a:lstStyle/>
            <a:p>
              <a:pPr eaLnBrk="0" hangingPunct="0"/>
              <a:r>
                <a:rPr lang="en-US" altLang="zh-CN" sz="2400" b="1" dirty="0">
                  <a:latin typeface="Times New Roman" panose="02020603050405020304" pitchFamily="18" charset="0"/>
                </a:rPr>
                <a:t>S3:x3=5*A</a:t>
              </a:r>
            </a:p>
          </p:txBody>
        </p:sp>
        <p:sp>
          <p:nvSpPr>
            <p:cNvPr id="96273" name="Text Box 18"/>
            <p:cNvSpPr txBox="1"/>
            <p:nvPr/>
          </p:nvSpPr>
          <p:spPr>
            <a:xfrm>
              <a:off x="768" y="1488"/>
              <a:ext cx="1181" cy="294"/>
            </a:xfrm>
            <a:prstGeom prst="rect">
              <a:avLst/>
            </a:prstGeom>
            <a:solidFill>
              <a:srgbClr val="99CCFF"/>
            </a:solidFill>
            <a:ln w="9525" cap="flat" cmpd="sng">
              <a:solidFill>
                <a:schemeClr val="tx1"/>
              </a:solidFill>
              <a:prstDash val="solid"/>
              <a:miter/>
              <a:headEnd type="none" w="med" len="med"/>
              <a:tailEnd type="none" w="med" len="med"/>
            </a:ln>
          </p:spPr>
          <p:txBody>
            <a:bodyPr wrap="none" lIns="90000" tIns="46800" rIns="90000" bIns="46800" anchor="t" anchorCtr="0">
              <a:spAutoFit/>
            </a:bodyPr>
            <a:lstStyle/>
            <a:p>
              <a:pPr eaLnBrk="0" hangingPunct="0"/>
              <a:r>
                <a:rPr lang="en-US" altLang="zh-CN" sz="2400" b="1" dirty="0">
                  <a:latin typeface="Times New Roman" panose="02020603050405020304" pitchFamily="18" charset="0"/>
                </a:rPr>
                <a:t>S4:x4=x1+x2</a:t>
              </a:r>
            </a:p>
          </p:txBody>
        </p:sp>
        <p:sp>
          <p:nvSpPr>
            <p:cNvPr id="96274" name="Text Box 19"/>
            <p:cNvSpPr txBox="1"/>
            <p:nvPr/>
          </p:nvSpPr>
          <p:spPr>
            <a:xfrm>
              <a:off x="2400" y="1488"/>
              <a:ext cx="1117" cy="294"/>
            </a:xfrm>
            <a:prstGeom prst="rect">
              <a:avLst/>
            </a:prstGeom>
            <a:solidFill>
              <a:srgbClr val="99CCFF"/>
            </a:solidFill>
            <a:ln w="9525" cap="flat" cmpd="sng">
              <a:solidFill>
                <a:schemeClr val="tx1"/>
              </a:solidFill>
              <a:prstDash val="solid"/>
              <a:miter/>
              <a:headEnd type="none" w="med" len="med"/>
              <a:tailEnd type="none" w="med" len="med"/>
            </a:ln>
          </p:spPr>
          <p:txBody>
            <a:bodyPr wrap="none" lIns="90000" tIns="46800" rIns="90000" bIns="46800" anchor="t" anchorCtr="0">
              <a:spAutoFit/>
            </a:bodyPr>
            <a:lstStyle/>
            <a:p>
              <a:pPr eaLnBrk="0" hangingPunct="0"/>
              <a:r>
                <a:rPr lang="en-US" altLang="zh-CN" sz="2400" b="1" dirty="0">
                  <a:latin typeface="Times New Roman" panose="02020603050405020304" pitchFamily="18" charset="0"/>
                </a:rPr>
                <a:t>S5:x5=B+x3</a:t>
              </a:r>
            </a:p>
          </p:txBody>
        </p:sp>
        <p:sp>
          <p:nvSpPr>
            <p:cNvPr id="96275" name="Text Box 20"/>
            <p:cNvSpPr txBox="1"/>
            <p:nvPr/>
          </p:nvSpPr>
          <p:spPr>
            <a:xfrm>
              <a:off x="1536" y="2208"/>
              <a:ext cx="1125" cy="294"/>
            </a:xfrm>
            <a:prstGeom prst="rect">
              <a:avLst/>
            </a:prstGeom>
            <a:solidFill>
              <a:srgbClr val="99CCFF"/>
            </a:solidFill>
            <a:ln w="9525" cap="flat" cmpd="sng">
              <a:solidFill>
                <a:schemeClr val="tx1"/>
              </a:solidFill>
              <a:prstDash val="solid"/>
              <a:miter/>
              <a:headEnd type="none" w="med" len="med"/>
              <a:tailEnd type="none" w="med" len="med"/>
            </a:ln>
          </p:spPr>
          <p:txBody>
            <a:bodyPr wrap="none" lIns="90000" tIns="46800" rIns="90000" bIns="46800" anchor="t" anchorCtr="0">
              <a:spAutoFit/>
            </a:bodyPr>
            <a:lstStyle/>
            <a:p>
              <a:pPr eaLnBrk="0" hangingPunct="0"/>
              <a:r>
                <a:rPr lang="en-US" altLang="zh-CN" sz="2400" b="1" dirty="0">
                  <a:latin typeface="Times New Roman" panose="02020603050405020304" pitchFamily="18" charset="0"/>
                </a:rPr>
                <a:t>S6:x6=x4/x5</a:t>
              </a:r>
            </a:p>
          </p:txBody>
        </p:sp>
        <p:sp>
          <p:nvSpPr>
            <p:cNvPr id="96276" name="Line 21"/>
            <p:cNvSpPr/>
            <p:nvPr/>
          </p:nvSpPr>
          <p:spPr>
            <a:xfrm>
              <a:off x="864" y="1056"/>
              <a:ext cx="432" cy="432"/>
            </a:xfrm>
            <a:prstGeom prst="line">
              <a:avLst/>
            </a:prstGeom>
            <a:ln w="9525" cap="flat" cmpd="sng">
              <a:solidFill>
                <a:schemeClr val="tx1"/>
              </a:solidFill>
              <a:prstDash val="solid"/>
              <a:miter/>
              <a:headEnd type="none" w="med" len="med"/>
              <a:tailEnd type="triangle" w="med" len="med"/>
            </a:ln>
          </p:spPr>
        </p:sp>
        <p:sp>
          <p:nvSpPr>
            <p:cNvPr id="96277" name="Line 22"/>
            <p:cNvSpPr/>
            <p:nvPr/>
          </p:nvSpPr>
          <p:spPr>
            <a:xfrm flipH="1">
              <a:off x="1728" y="1104"/>
              <a:ext cx="384" cy="384"/>
            </a:xfrm>
            <a:prstGeom prst="line">
              <a:avLst/>
            </a:prstGeom>
            <a:ln w="9525" cap="flat" cmpd="sng">
              <a:solidFill>
                <a:schemeClr val="tx1"/>
              </a:solidFill>
              <a:prstDash val="solid"/>
              <a:miter/>
              <a:headEnd type="none" w="med" len="med"/>
              <a:tailEnd type="triangle" w="med" len="med"/>
            </a:ln>
          </p:spPr>
        </p:sp>
        <p:sp>
          <p:nvSpPr>
            <p:cNvPr id="96278" name="Line 23"/>
            <p:cNvSpPr/>
            <p:nvPr/>
          </p:nvSpPr>
          <p:spPr>
            <a:xfrm flipH="1">
              <a:off x="2880" y="1104"/>
              <a:ext cx="288" cy="384"/>
            </a:xfrm>
            <a:prstGeom prst="line">
              <a:avLst/>
            </a:prstGeom>
            <a:ln w="9525" cap="flat" cmpd="sng">
              <a:solidFill>
                <a:schemeClr val="tx1"/>
              </a:solidFill>
              <a:prstDash val="solid"/>
              <a:miter/>
              <a:headEnd type="none" w="med" len="med"/>
              <a:tailEnd type="triangle" w="med" len="med"/>
            </a:ln>
          </p:spPr>
        </p:sp>
        <p:sp>
          <p:nvSpPr>
            <p:cNvPr id="96279" name="Freeform 24"/>
            <p:cNvSpPr/>
            <p:nvPr/>
          </p:nvSpPr>
          <p:spPr>
            <a:xfrm>
              <a:off x="1456" y="1791"/>
              <a:ext cx="534" cy="398"/>
            </a:xfrm>
            <a:custGeom>
              <a:avLst/>
              <a:gdLst/>
              <a:ahLst/>
              <a:cxnLst>
                <a:cxn ang="0">
                  <a:pos x="0" y="0"/>
                </a:cxn>
                <a:cxn ang="0">
                  <a:pos x="534" y="398"/>
                </a:cxn>
              </a:cxnLst>
              <a:rect l="0" t="0" r="0" b="0"/>
              <a:pathLst>
                <a:path w="534" h="398">
                  <a:moveTo>
                    <a:pt x="0" y="0"/>
                  </a:moveTo>
                  <a:lnTo>
                    <a:pt x="534" y="398"/>
                  </a:lnTo>
                </a:path>
              </a:pathLst>
            </a:custGeom>
            <a:solidFill>
              <a:srgbClr val="99CCFF"/>
            </a:solidFill>
            <a:ln w="9525" cap="flat" cmpd="sng">
              <a:solidFill>
                <a:schemeClr val="tx1"/>
              </a:solidFill>
              <a:prstDash val="solid"/>
              <a:miter/>
              <a:headEnd type="none" w="med" len="med"/>
              <a:tailEnd type="triangle" w="med" len="med"/>
            </a:ln>
          </p:spPr>
          <p:txBody>
            <a:bodyPr/>
            <a:lstStyle/>
            <a:p>
              <a:endParaRPr lang="zh-CN" altLang="en-US"/>
            </a:p>
          </p:txBody>
        </p:sp>
        <p:sp>
          <p:nvSpPr>
            <p:cNvPr id="96280" name="Freeform 25"/>
            <p:cNvSpPr/>
            <p:nvPr/>
          </p:nvSpPr>
          <p:spPr>
            <a:xfrm>
              <a:off x="2157" y="1780"/>
              <a:ext cx="765" cy="440"/>
            </a:xfrm>
            <a:custGeom>
              <a:avLst/>
              <a:gdLst/>
              <a:ahLst/>
              <a:cxnLst>
                <a:cxn ang="0">
                  <a:pos x="765" y="0"/>
                </a:cxn>
                <a:cxn ang="0">
                  <a:pos x="0" y="440"/>
                </a:cxn>
              </a:cxnLst>
              <a:rect l="0" t="0" r="0" b="0"/>
              <a:pathLst>
                <a:path w="765" h="440">
                  <a:moveTo>
                    <a:pt x="765" y="0"/>
                  </a:moveTo>
                  <a:lnTo>
                    <a:pt x="0" y="440"/>
                  </a:lnTo>
                </a:path>
              </a:pathLst>
            </a:custGeom>
            <a:solidFill>
              <a:srgbClr val="99CCFF"/>
            </a:solidFill>
            <a:ln w="9525" cap="flat" cmpd="sng">
              <a:solidFill>
                <a:schemeClr val="tx1"/>
              </a:solidFill>
              <a:prstDash val="solid"/>
              <a:miter/>
              <a:headEnd type="none" w="med" len="med"/>
              <a:tailEnd type="triangle" w="med" len="med"/>
            </a:ln>
          </p:spPr>
          <p:txBody>
            <a:bodyPr/>
            <a:lstStyle/>
            <a:p>
              <a:endParaRPr lang="zh-CN" altLang="en-US"/>
            </a:p>
          </p:txBody>
        </p:sp>
        <p:sp>
          <p:nvSpPr>
            <p:cNvPr id="96281" name="Text Box 26"/>
            <p:cNvSpPr txBox="1"/>
            <p:nvPr/>
          </p:nvSpPr>
          <p:spPr>
            <a:xfrm>
              <a:off x="1632" y="144"/>
              <a:ext cx="504" cy="294"/>
            </a:xfrm>
            <a:prstGeom prst="rect">
              <a:avLst/>
            </a:prstGeom>
            <a:solidFill>
              <a:srgbClr val="99CCFF"/>
            </a:solidFill>
            <a:ln w="9525" cap="flat" cmpd="sng">
              <a:solidFill>
                <a:schemeClr val="tx1"/>
              </a:solidFill>
              <a:prstDash val="solid"/>
              <a:miter/>
              <a:headEnd type="none" w="med" len="med"/>
              <a:tailEnd type="none" w="med" len="med"/>
            </a:ln>
          </p:spPr>
          <p:txBody>
            <a:bodyPr wrap="none" lIns="90000" tIns="46800" rIns="90000" bIns="46800" anchor="t" anchorCtr="0">
              <a:spAutoFit/>
            </a:bodyPr>
            <a:lstStyle/>
            <a:p>
              <a:pPr eaLnBrk="0" hangingPunct="0"/>
              <a:r>
                <a:rPr lang="zh-CN" altLang="en-US" sz="2400" b="1" dirty="0">
                  <a:latin typeface="Times New Roman" panose="02020603050405020304" pitchFamily="18" charset="0"/>
                </a:rPr>
                <a:t>开始</a:t>
              </a:r>
            </a:p>
          </p:txBody>
        </p:sp>
        <p:sp>
          <p:nvSpPr>
            <p:cNvPr id="96282" name="Line 27"/>
            <p:cNvSpPr/>
            <p:nvPr/>
          </p:nvSpPr>
          <p:spPr>
            <a:xfrm flipH="1">
              <a:off x="816" y="480"/>
              <a:ext cx="864" cy="240"/>
            </a:xfrm>
            <a:prstGeom prst="line">
              <a:avLst/>
            </a:prstGeom>
            <a:ln w="9525" cap="flat" cmpd="sng">
              <a:solidFill>
                <a:schemeClr val="tx1"/>
              </a:solidFill>
              <a:prstDash val="solid"/>
              <a:miter/>
              <a:headEnd type="none" w="med" len="med"/>
              <a:tailEnd type="triangle" w="med" len="med"/>
            </a:ln>
          </p:spPr>
        </p:sp>
        <p:sp>
          <p:nvSpPr>
            <p:cNvPr id="96283" name="Line 28"/>
            <p:cNvSpPr/>
            <p:nvPr/>
          </p:nvSpPr>
          <p:spPr>
            <a:xfrm>
              <a:off x="1872" y="480"/>
              <a:ext cx="0" cy="144"/>
            </a:xfrm>
            <a:prstGeom prst="line">
              <a:avLst/>
            </a:prstGeom>
            <a:ln w="9525" cap="flat" cmpd="sng">
              <a:solidFill>
                <a:schemeClr val="tx1"/>
              </a:solidFill>
              <a:prstDash val="solid"/>
              <a:miter/>
              <a:headEnd type="none" w="med" len="med"/>
              <a:tailEnd type="triangle" w="med" len="med"/>
            </a:ln>
          </p:spPr>
        </p:sp>
        <p:sp>
          <p:nvSpPr>
            <p:cNvPr id="96284" name="Line 29"/>
            <p:cNvSpPr/>
            <p:nvPr/>
          </p:nvSpPr>
          <p:spPr>
            <a:xfrm>
              <a:off x="2064" y="480"/>
              <a:ext cx="1056" cy="240"/>
            </a:xfrm>
            <a:prstGeom prst="line">
              <a:avLst/>
            </a:prstGeom>
            <a:ln w="9525" cap="flat" cmpd="sng">
              <a:solidFill>
                <a:schemeClr val="tx1"/>
              </a:solidFill>
              <a:prstDash val="solid"/>
              <a:miter/>
              <a:headEnd type="none" w="med" len="med"/>
              <a:tailEnd type="triangle" w="med" len="med"/>
            </a:ln>
          </p:spPr>
        </p:sp>
        <p:sp>
          <p:nvSpPr>
            <p:cNvPr id="96285" name="Line 30"/>
            <p:cNvSpPr/>
            <p:nvPr/>
          </p:nvSpPr>
          <p:spPr>
            <a:xfrm>
              <a:off x="2064" y="2544"/>
              <a:ext cx="0" cy="192"/>
            </a:xfrm>
            <a:prstGeom prst="line">
              <a:avLst/>
            </a:prstGeom>
            <a:ln w="9525" cap="flat" cmpd="sng">
              <a:solidFill>
                <a:schemeClr val="tx1"/>
              </a:solidFill>
              <a:prstDash val="solid"/>
              <a:miter/>
              <a:headEnd type="none" w="med" len="med"/>
              <a:tailEnd type="triangle" w="med" len="med"/>
            </a:ln>
          </p:spPr>
        </p:sp>
        <p:sp>
          <p:nvSpPr>
            <p:cNvPr id="96286" name="Text Box 31"/>
            <p:cNvSpPr txBox="1"/>
            <p:nvPr/>
          </p:nvSpPr>
          <p:spPr>
            <a:xfrm>
              <a:off x="1848" y="2736"/>
              <a:ext cx="504" cy="294"/>
            </a:xfrm>
            <a:prstGeom prst="rect">
              <a:avLst/>
            </a:prstGeom>
            <a:solidFill>
              <a:srgbClr val="99CCFF"/>
            </a:solidFill>
            <a:ln w="9525" cap="flat" cmpd="sng">
              <a:solidFill>
                <a:schemeClr val="tx1"/>
              </a:solidFill>
              <a:prstDash val="solid"/>
              <a:miter/>
              <a:headEnd type="none" w="med" len="med"/>
              <a:tailEnd type="none" w="med" len="med"/>
            </a:ln>
          </p:spPr>
          <p:txBody>
            <a:bodyPr wrap="none" lIns="90000" tIns="46800" rIns="90000" bIns="46800" anchor="t" anchorCtr="0">
              <a:spAutoFit/>
            </a:bodyPr>
            <a:lstStyle/>
            <a:p>
              <a:pPr eaLnBrk="0" hangingPunct="0"/>
              <a:r>
                <a:rPr lang="zh-CN" altLang="en-US" sz="2400" b="1" dirty="0">
                  <a:latin typeface="Times New Roman" panose="02020603050405020304" pitchFamily="18" charset="0"/>
                </a:rPr>
                <a:t>结束</a:t>
              </a:r>
            </a:p>
          </p:txBody>
        </p:sp>
      </p:grpSp>
      <p:sp>
        <p:nvSpPr>
          <p:cNvPr id="96287" name="Rectangle 32"/>
          <p:cNvSpPr/>
          <p:nvPr/>
        </p:nvSpPr>
        <p:spPr>
          <a:xfrm>
            <a:off x="739775" y="5715000"/>
            <a:ext cx="4786313" cy="463846"/>
          </a:xfrm>
          <a:prstGeom prst="rect">
            <a:avLst/>
          </a:prstGeom>
          <a:noFill/>
          <a:ln w="9525">
            <a:noFill/>
          </a:ln>
        </p:spPr>
        <p:txBody>
          <a:bodyPr lIns="90000" tIns="46800" rIns="90000" bIns="46800" anchor="t" anchorCtr="0">
            <a:spAutoFit/>
          </a:bodyPr>
          <a:lstStyle/>
          <a:p>
            <a:pPr eaLnBrk="0" hangingPunct="0"/>
            <a:r>
              <a:rPr lang="zh-CN" altLang="en-US" sz="2400" dirty="0">
                <a:latin typeface="Verdana" panose="020B0604030504040204" pitchFamily="34" charset="0"/>
                <a:ea typeface="宋体" panose="02010600030101010101" pitchFamily="2" charset="-122"/>
              </a:rPr>
              <a:t>（</a:t>
            </a:r>
            <a:r>
              <a:rPr lang="en-US" altLang="zh-CN" sz="2400" dirty="0">
                <a:latin typeface="Verdana" panose="020B0604030504040204" pitchFamily="34" charset="0"/>
                <a:ea typeface="宋体" panose="02010600030101010101" pitchFamily="2" charset="-122"/>
              </a:rPr>
              <a:t>A</a:t>
            </a:r>
            <a:r>
              <a:rPr lang="en-US" altLang="zh-CN" sz="2400" baseline="30000" dirty="0">
                <a:latin typeface="Verdana" panose="020B0604030504040204" pitchFamily="34" charset="0"/>
                <a:ea typeface="宋体" panose="02010600030101010101" pitchFamily="2" charset="-122"/>
              </a:rPr>
              <a:t>2</a:t>
            </a:r>
            <a:r>
              <a:rPr lang="en-US" altLang="zh-CN" sz="2400" dirty="0">
                <a:latin typeface="Verdana" panose="020B0604030504040204" pitchFamily="34" charset="0"/>
                <a:ea typeface="宋体" panose="02010600030101010101" pitchFamily="2" charset="-122"/>
              </a:rPr>
              <a:t>+3B）/(B+5A)</a:t>
            </a:r>
            <a:endParaRPr lang="en-US" altLang="zh-CN" sz="2400" b="1" dirty="0">
              <a:latin typeface="Times New Roman" panose="02020603050405020304" pitchFamily="18" charset="0"/>
              <a:ea typeface="隶书" panose="020105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p:cNvSpPr>
          <p:nvPr>
            <p:ph type="title"/>
          </p:nvPr>
        </p:nvSpPr>
        <p:spPr>
          <a:ln/>
        </p:spPr>
        <p:txBody>
          <a:bodyPr vert="horz" wrap="square" lIns="91440" tIns="45720" rIns="91440" bIns="45720" anchor="b" anchorCtr="0"/>
          <a:lstStyle/>
          <a:p>
            <a:br>
              <a:rPr lang="zh-CN" altLang="en-US" dirty="0"/>
            </a:br>
            <a:br>
              <a:rPr lang="zh-CN" altLang="en-US" dirty="0"/>
            </a:br>
            <a:r>
              <a:rPr lang="en-US" altLang="zh-CN" dirty="0"/>
              <a:t>Chapter 6: Process Synchronization</a:t>
            </a:r>
          </a:p>
        </p:txBody>
      </p:sp>
      <p:sp>
        <p:nvSpPr>
          <p:cNvPr id="9218" name="Rectangle 3"/>
          <p:cNvSpPr>
            <a:spLocks noGrp="1"/>
          </p:cNvSpPr>
          <p:nvPr>
            <p:ph idx="1"/>
          </p:nvPr>
        </p:nvSpPr>
        <p:spPr>
          <a:ln/>
        </p:spPr>
        <p:txBody>
          <a:bodyPr vert="horz" wrap="square" lIns="91440" tIns="45720" rIns="91440" bIns="45720" anchor="t" anchorCtr="0"/>
          <a:lstStyle/>
          <a:p>
            <a:r>
              <a:rPr lang="en-US" altLang="zh-CN" sz="2400" dirty="0"/>
              <a:t>Background</a:t>
            </a:r>
          </a:p>
          <a:p>
            <a:r>
              <a:rPr lang="en-US" altLang="zh-CN" sz="2400" dirty="0"/>
              <a:t>The Critical-Section Problem</a:t>
            </a:r>
          </a:p>
          <a:p>
            <a:r>
              <a:rPr lang="en-US" altLang="zh-CN" sz="2400" dirty="0"/>
              <a:t>Peterson’s Solution</a:t>
            </a:r>
          </a:p>
          <a:p>
            <a:r>
              <a:rPr lang="en-US" altLang="zh-CN" sz="2400" dirty="0"/>
              <a:t>Synchronization Hardware</a:t>
            </a:r>
          </a:p>
          <a:p>
            <a:r>
              <a:rPr lang="en-US" altLang="zh-CN" sz="2400" dirty="0"/>
              <a:t>Semaphores</a:t>
            </a:r>
          </a:p>
          <a:p>
            <a:r>
              <a:rPr lang="en-US" altLang="zh-CN" sz="2400" dirty="0">
                <a:solidFill>
                  <a:srgbClr val="C00000"/>
                </a:solidFill>
              </a:rPr>
              <a:t>Classic Problems of Synchronization</a:t>
            </a:r>
          </a:p>
          <a:p>
            <a:r>
              <a:rPr lang="en-US" altLang="zh-CN" sz="2400" dirty="0"/>
              <a:t>Monitors</a:t>
            </a:r>
          </a:p>
          <a:p>
            <a:r>
              <a:rPr lang="en-US" altLang="zh-CN" sz="2400" dirty="0"/>
              <a:t>Synchronization Examples </a:t>
            </a:r>
          </a:p>
          <a:p>
            <a:r>
              <a:rPr lang="en-US" altLang="zh-CN" sz="2400" dirty="0"/>
              <a:t>Atomic Transactions</a:t>
            </a:r>
          </a:p>
          <a:p>
            <a:pPr>
              <a:buNone/>
            </a:pPr>
            <a:endParaRPr lang="zh-CN" altLang="en-US" sz="2400" dirty="0"/>
          </a:p>
        </p:txBody>
      </p:sp>
    </p:spTree>
    <p:extLst>
      <p:ext uri="{BB962C8B-B14F-4D97-AF65-F5344CB8AC3E}">
        <p14:creationId xmlns:p14="http://schemas.microsoft.com/office/powerpoint/2010/main" val="726732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p:cNvSpPr>
            <a:spLocks noGrp="1"/>
          </p:cNvSpPr>
          <p:nvPr>
            <p:ph type="title"/>
          </p:nvPr>
        </p:nvSpPr>
        <p:spPr>
          <a:xfrm>
            <a:off x="914400" y="228600"/>
            <a:ext cx="8077200" cy="609600"/>
          </a:xfrm>
          <a:ln/>
        </p:spPr>
        <p:txBody>
          <a:bodyPr vert="horz" wrap="square" lIns="91440" tIns="45720" rIns="91440" bIns="45720" anchor="b" anchorCtr="0"/>
          <a:lstStyle/>
          <a:p>
            <a:r>
              <a:rPr lang="en-US" altLang="zh-CN" dirty="0">
                <a:ea typeface="宋体" panose="02010600030101010101" pitchFamily="2" charset="-122"/>
              </a:rPr>
              <a:t>Classical Problems of Synchronization</a:t>
            </a:r>
          </a:p>
        </p:txBody>
      </p:sp>
      <p:sp>
        <p:nvSpPr>
          <p:cNvPr id="97282" name="Rectangle 3"/>
          <p:cNvSpPr>
            <a:spLocks noGrp="1"/>
          </p:cNvSpPr>
          <p:nvPr>
            <p:ph idx="1"/>
          </p:nvPr>
        </p:nvSpPr>
        <p:spPr>
          <a:ln/>
        </p:spPr>
        <p:txBody>
          <a:bodyPr vert="horz" wrap="square" lIns="91440" tIns="45720" rIns="91440" bIns="45720" anchor="t" anchorCtr="0"/>
          <a:lstStyle/>
          <a:p>
            <a:r>
              <a:rPr lang="en-US" altLang="zh-CN" sz="2400" dirty="0">
                <a:ea typeface="宋体" panose="02010600030101010101" pitchFamily="2" charset="-122"/>
              </a:rPr>
              <a:t>Bounded-Buffer Problem</a:t>
            </a:r>
            <a:r>
              <a:rPr lang="zh-CN" altLang="en-US" sz="2400" dirty="0">
                <a:ea typeface="宋体" panose="02010600030101010101" pitchFamily="2" charset="-122"/>
              </a:rPr>
              <a:t>（有界缓冲问题）</a:t>
            </a:r>
            <a:endParaRPr lang="en-US" altLang="zh-CN" sz="2400" dirty="0">
              <a:ea typeface="宋体" panose="02010600030101010101" pitchFamily="2" charset="-122"/>
            </a:endParaRPr>
          </a:p>
          <a:p>
            <a:r>
              <a:rPr lang="en-US" altLang="zh-CN" sz="2400" dirty="0">
                <a:ea typeface="宋体" panose="02010600030101010101" pitchFamily="2" charset="-122"/>
              </a:rPr>
              <a:t>Readers and Writers Problem</a:t>
            </a:r>
            <a:r>
              <a:rPr lang="zh-CN" altLang="en-US" sz="2400" dirty="0">
                <a:ea typeface="宋体" panose="02010600030101010101" pitchFamily="2" charset="-122"/>
              </a:rPr>
              <a:t>（读者</a:t>
            </a:r>
            <a:r>
              <a:rPr lang="en-US" altLang="zh-CN" sz="2400" dirty="0">
                <a:ea typeface="宋体" panose="02010600030101010101" pitchFamily="2" charset="-122"/>
              </a:rPr>
              <a:t>-</a:t>
            </a:r>
            <a:r>
              <a:rPr lang="zh-CN" altLang="en-US" sz="2400" dirty="0">
                <a:ea typeface="宋体" panose="02010600030101010101" pitchFamily="2" charset="-122"/>
              </a:rPr>
              <a:t>作者问题）</a:t>
            </a:r>
            <a:endParaRPr lang="en-US" altLang="zh-CN" sz="2400" dirty="0">
              <a:ea typeface="宋体" panose="02010600030101010101" pitchFamily="2" charset="-122"/>
            </a:endParaRPr>
          </a:p>
          <a:p>
            <a:r>
              <a:rPr lang="en-US" altLang="zh-CN" sz="2400" dirty="0">
                <a:ea typeface="宋体" panose="02010600030101010101" pitchFamily="2" charset="-122"/>
              </a:rPr>
              <a:t>Dining-Philosophers Problem</a:t>
            </a:r>
            <a:r>
              <a:rPr lang="zh-CN" altLang="en-US" sz="2400" dirty="0">
                <a:ea typeface="宋体" panose="02010600030101010101" pitchFamily="2" charset="-122"/>
              </a:rPr>
              <a:t>（哲学家就餐问题）</a:t>
            </a:r>
            <a:endParaRPr lang="en-US" altLang="zh-CN" sz="2400" dirty="0">
              <a:ea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p:cNvSpPr>
            <a:spLocks noGrp="1"/>
          </p:cNvSpPr>
          <p:nvPr>
            <p:ph type="title" idx="4294967295"/>
          </p:nvPr>
        </p:nvSpPr>
        <p:spPr>
          <a:xfrm>
            <a:off x="692150" y="390525"/>
            <a:ext cx="7912100" cy="546100"/>
          </a:xfrm>
          <a:ln/>
        </p:spPr>
        <p:txBody>
          <a:bodyPr vert="horz" wrap="square" lIns="0" tIns="0" rIns="0" bIns="0" anchor="t" anchorCtr="0"/>
          <a:lstStyle/>
          <a:p>
            <a:pPr eaLnBrk="1" hangingPunct="1"/>
            <a:r>
              <a:rPr lang="en-US" altLang="zh-CN" dirty="0">
                <a:ea typeface="宋体" panose="02010600030101010101" pitchFamily="2" charset="-122"/>
              </a:rPr>
              <a:t>Bounded-Buffer Problem</a:t>
            </a:r>
            <a:endParaRPr lang="zh-CN" altLang="en-US" dirty="0"/>
          </a:p>
        </p:txBody>
      </p:sp>
      <p:sp>
        <p:nvSpPr>
          <p:cNvPr id="99330" name="Rectangle 3"/>
          <p:cNvSpPr>
            <a:spLocks noGrp="1"/>
          </p:cNvSpPr>
          <p:nvPr>
            <p:ph type="body" idx="4294967295"/>
          </p:nvPr>
        </p:nvSpPr>
        <p:spPr>
          <a:xfrm>
            <a:off x="428625" y="4087813"/>
            <a:ext cx="8329613" cy="1416050"/>
          </a:xfrm>
          <a:ln/>
        </p:spPr>
        <p:txBody>
          <a:bodyPr vert="horz" wrap="square" lIns="0" tIns="0" rIns="0" bIns="0" anchor="t" anchorCtr="0"/>
          <a:lstStyle/>
          <a:p>
            <a:pPr eaLnBrk="1" hangingPunct="1"/>
            <a:r>
              <a:rPr lang="en-US" altLang="zh-CN" sz="2400" dirty="0"/>
              <a:t>Problem: </a:t>
            </a:r>
          </a:p>
          <a:p>
            <a:pPr marL="857250" lvl="1" eaLnBrk="1" hangingPunct="1"/>
            <a:r>
              <a:rPr lang="en-US" altLang="zh-CN" sz="2400" dirty="0"/>
              <a:t>producer puts things into a shared buffer</a:t>
            </a:r>
          </a:p>
          <a:p>
            <a:pPr marL="857250" lvl="1" eaLnBrk="1" hangingPunct="1"/>
            <a:r>
              <a:rPr lang="en-US" altLang="zh-CN" sz="2400" dirty="0"/>
              <a:t>Consumer takes them out</a:t>
            </a:r>
          </a:p>
          <a:p>
            <a:pPr marL="857250" lvl="1" eaLnBrk="1" hangingPunct="1"/>
            <a:r>
              <a:rPr lang="en-US" altLang="zh-CN" sz="2400" dirty="0"/>
              <a:t>Need synchronization for coordinating producer and consumer</a:t>
            </a:r>
          </a:p>
        </p:txBody>
      </p:sp>
      <p:pic>
        <p:nvPicPr>
          <p:cNvPr id="99331" name="Picture 17" descr="homepage_consumer_1"/>
          <p:cNvPicPr>
            <a:picLocks noChangeAspect="1"/>
          </p:cNvPicPr>
          <p:nvPr/>
        </p:nvPicPr>
        <p:blipFill>
          <a:blip r:embed="rId2"/>
          <a:stretch>
            <a:fillRect/>
          </a:stretch>
        </p:blipFill>
        <p:spPr>
          <a:xfrm>
            <a:off x="2273300" y="1206500"/>
            <a:ext cx="4524375" cy="2590800"/>
          </a:xfrm>
          <a:prstGeom prst="rect">
            <a:avLst/>
          </a:prstGeom>
          <a:noFill/>
          <a:ln w="9525">
            <a:noFill/>
          </a:ln>
        </p:spPr>
      </p:pic>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p:cNvSpPr>
            <a:spLocks noGrp="1"/>
          </p:cNvSpPr>
          <p:nvPr>
            <p:ph type="title" idx="4294967295"/>
          </p:nvPr>
        </p:nvSpPr>
        <p:spPr>
          <a:xfrm>
            <a:off x="1314450" y="290513"/>
            <a:ext cx="6870700" cy="635000"/>
          </a:xfrm>
          <a:ln/>
        </p:spPr>
        <p:txBody>
          <a:bodyPr vert="horz" wrap="square" lIns="0" tIns="0" rIns="0" bIns="0" anchor="t" anchorCtr="0"/>
          <a:lstStyle/>
          <a:p>
            <a:pPr eaLnBrk="1" hangingPunct="1"/>
            <a:r>
              <a:rPr lang="en-US" altLang="zh-CN" dirty="0">
                <a:ea typeface="宋体" panose="02010600030101010101" pitchFamily="2" charset="-122"/>
              </a:rPr>
              <a:t>Bounded-Buffer Problem</a:t>
            </a:r>
            <a:endParaRPr lang="zh-CN" altLang="en-US" dirty="0"/>
          </a:p>
        </p:txBody>
      </p:sp>
      <p:sp>
        <p:nvSpPr>
          <p:cNvPr id="100354" name="Rectangle 3"/>
          <p:cNvSpPr>
            <a:spLocks noGrp="1"/>
          </p:cNvSpPr>
          <p:nvPr>
            <p:ph type="body" idx="4294967295"/>
          </p:nvPr>
        </p:nvSpPr>
        <p:spPr>
          <a:xfrm>
            <a:off x="279400" y="1498600"/>
            <a:ext cx="5905500" cy="4102100"/>
          </a:xfrm>
          <a:ln/>
        </p:spPr>
        <p:txBody>
          <a:bodyPr vert="horz" wrap="square" lIns="0" tIns="0" rIns="0" bIns="0" anchor="t" anchorCtr="0"/>
          <a:lstStyle/>
          <a:p>
            <a:pPr eaLnBrk="1" hangingPunct="1"/>
            <a:r>
              <a:rPr lang="en-US" altLang="zh-CN" sz="2400" dirty="0"/>
              <a:t>Coke machine example:</a:t>
            </a:r>
          </a:p>
          <a:p>
            <a:pPr lvl="1" eaLnBrk="1" hangingPunct="1"/>
            <a:r>
              <a:rPr lang="en-US" altLang="zh-CN" sz="2400" dirty="0"/>
              <a:t>delivery person (producer) fills machine with cokes</a:t>
            </a:r>
          </a:p>
          <a:p>
            <a:pPr lvl="1" eaLnBrk="1" hangingPunct="1"/>
            <a:r>
              <a:rPr lang="en-US" altLang="zh-CN" sz="2400" dirty="0"/>
              <a:t>students (consumer) feed cokes and drink them</a:t>
            </a:r>
          </a:p>
          <a:p>
            <a:pPr lvl="1" eaLnBrk="1" hangingPunct="1"/>
            <a:r>
              <a:rPr lang="en-US" altLang="zh-CN" sz="2400" dirty="0"/>
              <a:t>coke machine has finite space (buffer)</a:t>
            </a:r>
          </a:p>
        </p:txBody>
      </p:sp>
      <p:pic>
        <p:nvPicPr>
          <p:cNvPr id="100355" name="Picture 4" descr="vending"/>
          <p:cNvPicPr>
            <a:picLocks noChangeAspect="1"/>
          </p:cNvPicPr>
          <p:nvPr/>
        </p:nvPicPr>
        <p:blipFill>
          <a:blip r:embed="rId2"/>
          <a:stretch>
            <a:fillRect/>
          </a:stretch>
        </p:blipFill>
        <p:spPr>
          <a:xfrm>
            <a:off x="6515100" y="1600200"/>
            <a:ext cx="2428875" cy="3881438"/>
          </a:xfrm>
          <a:prstGeom prst="rect">
            <a:avLst/>
          </a:prstGeom>
          <a:noFill/>
          <a:ln w="9525">
            <a:noFill/>
          </a:ln>
        </p:spPr>
      </p:pic>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p:cNvSpPr>
            <a:spLocks noGrp="1"/>
          </p:cNvSpPr>
          <p:nvPr>
            <p:ph type="title" idx="4294967295"/>
          </p:nvPr>
        </p:nvSpPr>
        <p:spPr>
          <a:ln/>
        </p:spPr>
        <p:txBody>
          <a:bodyPr vert="horz" wrap="square" lIns="91440" tIns="45720" rIns="91440" bIns="45720" anchor="b" anchorCtr="0"/>
          <a:lstStyle/>
          <a:p>
            <a:pPr eaLnBrk="1" hangingPunct="1"/>
            <a:r>
              <a:rPr lang="en-US" altLang="zh-CN" dirty="0">
                <a:ea typeface="宋体" panose="02010600030101010101" pitchFamily="2" charset="-122"/>
              </a:rPr>
              <a:t>Producer-Consumer Problem</a:t>
            </a:r>
          </a:p>
        </p:txBody>
      </p:sp>
      <p:sp>
        <p:nvSpPr>
          <p:cNvPr id="101378" name="Rectangle 3"/>
          <p:cNvSpPr>
            <a:spLocks noGrp="1"/>
          </p:cNvSpPr>
          <p:nvPr>
            <p:ph type="body" idx="4294967295"/>
          </p:nvPr>
        </p:nvSpPr>
        <p:spPr>
          <a:xfrm>
            <a:off x="455613" y="825500"/>
            <a:ext cx="8299450" cy="4530725"/>
          </a:xfrm>
          <a:ln/>
        </p:spPr>
        <p:txBody>
          <a:bodyPr vert="horz" wrap="square" lIns="91440" tIns="45720" rIns="91440" bIns="45720" anchor="t" anchorCtr="0"/>
          <a:lstStyle/>
          <a:p>
            <a:pPr eaLnBrk="1" hangingPunct="1">
              <a:spcAft>
                <a:spcPct val="10000"/>
              </a:spcAft>
            </a:pPr>
            <a:r>
              <a:rPr lang="en-US" altLang="zh-CN" sz="2400" dirty="0"/>
              <a:t>Bounded buffer: size ‘N’</a:t>
            </a:r>
          </a:p>
          <a:p>
            <a:pPr lvl="1" eaLnBrk="1" hangingPunct="1">
              <a:spcAft>
                <a:spcPct val="10000"/>
              </a:spcAft>
            </a:pPr>
            <a:r>
              <a:rPr lang="en-US" altLang="zh-CN" sz="2400" dirty="0"/>
              <a:t>Access entry 0… N-1, then “wrap around” to 0 again</a:t>
            </a:r>
          </a:p>
          <a:p>
            <a:pPr eaLnBrk="1" hangingPunct="1">
              <a:spcAft>
                <a:spcPct val="10000"/>
              </a:spcAft>
            </a:pPr>
            <a:r>
              <a:rPr lang="en-US" altLang="zh-CN" sz="2400" dirty="0"/>
              <a:t>Producer process writes data to buffer</a:t>
            </a:r>
          </a:p>
          <a:p>
            <a:pPr lvl="1" eaLnBrk="1" hangingPunct="1">
              <a:spcAft>
                <a:spcPct val="10000"/>
              </a:spcAft>
            </a:pPr>
            <a:r>
              <a:rPr lang="en-US" altLang="zh-CN" sz="2400" dirty="0"/>
              <a:t>Must not write more than ‘N’ items more than consumer “ate”</a:t>
            </a:r>
          </a:p>
          <a:p>
            <a:pPr eaLnBrk="1" hangingPunct="1">
              <a:spcAft>
                <a:spcPct val="10000"/>
              </a:spcAft>
            </a:pPr>
            <a:r>
              <a:rPr lang="en-US" altLang="zh-CN" sz="2400" dirty="0"/>
              <a:t>Consumer process reads data from buffer</a:t>
            </a:r>
          </a:p>
          <a:p>
            <a:pPr lvl="1" eaLnBrk="1" hangingPunct="1">
              <a:spcAft>
                <a:spcPct val="10000"/>
              </a:spcAft>
            </a:pPr>
            <a:r>
              <a:rPr lang="en-US" altLang="zh-CN" sz="2400" dirty="0"/>
              <a:t>Should not try to consume if there is no data</a:t>
            </a:r>
          </a:p>
        </p:txBody>
      </p:sp>
      <p:sp>
        <p:nvSpPr>
          <p:cNvPr id="101379" name="Rectangle 4"/>
          <p:cNvSpPr/>
          <p:nvPr/>
        </p:nvSpPr>
        <p:spPr>
          <a:xfrm>
            <a:off x="1219200" y="4586288"/>
            <a:ext cx="6096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en-US" altLang="zh-CN" sz="1800" dirty="0">
                <a:latin typeface="Verdana" panose="020B0604030504040204" pitchFamily="34" charset="0"/>
              </a:rPr>
              <a:t>0</a:t>
            </a:r>
          </a:p>
        </p:txBody>
      </p:sp>
      <p:sp>
        <p:nvSpPr>
          <p:cNvPr id="101380" name="Rectangle 5"/>
          <p:cNvSpPr/>
          <p:nvPr/>
        </p:nvSpPr>
        <p:spPr>
          <a:xfrm>
            <a:off x="1828800" y="4586288"/>
            <a:ext cx="6096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en-US" altLang="zh-CN" sz="1800" dirty="0">
                <a:latin typeface="Verdana" panose="020B0604030504040204" pitchFamily="34" charset="0"/>
              </a:rPr>
              <a:t>1</a:t>
            </a:r>
          </a:p>
        </p:txBody>
      </p:sp>
      <p:sp>
        <p:nvSpPr>
          <p:cNvPr id="101381" name="Rectangle 6"/>
          <p:cNvSpPr/>
          <p:nvPr/>
        </p:nvSpPr>
        <p:spPr>
          <a:xfrm>
            <a:off x="2438400" y="4586288"/>
            <a:ext cx="6096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eaLnBrk="0" hangingPunct="0"/>
            <a:endParaRPr lang="zh-CN" altLang="zh-CN" sz="1800" dirty="0">
              <a:latin typeface="Verdana" panose="020B0604030504040204" pitchFamily="34" charset="0"/>
            </a:endParaRPr>
          </a:p>
        </p:txBody>
      </p:sp>
      <p:sp>
        <p:nvSpPr>
          <p:cNvPr id="23559" name="Rectangle 7"/>
          <p:cNvSpPr/>
          <p:nvPr/>
        </p:nvSpPr>
        <p:spPr>
          <a:xfrm>
            <a:off x="3048000" y="4586288"/>
            <a:ext cx="609600" cy="533400"/>
          </a:xfrm>
          <a:prstGeom prst="rect">
            <a:avLst/>
          </a:prstGeom>
          <a:noFill/>
          <a:ln w="9525" cap="flat" cmpd="sng">
            <a:solidFill>
              <a:schemeClr val="tx1"/>
            </a:solidFill>
            <a:prstDash val="solid"/>
            <a:miter/>
            <a:headEnd type="none" w="med" len="med"/>
            <a:tailEnd type="none" w="med" len="med"/>
          </a:ln>
        </p:spPr>
        <p:txBody>
          <a:bodyPr wrap="none" anchor="ctr" anchorCtr="0"/>
          <a:lstStyle/>
          <a:p>
            <a:pPr eaLnBrk="0" hangingPunct="0"/>
            <a:endParaRPr lang="zh-CN" altLang="zh-CN" sz="1800" dirty="0">
              <a:latin typeface="Verdana" panose="020B0604030504040204" pitchFamily="34" charset="0"/>
            </a:endParaRPr>
          </a:p>
        </p:txBody>
      </p:sp>
      <p:sp>
        <p:nvSpPr>
          <p:cNvPr id="101383" name="Rectangle 8"/>
          <p:cNvSpPr/>
          <p:nvPr/>
        </p:nvSpPr>
        <p:spPr>
          <a:xfrm>
            <a:off x="3657600" y="4586288"/>
            <a:ext cx="609600" cy="533400"/>
          </a:xfrm>
          <a:prstGeom prst="rect">
            <a:avLst/>
          </a:prstGeom>
          <a:noFill/>
          <a:ln w="9525" cap="flat" cmpd="sng">
            <a:solidFill>
              <a:schemeClr val="tx1"/>
            </a:solidFill>
            <a:prstDash val="solid"/>
            <a:miter/>
            <a:headEnd type="none" w="med" len="med"/>
            <a:tailEnd type="none" w="med" len="med"/>
          </a:ln>
        </p:spPr>
        <p:txBody>
          <a:bodyPr wrap="none" anchor="ctr" anchorCtr="0"/>
          <a:lstStyle/>
          <a:p>
            <a:pPr eaLnBrk="0" hangingPunct="0"/>
            <a:endParaRPr lang="zh-CN" altLang="zh-CN" sz="1800" dirty="0">
              <a:latin typeface="Verdana" panose="020B0604030504040204" pitchFamily="34" charset="0"/>
            </a:endParaRPr>
          </a:p>
        </p:txBody>
      </p:sp>
      <p:sp>
        <p:nvSpPr>
          <p:cNvPr id="101384" name="Rectangle 9"/>
          <p:cNvSpPr/>
          <p:nvPr/>
        </p:nvSpPr>
        <p:spPr>
          <a:xfrm>
            <a:off x="4267200" y="4586288"/>
            <a:ext cx="609600" cy="533400"/>
          </a:xfrm>
          <a:prstGeom prst="rect">
            <a:avLst/>
          </a:prstGeom>
          <a:noFill/>
          <a:ln w="9525" cap="flat" cmpd="sng">
            <a:solidFill>
              <a:schemeClr val="tx1"/>
            </a:solidFill>
            <a:prstDash val="solid"/>
            <a:miter/>
            <a:headEnd type="none" w="med" len="med"/>
            <a:tailEnd type="none" w="med" len="med"/>
          </a:ln>
        </p:spPr>
        <p:txBody>
          <a:bodyPr wrap="none" anchor="ctr" anchorCtr="0"/>
          <a:lstStyle/>
          <a:p>
            <a:pPr eaLnBrk="0" hangingPunct="0"/>
            <a:endParaRPr lang="zh-CN" altLang="zh-CN" sz="1800" dirty="0">
              <a:latin typeface="Verdana" panose="020B0604030504040204" pitchFamily="34" charset="0"/>
            </a:endParaRPr>
          </a:p>
        </p:txBody>
      </p:sp>
      <p:sp>
        <p:nvSpPr>
          <p:cNvPr id="101385" name="Rectangle 10"/>
          <p:cNvSpPr/>
          <p:nvPr/>
        </p:nvSpPr>
        <p:spPr>
          <a:xfrm>
            <a:off x="4876800" y="4586288"/>
            <a:ext cx="609600" cy="533400"/>
          </a:xfrm>
          <a:prstGeom prst="rect">
            <a:avLst/>
          </a:prstGeom>
          <a:noFill/>
          <a:ln w="9525" cap="flat" cmpd="sng">
            <a:solidFill>
              <a:schemeClr val="tx1"/>
            </a:solidFill>
            <a:prstDash val="solid"/>
            <a:miter/>
            <a:headEnd type="none" w="med" len="med"/>
            <a:tailEnd type="none" w="med" len="med"/>
          </a:ln>
        </p:spPr>
        <p:txBody>
          <a:bodyPr wrap="none" anchor="ctr" anchorCtr="0"/>
          <a:lstStyle/>
          <a:p>
            <a:pPr eaLnBrk="0" hangingPunct="0"/>
            <a:endParaRPr lang="zh-CN" altLang="zh-CN" sz="1800" dirty="0">
              <a:latin typeface="Verdana" panose="020B0604030504040204" pitchFamily="34" charset="0"/>
            </a:endParaRPr>
          </a:p>
        </p:txBody>
      </p:sp>
      <p:sp>
        <p:nvSpPr>
          <p:cNvPr id="23563" name="Rectangle 11"/>
          <p:cNvSpPr/>
          <p:nvPr/>
        </p:nvSpPr>
        <p:spPr>
          <a:xfrm>
            <a:off x="5486400" y="4586288"/>
            <a:ext cx="6096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eaLnBrk="0" hangingPunct="0"/>
            <a:endParaRPr lang="zh-CN" altLang="zh-CN" sz="1800" dirty="0">
              <a:latin typeface="Verdana" panose="020B0604030504040204" pitchFamily="34" charset="0"/>
            </a:endParaRPr>
          </a:p>
        </p:txBody>
      </p:sp>
      <p:sp>
        <p:nvSpPr>
          <p:cNvPr id="101387" name="Rectangle 12"/>
          <p:cNvSpPr/>
          <p:nvPr/>
        </p:nvSpPr>
        <p:spPr>
          <a:xfrm>
            <a:off x="6096000" y="4586288"/>
            <a:ext cx="6096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eaLnBrk="0" hangingPunct="0"/>
            <a:endParaRPr lang="zh-CN" altLang="zh-CN" sz="1800" dirty="0">
              <a:latin typeface="Verdana" panose="020B0604030504040204" pitchFamily="34" charset="0"/>
            </a:endParaRPr>
          </a:p>
        </p:txBody>
      </p:sp>
      <p:sp>
        <p:nvSpPr>
          <p:cNvPr id="23565" name="Line 13"/>
          <p:cNvSpPr/>
          <p:nvPr/>
        </p:nvSpPr>
        <p:spPr>
          <a:xfrm flipV="1">
            <a:off x="5715000" y="5119688"/>
            <a:ext cx="0" cy="685800"/>
          </a:xfrm>
          <a:prstGeom prst="line">
            <a:avLst/>
          </a:prstGeom>
          <a:ln w="28575" cap="flat" cmpd="sng">
            <a:solidFill>
              <a:schemeClr val="tx1"/>
            </a:solidFill>
            <a:prstDash val="solid"/>
            <a:round/>
            <a:headEnd type="none" w="med" len="med"/>
            <a:tailEnd type="triangle" w="med" len="med"/>
          </a:ln>
        </p:spPr>
      </p:sp>
      <p:sp>
        <p:nvSpPr>
          <p:cNvPr id="23566" name="Line 14"/>
          <p:cNvSpPr/>
          <p:nvPr/>
        </p:nvSpPr>
        <p:spPr>
          <a:xfrm flipV="1">
            <a:off x="3352800" y="5119688"/>
            <a:ext cx="0" cy="685800"/>
          </a:xfrm>
          <a:prstGeom prst="line">
            <a:avLst/>
          </a:prstGeom>
          <a:ln w="28575" cap="flat" cmpd="sng">
            <a:solidFill>
              <a:schemeClr val="tx1"/>
            </a:solidFill>
            <a:prstDash val="solid"/>
            <a:round/>
            <a:headEnd type="none" w="med" len="med"/>
            <a:tailEnd type="triangle" w="med" len="med"/>
          </a:ln>
        </p:spPr>
      </p:sp>
      <p:sp>
        <p:nvSpPr>
          <p:cNvPr id="23567" name="Text Box 15"/>
          <p:cNvSpPr txBox="1"/>
          <p:nvPr/>
        </p:nvSpPr>
        <p:spPr>
          <a:xfrm>
            <a:off x="3124200" y="5867400"/>
            <a:ext cx="428625" cy="366713"/>
          </a:xfrm>
          <a:prstGeom prst="rect">
            <a:avLst/>
          </a:prstGeom>
          <a:noFill/>
          <a:ln w="9525">
            <a:noFill/>
          </a:ln>
        </p:spPr>
        <p:txBody>
          <a:bodyPr wrap="none" anchor="t" anchorCtr="0">
            <a:spAutoFit/>
          </a:bodyPr>
          <a:lstStyle/>
          <a:p>
            <a:pPr eaLnBrk="0" hangingPunct="0"/>
            <a:r>
              <a:rPr lang="en-US" altLang="zh-CN" sz="1800" dirty="0">
                <a:latin typeface="Comic Sans MS" panose="030F0702030302020204" pitchFamily="66" charset="0"/>
              </a:rPr>
              <a:t>In</a:t>
            </a:r>
          </a:p>
        </p:txBody>
      </p:sp>
      <p:sp>
        <p:nvSpPr>
          <p:cNvPr id="23568" name="Text Box 16"/>
          <p:cNvSpPr txBox="1"/>
          <p:nvPr/>
        </p:nvSpPr>
        <p:spPr>
          <a:xfrm>
            <a:off x="5562600" y="5881688"/>
            <a:ext cx="593725" cy="366712"/>
          </a:xfrm>
          <a:prstGeom prst="rect">
            <a:avLst/>
          </a:prstGeom>
          <a:noFill/>
          <a:ln w="9525">
            <a:noFill/>
          </a:ln>
        </p:spPr>
        <p:txBody>
          <a:bodyPr wrap="none" anchor="t" anchorCtr="0">
            <a:spAutoFit/>
          </a:bodyPr>
          <a:lstStyle/>
          <a:p>
            <a:pPr eaLnBrk="0" hangingPunct="0"/>
            <a:r>
              <a:rPr lang="en-US" altLang="zh-CN" sz="1800" dirty="0">
                <a:latin typeface="Comic Sans MS" panose="030F0702030302020204" pitchFamily="66" charset="0"/>
              </a:rPr>
              <a:t>Out</a:t>
            </a:r>
          </a:p>
        </p:txBody>
      </p:sp>
      <p:sp>
        <p:nvSpPr>
          <p:cNvPr id="101392" name="Rectangle 17"/>
          <p:cNvSpPr/>
          <p:nvPr/>
        </p:nvSpPr>
        <p:spPr>
          <a:xfrm>
            <a:off x="6705600" y="4586288"/>
            <a:ext cx="6096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en-US" altLang="zh-CN" sz="1800" dirty="0">
                <a:latin typeface="Verdana" panose="020B0604030504040204" pitchFamily="34" charset="0"/>
              </a:rPr>
              <a:t>N-1</a:t>
            </a:r>
          </a:p>
        </p:txBody>
      </p:sp>
      <p:sp>
        <p:nvSpPr>
          <p:cNvPr id="101393" name="Freeform 19"/>
          <p:cNvSpPr/>
          <p:nvPr/>
        </p:nvSpPr>
        <p:spPr>
          <a:xfrm>
            <a:off x="50800" y="4800600"/>
            <a:ext cx="8407400" cy="927100"/>
          </a:xfrm>
          <a:custGeom>
            <a:avLst/>
            <a:gdLst/>
            <a:ahLst/>
            <a:cxnLst>
              <a:cxn ang="0">
                <a:pos x="2147483647" y="2147483647"/>
              </a:cxn>
              <a:cxn ang="0">
                <a:pos x="2147483647" y="2147483647"/>
              </a:cxn>
              <a:cxn ang="0">
                <a:pos x="2147483647" y="2147483647"/>
              </a:cxn>
              <a:cxn ang="0">
                <a:pos x="2147483647" y="2147483647"/>
              </a:cxn>
              <a:cxn ang="0">
                <a:pos x="2147483647" y="0"/>
              </a:cxn>
            </a:cxnLst>
            <a:rect l="0" t="0" r="0" b="0"/>
            <a:pathLst>
              <a:path w="5296" h="584">
                <a:moveTo>
                  <a:pt x="4576" y="48"/>
                </a:moveTo>
                <a:cubicBezTo>
                  <a:pt x="4936" y="148"/>
                  <a:pt x="5296" y="248"/>
                  <a:pt x="5008" y="336"/>
                </a:cubicBezTo>
                <a:cubicBezTo>
                  <a:pt x="4720" y="424"/>
                  <a:pt x="3624" y="584"/>
                  <a:pt x="2848" y="576"/>
                </a:cubicBezTo>
                <a:cubicBezTo>
                  <a:pt x="2072" y="568"/>
                  <a:pt x="704" y="384"/>
                  <a:pt x="352" y="288"/>
                </a:cubicBezTo>
                <a:cubicBezTo>
                  <a:pt x="0" y="192"/>
                  <a:pt x="368" y="96"/>
                  <a:pt x="736" y="0"/>
                </a:cubicBezTo>
              </a:path>
            </a:pathLst>
          </a:custGeom>
          <a:noFill/>
          <a:ln w="57150" cap="flat" cmpd="sng">
            <a:solidFill>
              <a:schemeClr val="tx1"/>
            </a:solidFill>
            <a:prstDash val="solid"/>
            <a:round/>
            <a:headEnd type="none" w="med" len="med"/>
            <a:tailEnd type="triangle" w="med" len="me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23559"/>
                                        </p:tgtEl>
                                        <p:attrNameLst>
                                          <p:attrName>fillcolor</p:attrName>
                                        </p:attrNameLst>
                                      </p:cBhvr>
                                      <p:to>
                                        <a:schemeClr val="accent1"/>
                                      </p:to>
                                    </p:animClr>
                                    <p:set>
                                      <p:cBhvr>
                                        <p:cTn id="7" dur="2000" fill="hold"/>
                                        <p:tgtEl>
                                          <p:spTgt spid="23559"/>
                                        </p:tgtEl>
                                        <p:attrNameLst>
                                          <p:attrName>fill.type</p:attrName>
                                        </p:attrNameLst>
                                      </p:cBhvr>
                                      <p:to>
                                        <p:strVal val="solid"/>
                                      </p:to>
                                    </p:set>
                                    <p:set>
                                      <p:cBhvr>
                                        <p:cTn id="8" dur="2000" fill="hold"/>
                                        <p:tgtEl>
                                          <p:spTgt spid="23559"/>
                                        </p:tgtEl>
                                        <p:attrNameLst>
                                          <p:attrName>fill.on</p:attrName>
                                        </p:attrNameLst>
                                      </p:cBhvr>
                                      <p:to>
                                        <p:strVal val="true"/>
                                      </p:to>
                                    </p:set>
                                  </p:childTnLst>
                                </p:cTn>
                              </p:par>
                              <p:par>
                                <p:cTn id="9" presetID="0" presetClass="path" presetSubtype="0" accel="50000" decel="50000" fill="hold" nodeType="withEffect">
                                  <p:stCondLst>
                                    <p:cond delay="0"/>
                                  </p:stCondLst>
                                  <p:childTnLst>
                                    <p:animMotion origin="layout" path="M 3.33333E-6 -9.81263E-6 L 0.06666 -9.81263E-6 " pathEditMode="relative" ptsTypes="AA">
                                      <p:cBhvr>
                                        <p:cTn id="10" dur="2000" fill="hold"/>
                                        <p:tgtEl>
                                          <p:spTgt spid="23566"/>
                                        </p:tgtEl>
                                        <p:attrNameLst>
                                          <p:attrName>ppt_x</p:attrName>
                                          <p:attrName>ppt_y</p:attrName>
                                        </p:attrNameLst>
                                      </p:cBhvr>
                                    </p:animMotion>
                                  </p:childTnLst>
                                </p:cTn>
                              </p:par>
                              <p:par>
                                <p:cTn id="11" presetID="0" presetClass="path" presetSubtype="0" accel="50000" decel="50000" fill="hold" grpId="0" nodeType="withEffect">
                                  <p:stCondLst>
                                    <p:cond delay="0"/>
                                  </p:stCondLst>
                                  <p:childTnLst>
                                    <p:animMotion origin="layout" path="M 1.94444E-6 -3.01642E-6 L 0.06666 -3.01642E-6 " pathEditMode="relative" ptsTypes="AA">
                                      <p:cBhvr>
                                        <p:cTn id="12" dur="2000" fill="hold"/>
                                        <p:tgtEl>
                                          <p:spTgt spid="23567"/>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1" presetClass="emph" presetSubtype="2" fill="hold" nodeType="clickEffect">
                                  <p:stCondLst>
                                    <p:cond delay="0"/>
                                  </p:stCondLst>
                                  <p:childTnLst>
                                    <p:animClr clrSpc="rgb" dir="cw">
                                      <p:cBhvr>
                                        <p:cTn id="16" dur="2000" fill="hold"/>
                                        <p:tgtEl>
                                          <p:spTgt spid="23563"/>
                                        </p:tgtEl>
                                        <p:attrNameLst>
                                          <p:attrName>fillcolor</p:attrName>
                                        </p:attrNameLst>
                                      </p:cBhvr>
                                      <p:to>
                                        <a:schemeClr val="bg1"/>
                                      </p:to>
                                    </p:animClr>
                                    <p:set>
                                      <p:cBhvr>
                                        <p:cTn id="17" dur="2000" fill="hold"/>
                                        <p:tgtEl>
                                          <p:spTgt spid="23563"/>
                                        </p:tgtEl>
                                        <p:attrNameLst>
                                          <p:attrName>fill.type</p:attrName>
                                        </p:attrNameLst>
                                      </p:cBhvr>
                                      <p:to>
                                        <p:strVal val="solid"/>
                                      </p:to>
                                    </p:set>
                                    <p:set>
                                      <p:cBhvr>
                                        <p:cTn id="18" dur="2000" fill="hold"/>
                                        <p:tgtEl>
                                          <p:spTgt spid="23563"/>
                                        </p:tgtEl>
                                        <p:attrNameLst>
                                          <p:attrName>fill.on</p:attrName>
                                        </p:attrNameLst>
                                      </p:cBhvr>
                                      <p:to>
                                        <p:strVal val="true"/>
                                      </p:to>
                                    </p:set>
                                  </p:childTnLst>
                                </p:cTn>
                              </p:par>
                              <p:par>
                                <p:cTn id="19" presetID="0" presetClass="path" presetSubtype="0" accel="50000" decel="50000" fill="hold" nodeType="withEffect">
                                  <p:stCondLst>
                                    <p:cond delay="0"/>
                                  </p:stCondLst>
                                  <p:childTnLst>
                                    <p:animMotion origin="layout" path="M 1.11022E-16 -6.41221E-6 L 0.075 -6.41221E-6 " pathEditMode="relative" ptsTypes="AA">
                                      <p:cBhvr>
                                        <p:cTn id="20" dur="2000" fill="hold"/>
                                        <p:tgtEl>
                                          <p:spTgt spid="23565"/>
                                        </p:tgtEl>
                                        <p:attrNameLst>
                                          <p:attrName>ppt_x</p:attrName>
                                          <p:attrName>ppt_y</p:attrName>
                                        </p:attrNameLst>
                                      </p:cBhvr>
                                    </p:animMotion>
                                  </p:childTnLst>
                                </p:cTn>
                              </p:par>
                              <p:par>
                                <p:cTn id="21" presetID="0" presetClass="path" presetSubtype="0" accel="50000" decel="50000" fill="hold" grpId="0" nodeType="withEffect">
                                  <p:stCondLst>
                                    <p:cond delay="0"/>
                                  </p:stCondLst>
                                  <p:childTnLst>
                                    <p:animMotion origin="layout" path="M -2.5E-6 -6.41684E-6 L 0.06667 -6.41684E-6 " pathEditMode="relative" ptsTypes="AA">
                                      <p:cBhvr>
                                        <p:cTn id="22" dur="2000" fill="hold"/>
                                        <p:tgtEl>
                                          <p:spTgt spid="2356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7" grpId="0"/>
      <p:bldP spid="23568"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p:cNvSpPr>
          <p:nvPr>
            <p:ph type="title"/>
          </p:nvPr>
        </p:nvSpPr>
        <p:spPr>
          <a:ln/>
        </p:spPr>
        <p:txBody>
          <a:bodyPr vert="horz" wrap="square" lIns="91440" tIns="45720" rIns="91440" bIns="45720" anchor="b" anchorCtr="0"/>
          <a:lstStyle/>
          <a:p>
            <a:r>
              <a:rPr lang="en-US" altLang="zh-CN" dirty="0">
                <a:ea typeface="宋体" panose="02010600030101010101" pitchFamily="2" charset="-122"/>
              </a:rPr>
              <a:t>Bounded-Buffer Problem</a:t>
            </a:r>
          </a:p>
        </p:txBody>
      </p:sp>
      <p:sp>
        <p:nvSpPr>
          <p:cNvPr id="103426" name="Rectangle 3"/>
          <p:cNvSpPr>
            <a:spLocks noGrp="1"/>
          </p:cNvSpPr>
          <p:nvPr>
            <p:ph idx="1"/>
          </p:nvPr>
        </p:nvSpPr>
        <p:spPr>
          <a:xfrm>
            <a:off x="881063" y="1300163"/>
            <a:ext cx="7791450" cy="3686175"/>
          </a:xfrm>
          <a:ln/>
        </p:spPr>
        <p:txBody>
          <a:bodyPr vert="horz" wrap="square" lIns="91440" tIns="45720" rIns="91440" bIns="45720" anchor="t" anchorCtr="0"/>
          <a:lstStyle/>
          <a:p>
            <a:r>
              <a:rPr lang="en-US" altLang="zh-CN" sz="2400" i="1" dirty="0">
                <a:ea typeface="宋体" panose="02010600030101010101" pitchFamily="2" charset="-122"/>
              </a:rPr>
              <a:t>N</a:t>
            </a:r>
            <a:r>
              <a:rPr lang="en-US" altLang="zh-CN" sz="2400" dirty="0">
                <a:ea typeface="宋体" panose="02010600030101010101" pitchFamily="2" charset="-122"/>
              </a:rPr>
              <a:t> buffers, each can hold one item</a:t>
            </a:r>
          </a:p>
          <a:p>
            <a:r>
              <a:rPr lang="en-US" altLang="zh-CN" sz="2400" dirty="0">
                <a:ea typeface="宋体" panose="02010600030101010101" pitchFamily="2" charset="-122"/>
              </a:rPr>
              <a:t>Semaphore </a:t>
            </a:r>
            <a:r>
              <a:rPr lang="en-US" altLang="zh-CN" sz="2400" dirty="0">
                <a:solidFill>
                  <a:srgbClr val="FF0000"/>
                </a:solidFill>
                <a:ea typeface="宋体" panose="02010600030101010101" pitchFamily="2" charset="-122"/>
              </a:rPr>
              <a:t>mutex</a:t>
            </a:r>
            <a:r>
              <a:rPr lang="en-US" altLang="zh-CN" sz="2400" dirty="0">
                <a:ea typeface="宋体" panose="02010600030101010101" pitchFamily="2" charset="-122"/>
              </a:rPr>
              <a:t> initialized to the value 1</a:t>
            </a:r>
          </a:p>
          <a:p>
            <a:r>
              <a:rPr lang="en-US" altLang="zh-CN" sz="2400" dirty="0">
                <a:ea typeface="宋体" panose="02010600030101010101" pitchFamily="2" charset="-122"/>
              </a:rPr>
              <a:t>Semaphore </a:t>
            </a:r>
            <a:r>
              <a:rPr lang="en-US" altLang="zh-CN" sz="2400" dirty="0">
                <a:solidFill>
                  <a:srgbClr val="FF0000"/>
                </a:solidFill>
                <a:ea typeface="宋体" panose="02010600030101010101" pitchFamily="2" charset="-122"/>
              </a:rPr>
              <a:t>full </a:t>
            </a:r>
            <a:r>
              <a:rPr lang="en-US" altLang="zh-CN" sz="2400" dirty="0">
                <a:ea typeface="宋体" panose="02010600030101010101" pitchFamily="2" charset="-122"/>
              </a:rPr>
              <a:t>initialized to the value 0</a:t>
            </a:r>
          </a:p>
          <a:p>
            <a:r>
              <a:rPr lang="en-US" altLang="zh-CN" sz="2400" dirty="0">
                <a:ea typeface="宋体" panose="02010600030101010101" pitchFamily="2" charset="-122"/>
              </a:rPr>
              <a:t>Semaphore </a:t>
            </a:r>
            <a:r>
              <a:rPr lang="en-US" altLang="zh-CN" sz="2400" dirty="0">
                <a:solidFill>
                  <a:srgbClr val="FF0000"/>
                </a:solidFill>
                <a:ea typeface="宋体" panose="02010600030101010101" pitchFamily="2" charset="-122"/>
              </a:rPr>
              <a:t>empty</a:t>
            </a:r>
            <a:r>
              <a:rPr lang="en-US" altLang="zh-CN" sz="2400" dirty="0">
                <a:ea typeface="宋体" panose="02010600030101010101" pitchFamily="2" charset="-122"/>
              </a:rPr>
              <a:t> initialized to the value N.</a:t>
            </a:r>
          </a:p>
          <a:p>
            <a:endParaRPr lang="en-US" altLang="zh-CN" sz="2400" dirty="0">
              <a:ea typeface="宋体" panose="02010600030101010101" pitchFamily="2" charset="-122"/>
            </a:endParaRPr>
          </a:p>
        </p:txBody>
      </p:sp>
      <p:sp>
        <p:nvSpPr>
          <p:cNvPr id="103427" name="Rectangle 5"/>
          <p:cNvSpPr/>
          <p:nvPr/>
        </p:nvSpPr>
        <p:spPr>
          <a:xfrm>
            <a:off x="2492375" y="3246438"/>
            <a:ext cx="184150" cy="366712"/>
          </a:xfrm>
          <a:prstGeom prst="rect">
            <a:avLst/>
          </a:prstGeom>
          <a:noFill/>
          <a:ln w="9525">
            <a:noFill/>
          </a:ln>
        </p:spPr>
        <p:txBody>
          <a:bodyPr wrap="none" anchor="t" anchorCtr="0">
            <a:spAutoFit/>
          </a:bodyPr>
          <a:lstStyle/>
          <a:p>
            <a:pPr eaLnBrk="0" hangingPunct="0"/>
            <a:endParaRPr lang="zh-CN" altLang="zh-CN" dirty="0">
              <a:latin typeface="Verdana" panose="020B0604030504040204" pitchFamily="34" charset="0"/>
              <a:ea typeface="宋体" panose="02010600030101010101" pitchFamily="2"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5473" name="Object 2"/>
          <p:cNvGraphicFramePr/>
          <p:nvPr>
            <p:extLst>
              <p:ext uri="{D42A27DB-BD31-4B8C-83A1-F6EECF244321}">
                <p14:modId xmlns:p14="http://schemas.microsoft.com/office/powerpoint/2010/main" val="2467435516"/>
              </p:ext>
            </p:extLst>
          </p:nvPr>
        </p:nvGraphicFramePr>
        <p:xfrm>
          <a:off x="571500" y="1946349"/>
          <a:ext cx="8001000" cy="2616416"/>
        </p:xfrm>
        <a:graphic>
          <a:graphicData uri="http://schemas.openxmlformats.org/presentationml/2006/ole">
            <mc:AlternateContent xmlns:mc="http://schemas.openxmlformats.org/markup-compatibility/2006">
              <mc:Choice xmlns:v="urn:schemas-microsoft-com:vml" Requires="v">
                <p:oleObj spid="_x0000_s9412" r:id="rId3" imgW="4038600" imgH="1188720" progId="Visio.Drawing.6">
                  <p:embed/>
                </p:oleObj>
              </mc:Choice>
              <mc:Fallback>
                <p:oleObj r:id="rId3" imgW="4038600" imgH="1188720" progId="Visio.Drawing.6">
                  <p:embed/>
                  <p:pic>
                    <p:nvPicPr>
                      <p:cNvPr id="0" name="图片 3080"/>
                      <p:cNvPicPr/>
                      <p:nvPr/>
                    </p:nvPicPr>
                    <p:blipFill>
                      <a:blip r:embed="rId4"/>
                      <a:stretch>
                        <a:fillRect/>
                      </a:stretch>
                    </p:blipFill>
                    <p:spPr>
                      <a:xfrm>
                        <a:off x="571500" y="1946349"/>
                        <a:ext cx="8001000" cy="2616416"/>
                      </a:xfrm>
                      <a:prstGeom prst="rect">
                        <a:avLst/>
                      </a:prstGeom>
                      <a:solidFill>
                        <a:srgbClr val="99CCFF"/>
                      </a:solidFill>
                      <a:ln w="38100">
                        <a:noFill/>
                        <a:miter/>
                      </a:ln>
                    </p:spPr>
                  </p:pic>
                </p:oleObj>
              </mc:Fallback>
            </mc:AlternateContent>
          </a:graphicData>
        </a:graphic>
      </p:graphicFrame>
      <p:sp>
        <p:nvSpPr>
          <p:cNvPr id="105474" name="矩形 2"/>
          <p:cNvSpPr/>
          <p:nvPr/>
        </p:nvSpPr>
        <p:spPr>
          <a:xfrm>
            <a:off x="1287463" y="263525"/>
            <a:ext cx="7661275" cy="457200"/>
          </a:xfrm>
          <a:prstGeom prst="rect">
            <a:avLst/>
          </a:prstGeom>
          <a:noFill/>
          <a:ln w="9525">
            <a:noFill/>
          </a:ln>
        </p:spPr>
        <p:txBody>
          <a:bodyPr anchor="t" anchorCtr="0">
            <a:spAutoFit/>
          </a:bodyPr>
          <a:lstStyle/>
          <a:p>
            <a:pPr eaLnBrk="0" hangingPunct="0"/>
            <a:r>
              <a:rPr lang="en-US" altLang="zh-CN" sz="2400" dirty="0">
                <a:solidFill>
                  <a:srgbClr val="006699"/>
                </a:solidFill>
                <a:latin typeface="Verdana" panose="020B0604030504040204" pitchFamily="34" charset="0"/>
                <a:ea typeface="宋体" panose="02010600030101010101" pitchFamily="2" charset="-122"/>
              </a:rPr>
              <a:t>The structure of  Producer/Consumer process</a:t>
            </a: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6497" name="Rectangle 2"/>
          <p:cNvSpPr>
            <a:spLocks noGrp="1"/>
          </p:cNvSpPr>
          <p:nvPr>
            <p:ph type="title"/>
          </p:nvPr>
        </p:nvSpPr>
        <p:spPr>
          <a:ln/>
        </p:spPr>
        <p:txBody>
          <a:bodyPr vert="horz" wrap="square" lIns="91440" tIns="45720" rIns="91440" bIns="45720" anchor="b" anchorCtr="0"/>
          <a:lstStyle/>
          <a:p>
            <a:r>
              <a:rPr lang="en-US" altLang="zh-CN" dirty="0">
                <a:ea typeface="宋体" panose="02010600030101010101" pitchFamily="2" charset="-122"/>
              </a:rPr>
              <a:t>Bounded Buffer Problem (Cont.)</a:t>
            </a:r>
          </a:p>
        </p:txBody>
      </p:sp>
      <p:sp>
        <p:nvSpPr>
          <p:cNvPr id="106498" name="Rectangle 3"/>
          <p:cNvSpPr>
            <a:spLocks noGrp="1"/>
          </p:cNvSpPr>
          <p:nvPr>
            <p:ph idx="1"/>
          </p:nvPr>
        </p:nvSpPr>
        <p:spPr>
          <a:xfrm>
            <a:off x="493713" y="971550"/>
            <a:ext cx="8181975" cy="5184775"/>
          </a:xfrm>
          <a:ln/>
        </p:spPr>
        <p:txBody>
          <a:bodyPr vert="horz" wrap="square" lIns="91440" tIns="45720" rIns="91440" bIns="45720" anchor="t" anchorCtr="0"/>
          <a:lstStyle/>
          <a:p>
            <a:r>
              <a:rPr lang="en-US" altLang="zh-CN" sz="2000" dirty="0">
                <a:ea typeface="宋体" panose="02010600030101010101" pitchFamily="2" charset="-122"/>
              </a:rPr>
              <a:t>The structure of the </a:t>
            </a:r>
            <a:r>
              <a:rPr lang="en-US" altLang="zh-CN" sz="2000">
                <a:ea typeface="宋体" panose="02010600030101010101" pitchFamily="2" charset="-122"/>
              </a:rPr>
              <a:t>producer process</a:t>
            </a:r>
            <a:endParaRPr lang="en-US" altLang="zh-CN" sz="2000" dirty="0">
              <a:ea typeface="宋体" panose="02010600030101010101" pitchFamily="2" charset="-122"/>
            </a:endParaRPr>
          </a:p>
          <a:p>
            <a:pPr>
              <a:buNone/>
            </a:pPr>
            <a:r>
              <a:rPr lang="en-US" altLang="zh-CN" sz="2000" dirty="0">
                <a:solidFill>
                  <a:srgbClr val="0000FF"/>
                </a:solidFill>
                <a:ea typeface="宋体" panose="02010600030101010101" pitchFamily="2" charset="-122"/>
              </a:rPr>
              <a:t>           while (true)  {</a:t>
            </a:r>
            <a:br>
              <a:rPr lang="en-US" altLang="zh-CN" sz="2000" dirty="0">
                <a:solidFill>
                  <a:srgbClr val="0000FF"/>
                </a:solidFill>
                <a:ea typeface="宋体" panose="02010600030101010101" pitchFamily="2" charset="-122"/>
              </a:rPr>
            </a:br>
            <a:endParaRPr lang="en-US" altLang="zh-CN" sz="2000" dirty="0">
              <a:solidFill>
                <a:srgbClr val="0000FF"/>
              </a:solidFill>
              <a:ea typeface="宋体" panose="02010600030101010101" pitchFamily="2" charset="-122"/>
            </a:endParaRPr>
          </a:p>
          <a:p>
            <a:pPr>
              <a:buNone/>
            </a:pPr>
            <a:r>
              <a:rPr lang="en-US" altLang="zh-CN" sz="2000" dirty="0">
                <a:solidFill>
                  <a:srgbClr val="0000FF"/>
                </a:solidFill>
                <a:ea typeface="宋体" panose="02010600030101010101" pitchFamily="2" charset="-122"/>
              </a:rPr>
              <a:t>                         //   produce an item</a:t>
            </a:r>
          </a:p>
          <a:p>
            <a:pPr>
              <a:buNone/>
            </a:pPr>
            <a:endParaRPr lang="en-US" altLang="zh-CN" sz="2000" dirty="0">
              <a:solidFill>
                <a:srgbClr val="0000FF"/>
              </a:solidFill>
              <a:ea typeface="宋体" panose="02010600030101010101" pitchFamily="2" charset="-122"/>
            </a:endParaRPr>
          </a:p>
          <a:p>
            <a:pPr>
              <a:buNone/>
            </a:pPr>
            <a:r>
              <a:rPr lang="en-US" altLang="zh-CN" sz="2000" dirty="0">
                <a:solidFill>
                  <a:srgbClr val="0000FF"/>
                </a:solidFill>
                <a:ea typeface="宋体" panose="02010600030101010101" pitchFamily="2" charset="-122"/>
              </a:rPr>
              <a:t>                   wait (empty);</a:t>
            </a:r>
          </a:p>
          <a:p>
            <a:pPr>
              <a:buNone/>
            </a:pPr>
            <a:r>
              <a:rPr lang="en-US" altLang="zh-CN" sz="2000" dirty="0">
                <a:solidFill>
                  <a:srgbClr val="0000FF"/>
                </a:solidFill>
                <a:ea typeface="宋体" panose="02010600030101010101" pitchFamily="2" charset="-122"/>
              </a:rPr>
              <a:t>                   wait (mutex);</a:t>
            </a:r>
          </a:p>
          <a:p>
            <a:pPr>
              <a:buNone/>
            </a:pPr>
            <a:endParaRPr lang="en-US" altLang="zh-CN" sz="2000" dirty="0">
              <a:solidFill>
                <a:srgbClr val="0000FF"/>
              </a:solidFill>
              <a:ea typeface="宋体" panose="02010600030101010101" pitchFamily="2" charset="-122"/>
            </a:endParaRPr>
          </a:p>
          <a:p>
            <a:pPr>
              <a:buNone/>
            </a:pPr>
            <a:r>
              <a:rPr lang="en-US" altLang="zh-CN" sz="2000" dirty="0">
                <a:solidFill>
                  <a:srgbClr val="0000FF"/>
                </a:solidFill>
                <a:ea typeface="宋体" panose="02010600030101010101" pitchFamily="2" charset="-122"/>
              </a:rPr>
              <a:t>                         //  add the item to the  buffer</a:t>
            </a:r>
          </a:p>
          <a:p>
            <a:pPr>
              <a:buNone/>
            </a:pPr>
            <a:endParaRPr lang="en-US" altLang="zh-CN" sz="2000" dirty="0">
              <a:solidFill>
                <a:srgbClr val="0000FF"/>
              </a:solidFill>
              <a:ea typeface="宋体" panose="02010600030101010101" pitchFamily="2" charset="-122"/>
            </a:endParaRPr>
          </a:p>
          <a:p>
            <a:pPr>
              <a:buNone/>
            </a:pPr>
            <a:r>
              <a:rPr lang="en-US" altLang="zh-CN" sz="2000" dirty="0">
                <a:solidFill>
                  <a:srgbClr val="0000FF"/>
                </a:solidFill>
                <a:ea typeface="宋体" panose="02010600030101010101" pitchFamily="2" charset="-122"/>
              </a:rPr>
              <a:t>                    signal (mutex);</a:t>
            </a:r>
          </a:p>
          <a:p>
            <a:pPr>
              <a:buNone/>
            </a:pPr>
            <a:r>
              <a:rPr lang="en-US" altLang="zh-CN" sz="2000" dirty="0">
                <a:solidFill>
                  <a:srgbClr val="0000FF"/>
                </a:solidFill>
                <a:ea typeface="宋体" panose="02010600030101010101" pitchFamily="2" charset="-122"/>
              </a:rPr>
              <a:t>                    signal (full);</a:t>
            </a:r>
          </a:p>
          <a:p>
            <a:pPr>
              <a:buNone/>
            </a:pPr>
            <a:r>
              <a:rPr lang="en-US" altLang="zh-CN" sz="2000" dirty="0">
                <a:solidFill>
                  <a:srgbClr val="0000FF"/>
                </a:solidFill>
                <a:ea typeface="宋体" panose="02010600030101010101" pitchFamily="2" charset="-122"/>
              </a:rPr>
              <a:t>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8545" name="Rectangle 2"/>
          <p:cNvSpPr>
            <a:spLocks noGrp="1"/>
          </p:cNvSpPr>
          <p:nvPr>
            <p:ph type="title"/>
          </p:nvPr>
        </p:nvSpPr>
        <p:spPr>
          <a:ln/>
        </p:spPr>
        <p:txBody>
          <a:bodyPr vert="horz" wrap="square" lIns="91440" tIns="45720" rIns="91440" bIns="45720" anchor="b" anchorCtr="0"/>
          <a:lstStyle/>
          <a:p>
            <a:r>
              <a:rPr lang="en-US" altLang="zh-CN" dirty="0">
                <a:ea typeface="宋体" panose="02010600030101010101" pitchFamily="2" charset="-122"/>
              </a:rPr>
              <a:t>Bounded Buffer Problem (Cont.)</a:t>
            </a:r>
          </a:p>
        </p:txBody>
      </p:sp>
      <p:sp>
        <p:nvSpPr>
          <p:cNvPr id="108546" name="Rectangle 3"/>
          <p:cNvSpPr>
            <a:spLocks noGrp="1"/>
          </p:cNvSpPr>
          <p:nvPr>
            <p:ph idx="1"/>
          </p:nvPr>
        </p:nvSpPr>
        <p:spPr>
          <a:xfrm>
            <a:off x="449263" y="1014413"/>
            <a:ext cx="8226425" cy="5141912"/>
          </a:xfrm>
          <a:ln/>
        </p:spPr>
        <p:txBody>
          <a:bodyPr vert="horz" wrap="square" lIns="91440" tIns="45720" rIns="91440" bIns="45720" anchor="t" anchorCtr="0"/>
          <a:lstStyle/>
          <a:p>
            <a:r>
              <a:rPr lang="en-US" altLang="zh-CN" sz="2400" dirty="0">
                <a:ea typeface="宋体" panose="02010600030101010101" pitchFamily="2" charset="-122"/>
              </a:rPr>
              <a:t>The structure of the consumer process</a:t>
            </a:r>
          </a:p>
          <a:p>
            <a:pPr>
              <a:buNone/>
            </a:pPr>
            <a:r>
              <a:rPr lang="en-US" altLang="zh-CN" sz="2400" dirty="0">
                <a:solidFill>
                  <a:srgbClr val="0000FF"/>
                </a:solidFill>
                <a:ea typeface="宋体" panose="02010600030101010101" pitchFamily="2" charset="-122"/>
              </a:rPr>
              <a:t>           </a:t>
            </a:r>
            <a:r>
              <a:rPr lang="en-US" altLang="zh-CN" sz="2000" dirty="0">
                <a:solidFill>
                  <a:srgbClr val="0000FF"/>
                </a:solidFill>
                <a:ea typeface="宋体" panose="02010600030101010101" pitchFamily="2" charset="-122"/>
              </a:rPr>
              <a:t>while (true) {</a:t>
            </a:r>
          </a:p>
          <a:p>
            <a:pPr>
              <a:buNone/>
            </a:pPr>
            <a:r>
              <a:rPr lang="en-US" altLang="zh-CN" sz="2000" dirty="0">
                <a:solidFill>
                  <a:srgbClr val="0000FF"/>
                </a:solidFill>
                <a:ea typeface="宋体" panose="02010600030101010101" pitchFamily="2" charset="-122"/>
              </a:rPr>
              <a:t>                    wait (full);</a:t>
            </a:r>
          </a:p>
          <a:p>
            <a:pPr>
              <a:buNone/>
            </a:pPr>
            <a:r>
              <a:rPr lang="en-US" altLang="zh-CN" sz="2000" dirty="0">
                <a:solidFill>
                  <a:srgbClr val="0000FF"/>
                </a:solidFill>
                <a:ea typeface="宋体" panose="02010600030101010101" pitchFamily="2" charset="-122"/>
              </a:rPr>
              <a:t>                    wait (mutex);</a:t>
            </a:r>
          </a:p>
          <a:p>
            <a:pPr>
              <a:buNone/>
            </a:pPr>
            <a:endParaRPr lang="en-US" altLang="zh-CN" sz="2000" dirty="0">
              <a:solidFill>
                <a:srgbClr val="0000FF"/>
              </a:solidFill>
              <a:ea typeface="宋体" panose="02010600030101010101" pitchFamily="2" charset="-122"/>
            </a:endParaRPr>
          </a:p>
          <a:p>
            <a:pPr>
              <a:buNone/>
            </a:pPr>
            <a:r>
              <a:rPr lang="en-US" altLang="zh-CN" sz="2000" dirty="0">
                <a:solidFill>
                  <a:srgbClr val="0000FF"/>
                </a:solidFill>
                <a:ea typeface="宋体" panose="02010600030101010101" pitchFamily="2" charset="-122"/>
              </a:rPr>
              <a:t>                             //  remove an item from  buffer</a:t>
            </a:r>
          </a:p>
          <a:p>
            <a:pPr>
              <a:buNone/>
            </a:pPr>
            <a:endParaRPr lang="en-US" altLang="zh-CN" sz="2000" dirty="0">
              <a:solidFill>
                <a:srgbClr val="0000FF"/>
              </a:solidFill>
              <a:ea typeface="宋体" panose="02010600030101010101" pitchFamily="2" charset="-122"/>
            </a:endParaRPr>
          </a:p>
          <a:p>
            <a:pPr>
              <a:buNone/>
            </a:pPr>
            <a:r>
              <a:rPr lang="en-US" altLang="zh-CN" sz="2000" dirty="0">
                <a:solidFill>
                  <a:srgbClr val="0000FF"/>
                </a:solidFill>
                <a:ea typeface="宋体" panose="02010600030101010101" pitchFamily="2" charset="-122"/>
              </a:rPr>
              <a:t>                    signal (mutex);</a:t>
            </a:r>
          </a:p>
          <a:p>
            <a:pPr>
              <a:buNone/>
            </a:pPr>
            <a:r>
              <a:rPr lang="en-US" altLang="zh-CN" sz="2000" dirty="0">
                <a:solidFill>
                  <a:srgbClr val="0000FF"/>
                </a:solidFill>
                <a:ea typeface="宋体" panose="02010600030101010101" pitchFamily="2" charset="-122"/>
              </a:rPr>
              <a:t>                    signal (empty);</a:t>
            </a:r>
          </a:p>
          <a:p>
            <a:pPr>
              <a:buNone/>
            </a:pPr>
            <a:r>
              <a:rPr lang="en-US" altLang="zh-CN" sz="2000" dirty="0">
                <a:solidFill>
                  <a:srgbClr val="0000FF"/>
                </a:solidFill>
                <a:ea typeface="宋体" panose="02010600030101010101" pitchFamily="2" charset="-122"/>
              </a:rPr>
              <a:t>             </a:t>
            </a:r>
          </a:p>
          <a:p>
            <a:pPr>
              <a:buNone/>
            </a:pPr>
            <a:r>
              <a:rPr lang="en-US" altLang="zh-CN" sz="2000" dirty="0">
                <a:solidFill>
                  <a:srgbClr val="0000FF"/>
                </a:solidFill>
                <a:ea typeface="宋体" panose="02010600030101010101" pitchFamily="2" charset="-122"/>
              </a:rPr>
              <a:t>                            //  consume the removed item</a:t>
            </a:r>
          </a:p>
          <a:p>
            <a:pPr>
              <a:buNone/>
            </a:pPr>
            <a:endParaRPr lang="en-US" altLang="zh-CN" sz="2000" dirty="0">
              <a:solidFill>
                <a:srgbClr val="0000FF"/>
              </a:solidFill>
              <a:ea typeface="宋体" panose="02010600030101010101" pitchFamily="2" charset="-122"/>
            </a:endParaRPr>
          </a:p>
          <a:p>
            <a:pPr>
              <a:buNone/>
            </a:pPr>
            <a:r>
              <a:rPr lang="en-US" altLang="zh-CN" sz="2000" dirty="0">
                <a:solidFill>
                  <a:srgbClr val="0000FF"/>
                </a:solidFill>
                <a:ea typeface="宋体" panose="02010600030101010101" pitchFamily="2" charset="-122"/>
              </a:rPr>
              <a:t>           }</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p:cNvSpPr>
            <a:spLocks noGrp="1"/>
          </p:cNvSpPr>
          <p:nvPr>
            <p:ph type="title"/>
          </p:nvPr>
        </p:nvSpPr>
        <p:spPr>
          <a:xfrm>
            <a:off x="685800" y="152400"/>
            <a:ext cx="6870700" cy="698500"/>
          </a:xfrm>
          <a:ln/>
        </p:spPr>
        <p:txBody>
          <a:bodyPr vert="horz" wrap="square" lIns="91440" tIns="45720" rIns="91440" bIns="45720" anchor="b" anchorCtr="0"/>
          <a:lstStyle/>
          <a:p>
            <a:pPr eaLnBrk="1" hangingPunct="1"/>
            <a:r>
              <a:rPr lang="en-US" altLang="zh-CN" dirty="0"/>
              <a:t>Bounded-Buffer Problem</a:t>
            </a:r>
          </a:p>
        </p:txBody>
      </p:sp>
      <p:sp>
        <p:nvSpPr>
          <p:cNvPr id="110594" name="Rectangle 3"/>
          <p:cNvSpPr>
            <a:spLocks noGrp="1"/>
          </p:cNvSpPr>
          <p:nvPr>
            <p:ph idx="1"/>
          </p:nvPr>
        </p:nvSpPr>
        <p:spPr>
          <a:xfrm>
            <a:off x="366713" y="892175"/>
            <a:ext cx="7981950" cy="5711825"/>
          </a:xfrm>
          <a:ln/>
        </p:spPr>
        <p:txBody>
          <a:bodyPr vert="horz" wrap="square" lIns="91440" tIns="45720" rIns="91440" bIns="45720" anchor="t" anchorCtr="0"/>
          <a:lstStyle/>
          <a:p>
            <a:pPr defTabSz="914400" eaLnBrk="1" hangingPunct="1">
              <a:lnSpc>
                <a:spcPct val="90000"/>
              </a:lnSpc>
              <a:buFontTx/>
              <a:buNone/>
              <a:tabLst>
                <a:tab pos="2059305" algn="l"/>
                <a:tab pos="2459355" algn="l"/>
              </a:tabLst>
            </a:pPr>
            <a:r>
              <a:rPr lang="en-US" altLang="zh-CN" sz="2400" dirty="0"/>
              <a:t>public class BoundedBuffer  {   </a:t>
            </a:r>
          </a:p>
          <a:p>
            <a:pPr defTabSz="914400" eaLnBrk="1" hangingPunct="1">
              <a:lnSpc>
                <a:spcPct val="90000"/>
              </a:lnSpc>
              <a:buFontTx/>
              <a:buNone/>
              <a:tabLst>
                <a:tab pos="2059305" algn="l"/>
                <a:tab pos="2459355" algn="l"/>
              </a:tabLst>
            </a:pPr>
            <a:r>
              <a:rPr lang="en-US" altLang="zh-CN" sz="2400" dirty="0"/>
              <a:t>	public BoundedBuffer() { /* see next slides */  }</a:t>
            </a:r>
          </a:p>
          <a:p>
            <a:pPr defTabSz="914400" eaLnBrk="1" hangingPunct="1">
              <a:lnSpc>
                <a:spcPct val="90000"/>
              </a:lnSpc>
              <a:buFontTx/>
              <a:buNone/>
              <a:tabLst>
                <a:tab pos="2059305" algn="l"/>
                <a:tab pos="2459355" algn="l"/>
              </a:tabLst>
            </a:pPr>
            <a:r>
              <a:rPr lang="en-US" altLang="zh-CN" sz="2400" dirty="0"/>
              <a:t>	public void enter() { /* see next slides */  }</a:t>
            </a:r>
          </a:p>
          <a:p>
            <a:pPr defTabSz="914400" eaLnBrk="1" hangingPunct="1">
              <a:lnSpc>
                <a:spcPct val="90000"/>
              </a:lnSpc>
              <a:buFontTx/>
              <a:buNone/>
              <a:tabLst>
                <a:tab pos="2059305" algn="l"/>
                <a:tab pos="2459355" algn="l"/>
              </a:tabLst>
            </a:pPr>
            <a:r>
              <a:rPr lang="en-US" altLang="zh-CN" sz="2400" dirty="0"/>
              <a:t>	public Object remove() { /* see next slides */  }</a:t>
            </a:r>
          </a:p>
          <a:p>
            <a:pPr defTabSz="914400" eaLnBrk="1" hangingPunct="1">
              <a:lnSpc>
                <a:spcPct val="90000"/>
              </a:lnSpc>
              <a:buFontTx/>
              <a:buNone/>
              <a:tabLst>
                <a:tab pos="2059305" algn="l"/>
                <a:tab pos="2459355" algn="l"/>
              </a:tabLst>
            </a:pPr>
            <a:r>
              <a:rPr lang="en-US" altLang="zh-CN" sz="2400" dirty="0"/>
              <a:t>	</a:t>
            </a:r>
          </a:p>
          <a:p>
            <a:pPr defTabSz="914400" eaLnBrk="1" hangingPunct="1">
              <a:lnSpc>
                <a:spcPct val="90000"/>
              </a:lnSpc>
              <a:buFontTx/>
              <a:buNone/>
              <a:tabLst>
                <a:tab pos="2059305" algn="l"/>
                <a:tab pos="2459355" algn="l"/>
              </a:tabLst>
            </a:pPr>
            <a:r>
              <a:rPr lang="en-US" altLang="zh-CN" sz="2400" dirty="0"/>
              <a:t>    private static final int   BUFFER_SIZE = 2;</a:t>
            </a:r>
          </a:p>
          <a:p>
            <a:pPr defTabSz="914400" eaLnBrk="1" hangingPunct="1">
              <a:lnSpc>
                <a:spcPct val="90000"/>
              </a:lnSpc>
              <a:buFontTx/>
              <a:buNone/>
              <a:tabLst>
                <a:tab pos="2059305" algn="l"/>
                <a:tab pos="2459355" algn="l"/>
              </a:tabLst>
            </a:pPr>
            <a:r>
              <a:rPr lang="en-US" altLang="zh-CN" sz="2400" dirty="0"/>
              <a:t>   	private Semaphore mutex;</a:t>
            </a:r>
          </a:p>
          <a:p>
            <a:pPr defTabSz="914400" eaLnBrk="1" hangingPunct="1">
              <a:lnSpc>
                <a:spcPct val="90000"/>
              </a:lnSpc>
              <a:buFontTx/>
              <a:buNone/>
              <a:tabLst>
                <a:tab pos="2059305" algn="l"/>
                <a:tab pos="2459355" algn="l"/>
              </a:tabLst>
            </a:pPr>
            <a:r>
              <a:rPr lang="en-US" altLang="zh-CN" sz="2400" dirty="0"/>
              <a:t>   	private Semaphore empty;</a:t>
            </a:r>
          </a:p>
          <a:p>
            <a:pPr defTabSz="914400" eaLnBrk="1" hangingPunct="1">
              <a:lnSpc>
                <a:spcPct val="90000"/>
              </a:lnSpc>
              <a:buFontTx/>
              <a:buNone/>
              <a:tabLst>
                <a:tab pos="2059305" algn="l"/>
                <a:tab pos="2459355" algn="l"/>
              </a:tabLst>
            </a:pPr>
            <a:r>
              <a:rPr lang="en-US" altLang="zh-CN" sz="2400" dirty="0"/>
              <a:t>   	private Semaphore full;</a:t>
            </a:r>
          </a:p>
          <a:p>
            <a:pPr defTabSz="914400" eaLnBrk="1" hangingPunct="1">
              <a:lnSpc>
                <a:spcPct val="90000"/>
              </a:lnSpc>
              <a:buFontTx/>
              <a:buNone/>
              <a:tabLst>
                <a:tab pos="2059305" algn="l"/>
                <a:tab pos="2459355" algn="l"/>
              </a:tabLst>
            </a:pPr>
            <a:r>
              <a:rPr lang="en-US" altLang="zh-CN" sz="2400" dirty="0"/>
              <a:t>   	private int count, in, out;</a:t>
            </a:r>
          </a:p>
          <a:p>
            <a:pPr defTabSz="914400" eaLnBrk="1" hangingPunct="1">
              <a:lnSpc>
                <a:spcPct val="90000"/>
              </a:lnSpc>
              <a:buFontTx/>
              <a:buNone/>
              <a:tabLst>
                <a:tab pos="2059305" algn="l"/>
                <a:tab pos="2459355" algn="l"/>
              </a:tabLst>
            </a:pPr>
            <a:r>
              <a:rPr lang="en-US" altLang="zh-CN" sz="2400" dirty="0"/>
              <a:t>   	private Object[] buffer;</a:t>
            </a:r>
          </a:p>
          <a:p>
            <a:pPr defTabSz="914400" eaLnBrk="1" hangingPunct="1">
              <a:lnSpc>
                <a:spcPct val="90000"/>
              </a:lnSpc>
              <a:buFontTx/>
              <a:buNone/>
              <a:tabLst>
                <a:tab pos="2059305" algn="l"/>
                <a:tab pos="2459355" algn="l"/>
              </a:tabLst>
            </a:pPr>
            <a:r>
              <a:rPr lang="en-US" altLang="zh-CN" sz="2400" dirty="0"/>
              <a:t>}	</a:t>
            </a: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p:cNvSpPr>
            <a:spLocks noGrp="1"/>
          </p:cNvSpPr>
          <p:nvPr>
            <p:ph type="title"/>
          </p:nvPr>
        </p:nvSpPr>
        <p:spPr>
          <a:xfrm>
            <a:off x="685800" y="152400"/>
            <a:ext cx="6870700" cy="774700"/>
          </a:xfrm>
          <a:ln/>
        </p:spPr>
        <p:txBody>
          <a:bodyPr vert="horz" wrap="square" lIns="91440" tIns="45720" rIns="91440" bIns="45720" anchor="b" anchorCtr="0"/>
          <a:lstStyle/>
          <a:p>
            <a:pPr eaLnBrk="1" hangingPunct="1"/>
            <a:r>
              <a:rPr lang="en-US" altLang="zh-CN" dirty="0"/>
              <a:t>Bounded Buffer Constructor</a:t>
            </a:r>
          </a:p>
        </p:txBody>
      </p:sp>
      <p:sp>
        <p:nvSpPr>
          <p:cNvPr id="111618" name="Rectangle 3"/>
          <p:cNvSpPr>
            <a:spLocks noGrp="1"/>
          </p:cNvSpPr>
          <p:nvPr>
            <p:ph idx="1"/>
          </p:nvPr>
        </p:nvSpPr>
        <p:spPr>
          <a:xfrm>
            <a:off x="1341438" y="1052513"/>
            <a:ext cx="7075487" cy="5119687"/>
          </a:xfrm>
          <a:ln/>
        </p:spPr>
        <p:txBody>
          <a:bodyPr vert="horz" wrap="square" lIns="91440" tIns="45720" rIns="91440" bIns="45720" anchor="t" anchorCtr="0"/>
          <a:lstStyle/>
          <a:p>
            <a:pPr eaLnBrk="1" hangingPunct="1">
              <a:buFontTx/>
              <a:buNone/>
            </a:pPr>
            <a:r>
              <a:rPr lang="en-US" altLang="zh-CN" sz="2400" dirty="0"/>
              <a:t>public BoundedBuffer() {</a:t>
            </a:r>
          </a:p>
          <a:p>
            <a:pPr eaLnBrk="1" hangingPunct="1">
              <a:buFontTx/>
              <a:buNone/>
            </a:pPr>
            <a:r>
              <a:rPr lang="en-US" altLang="zh-CN" sz="2400" dirty="0"/>
              <a:t>       // buffer is initially empty</a:t>
            </a:r>
          </a:p>
          <a:p>
            <a:pPr eaLnBrk="1" hangingPunct="1">
              <a:buFontTx/>
              <a:buNone/>
            </a:pPr>
            <a:r>
              <a:rPr lang="en-US" altLang="zh-CN" sz="2400" dirty="0"/>
              <a:t>       count = 0;</a:t>
            </a:r>
          </a:p>
          <a:p>
            <a:pPr eaLnBrk="1" hangingPunct="1">
              <a:buFontTx/>
              <a:buNone/>
            </a:pPr>
            <a:r>
              <a:rPr lang="en-US" altLang="zh-CN" sz="2400" dirty="0"/>
              <a:t>       in = 0;</a:t>
            </a:r>
          </a:p>
          <a:p>
            <a:pPr eaLnBrk="1" hangingPunct="1">
              <a:buFontTx/>
              <a:buNone/>
            </a:pPr>
            <a:r>
              <a:rPr lang="en-US" altLang="zh-CN" sz="2400" dirty="0"/>
              <a:t>       out = 0;</a:t>
            </a:r>
          </a:p>
          <a:p>
            <a:pPr eaLnBrk="1" hangingPunct="1">
              <a:buFontTx/>
              <a:buNone/>
            </a:pPr>
            <a:r>
              <a:rPr lang="en-US" altLang="zh-CN" sz="2400" dirty="0"/>
              <a:t>       buffer = new Object[BUFFER_SIZE];</a:t>
            </a:r>
          </a:p>
          <a:p>
            <a:pPr eaLnBrk="1" hangingPunct="1">
              <a:buFontTx/>
              <a:buNone/>
            </a:pPr>
            <a:r>
              <a:rPr lang="en-US" altLang="zh-CN" sz="2400" dirty="0"/>
              <a:t>       mutex = new Semaphore(1);</a:t>
            </a:r>
          </a:p>
          <a:p>
            <a:pPr eaLnBrk="1" hangingPunct="1">
              <a:buFontTx/>
              <a:buNone/>
            </a:pPr>
            <a:r>
              <a:rPr lang="en-US" altLang="zh-CN" sz="2400" dirty="0"/>
              <a:t>       empty = new Semaphore(BUFFER_SIZE);</a:t>
            </a:r>
          </a:p>
          <a:p>
            <a:pPr eaLnBrk="1" hangingPunct="1">
              <a:buFontTx/>
              <a:buNone/>
            </a:pPr>
            <a:r>
              <a:rPr lang="en-US" altLang="zh-CN" sz="2400" dirty="0"/>
              <a:t>       full = new Semaphore(0);</a:t>
            </a:r>
          </a:p>
          <a:p>
            <a:pPr eaLnBrk="1" hangingPunct="1">
              <a:buFontTx/>
              <a:buNone/>
            </a:pPr>
            <a:r>
              <a:rPr lang="en-US" altLang="zh-CN" sz="2400" dirty="0"/>
              <a:t>   }</a:t>
            </a: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p:cNvSpPr>
            <a:spLocks noGrp="1"/>
          </p:cNvSpPr>
          <p:nvPr>
            <p:ph type="title"/>
          </p:nvPr>
        </p:nvSpPr>
        <p:spPr>
          <a:xfrm>
            <a:off x="685800" y="152400"/>
            <a:ext cx="6870700" cy="723900"/>
          </a:xfrm>
          <a:ln/>
        </p:spPr>
        <p:txBody>
          <a:bodyPr vert="horz" wrap="square" lIns="91440" tIns="45720" rIns="91440" bIns="45720" anchor="b" anchorCtr="0"/>
          <a:lstStyle/>
          <a:p>
            <a:pPr eaLnBrk="1" hangingPunct="1"/>
            <a:r>
              <a:rPr lang="en-US" altLang="zh-CN" dirty="0"/>
              <a:t>enter() Method</a:t>
            </a:r>
          </a:p>
        </p:txBody>
      </p:sp>
      <p:sp>
        <p:nvSpPr>
          <p:cNvPr id="112642" name="Rectangle 3"/>
          <p:cNvSpPr>
            <a:spLocks noGrp="1"/>
          </p:cNvSpPr>
          <p:nvPr>
            <p:ph idx="1"/>
          </p:nvPr>
        </p:nvSpPr>
        <p:spPr>
          <a:xfrm>
            <a:off x="2090738" y="971550"/>
            <a:ext cx="6481762" cy="4946650"/>
          </a:xfrm>
          <a:ln/>
        </p:spPr>
        <p:txBody>
          <a:bodyPr vert="horz" wrap="square" lIns="91440" tIns="45720" rIns="91440" bIns="45720" anchor="t" anchorCtr="0"/>
          <a:lstStyle/>
          <a:p>
            <a:pPr eaLnBrk="1" hangingPunct="1">
              <a:buFontTx/>
              <a:buNone/>
            </a:pPr>
            <a:r>
              <a:rPr lang="en-US" altLang="zh-CN" sz="2400" dirty="0"/>
              <a:t>public void enter(Object item) {</a:t>
            </a:r>
          </a:p>
          <a:p>
            <a:pPr eaLnBrk="1" hangingPunct="1">
              <a:buFontTx/>
              <a:buNone/>
            </a:pPr>
            <a:r>
              <a:rPr lang="en-US" altLang="zh-CN" sz="2400" dirty="0"/>
              <a:t>      </a:t>
            </a:r>
            <a:r>
              <a:rPr lang="en-US" altLang="zh-CN" sz="2400" dirty="0">
                <a:solidFill>
                  <a:srgbClr val="0000FF"/>
                </a:solidFill>
              </a:rPr>
              <a:t>empty.P();</a:t>
            </a:r>
          </a:p>
          <a:p>
            <a:pPr eaLnBrk="1" hangingPunct="1">
              <a:buFontTx/>
              <a:buNone/>
            </a:pPr>
            <a:r>
              <a:rPr lang="en-US" altLang="zh-CN" sz="2400" dirty="0"/>
              <a:t>      </a:t>
            </a:r>
            <a:r>
              <a:rPr lang="en-US" altLang="zh-CN" sz="2400" dirty="0">
                <a:solidFill>
                  <a:srgbClr val="FF0000"/>
                </a:solidFill>
              </a:rPr>
              <a:t>mutex.P();</a:t>
            </a:r>
            <a:r>
              <a:rPr lang="en-US" altLang="zh-CN" sz="2400" dirty="0"/>
              <a:t>      </a:t>
            </a:r>
          </a:p>
          <a:p>
            <a:pPr eaLnBrk="1" hangingPunct="1">
              <a:buFontTx/>
              <a:buNone/>
            </a:pPr>
            <a:r>
              <a:rPr lang="en-US" altLang="zh-CN" sz="2400" dirty="0"/>
              <a:t>      // add an item to the buffer</a:t>
            </a:r>
          </a:p>
          <a:p>
            <a:pPr eaLnBrk="1" hangingPunct="1">
              <a:buFontTx/>
              <a:buNone/>
            </a:pPr>
            <a:r>
              <a:rPr lang="en-US" altLang="zh-CN" sz="2400" dirty="0"/>
              <a:t>      ++count;</a:t>
            </a:r>
          </a:p>
          <a:p>
            <a:pPr eaLnBrk="1" hangingPunct="1">
              <a:buFontTx/>
              <a:buNone/>
            </a:pPr>
            <a:r>
              <a:rPr lang="en-US" altLang="zh-CN" sz="2400" dirty="0"/>
              <a:t>      buffer[in] = item;</a:t>
            </a:r>
          </a:p>
          <a:p>
            <a:pPr eaLnBrk="1" hangingPunct="1">
              <a:buFontTx/>
              <a:buNone/>
            </a:pPr>
            <a:r>
              <a:rPr lang="en-US" altLang="zh-CN" sz="2400" dirty="0"/>
              <a:t>      in = (in + 1) % BUFFER_SIZE; </a:t>
            </a:r>
          </a:p>
          <a:p>
            <a:pPr eaLnBrk="1" hangingPunct="1">
              <a:buFontTx/>
              <a:buNone/>
            </a:pPr>
            <a:r>
              <a:rPr lang="en-US" altLang="zh-CN" sz="2400" dirty="0"/>
              <a:t>      </a:t>
            </a:r>
            <a:r>
              <a:rPr lang="en-US" altLang="zh-CN" sz="2400" dirty="0">
                <a:solidFill>
                  <a:srgbClr val="FF0000"/>
                </a:solidFill>
              </a:rPr>
              <a:t>mutex.V();</a:t>
            </a:r>
          </a:p>
          <a:p>
            <a:pPr eaLnBrk="1" hangingPunct="1">
              <a:buFontTx/>
              <a:buNone/>
            </a:pPr>
            <a:r>
              <a:rPr lang="en-US" altLang="zh-CN" sz="2400" dirty="0">
                <a:solidFill>
                  <a:srgbClr val="0000FF"/>
                </a:solidFill>
              </a:rPr>
              <a:t>      full.V();</a:t>
            </a:r>
          </a:p>
          <a:p>
            <a:pPr eaLnBrk="1" hangingPunct="1">
              <a:buFontTx/>
              <a:buNone/>
            </a:pPr>
            <a:r>
              <a:rPr lang="en-US" altLang="zh-CN" sz="2400" dirty="0"/>
              <a:t>}</a:t>
            </a: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a:spLocks noGrp="1"/>
          </p:cNvSpPr>
          <p:nvPr>
            <p:ph type="title"/>
          </p:nvPr>
        </p:nvSpPr>
        <p:spPr>
          <a:xfrm>
            <a:off x="1020763" y="0"/>
            <a:ext cx="6870700" cy="733425"/>
          </a:xfrm>
          <a:ln/>
        </p:spPr>
        <p:txBody>
          <a:bodyPr vert="horz" wrap="square" lIns="91440" tIns="45720" rIns="91440" bIns="45720" anchor="b" anchorCtr="0"/>
          <a:lstStyle/>
          <a:p>
            <a:pPr eaLnBrk="1" hangingPunct="1"/>
            <a:r>
              <a:rPr lang="en-US" altLang="zh-CN" sz="2800" dirty="0"/>
              <a:t>remove() Method</a:t>
            </a:r>
          </a:p>
        </p:txBody>
      </p:sp>
      <p:sp>
        <p:nvSpPr>
          <p:cNvPr id="113666" name="Rectangle 3"/>
          <p:cNvSpPr>
            <a:spLocks noGrp="1"/>
          </p:cNvSpPr>
          <p:nvPr>
            <p:ph idx="1"/>
          </p:nvPr>
        </p:nvSpPr>
        <p:spPr>
          <a:xfrm>
            <a:off x="1071563" y="971550"/>
            <a:ext cx="7246937" cy="5672138"/>
          </a:xfrm>
          <a:ln/>
        </p:spPr>
        <p:txBody>
          <a:bodyPr vert="horz" wrap="square" lIns="91440" tIns="45720" rIns="91440" bIns="45720" anchor="t" anchorCtr="0"/>
          <a:lstStyle/>
          <a:p>
            <a:pPr eaLnBrk="1" hangingPunct="1">
              <a:lnSpc>
                <a:spcPct val="130000"/>
              </a:lnSpc>
              <a:buFontTx/>
              <a:buNone/>
            </a:pPr>
            <a:r>
              <a:rPr lang="en-US" altLang="zh-CN" sz="2000" dirty="0"/>
              <a:t>public Object remove() {</a:t>
            </a:r>
          </a:p>
          <a:p>
            <a:pPr eaLnBrk="1" hangingPunct="1">
              <a:lnSpc>
                <a:spcPct val="130000"/>
              </a:lnSpc>
              <a:buFontTx/>
              <a:buNone/>
            </a:pPr>
            <a:r>
              <a:rPr lang="en-US" altLang="zh-CN" sz="2000" dirty="0">
                <a:solidFill>
                  <a:srgbClr val="0000FF"/>
                </a:solidFill>
              </a:rPr>
              <a:t>      full.P();</a:t>
            </a:r>
          </a:p>
          <a:p>
            <a:pPr eaLnBrk="1" hangingPunct="1">
              <a:lnSpc>
                <a:spcPct val="130000"/>
              </a:lnSpc>
              <a:buFontTx/>
              <a:buNone/>
            </a:pPr>
            <a:r>
              <a:rPr lang="en-US" altLang="zh-CN" sz="2000" dirty="0">
                <a:solidFill>
                  <a:srgbClr val="FF0000"/>
                </a:solidFill>
              </a:rPr>
              <a:t>      mutex.P();</a:t>
            </a:r>
          </a:p>
          <a:p>
            <a:pPr eaLnBrk="1" hangingPunct="1">
              <a:lnSpc>
                <a:spcPct val="130000"/>
              </a:lnSpc>
              <a:buFontTx/>
              <a:buNone/>
            </a:pPr>
            <a:r>
              <a:rPr lang="en-US" altLang="zh-CN" sz="2000" dirty="0"/>
              <a:t>      // remove an item from the buffer</a:t>
            </a:r>
          </a:p>
          <a:p>
            <a:pPr eaLnBrk="1" hangingPunct="1">
              <a:lnSpc>
                <a:spcPct val="130000"/>
              </a:lnSpc>
              <a:buFontTx/>
              <a:buNone/>
            </a:pPr>
            <a:r>
              <a:rPr lang="en-US" altLang="zh-CN" sz="2000" dirty="0"/>
              <a:t>      - - count;</a:t>
            </a:r>
          </a:p>
          <a:p>
            <a:pPr eaLnBrk="1" hangingPunct="1">
              <a:lnSpc>
                <a:spcPct val="130000"/>
              </a:lnSpc>
              <a:buFontTx/>
              <a:buNone/>
            </a:pPr>
            <a:r>
              <a:rPr lang="en-US" altLang="zh-CN" sz="2000" dirty="0"/>
              <a:t>      Object item = buffer[out];</a:t>
            </a:r>
          </a:p>
          <a:p>
            <a:pPr eaLnBrk="1" hangingPunct="1">
              <a:lnSpc>
                <a:spcPct val="130000"/>
              </a:lnSpc>
              <a:buFontTx/>
              <a:buNone/>
            </a:pPr>
            <a:r>
              <a:rPr lang="en-US" altLang="zh-CN" sz="2000" dirty="0"/>
              <a:t>      out = (out + 1) % BUFFER_SIZE;</a:t>
            </a:r>
          </a:p>
          <a:p>
            <a:pPr eaLnBrk="1" hangingPunct="1">
              <a:lnSpc>
                <a:spcPct val="130000"/>
              </a:lnSpc>
              <a:buFontTx/>
              <a:buNone/>
            </a:pPr>
            <a:r>
              <a:rPr lang="en-US" altLang="zh-CN" sz="2000" dirty="0"/>
              <a:t>	</a:t>
            </a:r>
            <a:r>
              <a:rPr lang="en-US" altLang="zh-CN" sz="2000" dirty="0">
                <a:solidFill>
                  <a:srgbClr val="FF0000"/>
                </a:solidFill>
              </a:rPr>
              <a:t>  mutex.V();</a:t>
            </a:r>
          </a:p>
          <a:p>
            <a:pPr eaLnBrk="1" hangingPunct="1">
              <a:lnSpc>
                <a:spcPct val="130000"/>
              </a:lnSpc>
              <a:buFontTx/>
              <a:buNone/>
            </a:pPr>
            <a:r>
              <a:rPr lang="en-US" altLang="zh-CN" sz="2000" dirty="0"/>
              <a:t>      </a:t>
            </a:r>
            <a:r>
              <a:rPr lang="en-US" altLang="zh-CN" sz="2000" dirty="0">
                <a:solidFill>
                  <a:srgbClr val="0000FF"/>
                </a:solidFill>
              </a:rPr>
              <a:t>empty.V();      </a:t>
            </a:r>
          </a:p>
          <a:p>
            <a:pPr eaLnBrk="1" hangingPunct="1">
              <a:lnSpc>
                <a:spcPct val="130000"/>
              </a:lnSpc>
              <a:buFontTx/>
              <a:buNone/>
            </a:pPr>
            <a:r>
              <a:rPr lang="en-US" altLang="zh-CN" sz="2000" dirty="0"/>
              <a:t>      return item;</a:t>
            </a:r>
          </a:p>
          <a:p>
            <a:pPr eaLnBrk="1" hangingPunct="1">
              <a:lnSpc>
                <a:spcPct val="130000"/>
              </a:lnSpc>
              <a:buFontTx/>
              <a:buNone/>
            </a:pPr>
            <a:r>
              <a:rPr lang="en-US" altLang="zh-CN" sz="2000" dirty="0"/>
              <a:t>   }</a:t>
            </a: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p:nvPr/>
        </p:nvSpPr>
        <p:spPr>
          <a:xfrm>
            <a:off x="609600" y="3505200"/>
            <a:ext cx="1676400" cy="609600"/>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nchorCtr="0"/>
          <a:lstStyle/>
          <a:p>
            <a:pPr eaLnBrk="0" hangingPunct="0"/>
            <a:endParaRPr lang="zh-CN" altLang="zh-CN" sz="1800" dirty="0">
              <a:latin typeface="Verdana" panose="020B0604030504040204" pitchFamily="34" charset="0"/>
            </a:endParaRPr>
          </a:p>
        </p:txBody>
      </p:sp>
      <p:sp>
        <p:nvSpPr>
          <p:cNvPr id="114690" name="Rectangle 2"/>
          <p:cNvSpPr>
            <a:spLocks noGrp="1"/>
          </p:cNvSpPr>
          <p:nvPr>
            <p:ph type="title" idx="4294967295"/>
          </p:nvPr>
        </p:nvSpPr>
        <p:spPr>
          <a:xfrm>
            <a:off x="0" y="76200"/>
            <a:ext cx="9144000" cy="749300"/>
          </a:xfrm>
          <a:ln/>
        </p:spPr>
        <p:txBody>
          <a:bodyPr vert="horz" wrap="square" lIns="91440" tIns="45720" rIns="91440" bIns="45720" anchor="b" anchorCtr="0"/>
          <a:lstStyle/>
          <a:p>
            <a:pPr eaLnBrk="1" hangingPunct="1"/>
            <a:r>
              <a:rPr lang="en-US" altLang="zh-CN" sz="4000" dirty="0">
                <a:solidFill>
                  <a:srgbClr val="0000FF"/>
                </a:solidFill>
              </a:rPr>
              <a:t>What’s wrong?</a:t>
            </a:r>
            <a:endParaRPr lang="en-US" altLang="zh-CN" dirty="0">
              <a:solidFill>
                <a:srgbClr val="0000FF"/>
              </a:solidFill>
            </a:endParaRPr>
          </a:p>
        </p:txBody>
      </p:sp>
      <p:sp>
        <p:nvSpPr>
          <p:cNvPr id="8" name="Text Box 3"/>
          <p:cNvSpPr txBox="1"/>
          <p:nvPr/>
        </p:nvSpPr>
        <p:spPr>
          <a:xfrm>
            <a:off x="2346325" y="3541713"/>
            <a:ext cx="2255838" cy="366712"/>
          </a:xfrm>
          <a:prstGeom prst="rect">
            <a:avLst/>
          </a:prstGeom>
          <a:noFill/>
          <a:ln w="9525">
            <a:noFill/>
          </a:ln>
        </p:spPr>
        <p:txBody>
          <a:bodyPr wrap="none" anchor="t" anchorCtr="0">
            <a:spAutoFit/>
          </a:bodyPr>
          <a:lstStyle/>
          <a:p>
            <a:pPr eaLnBrk="0" hangingPunct="0"/>
            <a:r>
              <a:rPr lang="en-US" altLang="zh-CN" sz="1800" dirty="0">
                <a:latin typeface="Verdana" panose="020B0604030504040204" pitchFamily="34" charset="0"/>
              </a:rPr>
              <a:t>What if buffer is full?</a:t>
            </a:r>
          </a:p>
        </p:txBody>
      </p:sp>
      <p:sp>
        <p:nvSpPr>
          <p:cNvPr id="114693" name="Text Box 3"/>
          <p:cNvSpPr txBox="1"/>
          <p:nvPr/>
        </p:nvSpPr>
        <p:spPr>
          <a:xfrm>
            <a:off x="1308100" y="847725"/>
            <a:ext cx="6869113" cy="1476375"/>
          </a:xfrm>
          <a:prstGeom prst="rect">
            <a:avLst/>
          </a:prstGeom>
          <a:noFill/>
          <a:ln w="9525">
            <a:noFill/>
          </a:ln>
        </p:spPr>
        <p:txBody>
          <a:bodyPr wrap="none" anchor="t" anchorCtr="0">
            <a:spAutoFit/>
          </a:bodyPr>
          <a:lstStyle/>
          <a:p>
            <a:pPr eaLnBrk="0" hangingPunct="0"/>
            <a:r>
              <a:rPr lang="en-US" altLang="zh-CN" sz="1800" dirty="0">
                <a:solidFill>
                  <a:srgbClr val="008000"/>
                </a:solidFill>
                <a:latin typeface="Comic Sans MS" panose="030F0702030302020204" pitchFamily="66" charset="0"/>
              </a:rPr>
              <a:t>Init: Semaphore mutex = 1;    /* for mutual exclusion*/</a:t>
            </a:r>
          </a:p>
          <a:p>
            <a:pPr eaLnBrk="0" hangingPunct="0"/>
            <a:r>
              <a:rPr lang="en-US" altLang="zh-CN" sz="1800" dirty="0">
                <a:solidFill>
                  <a:srgbClr val="008000"/>
                </a:solidFill>
                <a:latin typeface="Comic Sans MS" panose="030F0702030302020204" pitchFamily="66" charset="0"/>
              </a:rPr>
              <a:t>        Semaphore empty = N;  /* number empty buf entries */</a:t>
            </a:r>
          </a:p>
          <a:p>
            <a:pPr eaLnBrk="0" hangingPunct="0"/>
            <a:r>
              <a:rPr lang="en-US" altLang="zh-CN" sz="1800" dirty="0">
                <a:solidFill>
                  <a:srgbClr val="008000"/>
                </a:solidFill>
                <a:latin typeface="Comic Sans MS" panose="030F0702030302020204" pitchFamily="66" charset="0"/>
              </a:rPr>
              <a:t>        Semaphore full = 0;       /* number full buf entries */</a:t>
            </a:r>
          </a:p>
          <a:p>
            <a:pPr eaLnBrk="0" hangingPunct="0"/>
            <a:r>
              <a:rPr lang="en-US" altLang="zh-CN" sz="1800" dirty="0">
                <a:solidFill>
                  <a:srgbClr val="009900"/>
                </a:solidFill>
                <a:latin typeface="Comic Sans MS" panose="030F0702030302020204" pitchFamily="66" charset="0"/>
              </a:rPr>
              <a:t>        any_t buf[N];</a:t>
            </a:r>
          </a:p>
          <a:p>
            <a:pPr eaLnBrk="0" hangingPunct="0"/>
            <a:r>
              <a:rPr lang="en-US" altLang="zh-CN" sz="1800" dirty="0">
                <a:solidFill>
                  <a:srgbClr val="009900"/>
                </a:solidFill>
                <a:latin typeface="Comic Sans MS" panose="030F0702030302020204" pitchFamily="66" charset="0"/>
              </a:rPr>
              <a:t>        int tail = 0, head = 0;</a:t>
            </a:r>
            <a:endParaRPr lang="en-US" altLang="zh-CN" sz="1600" dirty="0">
              <a:solidFill>
                <a:srgbClr val="009900"/>
              </a:solidFill>
              <a:latin typeface="Comic Sans MS" panose="030F0702030302020204" pitchFamily="66" charset="0"/>
            </a:endParaRPr>
          </a:p>
        </p:txBody>
      </p:sp>
      <p:sp>
        <p:nvSpPr>
          <p:cNvPr id="114694" name="Text Box 5"/>
          <p:cNvSpPr txBox="1"/>
          <p:nvPr/>
        </p:nvSpPr>
        <p:spPr>
          <a:xfrm>
            <a:off x="5264150" y="2228850"/>
            <a:ext cx="3598863" cy="4246563"/>
          </a:xfrm>
          <a:prstGeom prst="rect">
            <a:avLst/>
          </a:prstGeom>
          <a:noFill/>
          <a:ln w="9525">
            <a:noFill/>
          </a:ln>
        </p:spPr>
        <p:txBody>
          <a:bodyPr anchor="t" anchorCtr="0">
            <a:spAutoFit/>
          </a:bodyPr>
          <a:lstStyle/>
          <a:p>
            <a:pPr eaLnBrk="0" hangingPunct="0"/>
            <a:r>
              <a:rPr lang="en-US" altLang="zh-CN" sz="1800" b="1" u="sng" dirty="0">
                <a:solidFill>
                  <a:srgbClr val="008000"/>
                </a:solidFill>
                <a:latin typeface="Comic Sans MS" panose="030F0702030302020204" pitchFamily="66" charset="0"/>
              </a:rPr>
              <a:t>Consumer</a:t>
            </a:r>
            <a:endParaRPr lang="en-US" altLang="zh-CN" sz="1800" dirty="0">
              <a:solidFill>
                <a:srgbClr val="008000"/>
              </a:solidFill>
              <a:latin typeface="Comic Sans MS" panose="030F0702030302020204" pitchFamily="66" charset="0"/>
            </a:endParaRPr>
          </a:p>
          <a:p>
            <a:pPr eaLnBrk="0" hangingPunct="0"/>
            <a:endParaRPr lang="en-US" altLang="zh-CN" sz="1800" dirty="0">
              <a:solidFill>
                <a:srgbClr val="008000"/>
              </a:solidFill>
              <a:latin typeface="Comic Sans MS" panose="030F0702030302020204" pitchFamily="66" charset="0"/>
            </a:endParaRPr>
          </a:p>
          <a:p>
            <a:pPr eaLnBrk="0" hangingPunct="0"/>
            <a:r>
              <a:rPr lang="en-US" altLang="zh-CN" sz="1800" dirty="0">
                <a:solidFill>
                  <a:srgbClr val="008000"/>
                </a:solidFill>
                <a:latin typeface="Comic Sans MS" panose="030F0702030302020204" pitchFamily="66" charset="0"/>
              </a:rPr>
              <a:t>char get() {</a:t>
            </a:r>
          </a:p>
          <a:p>
            <a:pPr eaLnBrk="0" hangingPunct="0"/>
            <a:endParaRPr lang="en-US" altLang="zh-CN" sz="1800" dirty="0">
              <a:solidFill>
                <a:srgbClr val="008000"/>
              </a:solidFill>
              <a:latin typeface="Comic Sans MS" panose="030F0702030302020204" pitchFamily="66" charset="0"/>
            </a:endParaRPr>
          </a:p>
          <a:p>
            <a:pPr eaLnBrk="0" hangingPunct="0"/>
            <a:r>
              <a:rPr lang="en-US" altLang="zh-CN" sz="1800" dirty="0">
                <a:solidFill>
                  <a:srgbClr val="008000"/>
                </a:solidFill>
                <a:latin typeface="Comic Sans MS" panose="030F0702030302020204" pitchFamily="66" charset="0"/>
              </a:rPr>
              <a:t>    wait (full );</a:t>
            </a:r>
          </a:p>
          <a:p>
            <a:pPr eaLnBrk="0" hangingPunct="0"/>
            <a:r>
              <a:rPr lang="en-US" altLang="zh-CN" sz="1800" dirty="0">
                <a:solidFill>
                  <a:srgbClr val="008000"/>
                </a:solidFill>
                <a:latin typeface="Comic Sans MS" panose="030F0702030302020204" pitchFamily="66" charset="0"/>
              </a:rPr>
              <a:t>    wait (mutex);</a:t>
            </a:r>
          </a:p>
          <a:p>
            <a:pPr eaLnBrk="0" hangingPunct="0"/>
            <a:r>
              <a:rPr lang="en-US" altLang="zh-CN" sz="1800" dirty="0">
                <a:solidFill>
                  <a:srgbClr val="008000"/>
                </a:solidFill>
                <a:latin typeface="Comic Sans MS" panose="030F0702030302020204" pitchFamily="66" charset="0"/>
              </a:rPr>
              <a:t>    </a:t>
            </a:r>
          </a:p>
          <a:p>
            <a:pPr eaLnBrk="0" hangingPunct="0"/>
            <a:r>
              <a:rPr lang="en-US" altLang="zh-CN" sz="1800" dirty="0">
                <a:solidFill>
                  <a:srgbClr val="008000"/>
                </a:solidFill>
                <a:latin typeface="Comic Sans MS" panose="030F0702030302020204" pitchFamily="66" charset="0"/>
              </a:rPr>
              <a:t>    // remove ch from buffer</a:t>
            </a:r>
          </a:p>
          <a:p>
            <a:pPr eaLnBrk="0" hangingPunct="0"/>
            <a:r>
              <a:rPr lang="en-US" altLang="zh-CN" sz="1800" dirty="0">
                <a:solidFill>
                  <a:srgbClr val="008000"/>
                </a:solidFill>
                <a:latin typeface="Comic Sans MS" panose="030F0702030302020204" pitchFamily="66" charset="0"/>
              </a:rPr>
              <a:t>    ch = buf[tail%N];</a:t>
            </a:r>
          </a:p>
          <a:p>
            <a:pPr eaLnBrk="0" hangingPunct="0"/>
            <a:r>
              <a:rPr lang="en-US" altLang="zh-CN" sz="1800" dirty="0">
                <a:solidFill>
                  <a:srgbClr val="008000"/>
                </a:solidFill>
                <a:latin typeface="Comic Sans MS" panose="030F0702030302020204" pitchFamily="66" charset="0"/>
              </a:rPr>
              <a:t>    tail++;</a:t>
            </a:r>
          </a:p>
          <a:p>
            <a:pPr eaLnBrk="0" hangingPunct="0"/>
            <a:r>
              <a:rPr lang="en-US" altLang="zh-CN" sz="1800" dirty="0">
                <a:solidFill>
                  <a:srgbClr val="008000"/>
                </a:solidFill>
                <a:latin typeface="Comic Sans MS" panose="030F0702030302020204" pitchFamily="66" charset="0"/>
              </a:rPr>
              <a:t>     </a:t>
            </a:r>
          </a:p>
          <a:p>
            <a:pPr eaLnBrk="0" hangingPunct="0"/>
            <a:r>
              <a:rPr lang="en-US" altLang="zh-CN" sz="1800" dirty="0">
                <a:solidFill>
                  <a:srgbClr val="008000"/>
                </a:solidFill>
                <a:latin typeface="Comic Sans MS" panose="030F0702030302020204" pitchFamily="66" charset="0"/>
              </a:rPr>
              <a:t>    signal (mutex);</a:t>
            </a:r>
          </a:p>
          <a:p>
            <a:pPr eaLnBrk="0" hangingPunct="0"/>
            <a:r>
              <a:rPr lang="en-US" altLang="zh-CN" sz="1800" dirty="0">
                <a:solidFill>
                  <a:srgbClr val="008000"/>
                </a:solidFill>
                <a:latin typeface="Comic Sans MS" panose="030F0702030302020204" pitchFamily="66" charset="0"/>
              </a:rPr>
              <a:t>    signal (empty);</a:t>
            </a:r>
            <a:r>
              <a:rPr lang="en-US" altLang="zh-CN" sz="1800" dirty="0">
                <a:latin typeface="Verdana" panose="020B0604030504040204" pitchFamily="34" charset="0"/>
              </a:rPr>
              <a:t>  </a:t>
            </a:r>
            <a:r>
              <a:rPr lang="en-US" altLang="zh-CN" sz="1800" dirty="0">
                <a:solidFill>
                  <a:srgbClr val="008000"/>
                </a:solidFill>
                <a:latin typeface="Verdana" panose="020B0604030504040204" pitchFamily="34" charset="0"/>
              </a:rPr>
              <a:t> </a:t>
            </a:r>
          </a:p>
          <a:p>
            <a:pPr eaLnBrk="0" hangingPunct="0"/>
            <a:r>
              <a:rPr lang="en-US" altLang="zh-CN" sz="1800" dirty="0">
                <a:solidFill>
                  <a:srgbClr val="008000"/>
                </a:solidFill>
                <a:latin typeface="Verdana" panose="020B0604030504040204" pitchFamily="34" charset="0"/>
              </a:rPr>
              <a:t>   return ch;</a:t>
            </a:r>
          </a:p>
          <a:p>
            <a:pPr eaLnBrk="0" hangingPunct="0"/>
            <a:r>
              <a:rPr lang="en-US" altLang="zh-CN" sz="1800" dirty="0">
                <a:solidFill>
                  <a:srgbClr val="008000"/>
                </a:solidFill>
                <a:latin typeface="Comic Sans MS" panose="030F0702030302020204" pitchFamily="66" charset="0"/>
              </a:rPr>
              <a:t>}</a:t>
            </a:r>
          </a:p>
        </p:txBody>
      </p:sp>
      <p:sp>
        <p:nvSpPr>
          <p:cNvPr id="114695" name="Text Box 4"/>
          <p:cNvSpPr txBox="1"/>
          <p:nvPr/>
        </p:nvSpPr>
        <p:spPr>
          <a:xfrm>
            <a:off x="466725" y="2351088"/>
            <a:ext cx="2574925" cy="3970337"/>
          </a:xfrm>
          <a:prstGeom prst="rect">
            <a:avLst/>
          </a:prstGeom>
          <a:noFill/>
          <a:ln w="9525">
            <a:noFill/>
          </a:ln>
        </p:spPr>
        <p:txBody>
          <a:bodyPr wrap="none" anchor="t" anchorCtr="0">
            <a:spAutoFit/>
          </a:bodyPr>
          <a:lstStyle/>
          <a:p>
            <a:pPr eaLnBrk="0" hangingPunct="0"/>
            <a:r>
              <a:rPr lang="en-US" altLang="zh-CN" sz="1800" b="1" u="sng" dirty="0">
                <a:solidFill>
                  <a:srgbClr val="008000"/>
                </a:solidFill>
                <a:latin typeface="Comic Sans MS" panose="030F0702030302020204" pitchFamily="66" charset="0"/>
              </a:rPr>
              <a:t>Producer</a:t>
            </a:r>
            <a:endParaRPr lang="en-US" altLang="zh-CN" sz="1800" dirty="0">
              <a:solidFill>
                <a:srgbClr val="008000"/>
              </a:solidFill>
              <a:latin typeface="Comic Sans MS" panose="030F0702030302020204" pitchFamily="66" charset="0"/>
            </a:endParaRPr>
          </a:p>
          <a:p>
            <a:pPr eaLnBrk="0" hangingPunct="0"/>
            <a:endParaRPr lang="en-US" altLang="zh-CN" sz="1800" dirty="0">
              <a:solidFill>
                <a:srgbClr val="008000"/>
              </a:solidFill>
              <a:latin typeface="Comic Sans MS" panose="030F0702030302020204" pitchFamily="66" charset="0"/>
            </a:endParaRPr>
          </a:p>
          <a:p>
            <a:pPr eaLnBrk="0" hangingPunct="0"/>
            <a:r>
              <a:rPr lang="en-US" altLang="zh-CN" sz="1800" dirty="0">
                <a:solidFill>
                  <a:srgbClr val="008000"/>
                </a:solidFill>
                <a:latin typeface="Comic Sans MS" panose="030F0702030302020204" pitchFamily="66" charset="0"/>
              </a:rPr>
              <a:t>void put(char ch)  {</a:t>
            </a:r>
          </a:p>
          <a:p>
            <a:pPr eaLnBrk="0" hangingPunct="0"/>
            <a:endParaRPr lang="en-US" altLang="zh-CN" sz="1800" dirty="0">
              <a:solidFill>
                <a:srgbClr val="008000"/>
              </a:solidFill>
              <a:latin typeface="Comic Sans MS" panose="030F0702030302020204" pitchFamily="66" charset="0"/>
            </a:endParaRPr>
          </a:p>
          <a:p>
            <a:pPr eaLnBrk="0" hangingPunct="0"/>
            <a:r>
              <a:rPr lang="en-US" altLang="zh-CN" sz="1800" dirty="0">
                <a:solidFill>
                  <a:srgbClr val="008000"/>
                </a:solidFill>
                <a:latin typeface="Comic Sans MS" panose="030F0702030302020204" pitchFamily="66" charset="0"/>
              </a:rPr>
              <a:t>    wait(mutex);</a:t>
            </a:r>
          </a:p>
          <a:p>
            <a:pPr eaLnBrk="0" hangingPunct="0"/>
            <a:r>
              <a:rPr lang="en-US" altLang="zh-CN" sz="1800" dirty="0">
                <a:solidFill>
                  <a:srgbClr val="008000"/>
                </a:solidFill>
                <a:latin typeface="Comic Sans MS" panose="030F0702030302020204" pitchFamily="66" charset="0"/>
              </a:rPr>
              <a:t>    wait (empty);</a:t>
            </a:r>
          </a:p>
          <a:p>
            <a:pPr eaLnBrk="0" hangingPunct="0"/>
            <a:r>
              <a:rPr lang="en-US" altLang="zh-CN" sz="1800" dirty="0">
                <a:solidFill>
                  <a:srgbClr val="008000"/>
                </a:solidFill>
                <a:latin typeface="Comic Sans MS" panose="030F0702030302020204" pitchFamily="66" charset="0"/>
              </a:rPr>
              <a:t> </a:t>
            </a:r>
          </a:p>
          <a:p>
            <a:pPr eaLnBrk="0" hangingPunct="0"/>
            <a:r>
              <a:rPr lang="en-US" altLang="zh-CN" sz="1800" dirty="0">
                <a:solidFill>
                  <a:srgbClr val="008000"/>
                </a:solidFill>
                <a:latin typeface="Comic Sans MS" panose="030F0702030302020204" pitchFamily="66" charset="0"/>
              </a:rPr>
              <a:t>    // add ch to buffer</a:t>
            </a:r>
          </a:p>
          <a:p>
            <a:pPr eaLnBrk="0" hangingPunct="0"/>
            <a:r>
              <a:rPr lang="en-US" altLang="zh-CN" sz="1800" dirty="0">
                <a:solidFill>
                  <a:srgbClr val="008000"/>
                </a:solidFill>
                <a:latin typeface="Comic Sans MS" panose="030F0702030302020204" pitchFamily="66" charset="0"/>
              </a:rPr>
              <a:t>    buf[head%N] = ch;</a:t>
            </a:r>
          </a:p>
          <a:p>
            <a:pPr eaLnBrk="0" hangingPunct="0"/>
            <a:r>
              <a:rPr lang="en-US" altLang="zh-CN" sz="1800" dirty="0">
                <a:solidFill>
                  <a:srgbClr val="008000"/>
                </a:solidFill>
                <a:latin typeface="Comic Sans MS" panose="030F0702030302020204" pitchFamily="66" charset="0"/>
              </a:rPr>
              <a:t>    head++;</a:t>
            </a:r>
          </a:p>
          <a:p>
            <a:pPr eaLnBrk="0" hangingPunct="0"/>
            <a:r>
              <a:rPr lang="en-US" altLang="zh-CN" sz="1800" dirty="0">
                <a:solidFill>
                  <a:srgbClr val="008000"/>
                </a:solidFill>
                <a:latin typeface="Comic Sans MS" panose="030F0702030302020204" pitchFamily="66" charset="0"/>
              </a:rPr>
              <a:t>    </a:t>
            </a:r>
          </a:p>
          <a:p>
            <a:pPr eaLnBrk="0" hangingPunct="0"/>
            <a:r>
              <a:rPr lang="en-US" altLang="zh-CN" sz="1800" dirty="0">
                <a:solidFill>
                  <a:srgbClr val="0000FF"/>
                </a:solidFill>
                <a:latin typeface="Verdana" panose="020B0604030504040204" pitchFamily="34" charset="0"/>
                <a:ea typeface="宋体" panose="02010600030101010101" pitchFamily="2" charset="-122"/>
              </a:rPr>
              <a:t>   </a:t>
            </a:r>
            <a:r>
              <a:rPr lang="en-US" altLang="zh-CN" sz="1800" dirty="0">
                <a:solidFill>
                  <a:srgbClr val="008000"/>
                </a:solidFill>
                <a:latin typeface="Comic Sans MS" panose="030F0702030302020204" pitchFamily="66" charset="0"/>
              </a:rPr>
              <a:t>signal(mutex);</a:t>
            </a:r>
          </a:p>
          <a:p>
            <a:pPr eaLnBrk="0" hangingPunct="0"/>
            <a:r>
              <a:rPr lang="en-US" altLang="zh-CN" sz="1800" dirty="0">
                <a:solidFill>
                  <a:srgbClr val="008000"/>
                </a:solidFill>
                <a:latin typeface="Comic Sans MS" panose="030F0702030302020204" pitchFamily="66" charset="0"/>
              </a:rPr>
              <a:t>    signal (full );</a:t>
            </a:r>
          </a:p>
          <a:p>
            <a:pPr eaLnBrk="0" hangingPunct="0"/>
            <a:r>
              <a:rPr lang="en-US" altLang="zh-CN" sz="1800" dirty="0">
                <a:solidFill>
                  <a:srgbClr val="008000"/>
                </a:solidFill>
                <a:latin typeface="Comic Sans MS" panose="030F0702030302020204" pitchFamily="66" charset="0"/>
              </a:rPr>
              <a:t>}</a:t>
            </a:r>
            <a:endParaRPr lang="en-US" altLang="zh-CN" sz="1800" b="1" u="sng" dirty="0">
              <a:solidFill>
                <a:srgbClr val="008000"/>
              </a:solidFill>
              <a:latin typeface="Comic Sans MS" panose="030F0702030302020204" pitchFamily="66" charset="0"/>
            </a:endParaRPr>
          </a:p>
        </p:txBody>
      </p:sp>
      <p:sp>
        <p:nvSpPr>
          <p:cNvPr id="9" name="AutoShape 8"/>
          <p:cNvSpPr/>
          <p:nvPr/>
        </p:nvSpPr>
        <p:spPr>
          <a:xfrm>
            <a:off x="2362200" y="1981200"/>
            <a:ext cx="4775200" cy="1185863"/>
          </a:xfrm>
          <a:prstGeom prst="wedgeRectCallout">
            <a:avLst>
              <a:gd name="adj1" fmla="val -51722"/>
              <a:gd name="adj2" fmla="val 93310"/>
            </a:avLst>
          </a:prstGeom>
          <a:solidFill>
            <a:schemeClr val="accent1"/>
          </a:solidFill>
          <a:ln w="9525" cap="flat" cmpd="sng">
            <a:solidFill>
              <a:schemeClr val="tx1"/>
            </a:solidFill>
            <a:prstDash val="solid"/>
            <a:miter/>
            <a:headEnd type="none" w="med" len="med"/>
            <a:tailEnd type="none" w="med" len="med"/>
          </a:ln>
        </p:spPr>
        <p:txBody>
          <a:bodyPr anchor="t" anchorCtr="0"/>
          <a:lstStyle/>
          <a:p>
            <a:pPr eaLnBrk="0" hangingPunct="0"/>
            <a:r>
              <a:rPr lang="en-US" altLang="zh-CN" sz="1800" dirty="0">
                <a:latin typeface="Verdana" panose="020B0604030504040204" pitchFamily="34" charset="0"/>
              </a:rPr>
              <a:t>Oops!  Even if you do the correct operations, the </a:t>
            </a:r>
            <a:r>
              <a:rPr lang="en-US" altLang="zh-CN" sz="1800" i="1" u="sng" dirty="0">
                <a:latin typeface="Verdana" panose="020B0604030504040204" pitchFamily="34" charset="0"/>
              </a:rPr>
              <a:t>order</a:t>
            </a:r>
            <a:r>
              <a:rPr lang="en-US" altLang="zh-CN" sz="1800" dirty="0">
                <a:latin typeface="Verdana" panose="020B0604030504040204" pitchFamily="34" charset="0"/>
              </a:rPr>
              <a:t> in which you do semaphore operations can have an incredible impact on correctness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2"/>
          <p:cNvSpPr>
            <a:spLocks noGrp="1"/>
          </p:cNvSpPr>
          <p:nvPr>
            <p:ph type="title" idx="4294967295"/>
          </p:nvPr>
        </p:nvSpPr>
        <p:spPr>
          <a:xfrm>
            <a:off x="654050" y="249238"/>
            <a:ext cx="8229600" cy="576262"/>
          </a:xfrm>
          <a:ln/>
        </p:spPr>
        <p:txBody>
          <a:bodyPr vert="horz" wrap="square" lIns="91440" tIns="45720" rIns="91440" bIns="45720" anchor="b" anchorCtr="0"/>
          <a:lstStyle/>
          <a:p>
            <a:pPr eaLnBrk="1" hangingPunct="1"/>
            <a:r>
              <a:rPr lang="en-US" altLang="zh-CN" sz="2800" dirty="0">
                <a:ea typeface="宋体" panose="02010600030101010101" pitchFamily="2" charset="-122"/>
              </a:rPr>
              <a:t>Discussion about Bounded Buffer Solution</a:t>
            </a:r>
          </a:p>
        </p:txBody>
      </p:sp>
      <p:sp>
        <p:nvSpPr>
          <p:cNvPr id="113667" name="Rectangle 3"/>
          <p:cNvSpPr>
            <a:spLocks noGrp="1"/>
          </p:cNvSpPr>
          <p:nvPr>
            <p:ph type="body" idx="4294967295"/>
          </p:nvPr>
        </p:nvSpPr>
        <p:spPr>
          <a:xfrm>
            <a:off x="325438" y="1089025"/>
            <a:ext cx="8534400" cy="4970463"/>
          </a:xfrm>
          <a:ln/>
        </p:spPr>
        <p:txBody>
          <a:bodyPr vert="horz" wrap="square" lIns="91440" tIns="45720" rIns="91440" bIns="45720" anchor="t" anchorCtr="0"/>
          <a:lstStyle/>
          <a:p>
            <a:pPr eaLnBrk="1" hangingPunct="1"/>
            <a:r>
              <a:rPr lang="en-US" altLang="zh-CN" sz="2400" dirty="0"/>
              <a:t>Why asymmetry</a:t>
            </a:r>
            <a:r>
              <a:rPr lang="zh-CN" altLang="en-US" sz="2400" dirty="0"/>
              <a:t>（不对称）</a:t>
            </a:r>
            <a:r>
              <a:rPr lang="en-US" altLang="zh-CN" sz="2400" dirty="0"/>
              <a:t>?</a:t>
            </a:r>
          </a:p>
          <a:p>
            <a:pPr lvl="1" eaLnBrk="1" hangingPunct="1"/>
            <a:r>
              <a:rPr lang="en-US" altLang="zh-CN" sz="2400" dirty="0"/>
              <a:t>Producer does:   wait (empty), signal(full)</a:t>
            </a:r>
          </a:p>
          <a:p>
            <a:pPr lvl="1" eaLnBrk="1" hangingPunct="1"/>
            <a:r>
              <a:rPr lang="en-US" altLang="zh-CN" sz="2400" dirty="0"/>
              <a:t>Consumer does: wait (full), signal(empty)</a:t>
            </a:r>
          </a:p>
          <a:p>
            <a:pPr eaLnBrk="1" hangingPunct="1"/>
            <a:r>
              <a:rPr lang="en-US" altLang="zh-CN" sz="2400" dirty="0"/>
              <a:t>Is order of  wait ’s important?</a:t>
            </a:r>
          </a:p>
          <a:p>
            <a:pPr lvl="1" eaLnBrk="1" hangingPunct="1"/>
            <a:r>
              <a:rPr lang="en-US" altLang="zh-CN" sz="2400" dirty="0"/>
              <a:t>Yes!  Can cause deadlock</a:t>
            </a:r>
          </a:p>
          <a:p>
            <a:pPr eaLnBrk="1" hangingPunct="1"/>
            <a:r>
              <a:rPr lang="en-US" altLang="zh-CN" sz="2400" dirty="0"/>
              <a:t>Is order of signal’s important?</a:t>
            </a:r>
          </a:p>
          <a:p>
            <a:pPr lvl="1" eaLnBrk="1" hangingPunct="1"/>
            <a:r>
              <a:rPr lang="en-US" altLang="zh-CN" sz="2400" dirty="0"/>
              <a:t>No, except that it might affect scheduling efficiency</a:t>
            </a:r>
          </a:p>
          <a:p>
            <a:pPr eaLnBrk="1" hangingPunct="1"/>
            <a:r>
              <a:rPr lang="en-US" altLang="zh-CN" sz="2400" dirty="0"/>
              <a:t>What if we have 2 producers or 2 consumers?</a:t>
            </a:r>
          </a:p>
          <a:p>
            <a:pPr lvl="1" eaLnBrk="1" hangingPunct="1"/>
            <a:r>
              <a:rPr lang="en-US" altLang="zh-CN" sz="2400" dirty="0"/>
              <a:t>Do we need to change anything?</a:t>
            </a:r>
          </a:p>
          <a:p>
            <a:pPr lvl="1" eaLnBrk="1" hangingPunct="1"/>
            <a:endParaRPr lang="en-US" altLang="zh-CN"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6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36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36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366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366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366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366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366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Slide Number Placeholder 5"/>
          <p:cNvSpPr txBox="1">
            <a:spLocks noGrp="1"/>
          </p:cNvSpPr>
          <p:nvPr/>
        </p:nvSpPr>
        <p:spPr>
          <a:xfrm>
            <a:off x="6553200" y="6245225"/>
            <a:ext cx="2133600" cy="476250"/>
          </a:xfrm>
          <a:prstGeom prst="rect">
            <a:avLst/>
          </a:prstGeom>
          <a:noFill/>
          <a:ln w="9525">
            <a:noFill/>
          </a:ln>
        </p:spPr>
        <p:txBody>
          <a:bodyPr anchor="t" anchorCtr="0"/>
          <a:lstStyle/>
          <a:p>
            <a:pPr eaLnBrk="0" hangingPunct="0"/>
            <a:fld id="{9A0DB2DC-4C9A-4742-B13C-FB6460FD3503}" type="slidenum">
              <a:rPr lang="en-US" altLang="zh-CN" sz="1800" dirty="0">
                <a:latin typeface="Verdana" panose="020B0604030504040204" pitchFamily="34" charset="0"/>
              </a:rPr>
              <a:t>85</a:t>
            </a:fld>
            <a:endParaRPr lang="en-US" altLang="zh-CN" sz="1800" dirty="0">
              <a:latin typeface="Verdana" panose="020B0604030504040204" pitchFamily="34" charset="0"/>
            </a:endParaRPr>
          </a:p>
        </p:txBody>
      </p:sp>
      <p:sp>
        <p:nvSpPr>
          <p:cNvPr id="118786" name="Rectangle 2"/>
          <p:cNvSpPr>
            <a:spLocks noGrp="1"/>
          </p:cNvSpPr>
          <p:nvPr>
            <p:ph type="title" idx="4294967295"/>
          </p:nvPr>
        </p:nvSpPr>
        <p:spPr>
          <a:xfrm>
            <a:off x="76200" y="228600"/>
            <a:ext cx="8915400" cy="585788"/>
          </a:xfrm>
          <a:ln/>
        </p:spPr>
        <p:txBody>
          <a:bodyPr vert="horz" wrap="square" lIns="91440" tIns="45720" rIns="91440" bIns="45720" anchor="b" anchorCtr="0"/>
          <a:lstStyle/>
          <a:p>
            <a:pPr eaLnBrk="1" hangingPunct="1"/>
            <a:r>
              <a:rPr lang="en-US" altLang="zh-CN" dirty="0">
                <a:ea typeface="宋体" panose="02010600030101010101" pitchFamily="2" charset="-122"/>
              </a:rPr>
              <a:t>Readers-Writers Problem</a:t>
            </a:r>
            <a:endParaRPr lang="en-US" altLang="zh-CN" dirty="0"/>
          </a:p>
        </p:txBody>
      </p:sp>
      <p:sp>
        <p:nvSpPr>
          <p:cNvPr id="93187" name="Rectangle 3"/>
          <p:cNvSpPr>
            <a:spLocks noGrp="1"/>
          </p:cNvSpPr>
          <p:nvPr>
            <p:ph type="body" idx="4294967295"/>
          </p:nvPr>
        </p:nvSpPr>
        <p:spPr>
          <a:xfrm>
            <a:off x="419100" y="4038600"/>
            <a:ext cx="8496300" cy="2162175"/>
          </a:xfrm>
          <a:ln/>
        </p:spPr>
        <p:txBody>
          <a:bodyPr vert="horz" wrap="square" lIns="91440" tIns="45720" rIns="91440" bIns="45720" anchor="t" anchorCtr="0"/>
          <a:lstStyle/>
          <a:p>
            <a:pPr eaLnBrk="1" hangingPunct="1"/>
            <a:r>
              <a:rPr lang="en-US" altLang="zh-CN" sz="2400" dirty="0"/>
              <a:t>Motivation: Consider a shared database</a:t>
            </a:r>
          </a:p>
          <a:p>
            <a:pPr lvl="1" eaLnBrk="1" hangingPunct="1"/>
            <a:r>
              <a:rPr lang="en-US" altLang="zh-CN" sz="2400" dirty="0"/>
              <a:t>Two classes of users:</a:t>
            </a:r>
          </a:p>
          <a:p>
            <a:pPr lvl="2" eaLnBrk="1" hangingPunct="1"/>
            <a:r>
              <a:rPr lang="en-US" altLang="zh-CN" dirty="0"/>
              <a:t>Readers – never modify database</a:t>
            </a:r>
          </a:p>
          <a:p>
            <a:pPr lvl="2" eaLnBrk="1" hangingPunct="1"/>
            <a:r>
              <a:rPr lang="en-US" altLang="zh-CN" dirty="0"/>
              <a:t>Writers – read and modify database</a:t>
            </a:r>
          </a:p>
        </p:txBody>
      </p:sp>
      <p:grpSp>
        <p:nvGrpSpPr>
          <p:cNvPr id="118788" name="Group 4"/>
          <p:cNvGrpSpPr/>
          <p:nvPr/>
        </p:nvGrpSpPr>
        <p:grpSpPr>
          <a:xfrm>
            <a:off x="1676400" y="1182688"/>
            <a:ext cx="5754688" cy="2136775"/>
            <a:chOff x="672" y="392"/>
            <a:chExt cx="4300" cy="2031"/>
          </a:xfrm>
        </p:grpSpPr>
        <p:pic>
          <p:nvPicPr>
            <p:cNvPr id="118789" name="Picture 5" descr="BD18201_"/>
            <p:cNvPicPr>
              <a:picLocks noChangeAspect="1"/>
            </p:cNvPicPr>
            <p:nvPr/>
          </p:nvPicPr>
          <p:blipFill>
            <a:blip r:embed="rId3"/>
            <a:stretch>
              <a:fillRect/>
            </a:stretch>
          </p:blipFill>
          <p:spPr>
            <a:xfrm>
              <a:off x="2336" y="472"/>
              <a:ext cx="966" cy="1254"/>
            </a:xfrm>
            <a:prstGeom prst="rect">
              <a:avLst/>
            </a:prstGeom>
            <a:noFill/>
            <a:ln w="9525">
              <a:noFill/>
            </a:ln>
          </p:spPr>
        </p:pic>
        <p:pic>
          <p:nvPicPr>
            <p:cNvPr id="118790" name="Picture 6" descr="j0292020"/>
            <p:cNvPicPr>
              <a:picLocks noChangeAspect="1"/>
            </p:cNvPicPr>
            <p:nvPr/>
          </p:nvPicPr>
          <p:blipFill>
            <a:blip r:embed="rId4"/>
            <a:stretch>
              <a:fillRect/>
            </a:stretch>
          </p:blipFill>
          <p:spPr>
            <a:xfrm>
              <a:off x="672" y="480"/>
              <a:ext cx="864" cy="820"/>
            </a:xfrm>
            <a:prstGeom prst="rect">
              <a:avLst/>
            </a:prstGeom>
            <a:noFill/>
            <a:ln w="9525">
              <a:noFill/>
            </a:ln>
          </p:spPr>
        </p:pic>
        <p:pic>
          <p:nvPicPr>
            <p:cNvPr id="118791" name="Picture 7" descr="j0195384"/>
            <p:cNvPicPr>
              <a:picLocks noChangeAspect="1"/>
            </p:cNvPicPr>
            <p:nvPr/>
          </p:nvPicPr>
          <p:blipFill>
            <a:blip r:embed="rId5"/>
            <a:stretch>
              <a:fillRect/>
            </a:stretch>
          </p:blipFill>
          <p:spPr>
            <a:xfrm>
              <a:off x="3985" y="392"/>
              <a:ext cx="987" cy="1008"/>
            </a:xfrm>
            <a:prstGeom prst="rect">
              <a:avLst/>
            </a:prstGeom>
            <a:noFill/>
            <a:ln w="9525">
              <a:noFill/>
            </a:ln>
          </p:spPr>
        </p:pic>
        <p:pic>
          <p:nvPicPr>
            <p:cNvPr id="118792" name="Picture 8" descr="MCj03967340000[1]"/>
            <p:cNvPicPr>
              <a:picLocks noChangeAspect="1"/>
            </p:cNvPicPr>
            <p:nvPr/>
          </p:nvPicPr>
          <p:blipFill>
            <a:blip r:embed="rId6"/>
            <a:stretch>
              <a:fillRect/>
            </a:stretch>
          </p:blipFill>
          <p:spPr>
            <a:xfrm>
              <a:off x="1056" y="1392"/>
              <a:ext cx="911" cy="911"/>
            </a:xfrm>
            <a:prstGeom prst="rect">
              <a:avLst/>
            </a:prstGeom>
            <a:noFill/>
            <a:ln w="9525">
              <a:noFill/>
            </a:ln>
          </p:spPr>
        </p:pic>
        <p:pic>
          <p:nvPicPr>
            <p:cNvPr id="118793" name="Picture 9" descr="MCj03967320000[1]"/>
            <p:cNvPicPr>
              <a:picLocks noChangeAspect="1"/>
            </p:cNvPicPr>
            <p:nvPr/>
          </p:nvPicPr>
          <p:blipFill>
            <a:blip r:embed="rId7"/>
            <a:stretch>
              <a:fillRect/>
            </a:stretch>
          </p:blipFill>
          <p:spPr>
            <a:xfrm>
              <a:off x="3928" y="1560"/>
              <a:ext cx="863" cy="863"/>
            </a:xfrm>
            <a:prstGeom prst="rect">
              <a:avLst/>
            </a:prstGeom>
            <a:noFill/>
            <a:ln w="9525">
              <a:noFill/>
            </a:ln>
          </p:spPr>
        </p:pic>
        <p:sp>
          <p:nvSpPr>
            <p:cNvPr id="118794" name="Freeform 10"/>
            <p:cNvSpPr/>
            <p:nvPr/>
          </p:nvSpPr>
          <p:spPr>
            <a:xfrm>
              <a:off x="1536" y="704"/>
              <a:ext cx="864" cy="208"/>
            </a:xfrm>
            <a:custGeom>
              <a:avLst/>
              <a:gdLst/>
              <a:ahLst/>
              <a:cxnLst>
                <a:cxn ang="0">
                  <a:pos x="0" y="112"/>
                </a:cxn>
                <a:cxn ang="0">
                  <a:pos x="384" y="16"/>
                </a:cxn>
                <a:cxn ang="0">
                  <a:pos x="864" y="208"/>
                </a:cxn>
              </a:cxnLst>
              <a:rect l="0" t="0" r="0" b="0"/>
              <a:pathLst>
                <a:path w="864" h="208">
                  <a:moveTo>
                    <a:pt x="0" y="112"/>
                  </a:moveTo>
                  <a:cubicBezTo>
                    <a:pt x="120" y="56"/>
                    <a:pt x="240" y="0"/>
                    <a:pt x="384" y="16"/>
                  </a:cubicBezTo>
                  <a:cubicBezTo>
                    <a:pt x="528" y="32"/>
                    <a:pt x="696" y="120"/>
                    <a:pt x="864" y="208"/>
                  </a:cubicBezTo>
                </a:path>
              </a:pathLst>
            </a:custGeom>
            <a:noFill/>
            <a:ln w="38100" cap="flat" cmpd="sng">
              <a:solidFill>
                <a:schemeClr val="tx1"/>
              </a:solidFill>
              <a:prstDash val="solid"/>
              <a:round/>
              <a:headEnd type="none" w="med" len="med"/>
              <a:tailEnd type="triangle" w="med" len="med"/>
            </a:ln>
          </p:spPr>
          <p:txBody>
            <a:bodyPr/>
            <a:lstStyle/>
            <a:p>
              <a:endParaRPr lang="zh-CN" altLang="en-US"/>
            </a:p>
          </p:txBody>
        </p:sp>
        <p:sp>
          <p:nvSpPr>
            <p:cNvPr id="118795" name="Freeform 11"/>
            <p:cNvSpPr/>
            <p:nvPr/>
          </p:nvSpPr>
          <p:spPr>
            <a:xfrm rot="10800000">
              <a:off x="1488" y="960"/>
              <a:ext cx="864" cy="208"/>
            </a:xfrm>
            <a:custGeom>
              <a:avLst/>
              <a:gdLst/>
              <a:ahLst/>
              <a:cxnLst>
                <a:cxn ang="0">
                  <a:pos x="0" y="112"/>
                </a:cxn>
                <a:cxn ang="0">
                  <a:pos x="384" y="16"/>
                </a:cxn>
                <a:cxn ang="0">
                  <a:pos x="864" y="208"/>
                </a:cxn>
              </a:cxnLst>
              <a:rect l="0" t="0" r="0" b="0"/>
              <a:pathLst>
                <a:path w="864" h="208">
                  <a:moveTo>
                    <a:pt x="0" y="112"/>
                  </a:moveTo>
                  <a:cubicBezTo>
                    <a:pt x="120" y="56"/>
                    <a:pt x="240" y="0"/>
                    <a:pt x="384" y="16"/>
                  </a:cubicBezTo>
                  <a:cubicBezTo>
                    <a:pt x="528" y="32"/>
                    <a:pt x="696" y="120"/>
                    <a:pt x="864" y="208"/>
                  </a:cubicBezTo>
                </a:path>
              </a:pathLst>
            </a:custGeom>
            <a:noFill/>
            <a:ln w="38100" cap="flat" cmpd="sng">
              <a:solidFill>
                <a:schemeClr val="tx1"/>
              </a:solidFill>
              <a:prstDash val="solid"/>
              <a:round/>
              <a:headEnd type="none" w="med" len="med"/>
              <a:tailEnd type="triangle" w="med" len="med"/>
            </a:ln>
          </p:spPr>
          <p:txBody>
            <a:bodyPr/>
            <a:lstStyle/>
            <a:p>
              <a:endParaRPr lang="zh-CN" altLang="en-US"/>
            </a:p>
          </p:txBody>
        </p:sp>
        <p:sp>
          <p:nvSpPr>
            <p:cNvPr id="118796" name="Freeform 12"/>
            <p:cNvSpPr/>
            <p:nvPr/>
          </p:nvSpPr>
          <p:spPr>
            <a:xfrm>
              <a:off x="3216" y="624"/>
              <a:ext cx="864" cy="208"/>
            </a:xfrm>
            <a:custGeom>
              <a:avLst/>
              <a:gdLst/>
              <a:ahLst/>
              <a:cxnLst>
                <a:cxn ang="0">
                  <a:pos x="0" y="112"/>
                </a:cxn>
                <a:cxn ang="0">
                  <a:pos x="384" y="16"/>
                </a:cxn>
                <a:cxn ang="0">
                  <a:pos x="864" y="208"/>
                </a:cxn>
              </a:cxnLst>
              <a:rect l="0" t="0" r="0" b="0"/>
              <a:pathLst>
                <a:path w="864" h="208">
                  <a:moveTo>
                    <a:pt x="0" y="112"/>
                  </a:moveTo>
                  <a:cubicBezTo>
                    <a:pt x="120" y="56"/>
                    <a:pt x="240" y="0"/>
                    <a:pt x="384" y="16"/>
                  </a:cubicBezTo>
                  <a:cubicBezTo>
                    <a:pt x="528" y="32"/>
                    <a:pt x="696" y="120"/>
                    <a:pt x="864" y="208"/>
                  </a:cubicBezTo>
                </a:path>
              </a:pathLst>
            </a:custGeom>
            <a:noFill/>
            <a:ln w="38100" cap="flat" cmpd="sng">
              <a:solidFill>
                <a:schemeClr val="tx1"/>
              </a:solidFill>
              <a:prstDash val="solid"/>
              <a:round/>
              <a:headEnd type="none" w="med" len="med"/>
              <a:tailEnd type="triangle" w="med" len="med"/>
            </a:ln>
          </p:spPr>
          <p:txBody>
            <a:bodyPr/>
            <a:lstStyle/>
            <a:p>
              <a:endParaRPr lang="zh-CN" altLang="en-US"/>
            </a:p>
          </p:txBody>
        </p:sp>
        <p:sp>
          <p:nvSpPr>
            <p:cNvPr id="118797" name="Freeform 13"/>
            <p:cNvSpPr/>
            <p:nvPr/>
          </p:nvSpPr>
          <p:spPr>
            <a:xfrm rot="10800000">
              <a:off x="3168" y="880"/>
              <a:ext cx="864" cy="208"/>
            </a:xfrm>
            <a:custGeom>
              <a:avLst/>
              <a:gdLst/>
              <a:ahLst/>
              <a:cxnLst>
                <a:cxn ang="0">
                  <a:pos x="0" y="112"/>
                </a:cxn>
                <a:cxn ang="0">
                  <a:pos x="384" y="16"/>
                </a:cxn>
                <a:cxn ang="0">
                  <a:pos x="864" y="208"/>
                </a:cxn>
              </a:cxnLst>
              <a:rect l="0" t="0" r="0" b="0"/>
              <a:pathLst>
                <a:path w="864" h="208">
                  <a:moveTo>
                    <a:pt x="0" y="112"/>
                  </a:moveTo>
                  <a:cubicBezTo>
                    <a:pt x="120" y="56"/>
                    <a:pt x="240" y="0"/>
                    <a:pt x="384" y="16"/>
                  </a:cubicBezTo>
                  <a:cubicBezTo>
                    <a:pt x="528" y="32"/>
                    <a:pt x="696" y="120"/>
                    <a:pt x="864" y="208"/>
                  </a:cubicBezTo>
                </a:path>
              </a:pathLst>
            </a:custGeom>
            <a:noFill/>
            <a:ln w="38100" cap="flat" cmpd="sng">
              <a:solidFill>
                <a:schemeClr val="tx1"/>
              </a:solidFill>
              <a:prstDash val="solid"/>
              <a:round/>
              <a:headEnd type="none" w="med" len="med"/>
              <a:tailEnd type="triangle" w="med" len="med"/>
            </a:ln>
          </p:spPr>
          <p:txBody>
            <a:bodyPr/>
            <a:lstStyle/>
            <a:p>
              <a:endParaRPr lang="zh-CN" altLang="en-US"/>
            </a:p>
          </p:txBody>
        </p:sp>
        <p:sp>
          <p:nvSpPr>
            <p:cNvPr id="118798" name="Freeform 14"/>
            <p:cNvSpPr/>
            <p:nvPr/>
          </p:nvSpPr>
          <p:spPr>
            <a:xfrm rot="1801102">
              <a:off x="3216" y="1440"/>
              <a:ext cx="864" cy="208"/>
            </a:xfrm>
            <a:custGeom>
              <a:avLst/>
              <a:gdLst/>
              <a:ahLst/>
              <a:cxnLst>
                <a:cxn ang="0">
                  <a:pos x="0" y="112"/>
                </a:cxn>
                <a:cxn ang="0">
                  <a:pos x="384" y="16"/>
                </a:cxn>
                <a:cxn ang="0">
                  <a:pos x="864" y="208"/>
                </a:cxn>
              </a:cxnLst>
              <a:rect l="0" t="0" r="0" b="0"/>
              <a:pathLst>
                <a:path w="864" h="208">
                  <a:moveTo>
                    <a:pt x="0" y="112"/>
                  </a:moveTo>
                  <a:cubicBezTo>
                    <a:pt x="120" y="56"/>
                    <a:pt x="240" y="0"/>
                    <a:pt x="384" y="16"/>
                  </a:cubicBezTo>
                  <a:cubicBezTo>
                    <a:pt x="528" y="32"/>
                    <a:pt x="696" y="120"/>
                    <a:pt x="864" y="208"/>
                  </a:cubicBezTo>
                </a:path>
              </a:pathLst>
            </a:custGeom>
            <a:noFill/>
            <a:ln w="38100" cap="flat" cmpd="sng">
              <a:solidFill>
                <a:schemeClr val="tx1"/>
              </a:solidFill>
              <a:prstDash val="solid"/>
              <a:round/>
              <a:headEnd type="none" w="med" len="med"/>
              <a:tailEnd type="triangle" w="med" len="med"/>
            </a:ln>
          </p:spPr>
          <p:txBody>
            <a:bodyPr/>
            <a:lstStyle/>
            <a:p>
              <a:endParaRPr lang="zh-CN" altLang="en-US"/>
            </a:p>
          </p:txBody>
        </p:sp>
        <p:sp>
          <p:nvSpPr>
            <p:cNvPr id="118799" name="Freeform 15"/>
            <p:cNvSpPr/>
            <p:nvPr/>
          </p:nvSpPr>
          <p:spPr>
            <a:xfrm rot="-8998898">
              <a:off x="3168" y="1696"/>
              <a:ext cx="864" cy="208"/>
            </a:xfrm>
            <a:custGeom>
              <a:avLst/>
              <a:gdLst/>
              <a:ahLst/>
              <a:cxnLst>
                <a:cxn ang="0">
                  <a:pos x="0" y="112"/>
                </a:cxn>
                <a:cxn ang="0">
                  <a:pos x="384" y="16"/>
                </a:cxn>
                <a:cxn ang="0">
                  <a:pos x="864" y="208"/>
                </a:cxn>
              </a:cxnLst>
              <a:rect l="0" t="0" r="0" b="0"/>
              <a:pathLst>
                <a:path w="864" h="208">
                  <a:moveTo>
                    <a:pt x="0" y="112"/>
                  </a:moveTo>
                  <a:cubicBezTo>
                    <a:pt x="120" y="56"/>
                    <a:pt x="240" y="0"/>
                    <a:pt x="384" y="16"/>
                  </a:cubicBezTo>
                  <a:cubicBezTo>
                    <a:pt x="528" y="32"/>
                    <a:pt x="696" y="120"/>
                    <a:pt x="864" y="208"/>
                  </a:cubicBezTo>
                </a:path>
              </a:pathLst>
            </a:custGeom>
            <a:noFill/>
            <a:ln w="38100" cap="flat" cmpd="sng">
              <a:solidFill>
                <a:schemeClr val="tx1"/>
              </a:solidFill>
              <a:prstDash val="solid"/>
              <a:round/>
              <a:headEnd type="none" w="med" len="med"/>
              <a:tailEnd type="triangle" w="med" len="med"/>
            </a:ln>
          </p:spPr>
          <p:txBody>
            <a:bodyPr/>
            <a:lstStyle/>
            <a:p>
              <a:endParaRPr lang="zh-CN" altLang="en-US"/>
            </a:p>
          </p:txBody>
        </p:sp>
        <p:sp>
          <p:nvSpPr>
            <p:cNvPr id="118800" name="Freeform 16"/>
            <p:cNvSpPr/>
            <p:nvPr/>
          </p:nvSpPr>
          <p:spPr>
            <a:xfrm rot="8899147">
              <a:off x="1776" y="1632"/>
              <a:ext cx="864" cy="208"/>
            </a:xfrm>
            <a:custGeom>
              <a:avLst/>
              <a:gdLst/>
              <a:ahLst/>
              <a:cxnLst>
                <a:cxn ang="0">
                  <a:pos x="0" y="112"/>
                </a:cxn>
                <a:cxn ang="0">
                  <a:pos x="384" y="16"/>
                </a:cxn>
                <a:cxn ang="0">
                  <a:pos x="864" y="208"/>
                </a:cxn>
              </a:cxnLst>
              <a:rect l="0" t="0" r="0" b="0"/>
              <a:pathLst>
                <a:path w="864" h="208">
                  <a:moveTo>
                    <a:pt x="0" y="112"/>
                  </a:moveTo>
                  <a:cubicBezTo>
                    <a:pt x="120" y="56"/>
                    <a:pt x="240" y="0"/>
                    <a:pt x="384" y="16"/>
                  </a:cubicBezTo>
                  <a:cubicBezTo>
                    <a:pt x="528" y="32"/>
                    <a:pt x="696" y="120"/>
                    <a:pt x="864" y="208"/>
                  </a:cubicBezTo>
                </a:path>
              </a:pathLst>
            </a:custGeom>
            <a:noFill/>
            <a:ln w="38100" cap="flat" cmpd="sng">
              <a:solidFill>
                <a:schemeClr val="tx1"/>
              </a:solidFill>
              <a:prstDash val="solid"/>
              <a:round/>
              <a:headEnd type="none" w="med" len="med"/>
              <a:tailEnd type="triangle" w="med" len="med"/>
            </a:ln>
          </p:spPr>
          <p:txBody>
            <a:bodyPr/>
            <a:lstStyle/>
            <a:p>
              <a:endParaRPr lang="zh-CN" altLang="en-US"/>
            </a:p>
          </p:txBody>
        </p:sp>
        <p:sp>
          <p:nvSpPr>
            <p:cNvPr id="118801" name="Freeform 17"/>
            <p:cNvSpPr/>
            <p:nvPr/>
          </p:nvSpPr>
          <p:spPr>
            <a:xfrm rot="-1900853">
              <a:off x="1680" y="1488"/>
              <a:ext cx="864" cy="208"/>
            </a:xfrm>
            <a:custGeom>
              <a:avLst/>
              <a:gdLst/>
              <a:ahLst/>
              <a:cxnLst>
                <a:cxn ang="0">
                  <a:pos x="0" y="112"/>
                </a:cxn>
                <a:cxn ang="0">
                  <a:pos x="384" y="16"/>
                </a:cxn>
                <a:cxn ang="0">
                  <a:pos x="864" y="208"/>
                </a:cxn>
              </a:cxnLst>
              <a:rect l="0" t="0" r="0" b="0"/>
              <a:pathLst>
                <a:path w="864" h="208">
                  <a:moveTo>
                    <a:pt x="0" y="112"/>
                  </a:moveTo>
                  <a:cubicBezTo>
                    <a:pt x="120" y="56"/>
                    <a:pt x="240" y="0"/>
                    <a:pt x="384" y="16"/>
                  </a:cubicBezTo>
                  <a:cubicBezTo>
                    <a:pt x="528" y="32"/>
                    <a:pt x="696" y="120"/>
                    <a:pt x="864" y="208"/>
                  </a:cubicBezTo>
                </a:path>
              </a:pathLst>
            </a:custGeom>
            <a:noFill/>
            <a:ln w="38100" cap="flat" cmpd="sng">
              <a:solidFill>
                <a:schemeClr val="tx1"/>
              </a:solidFill>
              <a:prstDash val="solid"/>
              <a:round/>
              <a:headEnd type="none" w="med" len="med"/>
              <a:tailEnd type="triangle" w="med" len="med"/>
            </a:ln>
          </p:spPr>
          <p:txBody>
            <a:bodyPr/>
            <a:lstStyle/>
            <a:p>
              <a:endParaRPr lang="zh-CN" altLang="en-US"/>
            </a:p>
          </p:txBody>
        </p:sp>
        <p:sp>
          <p:nvSpPr>
            <p:cNvPr id="118802" name="Text Box 18"/>
            <p:cNvSpPr txBox="1"/>
            <p:nvPr/>
          </p:nvSpPr>
          <p:spPr>
            <a:xfrm>
              <a:off x="1871" y="1248"/>
              <a:ext cx="275" cy="493"/>
            </a:xfrm>
            <a:prstGeom prst="rect">
              <a:avLst/>
            </a:prstGeom>
            <a:noFill/>
            <a:ln w="38100">
              <a:noFill/>
            </a:ln>
          </p:spPr>
          <p:txBody>
            <a:bodyPr anchor="t" anchorCtr="0">
              <a:spAutoFit/>
            </a:bodyPr>
            <a:lstStyle/>
            <a:p>
              <a:pPr algn="ctr" eaLnBrk="0" hangingPunct="0">
                <a:spcBef>
                  <a:spcPct val="50000"/>
                </a:spcBef>
              </a:pPr>
              <a:r>
                <a:rPr lang="en-US" altLang="zh-CN" sz="2800" b="1" dirty="0">
                  <a:latin typeface="Comic Sans MS" panose="030F0702030302020204" pitchFamily="66" charset="0"/>
                </a:rPr>
                <a:t>R</a:t>
              </a:r>
            </a:p>
          </p:txBody>
        </p:sp>
        <p:sp>
          <p:nvSpPr>
            <p:cNvPr id="118803" name="Text Box 19"/>
            <p:cNvSpPr txBox="1"/>
            <p:nvPr/>
          </p:nvSpPr>
          <p:spPr>
            <a:xfrm>
              <a:off x="3696" y="1008"/>
              <a:ext cx="274" cy="493"/>
            </a:xfrm>
            <a:prstGeom prst="rect">
              <a:avLst/>
            </a:prstGeom>
            <a:noFill/>
            <a:ln w="38100">
              <a:noFill/>
            </a:ln>
          </p:spPr>
          <p:txBody>
            <a:bodyPr anchor="t" anchorCtr="0">
              <a:spAutoFit/>
            </a:bodyPr>
            <a:lstStyle/>
            <a:p>
              <a:pPr algn="ctr" eaLnBrk="0" hangingPunct="0">
                <a:spcBef>
                  <a:spcPct val="50000"/>
                </a:spcBef>
              </a:pPr>
              <a:r>
                <a:rPr lang="en-US" altLang="zh-CN" sz="2800" b="1" dirty="0">
                  <a:latin typeface="Comic Sans MS" panose="030F0702030302020204" pitchFamily="66" charset="0"/>
                </a:rPr>
                <a:t>R</a:t>
              </a:r>
            </a:p>
          </p:txBody>
        </p:sp>
        <p:sp>
          <p:nvSpPr>
            <p:cNvPr id="118804" name="Text Box 20"/>
            <p:cNvSpPr txBox="1"/>
            <p:nvPr/>
          </p:nvSpPr>
          <p:spPr>
            <a:xfrm>
              <a:off x="3504" y="1441"/>
              <a:ext cx="274" cy="493"/>
            </a:xfrm>
            <a:prstGeom prst="rect">
              <a:avLst/>
            </a:prstGeom>
            <a:noFill/>
            <a:ln w="38100">
              <a:noFill/>
            </a:ln>
          </p:spPr>
          <p:txBody>
            <a:bodyPr anchor="t" anchorCtr="0">
              <a:spAutoFit/>
            </a:bodyPr>
            <a:lstStyle/>
            <a:p>
              <a:pPr algn="ctr" eaLnBrk="0" hangingPunct="0">
                <a:spcBef>
                  <a:spcPct val="50000"/>
                </a:spcBef>
              </a:pPr>
              <a:r>
                <a:rPr lang="en-US" altLang="zh-CN" sz="2800" b="1" dirty="0">
                  <a:latin typeface="Comic Sans MS" panose="030F0702030302020204" pitchFamily="66" charset="0"/>
                </a:rPr>
                <a:t>R</a:t>
              </a:r>
            </a:p>
          </p:txBody>
        </p:sp>
        <p:sp>
          <p:nvSpPr>
            <p:cNvPr id="118805" name="Text Box 21"/>
            <p:cNvSpPr txBox="1"/>
            <p:nvPr/>
          </p:nvSpPr>
          <p:spPr>
            <a:xfrm>
              <a:off x="1727" y="434"/>
              <a:ext cx="336" cy="494"/>
            </a:xfrm>
            <a:prstGeom prst="rect">
              <a:avLst/>
            </a:prstGeom>
            <a:noFill/>
            <a:ln w="38100">
              <a:noFill/>
            </a:ln>
          </p:spPr>
          <p:txBody>
            <a:bodyPr anchor="t" anchorCtr="0">
              <a:spAutoFit/>
            </a:bodyPr>
            <a:lstStyle/>
            <a:p>
              <a:pPr algn="ctr" eaLnBrk="0" hangingPunct="0">
                <a:spcBef>
                  <a:spcPct val="50000"/>
                </a:spcBef>
              </a:pPr>
              <a:r>
                <a:rPr lang="en-US" altLang="zh-CN" sz="2800" b="1" dirty="0">
                  <a:latin typeface="Comic Sans MS" panose="030F0702030302020204" pitchFamily="66" charset="0"/>
                </a:rPr>
                <a:t>W</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3187">
                                            <p:txEl>
                                              <p:pRg st="0" end="0"/>
                                            </p:txEl>
                                          </p:spTgt>
                                        </p:tgtEl>
                                        <p:attrNameLst>
                                          <p:attrName>style.visibility</p:attrName>
                                        </p:attrNameLst>
                                      </p:cBhvr>
                                      <p:to>
                                        <p:strVal val="visible"/>
                                      </p:to>
                                    </p:set>
                                    <p:anim calcmode="lin" valueType="num">
                                      <p:cBhvr additive="base">
                                        <p:cTn id="7" dur="500" fill="hold"/>
                                        <p:tgtEl>
                                          <p:spTgt spid="931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318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3187">
                                            <p:txEl>
                                              <p:pRg st="1" end="1"/>
                                            </p:txEl>
                                          </p:spTgt>
                                        </p:tgtEl>
                                        <p:attrNameLst>
                                          <p:attrName>style.visibility</p:attrName>
                                        </p:attrNameLst>
                                      </p:cBhvr>
                                      <p:to>
                                        <p:strVal val="visible"/>
                                      </p:to>
                                    </p:set>
                                    <p:anim calcmode="lin" valueType="num">
                                      <p:cBhvr additive="base">
                                        <p:cTn id="11" dur="500" fill="hold"/>
                                        <p:tgtEl>
                                          <p:spTgt spid="9318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318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3187">
                                            <p:txEl>
                                              <p:pRg st="2" end="2"/>
                                            </p:txEl>
                                          </p:spTgt>
                                        </p:tgtEl>
                                        <p:attrNameLst>
                                          <p:attrName>style.visibility</p:attrName>
                                        </p:attrNameLst>
                                      </p:cBhvr>
                                      <p:to>
                                        <p:strVal val="visible"/>
                                      </p:to>
                                    </p:set>
                                    <p:anim calcmode="lin" valueType="num">
                                      <p:cBhvr additive="base">
                                        <p:cTn id="15" dur="500" fill="hold"/>
                                        <p:tgtEl>
                                          <p:spTgt spid="9318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318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3187">
                                            <p:txEl>
                                              <p:pRg st="3" end="3"/>
                                            </p:txEl>
                                          </p:spTgt>
                                        </p:tgtEl>
                                        <p:attrNameLst>
                                          <p:attrName>style.visibility</p:attrName>
                                        </p:attrNameLst>
                                      </p:cBhvr>
                                      <p:to>
                                        <p:strVal val="visible"/>
                                      </p:to>
                                    </p:set>
                                    <p:anim calcmode="lin" valueType="num">
                                      <p:cBhvr additive="base">
                                        <p:cTn id="19" dur="500" fill="hold"/>
                                        <p:tgtEl>
                                          <p:spTgt spid="9318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318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p:cNvSpPr>
            <a:spLocks noGrp="1"/>
          </p:cNvSpPr>
          <p:nvPr>
            <p:ph type="title"/>
          </p:nvPr>
        </p:nvSpPr>
        <p:spPr>
          <a:ln/>
        </p:spPr>
        <p:txBody>
          <a:bodyPr vert="horz" wrap="square" lIns="91440" tIns="45720" rIns="91440" bIns="45720" anchor="b" anchorCtr="0"/>
          <a:lstStyle/>
          <a:p>
            <a:r>
              <a:rPr lang="en-US" altLang="zh-CN" dirty="0">
                <a:ea typeface="宋体" panose="02010600030101010101" pitchFamily="2" charset="-122"/>
              </a:rPr>
              <a:t>Readers-Writers Problem</a:t>
            </a:r>
          </a:p>
        </p:txBody>
      </p:sp>
      <p:sp>
        <p:nvSpPr>
          <p:cNvPr id="120834" name="Rectangle 3"/>
          <p:cNvSpPr>
            <a:spLocks noGrp="1"/>
          </p:cNvSpPr>
          <p:nvPr>
            <p:ph idx="1"/>
          </p:nvPr>
        </p:nvSpPr>
        <p:spPr>
          <a:xfrm>
            <a:off x="493713" y="987425"/>
            <a:ext cx="8461375" cy="5051425"/>
          </a:xfrm>
          <a:ln/>
        </p:spPr>
        <p:txBody>
          <a:bodyPr vert="horz" wrap="square" lIns="91440" tIns="45720" rIns="91440" bIns="45720" anchor="t" anchorCtr="0"/>
          <a:lstStyle/>
          <a:p>
            <a:r>
              <a:rPr lang="en-US" altLang="zh-CN" sz="2400" dirty="0">
                <a:ea typeface="宋体" panose="02010600030101010101" pitchFamily="2" charset="-122"/>
              </a:rPr>
              <a:t>Problem – allow multiple readers to read at the same time.  Only one single writer can access the shared data at the same time.</a:t>
            </a:r>
          </a:p>
          <a:p>
            <a:r>
              <a:rPr lang="en-US" altLang="zh-CN" sz="2400" dirty="0">
                <a:ea typeface="宋体" panose="02010600030101010101" pitchFamily="2" charset="-122"/>
              </a:rPr>
              <a:t>Shared Data</a:t>
            </a:r>
          </a:p>
          <a:p>
            <a:pPr lvl="1"/>
            <a:r>
              <a:rPr lang="en-US" altLang="zh-CN" sz="2400" dirty="0">
                <a:ea typeface="宋体" panose="02010600030101010101" pitchFamily="2" charset="-122"/>
              </a:rPr>
              <a:t>Data set</a:t>
            </a:r>
          </a:p>
          <a:p>
            <a:pPr lvl="1"/>
            <a:r>
              <a:rPr lang="en-US" altLang="zh-CN" sz="2400" dirty="0">
                <a:ea typeface="宋体" panose="02010600030101010101" pitchFamily="2" charset="-122"/>
              </a:rPr>
              <a:t>Semaphore </a:t>
            </a:r>
            <a:r>
              <a:rPr lang="en-US" altLang="zh-CN" sz="2400" dirty="0">
                <a:solidFill>
                  <a:srgbClr val="FF3300"/>
                </a:solidFill>
                <a:ea typeface="宋体" panose="02010600030101010101" pitchFamily="2" charset="-122"/>
              </a:rPr>
              <a:t>Rmut</a:t>
            </a:r>
            <a:r>
              <a:rPr lang="en-US" altLang="zh-CN" sz="2400" dirty="0">
                <a:solidFill>
                  <a:srgbClr val="FF0000"/>
                </a:solidFill>
                <a:ea typeface="宋体" panose="02010600030101010101" pitchFamily="2" charset="-122"/>
              </a:rPr>
              <a:t>ex</a:t>
            </a:r>
            <a:r>
              <a:rPr lang="en-US" altLang="zh-CN" sz="2400" dirty="0">
                <a:ea typeface="宋体" panose="02010600030101010101" pitchFamily="2" charset="-122"/>
              </a:rPr>
              <a:t> initialized to 1.</a:t>
            </a:r>
          </a:p>
          <a:p>
            <a:pPr lvl="1"/>
            <a:r>
              <a:rPr lang="en-US" altLang="zh-CN" sz="2400" dirty="0">
                <a:ea typeface="宋体" panose="02010600030101010101" pitchFamily="2" charset="-122"/>
              </a:rPr>
              <a:t>Semaphore </a:t>
            </a:r>
            <a:r>
              <a:rPr lang="en-US" altLang="zh-CN" sz="2400" dirty="0">
                <a:solidFill>
                  <a:srgbClr val="FF0000"/>
                </a:solidFill>
                <a:ea typeface="宋体" panose="02010600030101010101" pitchFamily="2" charset="-122"/>
              </a:rPr>
              <a:t>Wmutex </a:t>
            </a:r>
            <a:r>
              <a:rPr lang="en-US" altLang="zh-CN" sz="2400" dirty="0">
                <a:ea typeface="宋体" panose="02010600030101010101" pitchFamily="2" charset="-122"/>
              </a:rPr>
              <a:t>initialized to 1.</a:t>
            </a:r>
          </a:p>
          <a:p>
            <a:pPr lvl="1"/>
            <a:r>
              <a:rPr lang="en-US" altLang="zh-CN" sz="2400" dirty="0">
                <a:ea typeface="宋体" panose="02010600030101010101" pitchFamily="2" charset="-122"/>
              </a:rPr>
              <a:t>Integer </a:t>
            </a:r>
            <a:r>
              <a:rPr lang="en-US" altLang="zh-CN" sz="2400" dirty="0">
                <a:solidFill>
                  <a:srgbClr val="FF0000"/>
                </a:solidFill>
                <a:ea typeface="宋体" panose="02010600030101010101" pitchFamily="2" charset="-122"/>
              </a:rPr>
              <a:t>readcount</a:t>
            </a:r>
            <a:r>
              <a:rPr lang="en-US" altLang="zh-CN" sz="2400" dirty="0">
                <a:ea typeface="宋体" panose="02010600030101010101" pitchFamily="2" charset="-122"/>
              </a:rPr>
              <a:t> initialized to 0.</a:t>
            </a:r>
          </a:p>
          <a:p>
            <a:pPr lvl="1"/>
            <a:endParaRPr lang="en-US" altLang="zh-CN" sz="2400" dirty="0">
              <a:ea typeface="宋体" panose="02010600030101010101" pitchFamily="2"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881" name="Object 3"/>
          <p:cNvGraphicFramePr/>
          <p:nvPr/>
        </p:nvGraphicFramePr>
        <p:xfrm>
          <a:off x="950913" y="1771650"/>
          <a:ext cx="7700962" cy="4137025"/>
        </p:xfrm>
        <a:graphic>
          <a:graphicData uri="http://schemas.openxmlformats.org/presentationml/2006/ole">
            <mc:AlternateContent xmlns:mc="http://schemas.openxmlformats.org/markup-compatibility/2006">
              <mc:Choice xmlns:v="urn:schemas-microsoft-com:vml" Requires="v">
                <p:oleObj spid="_x0000_s10435" r:id="rId4" imgW="4060825" imgH="2303780" progId="Visio.Drawing.6">
                  <p:embed/>
                </p:oleObj>
              </mc:Choice>
              <mc:Fallback>
                <p:oleObj r:id="rId4" imgW="4060825" imgH="2303780" progId="Visio.Drawing.6">
                  <p:embed/>
                  <p:pic>
                    <p:nvPicPr>
                      <p:cNvPr id="0" name="图片 3083"/>
                      <p:cNvPicPr/>
                      <p:nvPr/>
                    </p:nvPicPr>
                    <p:blipFill>
                      <a:blip r:embed="rId5"/>
                      <a:stretch>
                        <a:fillRect/>
                      </a:stretch>
                    </p:blipFill>
                    <p:spPr>
                      <a:xfrm>
                        <a:off x="950913" y="1771650"/>
                        <a:ext cx="7700962" cy="4137025"/>
                      </a:xfrm>
                      <a:prstGeom prst="rect">
                        <a:avLst/>
                      </a:prstGeom>
                      <a:solidFill>
                        <a:srgbClr val="99CCFF"/>
                      </a:solidFill>
                      <a:ln w="9525" cap="flat" cmpd="sng">
                        <a:solidFill>
                          <a:srgbClr val="99CCFF"/>
                        </a:solidFill>
                        <a:prstDash val="solid"/>
                        <a:miter/>
                        <a:headEnd type="none" w="med" len="med"/>
                        <a:tailEnd type="none" w="med" len="med"/>
                      </a:ln>
                    </p:spPr>
                  </p:pic>
                </p:oleObj>
              </mc:Fallback>
            </mc:AlternateContent>
          </a:graphicData>
        </a:graphic>
      </p:graphicFrame>
      <p:sp>
        <p:nvSpPr>
          <p:cNvPr id="5" name="矩形 4"/>
          <p:cNvSpPr/>
          <p:nvPr/>
        </p:nvSpPr>
        <p:spPr>
          <a:xfrm>
            <a:off x="1057275" y="371475"/>
            <a:ext cx="7629525" cy="584200"/>
          </a:xfrm>
          <a:prstGeom prst="rect">
            <a:avLst/>
          </a:prstGeom>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006699"/>
                </a:solidFill>
                <a:effectLst/>
                <a:uLnTx/>
                <a:uFillTx/>
                <a:latin typeface="+mn-lt"/>
                <a:ea typeface="宋体" panose="02010600030101010101" pitchFamily="2" charset="-122"/>
                <a:cs typeface="+mn-cs"/>
              </a:rPr>
              <a:t>Readers-Writers Problem</a:t>
            </a:r>
            <a:endParaRPr kumimoji="0" lang="zh-CN" altLang="en-US" sz="3200" b="1" i="0" u="none" strike="noStrike" kern="1200" cap="none" spc="0" normalizeH="0" baseline="0" noProof="0" dirty="0">
              <a:ln>
                <a:noFill/>
              </a:ln>
              <a:solidFill>
                <a:srgbClr val="006699"/>
              </a:solidFill>
              <a:effectLst/>
              <a:uLnTx/>
              <a:uFillTx/>
              <a:latin typeface="+mn-lt"/>
              <a:ea typeface="MS PGothic" panose="020B0600070205080204" pitchFamily="34" charset="-128"/>
              <a:cs typeface="+mn-cs"/>
            </a:endParaRP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4929" name="Text Box 3"/>
          <p:cNvSpPr txBox="1"/>
          <p:nvPr/>
        </p:nvSpPr>
        <p:spPr>
          <a:xfrm>
            <a:off x="392113" y="1222375"/>
            <a:ext cx="4614862" cy="4627563"/>
          </a:xfrm>
          <a:prstGeom prst="rect">
            <a:avLst/>
          </a:prstGeom>
          <a:noFill/>
          <a:ln w="9525">
            <a:noFill/>
          </a:ln>
        </p:spPr>
        <p:txBody>
          <a:bodyPr anchor="t" anchorCtr="0">
            <a:spAutoFit/>
          </a:bodyPr>
          <a:lstStyle/>
          <a:p>
            <a:pPr eaLnBrk="0" hangingPunct="0"/>
            <a:r>
              <a:rPr lang="en-US" altLang="zh-CN" sz="1800" dirty="0">
                <a:solidFill>
                  <a:srgbClr val="008000"/>
                </a:solidFill>
                <a:latin typeface="Comic Sans MS" panose="030F0702030302020204" pitchFamily="66" charset="0"/>
              </a:rPr>
              <a:t>Shared variables: Semaphore mutex, wrl;</a:t>
            </a:r>
          </a:p>
          <a:p>
            <a:pPr eaLnBrk="0" hangingPunct="0"/>
            <a:r>
              <a:rPr lang="en-US" altLang="zh-CN" sz="1800" dirty="0">
                <a:solidFill>
                  <a:srgbClr val="008000"/>
                </a:solidFill>
                <a:latin typeface="Comic Sans MS" panose="030F0702030302020204" pitchFamily="66" charset="0"/>
              </a:rPr>
              <a:t>                             integer readcount;</a:t>
            </a:r>
          </a:p>
          <a:p>
            <a:pPr eaLnBrk="0" hangingPunct="0"/>
            <a:r>
              <a:rPr lang="en-US" altLang="zh-CN" sz="1800" dirty="0">
                <a:solidFill>
                  <a:srgbClr val="008000"/>
                </a:solidFill>
                <a:latin typeface="Comic Sans MS" panose="030F0702030302020204" pitchFamily="66" charset="0"/>
              </a:rPr>
              <a:t>Init: mutex = 1, wrl = 1, readcount = 0; </a:t>
            </a:r>
          </a:p>
          <a:p>
            <a:pPr eaLnBrk="0" hangingPunct="0"/>
            <a:endParaRPr lang="en-US" altLang="zh-CN" sz="1800" dirty="0">
              <a:solidFill>
                <a:srgbClr val="008000"/>
              </a:solidFill>
              <a:latin typeface="Comic Sans MS" panose="030F0702030302020204" pitchFamily="66" charset="0"/>
            </a:endParaRPr>
          </a:p>
          <a:p>
            <a:pPr eaLnBrk="0" hangingPunct="0"/>
            <a:endParaRPr lang="en-US" altLang="zh-CN" sz="1800" dirty="0">
              <a:solidFill>
                <a:srgbClr val="008000"/>
              </a:solidFill>
              <a:latin typeface="Comic Sans MS" panose="030F0702030302020204" pitchFamily="66" charset="0"/>
            </a:endParaRPr>
          </a:p>
          <a:p>
            <a:pPr eaLnBrk="0" hangingPunct="0"/>
            <a:endParaRPr lang="en-US" altLang="zh-CN" sz="1800" dirty="0">
              <a:solidFill>
                <a:srgbClr val="008000"/>
              </a:solidFill>
              <a:latin typeface="Comic Sans MS" panose="030F0702030302020204" pitchFamily="66" charset="0"/>
            </a:endParaRPr>
          </a:p>
          <a:p>
            <a:pPr eaLnBrk="0" hangingPunct="0"/>
            <a:r>
              <a:rPr lang="en-US" altLang="zh-CN" sz="1800" b="1" u="sng" dirty="0">
                <a:solidFill>
                  <a:srgbClr val="008000"/>
                </a:solidFill>
                <a:latin typeface="Comic Sans MS" panose="030F0702030302020204" pitchFamily="66" charset="0"/>
              </a:rPr>
              <a:t>Writer</a:t>
            </a:r>
            <a:endParaRPr lang="en-US" altLang="zh-CN" sz="1800" dirty="0">
              <a:solidFill>
                <a:srgbClr val="008000"/>
              </a:solidFill>
              <a:latin typeface="Comic Sans MS" panose="030F0702030302020204" pitchFamily="66" charset="0"/>
            </a:endParaRPr>
          </a:p>
          <a:p>
            <a:pPr eaLnBrk="0" hangingPunct="0"/>
            <a:r>
              <a:rPr lang="en-US" altLang="zh-CN" sz="1800" dirty="0">
                <a:solidFill>
                  <a:srgbClr val="008000"/>
                </a:solidFill>
                <a:latin typeface="Comic Sans MS" panose="030F0702030302020204" pitchFamily="66" charset="0"/>
              </a:rPr>
              <a:t>do {</a:t>
            </a:r>
          </a:p>
          <a:p>
            <a:pPr eaLnBrk="0" hangingPunct="0"/>
            <a:endParaRPr lang="en-US" altLang="zh-CN" sz="1800" dirty="0">
              <a:solidFill>
                <a:srgbClr val="008000"/>
              </a:solidFill>
              <a:latin typeface="Comic Sans MS" panose="030F0702030302020204" pitchFamily="66" charset="0"/>
            </a:endParaRPr>
          </a:p>
          <a:p>
            <a:pPr eaLnBrk="0" hangingPunct="0"/>
            <a:r>
              <a:rPr lang="en-US" altLang="zh-CN" sz="1800" dirty="0">
                <a:solidFill>
                  <a:srgbClr val="008000"/>
                </a:solidFill>
                <a:latin typeface="Comic Sans MS" panose="030F0702030302020204" pitchFamily="66" charset="0"/>
              </a:rPr>
              <a:t>       wait(wrl);</a:t>
            </a:r>
          </a:p>
          <a:p>
            <a:pPr eaLnBrk="0" hangingPunct="0"/>
            <a:r>
              <a:rPr lang="en-US" altLang="zh-CN" sz="1800" dirty="0">
                <a:solidFill>
                  <a:srgbClr val="008000"/>
                </a:solidFill>
                <a:latin typeface="Comic Sans MS" panose="030F0702030302020204" pitchFamily="66" charset="0"/>
              </a:rPr>
              <a:t>       . . .</a:t>
            </a:r>
          </a:p>
          <a:p>
            <a:pPr eaLnBrk="0" hangingPunct="0"/>
            <a:r>
              <a:rPr lang="en-US" altLang="zh-CN" sz="1800" dirty="0">
                <a:solidFill>
                  <a:srgbClr val="008000"/>
                </a:solidFill>
                <a:latin typeface="Comic Sans MS" panose="030F0702030302020204" pitchFamily="66" charset="0"/>
              </a:rPr>
              <a:t>       /*writing is performed*/</a:t>
            </a:r>
          </a:p>
          <a:p>
            <a:pPr eaLnBrk="0" hangingPunct="0"/>
            <a:r>
              <a:rPr lang="en-US" altLang="zh-CN" sz="1800" dirty="0">
                <a:solidFill>
                  <a:srgbClr val="008000"/>
                </a:solidFill>
                <a:latin typeface="Comic Sans MS" panose="030F0702030302020204" pitchFamily="66" charset="0"/>
              </a:rPr>
              <a:t>       . . .</a:t>
            </a:r>
          </a:p>
          <a:p>
            <a:pPr eaLnBrk="0" hangingPunct="0"/>
            <a:r>
              <a:rPr lang="en-US" altLang="zh-CN" sz="1800" dirty="0">
                <a:solidFill>
                  <a:srgbClr val="008000"/>
                </a:solidFill>
                <a:latin typeface="Comic Sans MS" panose="030F0702030302020204" pitchFamily="66" charset="0"/>
              </a:rPr>
              <a:t>       signal(wrl);</a:t>
            </a:r>
          </a:p>
          <a:p>
            <a:pPr eaLnBrk="0" hangingPunct="0"/>
            <a:endParaRPr lang="en-US" altLang="zh-CN" sz="1800" dirty="0">
              <a:solidFill>
                <a:srgbClr val="008000"/>
              </a:solidFill>
              <a:latin typeface="Comic Sans MS" panose="030F0702030302020204" pitchFamily="66" charset="0"/>
            </a:endParaRPr>
          </a:p>
          <a:p>
            <a:pPr eaLnBrk="0" hangingPunct="0"/>
            <a:r>
              <a:rPr lang="en-US" altLang="zh-CN" sz="1800" dirty="0">
                <a:solidFill>
                  <a:srgbClr val="008000"/>
                </a:solidFill>
                <a:latin typeface="Comic Sans MS" panose="030F0702030302020204" pitchFamily="66" charset="0"/>
              </a:rPr>
              <a:t>}while(TRUE);</a:t>
            </a:r>
          </a:p>
        </p:txBody>
      </p:sp>
      <p:sp>
        <p:nvSpPr>
          <p:cNvPr id="124930" name="Text Box 4"/>
          <p:cNvSpPr txBox="1"/>
          <p:nvPr/>
        </p:nvSpPr>
        <p:spPr>
          <a:xfrm>
            <a:off x="4583113" y="2144713"/>
            <a:ext cx="4248150" cy="4246562"/>
          </a:xfrm>
          <a:prstGeom prst="rect">
            <a:avLst/>
          </a:prstGeom>
          <a:noFill/>
          <a:ln w="9525">
            <a:noFill/>
          </a:ln>
        </p:spPr>
        <p:txBody>
          <a:bodyPr anchor="t" anchorCtr="0">
            <a:spAutoFit/>
          </a:bodyPr>
          <a:lstStyle/>
          <a:p>
            <a:pPr eaLnBrk="0" hangingPunct="0"/>
            <a:r>
              <a:rPr lang="en-US" altLang="zh-CN" sz="1800" b="1" u="sng" dirty="0">
                <a:solidFill>
                  <a:srgbClr val="008000"/>
                </a:solidFill>
                <a:latin typeface="Comic Sans MS" panose="030F0702030302020204" pitchFamily="66" charset="0"/>
              </a:rPr>
              <a:t>Reader</a:t>
            </a:r>
            <a:endParaRPr lang="en-US" altLang="zh-CN" sz="1800" dirty="0">
              <a:solidFill>
                <a:srgbClr val="008000"/>
              </a:solidFill>
              <a:latin typeface="Comic Sans MS" panose="030F0702030302020204" pitchFamily="66" charset="0"/>
            </a:endParaRPr>
          </a:p>
          <a:p>
            <a:pPr eaLnBrk="0" hangingPunct="0"/>
            <a:r>
              <a:rPr lang="en-US" altLang="zh-CN" sz="1800" dirty="0">
                <a:solidFill>
                  <a:srgbClr val="008000"/>
                </a:solidFill>
                <a:latin typeface="Comic Sans MS" panose="030F0702030302020204" pitchFamily="66" charset="0"/>
              </a:rPr>
              <a:t>do {</a:t>
            </a:r>
          </a:p>
          <a:p>
            <a:pPr eaLnBrk="0" hangingPunct="0"/>
            <a:r>
              <a:rPr lang="en-US" altLang="zh-CN" sz="1800" dirty="0">
                <a:solidFill>
                  <a:srgbClr val="008000"/>
                </a:solidFill>
                <a:latin typeface="Comic Sans MS" panose="030F0702030302020204" pitchFamily="66" charset="0"/>
              </a:rPr>
              <a:t>       </a:t>
            </a:r>
            <a:r>
              <a:rPr lang="en-US" altLang="zh-CN" sz="1800" dirty="0">
                <a:solidFill>
                  <a:srgbClr val="FF0000"/>
                </a:solidFill>
                <a:latin typeface="Comic Sans MS" panose="030F0702030302020204" pitchFamily="66" charset="0"/>
              </a:rPr>
              <a:t>wait (mutex);</a:t>
            </a:r>
          </a:p>
          <a:p>
            <a:pPr eaLnBrk="0" hangingPunct="0"/>
            <a:r>
              <a:rPr lang="en-US" altLang="zh-CN" sz="1800" dirty="0">
                <a:solidFill>
                  <a:srgbClr val="008000"/>
                </a:solidFill>
                <a:latin typeface="Comic Sans MS" panose="030F0702030302020204" pitchFamily="66" charset="0"/>
              </a:rPr>
              <a:t>       readcount++;</a:t>
            </a:r>
          </a:p>
          <a:p>
            <a:pPr eaLnBrk="0" hangingPunct="0"/>
            <a:r>
              <a:rPr lang="en-US" altLang="zh-CN" sz="1800" dirty="0">
                <a:solidFill>
                  <a:srgbClr val="008000"/>
                </a:solidFill>
                <a:latin typeface="Comic Sans MS" panose="030F0702030302020204" pitchFamily="66" charset="0"/>
              </a:rPr>
              <a:t>       if (readcount == 1)  wait (wrl);</a:t>
            </a:r>
          </a:p>
          <a:p>
            <a:pPr eaLnBrk="0" hangingPunct="0"/>
            <a:r>
              <a:rPr lang="en-US" altLang="zh-CN" sz="1800" dirty="0">
                <a:solidFill>
                  <a:srgbClr val="008000"/>
                </a:solidFill>
                <a:latin typeface="Comic Sans MS" panose="030F0702030302020204" pitchFamily="66" charset="0"/>
              </a:rPr>
              <a:t>       </a:t>
            </a:r>
            <a:r>
              <a:rPr lang="en-US" altLang="zh-CN" sz="1800" dirty="0">
                <a:solidFill>
                  <a:srgbClr val="FF0000"/>
                </a:solidFill>
                <a:latin typeface="Comic Sans MS" panose="030F0702030302020204" pitchFamily="66" charset="0"/>
              </a:rPr>
              <a:t>signal(mutex);</a:t>
            </a:r>
          </a:p>
          <a:p>
            <a:pPr eaLnBrk="0" hangingPunct="0"/>
            <a:r>
              <a:rPr lang="en-US" altLang="zh-CN" sz="1800" dirty="0">
                <a:solidFill>
                  <a:srgbClr val="008000"/>
                </a:solidFill>
                <a:latin typeface="Comic Sans MS" panose="030F0702030302020204" pitchFamily="66" charset="0"/>
              </a:rPr>
              <a:t>       . . .</a:t>
            </a:r>
          </a:p>
          <a:p>
            <a:pPr eaLnBrk="0" hangingPunct="0"/>
            <a:r>
              <a:rPr lang="en-US" altLang="zh-CN" sz="1800" dirty="0">
                <a:solidFill>
                  <a:srgbClr val="008000"/>
                </a:solidFill>
                <a:latin typeface="Comic Sans MS" panose="030F0702030302020204" pitchFamily="66" charset="0"/>
              </a:rPr>
              <a:t>       /*reading is performed*/</a:t>
            </a:r>
          </a:p>
          <a:p>
            <a:pPr eaLnBrk="0" hangingPunct="0"/>
            <a:r>
              <a:rPr lang="en-US" altLang="zh-CN" sz="1800" dirty="0">
                <a:solidFill>
                  <a:srgbClr val="008000"/>
                </a:solidFill>
                <a:latin typeface="Comic Sans MS" panose="030F0702030302020204" pitchFamily="66" charset="0"/>
              </a:rPr>
              <a:t>       . . .</a:t>
            </a:r>
          </a:p>
          <a:p>
            <a:pPr eaLnBrk="0" hangingPunct="0"/>
            <a:r>
              <a:rPr lang="en-US" altLang="zh-CN" sz="1800" dirty="0">
                <a:solidFill>
                  <a:srgbClr val="008000"/>
                </a:solidFill>
                <a:latin typeface="Comic Sans MS" panose="030F0702030302020204" pitchFamily="66" charset="0"/>
              </a:rPr>
              <a:t>       </a:t>
            </a:r>
            <a:r>
              <a:rPr lang="en-US" altLang="zh-CN" sz="1800" dirty="0">
                <a:solidFill>
                  <a:srgbClr val="FF0000"/>
                </a:solidFill>
                <a:latin typeface="Comic Sans MS" panose="030F0702030302020204" pitchFamily="66" charset="0"/>
              </a:rPr>
              <a:t>wait (mutex);</a:t>
            </a:r>
          </a:p>
          <a:p>
            <a:pPr eaLnBrk="0" hangingPunct="0"/>
            <a:r>
              <a:rPr lang="en-US" altLang="zh-CN" sz="1800" dirty="0">
                <a:solidFill>
                  <a:srgbClr val="008000"/>
                </a:solidFill>
                <a:latin typeface="Comic Sans MS" panose="030F0702030302020204" pitchFamily="66" charset="0"/>
              </a:rPr>
              <a:t>       readcount--;</a:t>
            </a:r>
          </a:p>
          <a:p>
            <a:pPr eaLnBrk="0" hangingPunct="0"/>
            <a:r>
              <a:rPr lang="en-US" altLang="zh-CN" sz="1800" dirty="0">
                <a:solidFill>
                  <a:srgbClr val="008000"/>
                </a:solidFill>
                <a:latin typeface="Comic Sans MS" panose="030F0702030302020204" pitchFamily="66" charset="0"/>
              </a:rPr>
              <a:t>       if (readcount == 0) signal(wrl);</a:t>
            </a:r>
          </a:p>
          <a:p>
            <a:pPr eaLnBrk="0" hangingPunct="0"/>
            <a:r>
              <a:rPr lang="en-US" altLang="zh-CN" sz="1800" dirty="0">
                <a:solidFill>
                  <a:srgbClr val="008000"/>
                </a:solidFill>
                <a:latin typeface="Comic Sans MS" panose="030F0702030302020204" pitchFamily="66" charset="0"/>
              </a:rPr>
              <a:t>       </a:t>
            </a:r>
            <a:r>
              <a:rPr lang="en-US" altLang="zh-CN" sz="1800" dirty="0">
                <a:solidFill>
                  <a:srgbClr val="FF0000"/>
                </a:solidFill>
                <a:latin typeface="Comic Sans MS" panose="030F0702030302020204" pitchFamily="66" charset="0"/>
              </a:rPr>
              <a:t>signal(mutex);</a:t>
            </a:r>
          </a:p>
          <a:p>
            <a:pPr eaLnBrk="0" hangingPunct="0"/>
            <a:endParaRPr lang="en-US" altLang="zh-CN" sz="1800" dirty="0">
              <a:solidFill>
                <a:srgbClr val="008000"/>
              </a:solidFill>
              <a:latin typeface="Comic Sans MS" panose="030F0702030302020204" pitchFamily="66" charset="0"/>
            </a:endParaRPr>
          </a:p>
          <a:p>
            <a:pPr eaLnBrk="0" hangingPunct="0"/>
            <a:r>
              <a:rPr lang="en-US" altLang="zh-CN" sz="1800" dirty="0">
                <a:solidFill>
                  <a:srgbClr val="008000"/>
                </a:solidFill>
                <a:latin typeface="Comic Sans MS" panose="030F0702030302020204" pitchFamily="66" charset="0"/>
              </a:rPr>
              <a:t>}while(TRUE);</a:t>
            </a:r>
            <a:endParaRPr lang="en-US" altLang="zh-CN" sz="1800" b="1" u="sng" dirty="0">
              <a:solidFill>
                <a:srgbClr val="008000"/>
              </a:solidFill>
              <a:latin typeface="Comic Sans MS" panose="030F0702030302020204" pitchFamily="66" charset="0"/>
            </a:endParaRPr>
          </a:p>
        </p:txBody>
      </p:sp>
      <p:sp>
        <p:nvSpPr>
          <p:cNvPr id="124931" name="矩形 4"/>
          <p:cNvSpPr/>
          <p:nvPr/>
        </p:nvSpPr>
        <p:spPr>
          <a:xfrm>
            <a:off x="1246188" y="315913"/>
            <a:ext cx="7897812" cy="460375"/>
          </a:xfrm>
          <a:prstGeom prst="rect">
            <a:avLst/>
          </a:prstGeom>
          <a:noFill/>
          <a:ln w="9525">
            <a:noFill/>
          </a:ln>
        </p:spPr>
        <p:txBody>
          <a:bodyPr anchor="t" anchorCtr="0">
            <a:spAutoFit/>
          </a:bodyPr>
          <a:lstStyle/>
          <a:p>
            <a:pPr eaLnBrk="0" hangingPunct="0"/>
            <a:r>
              <a:rPr lang="en-US" altLang="zh-CN" sz="2400" dirty="0">
                <a:solidFill>
                  <a:srgbClr val="009900"/>
                </a:solidFill>
                <a:latin typeface="Verdana" panose="020B0604030504040204" pitchFamily="34" charset="0"/>
                <a:ea typeface="宋体" panose="02010600030101010101" pitchFamily="2" charset="-122"/>
              </a:rPr>
              <a:t>The structure of the Writer/Reader process(con.)</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2"/>
          <p:cNvSpPr>
            <a:spLocks noGrp="1"/>
          </p:cNvSpPr>
          <p:nvPr>
            <p:ph type="title"/>
          </p:nvPr>
        </p:nvSpPr>
        <p:spPr>
          <a:xfrm>
            <a:off x="685800" y="152400"/>
            <a:ext cx="6870700" cy="684213"/>
          </a:xfrm>
          <a:ln/>
        </p:spPr>
        <p:txBody>
          <a:bodyPr vert="horz" wrap="square" lIns="91440" tIns="45720" rIns="91440" bIns="45720" anchor="b" anchorCtr="0"/>
          <a:lstStyle/>
          <a:p>
            <a:pPr eaLnBrk="1" hangingPunct="1"/>
            <a:r>
              <a:rPr lang="en-US" altLang="zh-CN" sz="2400" dirty="0"/>
              <a:t>Readers-Writers Problem: Reader</a:t>
            </a:r>
          </a:p>
        </p:txBody>
      </p:sp>
      <p:sp>
        <p:nvSpPr>
          <p:cNvPr id="126978" name="Rectangle 3"/>
          <p:cNvSpPr>
            <a:spLocks noGrp="1"/>
          </p:cNvSpPr>
          <p:nvPr>
            <p:ph idx="1"/>
          </p:nvPr>
        </p:nvSpPr>
        <p:spPr>
          <a:xfrm>
            <a:off x="1780140" y="979362"/>
            <a:ext cx="6286500" cy="5295900"/>
          </a:xfrm>
          <a:ln/>
        </p:spPr>
        <p:txBody>
          <a:bodyPr vert="horz" wrap="square" lIns="91440" tIns="45720" rIns="91440" bIns="45720" anchor="t" anchorCtr="0"/>
          <a:lstStyle/>
          <a:p>
            <a:pPr eaLnBrk="1" hangingPunct="1">
              <a:lnSpc>
                <a:spcPct val="90000"/>
              </a:lnSpc>
              <a:buFontTx/>
              <a:buNone/>
            </a:pPr>
            <a:r>
              <a:rPr lang="en-US" altLang="zh-CN" sz="2000" dirty="0"/>
              <a:t>public class Reader extends Thread {</a:t>
            </a:r>
          </a:p>
          <a:p>
            <a:pPr eaLnBrk="1" hangingPunct="1">
              <a:lnSpc>
                <a:spcPct val="90000"/>
              </a:lnSpc>
              <a:buFontTx/>
              <a:buNone/>
            </a:pPr>
            <a:r>
              <a:rPr lang="en-US" altLang="zh-CN" sz="2000" dirty="0"/>
              <a:t>   public Reader(Database db) {</a:t>
            </a:r>
          </a:p>
          <a:p>
            <a:pPr eaLnBrk="1" hangingPunct="1">
              <a:lnSpc>
                <a:spcPct val="90000"/>
              </a:lnSpc>
              <a:buFontTx/>
              <a:buNone/>
            </a:pPr>
            <a:r>
              <a:rPr lang="en-US" altLang="zh-CN" sz="2000" dirty="0"/>
              <a:t>   		server = db;</a:t>
            </a:r>
          </a:p>
          <a:p>
            <a:pPr eaLnBrk="1" hangingPunct="1">
              <a:lnSpc>
                <a:spcPct val="90000"/>
              </a:lnSpc>
              <a:buFontTx/>
              <a:buNone/>
            </a:pPr>
            <a:r>
              <a:rPr lang="en-US" altLang="zh-CN" sz="2000" dirty="0"/>
              <a:t>   }</a:t>
            </a:r>
          </a:p>
          <a:p>
            <a:pPr eaLnBrk="1" hangingPunct="1">
              <a:lnSpc>
                <a:spcPct val="90000"/>
              </a:lnSpc>
              <a:buFontTx/>
              <a:buNone/>
            </a:pPr>
            <a:r>
              <a:rPr lang="en-US" altLang="zh-CN" sz="2000" dirty="0"/>
              <a:t>   public void run() {</a:t>
            </a:r>
          </a:p>
          <a:p>
            <a:pPr eaLnBrk="1" hangingPunct="1">
              <a:lnSpc>
                <a:spcPct val="90000"/>
              </a:lnSpc>
              <a:buFontTx/>
              <a:buNone/>
            </a:pPr>
            <a:r>
              <a:rPr lang="en-US" altLang="zh-CN" sz="2000" dirty="0"/>
              <a:t>   	int c;</a:t>
            </a:r>
          </a:p>
          <a:p>
            <a:pPr eaLnBrk="1" hangingPunct="1">
              <a:lnSpc>
                <a:spcPct val="90000"/>
              </a:lnSpc>
              <a:buFontTx/>
              <a:buNone/>
            </a:pPr>
            <a:r>
              <a:rPr lang="en-US" altLang="zh-CN" sz="2000" dirty="0"/>
              <a:t>	while (true) {</a:t>
            </a:r>
          </a:p>
          <a:p>
            <a:pPr eaLnBrk="1" hangingPunct="1">
              <a:lnSpc>
                <a:spcPct val="90000"/>
              </a:lnSpc>
              <a:buFontTx/>
              <a:buNone/>
            </a:pPr>
            <a:r>
              <a:rPr lang="en-US" altLang="zh-CN" sz="2000" dirty="0"/>
              <a:t>		c = server.startRead();</a:t>
            </a:r>
          </a:p>
          <a:p>
            <a:pPr eaLnBrk="1" hangingPunct="1">
              <a:lnSpc>
                <a:spcPct val="90000"/>
              </a:lnSpc>
              <a:buFontTx/>
              <a:buNone/>
            </a:pPr>
            <a:r>
              <a:rPr lang="en-US" altLang="zh-CN" sz="2000" dirty="0"/>
              <a:t>       	// now reading the database       </a:t>
            </a:r>
          </a:p>
          <a:p>
            <a:pPr eaLnBrk="1" hangingPunct="1">
              <a:lnSpc>
                <a:spcPct val="90000"/>
              </a:lnSpc>
              <a:buFontTx/>
              <a:buNone/>
            </a:pPr>
            <a:r>
              <a:rPr lang="en-US" altLang="zh-CN" sz="2000" dirty="0"/>
              <a:t>      	c = server.endRead();</a:t>
            </a:r>
          </a:p>
          <a:p>
            <a:pPr eaLnBrk="1" hangingPunct="1">
              <a:lnSpc>
                <a:spcPct val="90000"/>
              </a:lnSpc>
              <a:buFontTx/>
              <a:buNone/>
            </a:pPr>
            <a:r>
              <a:rPr lang="en-US" altLang="zh-CN" sz="2000" dirty="0"/>
              <a:t>	}</a:t>
            </a:r>
          </a:p>
          <a:p>
            <a:pPr eaLnBrk="1" hangingPunct="1">
              <a:lnSpc>
                <a:spcPct val="90000"/>
              </a:lnSpc>
              <a:buFontTx/>
              <a:buNone/>
            </a:pPr>
            <a:r>
              <a:rPr lang="en-US" altLang="zh-CN" sz="2000" dirty="0"/>
              <a:t>   }</a:t>
            </a:r>
          </a:p>
          <a:p>
            <a:pPr eaLnBrk="1" hangingPunct="1">
              <a:lnSpc>
                <a:spcPct val="90000"/>
              </a:lnSpc>
              <a:buFontTx/>
              <a:buNone/>
            </a:pPr>
            <a:r>
              <a:rPr lang="en-US" altLang="zh-CN" sz="2000" dirty="0"/>
              <a:t>   private Database	server;</a:t>
            </a:r>
          </a:p>
          <a:p>
            <a:pPr eaLnBrk="1" hangingPunct="1">
              <a:lnSpc>
                <a:spcPct val="90000"/>
              </a:lnSpc>
              <a:buFontTx/>
              <a:buNone/>
            </a:pPr>
            <a:r>
              <a:rPr lang="en-US" altLang="zh-CN" sz="2000" dirty="0"/>
              <a:t>}</a:t>
            </a: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2"/>
          <p:cNvSpPr>
            <a:spLocks noGrp="1"/>
          </p:cNvSpPr>
          <p:nvPr>
            <p:ph type="title"/>
          </p:nvPr>
        </p:nvSpPr>
        <p:spPr>
          <a:xfrm>
            <a:off x="685800" y="152400"/>
            <a:ext cx="6870700" cy="415925"/>
          </a:xfrm>
          <a:ln/>
        </p:spPr>
        <p:txBody>
          <a:bodyPr vert="horz" wrap="square" lIns="91440" tIns="45720" rIns="91440" bIns="45720" anchor="b" anchorCtr="0"/>
          <a:lstStyle/>
          <a:p>
            <a:pPr eaLnBrk="1" hangingPunct="1"/>
            <a:r>
              <a:rPr lang="en-US" altLang="zh-CN" sz="2400" dirty="0"/>
              <a:t>Readers-Writers Problem (cont)</a:t>
            </a:r>
          </a:p>
        </p:txBody>
      </p:sp>
      <p:sp>
        <p:nvSpPr>
          <p:cNvPr id="129026" name="Rectangle 3"/>
          <p:cNvSpPr>
            <a:spLocks noGrp="1"/>
          </p:cNvSpPr>
          <p:nvPr>
            <p:ph idx="1"/>
          </p:nvPr>
        </p:nvSpPr>
        <p:spPr>
          <a:xfrm>
            <a:off x="1484599" y="789755"/>
            <a:ext cx="7354887" cy="6165850"/>
          </a:xfrm>
          <a:ln/>
        </p:spPr>
        <p:txBody>
          <a:bodyPr vert="horz" wrap="square" lIns="91440" tIns="45720" rIns="91440" bIns="45720" anchor="t" anchorCtr="0"/>
          <a:lstStyle/>
          <a:p>
            <a:pPr defTabSz="914400" eaLnBrk="1" hangingPunct="1">
              <a:lnSpc>
                <a:spcPct val="120000"/>
              </a:lnSpc>
              <a:spcBef>
                <a:spcPct val="15000"/>
              </a:spcBef>
              <a:buFontTx/>
              <a:buNone/>
              <a:tabLst>
                <a:tab pos="2232025" algn="l"/>
                <a:tab pos="2513330" algn="l"/>
                <a:tab pos="2857500" algn="l"/>
              </a:tabLst>
            </a:pPr>
            <a:r>
              <a:rPr lang="en-US" altLang="zh-CN" sz="1800" dirty="0"/>
              <a:t>public class Database</a:t>
            </a:r>
          </a:p>
          <a:p>
            <a:pPr defTabSz="914400" eaLnBrk="1" hangingPunct="1">
              <a:lnSpc>
                <a:spcPct val="120000"/>
              </a:lnSpc>
              <a:spcBef>
                <a:spcPct val="15000"/>
              </a:spcBef>
              <a:buFontTx/>
              <a:buNone/>
              <a:tabLst>
                <a:tab pos="2232025" algn="l"/>
                <a:tab pos="2513330" algn="l"/>
                <a:tab pos="2857500" algn="l"/>
              </a:tabLst>
            </a:pPr>
            <a:r>
              <a:rPr lang="en-US" altLang="zh-CN" sz="1800" dirty="0"/>
              <a:t>{  </a:t>
            </a:r>
          </a:p>
          <a:p>
            <a:pPr defTabSz="914400" eaLnBrk="1" hangingPunct="1">
              <a:lnSpc>
                <a:spcPct val="120000"/>
              </a:lnSpc>
              <a:spcBef>
                <a:spcPct val="15000"/>
              </a:spcBef>
              <a:buFontTx/>
              <a:buNone/>
              <a:tabLst>
                <a:tab pos="2232025" algn="l"/>
                <a:tab pos="2513330" algn="l"/>
                <a:tab pos="2857500" algn="l"/>
              </a:tabLst>
            </a:pPr>
            <a:r>
              <a:rPr lang="en-US" altLang="zh-CN" sz="1800" dirty="0"/>
              <a:t>   public Database() {</a:t>
            </a:r>
          </a:p>
          <a:p>
            <a:pPr defTabSz="914400" eaLnBrk="1" hangingPunct="1">
              <a:lnSpc>
                <a:spcPct val="120000"/>
              </a:lnSpc>
              <a:spcBef>
                <a:spcPct val="15000"/>
              </a:spcBef>
              <a:buFontTx/>
              <a:buNone/>
              <a:tabLst>
                <a:tab pos="2232025" algn="l"/>
                <a:tab pos="2513330" algn="l"/>
                <a:tab pos="2857500" algn="l"/>
              </a:tabLst>
            </a:pPr>
            <a:r>
              <a:rPr lang="en-US" altLang="zh-CN" sz="1800" dirty="0"/>
              <a:t>      readerCount = 0;      </a:t>
            </a:r>
          </a:p>
          <a:p>
            <a:pPr defTabSz="914400" eaLnBrk="1" hangingPunct="1">
              <a:lnSpc>
                <a:spcPct val="120000"/>
              </a:lnSpc>
              <a:spcBef>
                <a:spcPct val="15000"/>
              </a:spcBef>
              <a:buFontTx/>
              <a:buNone/>
              <a:tabLst>
                <a:tab pos="2232025" algn="l"/>
                <a:tab pos="2513330" algn="l"/>
                <a:tab pos="2857500" algn="l"/>
              </a:tabLst>
            </a:pPr>
            <a:r>
              <a:rPr lang="en-US" altLang="zh-CN" sz="1800" dirty="0"/>
              <a:t>      mutex = new Semaphore(1);</a:t>
            </a:r>
          </a:p>
          <a:p>
            <a:pPr defTabSz="914400" eaLnBrk="1" hangingPunct="1">
              <a:lnSpc>
                <a:spcPct val="120000"/>
              </a:lnSpc>
              <a:spcBef>
                <a:spcPct val="15000"/>
              </a:spcBef>
              <a:buFontTx/>
              <a:buNone/>
              <a:tabLst>
                <a:tab pos="2232025" algn="l"/>
                <a:tab pos="2513330" algn="l"/>
                <a:tab pos="2857500" algn="l"/>
              </a:tabLst>
            </a:pPr>
            <a:r>
              <a:rPr lang="en-US" altLang="zh-CN" sz="1800" dirty="0"/>
              <a:t>      db = new Semaphore(1);</a:t>
            </a:r>
          </a:p>
          <a:p>
            <a:pPr defTabSz="914400" eaLnBrk="1" hangingPunct="1">
              <a:lnSpc>
                <a:spcPct val="120000"/>
              </a:lnSpc>
              <a:spcBef>
                <a:spcPct val="15000"/>
              </a:spcBef>
              <a:buFontTx/>
              <a:buNone/>
              <a:tabLst>
                <a:tab pos="2232025" algn="l"/>
                <a:tab pos="2513330" algn="l"/>
                <a:tab pos="2857500" algn="l"/>
              </a:tabLst>
            </a:pPr>
            <a:r>
              <a:rPr lang="en-US" altLang="zh-CN" sz="1800" dirty="0"/>
              <a:t>   }</a:t>
            </a:r>
          </a:p>
          <a:p>
            <a:pPr defTabSz="914400" eaLnBrk="1" hangingPunct="1">
              <a:lnSpc>
                <a:spcPct val="120000"/>
              </a:lnSpc>
              <a:spcBef>
                <a:spcPct val="15000"/>
              </a:spcBef>
              <a:buFontTx/>
              <a:buNone/>
              <a:tabLst>
                <a:tab pos="2232025" algn="l"/>
                <a:tab pos="2513330" algn="l"/>
                <a:tab pos="2857500" algn="l"/>
              </a:tabLst>
            </a:pPr>
            <a:r>
              <a:rPr lang="en-US" altLang="zh-CN" sz="1800" dirty="0"/>
              <a:t>	public int startRead() { /* see next slides */ }</a:t>
            </a:r>
          </a:p>
          <a:p>
            <a:pPr defTabSz="914400" eaLnBrk="1" hangingPunct="1">
              <a:lnSpc>
                <a:spcPct val="120000"/>
              </a:lnSpc>
              <a:spcBef>
                <a:spcPct val="15000"/>
              </a:spcBef>
              <a:buFontTx/>
              <a:buNone/>
              <a:tabLst>
                <a:tab pos="2232025" algn="l"/>
                <a:tab pos="2513330" algn="l"/>
                <a:tab pos="2857500" algn="l"/>
              </a:tabLst>
            </a:pPr>
            <a:r>
              <a:rPr lang="en-US" altLang="zh-CN" sz="1800" dirty="0"/>
              <a:t>	public int endRead()  { /* see next slides */ }</a:t>
            </a:r>
          </a:p>
          <a:p>
            <a:pPr defTabSz="914400" eaLnBrk="1" hangingPunct="1">
              <a:lnSpc>
                <a:spcPct val="120000"/>
              </a:lnSpc>
              <a:spcBef>
                <a:spcPct val="15000"/>
              </a:spcBef>
              <a:buFontTx/>
              <a:buNone/>
              <a:tabLst>
                <a:tab pos="2232025" algn="l"/>
                <a:tab pos="2513330" algn="l"/>
                <a:tab pos="2857500" algn="l"/>
              </a:tabLst>
            </a:pPr>
            <a:r>
              <a:rPr lang="en-US" altLang="zh-CN" sz="1800" dirty="0"/>
              <a:t>	public void startWrite() { /* see next slides */ }</a:t>
            </a:r>
          </a:p>
          <a:p>
            <a:pPr defTabSz="914400" eaLnBrk="1" hangingPunct="1">
              <a:lnSpc>
                <a:spcPct val="120000"/>
              </a:lnSpc>
              <a:spcBef>
                <a:spcPct val="15000"/>
              </a:spcBef>
              <a:buFontTx/>
              <a:buNone/>
              <a:tabLst>
                <a:tab pos="2232025" algn="l"/>
                <a:tab pos="2513330" algn="l"/>
                <a:tab pos="2857500" algn="l"/>
              </a:tabLst>
            </a:pPr>
            <a:r>
              <a:rPr lang="en-US" altLang="zh-CN" sz="1800" dirty="0"/>
              <a:t>   	public void endWrite()  { /* see next slides */ }</a:t>
            </a:r>
          </a:p>
          <a:p>
            <a:pPr defTabSz="914400" eaLnBrk="1" hangingPunct="1">
              <a:lnSpc>
                <a:spcPct val="120000"/>
              </a:lnSpc>
              <a:spcBef>
                <a:spcPct val="15000"/>
              </a:spcBef>
              <a:buFontTx/>
              <a:buNone/>
              <a:tabLst>
                <a:tab pos="2232025" algn="l"/>
                <a:tab pos="2513330" algn="l"/>
                <a:tab pos="2857500" algn="l"/>
              </a:tabLst>
            </a:pPr>
            <a:endParaRPr lang="en-US" altLang="zh-CN" sz="1800" dirty="0"/>
          </a:p>
          <a:p>
            <a:pPr defTabSz="914400" eaLnBrk="1" hangingPunct="1">
              <a:lnSpc>
                <a:spcPct val="120000"/>
              </a:lnSpc>
              <a:spcBef>
                <a:spcPct val="15000"/>
              </a:spcBef>
              <a:buFontTx/>
              <a:buNone/>
              <a:tabLst>
                <a:tab pos="2232025" algn="l"/>
                <a:tab pos="2513330" algn="l"/>
                <a:tab pos="2857500" algn="l"/>
              </a:tabLst>
            </a:pPr>
            <a:r>
              <a:rPr lang="en-US" altLang="zh-CN" sz="1800" dirty="0"/>
              <a:t>   	private int readerCount; // number of active readers</a:t>
            </a:r>
          </a:p>
          <a:p>
            <a:pPr defTabSz="914400" eaLnBrk="1" hangingPunct="1">
              <a:lnSpc>
                <a:spcPct val="120000"/>
              </a:lnSpc>
              <a:spcBef>
                <a:spcPct val="15000"/>
              </a:spcBef>
              <a:buFontTx/>
              <a:buNone/>
              <a:tabLst>
                <a:tab pos="2232025" algn="l"/>
                <a:tab pos="2513330" algn="l"/>
                <a:tab pos="2857500" algn="l"/>
              </a:tabLst>
            </a:pPr>
            <a:r>
              <a:rPr lang="en-US" altLang="zh-CN" sz="1800" dirty="0"/>
              <a:t>   	Semaphore mutex;   // controls access to readerCount</a:t>
            </a:r>
          </a:p>
          <a:p>
            <a:pPr defTabSz="914400" eaLnBrk="1" hangingPunct="1">
              <a:lnSpc>
                <a:spcPct val="120000"/>
              </a:lnSpc>
              <a:spcBef>
                <a:spcPct val="15000"/>
              </a:spcBef>
              <a:buFontTx/>
              <a:buNone/>
              <a:tabLst>
                <a:tab pos="2232025" algn="l"/>
                <a:tab pos="2513330" algn="l"/>
                <a:tab pos="2857500" algn="l"/>
              </a:tabLst>
            </a:pPr>
            <a:r>
              <a:rPr lang="en-US" altLang="zh-CN" sz="1800" dirty="0"/>
              <a:t>   	Semaphore db;         // controls access to the database</a:t>
            </a:r>
          </a:p>
          <a:p>
            <a:pPr defTabSz="914400" eaLnBrk="1" hangingPunct="1">
              <a:lnSpc>
                <a:spcPct val="120000"/>
              </a:lnSpc>
              <a:spcBef>
                <a:spcPct val="15000"/>
              </a:spcBef>
              <a:buFontTx/>
              <a:buNone/>
              <a:tabLst>
                <a:tab pos="2232025" algn="l"/>
                <a:tab pos="2513330" algn="l"/>
                <a:tab pos="2857500" algn="l"/>
              </a:tabLst>
            </a:pPr>
            <a:r>
              <a:rPr lang="en-US" altLang="zh-CN" sz="1800" dirty="0"/>
              <a:t>}</a:t>
            </a:r>
          </a:p>
          <a:p>
            <a:pPr defTabSz="914400" eaLnBrk="1" hangingPunct="1">
              <a:lnSpc>
                <a:spcPct val="90000"/>
              </a:lnSpc>
              <a:spcBef>
                <a:spcPct val="15000"/>
              </a:spcBef>
              <a:buFontTx/>
              <a:buNone/>
              <a:tabLst>
                <a:tab pos="2232025" algn="l"/>
                <a:tab pos="2513330" algn="l"/>
                <a:tab pos="2857500" algn="l"/>
              </a:tabLst>
            </a:pPr>
            <a:r>
              <a:rPr lang="en-US" altLang="zh-CN" sz="1800" dirty="0"/>
              <a:t> </a:t>
            </a:r>
          </a:p>
          <a:p>
            <a:pPr defTabSz="914400" eaLnBrk="1" hangingPunct="1">
              <a:lnSpc>
                <a:spcPct val="90000"/>
              </a:lnSpc>
              <a:spcBef>
                <a:spcPct val="15000"/>
              </a:spcBef>
              <a:buFontTx/>
              <a:buNone/>
              <a:tabLst>
                <a:tab pos="2232025" algn="l"/>
                <a:tab pos="2513330" algn="l"/>
                <a:tab pos="2857500" algn="l"/>
              </a:tabLst>
            </a:pPr>
            <a:r>
              <a:rPr lang="en-US" altLang="zh-CN" sz="1800" dirty="0"/>
              <a:t>    </a:t>
            </a: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p:cNvSpPr>
            <a:spLocks noGrp="1"/>
          </p:cNvSpPr>
          <p:nvPr>
            <p:ph type="title"/>
          </p:nvPr>
        </p:nvSpPr>
        <p:spPr>
          <a:xfrm>
            <a:off x="1092200" y="203200"/>
            <a:ext cx="6870700" cy="746125"/>
          </a:xfrm>
          <a:ln/>
        </p:spPr>
        <p:txBody>
          <a:bodyPr vert="horz" wrap="square" lIns="91440" tIns="45720" rIns="91440" bIns="45720" anchor="b" anchorCtr="0"/>
          <a:lstStyle/>
          <a:p>
            <a:pPr eaLnBrk="1" hangingPunct="1"/>
            <a:r>
              <a:rPr lang="en-US" altLang="zh-CN" dirty="0"/>
              <a:t>startRead() Method</a:t>
            </a:r>
          </a:p>
        </p:txBody>
      </p:sp>
      <p:sp>
        <p:nvSpPr>
          <p:cNvPr id="130050" name="Rectangle 3"/>
          <p:cNvSpPr>
            <a:spLocks noGrp="1"/>
          </p:cNvSpPr>
          <p:nvPr>
            <p:ph idx="1"/>
          </p:nvPr>
        </p:nvSpPr>
        <p:spPr>
          <a:xfrm>
            <a:off x="1758950" y="1000125"/>
            <a:ext cx="6076950" cy="5857875"/>
          </a:xfrm>
          <a:ln/>
        </p:spPr>
        <p:txBody>
          <a:bodyPr vert="horz" wrap="square" lIns="91440" tIns="45720" rIns="91440" bIns="45720" anchor="t" anchorCtr="0"/>
          <a:lstStyle/>
          <a:p>
            <a:pPr eaLnBrk="1" hangingPunct="1">
              <a:lnSpc>
                <a:spcPct val="90000"/>
              </a:lnSpc>
              <a:buFontTx/>
              <a:buNone/>
            </a:pPr>
            <a:r>
              <a:rPr lang="en-US" altLang="zh-CN" sz="2000" dirty="0"/>
              <a:t>public int startRead() { </a:t>
            </a:r>
          </a:p>
          <a:p>
            <a:pPr eaLnBrk="1" hangingPunct="1">
              <a:lnSpc>
                <a:spcPct val="90000"/>
              </a:lnSpc>
              <a:buFontTx/>
              <a:buNone/>
            </a:pPr>
            <a:r>
              <a:rPr lang="en-US" altLang="zh-CN" sz="2000" dirty="0"/>
              <a:t>      </a:t>
            </a:r>
            <a:r>
              <a:rPr lang="en-US" altLang="zh-CN" sz="2000" dirty="0">
                <a:solidFill>
                  <a:srgbClr val="FF0000"/>
                </a:solidFill>
              </a:rPr>
              <a:t>mutex.P();</a:t>
            </a:r>
          </a:p>
          <a:p>
            <a:pPr eaLnBrk="1" hangingPunct="1">
              <a:lnSpc>
                <a:spcPct val="90000"/>
              </a:lnSpc>
              <a:buFontTx/>
              <a:buNone/>
            </a:pPr>
            <a:r>
              <a:rPr lang="en-US" altLang="zh-CN" sz="2000" dirty="0"/>
              <a:t>      ++readerCount;</a:t>
            </a:r>
          </a:p>
          <a:p>
            <a:pPr eaLnBrk="1" hangingPunct="1">
              <a:lnSpc>
                <a:spcPct val="90000"/>
              </a:lnSpc>
              <a:buFontTx/>
              <a:buNone/>
            </a:pPr>
            <a:endParaRPr lang="en-US" altLang="zh-CN" sz="2000" dirty="0"/>
          </a:p>
          <a:p>
            <a:pPr eaLnBrk="1" hangingPunct="1">
              <a:lnSpc>
                <a:spcPct val="90000"/>
              </a:lnSpc>
              <a:buFontTx/>
              <a:buNone/>
            </a:pPr>
            <a:r>
              <a:rPr lang="en-US" altLang="zh-CN" sz="2000" dirty="0"/>
              <a:t>      // if I am the first reader tell all others</a:t>
            </a:r>
          </a:p>
          <a:p>
            <a:pPr eaLnBrk="1" hangingPunct="1">
              <a:lnSpc>
                <a:spcPct val="90000"/>
              </a:lnSpc>
              <a:buFontTx/>
              <a:buNone/>
            </a:pPr>
            <a:r>
              <a:rPr lang="en-US" altLang="zh-CN" sz="2000" dirty="0"/>
              <a:t>      // that the database is being read</a:t>
            </a:r>
          </a:p>
          <a:p>
            <a:pPr eaLnBrk="1" hangingPunct="1">
              <a:lnSpc>
                <a:spcPct val="90000"/>
              </a:lnSpc>
              <a:buFontTx/>
              <a:buNone/>
            </a:pPr>
            <a:r>
              <a:rPr lang="en-US" altLang="zh-CN" sz="2000" dirty="0"/>
              <a:t>      if (readerCount == 1)</a:t>
            </a:r>
          </a:p>
          <a:p>
            <a:pPr eaLnBrk="1" hangingPunct="1">
              <a:lnSpc>
                <a:spcPct val="90000"/>
              </a:lnSpc>
              <a:buFontTx/>
              <a:buNone/>
            </a:pPr>
            <a:r>
              <a:rPr lang="en-US" altLang="zh-CN" sz="2000" dirty="0">
                <a:solidFill>
                  <a:srgbClr val="0000FF"/>
                </a:solidFill>
              </a:rPr>
              <a:t>         db.P();</a:t>
            </a:r>
          </a:p>
          <a:p>
            <a:pPr eaLnBrk="1" hangingPunct="1">
              <a:lnSpc>
                <a:spcPct val="90000"/>
              </a:lnSpc>
              <a:buFontTx/>
              <a:buNone/>
            </a:pPr>
            <a:r>
              <a:rPr lang="en-US" altLang="zh-CN" sz="2000" dirty="0">
                <a:solidFill>
                  <a:srgbClr val="FF0000"/>
                </a:solidFill>
              </a:rPr>
              <a:t>         </a:t>
            </a:r>
          </a:p>
          <a:p>
            <a:pPr eaLnBrk="1" hangingPunct="1">
              <a:lnSpc>
                <a:spcPct val="90000"/>
              </a:lnSpc>
              <a:buFontTx/>
              <a:buNone/>
            </a:pPr>
            <a:r>
              <a:rPr lang="en-US" altLang="zh-CN" sz="2000" dirty="0">
                <a:solidFill>
                  <a:srgbClr val="FF0000"/>
                </a:solidFill>
              </a:rPr>
              <a:t>      mutex.V();</a:t>
            </a:r>
          </a:p>
          <a:p>
            <a:pPr eaLnBrk="1" hangingPunct="1">
              <a:lnSpc>
                <a:spcPct val="90000"/>
              </a:lnSpc>
              <a:buFontTx/>
              <a:buNone/>
            </a:pPr>
            <a:r>
              <a:rPr lang="en-US" altLang="zh-CN" sz="2000" dirty="0"/>
              <a:t>      return readerCount;</a:t>
            </a:r>
          </a:p>
          <a:p>
            <a:pPr eaLnBrk="1" hangingPunct="1">
              <a:lnSpc>
                <a:spcPct val="90000"/>
              </a:lnSpc>
              <a:buFontTx/>
              <a:buNone/>
            </a:pPr>
            <a:r>
              <a:rPr lang="en-US" altLang="zh-CN" sz="2000" dirty="0"/>
              <a:t>   }</a:t>
            </a: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p:cNvSpPr>
            <a:spLocks noGrp="1"/>
          </p:cNvSpPr>
          <p:nvPr>
            <p:ph type="title"/>
          </p:nvPr>
        </p:nvSpPr>
        <p:spPr>
          <a:ln/>
        </p:spPr>
        <p:txBody>
          <a:bodyPr vert="horz" wrap="square" lIns="91440" tIns="45720" rIns="91440" bIns="45720" anchor="b" anchorCtr="0"/>
          <a:lstStyle/>
          <a:p>
            <a:pPr eaLnBrk="1" hangingPunct="1"/>
            <a:r>
              <a:rPr lang="en-US" altLang="zh-CN" dirty="0"/>
              <a:t>endRead() Method</a:t>
            </a:r>
          </a:p>
        </p:txBody>
      </p:sp>
      <p:sp>
        <p:nvSpPr>
          <p:cNvPr id="131074" name="Rectangle 3"/>
          <p:cNvSpPr>
            <a:spLocks noGrp="1"/>
          </p:cNvSpPr>
          <p:nvPr>
            <p:ph idx="1"/>
          </p:nvPr>
        </p:nvSpPr>
        <p:spPr>
          <a:xfrm>
            <a:off x="785813" y="1317625"/>
            <a:ext cx="7510462" cy="5289550"/>
          </a:xfrm>
          <a:ln/>
        </p:spPr>
        <p:txBody>
          <a:bodyPr vert="horz" wrap="square" lIns="91440" tIns="45720" rIns="91440" bIns="45720" anchor="t" anchorCtr="0"/>
          <a:lstStyle/>
          <a:p>
            <a:pPr eaLnBrk="1" hangingPunct="1">
              <a:lnSpc>
                <a:spcPct val="90000"/>
              </a:lnSpc>
              <a:buFontTx/>
              <a:buNone/>
            </a:pPr>
            <a:r>
              <a:rPr lang="en-US" altLang="zh-CN" sz="2000" dirty="0"/>
              <a:t>public int endRead() {</a:t>
            </a:r>
          </a:p>
          <a:p>
            <a:pPr eaLnBrk="1" hangingPunct="1">
              <a:lnSpc>
                <a:spcPct val="90000"/>
              </a:lnSpc>
              <a:buFontTx/>
              <a:buNone/>
            </a:pPr>
            <a:r>
              <a:rPr lang="en-US" altLang="zh-CN" sz="2000" dirty="0"/>
              <a:t>      </a:t>
            </a:r>
            <a:r>
              <a:rPr lang="en-US" altLang="zh-CN" sz="2000" dirty="0">
                <a:solidFill>
                  <a:srgbClr val="FF0000"/>
                </a:solidFill>
              </a:rPr>
              <a:t>mutex.P();</a:t>
            </a:r>
          </a:p>
          <a:p>
            <a:pPr eaLnBrk="1" hangingPunct="1">
              <a:lnSpc>
                <a:spcPct val="90000"/>
              </a:lnSpc>
              <a:buFontTx/>
              <a:buNone/>
            </a:pPr>
            <a:r>
              <a:rPr lang="en-US" altLang="zh-CN" sz="2000" dirty="0"/>
              <a:t>      --readerCount;</a:t>
            </a:r>
          </a:p>
          <a:p>
            <a:pPr eaLnBrk="1" hangingPunct="1">
              <a:lnSpc>
                <a:spcPct val="90000"/>
              </a:lnSpc>
              <a:buFontTx/>
              <a:buNone/>
            </a:pPr>
            <a:endParaRPr lang="en-US" altLang="zh-CN" sz="2000" dirty="0"/>
          </a:p>
          <a:p>
            <a:pPr eaLnBrk="1" hangingPunct="1">
              <a:lnSpc>
                <a:spcPct val="90000"/>
              </a:lnSpc>
              <a:buFontTx/>
              <a:buNone/>
            </a:pPr>
            <a:r>
              <a:rPr lang="en-US" altLang="zh-CN" sz="2000" dirty="0"/>
              <a:t>      // if I am the last reader tell all others</a:t>
            </a:r>
          </a:p>
          <a:p>
            <a:pPr eaLnBrk="1" hangingPunct="1">
              <a:lnSpc>
                <a:spcPct val="90000"/>
              </a:lnSpc>
              <a:buFontTx/>
              <a:buNone/>
            </a:pPr>
            <a:r>
              <a:rPr lang="en-US" altLang="zh-CN" sz="2000" dirty="0"/>
              <a:t>      // that the database is no longer being read</a:t>
            </a:r>
          </a:p>
          <a:p>
            <a:pPr eaLnBrk="1" hangingPunct="1">
              <a:lnSpc>
                <a:spcPct val="90000"/>
              </a:lnSpc>
              <a:buFontTx/>
              <a:buNone/>
            </a:pPr>
            <a:r>
              <a:rPr lang="en-US" altLang="zh-CN" sz="2000" dirty="0"/>
              <a:t>      if (readerCount == 0)</a:t>
            </a:r>
          </a:p>
          <a:p>
            <a:pPr eaLnBrk="1" hangingPunct="1">
              <a:lnSpc>
                <a:spcPct val="90000"/>
              </a:lnSpc>
              <a:buFontTx/>
              <a:buNone/>
            </a:pPr>
            <a:r>
              <a:rPr lang="en-US" altLang="zh-CN" sz="2000" dirty="0">
                <a:solidFill>
                  <a:srgbClr val="0000FF"/>
                </a:solidFill>
              </a:rPr>
              <a:t>         db.V();</a:t>
            </a:r>
          </a:p>
          <a:p>
            <a:pPr eaLnBrk="1" hangingPunct="1">
              <a:lnSpc>
                <a:spcPct val="90000"/>
              </a:lnSpc>
              <a:buFontTx/>
              <a:buNone/>
            </a:pPr>
            <a:r>
              <a:rPr lang="en-US" altLang="zh-CN" sz="2000" dirty="0"/>
              <a:t>      </a:t>
            </a:r>
          </a:p>
          <a:p>
            <a:pPr eaLnBrk="1" hangingPunct="1">
              <a:lnSpc>
                <a:spcPct val="90000"/>
              </a:lnSpc>
              <a:buFontTx/>
              <a:buNone/>
            </a:pPr>
            <a:r>
              <a:rPr lang="en-US" altLang="zh-CN" sz="2000" dirty="0">
                <a:solidFill>
                  <a:srgbClr val="FF0000"/>
                </a:solidFill>
              </a:rPr>
              <a:t>      mutex.V();</a:t>
            </a:r>
          </a:p>
          <a:p>
            <a:pPr eaLnBrk="1" hangingPunct="1">
              <a:lnSpc>
                <a:spcPct val="90000"/>
              </a:lnSpc>
              <a:buFontTx/>
              <a:buNone/>
            </a:pPr>
            <a:r>
              <a:rPr lang="en-US" altLang="zh-CN" sz="2000" dirty="0"/>
              <a:t>      return readerCount;</a:t>
            </a:r>
          </a:p>
          <a:p>
            <a:pPr eaLnBrk="1" hangingPunct="1">
              <a:lnSpc>
                <a:spcPct val="90000"/>
              </a:lnSpc>
              <a:buFontTx/>
              <a:buNone/>
            </a:pPr>
            <a:r>
              <a:rPr lang="en-US" altLang="zh-CN" sz="2000" dirty="0"/>
              <a:t>   }</a:t>
            </a: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p:cNvSpPr>
            <a:spLocks noGrp="1"/>
          </p:cNvSpPr>
          <p:nvPr>
            <p:ph type="title"/>
          </p:nvPr>
        </p:nvSpPr>
        <p:spPr>
          <a:ln/>
        </p:spPr>
        <p:txBody>
          <a:bodyPr vert="horz" wrap="square" lIns="91440" tIns="45720" rIns="91440" bIns="45720" anchor="b" anchorCtr="0"/>
          <a:lstStyle/>
          <a:p>
            <a:pPr eaLnBrk="1" hangingPunct="1"/>
            <a:r>
              <a:rPr lang="en-US" altLang="zh-CN" dirty="0"/>
              <a:t>Writer Methods</a:t>
            </a:r>
          </a:p>
        </p:txBody>
      </p:sp>
      <p:sp>
        <p:nvSpPr>
          <p:cNvPr id="132098" name="Rectangle 3"/>
          <p:cNvSpPr>
            <a:spLocks noGrp="1"/>
          </p:cNvSpPr>
          <p:nvPr>
            <p:ph idx="1"/>
          </p:nvPr>
        </p:nvSpPr>
        <p:spPr>
          <a:xfrm>
            <a:off x="1895475" y="1362075"/>
            <a:ext cx="6181725" cy="4476750"/>
          </a:xfrm>
          <a:ln/>
        </p:spPr>
        <p:txBody>
          <a:bodyPr vert="horz" wrap="square" lIns="91440" tIns="45720" rIns="91440" bIns="45720" anchor="t" anchorCtr="0"/>
          <a:lstStyle/>
          <a:p>
            <a:pPr eaLnBrk="1" hangingPunct="1">
              <a:buFontTx/>
              <a:buNone/>
            </a:pPr>
            <a:r>
              <a:rPr lang="en-US" altLang="zh-CN" sz="2400" dirty="0"/>
              <a:t>public void startWrite() {</a:t>
            </a:r>
          </a:p>
          <a:p>
            <a:pPr eaLnBrk="1" hangingPunct="1">
              <a:buFontTx/>
              <a:buNone/>
            </a:pPr>
            <a:r>
              <a:rPr lang="en-US" altLang="zh-CN" sz="2400" dirty="0">
                <a:solidFill>
                  <a:srgbClr val="0000FF"/>
                </a:solidFill>
              </a:rPr>
              <a:t>      db.P();</a:t>
            </a:r>
          </a:p>
          <a:p>
            <a:pPr eaLnBrk="1" hangingPunct="1">
              <a:buFontTx/>
              <a:buNone/>
            </a:pPr>
            <a:r>
              <a:rPr lang="en-US" altLang="zh-CN" sz="2400" dirty="0"/>
              <a:t>}</a:t>
            </a:r>
          </a:p>
          <a:p>
            <a:pPr eaLnBrk="1" hangingPunct="1">
              <a:buFontTx/>
              <a:buNone/>
            </a:pPr>
            <a:endParaRPr lang="en-US" altLang="zh-CN" sz="2400" dirty="0"/>
          </a:p>
          <a:p>
            <a:pPr eaLnBrk="1" hangingPunct="1">
              <a:buFontTx/>
              <a:buNone/>
            </a:pPr>
            <a:r>
              <a:rPr lang="en-US" altLang="zh-CN" sz="2400" dirty="0"/>
              <a:t>public void endWrite() {</a:t>
            </a:r>
          </a:p>
          <a:p>
            <a:pPr eaLnBrk="1" hangingPunct="1">
              <a:buFontTx/>
              <a:buNone/>
            </a:pPr>
            <a:r>
              <a:rPr lang="en-US" altLang="zh-CN" sz="2400" dirty="0">
                <a:solidFill>
                  <a:srgbClr val="0000FF"/>
                </a:solidFill>
              </a:rPr>
              <a:t>      db.V();</a:t>
            </a:r>
          </a:p>
          <a:p>
            <a:pPr eaLnBrk="1" hangingPunct="1">
              <a:buFontTx/>
              <a:buNone/>
            </a:pPr>
            <a:r>
              <a:rPr lang="en-US" altLang="zh-CN" sz="2400" dirty="0"/>
              <a:t>}</a:t>
            </a:r>
          </a:p>
          <a:p>
            <a:pPr eaLnBrk="1" hangingPunct="1">
              <a:buFontTx/>
              <a:buNone/>
            </a:pPr>
            <a:endParaRPr lang="zh-CN" altLang="en-US" sz="2400" dirty="0"/>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2"/>
          <p:cNvSpPr>
            <a:spLocks noGrp="1"/>
          </p:cNvSpPr>
          <p:nvPr>
            <p:ph type="title"/>
          </p:nvPr>
        </p:nvSpPr>
        <p:spPr>
          <a:ln/>
        </p:spPr>
        <p:txBody>
          <a:bodyPr vert="horz" wrap="square" lIns="91440" tIns="45720" rIns="91440" bIns="45720" anchor="b" anchorCtr="0"/>
          <a:lstStyle/>
          <a:p>
            <a:r>
              <a:rPr lang="en-US" altLang="zh-CN" dirty="0">
                <a:ea typeface="宋体" panose="02010600030101010101" pitchFamily="2" charset="-122"/>
              </a:rPr>
              <a:t>Dining-Philosophers Problem</a:t>
            </a:r>
          </a:p>
        </p:txBody>
      </p:sp>
      <p:sp>
        <p:nvSpPr>
          <p:cNvPr id="133122" name="Rectangle 3"/>
          <p:cNvSpPr>
            <a:spLocks noGrp="1"/>
          </p:cNvSpPr>
          <p:nvPr>
            <p:ph idx="1"/>
          </p:nvPr>
        </p:nvSpPr>
        <p:spPr>
          <a:xfrm>
            <a:off x="550863" y="4876800"/>
            <a:ext cx="7954962" cy="1247775"/>
          </a:xfrm>
          <a:ln/>
        </p:spPr>
        <p:txBody>
          <a:bodyPr vert="horz" wrap="square" lIns="91440" tIns="45720" rIns="91440" bIns="45720" anchor="t" anchorCtr="0"/>
          <a:lstStyle/>
          <a:p>
            <a:pPr defTabSz="914400">
              <a:tabLst>
                <a:tab pos="1370330" algn="l"/>
                <a:tab pos="1541780" algn="l"/>
              </a:tabLst>
            </a:pPr>
            <a:r>
              <a:rPr lang="en-US" altLang="zh-CN" sz="2400" dirty="0">
                <a:ea typeface="宋体" panose="02010600030101010101" pitchFamily="2" charset="-122"/>
              </a:rPr>
              <a:t>Shared data </a:t>
            </a:r>
          </a:p>
          <a:p>
            <a:pPr lvl="1" defTabSz="914400">
              <a:tabLst>
                <a:tab pos="1370330" algn="l"/>
                <a:tab pos="1541780" algn="l"/>
              </a:tabLst>
            </a:pPr>
            <a:r>
              <a:rPr lang="en-US" altLang="zh-CN" sz="2400" dirty="0">
                <a:ea typeface="宋体" panose="02010600030101010101" pitchFamily="2" charset="-122"/>
              </a:rPr>
              <a:t>Bowl of rice (data set)</a:t>
            </a:r>
          </a:p>
          <a:p>
            <a:pPr lvl="1" defTabSz="914400">
              <a:tabLst>
                <a:tab pos="1370330" algn="l"/>
                <a:tab pos="1541780" algn="l"/>
              </a:tabLst>
            </a:pPr>
            <a:r>
              <a:rPr lang="en-US" altLang="zh-CN" sz="2400" dirty="0">
                <a:ea typeface="宋体" panose="02010600030101010101" pitchFamily="2" charset="-122"/>
              </a:rPr>
              <a:t>Semaphore </a:t>
            </a:r>
            <a:r>
              <a:rPr lang="en-US" altLang="zh-CN" sz="2400" dirty="0">
                <a:solidFill>
                  <a:srgbClr val="FF0000"/>
                </a:solidFill>
                <a:ea typeface="宋体" panose="02010600030101010101" pitchFamily="2" charset="-122"/>
              </a:rPr>
              <a:t>chopstick [5]</a:t>
            </a:r>
            <a:r>
              <a:rPr lang="en-US" altLang="zh-CN" sz="2400" dirty="0">
                <a:ea typeface="宋体" panose="02010600030101010101" pitchFamily="2" charset="-122"/>
              </a:rPr>
              <a:t> initialized to 1</a:t>
            </a:r>
          </a:p>
        </p:txBody>
      </p:sp>
      <p:pic>
        <p:nvPicPr>
          <p:cNvPr id="133123" name="Picture 4"/>
          <p:cNvPicPr>
            <a:picLocks noChangeAspect="1"/>
          </p:cNvPicPr>
          <p:nvPr/>
        </p:nvPicPr>
        <p:blipFill>
          <a:blip r:embed="rId3"/>
          <a:srcRect l="11311" t="586" r="11458" b="781"/>
          <a:stretch>
            <a:fillRect/>
          </a:stretch>
        </p:blipFill>
        <p:spPr>
          <a:xfrm>
            <a:off x="3271838" y="1624013"/>
            <a:ext cx="3078162" cy="2947987"/>
          </a:xfrm>
          <a:prstGeom prst="rect">
            <a:avLst/>
          </a:prstGeom>
          <a:noFill/>
          <a:ln w="38100" cap="flat" cmpd="dbl">
            <a:solidFill>
              <a:srgbClr val="CC6600"/>
            </a:solidFill>
            <a:prstDash val="solid"/>
            <a:miter/>
            <a:headEnd type="none" w="med" len="med"/>
            <a:tailEnd type="none" w="med" len="med"/>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p:cNvSpPr>
            <a:spLocks noGrp="1"/>
          </p:cNvSpPr>
          <p:nvPr>
            <p:ph type="title"/>
          </p:nvPr>
        </p:nvSpPr>
        <p:spPr>
          <a:xfrm>
            <a:off x="914400" y="179388"/>
            <a:ext cx="8229600" cy="576262"/>
          </a:xfrm>
          <a:ln/>
        </p:spPr>
        <p:txBody>
          <a:bodyPr vert="horz" wrap="square" lIns="91440" tIns="45720" rIns="91440" bIns="45720" anchor="b" anchorCtr="0"/>
          <a:lstStyle/>
          <a:p>
            <a:r>
              <a:rPr lang="en-US" altLang="zh-CN" dirty="0">
                <a:ea typeface="宋体" panose="02010600030101010101" pitchFamily="2" charset="-122"/>
              </a:rPr>
              <a:t>Dining-Philosophers Problem (Cont.)</a:t>
            </a:r>
          </a:p>
        </p:txBody>
      </p:sp>
      <p:sp>
        <p:nvSpPr>
          <p:cNvPr id="54275" name="Rectangle 3"/>
          <p:cNvSpPr>
            <a:spLocks noGrp="1"/>
          </p:cNvSpPr>
          <p:nvPr>
            <p:ph idx="1"/>
          </p:nvPr>
        </p:nvSpPr>
        <p:spPr>
          <a:xfrm>
            <a:off x="785813" y="857250"/>
            <a:ext cx="8051800" cy="5726113"/>
          </a:xfrm>
          <a:ln/>
        </p:spPr>
        <p:txBody>
          <a:bodyPr vert="horz" wrap="square" lIns="91440" tIns="45720" rIns="91440" bIns="45720" anchor="t" anchorCtr="0"/>
          <a:lstStyle/>
          <a:p>
            <a:pPr marL="381000" indent="-381000" defTabSz="914400">
              <a:lnSpc>
                <a:spcPct val="90000"/>
              </a:lnSpc>
              <a:tabLst>
                <a:tab pos="1713230" algn="l"/>
                <a:tab pos="2005330" algn="l"/>
                <a:tab pos="2232025" algn="l"/>
                <a:tab pos="2459355" algn="l"/>
              </a:tabLst>
            </a:pPr>
            <a:r>
              <a:rPr lang="en-US" altLang="zh-CN" dirty="0">
                <a:ea typeface="宋体" panose="02010600030101010101" pitchFamily="2" charset="-122"/>
              </a:rPr>
              <a:t>The structure of Philosopher</a:t>
            </a:r>
            <a:r>
              <a:rPr lang="en-US" altLang="zh-CN" i="1" dirty="0">
                <a:solidFill>
                  <a:srgbClr val="0000FF"/>
                </a:solidFill>
                <a:ea typeface="宋体" panose="02010600030101010101" pitchFamily="2" charset="-122"/>
              </a:rPr>
              <a:t> i</a:t>
            </a:r>
            <a:r>
              <a:rPr lang="en-US" altLang="zh-CN" dirty="0">
                <a:ea typeface="宋体" panose="02010600030101010101" pitchFamily="2" charset="-122"/>
              </a:rPr>
              <a:t>:</a:t>
            </a:r>
          </a:p>
          <a:p>
            <a:pPr marL="1200150" lvl="2" indent="-342900" defTabSz="914400">
              <a:lnSpc>
                <a:spcPct val="90000"/>
              </a:lnSpc>
              <a:buNone/>
              <a:tabLst>
                <a:tab pos="1713230" algn="l"/>
                <a:tab pos="2005330" algn="l"/>
                <a:tab pos="2232025" algn="l"/>
                <a:tab pos="2459355" algn="l"/>
              </a:tabLst>
            </a:pPr>
            <a:r>
              <a:rPr lang="en-US" altLang="zh-CN" dirty="0">
                <a:solidFill>
                  <a:srgbClr val="0000FF"/>
                </a:solidFill>
                <a:ea typeface="宋体" panose="02010600030101010101" pitchFamily="2" charset="-122"/>
              </a:rPr>
              <a:t>While (true)  { </a:t>
            </a:r>
          </a:p>
          <a:p>
            <a:pPr marL="1200150" lvl="2" indent="-342900" defTabSz="914400">
              <a:lnSpc>
                <a:spcPct val="90000"/>
              </a:lnSpc>
              <a:buNone/>
              <a:tabLst>
                <a:tab pos="1713230" algn="l"/>
                <a:tab pos="2005330" algn="l"/>
                <a:tab pos="2232025" algn="l"/>
                <a:tab pos="2459355" algn="l"/>
              </a:tabLst>
            </a:pPr>
            <a:r>
              <a:rPr lang="en-US" altLang="zh-CN" dirty="0">
                <a:solidFill>
                  <a:srgbClr val="0000FF"/>
                </a:solidFill>
                <a:ea typeface="宋体" panose="02010600030101010101" pitchFamily="2" charset="-122"/>
              </a:rPr>
              <a:t>         wait ( chopstick[i] );</a:t>
            </a:r>
          </a:p>
          <a:p>
            <a:pPr marL="1200150" lvl="2" indent="-342900" defTabSz="914400">
              <a:lnSpc>
                <a:spcPct val="90000"/>
              </a:lnSpc>
              <a:buNone/>
              <a:tabLst>
                <a:tab pos="1713230" algn="l"/>
                <a:tab pos="2005330" algn="l"/>
                <a:tab pos="2232025" algn="l"/>
                <a:tab pos="2459355" algn="l"/>
              </a:tabLst>
            </a:pPr>
            <a:r>
              <a:rPr lang="en-US" altLang="zh-CN" dirty="0">
                <a:solidFill>
                  <a:srgbClr val="0000FF"/>
                </a:solidFill>
                <a:ea typeface="宋体" panose="02010600030101010101" pitchFamily="2" charset="-122"/>
              </a:rPr>
              <a:t>	     wait ( chopStick[ (i + 1) % 5] );</a:t>
            </a:r>
          </a:p>
          <a:p>
            <a:pPr marL="1200150" lvl="2" indent="-342900" defTabSz="914400">
              <a:lnSpc>
                <a:spcPct val="90000"/>
              </a:lnSpc>
              <a:buNone/>
              <a:tabLst>
                <a:tab pos="1713230" algn="l"/>
                <a:tab pos="2005330" algn="l"/>
                <a:tab pos="2232025" algn="l"/>
                <a:tab pos="2459355" algn="l"/>
              </a:tabLst>
            </a:pPr>
            <a:r>
              <a:rPr lang="en-US" altLang="zh-CN" dirty="0">
                <a:solidFill>
                  <a:srgbClr val="0000FF"/>
                </a:solidFill>
                <a:ea typeface="宋体" panose="02010600030101010101" pitchFamily="2" charset="-122"/>
              </a:rPr>
              <a:t>	</a:t>
            </a:r>
          </a:p>
          <a:p>
            <a:pPr marL="1200150" lvl="2" indent="-342900" defTabSz="914400">
              <a:lnSpc>
                <a:spcPct val="90000"/>
              </a:lnSpc>
              <a:buNone/>
              <a:tabLst>
                <a:tab pos="1713230" algn="l"/>
                <a:tab pos="2005330" algn="l"/>
                <a:tab pos="2232025" algn="l"/>
                <a:tab pos="2459355" algn="l"/>
              </a:tabLst>
            </a:pPr>
            <a:r>
              <a:rPr lang="en-US" altLang="zh-CN" dirty="0">
                <a:solidFill>
                  <a:srgbClr val="0000FF"/>
                </a:solidFill>
                <a:ea typeface="宋体" panose="02010600030101010101" pitchFamily="2" charset="-122"/>
              </a:rPr>
              <a:t>	             //  eat</a:t>
            </a:r>
          </a:p>
          <a:p>
            <a:pPr marL="1200150" lvl="2" indent="-342900" defTabSz="914400">
              <a:lnSpc>
                <a:spcPct val="90000"/>
              </a:lnSpc>
              <a:buNone/>
              <a:tabLst>
                <a:tab pos="1713230" algn="l"/>
                <a:tab pos="2005330" algn="l"/>
                <a:tab pos="2232025" algn="l"/>
                <a:tab pos="2459355" algn="l"/>
              </a:tabLst>
            </a:pPr>
            <a:endParaRPr lang="en-US" altLang="zh-CN" dirty="0">
              <a:solidFill>
                <a:srgbClr val="0000FF"/>
              </a:solidFill>
              <a:ea typeface="宋体" panose="02010600030101010101" pitchFamily="2" charset="-122"/>
            </a:endParaRPr>
          </a:p>
          <a:p>
            <a:pPr marL="1200150" lvl="2" indent="-342900" defTabSz="914400">
              <a:lnSpc>
                <a:spcPct val="90000"/>
              </a:lnSpc>
              <a:buNone/>
              <a:tabLst>
                <a:tab pos="1713230" algn="l"/>
                <a:tab pos="2005330" algn="l"/>
                <a:tab pos="2232025" algn="l"/>
                <a:tab pos="2459355" algn="l"/>
              </a:tabLst>
            </a:pPr>
            <a:r>
              <a:rPr lang="en-US" altLang="zh-CN" dirty="0">
                <a:solidFill>
                  <a:srgbClr val="0000FF"/>
                </a:solidFill>
                <a:ea typeface="宋体" panose="02010600030101010101" pitchFamily="2" charset="-122"/>
              </a:rPr>
              <a:t>	     signal ( chopstick[i] );</a:t>
            </a:r>
          </a:p>
          <a:p>
            <a:pPr marL="1200150" lvl="2" indent="-342900" defTabSz="914400">
              <a:lnSpc>
                <a:spcPct val="90000"/>
              </a:lnSpc>
              <a:buNone/>
              <a:tabLst>
                <a:tab pos="1713230" algn="l"/>
                <a:tab pos="2005330" algn="l"/>
                <a:tab pos="2232025" algn="l"/>
                <a:tab pos="2459355" algn="l"/>
              </a:tabLst>
            </a:pPr>
            <a:r>
              <a:rPr lang="en-US" altLang="zh-CN" dirty="0">
                <a:solidFill>
                  <a:srgbClr val="0000FF"/>
                </a:solidFill>
                <a:ea typeface="宋体" panose="02010600030101010101" pitchFamily="2" charset="-122"/>
              </a:rPr>
              <a:t>	     signal (chopstick[ (i + 1) % 5] );	</a:t>
            </a:r>
          </a:p>
          <a:p>
            <a:pPr marL="1200150" lvl="2" indent="-342900" defTabSz="914400">
              <a:lnSpc>
                <a:spcPct val="90000"/>
              </a:lnSpc>
              <a:buNone/>
              <a:tabLst>
                <a:tab pos="1713230" algn="l"/>
                <a:tab pos="2005330" algn="l"/>
                <a:tab pos="2232025" algn="l"/>
                <a:tab pos="2459355" algn="l"/>
              </a:tabLst>
            </a:pPr>
            <a:r>
              <a:rPr lang="en-US" altLang="zh-CN" dirty="0">
                <a:solidFill>
                  <a:srgbClr val="0000FF"/>
                </a:solidFill>
                <a:ea typeface="宋体" panose="02010600030101010101" pitchFamily="2" charset="-122"/>
              </a:rPr>
              <a:t>                 //  think</a:t>
            </a:r>
          </a:p>
          <a:p>
            <a:pPr marL="1200150" lvl="2" indent="-342900" defTabSz="914400">
              <a:lnSpc>
                <a:spcPct val="90000"/>
              </a:lnSpc>
              <a:buNone/>
              <a:tabLst>
                <a:tab pos="1713230" algn="l"/>
                <a:tab pos="2005330" algn="l"/>
                <a:tab pos="2232025" algn="l"/>
                <a:tab pos="2459355" algn="l"/>
              </a:tabLst>
            </a:pPr>
            <a:r>
              <a:rPr lang="en-US" altLang="zh-CN" dirty="0">
                <a:solidFill>
                  <a:srgbClr val="0000FF"/>
                </a:solidFill>
                <a:ea typeface="宋体" panose="02010600030101010101" pitchFamily="2" charset="-122"/>
              </a:rPr>
              <a:t>}</a:t>
            </a:r>
          </a:p>
          <a:p>
            <a:pPr marL="1200150" lvl="2" indent="-342900" algn="ctr" defTabSz="914400">
              <a:lnSpc>
                <a:spcPct val="90000"/>
              </a:lnSpc>
              <a:buNone/>
              <a:tabLst>
                <a:tab pos="1713230" algn="l"/>
                <a:tab pos="2005330" algn="l"/>
                <a:tab pos="2232025" algn="l"/>
                <a:tab pos="2459355" algn="l"/>
              </a:tabLst>
            </a:pPr>
            <a:r>
              <a:rPr lang="en-US" altLang="zh-CN" dirty="0">
                <a:solidFill>
                  <a:srgbClr val="FF3300"/>
                </a:solidFill>
                <a:ea typeface="宋体" panose="02010600030101010101" pitchFamily="2" charset="-122"/>
              </a:rPr>
              <a:t>Deadlock?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4275">
                                            <p:txEl>
                                              <p:pRg st="11" end="11"/>
                                            </p:txEl>
                                          </p:spTgt>
                                        </p:tgtEl>
                                        <p:attrNameLst>
                                          <p:attrName>style.visibility</p:attrName>
                                        </p:attrNameLst>
                                      </p:cBhvr>
                                      <p:to>
                                        <p:strVal val="visible"/>
                                      </p:to>
                                    </p:set>
                                    <p:anim calcmode="lin" valueType="num">
                                      <p:cBhvr additive="base">
                                        <p:cTn id="7" dur="500" fill="hold"/>
                                        <p:tgtEl>
                                          <p:spTgt spid="54275">
                                            <p:txEl>
                                              <p:pRg st="11" end="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275">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2"/>
          <p:cNvSpPr>
            <a:spLocks noGrp="1"/>
          </p:cNvSpPr>
          <p:nvPr>
            <p:ph type="title" idx="4294967295"/>
          </p:nvPr>
        </p:nvSpPr>
        <p:spPr>
          <a:xfrm>
            <a:off x="1354138" y="193675"/>
            <a:ext cx="6275387" cy="577850"/>
          </a:xfrm>
          <a:ln/>
        </p:spPr>
        <p:txBody>
          <a:bodyPr vert="horz" wrap="square" lIns="91440" tIns="45720" rIns="91440" bIns="45720" anchor="b" anchorCtr="0"/>
          <a:lstStyle/>
          <a:p>
            <a:pPr eaLnBrk="1" hangingPunct="1"/>
            <a:r>
              <a:rPr lang="en-US" altLang="zh-CN" dirty="0"/>
              <a:t>Solution2</a:t>
            </a:r>
            <a:r>
              <a:rPr lang="zh-CN" altLang="en-US" dirty="0"/>
              <a:t>：</a:t>
            </a:r>
            <a:r>
              <a:rPr lang="en-US" altLang="zh-CN" dirty="0"/>
              <a:t>AND</a:t>
            </a:r>
            <a:r>
              <a:rPr lang="zh-CN" altLang="en-US" dirty="0"/>
              <a:t> </a:t>
            </a:r>
            <a:r>
              <a:rPr lang="en-US" altLang="zh-CN" dirty="0"/>
              <a:t>semaphore</a:t>
            </a:r>
          </a:p>
        </p:txBody>
      </p:sp>
      <p:sp>
        <p:nvSpPr>
          <p:cNvPr id="137218" name="Rectangle 3"/>
          <p:cNvSpPr>
            <a:spLocks noGrp="1"/>
          </p:cNvSpPr>
          <p:nvPr>
            <p:ph type="body" idx="4294967295"/>
          </p:nvPr>
        </p:nvSpPr>
        <p:spPr>
          <a:xfrm>
            <a:off x="666750" y="1525588"/>
            <a:ext cx="7772400" cy="4195762"/>
          </a:xfrm>
          <a:ln/>
        </p:spPr>
        <p:txBody>
          <a:bodyPr vert="horz" wrap="square" lIns="91440" tIns="45720" rIns="91440" bIns="45720" anchor="t" anchorCtr="0"/>
          <a:lstStyle/>
          <a:p>
            <a:pPr algn="just" eaLnBrk="1" hangingPunct="1">
              <a:lnSpc>
                <a:spcPct val="90000"/>
              </a:lnSpc>
              <a:buFontTx/>
              <a:buNone/>
            </a:pPr>
            <a:r>
              <a:rPr lang="en-US" altLang="zh-CN" sz="2400" dirty="0"/>
              <a:t>Var chopstick array[0,</a:t>
            </a:r>
            <a:r>
              <a:rPr lang="en-US" altLang="zh-CN" sz="2400" dirty="0">
                <a:latin typeface="Arial" panose="020B0604020202020204" pitchFamily="34" charset="0"/>
              </a:rPr>
              <a:t>…</a:t>
            </a:r>
            <a:r>
              <a:rPr lang="en-US" altLang="zh-CN" sz="2400" dirty="0"/>
              <a:t>,4] of semaphore :=(1,1,1,1,1);</a:t>
            </a:r>
          </a:p>
          <a:p>
            <a:pPr algn="just" eaLnBrk="1" hangingPunct="1">
              <a:lnSpc>
                <a:spcPct val="90000"/>
              </a:lnSpc>
              <a:buFontTx/>
              <a:buNone/>
            </a:pPr>
            <a:r>
              <a:rPr lang="en-US" altLang="zh-CN" sz="2400" dirty="0"/>
              <a:t>Processi</a:t>
            </a:r>
          </a:p>
          <a:p>
            <a:pPr algn="just" eaLnBrk="1" hangingPunct="1">
              <a:lnSpc>
                <a:spcPct val="90000"/>
              </a:lnSpc>
              <a:buFontTx/>
              <a:buNone/>
            </a:pPr>
            <a:r>
              <a:rPr lang="en-US" altLang="zh-CN" sz="2400" dirty="0"/>
              <a:t>    Reeat </a:t>
            </a:r>
          </a:p>
          <a:p>
            <a:pPr algn="just" eaLnBrk="1" hangingPunct="1">
              <a:lnSpc>
                <a:spcPct val="90000"/>
              </a:lnSpc>
              <a:buFontTx/>
              <a:buNone/>
            </a:pPr>
            <a:r>
              <a:rPr lang="en-US" altLang="zh-CN" sz="2400" dirty="0"/>
              <a:t>           think;</a:t>
            </a:r>
          </a:p>
          <a:p>
            <a:pPr algn="just" eaLnBrk="1" hangingPunct="1">
              <a:lnSpc>
                <a:spcPct val="90000"/>
              </a:lnSpc>
              <a:buFontTx/>
              <a:buNone/>
            </a:pPr>
            <a:r>
              <a:rPr lang="en-US" altLang="zh-CN" sz="2400" dirty="0"/>
              <a:t>           Swait (chopstick[(I+1) mod 5],chopstick[I]);</a:t>
            </a:r>
          </a:p>
          <a:p>
            <a:pPr algn="just" eaLnBrk="1" hangingPunct="1">
              <a:lnSpc>
                <a:spcPct val="90000"/>
              </a:lnSpc>
              <a:buFontTx/>
              <a:buNone/>
            </a:pPr>
            <a:r>
              <a:rPr lang="en-US" altLang="zh-CN" sz="2400" dirty="0"/>
              <a:t>           Eat;</a:t>
            </a:r>
          </a:p>
          <a:p>
            <a:pPr algn="just" eaLnBrk="1" hangingPunct="1">
              <a:lnSpc>
                <a:spcPct val="90000"/>
              </a:lnSpc>
              <a:buFontTx/>
              <a:buNone/>
            </a:pPr>
            <a:r>
              <a:rPr lang="en-US" altLang="zh-CN" sz="2400" dirty="0"/>
              <a:t>           Ssignal (chopstick[(I+1) mod 5],chopstick[I]);</a:t>
            </a:r>
          </a:p>
          <a:p>
            <a:pPr algn="just" eaLnBrk="1" hangingPunct="1">
              <a:lnSpc>
                <a:spcPct val="90000"/>
              </a:lnSpc>
              <a:buFontTx/>
              <a:buNone/>
            </a:pPr>
            <a:r>
              <a:rPr lang="en-US" altLang="zh-CN" sz="2400" dirty="0"/>
              <a:t> Until false;</a:t>
            </a: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p:cNvSpPr>
            <a:spLocks noGrp="1"/>
          </p:cNvSpPr>
          <p:nvPr>
            <p:ph type="title" idx="4294967295"/>
          </p:nvPr>
        </p:nvSpPr>
        <p:spPr>
          <a:ln/>
        </p:spPr>
        <p:txBody>
          <a:bodyPr vert="horz" wrap="square" lIns="91440" tIns="45720" rIns="91440" bIns="45720" anchor="b" anchorCtr="0"/>
          <a:lstStyle/>
          <a:p>
            <a:r>
              <a:rPr lang="en-US" altLang="zh-CN" dirty="0">
                <a:ea typeface="宋体" panose="02010600030101010101" pitchFamily="2" charset="-122"/>
              </a:rPr>
              <a:t>Discussion about Semaphores</a:t>
            </a:r>
          </a:p>
        </p:txBody>
      </p:sp>
      <p:sp>
        <p:nvSpPr>
          <p:cNvPr id="74755" name="Rectangle 3"/>
          <p:cNvSpPr>
            <a:spLocks noGrp="1"/>
          </p:cNvSpPr>
          <p:nvPr>
            <p:ph type="body" idx="4294967295"/>
          </p:nvPr>
        </p:nvSpPr>
        <p:spPr>
          <a:xfrm>
            <a:off x="827088" y="1282700"/>
            <a:ext cx="7664450" cy="4860925"/>
          </a:xfrm>
          <a:ln/>
        </p:spPr>
        <p:txBody>
          <a:bodyPr vert="horz" wrap="square" lIns="91440" tIns="45720" rIns="91440" bIns="45720" anchor="t" anchorCtr="0"/>
          <a:lstStyle/>
          <a:p>
            <a:r>
              <a:rPr lang="en-US" altLang="zh-CN" dirty="0">
                <a:ea typeface="宋体" panose="02010600030101010101" pitchFamily="2" charset="-122"/>
              </a:rPr>
              <a:t> </a:t>
            </a:r>
            <a:r>
              <a:rPr lang="en-US" altLang="zh-CN" sz="2400" dirty="0">
                <a:ea typeface="宋体" panose="02010600030101010101" pitchFamily="2" charset="-122"/>
              </a:rPr>
              <a:t>The value of a semaphore represents the number of available resource</a:t>
            </a:r>
          </a:p>
          <a:p>
            <a:pPr lvl="1"/>
            <a:r>
              <a:rPr lang="en-US" altLang="zh-CN" sz="2400" dirty="0">
                <a:ea typeface="宋体" panose="02010600030101010101" pitchFamily="2" charset="-122"/>
              </a:rPr>
              <a:t>S&gt;0: there are S available resources</a:t>
            </a:r>
          </a:p>
          <a:p>
            <a:pPr lvl="1"/>
            <a:r>
              <a:rPr lang="en-US" altLang="zh-CN" sz="2400" dirty="0">
                <a:ea typeface="宋体" panose="02010600030101010101" pitchFamily="2" charset="-122"/>
              </a:rPr>
              <a:t>S=0: all resources are being used</a:t>
            </a:r>
          </a:p>
          <a:p>
            <a:pPr lvl="1"/>
            <a:r>
              <a:rPr lang="en-US" altLang="zh-CN" sz="2400" dirty="0">
                <a:ea typeface="宋体" panose="02010600030101010101" pitchFamily="2" charset="-122"/>
              </a:rPr>
              <a:t>S&lt;0: there are |S| processes waiting for the resource</a:t>
            </a:r>
          </a:p>
          <a:p>
            <a:r>
              <a:rPr lang="en-US" altLang="zh-CN" sz="2400" dirty="0">
                <a:ea typeface="宋体" panose="02010600030101010101" pitchFamily="2" charset="-122"/>
              </a:rPr>
              <a:t> Operations can be done to a semaphore S:</a:t>
            </a:r>
          </a:p>
          <a:p>
            <a:pPr lvl="1"/>
            <a:r>
              <a:rPr lang="en-US" altLang="zh-CN" sz="2400" dirty="0">
                <a:ea typeface="宋体" panose="02010600030101010101" pitchFamily="2" charset="-122"/>
              </a:rPr>
              <a:t>Initialization: &gt;=0</a:t>
            </a:r>
          </a:p>
          <a:p>
            <a:pPr lvl="1"/>
            <a:r>
              <a:rPr lang="en-US" altLang="zh-CN" sz="2400" dirty="0">
                <a:ea typeface="宋体" panose="02010600030101010101" pitchFamily="2" charset="-122"/>
              </a:rPr>
              <a:t>Wait(): request a resource</a:t>
            </a:r>
          </a:p>
          <a:p>
            <a:pPr lvl="1"/>
            <a:r>
              <a:rPr lang="en-US" altLang="zh-CN" sz="2400" dirty="0">
                <a:ea typeface="宋体" panose="02010600030101010101" pitchFamily="2" charset="-122"/>
              </a:rPr>
              <a:t>signal (): release a resource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4755">
                                            <p:txEl>
                                              <p:pRg st="4" end="4"/>
                                            </p:txEl>
                                          </p:spTgt>
                                        </p:tgtEl>
                                        <p:attrNameLst>
                                          <p:attrName>style.visibility</p:attrName>
                                        </p:attrNameLst>
                                      </p:cBhvr>
                                      <p:to>
                                        <p:strVal val="visible"/>
                                      </p:to>
                                    </p:set>
                                    <p:anim calcmode="lin" valueType="num">
                                      <p:cBhvr additive="base">
                                        <p:cTn id="7" dur="500" fill="hold"/>
                                        <p:tgtEl>
                                          <p:spTgt spid="74755">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4755">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4755">
                                            <p:txEl>
                                              <p:pRg st="5" end="5"/>
                                            </p:txEl>
                                          </p:spTgt>
                                        </p:tgtEl>
                                        <p:attrNameLst>
                                          <p:attrName>style.visibility</p:attrName>
                                        </p:attrNameLst>
                                      </p:cBhvr>
                                      <p:to>
                                        <p:strVal val="visible"/>
                                      </p:to>
                                    </p:set>
                                    <p:anim calcmode="lin" valueType="num">
                                      <p:cBhvr additive="base">
                                        <p:cTn id="11" dur="500" fill="hold"/>
                                        <p:tgtEl>
                                          <p:spTgt spid="74755">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4755">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4755">
                                            <p:txEl>
                                              <p:pRg st="6" end="6"/>
                                            </p:txEl>
                                          </p:spTgt>
                                        </p:tgtEl>
                                        <p:attrNameLst>
                                          <p:attrName>style.visibility</p:attrName>
                                        </p:attrNameLst>
                                      </p:cBhvr>
                                      <p:to>
                                        <p:strVal val="visible"/>
                                      </p:to>
                                    </p:set>
                                    <p:anim calcmode="lin" valueType="num">
                                      <p:cBhvr additive="base">
                                        <p:cTn id="15" dur="500" fill="hold"/>
                                        <p:tgtEl>
                                          <p:spTgt spid="74755">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4755">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4755">
                                            <p:txEl>
                                              <p:pRg st="7" end="7"/>
                                            </p:txEl>
                                          </p:spTgt>
                                        </p:tgtEl>
                                        <p:attrNameLst>
                                          <p:attrName>style.visibility</p:attrName>
                                        </p:attrNameLst>
                                      </p:cBhvr>
                                      <p:to>
                                        <p:strVal val="visible"/>
                                      </p:to>
                                    </p:set>
                                    <p:anim calcmode="lin" valueType="num">
                                      <p:cBhvr additive="base">
                                        <p:cTn id="19" dur="500" fill="hold"/>
                                        <p:tgtEl>
                                          <p:spTgt spid="74755">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475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p:cNvSpPr>
            <a:spLocks noGrp="1"/>
          </p:cNvSpPr>
          <p:nvPr>
            <p:ph type="title" idx="4294967295"/>
          </p:nvPr>
        </p:nvSpPr>
        <p:spPr>
          <a:ln/>
        </p:spPr>
        <p:txBody>
          <a:bodyPr vert="horz" wrap="square" lIns="91440" tIns="45720" rIns="91440" bIns="45720" anchor="b" anchorCtr="0"/>
          <a:lstStyle/>
          <a:p>
            <a:r>
              <a:rPr lang="en-US" altLang="zh-CN" dirty="0">
                <a:ea typeface="宋体" panose="02010600030101010101" pitchFamily="2" charset="-122"/>
              </a:rPr>
              <a:t>Discussion about Semaphores( Cont.)</a:t>
            </a:r>
          </a:p>
        </p:txBody>
      </p:sp>
      <p:sp>
        <p:nvSpPr>
          <p:cNvPr id="196611" name="Rectangle 3"/>
          <p:cNvSpPr>
            <a:spLocks noGrp="1"/>
          </p:cNvSpPr>
          <p:nvPr>
            <p:ph type="body" idx="4294967295"/>
          </p:nvPr>
        </p:nvSpPr>
        <p:spPr>
          <a:xfrm>
            <a:off x="827088" y="1282700"/>
            <a:ext cx="7664450" cy="4860925"/>
          </a:xfrm>
          <a:ln/>
        </p:spPr>
        <p:txBody>
          <a:bodyPr vert="horz" wrap="square" lIns="91440" tIns="45720" rIns="91440" bIns="45720" anchor="t" anchorCtr="0"/>
          <a:lstStyle/>
          <a:p>
            <a:pPr>
              <a:lnSpc>
                <a:spcPct val="90000"/>
              </a:lnSpc>
            </a:pPr>
            <a:r>
              <a:rPr lang="en-US" altLang="zh-CN" sz="2800" dirty="0">
                <a:ea typeface="宋体" panose="02010600030101010101" pitchFamily="2" charset="-122"/>
              </a:rPr>
              <a:t> </a:t>
            </a:r>
            <a:r>
              <a:rPr lang="en-US" altLang="zh-CN" sz="2400" dirty="0">
                <a:ea typeface="宋体" panose="02010600030101010101" pitchFamily="2" charset="-122"/>
              </a:rPr>
              <a:t>Either wait(S) or signal(S) can not be omitted</a:t>
            </a:r>
          </a:p>
          <a:p>
            <a:pPr lvl="1">
              <a:lnSpc>
                <a:spcPct val="90000"/>
              </a:lnSpc>
            </a:pPr>
            <a:r>
              <a:rPr lang="en-US" altLang="zh-CN" sz="2400" dirty="0">
                <a:solidFill>
                  <a:srgbClr val="FF0000"/>
                </a:solidFill>
                <a:ea typeface="宋体" panose="02010600030101010101" pitchFamily="2" charset="-122"/>
              </a:rPr>
              <a:t>For </a:t>
            </a:r>
            <a:r>
              <a:rPr lang="en-US" altLang="zh-CN" sz="2400" b="1" dirty="0">
                <a:solidFill>
                  <a:srgbClr val="FF0000"/>
                </a:solidFill>
                <a:ea typeface="宋体" panose="02010600030101010101" pitchFamily="2" charset="-122"/>
              </a:rPr>
              <a:t>mutual exclusion</a:t>
            </a:r>
            <a:r>
              <a:rPr lang="en-US" altLang="zh-CN" sz="2400" dirty="0">
                <a:solidFill>
                  <a:srgbClr val="FF0000"/>
                </a:solidFill>
                <a:ea typeface="宋体" panose="02010600030101010101" pitchFamily="2" charset="-122"/>
              </a:rPr>
              <a:t>: they appear in the same process</a:t>
            </a:r>
            <a:r>
              <a:rPr lang="zh-CN" altLang="en-US" sz="2400" dirty="0">
                <a:solidFill>
                  <a:srgbClr val="FF0000"/>
                </a:solidFill>
                <a:ea typeface="宋体" panose="02010600030101010101" pitchFamily="2" charset="-122"/>
              </a:rPr>
              <a:t>（互斥在一边）</a:t>
            </a:r>
            <a:endParaRPr lang="en-US" altLang="zh-CN" sz="2400" dirty="0">
              <a:solidFill>
                <a:srgbClr val="FF0000"/>
              </a:solidFill>
              <a:ea typeface="宋体" panose="02010600030101010101" pitchFamily="2" charset="-122"/>
            </a:endParaRPr>
          </a:p>
          <a:p>
            <a:pPr lvl="1">
              <a:lnSpc>
                <a:spcPct val="90000"/>
              </a:lnSpc>
            </a:pPr>
            <a:r>
              <a:rPr lang="en-US" altLang="zh-CN" sz="2400" dirty="0">
                <a:solidFill>
                  <a:srgbClr val="FF0000"/>
                </a:solidFill>
                <a:ea typeface="宋体" panose="02010600030101010101" pitchFamily="2" charset="-122"/>
              </a:rPr>
              <a:t>For </a:t>
            </a:r>
            <a:r>
              <a:rPr lang="en-US" altLang="zh-CN" sz="2400" b="1" dirty="0">
                <a:solidFill>
                  <a:srgbClr val="FF0000"/>
                </a:solidFill>
                <a:ea typeface="宋体" panose="02010600030101010101" pitchFamily="2" charset="-122"/>
              </a:rPr>
              <a:t>synchronization</a:t>
            </a:r>
            <a:r>
              <a:rPr lang="en-US" altLang="zh-CN" sz="2400" dirty="0">
                <a:solidFill>
                  <a:srgbClr val="FF0000"/>
                </a:solidFill>
                <a:ea typeface="宋体" panose="02010600030101010101" pitchFamily="2" charset="-122"/>
              </a:rPr>
              <a:t>: they appear in different process respectively   </a:t>
            </a:r>
            <a:r>
              <a:rPr lang="zh-CN" altLang="en-US" sz="2400" dirty="0">
                <a:solidFill>
                  <a:srgbClr val="FF0000"/>
                </a:solidFill>
                <a:ea typeface="宋体" panose="02010600030101010101" pitchFamily="2" charset="-122"/>
              </a:rPr>
              <a:t>（同步分两边）</a:t>
            </a:r>
            <a:endParaRPr lang="en-US" altLang="zh-CN" sz="2400" dirty="0">
              <a:solidFill>
                <a:srgbClr val="FF0000"/>
              </a:solidFill>
              <a:ea typeface="宋体" panose="02010600030101010101" pitchFamily="2" charset="-122"/>
            </a:endParaRPr>
          </a:p>
          <a:p>
            <a:pPr>
              <a:lnSpc>
                <a:spcPct val="90000"/>
              </a:lnSpc>
            </a:pPr>
            <a:r>
              <a:rPr lang="en-US" altLang="zh-CN" sz="2400" dirty="0">
                <a:ea typeface="宋体" panose="02010600030101010101" pitchFamily="2" charset="-122"/>
              </a:rPr>
              <a:t>For two successive wait(S1) and wait(S2) in a process, the order is important. If S1 is for synchronization, and S2 is for mutual exclusion, then </a:t>
            </a:r>
          </a:p>
          <a:p>
            <a:pPr lvl="1">
              <a:lnSpc>
                <a:spcPct val="90000"/>
              </a:lnSpc>
            </a:pPr>
            <a:r>
              <a:rPr lang="en-US" altLang="zh-CN" sz="2400" dirty="0">
                <a:ea typeface="宋体" panose="02010600030101010101" pitchFamily="2" charset="-122"/>
              </a:rPr>
              <a:t>The correct order is wait(S1) ; wait(S2) </a:t>
            </a:r>
          </a:p>
          <a:p>
            <a:pPr lvl="1">
              <a:lnSpc>
                <a:spcPct val="90000"/>
              </a:lnSpc>
            </a:pPr>
            <a:r>
              <a:rPr lang="en-US" altLang="zh-CN" sz="2400" dirty="0">
                <a:ea typeface="宋体" panose="02010600030101010101" pitchFamily="2" charset="-122"/>
              </a:rPr>
              <a:t>If they are written in the order  wait(S2) ;wait(S1) , there would be a deadlock.</a:t>
            </a:r>
            <a:r>
              <a:rPr lang="en-US" altLang="zh-CN" sz="2000" dirty="0">
                <a:ea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661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6611">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66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p:cNvSpPr>
            <a:spLocks noGrp="1"/>
          </p:cNvSpPr>
          <p:nvPr>
            <p:ph type="title" idx="4294967295"/>
          </p:nvPr>
        </p:nvSpPr>
        <p:spPr>
          <a:ln/>
        </p:spPr>
        <p:txBody>
          <a:bodyPr vert="horz" wrap="square" lIns="91440" tIns="45720" rIns="91440" bIns="45720" anchor="b" anchorCtr="0"/>
          <a:lstStyle/>
          <a:p>
            <a:r>
              <a:rPr lang="en-US" altLang="zh-CN" dirty="0">
                <a:ea typeface="宋体" panose="02010600030101010101" pitchFamily="2" charset="-122"/>
              </a:rPr>
              <a:t>Tips</a:t>
            </a:r>
          </a:p>
        </p:txBody>
      </p:sp>
      <p:sp>
        <p:nvSpPr>
          <p:cNvPr id="196611" name="Rectangle 3"/>
          <p:cNvSpPr>
            <a:spLocks noGrp="1"/>
          </p:cNvSpPr>
          <p:nvPr>
            <p:ph type="body" idx="4294967295"/>
          </p:nvPr>
        </p:nvSpPr>
        <p:spPr>
          <a:xfrm>
            <a:off x="827088" y="1282700"/>
            <a:ext cx="7664450" cy="4860925"/>
          </a:xfrm>
          <a:ln/>
        </p:spPr>
        <p:txBody>
          <a:bodyPr vert="horz" wrap="square" lIns="91440" tIns="45720" rIns="91440" bIns="45720" anchor="t" anchorCtr="0"/>
          <a:lstStyle/>
          <a:p>
            <a:pPr>
              <a:lnSpc>
                <a:spcPct val="90000"/>
              </a:lnSpc>
            </a:pPr>
            <a:r>
              <a:rPr lang="zh-CN" altLang="en-US" sz="2800" dirty="0">
                <a:ea typeface="宋体" panose="02010600030101010101" pitchFamily="2" charset="-122"/>
              </a:rPr>
              <a:t>互斥</a:t>
            </a:r>
            <a:r>
              <a:rPr lang="en-US" altLang="zh-CN" sz="2800" dirty="0">
                <a:ea typeface="宋体" panose="02010600030101010101" pitchFamily="2" charset="-122"/>
              </a:rPr>
              <a:t>/</a:t>
            </a:r>
            <a:r>
              <a:rPr lang="zh-CN" altLang="en-US" sz="2800" dirty="0">
                <a:ea typeface="宋体" panose="02010600030101010101" pitchFamily="2" charset="-122"/>
              </a:rPr>
              <a:t>同步的对象是谁？</a:t>
            </a:r>
            <a:endParaRPr lang="en-US" altLang="zh-CN" sz="2800" dirty="0">
              <a:ea typeface="宋体" panose="02010600030101010101" pitchFamily="2" charset="-122"/>
            </a:endParaRPr>
          </a:p>
          <a:p>
            <a:pPr>
              <a:lnSpc>
                <a:spcPct val="90000"/>
              </a:lnSpc>
            </a:pPr>
            <a:r>
              <a:rPr lang="zh-CN" altLang="en-US" sz="2800" dirty="0">
                <a:ea typeface="宋体" panose="02010600030101010101" pitchFamily="2" charset="-122"/>
              </a:rPr>
              <a:t>互斥访问什么？</a:t>
            </a:r>
            <a:endParaRPr lang="en-US" altLang="zh-CN" sz="2800" dirty="0">
              <a:ea typeface="宋体" panose="02010600030101010101" pitchFamily="2" charset="-122"/>
            </a:endParaRPr>
          </a:p>
          <a:p>
            <a:pPr>
              <a:lnSpc>
                <a:spcPct val="90000"/>
              </a:lnSpc>
            </a:pPr>
            <a:r>
              <a:rPr lang="zh-CN" altLang="en-US" sz="2800" dirty="0">
                <a:ea typeface="宋体" panose="02010600030101010101" pitchFamily="2" charset="-122"/>
              </a:rPr>
              <a:t>同步什么内容？</a:t>
            </a:r>
            <a:endParaRPr lang="en-US" altLang="zh-CN" sz="2800" dirty="0">
              <a:ea typeface="宋体" panose="02010600030101010101" pitchFamily="2" charset="-122"/>
            </a:endParaRPr>
          </a:p>
        </p:txBody>
      </p:sp>
    </p:spTree>
    <p:extLst>
      <p:ext uri="{BB962C8B-B14F-4D97-AF65-F5344CB8AC3E}">
        <p14:creationId xmlns:p14="http://schemas.microsoft.com/office/powerpoint/2010/main" val="346427777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980347-5657-45CE-895F-8F2C5F4C954A}"/>
              </a:ext>
            </a:extLst>
          </p:cNvPr>
          <p:cNvSpPr>
            <a:spLocks noGrp="1"/>
          </p:cNvSpPr>
          <p:nvPr>
            <p:ph type="title"/>
          </p:nvPr>
        </p:nvSpPr>
        <p:spPr/>
        <p:txBody>
          <a:bodyPr/>
          <a:lstStyle/>
          <a:p>
            <a:r>
              <a:rPr lang="zh-CN" altLang="en-US" sz="3200" dirty="0"/>
              <a:t>例题</a:t>
            </a:r>
            <a:endParaRPr lang="zh-CN" altLang="en-US" dirty="0"/>
          </a:p>
        </p:txBody>
      </p:sp>
      <p:sp>
        <p:nvSpPr>
          <p:cNvPr id="3" name="内容占位符 2">
            <a:extLst>
              <a:ext uri="{FF2B5EF4-FFF2-40B4-BE49-F238E27FC236}">
                <a16:creationId xmlns:a16="http://schemas.microsoft.com/office/drawing/2014/main" id="{3097C244-B69A-4CE8-80B3-6DF4FABA10B1}"/>
              </a:ext>
            </a:extLst>
          </p:cNvPr>
          <p:cNvSpPr>
            <a:spLocks noGrp="1"/>
          </p:cNvSpPr>
          <p:nvPr>
            <p:ph idx="1"/>
          </p:nvPr>
        </p:nvSpPr>
        <p:spPr/>
        <p:txBody>
          <a:bodyPr/>
          <a:lstStyle/>
          <a:p>
            <a:r>
              <a:rPr lang="zh-CN" altLang="en-US" sz="2400" b="0" dirty="0">
                <a:solidFill>
                  <a:srgbClr val="231F20"/>
                </a:solidFill>
                <a:effectLst/>
                <a:latin typeface="Palatino-Roman"/>
              </a:rPr>
              <a:t>进程之间存在哪几种相互制约关系？各是什么原因引起的？下列活动分别属于哪种制约关系？</a:t>
            </a:r>
            <a:endParaRPr lang="en-US" altLang="zh-CN" sz="2400" b="0" dirty="0">
              <a:solidFill>
                <a:srgbClr val="231F20"/>
              </a:solidFill>
              <a:effectLst/>
              <a:latin typeface="Palatino-Roman"/>
            </a:endParaRPr>
          </a:p>
          <a:p>
            <a:r>
              <a:rPr lang="zh-CN" altLang="en-US" sz="2400" dirty="0">
                <a:solidFill>
                  <a:srgbClr val="231F20"/>
                </a:solidFill>
                <a:latin typeface="Palatino-Roman"/>
              </a:rPr>
              <a:t>（</a:t>
            </a:r>
            <a:r>
              <a:rPr lang="en-US" altLang="zh-CN" sz="2400" dirty="0">
                <a:solidFill>
                  <a:srgbClr val="231F20"/>
                </a:solidFill>
                <a:latin typeface="Palatino-Roman"/>
              </a:rPr>
              <a:t>1</a:t>
            </a:r>
            <a:r>
              <a:rPr lang="zh-CN" altLang="en-US" sz="2400" dirty="0">
                <a:solidFill>
                  <a:srgbClr val="231F20"/>
                </a:solidFill>
                <a:latin typeface="Palatino-Roman"/>
              </a:rPr>
              <a:t>）若干同学去图书馆借书</a:t>
            </a:r>
            <a:endParaRPr lang="en-US" altLang="zh-CN" sz="2400" dirty="0">
              <a:solidFill>
                <a:srgbClr val="231F20"/>
              </a:solidFill>
              <a:latin typeface="Palatino-Roman"/>
            </a:endParaRPr>
          </a:p>
          <a:p>
            <a:r>
              <a:rPr lang="zh-CN" altLang="en-US" sz="2400" dirty="0">
                <a:solidFill>
                  <a:srgbClr val="231F20"/>
                </a:solidFill>
                <a:latin typeface="Palatino-Roman"/>
              </a:rPr>
              <a:t>（</a:t>
            </a:r>
            <a:r>
              <a:rPr lang="en-US" altLang="zh-CN" sz="2400" dirty="0">
                <a:solidFill>
                  <a:srgbClr val="231F20"/>
                </a:solidFill>
                <a:latin typeface="Palatino-Roman"/>
              </a:rPr>
              <a:t>2</a:t>
            </a:r>
            <a:r>
              <a:rPr lang="zh-CN" altLang="en-US" sz="2400" dirty="0">
                <a:solidFill>
                  <a:srgbClr val="231F20"/>
                </a:solidFill>
                <a:latin typeface="Palatino-Roman"/>
              </a:rPr>
              <a:t>）流水线生产的各道工序</a:t>
            </a:r>
            <a:endParaRPr lang="en-US" altLang="zh-CN" sz="2400" dirty="0">
              <a:solidFill>
                <a:srgbClr val="231F20"/>
              </a:solidFill>
              <a:latin typeface="Palatino-Roman"/>
            </a:endParaRPr>
          </a:p>
          <a:p>
            <a:r>
              <a:rPr lang="zh-CN" altLang="en-US" sz="2400" dirty="0">
                <a:solidFill>
                  <a:srgbClr val="231F20"/>
                </a:solidFill>
                <a:latin typeface="Palatino-Roman"/>
              </a:rPr>
              <a:t>（</a:t>
            </a:r>
            <a:r>
              <a:rPr lang="en-US" altLang="zh-CN" sz="2400" dirty="0">
                <a:solidFill>
                  <a:srgbClr val="231F20"/>
                </a:solidFill>
                <a:latin typeface="Palatino-Roman"/>
              </a:rPr>
              <a:t>3</a:t>
            </a:r>
            <a:r>
              <a:rPr lang="zh-CN" altLang="en-US" sz="2400" dirty="0">
                <a:solidFill>
                  <a:srgbClr val="231F20"/>
                </a:solidFill>
                <a:latin typeface="Palatino-Roman"/>
              </a:rPr>
              <a:t>）商品生产和社会消费</a:t>
            </a:r>
            <a:endParaRPr lang="en-US" altLang="zh-CN" sz="2400" dirty="0">
              <a:solidFill>
                <a:srgbClr val="231F20"/>
              </a:solidFill>
              <a:latin typeface="Palatino-Roman"/>
            </a:endParaRPr>
          </a:p>
          <a:p>
            <a:pPr marL="0" indent="0">
              <a:buNone/>
            </a:pPr>
            <a:endParaRPr lang="en-US" altLang="zh-CN" sz="2400" dirty="0">
              <a:solidFill>
                <a:srgbClr val="231F20"/>
              </a:solidFill>
              <a:latin typeface="Palatino-Roman"/>
            </a:endParaRPr>
          </a:p>
          <a:p>
            <a:pPr marL="0" indent="0">
              <a:buNone/>
            </a:pPr>
            <a:r>
              <a:rPr lang="zh-CN" altLang="en-US" sz="2400" dirty="0">
                <a:solidFill>
                  <a:srgbClr val="C00000"/>
                </a:solidFill>
                <a:latin typeface="Palatino-Roman"/>
              </a:rPr>
              <a:t>答案：</a:t>
            </a:r>
            <a:endParaRPr lang="en-US" altLang="zh-CN" sz="2400" dirty="0">
              <a:solidFill>
                <a:srgbClr val="C00000"/>
              </a:solidFill>
              <a:latin typeface="Palatino-Roman"/>
            </a:endParaRPr>
          </a:p>
          <a:p>
            <a:pPr marL="0" indent="0">
              <a:buNone/>
            </a:pPr>
            <a:r>
              <a:rPr lang="zh-CN" altLang="en-US" sz="2400" dirty="0">
                <a:solidFill>
                  <a:srgbClr val="C00000"/>
                </a:solidFill>
                <a:latin typeface="Palatino-Roman"/>
              </a:rPr>
              <a:t>（</a:t>
            </a:r>
            <a:r>
              <a:rPr lang="en-US" altLang="zh-CN" sz="2400" dirty="0">
                <a:solidFill>
                  <a:srgbClr val="C00000"/>
                </a:solidFill>
                <a:latin typeface="Palatino-Roman"/>
              </a:rPr>
              <a:t>1</a:t>
            </a:r>
            <a:r>
              <a:rPr lang="zh-CN" altLang="en-US" sz="2400" dirty="0">
                <a:solidFill>
                  <a:srgbClr val="C00000"/>
                </a:solidFill>
                <a:latin typeface="Palatino-Roman"/>
              </a:rPr>
              <a:t>）互斥：图书馆的书；  </a:t>
            </a:r>
            <a:endParaRPr lang="en-US" altLang="zh-CN" sz="2400" dirty="0">
              <a:solidFill>
                <a:srgbClr val="C00000"/>
              </a:solidFill>
              <a:latin typeface="Palatino-Roman"/>
            </a:endParaRPr>
          </a:p>
          <a:p>
            <a:pPr marL="0" indent="0">
              <a:buNone/>
            </a:pPr>
            <a:r>
              <a:rPr lang="zh-CN" altLang="en-US" sz="2400" dirty="0">
                <a:solidFill>
                  <a:srgbClr val="C00000"/>
                </a:solidFill>
                <a:latin typeface="Palatino-Roman"/>
              </a:rPr>
              <a:t>（</a:t>
            </a:r>
            <a:r>
              <a:rPr lang="en-US" altLang="zh-CN" sz="2400" dirty="0">
                <a:solidFill>
                  <a:srgbClr val="C00000"/>
                </a:solidFill>
                <a:latin typeface="Palatino-Roman"/>
              </a:rPr>
              <a:t>2</a:t>
            </a:r>
            <a:r>
              <a:rPr lang="zh-CN" altLang="en-US" sz="2400" dirty="0">
                <a:solidFill>
                  <a:srgbClr val="C00000"/>
                </a:solidFill>
                <a:latin typeface="Palatino-Roman"/>
              </a:rPr>
              <a:t>）同步：各道工序间同步</a:t>
            </a:r>
            <a:endParaRPr lang="en-US" altLang="zh-CN" sz="2400" dirty="0">
              <a:solidFill>
                <a:srgbClr val="C00000"/>
              </a:solidFill>
              <a:latin typeface="Palatino-Roman"/>
            </a:endParaRPr>
          </a:p>
          <a:p>
            <a:pPr marL="0" indent="0">
              <a:buNone/>
            </a:pPr>
            <a:r>
              <a:rPr lang="zh-CN" altLang="en-US" sz="2400" dirty="0">
                <a:solidFill>
                  <a:srgbClr val="C00000"/>
                </a:solidFill>
                <a:latin typeface="Palatino-Roman"/>
              </a:rPr>
              <a:t>（</a:t>
            </a:r>
            <a:r>
              <a:rPr lang="en-US" altLang="zh-CN" sz="2400" dirty="0">
                <a:solidFill>
                  <a:srgbClr val="C00000"/>
                </a:solidFill>
                <a:latin typeface="Palatino-Roman"/>
              </a:rPr>
              <a:t>3</a:t>
            </a:r>
            <a:r>
              <a:rPr lang="zh-CN" altLang="en-US" sz="2400" dirty="0">
                <a:solidFill>
                  <a:srgbClr val="C00000"/>
                </a:solidFill>
                <a:latin typeface="Palatino-Roman"/>
              </a:rPr>
              <a:t>）同步：先生产，再消费；</a:t>
            </a:r>
            <a:endParaRPr lang="en-US" altLang="zh-CN" sz="2400" dirty="0">
              <a:solidFill>
                <a:srgbClr val="C00000"/>
              </a:solidFill>
              <a:latin typeface="Palatino-Roman"/>
            </a:endParaRPr>
          </a:p>
        </p:txBody>
      </p:sp>
    </p:spTree>
    <p:extLst>
      <p:ext uri="{BB962C8B-B14F-4D97-AF65-F5344CB8AC3E}">
        <p14:creationId xmlns:p14="http://schemas.microsoft.com/office/powerpoint/2010/main" val="1619893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p:cNvSpPr>
            <a:spLocks noGrp="1"/>
          </p:cNvSpPr>
          <p:nvPr>
            <p:ph type="body" idx="4294967295"/>
          </p:nvPr>
        </p:nvSpPr>
        <p:spPr>
          <a:xfrm>
            <a:off x="566738" y="2089150"/>
            <a:ext cx="7766050" cy="3575050"/>
          </a:xfrm>
          <a:ln/>
        </p:spPr>
        <p:txBody>
          <a:bodyPr vert="horz" wrap="square" lIns="91440" tIns="45720" rIns="91440" bIns="45720" anchor="t" anchorCtr="0"/>
          <a:lstStyle/>
          <a:p>
            <a:pPr eaLnBrk="1" hangingPunct="1">
              <a:lnSpc>
                <a:spcPct val="150000"/>
              </a:lnSpc>
            </a:pPr>
            <a:r>
              <a:rPr lang="zh-CN" altLang="en-US" sz="2000" dirty="0">
                <a:latin typeface="宋体" panose="02010600030101010101" pitchFamily="2" charset="-122"/>
                <a:ea typeface="宋体" panose="02010600030101010101" pitchFamily="2" charset="-122"/>
              </a:rPr>
              <a:t>某工厂有两个生产车间和一个装配车间，两个生产车间分别生产</a:t>
            </a:r>
            <a:r>
              <a:rPr lang="en-US" altLang="zh-CN" sz="2000" dirty="0">
                <a:latin typeface="宋体" panose="02010600030101010101" pitchFamily="2" charset="-122"/>
                <a:ea typeface="宋体" panose="02010600030101010101" pitchFamily="2" charset="-122"/>
              </a:rPr>
              <a:t>A</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B</a:t>
            </a:r>
            <a:r>
              <a:rPr lang="zh-CN" altLang="en-US" sz="2000" dirty="0">
                <a:latin typeface="宋体" panose="02010600030101010101" pitchFamily="2" charset="-122"/>
                <a:ea typeface="宋体" panose="02010600030101010101" pitchFamily="2" charset="-122"/>
              </a:rPr>
              <a:t>两种零件，装配车间的任务是把</a:t>
            </a:r>
            <a:r>
              <a:rPr lang="en-US" altLang="zh-CN" sz="2000" dirty="0">
                <a:latin typeface="宋体" panose="02010600030101010101" pitchFamily="2" charset="-122"/>
                <a:ea typeface="宋体" panose="02010600030101010101" pitchFamily="2" charset="-122"/>
              </a:rPr>
              <a:t>A,B</a:t>
            </a:r>
            <a:r>
              <a:rPr lang="zh-CN" altLang="en-US" sz="2000" dirty="0">
                <a:latin typeface="宋体" panose="02010600030101010101" pitchFamily="2" charset="-122"/>
                <a:ea typeface="宋体" panose="02010600030101010101" pitchFamily="2" charset="-122"/>
              </a:rPr>
              <a:t>两种零件组装成产品。两个生产车间每生产一个零件后，都要分别把它们送到专配车间的货架</a:t>
            </a:r>
            <a:r>
              <a:rPr lang="en-US" altLang="zh-CN" sz="2000" dirty="0">
                <a:latin typeface="宋体" panose="02010600030101010101" pitchFamily="2" charset="-122"/>
                <a:ea typeface="宋体" panose="02010600030101010101" pitchFamily="2" charset="-122"/>
              </a:rPr>
              <a:t>F, F2</a:t>
            </a:r>
            <a:r>
              <a:rPr lang="zh-CN" altLang="en-US" sz="2000" dirty="0">
                <a:latin typeface="宋体" panose="02010600030101010101" pitchFamily="2" charset="-122"/>
                <a:ea typeface="宋体" panose="02010600030101010101" pitchFamily="2" charset="-122"/>
              </a:rPr>
              <a:t>上。</a:t>
            </a:r>
            <a:r>
              <a:rPr lang="en-US" altLang="zh-CN" sz="2000" dirty="0">
                <a:latin typeface="宋体" panose="02010600030101010101" pitchFamily="2" charset="-122"/>
                <a:ea typeface="宋体" panose="02010600030101010101" pitchFamily="2" charset="-122"/>
              </a:rPr>
              <a:t>F1</a:t>
            </a:r>
            <a:r>
              <a:rPr lang="zh-CN" altLang="en-US" sz="2000" dirty="0">
                <a:latin typeface="宋体" panose="02010600030101010101" pitchFamily="2" charset="-122"/>
                <a:ea typeface="宋体" panose="02010600030101010101" pitchFamily="2" charset="-122"/>
              </a:rPr>
              <a:t>存放零件</a:t>
            </a:r>
            <a:r>
              <a:rPr lang="en-US" altLang="zh-CN" sz="2000" dirty="0">
                <a:latin typeface="宋体" panose="02010600030101010101" pitchFamily="2" charset="-122"/>
                <a:ea typeface="宋体" panose="02010600030101010101" pitchFamily="2" charset="-122"/>
              </a:rPr>
              <a:t>A</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F2</a:t>
            </a:r>
            <a:r>
              <a:rPr lang="zh-CN" altLang="en-US" sz="2000" dirty="0">
                <a:latin typeface="宋体" panose="02010600030101010101" pitchFamily="2" charset="-122"/>
                <a:ea typeface="宋体" panose="02010600030101010101" pitchFamily="2" charset="-122"/>
              </a:rPr>
              <a:t>存放零件</a:t>
            </a:r>
            <a:r>
              <a:rPr lang="en-US" altLang="zh-CN" sz="2000" dirty="0">
                <a:latin typeface="宋体" panose="02010600030101010101" pitchFamily="2" charset="-122"/>
                <a:ea typeface="宋体" panose="02010600030101010101" pitchFamily="2" charset="-122"/>
              </a:rPr>
              <a:t>B</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F1</a:t>
            </a:r>
            <a:r>
              <a:rPr lang="zh-CN" altLang="en-US" sz="2000" dirty="0">
                <a:latin typeface="宋体" panose="02010600030101010101" pitchFamily="2" charset="-122"/>
                <a:ea typeface="宋体" panose="02010600030101010101" pitchFamily="2" charset="-122"/>
              </a:rPr>
              <a:t>和 </a:t>
            </a:r>
            <a:r>
              <a:rPr lang="en-US" altLang="zh-CN" sz="2000" dirty="0">
                <a:latin typeface="宋体" panose="02010600030101010101" pitchFamily="2" charset="-122"/>
                <a:ea typeface="宋体" panose="02010600030101010101" pitchFamily="2" charset="-122"/>
              </a:rPr>
              <a:t>F2</a:t>
            </a:r>
            <a:r>
              <a:rPr lang="zh-CN" altLang="en-US" sz="2000" dirty="0">
                <a:latin typeface="宋体" panose="02010600030101010101" pitchFamily="2" charset="-122"/>
                <a:ea typeface="宋体" panose="02010600030101010101" pitchFamily="2" charset="-122"/>
              </a:rPr>
              <a:t>的容量均可存放</a:t>
            </a:r>
            <a:r>
              <a:rPr lang="en-US" altLang="zh-CN" sz="2000" dirty="0">
                <a:latin typeface="宋体" panose="02010600030101010101" pitchFamily="2" charset="-122"/>
                <a:ea typeface="宋体" panose="02010600030101010101" pitchFamily="2" charset="-122"/>
              </a:rPr>
              <a:t>10</a:t>
            </a:r>
            <a:r>
              <a:rPr lang="zh-CN" altLang="en-US" sz="2000" dirty="0">
                <a:latin typeface="宋体" panose="02010600030101010101" pitchFamily="2" charset="-122"/>
                <a:ea typeface="宋体" panose="02010600030101010101" pitchFamily="2" charset="-122"/>
              </a:rPr>
              <a:t>个零件。装配工人每次从货架上取一个零件</a:t>
            </a:r>
            <a:r>
              <a:rPr lang="en-US" altLang="zh-CN" sz="2000" dirty="0">
                <a:latin typeface="宋体" panose="02010600030101010101" pitchFamily="2" charset="-122"/>
                <a:ea typeface="宋体" panose="02010600030101010101" pitchFamily="2" charset="-122"/>
              </a:rPr>
              <a:t>A</a:t>
            </a:r>
            <a:r>
              <a:rPr lang="zh-CN" altLang="en-US" sz="2000" dirty="0">
                <a:latin typeface="宋体" panose="02010600030101010101" pitchFamily="2" charset="-122"/>
                <a:ea typeface="宋体" panose="02010600030101010101" pitchFamily="2" charset="-122"/>
              </a:rPr>
              <a:t>和一个零件</a:t>
            </a:r>
            <a:r>
              <a:rPr lang="en-US" altLang="zh-CN" sz="2000" dirty="0">
                <a:latin typeface="宋体" panose="02010600030101010101" pitchFamily="2" charset="-122"/>
                <a:ea typeface="宋体" panose="02010600030101010101" pitchFamily="2" charset="-122"/>
              </a:rPr>
              <a:t>B</a:t>
            </a:r>
            <a:r>
              <a:rPr lang="zh-CN" altLang="en-US" sz="2000" dirty="0">
                <a:latin typeface="宋体" panose="02010600030101010101" pitchFamily="2" charset="-122"/>
                <a:ea typeface="宋体" panose="02010600030101010101" pitchFamily="2" charset="-122"/>
              </a:rPr>
              <a:t>后组装成产品。请用 </a:t>
            </a:r>
            <a:r>
              <a:rPr lang="en-US" altLang="zh-CN" sz="2000" dirty="0">
                <a:latin typeface="宋体" panose="02010600030101010101" pitchFamily="2" charset="-122"/>
                <a:ea typeface="宋体" panose="02010600030101010101" pitchFamily="2" charset="-122"/>
              </a:rPr>
              <a:t>P,V</a:t>
            </a:r>
            <a:r>
              <a:rPr lang="zh-CN" altLang="en-US" sz="2000" dirty="0">
                <a:latin typeface="宋体" panose="02010600030101010101" pitchFamily="2" charset="-122"/>
                <a:ea typeface="宋体" panose="02010600030101010101" pitchFamily="2" charset="-122"/>
              </a:rPr>
              <a:t>操作进行正确管理。</a:t>
            </a:r>
          </a:p>
        </p:txBody>
      </p:sp>
      <p:sp>
        <p:nvSpPr>
          <p:cNvPr id="142338" name="Rectangle 3"/>
          <p:cNvSpPr/>
          <p:nvPr/>
        </p:nvSpPr>
        <p:spPr>
          <a:xfrm>
            <a:off x="693738" y="1190625"/>
            <a:ext cx="4405312" cy="457200"/>
          </a:xfrm>
          <a:prstGeom prst="rect">
            <a:avLst/>
          </a:prstGeom>
          <a:noFill/>
          <a:ln w="9525">
            <a:noFill/>
          </a:ln>
        </p:spPr>
        <p:txBody>
          <a:bodyPr anchor="t" anchorCtr="0">
            <a:spAutoFit/>
          </a:bodyPr>
          <a:lstStyle/>
          <a:p>
            <a:pPr eaLnBrk="0" hangingPunct="0">
              <a:spcBef>
                <a:spcPct val="50000"/>
              </a:spcBef>
              <a:buSzPct val="140000"/>
            </a:pPr>
            <a:r>
              <a:rPr lang="zh-CN" altLang="en-US" sz="2400" b="1" dirty="0"/>
              <a:t>工厂装配</a:t>
            </a:r>
            <a:r>
              <a:rPr lang="zh-CN" altLang="zh-CN" sz="2400" dirty="0">
                <a:latin typeface="Verdana" panose="020B0604030504040204" pitchFamily="34" charset="0"/>
              </a:rPr>
              <a:t>问题</a:t>
            </a:r>
            <a:endParaRPr lang="zh-CN" altLang="en-US" sz="2400" dirty="0">
              <a:latin typeface="Verdana" panose="020B0604030504040204" pitchFamily="34" charset="0"/>
            </a:endParaRPr>
          </a:p>
        </p:txBody>
      </p:sp>
      <p:sp>
        <p:nvSpPr>
          <p:cNvPr id="142339" name="矩形 3"/>
          <p:cNvSpPr/>
          <p:nvPr/>
        </p:nvSpPr>
        <p:spPr>
          <a:xfrm>
            <a:off x="2670415" y="239491"/>
            <a:ext cx="3803170" cy="584775"/>
          </a:xfrm>
          <a:prstGeom prst="rect">
            <a:avLst/>
          </a:prstGeom>
          <a:noFill/>
          <a:ln w="9525">
            <a:noFill/>
          </a:ln>
        </p:spPr>
        <p:txBody>
          <a:bodyPr wrap="square" anchor="t" anchorCtr="0">
            <a:spAutoFit/>
          </a:bodyPr>
          <a:lstStyle/>
          <a:p>
            <a:pPr eaLnBrk="0" hangingPunct="0"/>
            <a:r>
              <a:rPr lang="zh-CN" altLang="en-US" sz="3200" b="1" dirty="0">
                <a:solidFill>
                  <a:srgbClr val="006699"/>
                </a:solidFill>
                <a:latin typeface="Helvetica" pitchFamily="34" charset="0"/>
              </a:rPr>
              <a:t>例题：工厂分配问题</a:t>
            </a:r>
            <a:endParaRPr lang="zh-CN" altLang="en-US" sz="3200" dirty="0">
              <a:solidFill>
                <a:srgbClr val="006699"/>
              </a:solidFill>
              <a:latin typeface="Verdana" panose="020B0604030504040204" pitchFamily="34" charset="0"/>
            </a:endParaRPr>
          </a:p>
        </p:txBody>
      </p:sp>
    </p:spTree>
    <p:extLst>
      <p:ext uri="{BB962C8B-B14F-4D97-AF65-F5344CB8AC3E}">
        <p14:creationId xmlns:p14="http://schemas.microsoft.com/office/powerpoint/2010/main" val="2318056482"/>
      </p:ext>
    </p:extLst>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1" name="Rectangle 3"/>
          <p:cNvSpPr>
            <a:spLocks noGrp="1"/>
          </p:cNvSpPr>
          <p:nvPr>
            <p:ph type="body" idx="4294967295"/>
          </p:nvPr>
        </p:nvSpPr>
        <p:spPr>
          <a:xfrm>
            <a:off x="457200" y="911998"/>
            <a:ext cx="7664450" cy="4860925"/>
          </a:xfrm>
          <a:ln/>
        </p:spPr>
        <p:txBody>
          <a:bodyPr vert="horz" wrap="square" lIns="91440" tIns="45720" rIns="91440" bIns="45720" anchor="t" anchorCtr="0"/>
          <a:lstStyle/>
          <a:p>
            <a:pPr marL="0" indent="0">
              <a:lnSpc>
                <a:spcPct val="90000"/>
              </a:lnSpc>
              <a:buNone/>
            </a:pPr>
            <a:r>
              <a:rPr lang="zh-CN" altLang="en-US" sz="2400" dirty="0">
                <a:ea typeface="宋体" panose="02010600030101010101" pitchFamily="2" charset="-122"/>
              </a:rPr>
              <a:t>分析：哲学家问题</a:t>
            </a:r>
            <a:r>
              <a:rPr lang="en-US" altLang="zh-CN" sz="2400" dirty="0">
                <a:ea typeface="宋体" panose="02010600030101010101" pitchFamily="2" charset="-122"/>
              </a:rPr>
              <a:t>+</a:t>
            </a:r>
            <a:r>
              <a:rPr lang="zh-CN" altLang="en-US" sz="2400" dirty="0">
                <a:ea typeface="宋体" panose="02010600030101010101" pitchFamily="2" charset="-122"/>
              </a:rPr>
              <a:t>生产者消费者问题的变种</a:t>
            </a:r>
            <a:endParaRPr lang="en-US" altLang="zh-CN" sz="2400" dirty="0">
              <a:ea typeface="宋体" panose="02010600030101010101" pitchFamily="2" charset="-122"/>
            </a:endParaRPr>
          </a:p>
          <a:p>
            <a:pPr>
              <a:lnSpc>
                <a:spcPct val="90000"/>
              </a:lnSpc>
            </a:pPr>
            <a:r>
              <a:rPr lang="zh-CN" altLang="en-US" sz="2400" dirty="0">
                <a:ea typeface="宋体" panose="02010600030101010101" pitchFamily="2" charset="-122"/>
              </a:rPr>
              <a:t>互斥</a:t>
            </a:r>
            <a:r>
              <a:rPr lang="en-US" altLang="zh-CN" sz="2400" dirty="0">
                <a:ea typeface="宋体" panose="02010600030101010101" pitchFamily="2" charset="-122"/>
              </a:rPr>
              <a:t>/</a:t>
            </a:r>
            <a:r>
              <a:rPr lang="zh-CN" altLang="en-US" sz="2400" dirty="0">
                <a:ea typeface="宋体" panose="02010600030101010101" pitchFamily="2" charset="-122"/>
              </a:rPr>
              <a:t>同步的对象是谁？</a:t>
            </a:r>
            <a:endParaRPr lang="en-US" altLang="zh-CN" sz="2400" dirty="0">
              <a:ea typeface="宋体" panose="02010600030101010101" pitchFamily="2" charset="-122"/>
            </a:endParaRPr>
          </a:p>
          <a:p>
            <a:pPr lvl="1">
              <a:lnSpc>
                <a:spcPct val="90000"/>
              </a:lnSpc>
            </a:pPr>
            <a:r>
              <a:rPr lang="zh-CN" altLang="en-US" sz="2000" dirty="0">
                <a:ea typeface="宋体" panose="02010600030101010101" pitchFamily="2" charset="-122"/>
              </a:rPr>
              <a:t>生产者：生产车间</a:t>
            </a:r>
            <a:r>
              <a:rPr lang="en-US" altLang="zh-CN" sz="2000" dirty="0">
                <a:ea typeface="宋体" panose="02010600030101010101" pitchFamily="2" charset="-122"/>
              </a:rPr>
              <a:t>A</a:t>
            </a:r>
            <a:r>
              <a:rPr lang="zh-CN" altLang="en-US" sz="2000" dirty="0">
                <a:ea typeface="宋体" panose="02010600030101010101" pitchFamily="2" charset="-122"/>
              </a:rPr>
              <a:t>、生产车间</a:t>
            </a:r>
            <a:r>
              <a:rPr lang="en-US" altLang="zh-CN" sz="2000" dirty="0">
                <a:ea typeface="宋体" panose="02010600030101010101" pitchFamily="2" charset="-122"/>
              </a:rPr>
              <a:t>B</a:t>
            </a:r>
          </a:p>
          <a:p>
            <a:pPr lvl="1">
              <a:lnSpc>
                <a:spcPct val="90000"/>
              </a:lnSpc>
            </a:pPr>
            <a:r>
              <a:rPr lang="zh-CN" altLang="en-US" sz="2000" dirty="0">
                <a:ea typeface="宋体" panose="02010600030101010101" pitchFamily="2" charset="-122"/>
              </a:rPr>
              <a:t>消费者：装配车间</a:t>
            </a:r>
            <a:endParaRPr lang="en-US" altLang="zh-CN" sz="2000" dirty="0">
              <a:ea typeface="宋体" panose="02010600030101010101" pitchFamily="2" charset="-122"/>
            </a:endParaRPr>
          </a:p>
          <a:p>
            <a:pPr>
              <a:lnSpc>
                <a:spcPct val="90000"/>
              </a:lnSpc>
            </a:pPr>
            <a:r>
              <a:rPr lang="zh-CN" altLang="en-US" sz="2400" dirty="0">
                <a:ea typeface="宋体" panose="02010600030101010101" pitchFamily="2" charset="-122"/>
              </a:rPr>
              <a:t>互斥访问什么？</a:t>
            </a:r>
            <a:endParaRPr lang="en-US" altLang="zh-CN" sz="2400" dirty="0">
              <a:ea typeface="宋体" panose="02010600030101010101" pitchFamily="2" charset="-122"/>
            </a:endParaRPr>
          </a:p>
          <a:p>
            <a:pPr lvl="1">
              <a:lnSpc>
                <a:spcPct val="90000"/>
              </a:lnSpc>
            </a:pPr>
            <a:r>
              <a:rPr lang="zh-CN" altLang="en-US" sz="2000" dirty="0">
                <a:ea typeface="宋体" panose="02010600030101010101" pitchFamily="2" charset="-122"/>
              </a:rPr>
              <a:t>货架</a:t>
            </a:r>
            <a:r>
              <a:rPr lang="en-US" altLang="zh-CN" sz="2000" dirty="0">
                <a:ea typeface="宋体" panose="02010600030101010101" pitchFamily="2" charset="-122"/>
              </a:rPr>
              <a:t>F1</a:t>
            </a:r>
            <a:r>
              <a:rPr lang="zh-CN" altLang="en-US" sz="2000" dirty="0">
                <a:ea typeface="宋体" panose="02010600030101010101" pitchFamily="2" charset="-122"/>
              </a:rPr>
              <a:t>、</a:t>
            </a:r>
            <a:r>
              <a:rPr lang="en-US" altLang="zh-CN" sz="2000" dirty="0">
                <a:ea typeface="宋体" panose="02010600030101010101" pitchFamily="2" charset="-122"/>
              </a:rPr>
              <a:t>F2</a:t>
            </a:r>
          </a:p>
          <a:p>
            <a:pPr>
              <a:lnSpc>
                <a:spcPct val="90000"/>
              </a:lnSpc>
            </a:pPr>
            <a:r>
              <a:rPr lang="zh-CN" altLang="en-US" sz="2400" dirty="0">
                <a:ea typeface="宋体" panose="02010600030101010101" pitchFamily="2" charset="-122"/>
              </a:rPr>
              <a:t>同步什么内容？</a:t>
            </a:r>
            <a:endParaRPr lang="en-US" altLang="zh-CN" sz="2400" dirty="0">
              <a:ea typeface="宋体" panose="02010600030101010101" pitchFamily="2" charset="-122"/>
            </a:endParaRPr>
          </a:p>
          <a:p>
            <a:pPr lvl="1">
              <a:lnSpc>
                <a:spcPct val="90000"/>
              </a:lnSpc>
            </a:pPr>
            <a:r>
              <a:rPr lang="zh-CN" altLang="en-US" sz="2000" dirty="0">
                <a:ea typeface="宋体" panose="02010600030101010101" pitchFamily="2" charset="-122"/>
              </a:rPr>
              <a:t>先生产，再装配</a:t>
            </a:r>
            <a:endParaRPr lang="en-US" altLang="zh-CN" sz="2000" dirty="0">
              <a:ea typeface="宋体" panose="02010600030101010101" pitchFamily="2" charset="-122"/>
            </a:endParaRPr>
          </a:p>
          <a:p>
            <a:pPr lvl="2">
              <a:lnSpc>
                <a:spcPct val="90000"/>
              </a:lnSpc>
            </a:pPr>
            <a:r>
              <a:rPr lang="zh-CN" altLang="en-US" sz="1600" dirty="0">
                <a:ea typeface="宋体" panose="02010600030101010101" pitchFamily="2" charset="-122"/>
              </a:rPr>
              <a:t>货架</a:t>
            </a:r>
            <a:r>
              <a:rPr lang="en-US" altLang="zh-CN" sz="1600" dirty="0">
                <a:ea typeface="宋体" panose="02010600030101010101" pitchFamily="2" charset="-122"/>
              </a:rPr>
              <a:t>F1</a:t>
            </a:r>
            <a:r>
              <a:rPr lang="zh-CN" altLang="en-US" sz="1600" dirty="0">
                <a:ea typeface="宋体" panose="02010600030101010101" pitchFamily="2" charset="-122"/>
              </a:rPr>
              <a:t>上零件</a:t>
            </a:r>
            <a:r>
              <a:rPr lang="en-US" altLang="zh-CN" sz="1600" dirty="0">
                <a:ea typeface="宋体" panose="02010600030101010101" pitchFamily="2" charset="-122"/>
              </a:rPr>
              <a:t>A</a:t>
            </a:r>
            <a:r>
              <a:rPr lang="zh-CN" altLang="en-US" sz="1600" dirty="0">
                <a:ea typeface="宋体" panose="02010600030101010101" pitchFamily="2" charset="-122"/>
              </a:rPr>
              <a:t>的数量</a:t>
            </a:r>
            <a:endParaRPr lang="en-US" altLang="zh-CN" sz="1600" dirty="0">
              <a:ea typeface="宋体" panose="02010600030101010101" pitchFamily="2" charset="-122"/>
            </a:endParaRPr>
          </a:p>
          <a:p>
            <a:pPr lvl="2">
              <a:lnSpc>
                <a:spcPct val="90000"/>
              </a:lnSpc>
            </a:pPr>
            <a:r>
              <a:rPr lang="zh-CN" altLang="en-US" sz="1600" dirty="0">
                <a:ea typeface="宋体" panose="02010600030101010101" pitchFamily="2" charset="-122"/>
              </a:rPr>
              <a:t>货架</a:t>
            </a:r>
            <a:r>
              <a:rPr lang="en-US" altLang="zh-CN" sz="1600" dirty="0">
                <a:ea typeface="宋体" panose="02010600030101010101" pitchFamily="2" charset="-122"/>
              </a:rPr>
              <a:t>F2</a:t>
            </a:r>
            <a:r>
              <a:rPr lang="zh-CN" altLang="en-US" sz="1600" dirty="0">
                <a:ea typeface="宋体" panose="02010600030101010101" pitchFamily="2" charset="-122"/>
              </a:rPr>
              <a:t>上零件</a:t>
            </a:r>
            <a:r>
              <a:rPr lang="en-US" altLang="zh-CN" sz="1600" dirty="0">
                <a:ea typeface="宋体" panose="02010600030101010101" pitchFamily="2" charset="-122"/>
              </a:rPr>
              <a:t>B</a:t>
            </a:r>
            <a:r>
              <a:rPr lang="zh-CN" altLang="en-US" sz="1600" dirty="0">
                <a:ea typeface="宋体" panose="02010600030101010101" pitchFamily="2" charset="-122"/>
              </a:rPr>
              <a:t>的数量</a:t>
            </a:r>
            <a:endParaRPr lang="en-US" altLang="zh-CN" sz="1600" dirty="0">
              <a:ea typeface="宋体" panose="02010600030101010101" pitchFamily="2" charset="-122"/>
            </a:endParaRPr>
          </a:p>
          <a:p>
            <a:pPr eaLnBrk="1" hangingPunct="1">
              <a:lnSpc>
                <a:spcPct val="140000"/>
              </a:lnSpc>
            </a:pPr>
            <a:r>
              <a:rPr lang="zh-CN" altLang="en-US" sz="2000" dirty="0">
                <a:ea typeface="宋体" panose="02010600030101010101" pitchFamily="2" charset="-122"/>
              </a:rPr>
              <a:t>解答：设置</a:t>
            </a:r>
            <a:r>
              <a:rPr lang="en-US" altLang="zh-CN" sz="2000" dirty="0">
                <a:ea typeface="宋体" panose="02010600030101010101" pitchFamily="2" charset="-122"/>
              </a:rPr>
              <a:t>6</a:t>
            </a:r>
            <a:r>
              <a:rPr lang="zh-CN" altLang="en-US" sz="2000" dirty="0">
                <a:ea typeface="宋体" panose="02010600030101010101" pitchFamily="2" charset="-122"/>
              </a:rPr>
              <a:t>个信号量：</a:t>
            </a:r>
          </a:p>
          <a:p>
            <a:pPr lvl="1" eaLnBrk="1" hangingPunct="1">
              <a:lnSpc>
                <a:spcPct val="140000"/>
              </a:lnSpc>
            </a:pPr>
            <a:r>
              <a:rPr lang="en-US" altLang="zh-CN" sz="1800" dirty="0">
                <a:latin typeface="华文宋体" panose="02010600040101010101" pitchFamily="2" charset="-122"/>
                <a:ea typeface="华文宋体" panose="02010600040101010101" pitchFamily="2" charset="-122"/>
              </a:rPr>
              <a:t>m1=1, m2=1</a:t>
            </a:r>
            <a:r>
              <a:rPr lang="zh-CN" altLang="en-US" sz="1800" dirty="0">
                <a:latin typeface="华文宋体" panose="02010600040101010101" pitchFamily="2" charset="-122"/>
                <a:ea typeface="华文宋体" panose="02010600040101010101" pitchFamily="2" charset="-122"/>
              </a:rPr>
              <a:t>实现货架</a:t>
            </a:r>
            <a:r>
              <a:rPr lang="en-US" altLang="zh-CN" sz="1800" dirty="0">
                <a:latin typeface="华文宋体" panose="02010600040101010101" pitchFamily="2" charset="-122"/>
                <a:ea typeface="华文宋体" panose="02010600040101010101" pitchFamily="2" charset="-122"/>
              </a:rPr>
              <a:t>F1</a:t>
            </a:r>
            <a:r>
              <a:rPr lang="zh-CN" altLang="en-US" sz="1800" dirty="0">
                <a:latin typeface="华文宋体" panose="02010600040101010101" pitchFamily="2" charset="-122"/>
                <a:ea typeface="华文宋体" panose="02010600040101010101" pitchFamily="2" charset="-122"/>
              </a:rPr>
              <a:t>、</a:t>
            </a:r>
            <a:r>
              <a:rPr lang="en-US" altLang="zh-CN" sz="1800" dirty="0">
                <a:latin typeface="华文宋体" panose="02010600040101010101" pitchFamily="2" charset="-122"/>
                <a:ea typeface="华文宋体" panose="02010600040101010101" pitchFamily="2" charset="-122"/>
              </a:rPr>
              <a:t>F2</a:t>
            </a:r>
            <a:r>
              <a:rPr lang="zh-CN" altLang="en-US" sz="1800" dirty="0">
                <a:latin typeface="华文宋体" panose="02010600040101010101" pitchFamily="2" charset="-122"/>
                <a:ea typeface="华文宋体" panose="02010600040101010101" pitchFamily="2" charset="-122"/>
              </a:rPr>
              <a:t>的互斥使用</a:t>
            </a:r>
          </a:p>
          <a:p>
            <a:pPr lvl="1" eaLnBrk="1" hangingPunct="1">
              <a:lnSpc>
                <a:spcPct val="140000"/>
              </a:lnSpc>
            </a:pPr>
            <a:r>
              <a:rPr lang="en-US" altLang="zh-CN" sz="1800" dirty="0">
                <a:latin typeface="华文宋体" panose="02010600040101010101" pitchFamily="2" charset="-122"/>
                <a:ea typeface="华文宋体" panose="02010600040101010101" pitchFamily="2" charset="-122"/>
              </a:rPr>
              <a:t>empty_1=10, full_1=0  </a:t>
            </a:r>
            <a:r>
              <a:rPr lang="zh-CN" altLang="en-US" sz="1800" dirty="0">
                <a:latin typeface="华文宋体" panose="02010600040101010101" pitchFamily="2" charset="-122"/>
                <a:ea typeface="华文宋体" panose="02010600040101010101" pitchFamily="2" charset="-122"/>
              </a:rPr>
              <a:t>表示</a:t>
            </a:r>
            <a:r>
              <a:rPr lang="zh-CN" altLang="en-US" sz="1800" dirty="0">
                <a:ea typeface="宋体" panose="02010600030101010101" pitchFamily="2" charset="-122"/>
              </a:rPr>
              <a:t>货架</a:t>
            </a:r>
            <a:r>
              <a:rPr lang="en-US" altLang="zh-CN" sz="1800" dirty="0">
                <a:ea typeface="宋体" panose="02010600030101010101" pitchFamily="2" charset="-122"/>
              </a:rPr>
              <a:t>F1</a:t>
            </a:r>
            <a:r>
              <a:rPr lang="zh-CN" altLang="en-US" sz="1800" dirty="0">
                <a:ea typeface="宋体" panose="02010600030101010101" pitchFamily="2" charset="-122"/>
              </a:rPr>
              <a:t>上零件</a:t>
            </a:r>
            <a:r>
              <a:rPr lang="en-US" altLang="zh-CN" sz="1800" dirty="0">
                <a:ea typeface="宋体" panose="02010600030101010101" pitchFamily="2" charset="-122"/>
              </a:rPr>
              <a:t>A</a:t>
            </a:r>
            <a:r>
              <a:rPr lang="zh-CN" altLang="en-US" sz="1800" dirty="0">
                <a:ea typeface="宋体" panose="02010600030101010101" pitchFamily="2" charset="-122"/>
              </a:rPr>
              <a:t>的数量情况</a:t>
            </a:r>
            <a:endParaRPr lang="zh-CN" altLang="en-US" sz="1800" dirty="0">
              <a:latin typeface="华文宋体" panose="02010600040101010101" pitchFamily="2" charset="-122"/>
              <a:ea typeface="华文宋体" panose="02010600040101010101" pitchFamily="2" charset="-122"/>
            </a:endParaRPr>
          </a:p>
          <a:p>
            <a:pPr lvl="1" eaLnBrk="1" hangingPunct="1">
              <a:lnSpc>
                <a:spcPct val="140000"/>
              </a:lnSpc>
            </a:pPr>
            <a:r>
              <a:rPr lang="en-US" altLang="zh-CN" sz="1800" dirty="0">
                <a:latin typeface="华文宋体" panose="02010600040101010101" pitchFamily="2" charset="-122"/>
                <a:ea typeface="华文宋体" panose="02010600040101010101" pitchFamily="2" charset="-122"/>
              </a:rPr>
              <a:t>empty_2=10, full_2=0  </a:t>
            </a:r>
            <a:r>
              <a:rPr lang="zh-CN" altLang="en-US" sz="1800" dirty="0">
                <a:latin typeface="华文宋体" panose="02010600040101010101" pitchFamily="2" charset="-122"/>
                <a:ea typeface="华文宋体" panose="02010600040101010101" pitchFamily="2" charset="-122"/>
              </a:rPr>
              <a:t>表示</a:t>
            </a:r>
            <a:r>
              <a:rPr lang="zh-CN" altLang="en-US" sz="1800" dirty="0">
                <a:ea typeface="宋体" panose="02010600030101010101" pitchFamily="2" charset="-122"/>
              </a:rPr>
              <a:t>货架</a:t>
            </a:r>
            <a:r>
              <a:rPr lang="en-US" altLang="zh-CN" sz="1800" dirty="0">
                <a:ea typeface="宋体" panose="02010600030101010101" pitchFamily="2" charset="-122"/>
              </a:rPr>
              <a:t>F2</a:t>
            </a:r>
            <a:r>
              <a:rPr lang="zh-CN" altLang="en-US" sz="1800" dirty="0">
                <a:ea typeface="宋体" panose="02010600030101010101" pitchFamily="2" charset="-122"/>
              </a:rPr>
              <a:t>上零件</a:t>
            </a:r>
            <a:r>
              <a:rPr lang="en-US" altLang="zh-CN" sz="1800" dirty="0">
                <a:ea typeface="宋体" panose="02010600030101010101" pitchFamily="2" charset="-122"/>
              </a:rPr>
              <a:t>B</a:t>
            </a:r>
            <a:r>
              <a:rPr lang="zh-CN" altLang="en-US" sz="1800" dirty="0">
                <a:ea typeface="宋体" panose="02010600030101010101" pitchFamily="2" charset="-122"/>
              </a:rPr>
              <a:t>的数量情况</a:t>
            </a:r>
            <a:endParaRPr lang="zh-CN" altLang="en-US" sz="1800" dirty="0">
              <a:latin typeface="华文宋体" panose="02010600040101010101" pitchFamily="2" charset="-122"/>
              <a:ea typeface="华文宋体" panose="02010600040101010101" pitchFamily="2" charset="-122"/>
            </a:endParaRPr>
          </a:p>
          <a:p>
            <a:pPr>
              <a:lnSpc>
                <a:spcPct val="90000"/>
              </a:lnSpc>
            </a:pPr>
            <a:endParaRPr lang="en-US" altLang="zh-CN" sz="2400" dirty="0">
              <a:ea typeface="宋体" panose="02010600030101010101" pitchFamily="2" charset="-122"/>
            </a:endParaRPr>
          </a:p>
        </p:txBody>
      </p:sp>
      <p:sp>
        <p:nvSpPr>
          <p:cNvPr id="4" name="矩形 3">
            <a:extLst>
              <a:ext uri="{FF2B5EF4-FFF2-40B4-BE49-F238E27FC236}">
                <a16:creationId xmlns:a16="http://schemas.microsoft.com/office/drawing/2014/main" id="{42DD75B8-CD34-4AAF-9EFA-E3B43ADD5623}"/>
              </a:ext>
            </a:extLst>
          </p:cNvPr>
          <p:cNvSpPr/>
          <p:nvPr/>
        </p:nvSpPr>
        <p:spPr>
          <a:xfrm>
            <a:off x="2670415" y="239491"/>
            <a:ext cx="3803170" cy="584775"/>
          </a:xfrm>
          <a:prstGeom prst="rect">
            <a:avLst/>
          </a:prstGeom>
          <a:noFill/>
          <a:ln w="9525">
            <a:noFill/>
          </a:ln>
        </p:spPr>
        <p:txBody>
          <a:bodyPr wrap="square" anchor="t" anchorCtr="0">
            <a:spAutoFit/>
          </a:bodyPr>
          <a:lstStyle/>
          <a:p>
            <a:pPr eaLnBrk="0" hangingPunct="0"/>
            <a:r>
              <a:rPr lang="zh-CN" altLang="en-US" sz="3200" b="1" dirty="0">
                <a:solidFill>
                  <a:srgbClr val="006699"/>
                </a:solidFill>
                <a:latin typeface="Helvetica" pitchFamily="34" charset="0"/>
              </a:rPr>
              <a:t>例题：工厂分配问题</a:t>
            </a:r>
            <a:endParaRPr lang="zh-CN" altLang="en-US" sz="3200" dirty="0">
              <a:solidFill>
                <a:srgbClr val="006699"/>
              </a:solidFill>
              <a:latin typeface="Verdana" panose="020B0604030504040204" pitchFamily="34" charset="0"/>
            </a:endParaRPr>
          </a:p>
        </p:txBody>
      </p:sp>
    </p:spTree>
    <p:extLst>
      <p:ext uri="{BB962C8B-B14F-4D97-AF65-F5344CB8AC3E}">
        <p14:creationId xmlns:p14="http://schemas.microsoft.com/office/powerpoint/2010/main" val="2752357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661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6611">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6611">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6611">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6611">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6611">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6611">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6611">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6611">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96611">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6611">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6611">
                                            <p:txEl>
                                              <p:pRg st="12" end="1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96611">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9" name="Rectangle 3"/>
          <p:cNvSpPr>
            <a:spLocks noGrp="1"/>
          </p:cNvSpPr>
          <p:nvPr>
            <p:ph type="body" idx="4294967295"/>
          </p:nvPr>
        </p:nvSpPr>
        <p:spPr>
          <a:xfrm>
            <a:off x="310356" y="925384"/>
            <a:ext cx="3695700" cy="3683000"/>
          </a:xfrm>
          <a:ln/>
        </p:spPr>
        <p:txBody>
          <a:bodyPr vert="horz" wrap="square" lIns="91440" tIns="45720" rIns="91440" bIns="45720" anchor="t" anchorCtr="0"/>
          <a:lstStyle/>
          <a:p>
            <a:pPr eaLnBrk="1" hangingPunct="1">
              <a:lnSpc>
                <a:spcPct val="130000"/>
              </a:lnSpc>
            </a:pPr>
            <a:r>
              <a:rPr lang="zh-CN" altLang="en-US" sz="2000" dirty="0"/>
              <a:t>生产车间</a:t>
            </a:r>
            <a:r>
              <a:rPr lang="en-US" altLang="zh-CN" sz="2000" dirty="0"/>
              <a:t>A</a:t>
            </a:r>
            <a:r>
              <a:rPr lang="zh-CN" altLang="en-US" sz="2000" dirty="0"/>
              <a:t>：</a:t>
            </a:r>
          </a:p>
          <a:p>
            <a:pPr lvl="1" eaLnBrk="1" hangingPunct="1">
              <a:lnSpc>
                <a:spcPct val="130000"/>
              </a:lnSpc>
            </a:pPr>
            <a:r>
              <a:rPr lang="en-US" altLang="zh-CN" sz="1800" b="1" dirty="0">
                <a:solidFill>
                  <a:srgbClr val="FF0000"/>
                </a:solidFill>
              </a:rPr>
              <a:t>P</a:t>
            </a:r>
            <a:r>
              <a:rPr lang="zh-CN" altLang="en-US" sz="1800" b="1" dirty="0">
                <a:solidFill>
                  <a:srgbClr val="FF0000"/>
                </a:solidFill>
              </a:rPr>
              <a:t>（</a:t>
            </a:r>
            <a:r>
              <a:rPr lang="en-US" altLang="zh-CN" sz="1800" b="1" dirty="0">
                <a:solidFill>
                  <a:srgbClr val="FF0000"/>
                </a:solidFill>
              </a:rPr>
              <a:t>empty_1</a:t>
            </a:r>
            <a:r>
              <a:rPr lang="zh-CN" altLang="en-US" sz="1800" b="1" dirty="0">
                <a:solidFill>
                  <a:srgbClr val="FF0000"/>
                </a:solidFill>
              </a:rPr>
              <a:t>）</a:t>
            </a:r>
            <a:endParaRPr lang="en-US" altLang="zh-CN" sz="1800" b="1" dirty="0">
              <a:solidFill>
                <a:srgbClr val="FF0000"/>
              </a:solidFill>
            </a:endParaRPr>
          </a:p>
          <a:p>
            <a:pPr lvl="1" eaLnBrk="1" hangingPunct="1">
              <a:lnSpc>
                <a:spcPct val="130000"/>
              </a:lnSpc>
            </a:pPr>
            <a:r>
              <a:rPr lang="en-US" altLang="zh-CN" sz="1800" b="1" dirty="0">
                <a:solidFill>
                  <a:srgbClr val="0000FF"/>
                </a:solidFill>
              </a:rPr>
              <a:t>P(m1)</a:t>
            </a:r>
          </a:p>
          <a:p>
            <a:pPr lvl="1" eaLnBrk="1" hangingPunct="1">
              <a:lnSpc>
                <a:spcPct val="130000"/>
              </a:lnSpc>
            </a:pPr>
            <a:r>
              <a:rPr lang="zh-CN" altLang="en-US" sz="1800" dirty="0"/>
              <a:t>将</a:t>
            </a:r>
            <a:r>
              <a:rPr lang="en-US" altLang="zh-CN" sz="1800" dirty="0"/>
              <a:t>A</a:t>
            </a:r>
            <a:r>
              <a:rPr lang="zh-CN" altLang="en-US" sz="1800" dirty="0"/>
              <a:t>零件放到货架</a:t>
            </a:r>
            <a:r>
              <a:rPr lang="en-US" altLang="zh-CN" sz="1800" dirty="0"/>
              <a:t>F1</a:t>
            </a:r>
            <a:r>
              <a:rPr lang="zh-CN" altLang="en-US" sz="1800" dirty="0"/>
              <a:t>上；</a:t>
            </a:r>
          </a:p>
          <a:p>
            <a:pPr lvl="1" eaLnBrk="1" hangingPunct="1">
              <a:lnSpc>
                <a:spcPct val="130000"/>
              </a:lnSpc>
            </a:pPr>
            <a:r>
              <a:rPr lang="en-US" altLang="zh-CN" sz="1800" b="1" dirty="0">
                <a:solidFill>
                  <a:srgbClr val="0000FF"/>
                </a:solidFill>
              </a:rPr>
              <a:t>V(m1)</a:t>
            </a:r>
          </a:p>
          <a:p>
            <a:pPr lvl="1" eaLnBrk="1" hangingPunct="1">
              <a:lnSpc>
                <a:spcPct val="130000"/>
              </a:lnSpc>
            </a:pPr>
            <a:r>
              <a:rPr lang="en-US" altLang="zh-CN" sz="1800" b="1" dirty="0">
                <a:solidFill>
                  <a:srgbClr val="FF0000"/>
                </a:solidFill>
              </a:rPr>
              <a:t>V(full_1)</a:t>
            </a:r>
          </a:p>
          <a:p>
            <a:pPr marL="457200" lvl="1" indent="0" eaLnBrk="1" hangingPunct="1">
              <a:lnSpc>
                <a:spcPct val="130000"/>
              </a:lnSpc>
              <a:buNone/>
            </a:pPr>
            <a:endParaRPr lang="zh-CN" altLang="en-US" sz="1800" dirty="0">
              <a:solidFill>
                <a:srgbClr val="0066FF"/>
              </a:solidFill>
            </a:endParaRPr>
          </a:p>
          <a:p>
            <a:pPr lvl="1" eaLnBrk="1" hangingPunct="1">
              <a:lnSpc>
                <a:spcPct val="130000"/>
              </a:lnSpc>
            </a:pPr>
            <a:endParaRPr lang="zh-CN" altLang="en-US" sz="1800" dirty="0">
              <a:solidFill>
                <a:schemeClr val="folHlink"/>
              </a:solidFill>
            </a:endParaRPr>
          </a:p>
        </p:txBody>
      </p:sp>
      <p:sp>
        <p:nvSpPr>
          <p:cNvPr id="8" name="Rectangle 3">
            <a:extLst>
              <a:ext uri="{FF2B5EF4-FFF2-40B4-BE49-F238E27FC236}">
                <a16:creationId xmlns:a16="http://schemas.microsoft.com/office/drawing/2014/main" id="{37BD96B6-16D4-4101-8A02-95CFB8C57BF5}"/>
              </a:ext>
            </a:extLst>
          </p:cNvPr>
          <p:cNvSpPr txBox="1">
            <a:spLocks/>
          </p:cNvSpPr>
          <p:nvPr/>
        </p:nvSpPr>
        <p:spPr>
          <a:xfrm>
            <a:off x="310356" y="3878649"/>
            <a:ext cx="3695700" cy="36830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9pPr>
          </a:lstStyle>
          <a:p>
            <a:pPr eaLnBrk="1" hangingPunct="1">
              <a:lnSpc>
                <a:spcPct val="130000"/>
              </a:lnSpc>
            </a:pPr>
            <a:r>
              <a:rPr lang="zh-CN" altLang="en-US" sz="2000" kern="0" dirty="0"/>
              <a:t>生产车间</a:t>
            </a:r>
            <a:r>
              <a:rPr lang="en-US" altLang="zh-CN" sz="2000" kern="0" dirty="0"/>
              <a:t>B</a:t>
            </a:r>
            <a:r>
              <a:rPr lang="zh-CN" altLang="en-US" sz="2000" kern="0" dirty="0"/>
              <a:t>：</a:t>
            </a:r>
          </a:p>
          <a:p>
            <a:pPr lvl="1" eaLnBrk="1" hangingPunct="1">
              <a:lnSpc>
                <a:spcPct val="130000"/>
              </a:lnSpc>
            </a:pPr>
            <a:r>
              <a:rPr lang="en-US" altLang="zh-CN" sz="1800" b="1" kern="0" dirty="0">
                <a:solidFill>
                  <a:srgbClr val="FF0000"/>
                </a:solidFill>
              </a:rPr>
              <a:t>P</a:t>
            </a:r>
            <a:r>
              <a:rPr lang="zh-CN" altLang="en-US" sz="1800" b="1" kern="0" dirty="0">
                <a:solidFill>
                  <a:srgbClr val="FF0000"/>
                </a:solidFill>
              </a:rPr>
              <a:t>（</a:t>
            </a:r>
            <a:r>
              <a:rPr lang="en-US" altLang="zh-CN" sz="1800" b="1" kern="0" dirty="0">
                <a:solidFill>
                  <a:srgbClr val="FF0000"/>
                </a:solidFill>
              </a:rPr>
              <a:t>empty_2</a:t>
            </a:r>
            <a:r>
              <a:rPr lang="zh-CN" altLang="en-US" sz="1800" b="1" kern="0" dirty="0">
                <a:solidFill>
                  <a:srgbClr val="FF0000"/>
                </a:solidFill>
              </a:rPr>
              <a:t>）</a:t>
            </a:r>
            <a:endParaRPr lang="en-US" altLang="zh-CN" sz="1800" b="1" kern="0" dirty="0">
              <a:solidFill>
                <a:srgbClr val="FF0000"/>
              </a:solidFill>
            </a:endParaRPr>
          </a:p>
          <a:p>
            <a:pPr lvl="1" eaLnBrk="1" hangingPunct="1">
              <a:lnSpc>
                <a:spcPct val="130000"/>
              </a:lnSpc>
            </a:pPr>
            <a:r>
              <a:rPr lang="en-US" altLang="zh-CN" sz="1800" b="1" kern="0" dirty="0">
                <a:solidFill>
                  <a:srgbClr val="0000FF"/>
                </a:solidFill>
              </a:rPr>
              <a:t>P(m2)</a:t>
            </a:r>
          </a:p>
          <a:p>
            <a:pPr lvl="1" eaLnBrk="1" hangingPunct="1">
              <a:lnSpc>
                <a:spcPct val="130000"/>
              </a:lnSpc>
            </a:pPr>
            <a:r>
              <a:rPr lang="zh-CN" altLang="en-US" sz="1800" kern="0" dirty="0"/>
              <a:t>将</a:t>
            </a:r>
            <a:r>
              <a:rPr lang="en-US" altLang="zh-CN" sz="1800" kern="0" dirty="0"/>
              <a:t>B</a:t>
            </a:r>
            <a:r>
              <a:rPr lang="zh-CN" altLang="en-US" sz="1800" kern="0" dirty="0"/>
              <a:t>零件放到货架</a:t>
            </a:r>
            <a:r>
              <a:rPr lang="en-US" altLang="zh-CN" sz="1800" kern="0" dirty="0"/>
              <a:t>F1</a:t>
            </a:r>
            <a:r>
              <a:rPr lang="zh-CN" altLang="en-US" sz="1800" kern="0" dirty="0"/>
              <a:t>上；</a:t>
            </a:r>
          </a:p>
          <a:p>
            <a:pPr lvl="1" eaLnBrk="1" hangingPunct="1">
              <a:lnSpc>
                <a:spcPct val="130000"/>
              </a:lnSpc>
            </a:pPr>
            <a:r>
              <a:rPr lang="en-US" altLang="zh-CN" sz="1800" b="1" kern="0" dirty="0">
                <a:solidFill>
                  <a:srgbClr val="0000FF"/>
                </a:solidFill>
              </a:rPr>
              <a:t>V(m2)</a:t>
            </a:r>
          </a:p>
          <a:p>
            <a:pPr lvl="1" eaLnBrk="1" hangingPunct="1">
              <a:lnSpc>
                <a:spcPct val="130000"/>
              </a:lnSpc>
            </a:pPr>
            <a:r>
              <a:rPr lang="en-US" altLang="zh-CN" sz="1800" b="1" kern="0" dirty="0">
                <a:solidFill>
                  <a:srgbClr val="FF0000"/>
                </a:solidFill>
              </a:rPr>
              <a:t>V(full_2)</a:t>
            </a:r>
          </a:p>
          <a:p>
            <a:pPr marL="457200" lvl="1" indent="0" eaLnBrk="1" hangingPunct="1">
              <a:lnSpc>
                <a:spcPct val="130000"/>
              </a:lnSpc>
              <a:buFont typeface="Monotype Sorts" charset="2"/>
              <a:buNone/>
            </a:pPr>
            <a:endParaRPr lang="zh-CN" altLang="en-US" sz="1800" kern="0" dirty="0">
              <a:solidFill>
                <a:srgbClr val="0066FF"/>
              </a:solidFill>
            </a:endParaRPr>
          </a:p>
          <a:p>
            <a:pPr lvl="1" eaLnBrk="1" hangingPunct="1">
              <a:lnSpc>
                <a:spcPct val="130000"/>
              </a:lnSpc>
            </a:pPr>
            <a:endParaRPr lang="zh-CN" altLang="en-US" sz="1800" kern="0" dirty="0">
              <a:solidFill>
                <a:schemeClr val="folHlink"/>
              </a:solidFill>
            </a:endParaRPr>
          </a:p>
        </p:txBody>
      </p:sp>
      <p:sp>
        <p:nvSpPr>
          <p:cNvPr id="9" name="Rectangle 3">
            <a:extLst>
              <a:ext uri="{FF2B5EF4-FFF2-40B4-BE49-F238E27FC236}">
                <a16:creationId xmlns:a16="http://schemas.microsoft.com/office/drawing/2014/main" id="{B72B79DB-26EC-4135-B3EE-075A08F997E9}"/>
              </a:ext>
            </a:extLst>
          </p:cNvPr>
          <p:cNvSpPr txBox="1">
            <a:spLocks/>
          </p:cNvSpPr>
          <p:nvPr/>
        </p:nvSpPr>
        <p:spPr>
          <a:xfrm>
            <a:off x="4572000" y="1675028"/>
            <a:ext cx="3695700" cy="36830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35000"/>
              </a:spcBef>
              <a:spcAft>
                <a:spcPct val="0"/>
              </a:spcAft>
              <a:buClr>
                <a:srgbClr val="993300"/>
              </a:buClr>
              <a:buSzPct val="90000"/>
              <a:buFont typeface="Monotype Sorts" charset="2"/>
              <a:buChar char="n"/>
              <a:defRPr kumimoji="1" sz="3200">
                <a:solidFill>
                  <a:schemeClr val="tx1"/>
                </a:solidFill>
                <a:latin typeface="+mn-lt"/>
                <a:ea typeface="MS PGothic" panose="020B0600070205080204"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sz="28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sz="2000">
                <a:solidFill>
                  <a:schemeClr val="tx1"/>
                </a:solidFill>
                <a:latin typeface="+mn-lt"/>
                <a:ea typeface="MS PGothic" panose="020B0600070205080204" pitchFamily="34" charset="-128"/>
              </a:defRPr>
            </a:lvl9pPr>
          </a:lstStyle>
          <a:p>
            <a:pPr eaLnBrk="1" hangingPunct="1">
              <a:lnSpc>
                <a:spcPct val="130000"/>
              </a:lnSpc>
            </a:pPr>
            <a:r>
              <a:rPr lang="zh-CN" altLang="en-US" sz="2000" kern="0" dirty="0"/>
              <a:t>装配车间：</a:t>
            </a:r>
          </a:p>
          <a:p>
            <a:pPr lvl="1" eaLnBrk="1" hangingPunct="1">
              <a:lnSpc>
                <a:spcPct val="130000"/>
              </a:lnSpc>
            </a:pPr>
            <a:r>
              <a:rPr lang="en-US" altLang="zh-CN" sz="1800" b="1" kern="0" dirty="0">
                <a:solidFill>
                  <a:srgbClr val="FF0000"/>
                </a:solidFill>
              </a:rPr>
              <a:t>P</a:t>
            </a:r>
            <a:r>
              <a:rPr lang="zh-CN" altLang="en-US" sz="1800" b="1" kern="0" dirty="0">
                <a:solidFill>
                  <a:srgbClr val="FF0000"/>
                </a:solidFill>
              </a:rPr>
              <a:t>（</a:t>
            </a:r>
            <a:r>
              <a:rPr lang="en-US" altLang="zh-CN" sz="1800" b="1" dirty="0">
                <a:solidFill>
                  <a:srgbClr val="FF0000"/>
                </a:solidFill>
              </a:rPr>
              <a:t> full_1 </a:t>
            </a:r>
            <a:r>
              <a:rPr lang="zh-CN" altLang="en-US" sz="1800" b="1" kern="0" dirty="0">
                <a:solidFill>
                  <a:srgbClr val="FF0000"/>
                </a:solidFill>
              </a:rPr>
              <a:t>）</a:t>
            </a:r>
            <a:endParaRPr lang="en-US" altLang="zh-CN" sz="1800" b="1" kern="0" dirty="0">
              <a:solidFill>
                <a:srgbClr val="FF0000"/>
              </a:solidFill>
            </a:endParaRPr>
          </a:p>
          <a:p>
            <a:pPr lvl="1" eaLnBrk="1" hangingPunct="1">
              <a:lnSpc>
                <a:spcPct val="130000"/>
              </a:lnSpc>
            </a:pPr>
            <a:r>
              <a:rPr lang="en-US" altLang="zh-CN" sz="1800" b="1" kern="0" dirty="0">
                <a:solidFill>
                  <a:srgbClr val="FF0000"/>
                </a:solidFill>
              </a:rPr>
              <a:t>P</a:t>
            </a:r>
            <a:r>
              <a:rPr lang="zh-CN" altLang="en-US" sz="1800" b="1" kern="0" dirty="0">
                <a:solidFill>
                  <a:srgbClr val="FF0000"/>
                </a:solidFill>
              </a:rPr>
              <a:t>（</a:t>
            </a:r>
            <a:r>
              <a:rPr lang="en-US" altLang="zh-CN" sz="1800" b="1" dirty="0">
                <a:solidFill>
                  <a:srgbClr val="FF0000"/>
                </a:solidFill>
              </a:rPr>
              <a:t> full_2</a:t>
            </a:r>
            <a:r>
              <a:rPr lang="zh-CN" altLang="en-US" sz="1800" b="1" kern="0" dirty="0">
                <a:solidFill>
                  <a:srgbClr val="FF0000"/>
                </a:solidFill>
              </a:rPr>
              <a:t>）</a:t>
            </a:r>
            <a:endParaRPr lang="en-US" altLang="zh-CN" sz="1800" b="1" kern="0" dirty="0">
              <a:solidFill>
                <a:srgbClr val="FF0000"/>
              </a:solidFill>
            </a:endParaRPr>
          </a:p>
          <a:p>
            <a:pPr lvl="1" eaLnBrk="1" hangingPunct="1">
              <a:lnSpc>
                <a:spcPct val="130000"/>
              </a:lnSpc>
            </a:pPr>
            <a:r>
              <a:rPr lang="en-US" altLang="zh-CN" sz="1800" b="1" kern="0" dirty="0">
                <a:solidFill>
                  <a:srgbClr val="0000FF"/>
                </a:solidFill>
              </a:rPr>
              <a:t>P(m1)</a:t>
            </a:r>
            <a:r>
              <a:rPr lang="en-US" altLang="zh-CN" sz="1800" b="1" dirty="0">
                <a:solidFill>
                  <a:srgbClr val="0000FF"/>
                </a:solidFill>
              </a:rPr>
              <a:t> &amp;P(m2)</a:t>
            </a:r>
            <a:endParaRPr lang="en-US" altLang="zh-CN" sz="1400" b="1" kern="0" dirty="0">
              <a:solidFill>
                <a:srgbClr val="0000FF"/>
              </a:solidFill>
            </a:endParaRPr>
          </a:p>
          <a:p>
            <a:pPr lvl="1" eaLnBrk="1" hangingPunct="1">
              <a:lnSpc>
                <a:spcPct val="130000"/>
              </a:lnSpc>
            </a:pPr>
            <a:r>
              <a:rPr lang="zh-CN" altLang="en-US" sz="1800" kern="0" dirty="0"/>
              <a:t>将</a:t>
            </a:r>
            <a:r>
              <a:rPr lang="en-US" altLang="zh-CN" sz="1800" kern="0" dirty="0"/>
              <a:t>A</a:t>
            </a:r>
            <a:r>
              <a:rPr lang="zh-CN" altLang="en-US" sz="1800" kern="0" dirty="0"/>
              <a:t>、</a:t>
            </a:r>
            <a:r>
              <a:rPr lang="en-US" altLang="zh-CN" sz="1800" kern="0" dirty="0"/>
              <a:t>B</a:t>
            </a:r>
            <a:r>
              <a:rPr lang="zh-CN" altLang="en-US" sz="1800" kern="0" dirty="0"/>
              <a:t>零件组装起来；</a:t>
            </a:r>
          </a:p>
          <a:p>
            <a:pPr lvl="1" eaLnBrk="1" hangingPunct="1">
              <a:lnSpc>
                <a:spcPct val="130000"/>
              </a:lnSpc>
            </a:pPr>
            <a:r>
              <a:rPr lang="en-US" altLang="zh-CN" sz="1800" b="1" kern="0" dirty="0">
                <a:solidFill>
                  <a:srgbClr val="0000FF"/>
                </a:solidFill>
              </a:rPr>
              <a:t>V(m1)</a:t>
            </a:r>
            <a:r>
              <a:rPr lang="en-US" altLang="zh-CN" sz="1800" b="1" dirty="0">
                <a:solidFill>
                  <a:srgbClr val="0000FF"/>
                </a:solidFill>
              </a:rPr>
              <a:t> </a:t>
            </a:r>
          </a:p>
          <a:p>
            <a:pPr lvl="1" eaLnBrk="1" hangingPunct="1">
              <a:lnSpc>
                <a:spcPct val="130000"/>
              </a:lnSpc>
            </a:pPr>
            <a:r>
              <a:rPr lang="en-US" altLang="zh-CN" sz="1800" b="1" dirty="0">
                <a:solidFill>
                  <a:srgbClr val="0000FF"/>
                </a:solidFill>
              </a:rPr>
              <a:t>V(m2)</a:t>
            </a:r>
            <a:endParaRPr lang="en-US" altLang="zh-CN" sz="1400" b="1" kern="0" dirty="0">
              <a:solidFill>
                <a:srgbClr val="0000FF"/>
              </a:solidFill>
            </a:endParaRPr>
          </a:p>
          <a:p>
            <a:pPr lvl="1" eaLnBrk="1" hangingPunct="1">
              <a:lnSpc>
                <a:spcPct val="130000"/>
              </a:lnSpc>
            </a:pPr>
            <a:r>
              <a:rPr lang="en-US" altLang="zh-CN" sz="1800" b="1" kern="0" dirty="0">
                <a:solidFill>
                  <a:srgbClr val="FF0000"/>
                </a:solidFill>
              </a:rPr>
              <a:t>V(full_2)</a:t>
            </a:r>
          </a:p>
          <a:p>
            <a:pPr lvl="1" eaLnBrk="1" hangingPunct="1">
              <a:lnSpc>
                <a:spcPct val="130000"/>
              </a:lnSpc>
            </a:pPr>
            <a:r>
              <a:rPr lang="en-US" altLang="zh-CN" sz="1800" b="1" kern="0" dirty="0">
                <a:solidFill>
                  <a:srgbClr val="FF0000"/>
                </a:solidFill>
              </a:rPr>
              <a:t>V(full_1)</a:t>
            </a:r>
          </a:p>
          <a:p>
            <a:pPr lvl="1" eaLnBrk="1" hangingPunct="1">
              <a:lnSpc>
                <a:spcPct val="130000"/>
              </a:lnSpc>
            </a:pPr>
            <a:endParaRPr lang="en-US" altLang="zh-CN" sz="1800" b="1" kern="0" dirty="0">
              <a:solidFill>
                <a:srgbClr val="FF0000"/>
              </a:solidFill>
            </a:endParaRPr>
          </a:p>
          <a:p>
            <a:pPr marL="457200" lvl="1" indent="0" eaLnBrk="1" hangingPunct="1">
              <a:lnSpc>
                <a:spcPct val="130000"/>
              </a:lnSpc>
              <a:buFont typeface="Monotype Sorts" charset="2"/>
              <a:buNone/>
            </a:pPr>
            <a:endParaRPr lang="zh-CN" altLang="en-US" sz="1800" kern="0" dirty="0">
              <a:solidFill>
                <a:srgbClr val="0066FF"/>
              </a:solidFill>
            </a:endParaRPr>
          </a:p>
          <a:p>
            <a:pPr lvl="1" eaLnBrk="1" hangingPunct="1">
              <a:lnSpc>
                <a:spcPct val="130000"/>
              </a:lnSpc>
            </a:pPr>
            <a:endParaRPr lang="zh-CN" altLang="en-US" sz="1800" kern="0" dirty="0">
              <a:solidFill>
                <a:schemeClr val="folHlink"/>
              </a:solidFill>
            </a:endParaRPr>
          </a:p>
        </p:txBody>
      </p:sp>
      <p:sp>
        <p:nvSpPr>
          <p:cNvPr id="6" name="矩形 3">
            <a:extLst>
              <a:ext uri="{FF2B5EF4-FFF2-40B4-BE49-F238E27FC236}">
                <a16:creationId xmlns:a16="http://schemas.microsoft.com/office/drawing/2014/main" id="{7F1830A4-8941-44F2-B339-7FD4C2EB8133}"/>
              </a:ext>
            </a:extLst>
          </p:cNvPr>
          <p:cNvSpPr/>
          <p:nvPr/>
        </p:nvSpPr>
        <p:spPr>
          <a:xfrm>
            <a:off x="2670415" y="239491"/>
            <a:ext cx="3803170" cy="584775"/>
          </a:xfrm>
          <a:prstGeom prst="rect">
            <a:avLst/>
          </a:prstGeom>
          <a:noFill/>
          <a:ln w="9525">
            <a:noFill/>
          </a:ln>
        </p:spPr>
        <p:txBody>
          <a:bodyPr wrap="square" anchor="t" anchorCtr="0">
            <a:spAutoFit/>
          </a:bodyPr>
          <a:lstStyle/>
          <a:p>
            <a:pPr eaLnBrk="0" hangingPunct="0"/>
            <a:r>
              <a:rPr lang="zh-CN" altLang="en-US" sz="3200" b="1" dirty="0">
                <a:solidFill>
                  <a:srgbClr val="006699"/>
                </a:solidFill>
                <a:latin typeface="Helvetica" pitchFamily="34" charset="0"/>
              </a:rPr>
              <a:t>例题：工厂分配问题</a:t>
            </a:r>
            <a:endParaRPr lang="zh-CN" altLang="en-US" sz="3200" dirty="0">
              <a:solidFill>
                <a:srgbClr val="006699"/>
              </a:solidFill>
              <a:latin typeface="Verdana" panose="020B0604030504040204" pitchFamily="34" charset="0"/>
            </a:endParaRPr>
          </a:p>
        </p:txBody>
      </p:sp>
    </p:spTree>
    <p:extLst>
      <p:ext uri="{BB962C8B-B14F-4D97-AF65-F5344CB8AC3E}">
        <p14:creationId xmlns:p14="http://schemas.microsoft.com/office/powerpoint/2010/main" val="8272513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p:cNvSpPr>
            <a:spLocks noGrp="1"/>
          </p:cNvSpPr>
          <p:nvPr>
            <p:ph type="body" idx="4294967295"/>
          </p:nvPr>
        </p:nvSpPr>
        <p:spPr>
          <a:xfrm>
            <a:off x="566738" y="2089150"/>
            <a:ext cx="7766050" cy="3575050"/>
          </a:xfrm>
          <a:ln/>
        </p:spPr>
        <p:txBody>
          <a:bodyPr vert="horz" wrap="square" lIns="91440" tIns="45720" rIns="91440" bIns="45720" anchor="t" anchorCtr="0"/>
          <a:lstStyle/>
          <a:p>
            <a:pPr eaLnBrk="1" hangingPunct="1">
              <a:lnSpc>
                <a:spcPct val="150000"/>
              </a:lnSpc>
            </a:pPr>
            <a:r>
              <a:rPr lang="zh-CN" altLang="en-US" sz="2000" dirty="0">
                <a:latin typeface="宋体" panose="02010600030101010101" pitchFamily="2" charset="-122"/>
                <a:ea typeface="宋体" panose="02010600030101010101" pitchFamily="2" charset="-122"/>
              </a:rPr>
              <a:t>桌上有一只盘子，每次只能放一个水果，爸爸向盘中放苹果或桔子，儿子专等吃盘里的桔子，女儿专等吃盘里的苹果。只要盘子空，则爸爸可向盘中放水果，仅当盘中有自己需要的水果时，儿子或女儿可从中取出</a:t>
            </a:r>
            <a:r>
              <a:rPr lang="en-US" altLang="zh-CN" sz="2000" dirty="0">
                <a:latin typeface="宋体" panose="02010600030101010101" pitchFamily="2" charset="-122"/>
                <a:ea typeface="宋体" panose="02010600030101010101" pitchFamily="2" charset="-122"/>
              </a:rPr>
              <a:t>.</a:t>
            </a:r>
          </a:p>
          <a:p>
            <a:pPr eaLnBrk="1" hangingPunct="1">
              <a:lnSpc>
                <a:spcPct val="150000"/>
              </a:lnSpc>
            </a:pPr>
            <a:r>
              <a:rPr lang="zh-CN" altLang="en-US" sz="2000" dirty="0">
                <a:latin typeface="宋体" panose="02010600030101010101" pitchFamily="2" charset="-122"/>
                <a:ea typeface="宋体" panose="02010600030101010101" pitchFamily="2" charset="-122"/>
              </a:rPr>
              <a:t>请给出三人之间的同步关系，并用</a:t>
            </a:r>
            <a:r>
              <a:rPr lang="en-US" altLang="zh-CN" sz="2000" dirty="0">
                <a:latin typeface="宋体" panose="02010600030101010101" pitchFamily="2" charset="-122"/>
                <a:ea typeface="宋体" panose="02010600030101010101" pitchFamily="2" charset="-122"/>
              </a:rPr>
              <a:t>P、V</a:t>
            </a:r>
            <a:r>
              <a:rPr lang="zh-CN" altLang="en-US" sz="2000" dirty="0">
                <a:latin typeface="宋体" panose="02010600030101010101" pitchFamily="2" charset="-122"/>
                <a:ea typeface="宋体" panose="02010600030101010101" pitchFamily="2" charset="-122"/>
              </a:rPr>
              <a:t>操作实现三人正确活动的程序。  </a:t>
            </a:r>
          </a:p>
        </p:txBody>
      </p:sp>
      <p:sp>
        <p:nvSpPr>
          <p:cNvPr id="142338" name="Rectangle 3"/>
          <p:cNvSpPr/>
          <p:nvPr/>
        </p:nvSpPr>
        <p:spPr>
          <a:xfrm>
            <a:off x="693738" y="1190625"/>
            <a:ext cx="4405312" cy="457200"/>
          </a:xfrm>
          <a:prstGeom prst="rect">
            <a:avLst/>
          </a:prstGeom>
          <a:noFill/>
          <a:ln w="9525">
            <a:noFill/>
          </a:ln>
        </p:spPr>
        <p:txBody>
          <a:bodyPr anchor="t" anchorCtr="0">
            <a:spAutoFit/>
          </a:bodyPr>
          <a:lstStyle/>
          <a:p>
            <a:pPr eaLnBrk="0" hangingPunct="0">
              <a:spcBef>
                <a:spcPct val="50000"/>
              </a:spcBef>
              <a:buSzPct val="140000"/>
            </a:pPr>
            <a:r>
              <a:rPr lang="zh-CN" altLang="zh-CN" sz="2400" dirty="0">
                <a:latin typeface="Verdana" panose="020B0604030504040204" pitchFamily="34" charset="0"/>
              </a:rPr>
              <a:t>吃水果问题</a:t>
            </a:r>
            <a:endParaRPr lang="zh-CN" altLang="en-US" sz="2400" dirty="0">
              <a:latin typeface="Verdana" panose="020B0604030504040204" pitchFamily="34" charset="0"/>
            </a:endParaRPr>
          </a:p>
        </p:txBody>
      </p:sp>
      <p:sp>
        <p:nvSpPr>
          <p:cNvPr id="5" name="矩形 3">
            <a:extLst>
              <a:ext uri="{FF2B5EF4-FFF2-40B4-BE49-F238E27FC236}">
                <a16:creationId xmlns:a16="http://schemas.microsoft.com/office/drawing/2014/main" id="{73E23B34-2A90-466D-9339-F916B711609B}"/>
              </a:ext>
            </a:extLst>
          </p:cNvPr>
          <p:cNvSpPr/>
          <p:nvPr/>
        </p:nvSpPr>
        <p:spPr>
          <a:xfrm>
            <a:off x="2670415" y="239491"/>
            <a:ext cx="3803170" cy="584775"/>
          </a:xfrm>
          <a:prstGeom prst="rect">
            <a:avLst/>
          </a:prstGeom>
          <a:noFill/>
          <a:ln w="9525">
            <a:noFill/>
          </a:ln>
        </p:spPr>
        <p:txBody>
          <a:bodyPr wrap="square" anchor="t" anchorCtr="0">
            <a:spAutoFit/>
          </a:bodyPr>
          <a:lstStyle/>
          <a:p>
            <a:pPr eaLnBrk="0" hangingPunct="0"/>
            <a:r>
              <a:rPr lang="zh-CN" altLang="en-US" sz="3200" b="1" dirty="0">
                <a:solidFill>
                  <a:srgbClr val="006699"/>
                </a:solidFill>
                <a:latin typeface="Helvetica" pitchFamily="34" charset="0"/>
              </a:rPr>
              <a:t>例题：吃水果问题</a:t>
            </a:r>
            <a:endParaRPr lang="zh-CN" altLang="en-US" sz="3200" dirty="0">
              <a:solidFill>
                <a:srgbClr val="006699"/>
              </a:solidFill>
              <a:latin typeface="Verdana" panose="020B0604030504040204" pitchFamily="34" charset="0"/>
            </a:endParaRPr>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3"/>
          <p:cNvSpPr>
            <a:spLocks noGrp="1"/>
          </p:cNvSpPr>
          <p:nvPr>
            <p:ph type="body" idx="4294967295"/>
          </p:nvPr>
        </p:nvSpPr>
        <p:spPr>
          <a:xfrm>
            <a:off x="363538" y="782638"/>
            <a:ext cx="8177212" cy="5440362"/>
          </a:xfrm>
          <a:ln/>
        </p:spPr>
        <p:txBody>
          <a:bodyPr vert="horz" wrap="square" lIns="91440" tIns="45720" rIns="91440" bIns="45720" anchor="t" anchorCtr="0"/>
          <a:lstStyle/>
          <a:p>
            <a:pPr eaLnBrk="1" hangingPunct="1">
              <a:lnSpc>
                <a:spcPct val="140000"/>
              </a:lnSpc>
            </a:pPr>
            <a:r>
              <a:rPr lang="zh-CN" altLang="en-US" sz="1800" dirty="0">
                <a:latin typeface="华文宋体" panose="02010600040101010101" pitchFamily="2" charset="-122"/>
                <a:ea typeface="华文宋体" panose="02010600040101010101" pitchFamily="2" charset="-122"/>
              </a:rPr>
              <a:t>分析</a:t>
            </a:r>
            <a:r>
              <a:rPr lang="en-US" altLang="zh-CN" sz="1800" dirty="0">
                <a:latin typeface="华文宋体" panose="02010600040101010101" pitchFamily="2" charset="-122"/>
                <a:ea typeface="华文宋体" panose="02010600040101010101" pitchFamily="2" charset="-122"/>
              </a:rPr>
              <a:t>:</a:t>
            </a:r>
            <a:r>
              <a:rPr lang="zh-CN" altLang="en-US" sz="1800" dirty="0">
                <a:latin typeface="华文宋体" panose="02010600040101010101" pitchFamily="2" charset="-122"/>
                <a:ea typeface="华文宋体" panose="02010600040101010101" pitchFamily="2" charset="-122"/>
              </a:rPr>
              <a:t>此问题实际上是生产者</a:t>
            </a:r>
            <a:r>
              <a:rPr lang="en-US" altLang="zh-CN" sz="1800" dirty="0">
                <a:latin typeface="华文宋体" panose="02010600040101010101" pitchFamily="2" charset="-122"/>
                <a:ea typeface="华文宋体" panose="02010600040101010101" pitchFamily="2" charset="-122"/>
              </a:rPr>
              <a:t>-</a:t>
            </a:r>
            <a:r>
              <a:rPr lang="zh-CN" altLang="en-US" sz="1800" dirty="0">
                <a:latin typeface="华文宋体" panose="02010600040101010101" pitchFamily="2" charset="-122"/>
                <a:ea typeface="华文宋体" panose="02010600040101010101" pitchFamily="2" charset="-122"/>
              </a:rPr>
              <a:t>消费者问题的一个变形</a:t>
            </a:r>
            <a:endParaRPr lang="en-US" altLang="zh-CN" sz="1800" dirty="0">
              <a:latin typeface="华文宋体" panose="02010600040101010101" pitchFamily="2" charset="-122"/>
              <a:ea typeface="华文宋体" panose="02010600040101010101" pitchFamily="2" charset="-122"/>
            </a:endParaRPr>
          </a:p>
          <a:p>
            <a:pPr eaLnBrk="1" hangingPunct="1">
              <a:lnSpc>
                <a:spcPct val="140000"/>
              </a:lnSpc>
            </a:pPr>
            <a:r>
              <a:rPr lang="zh-CN" altLang="en-US" sz="1800" dirty="0">
                <a:ea typeface="宋体" panose="02010600030101010101" pitchFamily="2" charset="-122"/>
              </a:rPr>
              <a:t>互斥</a:t>
            </a:r>
            <a:r>
              <a:rPr lang="en-US" altLang="zh-CN" sz="1800" dirty="0">
                <a:ea typeface="宋体" panose="02010600030101010101" pitchFamily="2" charset="-122"/>
              </a:rPr>
              <a:t>/</a:t>
            </a:r>
            <a:r>
              <a:rPr lang="zh-CN" altLang="en-US" sz="1800" dirty="0">
                <a:ea typeface="宋体" panose="02010600030101010101" pitchFamily="2" charset="-122"/>
              </a:rPr>
              <a:t>同步的对象是谁？</a:t>
            </a:r>
            <a:endParaRPr lang="zh-CN" altLang="en-US" sz="1800" dirty="0">
              <a:latin typeface="华文宋体" panose="02010600040101010101" pitchFamily="2" charset="-122"/>
              <a:ea typeface="华文宋体" panose="02010600040101010101" pitchFamily="2" charset="-122"/>
            </a:endParaRPr>
          </a:p>
          <a:p>
            <a:pPr lvl="1" eaLnBrk="1" hangingPunct="1">
              <a:lnSpc>
                <a:spcPct val="140000"/>
              </a:lnSpc>
            </a:pPr>
            <a:r>
              <a:rPr lang="zh-CN" altLang="en-US" sz="1800" dirty="0">
                <a:latin typeface="华文宋体" panose="02010600040101010101" pitchFamily="2" charset="-122"/>
                <a:ea typeface="华文宋体" panose="02010600040101010101" pitchFamily="2" charset="-122"/>
              </a:rPr>
              <a:t>生产者</a:t>
            </a:r>
            <a:r>
              <a:rPr lang="en-US" altLang="zh-CN" sz="1800" dirty="0">
                <a:latin typeface="华文宋体" panose="02010600040101010101" pitchFamily="2" charset="-122"/>
                <a:ea typeface="华文宋体" panose="02010600040101010101" pitchFamily="2" charset="-122"/>
              </a:rPr>
              <a:t>:  </a:t>
            </a:r>
            <a:r>
              <a:rPr lang="zh-CN" altLang="en-US" sz="1800" dirty="0">
                <a:latin typeface="华文宋体" panose="02010600040101010101" pitchFamily="2" charset="-122"/>
                <a:ea typeface="华文宋体" panose="02010600040101010101" pitchFamily="2" charset="-122"/>
              </a:rPr>
              <a:t>爸爸</a:t>
            </a:r>
          </a:p>
          <a:p>
            <a:pPr lvl="1" eaLnBrk="1" hangingPunct="1">
              <a:lnSpc>
                <a:spcPct val="140000"/>
              </a:lnSpc>
            </a:pPr>
            <a:r>
              <a:rPr lang="zh-CN" altLang="en-US" sz="1800" dirty="0">
                <a:latin typeface="华文宋体" panose="02010600040101010101" pitchFamily="2" charset="-122"/>
                <a:ea typeface="华文宋体" panose="02010600040101010101" pitchFamily="2" charset="-122"/>
              </a:rPr>
              <a:t>消费者：女儿、儿子</a:t>
            </a:r>
            <a:endParaRPr lang="en-US" altLang="zh-CN" sz="1800" dirty="0">
              <a:latin typeface="华文宋体" panose="02010600040101010101" pitchFamily="2" charset="-122"/>
              <a:ea typeface="华文宋体" panose="02010600040101010101" pitchFamily="2" charset="-122"/>
            </a:endParaRPr>
          </a:p>
          <a:p>
            <a:pPr eaLnBrk="1" hangingPunct="1">
              <a:lnSpc>
                <a:spcPct val="140000"/>
              </a:lnSpc>
            </a:pPr>
            <a:r>
              <a:rPr lang="zh-CN" altLang="en-US" sz="1800" dirty="0">
                <a:latin typeface="华文宋体" panose="02010600040101010101" pitchFamily="2" charset="-122"/>
                <a:ea typeface="华文宋体" panose="02010600040101010101" pitchFamily="2" charset="-122"/>
              </a:rPr>
              <a:t>互斥访问什么？</a:t>
            </a:r>
          </a:p>
          <a:p>
            <a:pPr lvl="1" eaLnBrk="1" hangingPunct="1">
              <a:lnSpc>
                <a:spcPct val="140000"/>
              </a:lnSpc>
            </a:pPr>
            <a:r>
              <a:rPr lang="zh-CN" altLang="en-US" sz="1800" dirty="0">
                <a:latin typeface="华文宋体" panose="02010600040101010101" pitchFamily="2" charset="-122"/>
                <a:ea typeface="华文宋体" panose="02010600040101010101" pitchFamily="2" charset="-122"/>
              </a:rPr>
              <a:t>缓冲区：盘子</a:t>
            </a:r>
            <a:endParaRPr lang="en-US" altLang="zh-CN" sz="1800" dirty="0">
              <a:latin typeface="华文宋体" panose="02010600040101010101" pitchFamily="2" charset="-122"/>
              <a:ea typeface="华文宋体" panose="02010600040101010101" pitchFamily="2" charset="-122"/>
            </a:endParaRPr>
          </a:p>
          <a:p>
            <a:pPr eaLnBrk="1" hangingPunct="1">
              <a:lnSpc>
                <a:spcPct val="140000"/>
              </a:lnSpc>
            </a:pPr>
            <a:r>
              <a:rPr lang="zh-CN" altLang="en-US" sz="1800" dirty="0">
                <a:latin typeface="华文宋体" panose="02010600040101010101" pitchFamily="2" charset="-122"/>
                <a:ea typeface="华文宋体" panose="02010600040101010101" pitchFamily="2" charset="-122"/>
              </a:rPr>
              <a:t>同步什么内容？</a:t>
            </a:r>
            <a:endParaRPr lang="en-US" altLang="zh-CN" sz="1800" dirty="0">
              <a:latin typeface="华文宋体" panose="02010600040101010101" pitchFamily="2" charset="-122"/>
              <a:ea typeface="华文宋体" panose="02010600040101010101" pitchFamily="2" charset="-122"/>
            </a:endParaRPr>
          </a:p>
          <a:p>
            <a:pPr lvl="1" eaLnBrk="1" hangingPunct="1">
              <a:lnSpc>
                <a:spcPct val="140000"/>
              </a:lnSpc>
            </a:pPr>
            <a:r>
              <a:rPr lang="zh-CN" altLang="en-US" sz="1800" dirty="0">
                <a:latin typeface="华文宋体" panose="02010600040101010101" pitchFamily="2" charset="-122"/>
                <a:ea typeface="华文宋体" panose="02010600040101010101" pitchFamily="2" charset="-122"/>
              </a:rPr>
              <a:t>苹果个数、桔子个数</a:t>
            </a:r>
          </a:p>
          <a:p>
            <a:pPr eaLnBrk="1" hangingPunct="1">
              <a:lnSpc>
                <a:spcPct val="140000"/>
              </a:lnSpc>
            </a:pPr>
            <a:r>
              <a:rPr lang="zh-CN" altLang="en-US" sz="1800" dirty="0">
                <a:latin typeface="华文宋体" panose="02010600040101010101" pitchFamily="2" charset="-122"/>
                <a:ea typeface="华文宋体" panose="02010600040101010101" pitchFamily="2" charset="-122"/>
              </a:rPr>
              <a:t>解答：设置</a:t>
            </a:r>
            <a:r>
              <a:rPr lang="en-US" altLang="zh-CN" sz="1800" dirty="0">
                <a:latin typeface="华文宋体" panose="02010600040101010101" pitchFamily="2" charset="-122"/>
                <a:ea typeface="华文宋体" panose="02010600040101010101" pitchFamily="2" charset="-122"/>
              </a:rPr>
              <a:t>3</a:t>
            </a:r>
            <a:r>
              <a:rPr lang="zh-CN" altLang="en-US" sz="1800" dirty="0">
                <a:latin typeface="华文宋体" panose="02010600040101010101" pitchFamily="2" charset="-122"/>
                <a:ea typeface="华文宋体" panose="02010600040101010101" pitchFamily="2" charset="-122"/>
              </a:rPr>
              <a:t>个信号量：</a:t>
            </a:r>
          </a:p>
          <a:p>
            <a:pPr lvl="1" eaLnBrk="1" hangingPunct="1">
              <a:lnSpc>
                <a:spcPct val="140000"/>
              </a:lnSpc>
            </a:pPr>
            <a:r>
              <a:rPr lang="en-US" altLang="zh-CN" sz="1800" dirty="0">
                <a:latin typeface="华文宋体" panose="02010600040101010101" pitchFamily="2" charset="-122"/>
                <a:ea typeface="华文宋体" panose="02010600040101010101" pitchFamily="2" charset="-122"/>
              </a:rPr>
              <a:t>mutex=1,</a:t>
            </a:r>
            <a:r>
              <a:rPr lang="zh-CN" altLang="en-US" sz="1800" dirty="0">
                <a:latin typeface="华文宋体" panose="02010600040101010101" pitchFamily="2" charset="-122"/>
                <a:ea typeface="华文宋体" panose="02010600040101010101" pitchFamily="2" charset="-122"/>
              </a:rPr>
              <a:t>实现盘子的互斥使用</a:t>
            </a:r>
            <a:endParaRPr lang="en-US" altLang="zh-CN" sz="1800" dirty="0">
              <a:latin typeface="华文宋体" panose="02010600040101010101" pitchFamily="2" charset="-122"/>
              <a:ea typeface="华文宋体" panose="02010600040101010101" pitchFamily="2" charset="-122"/>
            </a:endParaRPr>
          </a:p>
          <a:p>
            <a:pPr lvl="1" eaLnBrk="1" hangingPunct="1">
              <a:lnSpc>
                <a:spcPct val="140000"/>
              </a:lnSpc>
            </a:pPr>
            <a:r>
              <a:rPr lang="en-US" altLang="zh-CN" sz="1800" dirty="0">
                <a:latin typeface="华文宋体" panose="02010600040101010101" pitchFamily="2" charset="-122"/>
                <a:ea typeface="华文宋体" panose="02010600040101010101" pitchFamily="2" charset="-122"/>
              </a:rPr>
              <a:t>empty=1, apple=0,orange=0; </a:t>
            </a:r>
            <a:r>
              <a:rPr lang="zh-CN" altLang="en-US" sz="1800" dirty="0">
                <a:latin typeface="华文宋体" panose="02010600040101010101" pitchFamily="2" charset="-122"/>
                <a:ea typeface="华文宋体" panose="02010600040101010101" pitchFamily="2" charset="-122"/>
              </a:rPr>
              <a:t>盘子里空位个数；苹果个数；桔子个数</a:t>
            </a:r>
          </a:p>
        </p:txBody>
      </p:sp>
      <p:sp>
        <p:nvSpPr>
          <p:cNvPr id="3" name="矩形 3">
            <a:extLst>
              <a:ext uri="{FF2B5EF4-FFF2-40B4-BE49-F238E27FC236}">
                <a16:creationId xmlns:a16="http://schemas.microsoft.com/office/drawing/2014/main" id="{9F41D281-2B7D-4A71-A7C1-0E0D08678364}"/>
              </a:ext>
            </a:extLst>
          </p:cNvPr>
          <p:cNvSpPr/>
          <p:nvPr/>
        </p:nvSpPr>
        <p:spPr>
          <a:xfrm>
            <a:off x="2670415" y="239491"/>
            <a:ext cx="3803170" cy="584775"/>
          </a:xfrm>
          <a:prstGeom prst="rect">
            <a:avLst/>
          </a:prstGeom>
          <a:noFill/>
          <a:ln w="9525">
            <a:noFill/>
          </a:ln>
        </p:spPr>
        <p:txBody>
          <a:bodyPr wrap="square" anchor="t" anchorCtr="0">
            <a:spAutoFit/>
          </a:bodyPr>
          <a:lstStyle/>
          <a:p>
            <a:pPr eaLnBrk="0" hangingPunct="0"/>
            <a:r>
              <a:rPr lang="zh-CN" altLang="en-US" sz="3200" b="1" dirty="0">
                <a:solidFill>
                  <a:srgbClr val="006699"/>
                </a:solidFill>
                <a:latin typeface="Helvetica" pitchFamily="34" charset="0"/>
              </a:rPr>
              <a:t>例题：吃水果问题</a:t>
            </a:r>
            <a:endParaRPr lang="zh-CN" altLang="en-US" sz="3200" dirty="0">
              <a:solidFill>
                <a:srgbClr val="006699"/>
              </a:solidFill>
              <a:latin typeface="Verdana" panose="020B060403050404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438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438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4385">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438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438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4385">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4385">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4385">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4385">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438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9" name="Rectangle 3"/>
          <p:cNvSpPr>
            <a:spLocks noGrp="1"/>
          </p:cNvSpPr>
          <p:nvPr>
            <p:ph type="body" idx="4294967295"/>
          </p:nvPr>
        </p:nvSpPr>
        <p:spPr>
          <a:xfrm>
            <a:off x="355600" y="1625600"/>
            <a:ext cx="3695700" cy="3683000"/>
          </a:xfrm>
          <a:ln/>
        </p:spPr>
        <p:txBody>
          <a:bodyPr vert="horz" wrap="square" lIns="91440" tIns="45720" rIns="91440" bIns="45720" anchor="t" anchorCtr="0"/>
          <a:lstStyle/>
          <a:p>
            <a:pPr eaLnBrk="1" hangingPunct="1">
              <a:lnSpc>
                <a:spcPct val="130000"/>
              </a:lnSpc>
            </a:pPr>
            <a:r>
              <a:rPr lang="zh-CN" altLang="en-US" sz="2400" dirty="0"/>
              <a:t>爸爸：</a:t>
            </a:r>
          </a:p>
          <a:p>
            <a:pPr lvl="1" eaLnBrk="1" hangingPunct="1">
              <a:lnSpc>
                <a:spcPct val="130000"/>
              </a:lnSpc>
            </a:pPr>
            <a:r>
              <a:rPr lang="en-US" altLang="zh-CN" sz="2000" b="1" dirty="0">
                <a:solidFill>
                  <a:srgbClr val="0000FF"/>
                </a:solidFill>
              </a:rPr>
              <a:t>P</a:t>
            </a:r>
            <a:r>
              <a:rPr lang="zh-CN" altLang="en-US" sz="2000" b="1" dirty="0">
                <a:solidFill>
                  <a:srgbClr val="0000FF"/>
                </a:solidFill>
              </a:rPr>
              <a:t>（</a:t>
            </a:r>
            <a:r>
              <a:rPr lang="en-US" altLang="zh-CN" sz="2000" b="1" dirty="0">
                <a:solidFill>
                  <a:srgbClr val="0000FF"/>
                </a:solidFill>
              </a:rPr>
              <a:t>empty)</a:t>
            </a:r>
          </a:p>
          <a:p>
            <a:pPr lvl="1" eaLnBrk="1" hangingPunct="1">
              <a:lnSpc>
                <a:spcPct val="130000"/>
              </a:lnSpc>
            </a:pPr>
            <a:r>
              <a:rPr lang="en-US" altLang="zh-CN" sz="2000" b="1" dirty="0">
                <a:solidFill>
                  <a:srgbClr val="FF0000"/>
                </a:solidFill>
              </a:rPr>
              <a:t>P(mutex)</a:t>
            </a:r>
          </a:p>
          <a:p>
            <a:pPr lvl="1" eaLnBrk="1" hangingPunct="1">
              <a:lnSpc>
                <a:spcPct val="130000"/>
              </a:lnSpc>
            </a:pPr>
            <a:r>
              <a:rPr lang="zh-CN" altLang="en-US" sz="2000" dirty="0"/>
              <a:t>将水果放入盘中；</a:t>
            </a:r>
          </a:p>
          <a:p>
            <a:pPr lvl="1" eaLnBrk="1" hangingPunct="1">
              <a:lnSpc>
                <a:spcPct val="130000"/>
              </a:lnSpc>
            </a:pPr>
            <a:r>
              <a:rPr lang="en-US" altLang="zh-CN" sz="2000" dirty="0"/>
              <a:t>IF</a:t>
            </a:r>
            <a:r>
              <a:rPr lang="zh-CN" altLang="en-US" sz="2000" dirty="0"/>
              <a:t>桔子 </a:t>
            </a:r>
            <a:r>
              <a:rPr lang="en-US" altLang="zh-CN" sz="2000" b="1" dirty="0">
                <a:solidFill>
                  <a:srgbClr val="FFC000"/>
                </a:solidFill>
              </a:rPr>
              <a:t>V</a:t>
            </a:r>
            <a:r>
              <a:rPr lang="zh-CN" altLang="en-US" sz="2000" b="1" dirty="0">
                <a:solidFill>
                  <a:srgbClr val="FFC000"/>
                </a:solidFill>
              </a:rPr>
              <a:t>（</a:t>
            </a:r>
            <a:r>
              <a:rPr lang="en-US" altLang="zh-CN" sz="2000" b="1" dirty="0">
                <a:solidFill>
                  <a:srgbClr val="FFC000"/>
                </a:solidFill>
              </a:rPr>
              <a:t>orange</a:t>
            </a:r>
            <a:r>
              <a:rPr lang="zh-CN" altLang="en-US" sz="2000" b="1" dirty="0">
                <a:solidFill>
                  <a:srgbClr val="FFC000"/>
                </a:solidFill>
              </a:rPr>
              <a:t>）</a:t>
            </a:r>
          </a:p>
          <a:p>
            <a:pPr lvl="1" eaLnBrk="1" hangingPunct="1">
              <a:lnSpc>
                <a:spcPct val="130000"/>
              </a:lnSpc>
            </a:pPr>
            <a:r>
              <a:rPr lang="en-US" altLang="zh-CN" sz="2000" dirty="0"/>
              <a:t>else </a:t>
            </a:r>
            <a:r>
              <a:rPr lang="en-US" altLang="zh-CN" sz="2000" b="1" dirty="0">
                <a:solidFill>
                  <a:srgbClr val="00B050"/>
                </a:solidFill>
              </a:rPr>
              <a:t>V</a:t>
            </a:r>
            <a:r>
              <a:rPr lang="zh-CN" altLang="en-US" sz="2000" b="1" dirty="0">
                <a:solidFill>
                  <a:srgbClr val="00B050"/>
                </a:solidFill>
              </a:rPr>
              <a:t>（</a:t>
            </a:r>
            <a:r>
              <a:rPr lang="en-US" altLang="zh-CN" sz="2000" b="1" dirty="0">
                <a:solidFill>
                  <a:srgbClr val="00B050"/>
                </a:solidFill>
              </a:rPr>
              <a:t>apple</a:t>
            </a:r>
            <a:r>
              <a:rPr lang="zh-CN" altLang="en-US" sz="2000" b="1" dirty="0">
                <a:solidFill>
                  <a:srgbClr val="00B050"/>
                </a:solidFill>
              </a:rPr>
              <a:t>）</a:t>
            </a:r>
            <a:endParaRPr lang="en-US" altLang="zh-CN" sz="2000" b="1" dirty="0">
              <a:solidFill>
                <a:srgbClr val="00B050"/>
              </a:solidFill>
            </a:endParaRPr>
          </a:p>
          <a:p>
            <a:pPr lvl="1" eaLnBrk="1" hangingPunct="1">
              <a:lnSpc>
                <a:spcPct val="130000"/>
              </a:lnSpc>
            </a:pPr>
            <a:r>
              <a:rPr lang="en-US" altLang="zh-CN" sz="2000" b="1" dirty="0">
                <a:solidFill>
                  <a:srgbClr val="FF0000"/>
                </a:solidFill>
              </a:rPr>
              <a:t>V(mutex)</a:t>
            </a:r>
            <a:endParaRPr lang="zh-CN" altLang="en-US" sz="2000" b="1" dirty="0">
              <a:solidFill>
                <a:srgbClr val="FF0000"/>
              </a:solidFill>
            </a:endParaRPr>
          </a:p>
          <a:p>
            <a:pPr lvl="1" eaLnBrk="1" hangingPunct="1">
              <a:lnSpc>
                <a:spcPct val="130000"/>
              </a:lnSpc>
            </a:pPr>
            <a:endParaRPr lang="zh-CN" altLang="en-US" sz="2000" dirty="0">
              <a:solidFill>
                <a:schemeClr val="folHlink"/>
              </a:solidFill>
            </a:endParaRPr>
          </a:p>
        </p:txBody>
      </p:sp>
      <p:sp>
        <p:nvSpPr>
          <p:cNvPr id="500742" name="Rectangle 6"/>
          <p:cNvSpPr/>
          <p:nvPr/>
        </p:nvSpPr>
        <p:spPr>
          <a:xfrm>
            <a:off x="4398964" y="860224"/>
            <a:ext cx="3467100" cy="2906117"/>
          </a:xfrm>
          <a:prstGeom prst="rect">
            <a:avLst/>
          </a:prstGeom>
          <a:noFill/>
          <a:ln w="9525">
            <a:noFill/>
          </a:ln>
        </p:spPr>
        <p:txBody>
          <a:bodyPr anchor="t" anchorCtr="0">
            <a:spAutoFit/>
          </a:bodyPr>
          <a:lstStyle/>
          <a:p>
            <a:pPr eaLnBrk="0" hangingPunct="0">
              <a:lnSpc>
                <a:spcPct val="150000"/>
              </a:lnSpc>
            </a:pPr>
            <a:r>
              <a:rPr lang="zh-CN" altLang="en-US" b="1" dirty="0">
                <a:latin typeface="Verdana" panose="020B0604030504040204" pitchFamily="34" charset="0"/>
              </a:rPr>
              <a:t>儿子：</a:t>
            </a:r>
            <a:r>
              <a:rPr kumimoji="1" lang="en-US" altLang="zh-CN" b="1" dirty="0">
                <a:solidFill>
                  <a:srgbClr val="FFC000"/>
                </a:solidFill>
                <a:latin typeface="+mn-lt"/>
              </a:rPr>
              <a:t>P(orange )</a:t>
            </a:r>
            <a:endParaRPr kumimoji="1" lang="en-US" altLang="zh-CN" b="1" dirty="0">
              <a:solidFill>
                <a:srgbClr val="00B050"/>
              </a:solidFill>
              <a:latin typeface="+mn-lt"/>
            </a:endParaRPr>
          </a:p>
          <a:p>
            <a:pPr eaLnBrk="0" hangingPunct="0">
              <a:lnSpc>
                <a:spcPct val="150000"/>
              </a:lnSpc>
            </a:pPr>
            <a:r>
              <a:rPr kumimoji="1" lang="en-US" altLang="zh-CN" b="1" dirty="0">
                <a:solidFill>
                  <a:srgbClr val="00B050"/>
                </a:solidFill>
                <a:latin typeface="+mn-lt"/>
              </a:rPr>
              <a:t>         </a:t>
            </a:r>
            <a:r>
              <a:rPr lang="en-US" altLang="zh-CN" b="1" dirty="0">
                <a:solidFill>
                  <a:srgbClr val="FF0000"/>
                </a:solidFill>
              </a:rPr>
              <a:t>P(mutex)</a:t>
            </a:r>
            <a:endParaRPr kumimoji="1" lang="en-US" altLang="zh-CN" b="1" dirty="0">
              <a:solidFill>
                <a:srgbClr val="00B050"/>
              </a:solidFill>
              <a:latin typeface="+mn-lt"/>
            </a:endParaRPr>
          </a:p>
          <a:p>
            <a:pPr lvl="1" indent="0" eaLnBrk="0" hangingPunct="0">
              <a:lnSpc>
                <a:spcPct val="150000"/>
              </a:lnSpc>
            </a:pPr>
            <a:r>
              <a:rPr lang="zh-CN" altLang="en-US" b="1" dirty="0">
                <a:latin typeface="Verdana" panose="020B0604030504040204" pitchFamily="34" charset="0"/>
              </a:rPr>
              <a:t>  从盘中取桔子；</a:t>
            </a:r>
            <a:endParaRPr lang="en-US" altLang="zh-CN" b="1" dirty="0">
              <a:latin typeface="Verdana" panose="020B0604030504040204" pitchFamily="34" charset="0"/>
            </a:endParaRPr>
          </a:p>
          <a:p>
            <a:pPr lvl="1" eaLnBrk="0" hangingPunct="0">
              <a:lnSpc>
                <a:spcPct val="150000"/>
              </a:lnSpc>
            </a:pPr>
            <a:r>
              <a:rPr lang="en-US" altLang="zh-CN" b="1" dirty="0"/>
              <a:t>  </a:t>
            </a:r>
            <a:r>
              <a:rPr lang="en-US" altLang="zh-CN" b="1" dirty="0">
                <a:solidFill>
                  <a:srgbClr val="FF0000"/>
                </a:solidFill>
              </a:rPr>
              <a:t>V(mutex)</a:t>
            </a:r>
            <a:endParaRPr lang="zh-CN" altLang="en-US" b="1" dirty="0">
              <a:latin typeface="Verdana" panose="020B0604030504040204" pitchFamily="34" charset="0"/>
            </a:endParaRPr>
          </a:p>
          <a:p>
            <a:pPr lvl="1">
              <a:lnSpc>
                <a:spcPct val="130000"/>
              </a:lnSpc>
              <a:spcBef>
                <a:spcPct val="35000"/>
              </a:spcBef>
              <a:buClr>
                <a:srgbClr val="CC6600"/>
              </a:buClr>
              <a:buSzPct val="80000"/>
            </a:pPr>
            <a:r>
              <a:rPr lang="en-US" altLang="zh-CN" b="1" dirty="0"/>
              <a:t>  </a:t>
            </a:r>
            <a:r>
              <a:rPr kumimoji="1" lang="en-US" altLang="zh-CN" b="1" dirty="0">
                <a:solidFill>
                  <a:srgbClr val="0000FF"/>
                </a:solidFill>
                <a:latin typeface="+mn-lt"/>
              </a:rPr>
              <a:t>V</a:t>
            </a:r>
            <a:r>
              <a:rPr kumimoji="1" lang="zh-CN" altLang="en-US" b="1" dirty="0">
                <a:solidFill>
                  <a:srgbClr val="0000FF"/>
                </a:solidFill>
                <a:latin typeface="+mn-lt"/>
              </a:rPr>
              <a:t>（ </a:t>
            </a:r>
            <a:r>
              <a:rPr lang="en-US" altLang="zh-CN" b="1" dirty="0">
                <a:solidFill>
                  <a:srgbClr val="0000FF"/>
                </a:solidFill>
              </a:rPr>
              <a:t>empty</a:t>
            </a:r>
            <a:r>
              <a:rPr kumimoji="1" lang="zh-CN" altLang="en-US" b="1" dirty="0">
                <a:solidFill>
                  <a:srgbClr val="0000FF"/>
                </a:solidFill>
                <a:latin typeface="+mn-lt"/>
              </a:rPr>
              <a:t> ）</a:t>
            </a:r>
            <a:endParaRPr kumimoji="1" lang="en-US" altLang="zh-CN" b="1" dirty="0">
              <a:solidFill>
                <a:srgbClr val="0000FF"/>
              </a:solidFill>
              <a:latin typeface="+mn-lt"/>
            </a:endParaRPr>
          </a:p>
          <a:p>
            <a:pPr lvl="1">
              <a:lnSpc>
                <a:spcPct val="130000"/>
              </a:lnSpc>
              <a:spcBef>
                <a:spcPct val="35000"/>
              </a:spcBef>
              <a:buClr>
                <a:srgbClr val="CC6600"/>
              </a:buClr>
              <a:buSzPct val="80000"/>
            </a:pPr>
            <a:r>
              <a:rPr lang="en-US" altLang="zh-CN" b="1" dirty="0">
                <a:solidFill>
                  <a:srgbClr val="FF0000"/>
                </a:solidFill>
              </a:rPr>
              <a:t>  </a:t>
            </a:r>
            <a:r>
              <a:rPr lang="zh-CN" altLang="en-US" b="1" dirty="0">
                <a:latin typeface="Verdana" panose="020B0604030504040204" pitchFamily="34" charset="0"/>
              </a:rPr>
              <a:t>吃桔子</a:t>
            </a:r>
          </a:p>
        </p:txBody>
      </p:sp>
      <p:sp>
        <p:nvSpPr>
          <p:cNvPr id="500743" name="Rectangle 7"/>
          <p:cNvSpPr/>
          <p:nvPr/>
        </p:nvSpPr>
        <p:spPr>
          <a:xfrm>
            <a:off x="3751854" y="3964612"/>
            <a:ext cx="3657009" cy="2829172"/>
          </a:xfrm>
          <a:prstGeom prst="rect">
            <a:avLst/>
          </a:prstGeom>
          <a:noFill/>
          <a:ln w="9525">
            <a:noFill/>
          </a:ln>
        </p:spPr>
        <p:txBody>
          <a:bodyPr wrap="square" anchor="t" anchorCtr="0">
            <a:spAutoFit/>
          </a:bodyPr>
          <a:lstStyle/>
          <a:p>
            <a:pPr lvl="1">
              <a:lnSpc>
                <a:spcPct val="130000"/>
              </a:lnSpc>
              <a:spcBef>
                <a:spcPct val="35000"/>
              </a:spcBef>
              <a:buClr>
                <a:srgbClr val="CC6600"/>
              </a:buClr>
              <a:buSzPct val="80000"/>
            </a:pPr>
            <a:r>
              <a:rPr lang="zh-CN" altLang="en-US" b="1" dirty="0">
                <a:latin typeface="Verdana" panose="020B0604030504040204" pitchFamily="34" charset="0"/>
              </a:rPr>
              <a:t>女儿：</a:t>
            </a:r>
            <a:r>
              <a:rPr lang="en-US" altLang="zh-CN" b="1" dirty="0">
                <a:latin typeface="Verdana" panose="020B0604030504040204" pitchFamily="34" charset="0"/>
              </a:rPr>
              <a:t>  </a:t>
            </a:r>
            <a:r>
              <a:rPr kumimoji="1" lang="en-US" altLang="zh-CN" b="1" dirty="0">
                <a:solidFill>
                  <a:srgbClr val="00B050"/>
                </a:solidFill>
                <a:latin typeface="+mn-lt"/>
              </a:rPr>
              <a:t>P (apple)</a:t>
            </a:r>
          </a:p>
          <a:p>
            <a:pPr lvl="1">
              <a:lnSpc>
                <a:spcPct val="130000"/>
              </a:lnSpc>
              <a:spcBef>
                <a:spcPct val="35000"/>
              </a:spcBef>
              <a:buClr>
                <a:srgbClr val="CC6600"/>
              </a:buClr>
              <a:buSzPct val="80000"/>
            </a:pPr>
            <a:r>
              <a:rPr kumimoji="1" lang="en-US" altLang="zh-CN" b="1" dirty="0">
                <a:solidFill>
                  <a:srgbClr val="00B050"/>
                </a:solidFill>
                <a:latin typeface="+mn-lt"/>
              </a:rPr>
              <a:t>            </a:t>
            </a:r>
            <a:r>
              <a:rPr lang="en-US" altLang="zh-CN" b="1" dirty="0">
                <a:solidFill>
                  <a:srgbClr val="FF0000"/>
                </a:solidFill>
              </a:rPr>
              <a:t>P(mutex)</a:t>
            </a:r>
            <a:endParaRPr kumimoji="1" lang="en-US" altLang="zh-CN" b="1" dirty="0">
              <a:solidFill>
                <a:srgbClr val="FFC000"/>
              </a:solidFill>
              <a:latin typeface="+mn-lt"/>
            </a:endParaRPr>
          </a:p>
          <a:p>
            <a:pPr eaLnBrk="0" hangingPunct="0">
              <a:lnSpc>
                <a:spcPct val="150000"/>
              </a:lnSpc>
            </a:pPr>
            <a:r>
              <a:rPr lang="zh-CN" altLang="en-US" b="1" dirty="0">
                <a:latin typeface="Verdana" panose="020B0604030504040204" pitchFamily="34" charset="0"/>
              </a:rPr>
              <a:t>               从盘中取苹果</a:t>
            </a:r>
            <a:r>
              <a:rPr lang="en-US" altLang="zh-CN" b="1" dirty="0">
                <a:latin typeface="Verdana" panose="020B0604030504040204" pitchFamily="34" charset="0"/>
              </a:rPr>
              <a:t>;</a:t>
            </a:r>
          </a:p>
          <a:p>
            <a:pPr eaLnBrk="0" hangingPunct="0">
              <a:lnSpc>
                <a:spcPct val="150000"/>
              </a:lnSpc>
            </a:pPr>
            <a:r>
              <a:rPr lang="en-US" altLang="zh-CN" b="1" dirty="0">
                <a:solidFill>
                  <a:srgbClr val="FF0000"/>
                </a:solidFill>
              </a:rPr>
              <a:t>               V(mutex)</a:t>
            </a:r>
            <a:endParaRPr lang="en-US" altLang="zh-CN" b="1" dirty="0">
              <a:latin typeface="Verdana" panose="020B0604030504040204" pitchFamily="34" charset="0"/>
            </a:endParaRPr>
          </a:p>
          <a:p>
            <a:pPr lvl="1">
              <a:lnSpc>
                <a:spcPct val="130000"/>
              </a:lnSpc>
              <a:spcBef>
                <a:spcPct val="35000"/>
              </a:spcBef>
              <a:buClr>
                <a:srgbClr val="CC6600"/>
              </a:buClr>
              <a:buSzPct val="80000"/>
            </a:pPr>
            <a:r>
              <a:rPr lang="en-US" altLang="zh-CN" b="1" dirty="0"/>
              <a:t>          </a:t>
            </a:r>
            <a:r>
              <a:rPr kumimoji="1" lang="en-US" altLang="zh-CN" b="1" dirty="0">
                <a:solidFill>
                  <a:srgbClr val="0000FF"/>
                </a:solidFill>
                <a:latin typeface="+mn-lt"/>
              </a:rPr>
              <a:t>V</a:t>
            </a:r>
            <a:r>
              <a:rPr kumimoji="1" lang="zh-CN" altLang="en-US" b="1" dirty="0">
                <a:solidFill>
                  <a:srgbClr val="0000FF"/>
                </a:solidFill>
                <a:latin typeface="+mn-lt"/>
              </a:rPr>
              <a:t>（ </a:t>
            </a:r>
            <a:r>
              <a:rPr lang="en-US" altLang="zh-CN" b="1" dirty="0">
                <a:solidFill>
                  <a:srgbClr val="0000FF"/>
                </a:solidFill>
              </a:rPr>
              <a:t>empty</a:t>
            </a:r>
            <a:r>
              <a:rPr kumimoji="1" lang="zh-CN" altLang="en-US" b="1" dirty="0">
                <a:solidFill>
                  <a:srgbClr val="0000FF"/>
                </a:solidFill>
                <a:latin typeface="+mn-lt"/>
              </a:rPr>
              <a:t> ）</a:t>
            </a:r>
            <a:endParaRPr kumimoji="1" lang="en-US" altLang="zh-CN" b="1" dirty="0">
              <a:solidFill>
                <a:srgbClr val="0000FF"/>
              </a:solidFill>
              <a:latin typeface="+mn-lt"/>
            </a:endParaRPr>
          </a:p>
          <a:p>
            <a:pPr eaLnBrk="0" hangingPunct="0">
              <a:lnSpc>
                <a:spcPct val="150000"/>
              </a:lnSpc>
            </a:pPr>
            <a:r>
              <a:rPr lang="zh-CN" altLang="en-US" b="1" dirty="0">
                <a:latin typeface="Verdana" panose="020B0604030504040204" pitchFamily="34" charset="0"/>
              </a:rPr>
              <a:t>                吃苹果</a:t>
            </a:r>
          </a:p>
        </p:txBody>
      </p:sp>
      <p:sp>
        <p:nvSpPr>
          <p:cNvPr id="500747" name="Line 11"/>
          <p:cNvSpPr/>
          <p:nvPr/>
        </p:nvSpPr>
        <p:spPr>
          <a:xfrm flipV="1">
            <a:off x="2884562" y="4195446"/>
            <a:ext cx="1294033" cy="342419"/>
          </a:xfrm>
          <a:prstGeom prst="line">
            <a:avLst/>
          </a:prstGeom>
          <a:ln w="76200" cap="flat" cmpd="sng">
            <a:solidFill>
              <a:srgbClr val="00B050"/>
            </a:solidFill>
            <a:prstDash val="solid"/>
            <a:round/>
            <a:headEnd type="none" w="med" len="med"/>
            <a:tailEnd type="arrow" w="med" len="med"/>
          </a:ln>
        </p:spPr>
        <p:txBody>
          <a:bodyPr/>
          <a:lstStyle/>
          <a:p>
            <a:endParaRPr lang="zh-CN" altLang="en-US"/>
          </a:p>
        </p:txBody>
      </p:sp>
      <p:sp>
        <p:nvSpPr>
          <p:cNvPr id="500748" name="Line 12"/>
          <p:cNvSpPr/>
          <p:nvPr/>
        </p:nvSpPr>
        <p:spPr>
          <a:xfrm flipV="1">
            <a:off x="3250941" y="1286539"/>
            <a:ext cx="1772499" cy="2710637"/>
          </a:xfrm>
          <a:prstGeom prst="line">
            <a:avLst/>
          </a:prstGeom>
          <a:ln w="76200" cap="flat" cmpd="sng">
            <a:solidFill>
              <a:schemeClr val="hlink"/>
            </a:solidFill>
            <a:prstDash val="solid"/>
            <a:round/>
            <a:headEnd type="none" w="med" len="med"/>
            <a:tailEnd type="triangle" w="med" len="med"/>
          </a:ln>
        </p:spPr>
        <p:txBody>
          <a:bodyPr/>
          <a:lstStyle/>
          <a:p>
            <a:endParaRPr lang="zh-CN" altLang="en-US"/>
          </a:p>
        </p:txBody>
      </p:sp>
      <p:sp>
        <p:nvSpPr>
          <p:cNvPr id="8" name="矩形 3">
            <a:extLst>
              <a:ext uri="{FF2B5EF4-FFF2-40B4-BE49-F238E27FC236}">
                <a16:creationId xmlns:a16="http://schemas.microsoft.com/office/drawing/2014/main" id="{0145ACFA-9699-4777-9A0B-206BC07A4561}"/>
              </a:ext>
            </a:extLst>
          </p:cNvPr>
          <p:cNvSpPr/>
          <p:nvPr/>
        </p:nvSpPr>
        <p:spPr>
          <a:xfrm>
            <a:off x="2670415" y="239491"/>
            <a:ext cx="3803170" cy="584775"/>
          </a:xfrm>
          <a:prstGeom prst="rect">
            <a:avLst/>
          </a:prstGeom>
          <a:noFill/>
          <a:ln w="9525">
            <a:noFill/>
          </a:ln>
        </p:spPr>
        <p:txBody>
          <a:bodyPr wrap="square" anchor="t" anchorCtr="0">
            <a:spAutoFit/>
          </a:bodyPr>
          <a:lstStyle/>
          <a:p>
            <a:pPr eaLnBrk="0" hangingPunct="0"/>
            <a:r>
              <a:rPr lang="zh-CN" altLang="en-US" sz="3200" b="1" dirty="0">
                <a:solidFill>
                  <a:srgbClr val="006699"/>
                </a:solidFill>
                <a:latin typeface="Helvetica" pitchFamily="34" charset="0"/>
              </a:rPr>
              <a:t>例题：吃水果问题</a:t>
            </a:r>
            <a:endParaRPr lang="zh-CN" altLang="en-US" sz="3200" dirty="0">
              <a:solidFill>
                <a:srgbClr val="006699"/>
              </a:solidFill>
              <a:latin typeface="Verdana" panose="020B060403050404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0739">
                                            <p:txEl>
                                              <p:pRg st="0" end="0"/>
                                            </p:txEl>
                                          </p:spTgt>
                                        </p:tgtEl>
                                        <p:attrNameLst>
                                          <p:attrName>style.visibility</p:attrName>
                                        </p:attrNameLst>
                                      </p:cBhvr>
                                      <p:to>
                                        <p:strVal val="visible"/>
                                      </p:to>
                                    </p:set>
                                    <p:anim calcmode="lin" valueType="num">
                                      <p:cBhvr additive="base">
                                        <p:cTn id="7" dur="500" fill="hold"/>
                                        <p:tgtEl>
                                          <p:spTgt spid="5007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073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00739">
                                            <p:txEl>
                                              <p:pRg st="1" end="1"/>
                                            </p:txEl>
                                          </p:spTgt>
                                        </p:tgtEl>
                                        <p:attrNameLst>
                                          <p:attrName>style.visibility</p:attrName>
                                        </p:attrNameLst>
                                      </p:cBhvr>
                                      <p:to>
                                        <p:strVal val="visible"/>
                                      </p:to>
                                    </p:set>
                                    <p:anim calcmode="lin" valueType="num">
                                      <p:cBhvr additive="base">
                                        <p:cTn id="11" dur="500" fill="hold"/>
                                        <p:tgtEl>
                                          <p:spTgt spid="50073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00739">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00739">
                                            <p:txEl>
                                              <p:pRg st="2" end="2"/>
                                            </p:txEl>
                                          </p:spTgt>
                                        </p:tgtEl>
                                        <p:attrNameLst>
                                          <p:attrName>style.visibility</p:attrName>
                                        </p:attrNameLst>
                                      </p:cBhvr>
                                      <p:to>
                                        <p:strVal val="visible"/>
                                      </p:to>
                                    </p:set>
                                    <p:anim calcmode="lin" valueType="num">
                                      <p:cBhvr additive="base">
                                        <p:cTn id="15" dur="500" fill="hold"/>
                                        <p:tgtEl>
                                          <p:spTgt spid="50073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00739">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00739">
                                            <p:txEl>
                                              <p:pRg st="3" end="3"/>
                                            </p:txEl>
                                          </p:spTgt>
                                        </p:tgtEl>
                                        <p:attrNameLst>
                                          <p:attrName>style.visibility</p:attrName>
                                        </p:attrNameLst>
                                      </p:cBhvr>
                                      <p:to>
                                        <p:strVal val="visible"/>
                                      </p:to>
                                    </p:set>
                                    <p:anim calcmode="lin" valueType="num">
                                      <p:cBhvr additive="base">
                                        <p:cTn id="19" dur="500" fill="hold"/>
                                        <p:tgtEl>
                                          <p:spTgt spid="50073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00739">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00739">
                                            <p:txEl>
                                              <p:pRg st="4" end="4"/>
                                            </p:txEl>
                                          </p:spTgt>
                                        </p:tgtEl>
                                        <p:attrNameLst>
                                          <p:attrName>style.visibility</p:attrName>
                                        </p:attrNameLst>
                                      </p:cBhvr>
                                      <p:to>
                                        <p:strVal val="visible"/>
                                      </p:to>
                                    </p:set>
                                    <p:anim calcmode="lin" valueType="num">
                                      <p:cBhvr additive="base">
                                        <p:cTn id="23" dur="500" fill="hold"/>
                                        <p:tgtEl>
                                          <p:spTgt spid="500739">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00739">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00739">
                                            <p:txEl>
                                              <p:pRg st="5" end="5"/>
                                            </p:txEl>
                                          </p:spTgt>
                                        </p:tgtEl>
                                        <p:attrNameLst>
                                          <p:attrName>style.visibility</p:attrName>
                                        </p:attrNameLst>
                                      </p:cBhvr>
                                      <p:to>
                                        <p:strVal val="visible"/>
                                      </p:to>
                                    </p:set>
                                    <p:anim calcmode="lin" valueType="num">
                                      <p:cBhvr additive="base">
                                        <p:cTn id="27" dur="500" fill="hold"/>
                                        <p:tgtEl>
                                          <p:spTgt spid="500739">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00739">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00739">
                                            <p:txEl>
                                              <p:pRg st="6" end="6"/>
                                            </p:txEl>
                                          </p:spTgt>
                                        </p:tgtEl>
                                        <p:attrNameLst>
                                          <p:attrName>style.visibility</p:attrName>
                                        </p:attrNameLst>
                                      </p:cBhvr>
                                      <p:to>
                                        <p:strVal val="visible"/>
                                      </p:to>
                                    </p:set>
                                    <p:anim calcmode="lin" valueType="num">
                                      <p:cBhvr additive="base">
                                        <p:cTn id="31" dur="500" fill="hold"/>
                                        <p:tgtEl>
                                          <p:spTgt spid="500739">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0073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00742"/>
                                        </p:tgtEl>
                                        <p:attrNameLst>
                                          <p:attrName>style.visibility</p:attrName>
                                        </p:attrNameLst>
                                      </p:cBhvr>
                                      <p:to>
                                        <p:strVal val="visible"/>
                                      </p:to>
                                    </p:set>
                                    <p:anim calcmode="lin" valueType="num">
                                      <p:cBhvr additive="base">
                                        <p:cTn id="37" dur="500" fill="hold"/>
                                        <p:tgtEl>
                                          <p:spTgt spid="500742"/>
                                        </p:tgtEl>
                                        <p:attrNameLst>
                                          <p:attrName>ppt_x</p:attrName>
                                        </p:attrNameLst>
                                      </p:cBhvr>
                                      <p:tavLst>
                                        <p:tav tm="0">
                                          <p:val>
                                            <p:strVal val="#ppt_x"/>
                                          </p:val>
                                        </p:tav>
                                        <p:tav tm="100000">
                                          <p:val>
                                            <p:strVal val="#ppt_x"/>
                                          </p:val>
                                        </p:tav>
                                      </p:tavLst>
                                    </p:anim>
                                    <p:anim calcmode="lin" valueType="num">
                                      <p:cBhvr additive="base">
                                        <p:cTn id="38" dur="500" fill="hold"/>
                                        <p:tgtEl>
                                          <p:spTgt spid="50074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00743"/>
                                        </p:tgtEl>
                                        <p:attrNameLst>
                                          <p:attrName>style.visibility</p:attrName>
                                        </p:attrNameLst>
                                      </p:cBhvr>
                                      <p:to>
                                        <p:strVal val="visible"/>
                                      </p:to>
                                    </p:set>
                                    <p:anim calcmode="lin" valueType="num">
                                      <p:cBhvr additive="base">
                                        <p:cTn id="43" dur="500" fill="hold"/>
                                        <p:tgtEl>
                                          <p:spTgt spid="500743"/>
                                        </p:tgtEl>
                                        <p:attrNameLst>
                                          <p:attrName>ppt_x</p:attrName>
                                        </p:attrNameLst>
                                      </p:cBhvr>
                                      <p:tavLst>
                                        <p:tav tm="0">
                                          <p:val>
                                            <p:strVal val="#ppt_x"/>
                                          </p:val>
                                        </p:tav>
                                        <p:tav tm="100000">
                                          <p:val>
                                            <p:strVal val="#ppt_x"/>
                                          </p:val>
                                        </p:tav>
                                      </p:tavLst>
                                    </p:anim>
                                    <p:anim calcmode="lin" valueType="num">
                                      <p:cBhvr additive="base">
                                        <p:cTn id="44" dur="500" fill="hold"/>
                                        <p:tgtEl>
                                          <p:spTgt spid="50074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00747"/>
                                        </p:tgtEl>
                                        <p:attrNameLst>
                                          <p:attrName>style.visibility</p:attrName>
                                        </p:attrNameLst>
                                      </p:cBhvr>
                                      <p:to>
                                        <p:strVal val="visible"/>
                                      </p:to>
                                    </p:set>
                                    <p:anim calcmode="lin" valueType="num">
                                      <p:cBhvr additive="base">
                                        <p:cTn id="49" dur="500" fill="hold"/>
                                        <p:tgtEl>
                                          <p:spTgt spid="500747"/>
                                        </p:tgtEl>
                                        <p:attrNameLst>
                                          <p:attrName>ppt_x</p:attrName>
                                        </p:attrNameLst>
                                      </p:cBhvr>
                                      <p:tavLst>
                                        <p:tav tm="0">
                                          <p:val>
                                            <p:strVal val="#ppt_x"/>
                                          </p:val>
                                        </p:tav>
                                        <p:tav tm="100000">
                                          <p:val>
                                            <p:strVal val="#ppt_x"/>
                                          </p:val>
                                        </p:tav>
                                      </p:tavLst>
                                    </p:anim>
                                    <p:anim calcmode="lin" valueType="num">
                                      <p:cBhvr additive="base">
                                        <p:cTn id="50" dur="500" fill="hold"/>
                                        <p:tgtEl>
                                          <p:spTgt spid="500747"/>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00748"/>
                                        </p:tgtEl>
                                        <p:attrNameLst>
                                          <p:attrName>style.visibility</p:attrName>
                                        </p:attrNameLst>
                                      </p:cBhvr>
                                      <p:to>
                                        <p:strVal val="visible"/>
                                      </p:to>
                                    </p:set>
                                    <p:anim calcmode="lin" valueType="num">
                                      <p:cBhvr additive="base">
                                        <p:cTn id="55" dur="500" fill="hold"/>
                                        <p:tgtEl>
                                          <p:spTgt spid="500748"/>
                                        </p:tgtEl>
                                        <p:attrNameLst>
                                          <p:attrName>ppt_x</p:attrName>
                                        </p:attrNameLst>
                                      </p:cBhvr>
                                      <p:tavLst>
                                        <p:tav tm="0">
                                          <p:val>
                                            <p:strVal val="#ppt_x"/>
                                          </p:val>
                                        </p:tav>
                                        <p:tav tm="100000">
                                          <p:val>
                                            <p:strVal val="#ppt_x"/>
                                          </p:val>
                                        </p:tav>
                                      </p:tavLst>
                                    </p:anim>
                                    <p:anim calcmode="lin" valueType="num">
                                      <p:cBhvr additive="base">
                                        <p:cTn id="56" dur="500" fill="hold"/>
                                        <p:tgtEl>
                                          <p:spTgt spid="5007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739" grpId="0" build="p"/>
      <p:bldP spid="500742" grpId="0"/>
      <p:bldP spid="500743"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p:cNvSpPr>
          <p:nvPr>
            <p:ph type="title"/>
          </p:nvPr>
        </p:nvSpPr>
        <p:spPr>
          <a:ln/>
        </p:spPr>
        <p:txBody>
          <a:bodyPr vert="horz" wrap="square" lIns="91440" tIns="45720" rIns="91440" bIns="45720" anchor="b" anchorCtr="0"/>
          <a:lstStyle/>
          <a:p>
            <a:br>
              <a:rPr lang="zh-CN" altLang="en-US" dirty="0"/>
            </a:br>
            <a:br>
              <a:rPr lang="zh-CN" altLang="en-US" dirty="0"/>
            </a:br>
            <a:r>
              <a:rPr lang="en-US" altLang="zh-CN" dirty="0"/>
              <a:t>Chapter 6: Process Synchronization</a:t>
            </a:r>
          </a:p>
        </p:txBody>
      </p:sp>
      <p:sp>
        <p:nvSpPr>
          <p:cNvPr id="9218" name="Rectangle 3"/>
          <p:cNvSpPr>
            <a:spLocks noGrp="1"/>
          </p:cNvSpPr>
          <p:nvPr>
            <p:ph idx="1"/>
          </p:nvPr>
        </p:nvSpPr>
        <p:spPr>
          <a:ln/>
        </p:spPr>
        <p:txBody>
          <a:bodyPr vert="horz" wrap="square" lIns="91440" tIns="45720" rIns="91440" bIns="45720" anchor="t" anchorCtr="0"/>
          <a:lstStyle/>
          <a:p>
            <a:r>
              <a:rPr lang="en-US" altLang="zh-CN" sz="2400" dirty="0"/>
              <a:t>Background</a:t>
            </a:r>
          </a:p>
          <a:p>
            <a:r>
              <a:rPr lang="en-US" altLang="zh-CN" sz="2400" dirty="0"/>
              <a:t>The Critical-Section Problem</a:t>
            </a:r>
          </a:p>
          <a:p>
            <a:r>
              <a:rPr lang="en-US" altLang="zh-CN" sz="2400" dirty="0"/>
              <a:t>Peterson’s Solution</a:t>
            </a:r>
          </a:p>
          <a:p>
            <a:r>
              <a:rPr lang="en-US" altLang="zh-CN" sz="2400" dirty="0"/>
              <a:t>Synchronization Hardware</a:t>
            </a:r>
          </a:p>
          <a:p>
            <a:r>
              <a:rPr lang="en-US" altLang="zh-CN" sz="2400" dirty="0"/>
              <a:t>Semaphores</a:t>
            </a:r>
          </a:p>
          <a:p>
            <a:r>
              <a:rPr lang="en-US" altLang="zh-CN" sz="2400" dirty="0"/>
              <a:t>Classic Problems of Synchronization</a:t>
            </a:r>
          </a:p>
          <a:p>
            <a:r>
              <a:rPr lang="en-US" altLang="zh-CN" sz="2400" dirty="0">
                <a:solidFill>
                  <a:srgbClr val="C00000"/>
                </a:solidFill>
              </a:rPr>
              <a:t>Monitors</a:t>
            </a:r>
          </a:p>
          <a:p>
            <a:r>
              <a:rPr lang="en-US" altLang="zh-CN" sz="2400" dirty="0"/>
              <a:t>Synchronization Examples </a:t>
            </a:r>
          </a:p>
          <a:p>
            <a:r>
              <a:rPr lang="en-US" altLang="zh-CN" sz="2400" dirty="0"/>
              <a:t>Atomic Transactions</a:t>
            </a:r>
          </a:p>
          <a:p>
            <a:pPr>
              <a:buNone/>
            </a:pPr>
            <a:endParaRPr lang="zh-CN" altLang="en-US" sz="2400" dirty="0"/>
          </a:p>
        </p:txBody>
      </p:sp>
    </p:spTree>
    <p:extLst>
      <p:ext uri="{BB962C8B-B14F-4D97-AF65-F5344CB8AC3E}">
        <p14:creationId xmlns:p14="http://schemas.microsoft.com/office/powerpoint/2010/main" val="93381114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2"/>
          <p:cNvSpPr>
            <a:spLocks noGrp="1"/>
          </p:cNvSpPr>
          <p:nvPr>
            <p:ph type="title"/>
          </p:nvPr>
        </p:nvSpPr>
        <p:spPr>
          <a:ln/>
        </p:spPr>
        <p:txBody>
          <a:bodyPr vert="horz" wrap="square" lIns="91440" tIns="45720" rIns="91440" bIns="45720" anchor="b" anchorCtr="0"/>
          <a:lstStyle/>
          <a:p>
            <a:r>
              <a:rPr lang="en-US" altLang="zh-CN" dirty="0">
                <a:ea typeface="宋体" panose="02010600030101010101" pitchFamily="2" charset="-122"/>
              </a:rPr>
              <a:t>Monitors</a:t>
            </a:r>
          </a:p>
        </p:txBody>
      </p:sp>
      <p:sp>
        <p:nvSpPr>
          <p:cNvPr id="148482" name="Rectangle 3"/>
          <p:cNvSpPr>
            <a:spLocks noGrp="1"/>
          </p:cNvSpPr>
          <p:nvPr>
            <p:ph idx="1"/>
          </p:nvPr>
        </p:nvSpPr>
        <p:spPr>
          <a:xfrm>
            <a:off x="493713" y="1141413"/>
            <a:ext cx="8054975" cy="4860925"/>
          </a:xfrm>
          <a:ln/>
        </p:spPr>
        <p:txBody>
          <a:bodyPr vert="horz" wrap="square" lIns="91440" tIns="45720" rIns="91440" bIns="45720" anchor="t" anchorCtr="0"/>
          <a:lstStyle/>
          <a:p>
            <a:pPr>
              <a:lnSpc>
                <a:spcPct val="90000"/>
              </a:lnSpc>
            </a:pPr>
            <a:r>
              <a:rPr lang="en-US" altLang="zh-CN" sz="2000" dirty="0">
                <a:ea typeface="宋体" panose="02010600030101010101" pitchFamily="2" charset="-122"/>
              </a:rPr>
              <a:t>A </a:t>
            </a:r>
            <a:r>
              <a:rPr lang="en-US" altLang="zh-CN" sz="2000" dirty="0">
                <a:solidFill>
                  <a:srgbClr val="FF3300"/>
                </a:solidFill>
                <a:ea typeface="宋体" panose="02010600030101010101" pitchFamily="2" charset="-122"/>
              </a:rPr>
              <a:t>high-level</a:t>
            </a:r>
            <a:r>
              <a:rPr lang="en-US" altLang="zh-CN" sz="2000" dirty="0">
                <a:ea typeface="宋体" panose="02010600030101010101" pitchFamily="2" charset="-122"/>
              </a:rPr>
              <a:t> abstraction that provides a convenient and effective mechanism for process synchronization</a:t>
            </a:r>
          </a:p>
          <a:p>
            <a:pPr>
              <a:lnSpc>
                <a:spcPct val="90000"/>
              </a:lnSpc>
            </a:pPr>
            <a:r>
              <a:rPr lang="en-US" altLang="zh-CN" sz="2000" dirty="0">
                <a:ea typeface="宋体" panose="02010600030101010101" pitchFamily="2" charset="-122"/>
              </a:rPr>
              <a:t>Only one process may be active within the monitor at a time</a:t>
            </a:r>
            <a:endParaRPr lang="en-US" altLang="zh-CN" sz="2000" dirty="0">
              <a:solidFill>
                <a:srgbClr val="0000FF"/>
              </a:solidFill>
              <a:ea typeface="宋体" panose="02010600030101010101" pitchFamily="2" charset="-122"/>
            </a:endParaRPr>
          </a:p>
          <a:p>
            <a:pPr lvl="2">
              <a:lnSpc>
                <a:spcPct val="90000"/>
              </a:lnSpc>
              <a:buNone/>
            </a:pPr>
            <a:r>
              <a:rPr lang="en-US" altLang="zh-CN" sz="2000" dirty="0">
                <a:solidFill>
                  <a:srgbClr val="0000FF"/>
                </a:solidFill>
                <a:ea typeface="宋体" panose="02010600030101010101" pitchFamily="2" charset="-122"/>
              </a:rPr>
              <a:t>monitor monitor-name</a:t>
            </a:r>
          </a:p>
          <a:p>
            <a:pPr lvl="2">
              <a:lnSpc>
                <a:spcPct val="90000"/>
              </a:lnSpc>
              <a:buNone/>
            </a:pPr>
            <a:r>
              <a:rPr lang="en-US" altLang="zh-CN" sz="2000" dirty="0">
                <a:solidFill>
                  <a:srgbClr val="0000FF"/>
                </a:solidFill>
                <a:ea typeface="宋体" panose="02010600030101010101" pitchFamily="2" charset="-122"/>
              </a:rPr>
              <a:t>{</a:t>
            </a:r>
          </a:p>
          <a:p>
            <a:pPr lvl="2">
              <a:lnSpc>
                <a:spcPct val="90000"/>
              </a:lnSpc>
              <a:buNone/>
            </a:pPr>
            <a:r>
              <a:rPr lang="en-US" altLang="zh-CN" sz="2000" dirty="0">
                <a:solidFill>
                  <a:srgbClr val="0000FF"/>
                </a:solidFill>
                <a:ea typeface="宋体" panose="02010600030101010101" pitchFamily="2" charset="-122"/>
              </a:rPr>
              <a:t>	// shared variable declarations</a:t>
            </a:r>
          </a:p>
          <a:p>
            <a:pPr lvl="2">
              <a:lnSpc>
                <a:spcPct val="90000"/>
              </a:lnSpc>
              <a:buNone/>
            </a:pPr>
            <a:r>
              <a:rPr lang="en-US" altLang="zh-CN" sz="2000" dirty="0">
                <a:solidFill>
                  <a:srgbClr val="0000FF"/>
                </a:solidFill>
                <a:ea typeface="宋体" panose="02010600030101010101" pitchFamily="2" charset="-122"/>
              </a:rPr>
              <a:t>	procedure P1 (…) { …. }</a:t>
            </a:r>
          </a:p>
          <a:p>
            <a:pPr lvl="2">
              <a:lnSpc>
                <a:spcPct val="90000"/>
              </a:lnSpc>
              <a:buNone/>
            </a:pPr>
            <a:r>
              <a:rPr lang="en-US" altLang="zh-CN" sz="2000" dirty="0">
                <a:solidFill>
                  <a:srgbClr val="0000FF"/>
                </a:solidFill>
                <a:ea typeface="宋体" panose="02010600030101010101" pitchFamily="2" charset="-122"/>
              </a:rPr>
              <a:t>		…</a:t>
            </a:r>
          </a:p>
          <a:p>
            <a:pPr lvl="2">
              <a:lnSpc>
                <a:spcPct val="90000"/>
              </a:lnSpc>
              <a:buNone/>
            </a:pPr>
            <a:endParaRPr lang="en-US" altLang="zh-CN" sz="2000" dirty="0">
              <a:solidFill>
                <a:srgbClr val="0000FF"/>
              </a:solidFill>
              <a:ea typeface="宋体" panose="02010600030101010101" pitchFamily="2" charset="-122"/>
            </a:endParaRPr>
          </a:p>
          <a:p>
            <a:pPr lvl="2">
              <a:lnSpc>
                <a:spcPct val="90000"/>
              </a:lnSpc>
              <a:buNone/>
            </a:pPr>
            <a:r>
              <a:rPr lang="en-US" altLang="zh-CN" sz="2000" dirty="0">
                <a:solidFill>
                  <a:srgbClr val="0000FF"/>
                </a:solidFill>
                <a:ea typeface="宋体" panose="02010600030101010101" pitchFamily="2" charset="-122"/>
              </a:rPr>
              <a:t>	procedure Pn (…) {……}</a:t>
            </a:r>
          </a:p>
          <a:p>
            <a:pPr lvl="2">
              <a:lnSpc>
                <a:spcPct val="90000"/>
              </a:lnSpc>
              <a:buNone/>
            </a:pPr>
            <a:endParaRPr lang="en-US" altLang="zh-CN" sz="2000" dirty="0">
              <a:solidFill>
                <a:srgbClr val="0000FF"/>
              </a:solidFill>
              <a:ea typeface="宋体" panose="02010600030101010101" pitchFamily="2" charset="-122"/>
            </a:endParaRPr>
          </a:p>
          <a:p>
            <a:pPr lvl="2">
              <a:lnSpc>
                <a:spcPct val="90000"/>
              </a:lnSpc>
              <a:buNone/>
            </a:pPr>
            <a:r>
              <a:rPr lang="en-US" altLang="zh-CN" sz="2000" dirty="0">
                <a:solidFill>
                  <a:srgbClr val="0000FF"/>
                </a:solidFill>
                <a:ea typeface="宋体" panose="02010600030101010101" pitchFamily="2" charset="-122"/>
              </a:rPr>
              <a:t>   Initialization code ( ….) { … }</a:t>
            </a:r>
          </a:p>
          <a:p>
            <a:pPr lvl="2">
              <a:lnSpc>
                <a:spcPct val="90000"/>
              </a:lnSpc>
              <a:buNone/>
            </a:pPr>
            <a:r>
              <a:rPr lang="en-US" altLang="zh-CN" sz="2000" dirty="0">
                <a:solidFill>
                  <a:srgbClr val="0000FF"/>
                </a:solidFill>
                <a:ea typeface="宋体" panose="02010600030101010101" pitchFamily="2" charset="-122"/>
              </a:rPr>
              <a:t>		…</a:t>
            </a:r>
          </a:p>
          <a:p>
            <a:pPr lvl="2">
              <a:lnSpc>
                <a:spcPct val="90000"/>
              </a:lnSpc>
              <a:buNone/>
            </a:pPr>
            <a:r>
              <a:rPr lang="en-US" altLang="zh-CN" sz="2000" dirty="0">
                <a:solidFill>
                  <a:srgbClr val="0000FF"/>
                </a:solidFill>
                <a:ea typeface="宋体" panose="02010600030101010101" pitchFamily="2" charset="-122"/>
              </a:rPr>
              <a:t>	}</a:t>
            </a:r>
          </a:p>
          <a:p>
            <a:pPr lvl="2">
              <a:lnSpc>
                <a:spcPct val="90000"/>
              </a:lnSpc>
              <a:buNone/>
            </a:pPr>
            <a:r>
              <a:rPr lang="en-US" altLang="zh-CN" sz="2000" dirty="0">
                <a:solidFill>
                  <a:srgbClr val="0000FF"/>
                </a:solidFill>
                <a:ea typeface="宋体" panose="02010600030101010101" pitchFamily="2" charset="-122"/>
              </a:rPr>
              <a:t>}</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2"/>
          <p:cNvSpPr>
            <a:spLocks noGrp="1"/>
          </p:cNvSpPr>
          <p:nvPr>
            <p:ph type="title"/>
          </p:nvPr>
        </p:nvSpPr>
        <p:spPr>
          <a:ln/>
        </p:spPr>
        <p:txBody>
          <a:bodyPr vert="horz" wrap="square" lIns="91440" tIns="45720" rIns="91440" bIns="45720" anchor="b" anchorCtr="0"/>
          <a:lstStyle/>
          <a:p>
            <a:r>
              <a:rPr lang="en-US" altLang="zh-CN" dirty="0">
                <a:ea typeface="宋体" panose="02010600030101010101" pitchFamily="2" charset="-122"/>
              </a:rPr>
              <a:t>Monitors</a:t>
            </a:r>
          </a:p>
        </p:txBody>
      </p:sp>
      <p:sp>
        <p:nvSpPr>
          <p:cNvPr id="150530" name="Rectangle 3"/>
          <p:cNvSpPr>
            <a:spLocks noGrp="1"/>
          </p:cNvSpPr>
          <p:nvPr>
            <p:ph idx="1"/>
          </p:nvPr>
        </p:nvSpPr>
        <p:spPr>
          <a:xfrm>
            <a:off x="293688" y="1114425"/>
            <a:ext cx="8650287" cy="5214938"/>
          </a:xfrm>
          <a:ln/>
        </p:spPr>
        <p:txBody>
          <a:bodyPr vert="horz" wrap="square" lIns="91440" tIns="45720" rIns="91440" bIns="45720" anchor="t" anchorCtr="0"/>
          <a:lstStyle/>
          <a:p>
            <a:r>
              <a:rPr lang="zh-CN" altLang="en-US" sz="2400" dirty="0">
                <a:ea typeface="宋体" panose="02010600030101010101" pitchFamily="2" charset="-122"/>
              </a:rPr>
              <a:t>管程定义：一个管程定义了一个</a:t>
            </a:r>
            <a:r>
              <a:rPr lang="zh-CN" altLang="en-US" sz="2400" dirty="0">
                <a:solidFill>
                  <a:srgbClr val="FF0000"/>
                </a:solidFill>
                <a:ea typeface="宋体" panose="02010600030101010101" pitchFamily="2" charset="-122"/>
              </a:rPr>
              <a:t>数据结构</a:t>
            </a:r>
            <a:r>
              <a:rPr lang="zh-CN" altLang="en-US" sz="2400" dirty="0">
                <a:ea typeface="宋体" panose="02010600030101010101" pitchFamily="2" charset="-122"/>
              </a:rPr>
              <a:t>和能为并发进程调用的在该数据结构上的一组操作过程，这组互斥操作的过程，能同步进程和改变管程中的数据。 </a:t>
            </a:r>
          </a:p>
          <a:p>
            <a:r>
              <a:rPr lang="en-US" altLang="zh-CN" sz="2400" dirty="0">
                <a:ea typeface="宋体" panose="02010600030101010101" pitchFamily="2" charset="-122"/>
              </a:rPr>
              <a:t>Access to it is guaranteed to be exclusive.</a:t>
            </a:r>
            <a:r>
              <a:rPr lang="zh-CN" altLang="en-US" sz="2400" dirty="0">
                <a:ea typeface="宋体" panose="02010600030101010101" pitchFamily="2" charset="-122"/>
              </a:rPr>
              <a:t>（对它的访问保证是独占的）</a:t>
            </a:r>
            <a:endParaRPr lang="en-US" altLang="zh-CN" sz="2400" dirty="0">
              <a:ea typeface="宋体" panose="02010600030101010101" pitchFamily="2" charset="-122"/>
            </a:endParaRPr>
          </a:p>
          <a:p>
            <a:r>
              <a:rPr lang="en-US" altLang="zh-CN" sz="2400" dirty="0">
                <a:ea typeface="宋体" panose="02010600030101010101" pitchFamily="2" charset="-122"/>
              </a:rPr>
              <a:t>Monitors use separate mechanisms for the two types of synchronization</a:t>
            </a:r>
          </a:p>
          <a:p>
            <a:pPr lvl="1"/>
            <a:r>
              <a:rPr lang="en-US" altLang="zh-CN" sz="2000" dirty="0">
                <a:ea typeface="宋体" panose="02010600030101010101" pitchFamily="2" charset="-122"/>
              </a:rPr>
              <a:t>use locks for mutual exclusion</a:t>
            </a:r>
            <a:r>
              <a:rPr lang="zh-CN" altLang="en-US" sz="2000" dirty="0">
                <a:ea typeface="宋体" panose="02010600030101010101" pitchFamily="2" charset="-122"/>
              </a:rPr>
              <a:t>（使用锁实现互斥）</a:t>
            </a:r>
            <a:endParaRPr lang="en-US" altLang="zh-CN" sz="2000" dirty="0">
              <a:ea typeface="宋体" panose="02010600030101010101" pitchFamily="2" charset="-122"/>
            </a:endParaRPr>
          </a:p>
          <a:p>
            <a:pPr lvl="1"/>
            <a:r>
              <a:rPr lang="en-US" altLang="zh-CN" sz="2000" dirty="0">
                <a:ea typeface="宋体" panose="02010600030101010101" pitchFamily="2" charset="-122"/>
              </a:rPr>
              <a:t>use condition variables for ordering constraints</a:t>
            </a:r>
            <a:r>
              <a:rPr lang="zh-CN" altLang="en-US" sz="2000" dirty="0">
                <a:ea typeface="宋体" panose="02010600030101010101" pitchFamily="2" charset="-122"/>
              </a:rPr>
              <a:t>（使用条件变量实现顺序执行）</a:t>
            </a:r>
            <a:endParaRPr lang="en-US" altLang="zh-CN" sz="2000" dirty="0">
              <a:ea typeface="宋体" panose="02010600030101010101" pitchFamily="2" charset="-122"/>
            </a:endParaRPr>
          </a:p>
          <a:p>
            <a:r>
              <a:rPr lang="en-US" altLang="zh-CN" sz="2400" b="1" dirty="0">
                <a:solidFill>
                  <a:srgbClr val="FF0000"/>
                </a:solidFill>
                <a:ea typeface="宋体" panose="02010600030101010101" pitchFamily="2" charset="-122"/>
              </a:rPr>
              <a:t>monitor = a lock + the condition variables associated with that lock</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2"/>
          <p:cNvSpPr>
            <a:spLocks noGrp="1"/>
          </p:cNvSpPr>
          <p:nvPr>
            <p:ph type="title"/>
          </p:nvPr>
        </p:nvSpPr>
        <p:spPr>
          <a:ln/>
        </p:spPr>
        <p:txBody>
          <a:bodyPr vert="horz" wrap="square" lIns="91440" tIns="45720" rIns="91440" bIns="45720" anchor="b" anchorCtr="0"/>
          <a:lstStyle/>
          <a:p>
            <a:r>
              <a:rPr lang="en-US" altLang="zh-CN" dirty="0">
                <a:ea typeface="宋体" panose="02010600030101010101" pitchFamily="2" charset="-122"/>
              </a:rPr>
              <a:t>Schematic view of a Monitor</a:t>
            </a:r>
          </a:p>
        </p:txBody>
      </p:sp>
      <p:pic>
        <p:nvPicPr>
          <p:cNvPr id="152578" name="Picture 2"/>
          <p:cNvPicPr>
            <a:picLocks noChangeAspect="1"/>
          </p:cNvPicPr>
          <p:nvPr/>
        </p:nvPicPr>
        <p:blipFill>
          <a:blip r:embed="rId3"/>
          <a:stretch>
            <a:fillRect/>
          </a:stretch>
        </p:blipFill>
        <p:spPr>
          <a:xfrm>
            <a:off x="2557463" y="1428750"/>
            <a:ext cx="4800600" cy="4772025"/>
          </a:xfrm>
          <a:prstGeom prst="rect">
            <a:avLst/>
          </a:prstGeom>
          <a:noFill/>
          <a:ln w="9525">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4"/>
          <p:cNvSpPr>
            <a:spLocks noGrp="1"/>
          </p:cNvSpPr>
          <p:nvPr>
            <p:ph type="title"/>
          </p:nvPr>
        </p:nvSpPr>
        <p:spPr>
          <a:ln/>
        </p:spPr>
        <p:txBody>
          <a:bodyPr vert="horz" wrap="square" lIns="91440" tIns="45720" rIns="91440" bIns="45720" anchor="b" anchorCtr="0"/>
          <a:lstStyle/>
          <a:p>
            <a:r>
              <a:rPr lang="en-US" altLang="zh-CN" dirty="0">
                <a:ea typeface="宋体" panose="02010600030101010101" pitchFamily="2" charset="-122"/>
              </a:rPr>
              <a:t>Condition Variables</a:t>
            </a:r>
          </a:p>
        </p:txBody>
      </p:sp>
      <p:sp>
        <p:nvSpPr>
          <p:cNvPr id="154626" name="Rectangle 5"/>
          <p:cNvSpPr>
            <a:spLocks noGrp="1"/>
          </p:cNvSpPr>
          <p:nvPr>
            <p:ph idx="1"/>
          </p:nvPr>
        </p:nvSpPr>
        <p:spPr>
          <a:xfrm>
            <a:off x="827088" y="1057275"/>
            <a:ext cx="7816850" cy="5272088"/>
          </a:xfrm>
          <a:ln/>
        </p:spPr>
        <p:txBody>
          <a:bodyPr vert="horz" wrap="square" lIns="91440" tIns="45720" rIns="91440" bIns="45720" anchor="t" anchorCtr="0"/>
          <a:lstStyle/>
          <a:p>
            <a:r>
              <a:rPr lang="en-US" altLang="zh-CN" sz="2800" dirty="0">
                <a:ea typeface="宋体" panose="02010600030101010101" pitchFamily="2" charset="-122"/>
              </a:rPr>
              <a:t>Main idea: </a:t>
            </a:r>
          </a:p>
          <a:p>
            <a:pPr lvl="1"/>
            <a:r>
              <a:rPr lang="en-US" altLang="zh-CN" dirty="0">
                <a:ea typeface="宋体" panose="02010600030101010101" pitchFamily="2" charset="-122"/>
              </a:rPr>
              <a:t>make it possible for thread to sleep inside a critical section</a:t>
            </a:r>
          </a:p>
          <a:p>
            <a:r>
              <a:rPr lang="en-US" altLang="zh-CN" sz="2800" dirty="0">
                <a:ea typeface="宋体" panose="02010600030101010101" pitchFamily="2" charset="-122"/>
              </a:rPr>
              <a:t>Approach:</a:t>
            </a:r>
          </a:p>
          <a:p>
            <a:pPr lvl="1"/>
            <a:r>
              <a:rPr lang="en-US" altLang="zh-CN" dirty="0">
                <a:ea typeface="宋体" panose="02010600030101010101" pitchFamily="2" charset="-122"/>
              </a:rPr>
              <a:t>by atomically </a:t>
            </a:r>
            <a:r>
              <a:rPr lang="en-US" altLang="zh-CN" dirty="0">
                <a:solidFill>
                  <a:srgbClr val="FF0000"/>
                </a:solidFill>
                <a:ea typeface="宋体" panose="02010600030101010101" pitchFamily="2" charset="-122"/>
              </a:rPr>
              <a:t>releasing lock</a:t>
            </a:r>
            <a:r>
              <a:rPr lang="en-US" altLang="zh-CN" dirty="0">
                <a:ea typeface="宋体" panose="02010600030101010101" pitchFamily="2" charset="-122"/>
              </a:rPr>
              <a:t>, putting thread on wait queue and go to sleep</a:t>
            </a:r>
          </a:p>
          <a:p>
            <a:r>
              <a:rPr lang="en-US" altLang="zh-CN" sz="2800" dirty="0">
                <a:ea typeface="宋体" panose="02010600030101010101" pitchFamily="2" charset="-122"/>
              </a:rPr>
              <a:t>Each variable has a queue of waiting threads</a:t>
            </a:r>
          </a:p>
          <a:p>
            <a:pPr lvl="1"/>
            <a:r>
              <a:rPr lang="en-US" altLang="zh-CN" dirty="0">
                <a:ea typeface="宋体" panose="02010600030101010101" pitchFamily="2" charset="-122"/>
              </a:rPr>
              <a:t>threads that are sleeping, waiting for a condition</a:t>
            </a:r>
          </a:p>
          <a:p>
            <a:endParaRPr lang="en-US" altLang="zh-CN" sz="2800" dirty="0">
              <a:solidFill>
                <a:srgbClr val="0000FF"/>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462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4626">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462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462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4"/>
          <p:cNvSpPr>
            <a:spLocks noGrp="1"/>
          </p:cNvSpPr>
          <p:nvPr>
            <p:ph type="title"/>
          </p:nvPr>
        </p:nvSpPr>
        <p:spPr>
          <a:ln/>
        </p:spPr>
        <p:txBody>
          <a:bodyPr vert="horz" wrap="square" lIns="91440" tIns="45720" rIns="91440" bIns="45720" anchor="b" anchorCtr="0"/>
          <a:lstStyle/>
          <a:p>
            <a:r>
              <a:rPr lang="en-US" altLang="zh-CN" dirty="0">
                <a:ea typeface="宋体" panose="02010600030101010101" pitchFamily="2" charset="-122"/>
              </a:rPr>
              <a:t>Condition Variables</a:t>
            </a:r>
          </a:p>
        </p:txBody>
      </p:sp>
      <p:sp>
        <p:nvSpPr>
          <p:cNvPr id="156674" name="Rectangle 5"/>
          <p:cNvSpPr>
            <a:spLocks noGrp="1"/>
          </p:cNvSpPr>
          <p:nvPr>
            <p:ph idx="1"/>
          </p:nvPr>
        </p:nvSpPr>
        <p:spPr>
          <a:xfrm>
            <a:off x="827088" y="1057275"/>
            <a:ext cx="7816850" cy="5272088"/>
          </a:xfrm>
          <a:ln/>
        </p:spPr>
        <p:txBody>
          <a:bodyPr vert="horz" wrap="square" lIns="91440" tIns="45720" rIns="91440" bIns="45720" anchor="t" anchorCtr="0"/>
          <a:lstStyle/>
          <a:p>
            <a:r>
              <a:rPr lang="en-US" altLang="zh-CN" sz="2400" dirty="0">
                <a:solidFill>
                  <a:srgbClr val="0000FF"/>
                </a:solidFill>
                <a:ea typeface="宋体" panose="02010600030101010101" pitchFamily="2" charset="-122"/>
              </a:rPr>
              <a:t>condition x, y;</a:t>
            </a:r>
          </a:p>
          <a:p>
            <a:endParaRPr lang="en-US" altLang="zh-CN" sz="2400" dirty="0">
              <a:solidFill>
                <a:srgbClr val="0000FF"/>
              </a:solidFill>
              <a:ea typeface="宋体" panose="02010600030101010101" pitchFamily="2" charset="-122"/>
            </a:endParaRPr>
          </a:p>
          <a:p>
            <a:r>
              <a:rPr lang="en-US" altLang="zh-CN" sz="2400" dirty="0">
                <a:ea typeface="宋体" panose="02010600030101010101" pitchFamily="2" charset="-122"/>
              </a:rPr>
              <a:t>Two operations on a condition variable:</a:t>
            </a:r>
          </a:p>
          <a:p>
            <a:pPr lvl="1"/>
            <a:r>
              <a:rPr lang="en-US" altLang="zh-CN" sz="2400" dirty="0">
                <a:solidFill>
                  <a:srgbClr val="0000FF"/>
                </a:solidFill>
                <a:ea typeface="宋体" panose="02010600030101010101" pitchFamily="2" charset="-122"/>
              </a:rPr>
              <a:t>x.wait () </a:t>
            </a:r>
            <a:r>
              <a:rPr lang="en-US" altLang="zh-CN" sz="2400" dirty="0">
                <a:ea typeface="宋体" panose="02010600030101010101" pitchFamily="2" charset="-122"/>
              </a:rPr>
              <a:t> – a process that invokes the operation is </a:t>
            </a:r>
          </a:p>
          <a:p>
            <a:pPr lvl="1">
              <a:buNone/>
            </a:pPr>
            <a:r>
              <a:rPr lang="en-US" altLang="zh-CN" sz="2400" dirty="0">
                <a:ea typeface="宋体" panose="02010600030101010101" pitchFamily="2" charset="-122"/>
              </a:rPr>
              <a:t>                      suspended.</a:t>
            </a:r>
          </a:p>
          <a:p>
            <a:pPr lvl="1"/>
            <a:r>
              <a:rPr lang="en-US" altLang="zh-CN" sz="2400" dirty="0">
                <a:solidFill>
                  <a:srgbClr val="0000FF"/>
                </a:solidFill>
                <a:ea typeface="宋体" panose="02010600030101010101" pitchFamily="2" charset="-122"/>
              </a:rPr>
              <a:t>x.signal () </a:t>
            </a:r>
            <a:r>
              <a:rPr lang="en-US" altLang="zh-CN" sz="2400" dirty="0">
                <a:ea typeface="宋体" panose="02010600030101010101" pitchFamily="2" charset="-122"/>
              </a:rPr>
              <a:t>–</a:t>
            </a:r>
            <a:r>
              <a:rPr lang="en-US" altLang="zh-CN" sz="2400" dirty="0">
                <a:solidFill>
                  <a:srgbClr val="0000FF"/>
                </a:solidFill>
                <a:ea typeface="宋体" panose="02010600030101010101" pitchFamily="2" charset="-122"/>
              </a:rPr>
              <a:t> </a:t>
            </a:r>
            <a:r>
              <a:rPr lang="en-US" altLang="zh-CN" sz="2400" dirty="0">
                <a:ea typeface="宋体" panose="02010600030101010101" pitchFamily="2" charset="-122"/>
              </a:rPr>
              <a:t>resumes one of processes</a:t>
            </a:r>
            <a:r>
              <a:rPr lang="en-US" altLang="zh-CN" sz="2400" dirty="0">
                <a:solidFill>
                  <a:srgbClr val="0000FF"/>
                </a:solidFill>
                <a:ea typeface="宋体" panose="02010600030101010101" pitchFamily="2" charset="-122"/>
              </a:rPr>
              <a:t> </a:t>
            </a:r>
            <a:r>
              <a:rPr lang="en-US" altLang="zh-CN" sz="2400" dirty="0">
                <a:ea typeface="宋体" panose="02010600030101010101" pitchFamily="2" charset="-122"/>
              </a:rPr>
              <a:t>(if any)</a:t>
            </a:r>
            <a:r>
              <a:rPr lang="en-US" altLang="zh-CN" sz="2400" dirty="0">
                <a:solidFill>
                  <a:srgbClr val="0000FF"/>
                </a:solidFill>
                <a:ea typeface="宋体" panose="02010600030101010101" pitchFamily="2" charset="-122"/>
              </a:rPr>
              <a:t> </a:t>
            </a:r>
            <a:r>
              <a:rPr lang="en-US" altLang="zh-CN" sz="2400" dirty="0">
                <a:ea typeface="宋体" panose="02010600030101010101" pitchFamily="2" charset="-122"/>
              </a:rPr>
              <a:t>that</a:t>
            </a:r>
          </a:p>
          <a:p>
            <a:pPr lvl="1">
              <a:buNone/>
            </a:pPr>
            <a:r>
              <a:rPr lang="en-US" altLang="zh-CN" sz="2400" dirty="0">
                <a:solidFill>
                  <a:srgbClr val="0000FF"/>
                </a:solidFill>
                <a:ea typeface="宋体" panose="02010600030101010101" pitchFamily="2" charset="-122"/>
              </a:rPr>
              <a:t>                        </a:t>
            </a:r>
            <a:r>
              <a:rPr lang="en-US" altLang="zh-CN" sz="2400" dirty="0">
                <a:ea typeface="宋体" panose="02010600030101010101" pitchFamily="2" charset="-122"/>
              </a:rPr>
              <a:t> invoked</a:t>
            </a:r>
            <a:r>
              <a:rPr lang="en-US" altLang="zh-CN" sz="2400" dirty="0">
                <a:solidFill>
                  <a:srgbClr val="0000FF"/>
                </a:solidFill>
                <a:ea typeface="宋体" panose="02010600030101010101" pitchFamily="2" charset="-122"/>
              </a:rPr>
              <a:t> x.wait ()</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2"/>
          <p:cNvSpPr>
            <a:spLocks noGrp="1"/>
          </p:cNvSpPr>
          <p:nvPr>
            <p:ph type="title"/>
          </p:nvPr>
        </p:nvSpPr>
        <p:spPr>
          <a:ln/>
        </p:spPr>
        <p:txBody>
          <a:bodyPr vert="horz" wrap="square" lIns="91440" tIns="45720" rIns="91440" bIns="45720" anchor="b" anchorCtr="0"/>
          <a:lstStyle/>
          <a:p>
            <a:r>
              <a:rPr lang="en-US" altLang="zh-CN" dirty="0">
                <a:ea typeface="宋体" panose="02010600030101010101" pitchFamily="2" charset="-122"/>
              </a:rPr>
              <a:t> Monitor with Condition Variables</a:t>
            </a:r>
          </a:p>
        </p:txBody>
      </p:sp>
      <p:pic>
        <p:nvPicPr>
          <p:cNvPr id="158722" name="Picture 2"/>
          <p:cNvPicPr>
            <a:picLocks noChangeAspect="1"/>
          </p:cNvPicPr>
          <p:nvPr/>
        </p:nvPicPr>
        <p:blipFill>
          <a:blip r:embed="rId3"/>
          <a:stretch>
            <a:fillRect/>
          </a:stretch>
        </p:blipFill>
        <p:spPr>
          <a:xfrm>
            <a:off x="1514475" y="1214438"/>
            <a:ext cx="6629400" cy="5114925"/>
          </a:xfrm>
          <a:prstGeom prst="rect">
            <a:avLst/>
          </a:prstGeom>
          <a:noFill/>
          <a:ln w="9525">
            <a:noFill/>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2"/>
          <p:cNvSpPr>
            <a:spLocks noGrp="1"/>
          </p:cNvSpPr>
          <p:nvPr>
            <p:ph type="title" idx="4294967295"/>
          </p:nvPr>
        </p:nvSpPr>
        <p:spPr>
          <a:ln/>
        </p:spPr>
        <p:txBody>
          <a:bodyPr vert="horz" wrap="square" lIns="91440" tIns="45720" rIns="91440" bIns="45720" anchor="b" anchorCtr="0"/>
          <a:lstStyle/>
          <a:p>
            <a:pPr eaLnBrk="1" hangingPunct="1"/>
            <a:r>
              <a:rPr lang="en-US" altLang="zh-CN" sz="2800" dirty="0">
                <a:ea typeface="宋体" panose="02010600030101010101" pitchFamily="2" charset="-122"/>
              </a:rPr>
              <a:t>Producer Consumer using Monitors</a:t>
            </a:r>
          </a:p>
        </p:txBody>
      </p:sp>
      <p:sp>
        <p:nvSpPr>
          <p:cNvPr id="160770" name="Text Box 4"/>
          <p:cNvSpPr txBox="1"/>
          <p:nvPr/>
        </p:nvSpPr>
        <p:spPr>
          <a:xfrm>
            <a:off x="379413" y="1074738"/>
            <a:ext cx="8294687" cy="5632450"/>
          </a:xfrm>
          <a:prstGeom prst="rect">
            <a:avLst/>
          </a:prstGeom>
          <a:noFill/>
          <a:ln w="12700">
            <a:noFill/>
          </a:ln>
        </p:spPr>
        <p:txBody>
          <a:bodyPr anchor="t" anchorCtr="0">
            <a:spAutoFit/>
          </a:bodyPr>
          <a:lstStyle/>
          <a:p>
            <a:pPr eaLnBrk="0" hangingPunct="0"/>
            <a:r>
              <a:rPr lang="en-US" altLang="zh-CN" sz="1800" dirty="0">
                <a:solidFill>
                  <a:srgbClr val="009900"/>
                </a:solidFill>
                <a:latin typeface="Comic Sans MS" panose="030F0702030302020204" pitchFamily="66" charset="0"/>
              </a:rPr>
              <a:t>Monitor</a:t>
            </a:r>
            <a:r>
              <a:rPr lang="en-US" altLang="zh-CN" sz="1800" b="1" dirty="0">
                <a:solidFill>
                  <a:srgbClr val="009900"/>
                </a:solidFill>
                <a:latin typeface="Comic Sans MS" panose="030F0702030302020204" pitchFamily="66" charset="0"/>
              </a:rPr>
              <a:t> Producer_Consumer</a:t>
            </a:r>
            <a:r>
              <a:rPr lang="en-US" altLang="zh-CN" sz="1800" dirty="0">
                <a:solidFill>
                  <a:srgbClr val="009900"/>
                </a:solidFill>
                <a:latin typeface="Comic Sans MS" panose="030F0702030302020204" pitchFamily="66" charset="0"/>
              </a:rPr>
              <a:t> {</a:t>
            </a:r>
          </a:p>
          <a:p>
            <a:pPr eaLnBrk="0" hangingPunct="0"/>
            <a:r>
              <a:rPr lang="en-US" altLang="zh-CN" sz="1800" dirty="0">
                <a:solidFill>
                  <a:srgbClr val="009900"/>
                </a:solidFill>
                <a:latin typeface="Comic Sans MS" panose="030F0702030302020204" pitchFamily="66" charset="0"/>
              </a:rPr>
              <a:t>       any_t buf[N];</a:t>
            </a:r>
          </a:p>
          <a:p>
            <a:pPr eaLnBrk="0" hangingPunct="0"/>
            <a:r>
              <a:rPr lang="en-US" altLang="zh-CN" sz="1800" dirty="0">
                <a:solidFill>
                  <a:srgbClr val="009900"/>
                </a:solidFill>
                <a:latin typeface="Comic Sans MS" panose="030F0702030302020204" pitchFamily="66" charset="0"/>
              </a:rPr>
              <a:t>       int n = 0, tail = 0, head = 0;</a:t>
            </a:r>
          </a:p>
          <a:p>
            <a:pPr eaLnBrk="0" hangingPunct="0"/>
            <a:r>
              <a:rPr lang="en-US" altLang="zh-CN" sz="1800" dirty="0">
                <a:solidFill>
                  <a:srgbClr val="FF0000"/>
                </a:solidFill>
                <a:latin typeface="Comic Sans MS" panose="030F0702030302020204" pitchFamily="66" charset="0"/>
              </a:rPr>
              <a:t>       condition full, empty;</a:t>
            </a:r>
          </a:p>
          <a:p>
            <a:pPr eaLnBrk="0" hangingPunct="0"/>
            <a:r>
              <a:rPr lang="en-US" altLang="zh-CN" sz="1800" dirty="0">
                <a:solidFill>
                  <a:srgbClr val="009900"/>
                </a:solidFill>
                <a:latin typeface="Comic Sans MS" panose="030F0702030302020204" pitchFamily="66" charset="0"/>
              </a:rPr>
              <a:t>       void put(char ch) {</a:t>
            </a:r>
          </a:p>
          <a:p>
            <a:pPr eaLnBrk="0" hangingPunct="0"/>
            <a:r>
              <a:rPr lang="en-US" altLang="zh-CN" sz="1800" dirty="0">
                <a:solidFill>
                  <a:srgbClr val="009900"/>
                </a:solidFill>
                <a:latin typeface="Comic Sans MS" panose="030F0702030302020204" pitchFamily="66" charset="0"/>
              </a:rPr>
              <a:t>	if(n == N)  </a:t>
            </a:r>
            <a:r>
              <a:rPr lang="en-US" altLang="zh-CN" sz="1800" dirty="0">
                <a:solidFill>
                  <a:srgbClr val="FF0000"/>
                </a:solidFill>
                <a:latin typeface="Comic Sans MS" panose="030F0702030302020204" pitchFamily="66" charset="0"/>
              </a:rPr>
              <a:t>empty.wait();</a:t>
            </a:r>
          </a:p>
          <a:p>
            <a:pPr eaLnBrk="0" hangingPunct="0"/>
            <a:r>
              <a:rPr lang="en-US" altLang="zh-CN" sz="1800" dirty="0">
                <a:solidFill>
                  <a:srgbClr val="009900"/>
                </a:solidFill>
                <a:latin typeface="Comic Sans MS" panose="030F0702030302020204" pitchFamily="66" charset="0"/>
              </a:rPr>
              <a:t>	buf[head%N] = ch;</a:t>
            </a:r>
          </a:p>
          <a:p>
            <a:pPr eaLnBrk="0" hangingPunct="0"/>
            <a:r>
              <a:rPr lang="en-US" altLang="zh-CN" sz="1800" dirty="0">
                <a:solidFill>
                  <a:srgbClr val="009900"/>
                </a:solidFill>
                <a:latin typeface="Comic Sans MS" panose="030F0702030302020204" pitchFamily="66" charset="0"/>
              </a:rPr>
              <a:t>	head++;</a:t>
            </a:r>
          </a:p>
          <a:p>
            <a:pPr eaLnBrk="0" hangingPunct="0"/>
            <a:r>
              <a:rPr lang="en-US" altLang="zh-CN" sz="1800" dirty="0">
                <a:solidFill>
                  <a:srgbClr val="009900"/>
                </a:solidFill>
                <a:latin typeface="Comic Sans MS" panose="030F0702030302020204" pitchFamily="66" charset="0"/>
              </a:rPr>
              <a:t>	n++;</a:t>
            </a:r>
          </a:p>
          <a:p>
            <a:pPr eaLnBrk="0" hangingPunct="0"/>
            <a:r>
              <a:rPr lang="en-US" altLang="zh-CN" sz="1800" dirty="0">
                <a:solidFill>
                  <a:srgbClr val="009900"/>
                </a:solidFill>
                <a:latin typeface="Comic Sans MS" panose="030F0702030302020204" pitchFamily="66" charset="0"/>
              </a:rPr>
              <a:t>              </a:t>
            </a:r>
            <a:r>
              <a:rPr lang="en-US" altLang="zh-CN" sz="1800" dirty="0">
                <a:solidFill>
                  <a:srgbClr val="FF0000"/>
                </a:solidFill>
                <a:latin typeface="Comic Sans MS" panose="030F0702030302020204" pitchFamily="66" charset="0"/>
              </a:rPr>
              <a:t>full.signal();</a:t>
            </a:r>
          </a:p>
          <a:p>
            <a:pPr eaLnBrk="0" hangingPunct="0"/>
            <a:r>
              <a:rPr lang="en-US" altLang="zh-CN" sz="1800" dirty="0">
                <a:solidFill>
                  <a:srgbClr val="009900"/>
                </a:solidFill>
                <a:latin typeface="Comic Sans MS" panose="030F0702030302020204" pitchFamily="66" charset="0"/>
              </a:rPr>
              <a:t>       }</a:t>
            </a:r>
          </a:p>
          <a:p>
            <a:pPr eaLnBrk="0" hangingPunct="0"/>
            <a:r>
              <a:rPr lang="en-US" altLang="zh-CN" sz="1800" dirty="0">
                <a:solidFill>
                  <a:srgbClr val="009900"/>
                </a:solidFill>
                <a:latin typeface="Comic Sans MS" panose="030F0702030302020204" pitchFamily="66" charset="0"/>
              </a:rPr>
              <a:t>       char get()  {</a:t>
            </a:r>
          </a:p>
          <a:p>
            <a:pPr eaLnBrk="0" hangingPunct="0"/>
            <a:r>
              <a:rPr lang="en-US" altLang="zh-CN" sz="1800" dirty="0">
                <a:solidFill>
                  <a:srgbClr val="009900"/>
                </a:solidFill>
                <a:latin typeface="Comic Sans MS" panose="030F0702030302020204" pitchFamily="66" charset="0"/>
              </a:rPr>
              <a:t>	if(n == 0)   </a:t>
            </a:r>
            <a:r>
              <a:rPr lang="en-US" altLang="zh-CN" sz="1800" dirty="0">
                <a:solidFill>
                  <a:srgbClr val="FF0000"/>
                </a:solidFill>
                <a:latin typeface="Comic Sans MS" panose="030F0702030302020204" pitchFamily="66" charset="0"/>
              </a:rPr>
              <a:t>full.wait();</a:t>
            </a:r>
          </a:p>
          <a:p>
            <a:pPr eaLnBrk="0" hangingPunct="0"/>
            <a:r>
              <a:rPr lang="en-US" altLang="zh-CN" sz="1800" dirty="0">
                <a:solidFill>
                  <a:srgbClr val="009900"/>
                </a:solidFill>
                <a:latin typeface="Comic Sans MS" panose="030F0702030302020204" pitchFamily="66" charset="0"/>
              </a:rPr>
              <a:t>	ch = buf[tail%N];</a:t>
            </a:r>
          </a:p>
          <a:p>
            <a:pPr eaLnBrk="0" hangingPunct="0"/>
            <a:r>
              <a:rPr lang="en-US" altLang="zh-CN" sz="1800" dirty="0">
                <a:solidFill>
                  <a:srgbClr val="009900"/>
                </a:solidFill>
                <a:latin typeface="Comic Sans MS" panose="030F0702030302020204" pitchFamily="66" charset="0"/>
              </a:rPr>
              <a:t>	tail++; 	</a:t>
            </a:r>
          </a:p>
          <a:p>
            <a:pPr eaLnBrk="0" hangingPunct="0"/>
            <a:r>
              <a:rPr lang="en-US" altLang="zh-CN" sz="1800" dirty="0">
                <a:solidFill>
                  <a:srgbClr val="009900"/>
                </a:solidFill>
                <a:latin typeface="Comic Sans MS" panose="030F0702030302020204" pitchFamily="66" charset="0"/>
              </a:rPr>
              <a:t>	n--;</a:t>
            </a:r>
          </a:p>
          <a:p>
            <a:pPr eaLnBrk="0" hangingPunct="0"/>
            <a:r>
              <a:rPr lang="en-US" altLang="zh-CN" sz="1800" dirty="0">
                <a:solidFill>
                  <a:srgbClr val="009900"/>
                </a:solidFill>
                <a:latin typeface="Comic Sans MS" panose="030F0702030302020204" pitchFamily="66" charset="0"/>
              </a:rPr>
              <a:t>	</a:t>
            </a:r>
            <a:r>
              <a:rPr lang="en-US" altLang="zh-CN" sz="1800" dirty="0">
                <a:solidFill>
                  <a:srgbClr val="FF0000"/>
                </a:solidFill>
                <a:latin typeface="Comic Sans MS" panose="030F0702030302020204" pitchFamily="66" charset="0"/>
              </a:rPr>
              <a:t>empty.signal();</a:t>
            </a:r>
          </a:p>
          <a:p>
            <a:pPr eaLnBrk="0" hangingPunct="0"/>
            <a:r>
              <a:rPr lang="en-US" altLang="zh-CN" sz="1800" dirty="0">
                <a:solidFill>
                  <a:srgbClr val="009900"/>
                </a:solidFill>
                <a:latin typeface="Comic Sans MS" panose="030F0702030302020204" pitchFamily="66" charset="0"/>
              </a:rPr>
              <a:t>	return ch;</a:t>
            </a:r>
          </a:p>
          <a:p>
            <a:pPr eaLnBrk="0" hangingPunct="0"/>
            <a:r>
              <a:rPr lang="en-US" altLang="zh-CN" sz="1800" dirty="0">
                <a:solidFill>
                  <a:srgbClr val="009900"/>
                </a:solidFill>
                <a:latin typeface="Comic Sans MS" panose="030F0702030302020204" pitchFamily="66" charset="0"/>
              </a:rPr>
              <a:t>      }</a:t>
            </a:r>
          </a:p>
          <a:p>
            <a:pPr eaLnBrk="0" hangingPunct="0"/>
            <a:r>
              <a:rPr lang="en-US" altLang="zh-CN" sz="1800" dirty="0">
                <a:solidFill>
                  <a:srgbClr val="009900"/>
                </a:solidFill>
                <a:latin typeface="Comic Sans MS" panose="030F0702030302020204" pitchFamily="66" charset="0"/>
              </a:rPr>
              <a:t>}</a:t>
            </a:r>
          </a:p>
        </p:txBody>
      </p:sp>
      <p:sp>
        <p:nvSpPr>
          <p:cNvPr id="26629" name="Text Box 5"/>
          <p:cNvSpPr txBox="1"/>
          <p:nvPr/>
        </p:nvSpPr>
        <p:spPr>
          <a:xfrm>
            <a:off x="4170363" y="2173288"/>
            <a:ext cx="3767137" cy="641350"/>
          </a:xfrm>
          <a:prstGeom prst="rect">
            <a:avLst/>
          </a:prstGeom>
          <a:noFill/>
          <a:ln w="9525">
            <a:noFill/>
          </a:ln>
        </p:spPr>
        <p:txBody>
          <a:bodyPr wrap="none" anchor="t" anchorCtr="0">
            <a:spAutoFit/>
          </a:bodyPr>
          <a:lstStyle/>
          <a:p>
            <a:pPr algn="ctr" eaLnBrk="0" hangingPunct="0"/>
            <a:r>
              <a:rPr lang="en-US" altLang="zh-CN" sz="1800" b="1" dirty="0">
                <a:latin typeface="Verdana" panose="020B0604030504040204" pitchFamily="34" charset="0"/>
              </a:rPr>
              <a:t>What if no thread is waiting</a:t>
            </a:r>
          </a:p>
          <a:p>
            <a:pPr algn="ctr" eaLnBrk="0" hangingPunct="0"/>
            <a:r>
              <a:rPr lang="en-US" altLang="zh-CN" sz="1800" b="1" dirty="0">
                <a:latin typeface="Verdana" panose="020B0604030504040204" pitchFamily="34" charset="0"/>
              </a:rPr>
              <a:t>when signal is called? </a:t>
            </a:r>
          </a:p>
        </p:txBody>
      </p:sp>
      <p:sp>
        <p:nvSpPr>
          <p:cNvPr id="26630" name="Text Box 6"/>
          <p:cNvSpPr txBox="1"/>
          <p:nvPr/>
        </p:nvSpPr>
        <p:spPr>
          <a:xfrm>
            <a:off x="3962399" y="2965450"/>
            <a:ext cx="5033819" cy="2369880"/>
          </a:xfrm>
          <a:prstGeom prst="rect">
            <a:avLst/>
          </a:prstGeom>
          <a:noFill/>
          <a:ln w="9525">
            <a:noFill/>
          </a:ln>
        </p:spPr>
        <p:txBody>
          <a:bodyPr wrap="square" anchor="t" anchorCtr="0">
            <a:spAutoFit/>
          </a:bodyPr>
          <a:lstStyle/>
          <a:p>
            <a:pPr algn="ctr" eaLnBrk="0" hangingPunct="0"/>
            <a:r>
              <a:rPr lang="en-US" altLang="zh-CN" sz="1800" b="1" dirty="0">
                <a:latin typeface="Verdana" panose="020B0604030504040204" pitchFamily="34" charset="0"/>
              </a:rPr>
              <a:t>Signal is a “no-op” if nobody</a:t>
            </a:r>
            <a:br>
              <a:rPr lang="en-US" altLang="zh-CN" sz="1800" b="1" dirty="0">
                <a:latin typeface="Verdana" panose="020B0604030504040204" pitchFamily="34" charset="0"/>
              </a:rPr>
            </a:br>
            <a:r>
              <a:rPr lang="en-US" altLang="zh-CN" sz="1800" b="1" dirty="0">
                <a:latin typeface="Verdana" panose="020B0604030504040204" pitchFamily="34" charset="0"/>
              </a:rPr>
              <a:t>is waiting.  This is very different</a:t>
            </a:r>
            <a:br>
              <a:rPr lang="en-US" altLang="zh-CN" sz="1800" b="1" dirty="0">
                <a:latin typeface="Verdana" panose="020B0604030504040204" pitchFamily="34" charset="0"/>
              </a:rPr>
            </a:br>
            <a:r>
              <a:rPr lang="en-US" altLang="zh-CN" sz="1800" b="1" dirty="0">
                <a:latin typeface="Verdana" panose="020B0604030504040204" pitchFamily="34" charset="0"/>
              </a:rPr>
              <a:t>from what happens when you call</a:t>
            </a:r>
            <a:br>
              <a:rPr lang="en-US" altLang="zh-CN" sz="1800" b="1" dirty="0">
                <a:latin typeface="Verdana" panose="020B0604030504040204" pitchFamily="34" charset="0"/>
              </a:rPr>
            </a:br>
            <a:r>
              <a:rPr lang="en-US" altLang="zh-CN" sz="1800" b="1" dirty="0">
                <a:latin typeface="Verdana" panose="020B0604030504040204" pitchFamily="34" charset="0"/>
              </a:rPr>
              <a:t>signal () on a semaphore – semaphores</a:t>
            </a:r>
            <a:br>
              <a:rPr lang="en-US" altLang="zh-CN" sz="1800" b="1" dirty="0">
                <a:latin typeface="Verdana" panose="020B0604030504040204" pitchFamily="34" charset="0"/>
              </a:rPr>
            </a:br>
            <a:r>
              <a:rPr lang="en-US" altLang="zh-CN" sz="1800" b="1" dirty="0">
                <a:latin typeface="Verdana" panose="020B0604030504040204" pitchFamily="34" charset="0"/>
              </a:rPr>
              <a:t>have a “memory” of how many times</a:t>
            </a:r>
          </a:p>
          <a:p>
            <a:pPr algn="ctr" eaLnBrk="0" hangingPunct="0"/>
            <a:r>
              <a:rPr lang="en-US" altLang="zh-CN" sz="1800" b="1" dirty="0">
                <a:latin typeface="Verdana" panose="020B0604030504040204" pitchFamily="34" charset="0"/>
              </a:rPr>
              <a:t>signal() was called! </a:t>
            </a:r>
          </a:p>
          <a:p>
            <a:pPr algn="ctr" eaLnBrk="0" hangingPunct="0"/>
            <a:r>
              <a:rPr lang="zh-CN" altLang="en-US" sz="1800" b="1" dirty="0">
                <a:latin typeface="Verdana" panose="020B0604030504040204" pitchFamily="34" charset="0"/>
              </a:rPr>
              <a:t>（</a:t>
            </a:r>
            <a:r>
              <a:rPr lang="zh-CN" altLang="en-US" dirty="0"/>
              <a:t>信号量记录了有多少个需求没被满足</a:t>
            </a:r>
            <a:r>
              <a:rPr lang="zh-CN" altLang="en-US" sz="1800" b="1" dirty="0">
                <a:latin typeface="Verdana" panose="020B0604030504040204" pitchFamily="34" charset="0"/>
              </a:rPr>
              <a:t>）</a:t>
            </a:r>
            <a:endParaRPr lang="en-US" altLang="zh-CN" sz="1800" b="1" dirty="0">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6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9" grpId="0"/>
      <p:bldP spid="26630"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Rectangle 2"/>
          <p:cNvSpPr>
            <a:spLocks noGrp="1"/>
          </p:cNvSpPr>
          <p:nvPr>
            <p:ph type="title" idx="4294967295"/>
          </p:nvPr>
        </p:nvSpPr>
        <p:spPr>
          <a:ln/>
        </p:spPr>
        <p:txBody>
          <a:bodyPr vert="horz" wrap="square" lIns="91440" tIns="45720" rIns="91440" bIns="45720" anchor="b" anchorCtr="0"/>
          <a:lstStyle/>
          <a:p>
            <a:pPr eaLnBrk="1" hangingPunct="1"/>
            <a:r>
              <a:rPr lang="en-US" altLang="zh-CN" sz="2800" dirty="0">
                <a:ea typeface="宋体" panose="02010600030101010101" pitchFamily="2" charset="-122"/>
              </a:rPr>
              <a:t>Producer Consumer using Monitors</a:t>
            </a:r>
          </a:p>
        </p:txBody>
      </p:sp>
      <p:sp>
        <p:nvSpPr>
          <p:cNvPr id="162818" name="Rectangle 2"/>
          <p:cNvSpPr txBox="1"/>
          <p:nvPr/>
        </p:nvSpPr>
        <p:spPr>
          <a:xfrm>
            <a:off x="1149350" y="963613"/>
            <a:ext cx="7632700" cy="5313362"/>
          </a:xfrm>
          <a:prstGeom prst="rect">
            <a:avLst/>
          </a:prstGeom>
          <a:noFill/>
          <a:ln w="9525">
            <a:noFill/>
          </a:ln>
        </p:spPr>
        <p:txBody>
          <a:bodyPr anchor="t" anchorCtr="0"/>
          <a:lstStyle/>
          <a:p>
            <a:pPr marL="342900" indent="-342900">
              <a:spcBef>
                <a:spcPct val="35000"/>
              </a:spcBef>
              <a:buClr>
                <a:srgbClr val="993300"/>
              </a:buClr>
              <a:buSzPct val="90000"/>
            </a:pPr>
            <a:r>
              <a:rPr lang="en-US" altLang="zh-CN" dirty="0">
                <a:solidFill>
                  <a:srgbClr val="009900"/>
                </a:solidFill>
                <a:latin typeface="Comic Sans MS" panose="030F0702030302020204" pitchFamily="66" charset="0"/>
              </a:rPr>
              <a:t>producer : begin</a:t>
            </a:r>
          </a:p>
          <a:p>
            <a:pPr marL="342900" indent="-342900">
              <a:spcBef>
                <a:spcPct val="35000"/>
              </a:spcBef>
              <a:buClr>
                <a:srgbClr val="993300"/>
              </a:buClr>
              <a:buSzPct val="90000"/>
            </a:pPr>
            <a:r>
              <a:rPr lang="en-US" altLang="zh-CN" dirty="0">
                <a:solidFill>
                  <a:srgbClr val="009900"/>
                </a:solidFill>
                <a:latin typeface="Comic Sans MS" panose="030F0702030302020204" pitchFamily="66" charset="0"/>
              </a:rPr>
              <a:t>                    repeat</a:t>
            </a:r>
          </a:p>
          <a:p>
            <a:pPr marL="342900" indent="-342900">
              <a:spcBef>
                <a:spcPct val="35000"/>
              </a:spcBef>
              <a:buClr>
                <a:srgbClr val="993300"/>
              </a:buClr>
              <a:buSzPct val="90000"/>
            </a:pPr>
            <a:r>
              <a:rPr lang="en-US" altLang="zh-CN" dirty="0">
                <a:solidFill>
                  <a:srgbClr val="009900"/>
                </a:solidFill>
                <a:latin typeface="Comic Sans MS" panose="030F0702030302020204" pitchFamily="66" charset="0"/>
              </a:rPr>
              <a:t>                          produce an  item  in nextp ;</a:t>
            </a:r>
          </a:p>
          <a:p>
            <a:pPr marL="342900" indent="-342900">
              <a:spcBef>
                <a:spcPct val="35000"/>
              </a:spcBef>
              <a:buClr>
                <a:srgbClr val="993300"/>
              </a:buClr>
              <a:buSzPct val="90000"/>
            </a:pPr>
            <a:r>
              <a:rPr lang="en-US" altLang="zh-CN" dirty="0">
                <a:solidFill>
                  <a:srgbClr val="FF0000"/>
                </a:solidFill>
                <a:latin typeface="Comic Sans MS" panose="030F0702030302020204" pitchFamily="66" charset="0"/>
              </a:rPr>
              <a:t>                          Producer_Consumer.put ( item) ;</a:t>
            </a:r>
          </a:p>
          <a:p>
            <a:pPr marL="342900" indent="-342900">
              <a:spcBef>
                <a:spcPct val="35000"/>
              </a:spcBef>
              <a:buClr>
                <a:srgbClr val="993300"/>
              </a:buClr>
              <a:buSzPct val="90000"/>
            </a:pPr>
            <a:r>
              <a:rPr lang="en-US" altLang="zh-CN" dirty="0">
                <a:solidFill>
                  <a:srgbClr val="009900"/>
                </a:solidFill>
                <a:latin typeface="Comic Sans MS" panose="030F0702030302020204" pitchFamily="66" charset="0"/>
              </a:rPr>
              <a:t>                     until false   ;</a:t>
            </a:r>
          </a:p>
          <a:p>
            <a:pPr marL="342900" indent="-342900">
              <a:spcBef>
                <a:spcPct val="35000"/>
              </a:spcBef>
              <a:buClr>
                <a:srgbClr val="993300"/>
              </a:buClr>
              <a:buSzPct val="90000"/>
            </a:pPr>
            <a:r>
              <a:rPr lang="en-US" altLang="zh-CN" dirty="0">
                <a:solidFill>
                  <a:srgbClr val="009900"/>
                </a:solidFill>
                <a:latin typeface="Comic Sans MS" panose="030F0702030302020204" pitchFamily="66" charset="0"/>
              </a:rPr>
              <a:t>                end</a:t>
            </a:r>
          </a:p>
          <a:p>
            <a:pPr marL="342900" indent="-342900">
              <a:spcBef>
                <a:spcPct val="35000"/>
              </a:spcBef>
              <a:buClr>
                <a:srgbClr val="993300"/>
              </a:buClr>
              <a:buSzPct val="90000"/>
            </a:pPr>
            <a:r>
              <a:rPr lang="en-US" altLang="zh-CN" dirty="0">
                <a:solidFill>
                  <a:srgbClr val="009900"/>
                </a:solidFill>
                <a:latin typeface="Comic Sans MS" panose="030F0702030302020204" pitchFamily="66" charset="0"/>
              </a:rPr>
              <a:t>consumer : begin</a:t>
            </a:r>
          </a:p>
          <a:p>
            <a:pPr marL="342900" indent="-342900">
              <a:spcBef>
                <a:spcPct val="35000"/>
              </a:spcBef>
              <a:buClr>
                <a:srgbClr val="993300"/>
              </a:buClr>
              <a:buSzPct val="90000"/>
            </a:pPr>
            <a:r>
              <a:rPr lang="en-US" altLang="zh-CN" dirty="0">
                <a:solidFill>
                  <a:srgbClr val="009900"/>
                </a:solidFill>
                <a:latin typeface="Comic Sans MS" panose="030F0702030302020204" pitchFamily="66" charset="0"/>
              </a:rPr>
              <a:t>                      repeat</a:t>
            </a:r>
          </a:p>
          <a:p>
            <a:pPr marL="342900" indent="-342900">
              <a:spcBef>
                <a:spcPct val="35000"/>
              </a:spcBef>
              <a:buClr>
                <a:srgbClr val="993300"/>
              </a:buClr>
              <a:buSzPct val="90000"/>
            </a:pPr>
            <a:r>
              <a:rPr lang="en-US" altLang="zh-CN" dirty="0">
                <a:solidFill>
                  <a:srgbClr val="009900"/>
                </a:solidFill>
                <a:latin typeface="Comic Sans MS" panose="030F0702030302020204" pitchFamily="66" charset="0"/>
              </a:rPr>
              <a:t>                          </a:t>
            </a:r>
            <a:r>
              <a:rPr lang="en-US" altLang="zh-CN" dirty="0">
                <a:solidFill>
                  <a:srgbClr val="FF0000"/>
                </a:solidFill>
                <a:latin typeface="Comic Sans MS" panose="030F0702030302020204" pitchFamily="66" charset="0"/>
              </a:rPr>
              <a:t>Producer_Consumer.get (item) ;</a:t>
            </a:r>
          </a:p>
          <a:p>
            <a:pPr marL="342900" indent="-342900">
              <a:spcBef>
                <a:spcPct val="35000"/>
              </a:spcBef>
              <a:buClr>
                <a:srgbClr val="993300"/>
              </a:buClr>
              <a:buSzPct val="90000"/>
            </a:pPr>
            <a:r>
              <a:rPr lang="en-US" altLang="zh-CN" dirty="0">
                <a:solidFill>
                  <a:srgbClr val="009900"/>
                </a:solidFill>
                <a:latin typeface="Comic Sans MS" panose="030F0702030302020204" pitchFamily="66" charset="0"/>
              </a:rPr>
              <a:t>                          consume the item in nextc ;</a:t>
            </a:r>
          </a:p>
          <a:p>
            <a:pPr marL="342900" indent="-342900">
              <a:spcBef>
                <a:spcPct val="35000"/>
              </a:spcBef>
              <a:buClr>
                <a:srgbClr val="993300"/>
              </a:buClr>
              <a:buSzPct val="90000"/>
            </a:pPr>
            <a:r>
              <a:rPr lang="en-US" altLang="zh-CN" dirty="0">
                <a:solidFill>
                  <a:srgbClr val="009900"/>
                </a:solidFill>
                <a:latin typeface="Comic Sans MS" panose="030F0702030302020204" pitchFamily="66" charset="0"/>
              </a:rPr>
              <a:t>                      until false ;</a:t>
            </a:r>
          </a:p>
          <a:p>
            <a:pPr marL="342900" indent="-342900">
              <a:spcBef>
                <a:spcPct val="35000"/>
              </a:spcBef>
              <a:buClr>
                <a:srgbClr val="993300"/>
              </a:buClr>
              <a:buSzPct val="90000"/>
            </a:pPr>
            <a:r>
              <a:rPr lang="en-US" altLang="zh-CN" dirty="0">
                <a:solidFill>
                  <a:srgbClr val="009900"/>
                </a:solidFill>
                <a:latin typeface="Comic Sans MS" panose="030F0702030302020204" pitchFamily="66" charset="0"/>
              </a:rPr>
              <a:t>                 end</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2"/>
          <p:cNvSpPr>
            <a:spLocks noGrp="1"/>
          </p:cNvSpPr>
          <p:nvPr>
            <p:ph type="title"/>
          </p:nvPr>
        </p:nvSpPr>
        <p:spPr>
          <a:xfrm>
            <a:off x="857250" y="158750"/>
            <a:ext cx="8077200" cy="609600"/>
          </a:xfrm>
          <a:ln/>
        </p:spPr>
        <p:txBody>
          <a:bodyPr vert="horz" wrap="square" lIns="91440" tIns="45720" rIns="91440" bIns="45720" anchor="b" anchorCtr="0"/>
          <a:lstStyle/>
          <a:p>
            <a:r>
              <a:rPr lang="en-US" altLang="zh-CN" sz="2800" dirty="0">
                <a:ea typeface="宋体" panose="02010600030101010101" pitchFamily="2" charset="-122"/>
              </a:rPr>
              <a:t>Solution to Dining Philosophers</a:t>
            </a:r>
          </a:p>
        </p:txBody>
      </p:sp>
      <p:sp>
        <p:nvSpPr>
          <p:cNvPr id="164866" name="Rectangle 3"/>
          <p:cNvSpPr>
            <a:spLocks noGrp="1"/>
          </p:cNvSpPr>
          <p:nvPr>
            <p:ph idx="1"/>
          </p:nvPr>
        </p:nvSpPr>
        <p:spPr>
          <a:xfrm>
            <a:off x="595313" y="1128713"/>
            <a:ext cx="8170862" cy="5535612"/>
          </a:xfrm>
          <a:ln/>
        </p:spPr>
        <p:txBody>
          <a:bodyPr vert="horz" wrap="square" lIns="91440" tIns="45720" rIns="91440" bIns="45720" anchor="t" anchorCtr="0"/>
          <a:lstStyle/>
          <a:p>
            <a:pPr>
              <a:lnSpc>
                <a:spcPct val="80000"/>
              </a:lnSpc>
              <a:buNone/>
            </a:pPr>
            <a:r>
              <a:rPr lang="en-US" altLang="zh-CN" sz="1800" dirty="0">
                <a:ea typeface="宋体" panose="02010600030101010101" pitchFamily="2" charset="-122"/>
              </a:rPr>
              <a:t>monitor DP</a:t>
            </a:r>
          </a:p>
          <a:p>
            <a:pPr>
              <a:lnSpc>
                <a:spcPct val="80000"/>
              </a:lnSpc>
              <a:buNone/>
            </a:pPr>
            <a:r>
              <a:rPr lang="en-US" altLang="zh-CN" sz="1800" dirty="0">
                <a:ea typeface="宋体" panose="02010600030101010101" pitchFamily="2" charset="-122"/>
              </a:rPr>
              <a:t>   { </a:t>
            </a:r>
          </a:p>
          <a:p>
            <a:pPr>
              <a:lnSpc>
                <a:spcPct val="80000"/>
              </a:lnSpc>
              <a:buNone/>
            </a:pPr>
            <a:r>
              <a:rPr lang="en-US" altLang="zh-CN" sz="1800" dirty="0">
                <a:ea typeface="宋体" panose="02010600030101010101" pitchFamily="2" charset="-122"/>
              </a:rPr>
              <a:t>	enum { THINKING; HUNGRY, EATING</a:t>
            </a:r>
            <a:r>
              <a:rPr lang="zh-CN" altLang="en-US" sz="1800" dirty="0">
                <a:ea typeface="宋体" panose="02010600030101010101" pitchFamily="2" charset="-122"/>
              </a:rPr>
              <a:t> </a:t>
            </a:r>
            <a:r>
              <a:rPr lang="en-US" altLang="zh-CN" sz="1800" dirty="0">
                <a:ea typeface="宋体" panose="02010600030101010101" pitchFamily="2" charset="-122"/>
              </a:rPr>
              <a:t>} state [5] ;</a:t>
            </a:r>
          </a:p>
          <a:p>
            <a:pPr>
              <a:lnSpc>
                <a:spcPct val="80000"/>
              </a:lnSpc>
              <a:buNone/>
            </a:pPr>
            <a:r>
              <a:rPr lang="en-US" altLang="zh-CN" sz="1800" dirty="0">
                <a:ea typeface="宋体" panose="02010600030101010101" pitchFamily="2" charset="-122"/>
              </a:rPr>
              <a:t>	condition self [5];</a:t>
            </a:r>
          </a:p>
          <a:p>
            <a:pPr>
              <a:lnSpc>
                <a:spcPct val="80000"/>
              </a:lnSpc>
              <a:buNone/>
            </a:pPr>
            <a:endParaRPr lang="en-US" altLang="zh-CN" sz="1800" dirty="0">
              <a:ea typeface="宋体" panose="02010600030101010101" pitchFamily="2" charset="-122"/>
            </a:endParaRPr>
          </a:p>
          <a:p>
            <a:pPr>
              <a:lnSpc>
                <a:spcPct val="80000"/>
              </a:lnSpc>
              <a:buNone/>
            </a:pPr>
            <a:r>
              <a:rPr lang="en-US" altLang="zh-CN" sz="1800" dirty="0">
                <a:ea typeface="宋体" panose="02010600030101010101" pitchFamily="2" charset="-122"/>
              </a:rPr>
              <a:t>	void pickup (int i) { </a:t>
            </a:r>
          </a:p>
          <a:p>
            <a:pPr>
              <a:lnSpc>
                <a:spcPct val="80000"/>
              </a:lnSpc>
              <a:buNone/>
            </a:pPr>
            <a:r>
              <a:rPr lang="en-US" altLang="zh-CN" sz="1800" dirty="0">
                <a:ea typeface="宋体" panose="02010600030101010101" pitchFamily="2" charset="-122"/>
              </a:rPr>
              <a:t>	       state[i] = HUNGRY;</a:t>
            </a:r>
          </a:p>
          <a:p>
            <a:pPr>
              <a:lnSpc>
                <a:spcPct val="80000"/>
              </a:lnSpc>
              <a:buNone/>
            </a:pPr>
            <a:r>
              <a:rPr lang="en-US" altLang="zh-CN" sz="1800" dirty="0">
                <a:ea typeface="宋体" panose="02010600030101010101" pitchFamily="2" charset="-122"/>
              </a:rPr>
              <a:t>	       test(i);</a:t>
            </a:r>
          </a:p>
          <a:p>
            <a:pPr>
              <a:lnSpc>
                <a:spcPct val="80000"/>
              </a:lnSpc>
              <a:buNone/>
            </a:pPr>
            <a:r>
              <a:rPr lang="en-US" altLang="zh-CN" sz="1800" dirty="0">
                <a:ea typeface="宋体" panose="02010600030101010101" pitchFamily="2" charset="-122"/>
              </a:rPr>
              <a:t>	       if (state[i] != EATING) self [i].wait;</a:t>
            </a:r>
          </a:p>
          <a:p>
            <a:pPr>
              <a:lnSpc>
                <a:spcPct val="80000"/>
              </a:lnSpc>
              <a:buNone/>
            </a:pPr>
            <a:r>
              <a:rPr lang="en-US" altLang="zh-CN" sz="1800" dirty="0">
                <a:ea typeface="宋体" panose="02010600030101010101" pitchFamily="2" charset="-122"/>
              </a:rPr>
              <a:t>	}</a:t>
            </a:r>
          </a:p>
          <a:p>
            <a:pPr>
              <a:lnSpc>
                <a:spcPct val="80000"/>
              </a:lnSpc>
              <a:buNone/>
            </a:pPr>
            <a:r>
              <a:rPr lang="en-US" altLang="zh-CN" sz="1800" dirty="0">
                <a:ea typeface="宋体" panose="02010600030101010101" pitchFamily="2" charset="-122"/>
              </a:rPr>
              <a:t>	</a:t>
            </a:r>
          </a:p>
          <a:p>
            <a:pPr>
              <a:lnSpc>
                <a:spcPct val="80000"/>
              </a:lnSpc>
              <a:buNone/>
            </a:pPr>
            <a:r>
              <a:rPr lang="en-US" altLang="zh-CN" sz="1800" dirty="0">
                <a:ea typeface="宋体" panose="02010600030101010101" pitchFamily="2" charset="-122"/>
              </a:rPr>
              <a:t>       void putdown (int i) { </a:t>
            </a:r>
          </a:p>
          <a:p>
            <a:pPr>
              <a:lnSpc>
                <a:spcPct val="80000"/>
              </a:lnSpc>
              <a:buNone/>
            </a:pPr>
            <a:r>
              <a:rPr lang="en-US" altLang="zh-CN" sz="1800" dirty="0">
                <a:ea typeface="宋体" panose="02010600030101010101" pitchFamily="2" charset="-122"/>
              </a:rPr>
              <a:t>	       state[i] = THINKING;</a:t>
            </a:r>
          </a:p>
          <a:p>
            <a:pPr>
              <a:lnSpc>
                <a:spcPct val="80000"/>
              </a:lnSpc>
              <a:buNone/>
            </a:pPr>
            <a:r>
              <a:rPr lang="en-US" altLang="zh-CN" sz="1800" dirty="0">
                <a:ea typeface="宋体" panose="02010600030101010101" pitchFamily="2" charset="-122"/>
              </a:rPr>
              <a:t>                   // test left and right neighbors</a:t>
            </a:r>
          </a:p>
          <a:p>
            <a:pPr>
              <a:lnSpc>
                <a:spcPct val="80000"/>
              </a:lnSpc>
              <a:buNone/>
            </a:pPr>
            <a:r>
              <a:rPr lang="en-US" altLang="zh-CN" sz="1800" dirty="0">
                <a:ea typeface="宋体" panose="02010600030101010101" pitchFamily="2" charset="-122"/>
              </a:rPr>
              <a:t>	        test((i + 4) % 5);</a:t>
            </a:r>
          </a:p>
          <a:p>
            <a:pPr>
              <a:lnSpc>
                <a:spcPct val="80000"/>
              </a:lnSpc>
              <a:buNone/>
            </a:pPr>
            <a:r>
              <a:rPr lang="en-US" altLang="zh-CN" sz="1800" dirty="0">
                <a:ea typeface="宋体" panose="02010600030101010101" pitchFamily="2" charset="-122"/>
              </a:rPr>
              <a:t>	        test((i + 1) % 5);</a:t>
            </a:r>
          </a:p>
          <a:p>
            <a:pPr>
              <a:lnSpc>
                <a:spcPct val="80000"/>
              </a:lnSpc>
              <a:buNone/>
            </a:pPr>
            <a:r>
              <a:rPr lang="en-US" altLang="zh-CN" sz="1800" dirty="0">
                <a:ea typeface="宋体" panose="02010600030101010101" pitchFamily="2" charset="-122"/>
              </a:rPr>
              <a:t>        }</a:t>
            </a:r>
          </a:p>
          <a:p>
            <a:pPr>
              <a:lnSpc>
                <a:spcPct val="80000"/>
              </a:lnSpc>
              <a:buNone/>
            </a:pPr>
            <a:r>
              <a:rPr lang="en-US" altLang="zh-CN" sz="1800" dirty="0">
                <a:ea typeface="宋体" panose="02010600030101010101" pitchFamily="2" charset="-122"/>
              </a:rPr>
              <a:t>	</a:t>
            </a:r>
          </a:p>
        </p:txBody>
      </p:sp>
    </p:spTree>
    <p:extLst>
      <p:ext uri="{BB962C8B-B14F-4D97-AF65-F5344CB8AC3E}">
        <p14:creationId xmlns:p14="http://schemas.microsoft.com/office/powerpoint/2010/main" val="387638517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2"/>
          <p:cNvSpPr>
            <a:spLocks noGrp="1"/>
          </p:cNvSpPr>
          <p:nvPr>
            <p:ph type="title"/>
          </p:nvPr>
        </p:nvSpPr>
        <p:spPr>
          <a:xfrm>
            <a:off x="522288" y="144463"/>
            <a:ext cx="8429625" cy="638175"/>
          </a:xfrm>
          <a:ln/>
        </p:spPr>
        <p:txBody>
          <a:bodyPr vert="horz" wrap="square" lIns="91440" tIns="45720" rIns="91440" bIns="45720" anchor="b" anchorCtr="0"/>
          <a:lstStyle/>
          <a:p>
            <a:r>
              <a:rPr lang="en-US" altLang="zh-CN" sz="2800" dirty="0">
                <a:ea typeface="宋体" panose="02010600030101010101" pitchFamily="2" charset="-122"/>
              </a:rPr>
              <a:t>Solution to Dining Philosophers (cont)</a:t>
            </a:r>
          </a:p>
        </p:txBody>
      </p:sp>
      <p:sp>
        <p:nvSpPr>
          <p:cNvPr id="166914" name="Rectangle 3"/>
          <p:cNvSpPr>
            <a:spLocks noGrp="1"/>
          </p:cNvSpPr>
          <p:nvPr>
            <p:ph idx="1"/>
          </p:nvPr>
        </p:nvSpPr>
        <p:spPr>
          <a:xfrm>
            <a:off x="581025" y="957263"/>
            <a:ext cx="8051800" cy="5591175"/>
          </a:xfrm>
          <a:ln/>
        </p:spPr>
        <p:txBody>
          <a:bodyPr vert="horz" wrap="square" lIns="91440" tIns="45720" rIns="91440" bIns="45720" anchor="t" anchorCtr="0"/>
          <a:lstStyle/>
          <a:p>
            <a:pPr>
              <a:lnSpc>
                <a:spcPct val="80000"/>
              </a:lnSpc>
              <a:buNone/>
            </a:pPr>
            <a:endParaRPr lang="en-US" altLang="zh-CN" sz="1600" dirty="0">
              <a:solidFill>
                <a:srgbClr val="0000FF"/>
              </a:solidFill>
              <a:ea typeface="宋体" panose="02010600030101010101" pitchFamily="2" charset="-122"/>
            </a:endParaRPr>
          </a:p>
          <a:p>
            <a:pPr>
              <a:lnSpc>
                <a:spcPct val="80000"/>
              </a:lnSpc>
              <a:buNone/>
            </a:pPr>
            <a:r>
              <a:rPr lang="en-US" altLang="zh-CN" sz="1600" dirty="0">
                <a:solidFill>
                  <a:srgbClr val="0000FF"/>
                </a:solidFill>
                <a:ea typeface="宋体" panose="02010600030101010101" pitchFamily="2" charset="-122"/>
              </a:rPr>
              <a:t>	</a:t>
            </a:r>
            <a:r>
              <a:rPr lang="en-US" altLang="zh-CN" sz="2000" dirty="0">
                <a:ea typeface="宋体" panose="02010600030101010101" pitchFamily="2" charset="-122"/>
              </a:rPr>
              <a:t>void test (int i) { </a:t>
            </a:r>
          </a:p>
          <a:p>
            <a:pPr>
              <a:lnSpc>
                <a:spcPct val="80000"/>
              </a:lnSpc>
              <a:buNone/>
            </a:pPr>
            <a:r>
              <a:rPr lang="en-US" altLang="zh-CN" sz="2000" dirty="0">
                <a:ea typeface="宋体" panose="02010600030101010101" pitchFamily="2" charset="-122"/>
              </a:rPr>
              <a:t>	        if ( (state[(i + 4) % 5] != EATING) &amp;&amp;</a:t>
            </a:r>
          </a:p>
          <a:p>
            <a:pPr>
              <a:lnSpc>
                <a:spcPct val="80000"/>
              </a:lnSpc>
              <a:buNone/>
            </a:pPr>
            <a:r>
              <a:rPr lang="en-US" altLang="zh-CN" sz="2000" dirty="0">
                <a:ea typeface="宋体" panose="02010600030101010101" pitchFamily="2" charset="-122"/>
              </a:rPr>
              <a:t>	        (state[i] == HUNGRY) &amp;&amp;</a:t>
            </a:r>
          </a:p>
          <a:p>
            <a:pPr>
              <a:lnSpc>
                <a:spcPct val="80000"/>
              </a:lnSpc>
              <a:buNone/>
            </a:pPr>
            <a:r>
              <a:rPr lang="en-US" altLang="zh-CN" sz="2000" dirty="0">
                <a:ea typeface="宋体" panose="02010600030101010101" pitchFamily="2" charset="-122"/>
              </a:rPr>
              <a:t>	        (state[(i + 1) % 5] != EATING) ) { </a:t>
            </a:r>
          </a:p>
          <a:p>
            <a:pPr>
              <a:lnSpc>
                <a:spcPct val="80000"/>
              </a:lnSpc>
              <a:buNone/>
            </a:pPr>
            <a:r>
              <a:rPr lang="en-US" altLang="zh-CN" sz="2000" dirty="0">
                <a:ea typeface="宋体" panose="02010600030101010101" pitchFamily="2" charset="-122"/>
              </a:rPr>
              <a:t>	             state[i] = EATING ;</a:t>
            </a:r>
          </a:p>
          <a:p>
            <a:pPr>
              <a:lnSpc>
                <a:spcPct val="80000"/>
              </a:lnSpc>
              <a:buNone/>
            </a:pPr>
            <a:r>
              <a:rPr lang="en-US" altLang="zh-CN" sz="2000" dirty="0">
                <a:ea typeface="宋体" panose="02010600030101010101" pitchFamily="2" charset="-122"/>
              </a:rPr>
              <a:t>		    self[i].signal () ;</a:t>
            </a:r>
          </a:p>
          <a:p>
            <a:pPr>
              <a:lnSpc>
                <a:spcPct val="80000"/>
              </a:lnSpc>
              <a:buNone/>
            </a:pPr>
            <a:r>
              <a:rPr lang="en-US" altLang="zh-CN" sz="2000" dirty="0">
                <a:ea typeface="宋体" panose="02010600030101010101" pitchFamily="2" charset="-122"/>
              </a:rPr>
              <a:t>	         }</a:t>
            </a:r>
          </a:p>
          <a:p>
            <a:pPr>
              <a:lnSpc>
                <a:spcPct val="80000"/>
              </a:lnSpc>
              <a:buNone/>
            </a:pPr>
            <a:r>
              <a:rPr lang="en-US" altLang="zh-CN" sz="2000" dirty="0">
                <a:ea typeface="宋体" panose="02010600030101010101" pitchFamily="2" charset="-122"/>
              </a:rPr>
              <a:t>	 }</a:t>
            </a:r>
          </a:p>
          <a:p>
            <a:pPr>
              <a:lnSpc>
                <a:spcPct val="80000"/>
              </a:lnSpc>
              <a:buNone/>
            </a:pPr>
            <a:endParaRPr lang="en-US" altLang="zh-CN" sz="2000" dirty="0">
              <a:ea typeface="宋体" panose="02010600030101010101" pitchFamily="2" charset="-122"/>
            </a:endParaRPr>
          </a:p>
          <a:p>
            <a:pPr>
              <a:lnSpc>
                <a:spcPct val="80000"/>
              </a:lnSpc>
              <a:buNone/>
            </a:pPr>
            <a:r>
              <a:rPr lang="en-US" altLang="zh-CN" sz="2000" dirty="0">
                <a:ea typeface="宋体" panose="02010600030101010101" pitchFamily="2" charset="-122"/>
              </a:rPr>
              <a:t>       initialization_code() { </a:t>
            </a:r>
          </a:p>
          <a:p>
            <a:pPr>
              <a:lnSpc>
                <a:spcPct val="80000"/>
              </a:lnSpc>
              <a:buNone/>
            </a:pPr>
            <a:r>
              <a:rPr lang="en-US" altLang="zh-CN" sz="2000" dirty="0">
                <a:ea typeface="宋体" panose="02010600030101010101" pitchFamily="2" charset="-122"/>
              </a:rPr>
              <a:t>	       for (int i = 0; i &lt; 5; i++)</a:t>
            </a:r>
          </a:p>
          <a:p>
            <a:pPr>
              <a:lnSpc>
                <a:spcPct val="80000"/>
              </a:lnSpc>
              <a:buNone/>
            </a:pPr>
            <a:r>
              <a:rPr lang="en-US" altLang="zh-CN" sz="2000" dirty="0">
                <a:ea typeface="宋体" panose="02010600030101010101" pitchFamily="2" charset="-122"/>
              </a:rPr>
              <a:t>	       state[i] = THINKING;</a:t>
            </a:r>
          </a:p>
          <a:p>
            <a:pPr>
              <a:lnSpc>
                <a:spcPct val="80000"/>
              </a:lnSpc>
              <a:buNone/>
            </a:pPr>
            <a:r>
              <a:rPr lang="en-US" altLang="zh-CN" sz="2000" i="1" dirty="0">
                <a:ea typeface="宋体" panose="02010600030101010101" pitchFamily="2" charset="-122"/>
              </a:rPr>
              <a:t>	</a:t>
            </a:r>
            <a:r>
              <a:rPr lang="en-US" altLang="zh-CN" sz="2000" dirty="0">
                <a:ea typeface="宋体" panose="02010600030101010101" pitchFamily="2" charset="-122"/>
              </a:rPr>
              <a:t>}</a:t>
            </a:r>
          </a:p>
          <a:p>
            <a:pPr>
              <a:lnSpc>
                <a:spcPct val="80000"/>
              </a:lnSpc>
              <a:buNone/>
            </a:pPr>
            <a:r>
              <a:rPr lang="en-US" altLang="zh-CN" sz="2000" dirty="0">
                <a:ea typeface="宋体" panose="02010600030101010101" pitchFamily="2" charset="-122"/>
              </a:rPr>
              <a:t>}</a:t>
            </a:r>
          </a:p>
        </p:txBody>
      </p:sp>
    </p:spTree>
    <p:extLst>
      <p:ext uri="{BB962C8B-B14F-4D97-AF65-F5344CB8AC3E}">
        <p14:creationId xmlns:p14="http://schemas.microsoft.com/office/powerpoint/2010/main" val="324122347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2"/>
          <p:cNvSpPr>
            <a:spLocks noGrp="1"/>
          </p:cNvSpPr>
          <p:nvPr>
            <p:ph type="title"/>
          </p:nvPr>
        </p:nvSpPr>
        <p:spPr>
          <a:xfrm>
            <a:off x="522288" y="144463"/>
            <a:ext cx="8429625" cy="638175"/>
          </a:xfrm>
          <a:ln/>
        </p:spPr>
        <p:txBody>
          <a:bodyPr vert="horz" wrap="square" lIns="91440" tIns="45720" rIns="91440" bIns="45720" anchor="b" anchorCtr="0"/>
          <a:lstStyle/>
          <a:p>
            <a:r>
              <a:rPr lang="en-US" altLang="zh-CN" sz="2800" dirty="0">
                <a:ea typeface="宋体" panose="02010600030101010101" pitchFamily="2" charset="-122"/>
              </a:rPr>
              <a:t>Solution to Dining Philosophers (cont)</a:t>
            </a:r>
          </a:p>
        </p:txBody>
      </p:sp>
      <p:sp>
        <p:nvSpPr>
          <p:cNvPr id="168962" name="Rectangle 3"/>
          <p:cNvSpPr>
            <a:spLocks noGrp="1"/>
          </p:cNvSpPr>
          <p:nvPr>
            <p:ph idx="1"/>
          </p:nvPr>
        </p:nvSpPr>
        <p:spPr>
          <a:xfrm>
            <a:off x="827088" y="1279525"/>
            <a:ext cx="7805737" cy="5268913"/>
          </a:xfrm>
          <a:ln/>
        </p:spPr>
        <p:txBody>
          <a:bodyPr vert="horz" wrap="square" lIns="91440" tIns="45720" rIns="91440" bIns="45720" anchor="t" anchorCtr="0"/>
          <a:lstStyle/>
          <a:p>
            <a:pPr>
              <a:lnSpc>
                <a:spcPct val="80000"/>
              </a:lnSpc>
              <a:buNone/>
            </a:pPr>
            <a:endParaRPr lang="en-US" altLang="zh-CN" sz="1600" dirty="0">
              <a:solidFill>
                <a:srgbClr val="0000FF"/>
              </a:solidFill>
              <a:ea typeface="宋体" panose="02010600030101010101" pitchFamily="2" charset="-122"/>
            </a:endParaRPr>
          </a:p>
          <a:p>
            <a:pPr>
              <a:lnSpc>
                <a:spcPct val="80000"/>
              </a:lnSpc>
            </a:pPr>
            <a:r>
              <a:rPr lang="en-US" altLang="zh-CN" sz="2400" dirty="0">
                <a:ea typeface="宋体" panose="02010600030101010101" pitchFamily="2" charset="-122"/>
              </a:rPr>
              <a:t>Each philosopher </a:t>
            </a:r>
            <a:r>
              <a:rPr lang="en-US" altLang="zh-CN" sz="2400" i="1" dirty="0">
                <a:ea typeface="宋体" panose="02010600030101010101" pitchFamily="2" charset="-122"/>
              </a:rPr>
              <a:t>I </a:t>
            </a:r>
            <a:r>
              <a:rPr lang="en-US" altLang="zh-CN" sz="2400" dirty="0">
                <a:ea typeface="宋体" panose="02010600030101010101" pitchFamily="2" charset="-122"/>
              </a:rPr>
              <a:t>invokes the</a:t>
            </a:r>
            <a:r>
              <a:rPr lang="en-US" altLang="zh-CN" sz="2400" i="1" dirty="0">
                <a:ea typeface="宋体" panose="02010600030101010101" pitchFamily="2" charset="-122"/>
              </a:rPr>
              <a:t> </a:t>
            </a:r>
            <a:r>
              <a:rPr lang="en-US" altLang="zh-CN" sz="2400" dirty="0">
                <a:ea typeface="宋体" panose="02010600030101010101" pitchFamily="2" charset="-122"/>
              </a:rPr>
              <a:t>operations </a:t>
            </a:r>
            <a:r>
              <a:rPr lang="en-US" altLang="zh-CN" sz="2400" dirty="0">
                <a:solidFill>
                  <a:srgbClr val="0000FF"/>
                </a:solidFill>
                <a:ea typeface="宋体" panose="02010600030101010101" pitchFamily="2" charset="-122"/>
              </a:rPr>
              <a:t>pickup()</a:t>
            </a:r>
          </a:p>
          <a:p>
            <a:pPr>
              <a:lnSpc>
                <a:spcPct val="80000"/>
              </a:lnSpc>
              <a:buNone/>
            </a:pPr>
            <a:r>
              <a:rPr lang="en-US" altLang="zh-CN" sz="2400" i="1" dirty="0">
                <a:ea typeface="宋体" panose="02010600030101010101" pitchFamily="2" charset="-122"/>
              </a:rPr>
              <a:t>      </a:t>
            </a:r>
            <a:r>
              <a:rPr lang="en-US" altLang="zh-CN" sz="2400" dirty="0">
                <a:ea typeface="宋体" panose="02010600030101010101" pitchFamily="2" charset="-122"/>
              </a:rPr>
              <a:t>and </a:t>
            </a:r>
            <a:r>
              <a:rPr lang="en-US" altLang="zh-CN" sz="2400" dirty="0">
                <a:solidFill>
                  <a:srgbClr val="0000FF"/>
                </a:solidFill>
                <a:ea typeface="宋体" panose="02010600030101010101" pitchFamily="2" charset="-122"/>
              </a:rPr>
              <a:t>putdown()</a:t>
            </a:r>
            <a:r>
              <a:rPr lang="en-US" altLang="zh-CN" sz="2400" dirty="0">
                <a:ea typeface="宋体" panose="02010600030101010101" pitchFamily="2" charset="-122"/>
              </a:rPr>
              <a:t> in the following sequence:</a:t>
            </a:r>
          </a:p>
          <a:p>
            <a:pPr>
              <a:lnSpc>
                <a:spcPct val="80000"/>
              </a:lnSpc>
              <a:buNone/>
            </a:pPr>
            <a:endParaRPr lang="en-US" altLang="zh-CN" sz="2400" dirty="0">
              <a:ea typeface="宋体" panose="02010600030101010101" pitchFamily="2" charset="-122"/>
            </a:endParaRPr>
          </a:p>
          <a:p>
            <a:pPr>
              <a:lnSpc>
                <a:spcPct val="80000"/>
              </a:lnSpc>
              <a:buNone/>
            </a:pPr>
            <a:r>
              <a:rPr lang="en-US" altLang="zh-CN" sz="2400" dirty="0">
                <a:solidFill>
                  <a:srgbClr val="0000FF"/>
                </a:solidFill>
                <a:ea typeface="宋体" panose="02010600030101010101" pitchFamily="2" charset="-122"/>
              </a:rPr>
              <a:t>              dp.pickup (i)</a:t>
            </a:r>
          </a:p>
          <a:p>
            <a:pPr>
              <a:lnSpc>
                <a:spcPct val="80000"/>
              </a:lnSpc>
              <a:buNone/>
            </a:pPr>
            <a:endParaRPr lang="en-US" altLang="zh-CN" sz="2400" dirty="0">
              <a:solidFill>
                <a:srgbClr val="0000FF"/>
              </a:solidFill>
              <a:ea typeface="宋体" panose="02010600030101010101" pitchFamily="2" charset="-122"/>
            </a:endParaRPr>
          </a:p>
          <a:p>
            <a:pPr>
              <a:lnSpc>
                <a:spcPct val="80000"/>
              </a:lnSpc>
              <a:buNone/>
            </a:pPr>
            <a:r>
              <a:rPr lang="en-US" altLang="zh-CN" sz="2400" dirty="0">
                <a:solidFill>
                  <a:srgbClr val="0000FF"/>
                </a:solidFill>
                <a:ea typeface="宋体" panose="02010600030101010101" pitchFamily="2" charset="-122"/>
              </a:rPr>
              <a:t>                   EAT</a:t>
            </a:r>
          </a:p>
          <a:p>
            <a:pPr>
              <a:lnSpc>
                <a:spcPct val="80000"/>
              </a:lnSpc>
              <a:buNone/>
            </a:pPr>
            <a:endParaRPr lang="en-US" altLang="zh-CN" sz="2400" dirty="0">
              <a:solidFill>
                <a:srgbClr val="0000FF"/>
              </a:solidFill>
              <a:ea typeface="宋体" panose="02010600030101010101" pitchFamily="2" charset="-122"/>
            </a:endParaRPr>
          </a:p>
          <a:p>
            <a:pPr>
              <a:lnSpc>
                <a:spcPct val="80000"/>
              </a:lnSpc>
              <a:buNone/>
            </a:pPr>
            <a:r>
              <a:rPr lang="en-US" altLang="zh-CN" sz="2400" dirty="0">
                <a:solidFill>
                  <a:srgbClr val="0000FF"/>
                </a:solidFill>
                <a:ea typeface="宋体" panose="02010600030101010101" pitchFamily="2" charset="-122"/>
              </a:rPr>
              <a:t>               dp.putdown (i)</a:t>
            </a:r>
          </a:p>
          <a:p>
            <a:pPr>
              <a:lnSpc>
                <a:spcPct val="80000"/>
              </a:lnSpc>
              <a:buNone/>
            </a:pPr>
            <a:endParaRPr lang="en-US" altLang="zh-CN" dirty="0">
              <a:solidFill>
                <a:srgbClr val="0000FF"/>
              </a:solidFill>
              <a:ea typeface="宋体" panose="02010600030101010101" pitchFamily="2" charset="-122"/>
            </a:endParaRPr>
          </a:p>
          <a:p>
            <a:pPr>
              <a:lnSpc>
                <a:spcPct val="80000"/>
              </a:lnSpc>
              <a:buNone/>
            </a:pPr>
            <a:endParaRPr lang="en-US" altLang="zh-CN" dirty="0">
              <a:solidFill>
                <a:srgbClr val="0000FF"/>
              </a:solidFill>
              <a:ea typeface="宋体" panose="02010600030101010101" pitchFamily="2" charset="-122"/>
            </a:endParaRPr>
          </a:p>
          <a:p>
            <a:pPr>
              <a:lnSpc>
                <a:spcPct val="80000"/>
              </a:lnSpc>
              <a:buNone/>
            </a:pPr>
            <a:r>
              <a:rPr lang="en-US" altLang="zh-CN" i="1" dirty="0">
                <a:solidFill>
                  <a:srgbClr val="0000FF"/>
                </a:solidFill>
                <a:ea typeface="宋体" panose="02010600030101010101" pitchFamily="2" charset="-122"/>
              </a:rPr>
              <a:t>       </a:t>
            </a:r>
          </a:p>
        </p:txBody>
      </p:sp>
    </p:spTree>
    <p:extLst>
      <p:ext uri="{BB962C8B-B14F-4D97-AF65-F5344CB8AC3E}">
        <p14:creationId xmlns:p14="http://schemas.microsoft.com/office/powerpoint/2010/main" val="57273591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Rectangle 2"/>
          <p:cNvSpPr>
            <a:spLocks noGrp="1"/>
          </p:cNvSpPr>
          <p:nvPr>
            <p:ph type="title" idx="4294967295"/>
          </p:nvPr>
        </p:nvSpPr>
        <p:spPr>
          <a:xfrm>
            <a:off x="1038225" y="-9525"/>
            <a:ext cx="7715250" cy="844550"/>
          </a:xfrm>
          <a:ln/>
        </p:spPr>
        <p:txBody>
          <a:bodyPr vert="horz" wrap="square" lIns="91440" tIns="45720" rIns="91440" bIns="45720" anchor="b" anchorCtr="0"/>
          <a:lstStyle/>
          <a:p>
            <a:r>
              <a:rPr lang="en-US" altLang="zh-CN" sz="2800" dirty="0">
                <a:ea typeface="宋体" panose="02010600030101010101" pitchFamily="2" charset="-122"/>
              </a:rPr>
              <a:t>Monitor Implementation Using Semaphores</a:t>
            </a:r>
          </a:p>
        </p:txBody>
      </p:sp>
      <p:sp>
        <p:nvSpPr>
          <p:cNvPr id="92163" name="Rectangle 3"/>
          <p:cNvSpPr>
            <a:spLocks noGrp="1"/>
          </p:cNvSpPr>
          <p:nvPr>
            <p:ph type="body" idx="4294967295"/>
          </p:nvPr>
        </p:nvSpPr>
        <p:spPr>
          <a:xfrm>
            <a:off x="428625" y="985838"/>
            <a:ext cx="8158163" cy="5329237"/>
          </a:xfrm>
          <a:ln/>
        </p:spPr>
        <p:txBody>
          <a:bodyPr vert="horz" wrap="square" lIns="91440" tIns="45720" rIns="91440" bIns="45720" anchor="t" anchorCtr="0"/>
          <a:lstStyle/>
          <a:p>
            <a:pPr defTabSz="914400">
              <a:spcBef>
                <a:spcPct val="15000"/>
              </a:spcBef>
              <a:tabLst>
                <a:tab pos="1891030" algn="l"/>
                <a:tab pos="2338705" algn="l"/>
                <a:tab pos="2511425" algn="l"/>
              </a:tabLst>
            </a:pPr>
            <a:r>
              <a:rPr lang="en-US" altLang="zh-CN" sz="2400" dirty="0">
                <a:ea typeface="宋体" panose="02010600030101010101" pitchFamily="2" charset="-122"/>
              </a:rPr>
              <a:t>For a monitor, a semaphore </a:t>
            </a:r>
            <a:r>
              <a:rPr lang="en-US" altLang="zh-CN" sz="2400" dirty="0">
                <a:solidFill>
                  <a:srgbClr val="FF0000"/>
                </a:solidFill>
                <a:ea typeface="宋体" panose="02010600030101010101" pitchFamily="2" charset="-122"/>
              </a:rPr>
              <a:t>mutex</a:t>
            </a:r>
            <a:r>
              <a:rPr lang="en-US" altLang="zh-CN" sz="2400" dirty="0">
                <a:solidFill>
                  <a:srgbClr val="0000FF"/>
                </a:solidFill>
                <a:ea typeface="宋体" panose="02010600030101010101" pitchFamily="2" charset="-122"/>
              </a:rPr>
              <a:t>(initially  = 1) </a:t>
            </a:r>
            <a:r>
              <a:rPr lang="en-US" altLang="zh-CN" sz="2400" dirty="0">
                <a:ea typeface="宋体" panose="02010600030101010101" pitchFamily="2" charset="-122"/>
              </a:rPr>
              <a:t> is necessary to ensure mutual exclusion.</a:t>
            </a:r>
          </a:p>
          <a:p>
            <a:pPr lvl="1" defTabSz="914400">
              <a:spcBef>
                <a:spcPct val="15000"/>
              </a:spcBef>
              <a:tabLst>
                <a:tab pos="1891030" algn="l"/>
                <a:tab pos="2338705" algn="l"/>
                <a:tab pos="2511425" algn="l"/>
              </a:tabLst>
            </a:pPr>
            <a:r>
              <a:rPr lang="en-US" altLang="zh-CN" sz="2400" dirty="0">
                <a:ea typeface="宋体" panose="02010600030101010101" pitchFamily="2" charset="-122"/>
              </a:rPr>
              <a:t>A process must execute wait(mutex) before entering the monitor, and execute signal(mutex) after leaving the monitor. </a:t>
            </a:r>
          </a:p>
          <a:p>
            <a:pPr defTabSz="914400">
              <a:spcBef>
                <a:spcPct val="15000"/>
              </a:spcBef>
              <a:tabLst>
                <a:tab pos="1891030" algn="l"/>
                <a:tab pos="2338705" algn="l"/>
                <a:tab pos="2511425" algn="l"/>
              </a:tabLst>
            </a:pPr>
            <a:r>
              <a:rPr lang="en-US" altLang="zh-CN" sz="2400" dirty="0">
                <a:ea typeface="宋体" panose="02010600030101010101" pitchFamily="2" charset="-122"/>
              </a:rPr>
              <a:t>Another semaphore </a:t>
            </a:r>
            <a:r>
              <a:rPr lang="en-US" altLang="zh-CN" sz="2400" dirty="0">
                <a:solidFill>
                  <a:srgbClr val="FF0000"/>
                </a:solidFill>
                <a:ea typeface="宋体" panose="02010600030101010101" pitchFamily="2" charset="-122"/>
              </a:rPr>
              <a:t>next</a:t>
            </a:r>
            <a:r>
              <a:rPr lang="en-US" altLang="zh-CN" sz="2400" dirty="0">
                <a:ea typeface="宋体" panose="02010600030101010101" pitchFamily="2" charset="-122"/>
              </a:rPr>
              <a:t>(initially =0)  is introduced for a signaling process to suspend itself until the signaled process leaves or waits.</a:t>
            </a:r>
          </a:p>
          <a:p>
            <a:pPr defTabSz="914400">
              <a:spcBef>
                <a:spcPct val="15000"/>
              </a:spcBef>
              <a:tabLst>
                <a:tab pos="1891030" algn="l"/>
                <a:tab pos="2338705" algn="l"/>
                <a:tab pos="2511425" algn="l"/>
              </a:tabLst>
            </a:pPr>
            <a:r>
              <a:rPr lang="en-US" altLang="zh-CN" sz="2400" dirty="0">
                <a:solidFill>
                  <a:srgbClr val="FF0000"/>
                </a:solidFill>
                <a:ea typeface="宋体" panose="02010600030101010101" pitchFamily="2" charset="-122"/>
              </a:rPr>
              <a:t>Next-count</a:t>
            </a:r>
            <a:r>
              <a:rPr lang="en-US" altLang="zh-CN" sz="2400" dirty="0">
                <a:ea typeface="宋体" panose="02010600030101010101" pitchFamily="2" charset="-122"/>
              </a:rPr>
              <a:t> is an integer variable to count the number of processes suspended on next.(</a:t>
            </a:r>
            <a:r>
              <a:rPr lang="zh-CN" altLang="en-US" sz="2400" dirty="0">
                <a:ea typeface="宋体" panose="02010600030101010101" pitchFamily="2" charset="-122"/>
              </a:rPr>
              <a:t>有多少在等</a:t>
            </a:r>
            <a:r>
              <a:rPr lang="en-US" altLang="zh-CN" sz="2400" dirty="0">
                <a:ea typeface="宋体" panose="02010600030101010101" pitchFamily="2" charset="-122"/>
              </a:rPr>
              <a:t>next)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163">
                                            <p:txEl>
                                              <p:pRg st="2" end="2"/>
                                            </p:txEl>
                                          </p:spTgt>
                                        </p:tgtEl>
                                        <p:attrNameLst>
                                          <p:attrName>style.visibility</p:attrName>
                                        </p:attrNameLst>
                                      </p:cBhvr>
                                      <p:to>
                                        <p:strVal val="visible"/>
                                      </p:to>
                                    </p:set>
                                    <p:anim calcmode="lin" valueType="num">
                                      <p:cBhvr additive="base">
                                        <p:cTn id="7" dur="500" fill="hold"/>
                                        <p:tgtEl>
                                          <p:spTgt spid="9216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6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2163">
                                            <p:txEl>
                                              <p:pRg st="3" end="3"/>
                                            </p:txEl>
                                          </p:spTgt>
                                        </p:tgtEl>
                                        <p:attrNameLst>
                                          <p:attrName>style.visibility</p:attrName>
                                        </p:attrNameLst>
                                      </p:cBhvr>
                                      <p:to>
                                        <p:strVal val="visible"/>
                                      </p:to>
                                    </p:set>
                                    <p:anim calcmode="lin" valueType="num">
                                      <p:cBhvr additive="base">
                                        <p:cTn id="11" dur="500" fill="hold"/>
                                        <p:tgtEl>
                                          <p:spTgt spid="9216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216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Rectangle 2"/>
          <p:cNvSpPr>
            <a:spLocks noGrp="1"/>
          </p:cNvSpPr>
          <p:nvPr>
            <p:ph type="title"/>
          </p:nvPr>
        </p:nvSpPr>
        <p:spPr>
          <a:xfrm>
            <a:off x="1038225" y="-9525"/>
            <a:ext cx="7715250" cy="844550"/>
          </a:xfrm>
          <a:ln/>
        </p:spPr>
        <p:txBody>
          <a:bodyPr vert="horz" wrap="square" lIns="91440" tIns="45720" rIns="91440" bIns="45720" anchor="b" anchorCtr="0"/>
          <a:lstStyle/>
          <a:p>
            <a:r>
              <a:rPr lang="en-US" altLang="zh-CN" sz="2800" dirty="0">
                <a:ea typeface="宋体" panose="02010600030101010101" pitchFamily="2" charset="-122"/>
              </a:rPr>
              <a:t>Monitor Implementation Using Semaphores</a:t>
            </a:r>
          </a:p>
        </p:txBody>
      </p:sp>
      <p:sp>
        <p:nvSpPr>
          <p:cNvPr id="173058" name="Rectangle 3"/>
          <p:cNvSpPr>
            <a:spLocks noGrp="1"/>
          </p:cNvSpPr>
          <p:nvPr>
            <p:ph idx="1"/>
          </p:nvPr>
        </p:nvSpPr>
        <p:spPr>
          <a:xfrm>
            <a:off x="428625" y="985838"/>
            <a:ext cx="8158163" cy="5329237"/>
          </a:xfrm>
          <a:ln/>
        </p:spPr>
        <p:txBody>
          <a:bodyPr vert="horz" wrap="square" lIns="91440" tIns="45720" rIns="91440" bIns="45720" anchor="t" anchorCtr="0"/>
          <a:lstStyle/>
          <a:p>
            <a:pPr defTabSz="914400">
              <a:lnSpc>
                <a:spcPct val="80000"/>
              </a:lnSpc>
              <a:tabLst>
                <a:tab pos="1891030" algn="l"/>
                <a:tab pos="2338705" algn="l"/>
                <a:tab pos="2511425" algn="l"/>
              </a:tabLst>
            </a:pPr>
            <a:r>
              <a:rPr lang="en-US" altLang="zh-CN" sz="2000" dirty="0">
                <a:ea typeface="宋体" panose="02010600030101010101" pitchFamily="2" charset="-122"/>
              </a:rPr>
              <a:t>Variables </a:t>
            </a:r>
          </a:p>
          <a:p>
            <a:pPr defTabSz="914400">
              <a:lnSpc>
                <a:spcPct val="80000"/>
              </a:lnSpc>
              <a:spcBef>
                <a:spcPct val="15000"/>
              </a:spcBef>
              <a:buNone/>
              <a:tabLst>
                <a:tab pos="1891030" algn="l"/>
                <a:tab pos="2338705" algn="l"/>
                <a:tab pos="2511425" algn="l"/>
              </a:tabLst>
            </a:pPr>
            <a:r>
              <a:rPr lang="en-US" altLang="zh-CN" sz="2000" dirty="0">
                <a:ea typeface="宋体" panose="02010600030101010101" pitchFamily="2" charset="-122"/>
              </a:rPr>
              <a:t>		</a:t>
            </a:r>
            <a:r>
              <a:rPr lang="en-US" altLang="zh-CN" sz="2000" dirty="0">
                <a:solidFill>
                  <a:srgbClr val="0000FF"/>
                </a:solidFill>
                <a:ea typeface="宋体" panose="02010600030101010101" pitchFamily="2" charset="-122"/>
              </a:rPr>
              <a:t>semaphore mutex;  // (initially  = 1)</a:t>
            </a:r>
          </a:p>
          <a:p>
            <a:pPr defTabSz="914400">
              <a:lnSpc>
                <a:spcPct val="80000"/>
              </a:lnSpc>
              <a:spcBef>
                <a:spcPct val="15000"/>
              </a:spcBef>
              <a:buNone/>
              <a:tabLst>
                <a:tab pos="1891030" algn="l"/>
                <a:tab pos="2338705" algn="l"/>
                <a:tab pos="2511425" algn="l"/>
              </a:tabLst>
            </a:pPr>
            <a:r>
              <a:rPr lang="en-US" altLang="zh-CN" sz="2000" dirty="0">
                <a:solidFill>
                  <a:srgbClr val="0000FF"/>
                </a:solidFill>
                <a:ea typeface="宋体" panose="02010600030101010101" pitchFamily="2" charset="-122"/>
              </a:rPr>
              <a:t>		semaphore next;     // (initially  = 0)</a:t>
            </a:r>
          </a:p>
          <a:p>
            <a:pPr defTabSz="914400">
              <a:lnSpc>
                <a:spcPct val="80000"/>
              </a:lnSpc>
              <a:spcBef>
                <a:spcPct val="15000"/>
              </a:spcBef>
              <a:buNone/>
              <a:tabLst>
                <a:tab pos="1891030" algn="l"/>
                <a:tab pos="2338705" algn="l"/>
                <a:tab pos="2511425" algn="l"/>
              </a:tabLst>
            </a:pPr>
            <a:r>
              <a:rPr lang="en-US" altLang="zh-CN" sz="2000" dirty="0">
                <a:solidFill>
                  <a:srgbClr val="0000FF"/>
                </a:solidFill>
                <a:ea typeface="宋体" panose="02010600030101010101" pitchFamily="2" charset="-122"/>
              </a:rPr>
              <a:t>		int next-count = 0;</a:t>
            </a:r>
            <a:br>
              <a:rPr lang="en-US" altLang="zh-CN" sz="2000" dirty="0">
                <a:solidFill>
                  <a:srgbClr val="0000FF"/>
                </a:solidFill>
                <a:ea typeface="宋体" panose="02010600030101010101" pitchFamily="2" charset="-122"/>
              </a:rPr>
            </a:br>
            <a:endParaRPr lang="en-US" altLang="zh-CN" sz="2000" dirty="0">
              <a:solidFill>
                <a:srgbClr val="0000FF"/>
              </a:solidFill>
              <a:ea typeface="宋体" panose="02010600030101010101" pitchFamily="2" charset="-122"/>
            </a:endParaRPr>
          </a:p>
          <a:p>
            <a:pPr defTabSz="914400">
              <a:lnSpc>
                <a:spcPct val="80000"/>
              </a:lnSpc>
              <a:tabLst>
                <a:tab pos="1891030" algn="l"/>
                <a:tab pos="2338705" algn="l"/>
                <a:tab pos="2511425" algn="l"/>
              </a:tabLst>
            </a:pPr>
            <a:r>
              <a:rPr lang="en-US" altLang="zh-CN" sz="2000" dirty="0">
                <a:ea typeface="宋体" panose="02010600030101010101" pitchFamily="2" charset="-122"/>
              </a:rPr>
              <a:t>Each procedure </a:t>
            </a:r>
            <a:r>
              <a:rPr lang="en-US" altLang="zh-CN" sz="2000" b="1" i="1" dirty="0">
                <a:ea typeface="宋体" panose="02010600030101010101" pitchFamily="2" charset="-122"/>
              </a:rPr>
              <a:t>F</a:t>
            </a:r>
            <a:r>
              <a:rPr lang="en-US" altLang="zh-CN" sz="2000" dirty="0">
                <a:ea typeface="宋体" panose="02010600030101010101" pitchFamily="2" charset="-122"/>
              </a:rPr>
              <a:t>  will be replaced by</a:t>
            </a:r>
          </a:p>
          <a:p>
            <a:pPr defTabSz="914400">
              <a:lnSpc>
                <a:spcPct val="80000"/>
              </a:lnSpc>
              <a:tabLst>
                <a:tab pos="1891030" algn="l"/>
                <a:tab pos="2338705" algn="l"/>
                <a:tab pos="2511425" algn="l"/>
              </a:tabLst>
            </a:pPr>
            <a:endParaRPr lang="en-US" altLang="zh-CN" sz="2000" dirty="0">
              <a:ea typeface="宋体" panose="02010600030101010101" pitchFamily="2" charset="-122"/>
            </a:endParaRPr>
          </a:p>
          <a:p>
            <a:pPr defTabSz="914400">
              <a:lnSpc>
                <a:spcPct val="80000"/>
              </a:lnSpc>
              <a:spcBef>
                <a:spcPct val="15000"/>
              </a:spcBef>
              <a:buNone/>
              <a:tabLst>
                <a:tab pos="1891030" algn="l"/>
                <a:tab pos="2338705" algn="l"/>
                <a:tab pos="2511425" algn="l"/>
              </a:tabLst>
            </a:pPr>
            <a:r>
              <a:rPr lang="en-US" altLang="zh-CN" sz="2000" dirty="0">
                <a:ea typeface="宋体" panose="02010600030101010101" pitchFamily="2" charset="-122"/>
              </a:rPr>
              <a:t>			</a:t>
            </a:r>
            <a:r>
              <a:rPr lang="en-US" altLang="zh-CN" sz="2000" dirty="0">
                <a:solidFill>
                  <a:srgbClr val="0000FF"/>
                </a:solidFill>
                <a:ea typeface="宋体" panose="02010600030101010101" pitchFamily="2" charset="-122"/>
              </a:rPr>
              <a:t>wait(mutex);</a:t>
            </a:r>
          </a:p>
          <a:p>
            <a:pPr defTabSz="914400">
              <a:lnSpc>
                <a:spcPct val="80000"/>
              </a:lnSpc>
              <a:spcBef>
                <a:spcPct val="15000"/>
              </a:spcBef>
              <a:buNone/>
              <a:tabLst>
                <a:tab pos="1891030" algn="l"/>
                <a:tab pos="2338705" algn="l"/>
                <a:tab pos="2511425" algn="l"/>
              </a:tabLst>
            </a:pPr>
            <a:r>
              <a:rPr lang="en-US" altLang="zh-CN" sz="2000" dirty="0">
                <a:solidFill>
                  <a:srgbClr val="0000FF"/>
                </a:solidFill>
                <a:ea typeface="宋体" panose="02010600030101010101" pitchFamily="2" charset="-122"/>
              </a:rPr>
              <a:t>			     …			 </a:t>
            </a:r>
          </a:p>
          <a:p>
            <a:pPr defTabSz="914400">
              <a:lnSpc>
                <a:spcPct val="80000"/>
              </a:lnSpc>
              <a:spcBef>
                <a:spcPct val="15000"/>
              </a:spcBef>
              <a:buNone/>
              <a:tabLst>
                <a:tab pos="1891030" algn="l"/>
                <a:tab pos="2338705" algn="l"/>
                <a:tab pos="2511425" algn="l"/>
              </a:tabLst>
            </a:pPr>
            <a:r>
              <a:rPr lang="en-US" altLang="zh-CN" sz="2000" dirty="0">
                <a:solidFill>
                  <a:srgbClr val="0000FF"/>
                </a:solidFill>
                <a:ea typeface="宋体" panose="02010600030101010101" pitchFamily="2" charset="-122"/>
              </a:rPr>
              <a:t>                                                        body of </a:t>
            </a:r>
            <a:r>
              <a:rPr lang="en-US" altLang="zh-CN" sz="2000" i="1" dirty="0">
                <a:solidFill>
                  <a:srgbClr val="0000FF"/>
                </a:solidFill>
                <a:ea typeface="宋体" panose="02010600030101010101" pitchFamily="2" charset="-122"/>
              </a:rPr>
              <a:t>F</a:t>
            </a:r>
            <a:r>
              <a:rPr lang="en-US" altLang="zh-CN" sz="2000" dirty="0">
                <a:solidFill>
                  <a:srgbClr val="0000FF"/>
                </a:solidFill>
                <a:ea typeface="宋体" panose="02010600030101010101" pitchFamily="2" charset="-122"/>
              </a:rPr>
              <a:t>;</a:t>
            </a:r>
          </a:p>
          <a:p>
            <a:pPr defTabSz="914400">
              <a:lnSpc>
                <a:spcPct val="80000"/>
              </a:lnSpc>
              <a:spcBef>
                <a:spcPct val="15000"/>
              </a:spcBef>
              <a:buNone/>
              <a:tabLst>
                <a:tab pos="1891030" algn="l"/>
                <a:tab pos="2338705" algn="l"/>
                <a:tab pos="2511425" algn="l"/>
              </a:tabLst>
            </a:pPr>
            <a:endParaRPr lang="en-US" altLang="zh-CN" sz="2000" dirty="0">
              <a:solidFill>
                <a:srgbClr val="0000FF"/>
              </a:solidFill>
              <a:ea typeface="宋体" panose="02010600030101010101" pitchFamily="2" charset="-122"/>
            </a:endParaRPr>
          </a:p>
          <a:p>
            <a:pPr defTabSz="914400">
              <a:lnSpc>
                <a:spcPct val="80000"/>
              </a:lnSpc>
              <a:spcBef>
                <a:spcPct val="15000"/>
              </a:spcBef>
              <a:buNone/>
              <a:tabLst>
                <a:tab pos="1891030" algn="l"/>
                <a:tab pos="2338705" algn="l"/>
                <a:tab pos="2511425" algn="l"/>
              </a:tabLst>
            </a:pPr>
            <a:r>
              <a:rPr lang="en-US" altLang="zh-CN" sz="2000" dirty="0">
                <a:solidFill>
                  <a:srgbClr val="0000FF"/>
                </a:solidFill>
                <a:ea typeface="宋体" panose="02010600030101010101" pitchFamily="2" charset="-122"/>
              </a:rPr>
              <a:t>			     …</a:t>
            </a:r>
          </a:p>
          <a:p>
            <a:pPr defTabSz="914400">
              <a:lnSpc>
                <a:spcPct val="80000"/>
              </a:lnSpc>
              <a:spcBef>
                <a:spcPct val="15000"/>
              </a:spcBef>
              <a:buNone/>
              <a:tabLst>
                <a:tab pos="1891030" algn="l"/>
                <a:tab pos="2338705" algn="l"/>
                <a:tab pos="2511425" algn="l"/>
              </a:tabLst>
            </a:pPr>
            <a:r>
              <a:rPr lang="en-US" altLang="zh-CN" sz="2000" dirty="0">
                <a:solidFill>
                  <a:srgbClr val="0000FF"/>
                </a:solidFill>
                <a:ea typeface="宋体" panose="02010600030101010101" pitchFamily="2" charset="-122"/>
              </a:rPr>
              <a:t>			if (next-count &gt; 0)</a:t>
            </a:r>
          </a:p>
          <a:p>
            <a:pPr defTabSz="914400">
              <a:lnSpc>
                <a:spcPct val="80000"/>
              </a:lnSpc>
              <a:spcBef>
                <a:spcPct val="15000"/>
              </a:spcBef>
              <a:buNone/>
              <a:tabLst>
                <a:tab pos="1891030" algn="l"/>
                <a:tab pos="2338705" algn="l"/>
                <a:tab pos="2511425" algn="l"/>
              </a:tabLst>
            </a:pPr>
            <a:r>
              <a:rPr lang="en-US" altLang="zh-CN" sz="2000" dirty="0">
                <a:solidFill>
                  <a:srgbClr val="0000FF"/>
                </a:solidFill>
                <a:ea typeface="宋体" panose="02010600030101010101" pitchFamily="2" charset="-122"/>
              </a:rPr>
              <a:t>				signal(next)</a:t>
            </a:r>
          </a:p>
          <a:p>
            <a:pPr defTabSz="914400">
              <a:lnSpc>
                <a:spcPct val="80000"/>
              </a:lnSpc>
              <a:spcBef>
                <a:spcPct val="15000"/>
              </a:spcBef>
              <a:buNone/>
              <a:tabLst>
                <a:tab pos="1891030" algn="l"/>
                <a:tab pos="2338705" algn="l"/>
                <a:tab pos="2511425" algn="l"/>
              </a:tabLst>
            </a:pPr>
            <a:r>
              <a:rPr lang="en-US" altLang="zh-CN" sz="2000" dirty="0">
                <a:solidFill>
                  <a:srgbClr val="0000FF"/>
                </a:solidFill>
                <a:ea typeface="宋体" panose="02010600030101010101" pitchFamily="2" charset="-122"/>
              </a:rPr>
              <a:t>			else </a:t>
            </a:r>
          </a:p>
          <a:p>
            <a:pPr defTabSz="914400">
              <a:lnSpc>
                <a:spcPct val="80000"/>
              </a:lnSpc>
              <a:spcBef>
                <a:spcPct val="15000"/>
              </a:spcBef>
              <a:buNone/>
              <a:tabLst>
                <a:tab pos="1891030" algn="l"/>
                <a:tab pos="2338705" algn="l"/>
                <a:tab pos="2511425" algn="l"/>
              </a:tabLst>
            </a:pPr>
            <a:r>
              <a:rPr lang="en-US" altLang="zh-CN" sz="2000" dirty="0">
                <a:solidFill>
                  <a:srgbClr val="0000FF"/>
                </a:solidFill>
                <a:ea typeface="宋体" panose="02010600030101010101" pitchFamily="2" charset="-122"/>
              </a:rPr>
              <a:t>				signal(mutex);</a:t>
            </a:r>
            <a:br>
              <a:rPr lang="en-US" altLang="zh-CN" sz="2000" dirty="0">
                <a:solidFill>
                  <a:srgbClr val="0000FF"/>
                </a:solidFill>
                <a:ea typeface="宋体" panose="02010600030101010101" pitchFamily="2" charset="-122"/>
              </a:rPr>
            </a:br>
            <a:endParaRPr lang="en-US" altLang="zh-CN" sz="2000" dirty="0">
              <a:solidFill>
                <a:srgbClr val="0000FF"/>
              </a:solidFill>
              <a:ea typeface="宋体" panose="02010600030101010101" pitchFamily="2" charset="-122"/>
            </a:endParaRPr>
          </a:p>
          <a:p>
            <a:pPr defTabSz="914400">
              <a:lnSpc>
                <a:spcPct val="80000"/>
              </a:lnSpc>
              <a:tabLst>
                <a:tab pos="1891030" algn="l"/>
                <a:tab pos="2338705" algn="l"/>
                <a:tab pos="2511425" algn="l"/>
              </a:tabLst>
            </a:pPr>
            <a:r>
              <a:rPr lang="en-US" altLang="zh-CN" sz="2000" dirty="0">
                <a:ea typeface="宋体" panose="02010600030101010101" pitchFamily="2" charset="-122"/>
              </a:rPr>
              <a:t>Mutual exclusion within a monitor is ensured.</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5105" name="Rectangle 2"/>
          <p:cNvSpPr>
            <a:spLocks noGrp="1"/>
          </p:cNvSpPr>
          <p:nvPr>
            <p:ph type="title" idx="4294967295"/>
          </p:nvPr>
        </p:nvSpPr>
        <p:spPr>
          <a:ln/>
        </p:spPr>
        <p:txBody>
          <a:bodyPr vert="horz" wrap="square" lIns="91440" tIns="45720" rIns="91440" bIns="45720" anchor="b" anchorCtr="0"/>
          <a:lstStyle/>
          <a:p>
            <a:r>
              <a:rPr lang="en-US" altLang="zh-CN" dirty="0">
                <a:ea typeface="宋体" panose="02010600030101010101" pitchFamily="2" charset="-122"/>
              </a:rPr>
              <a:t>Monitor Implementation</a:t>
            </a:r>
          </a:p>
        </p:txBody>
      </p:sp>
      <p:sp>
        <p:nvSpPr>
          <p:cNvPr id="175106" name="Rectangle 3"/>
          <p:cNvSpPr>
            <a:spLocks noGrp="1"/>
          </p:cNvSpPr>
          <p:nvPr>
            <p:ph type="body" idx="4294967295"/>
          </p:nvPr>
        </p:nvSpPr>
        <p:spPr>
          <a:xfrm>
            <a:off x="290513" y="1100138"/>
            <a:ext cx="8623300" cy="1096962"/>
          </a:xfrm>
          <a:ln/>
        </p:spPr>
        <p:txBody>
          <a:bodyPr vert="horz" wrap="square" lIns="91440" tIns="45720" rIns="91440" bIns="45720" anchor="t" anchorCtr="0"/>
          <a:lstStyle/>
          <a:p>
            <a:pPr defTabSz="914400">
              <a:lnSpc>
                <a:spcPct val="90000"/>
              </a:lnSpc>
              <a:spcBef>
                <a:spcPct val="15000"/>
              </a:spcBef>
              <a:tabLst>
                <a:tab pos="1833880" algn="l"/>
                <a:tab pos="2222500" algn="l"/>
              </a:tabLst>
            </a:pPr>
            <a:r>
              <a:rPr lang="en-US" altLang="zh-CN" sz="2000" dirty="0">
                <a:ea typeface="宋体" panose="02010600030101010101" pitchFamily="2" charset="-122"/>
              </a:rPr>
              <a:t>For each condition variable </a:t>
            </a:r>
            <a:r>
              <a:rPr lang="en-US" altLang="zh-CN" sz="2000" b="1" i="1" dirty="0">
                <a:ea typeface="宋体" panose="02010600030101010101" pitchFamily="2" charset="-122"/>
              </a:rPr>
              <a:t>x</a:t>
            </a:r>
            <a:r>
              <a:rPr lang="en-US" altLang="zh-CN" sz="2000" dirty="0">
                <a:ea typeface="宋体" panose="02010600030101010101" pitchFamily="2" charset="-122"/>
              </a:rPr>
              <a:t>, we  have:</a:t>
            </a:r>
          </a:p>
          <a:p>
            <a:pPr defTabSz="914400">
              <a:lnSpc>
                <a:spcPct val="90000"/>
              </a:lnSpc>
              <a:spcBef>
                <a:spcPct val="15000"/>
              </a:spcBef>
              <a:buNone/>
              <a:tabLst>
                <a:tab pos="1833880" algn="l"/>
                <a:tab pos="2222500" algn="l"/>
              </a:tabLst>
            </a:pPr>
            <a:r>
              <a:rPr lang="en-US" altLang="zh-CN" sz="2000" dirty="0">
                <a:ea typeface="宋体" panose="02010600030101010101" pitchFamily="2" charset="-122"/>
              </a:rPr>
              <a:t>		</a:t>
            </a:r>
            <a:r>
              <a:rPr lang="en-US" altLang="zh-CN" sz="2000" dirty="0">
                <a:solidFill>
                  <a:srgbClr val="0000FF"/>
                </a:solidFill>
                <a:ea typeface="宋体" panose="02010600030101010101" pitchFamily="2" charset="-122"/>
              </a:rPr>
              <a:t>semaphore x-sem; // (initially  = 0)</a:t>
            </a:r>
          </a:p>
          <a:p>
            <a:pPr defTabSz="914400">
              <a:lnSpc>
                <a:spcPct val="90000"/>
              </a:lnSpc>
              <a:spcBef>
                <a:spcPct val="15000"/>
              </a:spcBef>
              <a:buNone/>
              <a:tabLst>
                <a:tab pos="1833880" algn="l"/>
                <a:tab pos="2222500" algn="l"/>
              </a:tabLst>
            </a:pPr>
            <a:r>
              <a:rPr lang="en-US" altLang="zh-CN" sz="2000" dirty="0">
                <a:solidFill>
                  <a:srgbClr val="0000FF"/>
                </a:solidFill>
                <a:ea typeface="宋体" panose="02010600030101010101" pitchFamily="2" charset="-122"/>
              </a:rPr>
              <a:t>		int x-count = 0;//</a:t>
            </a:r>
            <a:r>
              <a:rPr lang="zh-CN" altLang="en-US" sz="2000" dirty="0">
                <a:solidFill>
                  <a:srgbClr val="0000FF"/>
                </a:solidFill>
                <a:ea typeface="宋体" panose="02010600030101010101" pitchFamily="2" charset="-122"/>
              </a:rPr>
              <a:t>表示因调用</a:t>
            </a:r>
            <a:r>
              <a:rPr lang="en-US" altLang="zh-CN" sz="2000" dirty="0">
                <a:solidFill>
                  <a:srgbClr val="0000FF"/>
                </a:solidFill>
                <a:ea typeface="宋体" panose="02010600030101010101" pitchFamily="2" charset="-122"/>
              </a:rPr>
              <a:t>x.wait</a:t>
            </a:r>
            <a:r>
              <a:rPr lang="zh-CN" altLang="en-US" sz="2000" dirty="0">
                <a:solidFill>
                  <a:srgbClr val="0000FF"/>
                </a:solidFill>
                <a:ea typeface="宋体" panose="02010600030101010101" pitchFamily="2" charset="-122"/>
              </a:rPr>
              <a:t>而等待的进程数</a:t>
            </a:r>
            <a:br>
              <a:rPr lang="en-US" altLang="zh-CN" sz="2000" dirty="0">
                <a:solidFill>
                  <a:srgbClr val="0000FF"/>
                </a:solidFill>
                <a:ea typeface="宋体" panose="02010600030101010101" pitchFamily="2" charset="-122"/>
              </a:rPr>
            </a:br>
            <a:endParaRPr lang="en-US" altLang="zh-CN" sz="2000" dirty="0">
              <a:solidFill>
                <a:srgbClr val="0000FF"/>
              </a:solidFill>
              <a:ea typeface="宋体" panose="02010600030101010101" pitchFamily="2" charset="-122"/>
            </a:endParaRPr>
          </a:p>
          <a:p>
            <a:pPr defTabSz="914400">
              <a:lnSpc>
                <a:spcPct val="90000"/>
              </a:lnSpc>
              <a:spcBef>
                <a:spcPct val="15000"/>
              </a:spcBef>
              <a:buNone/>
              <a:tabLst>
                <a:tab pos="1833880" algn="l"/>
                <a:tab pos="2222500" algn="l"/>
              </a:tabLst>
            </a:pPr>
            <a:r>
              <a:rPr lang="en-US" altLang="zh-CN" sz="2000" b="1" dirty="0">
                <a:ea typeface="宋体" panose="02010600030101010101" pitchFamily="2" charset="-122"/>
              </a:rPr>
              <a:t>		</a:t>
            </a:r>
          </a:p>
        </p:txBody>
      </p:sp>
      <p:sp>
        <p:nvSpPr>
          <p:cNvPr id="175107" name="Rectangle 3"/>
          <p:cNvSpPr txBox="1"/>
          <p:nvPr/>
        </p:nvSpPr>
        <p:spPr>
          <a:xfrm>
            <a:off x="4441825" y="2719388"/>
            <a:ext cx="4702175" cy="3681412"/>
          </a:xfrm>
          <a:prstGeom prst="rect">
            <a:avLst/>
          </a:prstGeom>
          <a:noFill/>
          <a:ln w="9525">
            <a:noFill/>
          </a:ln>
        </p:spPr>
        <p:txBody>
          <a:bodyPr anchor="t" anchorCtr="0"/>
          <a:lstStyle/>
          <a:p>
            <a:pPr marL="342900" indent="-342900" defTabSz="914400" eaLnBrk="0" hangingPunct="0">
              <a:spcBef>
                <a:spcPct val="35000"/>
              </a:spcBef>
              <a:buClr>
                <a:srgbClr val="993300"/>
              </a:buClr>
              <a:buSzPct val="90000"/>
              <a:buFont typeface="Wingdings" panose="05000000000000000000" pitchFamily="2" charset="2"/>
              <a:buChar char="u"/>
              <a:tabLst>
                <a:tab pos="1371600" algn="l"/>
                <a:tab pos="1717675" algn="l"/>
                <a:tab pos="2338705" algn="l"/>
              </a:tabLst>
            </a:pPr>
            <a:r>
              <a:rPr lang="en-US" altLang="zh-CN" b="1" dirty="0">
                <a:solidFill>
                  <a:srgbClr val="0000FF"/>
                </a:solidFill>
                <a:latin typeface="Helvetica" pitchFamily="34" charset="0"/>
                <a:ea typeface="宋体" panose="02010600030101010101" pitchFamily="2" charset="-122"/>
              </a:rPr>
              <a:t>x.signal </a:t>
            </a:r>
            <a:r>
              <a:rPr lang="en-US" altLang="zh-CN" b="1" dirty="0">
                <a:latin typeface="Helvetica" pitchFamily="34" charset="0"/>
                <a:ea typeface="宋体" panose="02010600030101010101" pitchFamily="2" charset="-122"/>
              </a:rPr>
              <a:t>can be implemented as:</a:t>
            </a:r>
            <a:br>
              <a:rPr lang="en-US" altLang="zh-CN" b="1" dirty="0">
                <a:latin typeface="Helvetica" pitchFamily="34" charset="0"/>
                <a:ea typeface="宋体" panose="02010600030101010101" pitchFamily="2" charset="-122"/>
              </a:rPr>
            </a:br>
            <a:r>
              <a:rPr lang="en-US" altLang="zh-CN" b="1" dirty="0">
                <a:latin typeface="Helvetica" pitchFamily="34" charset="0"/>
                <a:ea typeface="宋体" panose="02010600030101010101" pitchFamily="2" charset="-122"/>
              </a:rPr>
              <a:t>      </a:t>
            </a:r>
            <a:r>
              <a:rPr lang="en-US" altLang="zh-CN" b="1" dirty="0">
                <a:solidFill>
                  <a:srgbClr val="0000FF"/>
                </a:solidFill>
                <a:latin typeface="Helvetica" pitchFamily="34" charset="0"/>
                <a:ea typeface="宋体" panose="02010600030101010101" pitchFamily="2" charset="-122"/>
              </a:rPr>
              <a:t>if (x-count &gt; 0) {</a:t>
            </a:r>
          </a:p>
          <a:p>
            <a:pPr marL="342900" indent="-342900" defTabSz="914400" eaLnBrk="0" hangingPunct="0">
              <a:lnSpc>
                <a:spcPct val="150000"/>
              </a:lnSpc>
              <a:spcBef>
                <a:spcPct val="15000"/>
              </a:spcBef>
              <a:buClr>
                <a:srgbClr val="993300"/>
              </a:buClr>
              <a:buSzPct val="90000"/>
              <a:buFont typeface="Monotype Sorts" charset="2"/>
              <a:tabLst>
                <a:tab pos="1371600" algn="l"/>
                <a:tab pos="1717675" algn="l"/>
                <a:tab pos="2338705" algn="l"/>
              </a:tabLst>
            </a:pPr>
            <a:r>
              <a:rPr lang="en-US" altLang="zh-CN" b="1" dirty="0">
                <a:solidFill>
                  <a:srgbClr val="0000FF"/>
                </a:solidFill>
                <a:latin typeface="Helvetica" pitchFamily="34" charset="0"/>
                <a:ea typeface="宋体" panose="02010600030101010101" pitchFamily="2" charset="-122"/>
              </a:rPr>
              <a:t>		next-count++;</a:t>
            </a:r>
          </a:p>
          <a:p>
            <a:pPr marL="342900" indent="-342900" defTabSz="914400" eaLnBrk="0" hangingPunct="0">
              <a:lnSpc>
                <a:spcPct val="150000"/>
              </a:lnSpc>
              <a:spcBef>
                <a:spcPct val="15000"/>
              </a:spcBef>
              <a:buClr>
                <a:srgbClr val="993300"/>
              </a:buClr>
              <a:buSzPct val="90000"/>
              <a:buFont typeface="Monotype Sorts" charset="2"/>
              <a:tabLst>
                <a:tab pos="1371600" algn="l"/>
                <a:tab pos="1717675" algn="l"/>
                <a:tab pos="2338705" algn="l"/>
              </a:tabLst>
            </a:pPr>
            <a:r>
              <a:rPr lang="en-US" altLang="zh-CN" b="1" dirty="0">
                <a:solidFill>
                  <a:srgbClr val="0000FF"/>
                </a:solidFill>
                <a:latin typeface="Helvetica" pitchFamily="34" charset="0"/>
                <a:ea typeface="宋体" panose="02010600030101010101" pitchFamily="2" charset="-122"/>
              </a:rPr>
              <a:t>		signal(x-sem);</a:t>
            </a:r>
          </a:p>
          <a:p>
            <a:pPr marL="342900" indent="-342900" defTabSz="914400" eaLnBrk="0" hangingPunct="0">
              <a:spcBef>
                <a:spcPct val="15000"/>
              </a:spcBef>
              <a:buClr>
                <a:srgbClr val="993300"/>
              </a:buClr>
              <a:buSzPct val="90000"/>
              <a:buFont typeface="Monotype Sorts" charset="2"/>
              <a:tabLst>
                <a:tab pos="1371600" algn="l"/>
                <a:tab pos="1717675" algn="l"/>
                <a:tab pos="2338705" algn="l"/>
              </a:tabLst>
            </a:pPr>
            <a:r>
              <a:rPr lang="en-US" altLang="zh-CN" b="1" dirty="0">
                <a:solidFill>
                  <a:srgbClr val="0000FF"/>
                </a:solidFill>
                <a:latin typeface="Helvetica" pitchFamily="34" charset="0"/>
                <a:ea typeface="宋体" panose="02010600030101010101" pitchFamily="2" charset="-122"/>
              </a:rPr>
              <a:t>		wait(next);</a:t>
            </a:r>
          </a:p>
          <a:p>
            <a:pPr marL="342900" indent="-342900" defTabSz="914400" eaLnBrk="0" hangingPunct="0">
              <a:spcBef>
                <a:spcPct val="15000"/>
              </a:spcBef>
              <a:buClr>
                <a:srgbClr val="993300"/>
              </a:buClr>
              <a:buSzPct val="90000"/>
              <a:buFont typeface="Monotype Sorts" charset="2"/>
              <a:tabLst>
                <a:tab pos="1371600" algn="l"/>
                <a:tab pos="1717675" algn="l"/>
                <a:tab pos="2338705" algn="l"/>
              </a:tabLst>
            </a:pPr>
            <a:r>
              <a:rPr lang="en-US" altLang="zh-CN" b="1" dirty="0">
                <a:solidFill>
                  <a:srgbClr val="0000FF"/>
                </a:solidFill>
                <a:latin typeface="Helvetica" pitchFamily="34" charset="0"/>
                <a:ea typeface="宋体" panose="02010600030101010101" pitchFamily="2" charset="-122"/>
              </a:rPr>
              <a:t>                    //</a:t>
            </a:r>
            <a:r>
              <a:rPr lang="zh-CN" altLang="en-US" b="1" dirty="0">
                <a:solidFill>
                  <a:srgbClr val="0000FF"/>
                </a:solidFill>
                <a:latin typeface="Helvetica" pitchFamily="34" charset="0"/>
                <a:ea typeface="宋体" panose="02010600030101010101" pitchFamily="2" charset="-122"/>
              </a:rPr>
              <a:t>只允许一个进程活动</a:t>
            </a:r>
            <a:endParaRPr lang="en-US" altLang="zh-CN" b="1" dirty="0">
              <a:solidFill>
                <a:srgbClr val="0000FF"/>
              </a:solidFill>
              <a:latin typeface="Helvetica" pitchFamily="34" charset="0"/>
              <a:ea typeface="宋体" panose="02010600030101010101" pitchFamily="2" charset="-122"/>
            </a:endParaRPr>
          </a:p>
          <a:p>
            <a:pPr marL="342900" indent="-342900" defTabSz="914400" eaLnBrk="0" hangingPunct="0">
              <a:lnSpc>
                <a:spcPct val="150000"/>
              </a:lnSpc>
              <a:spcBef>
                <a:spcPct val="15000"/>
              </a:spcBef>
              <a:buClr>
                <a:srgbClr val="993300"/>
              </a:buClr>
              <a:buSzPct val="90000"/>
              <a:buFont typeface="Monotype Sorts" charset="2"/>
              <a:tabLst>
                <a:tab pos="1371600" algn="l"/>
                <a:tab pos="1717675" algn="l"/>
                <a:tab pos="2338705" algn="l"/>
              </a:tabLst>
            </a:pPr>
            <a:r>
              <a:rPr lang="en-US" altLang="zh-CN" b="1" dirty="0">
                <a:solidFill>
                  <a:srgbClr val="0000FF"/>
                </a:solidFill>
                <a:latin typeface="Helvetica" pitchFamily="34" charset="0"/>
                <a:ea typeface="宋体" panose="02010600030101010101" pitchFamily="2" charset="-122"/>
              </a:rPr>
              <a:t>		next-count--;</a:t>
            </a:r>
          </a:p>
          <a:p>
            <a:pPr marL="342900" indent="-342900" defTabSz="914400" eaLnBrk="0" hangingPunct="0">
              <a:lnSpc>
                <a:spcPct val="150000"/>
              </a:lnSpc>
              <a:spcBef>
                <a:spcPct val="15000"/>
              </a:spcBef>
              <a:buClr>
                <a:srgbClr val="993300"/>
              </a:buClr>
              <a:buSzPct val="90000"/>
              <a:buFont typeface="Monotype Sorts" charset="2"/>
              <a:tabLst>
                <a:tab pos="1371600" algn="l"/>
                <a:tab pos="1717675" algn="l"/>
                <a:tab pos="2338705" algn="l"/>
              </a:tabLst>
            </a:pPr>
            <a:r>
              <a:rPr lang="en-US" altLang="zh-CN" b="1" dirty="0">
                <a:solidFill>
                  <a:srgbClr val="0000FF"/>
                </a:solidFill>
                <a:latin typeface="Helvetica" pitchFamily="34" charset="0"/>
                <a:ea typeface="宋体" panose="02010600030101010101" pitchFamily="2" charset="-122"/>
              </a:rPr>
              <a:t>	         }</a:t>
            </a:r>
          </a:p>
          <a:p>
            <a:pPr marL="342900" indent="-342900" defTabSz="914400" eaLnBrk="0" hangingPunct="0">
              <a:spcBef>
                <a:spcPct val="15000"/>
              </a:spcBef>
              <a:buClr>
                <a:srgbClr val="993300"/>
              </a:buClr>
              <a:buSzPct val="90000"/>
              <a:buFont typeface="Monotype Sorts" charset="2"/>
              <a:tabLst>
                <a:tab pos="1371600" algn="l"/>
                <a:tab pos="1717675" algn="l"/>
                <a:tab pos="2338705" algn="l"/>
              </a:tabLst>
            </a:pPr>
            <a:r>
              <a:rPr lang="en-US" altLang="zh-CN" b="1" dirty="0">
                <a:latin typeface="Helvetica" pitchFamily="34" charset="0"/>
                <a:ea typeface="宋体" panose="02010600030101010101" pitchFamily="2" charset="-122"/>
              </a:rPr>
              <a:t>			</a:t>
            </a:r>
          </a:p>
        </p:txBody>
      </p:sp>
      <p:sp>
        <p:nvSpPr>
          <p:cNvPr id="175108" name="矩形 4"/>
          <p:cNvSpPr/>
          <p:nvPr/>
        </p:nvSpPr>
        <p:spPr>
          <a:xfrm>
            <a:off x="0" y="2755900"/>
            <a:ext cx="4505325" cy="3517900"/>
          </a:xfrm>
          <a:prstGeom prst="rect">
            <a:avLst/>
          </a:prstGeom>
          <a:noFill/>
          <a:ln w="9525">
            <a:noFill/>
          </a:ln>
        </p:spPr>
        <p:txBody>
          <a:bodyPr anchor="t" anchorCtr="0">
            <a:spAutoFit/>
          </a:bodyPr>
          <a:lstStyle/>
          <a:p>
            <a:pPr defTabSz="914400" eaLnBrk="0" hangingPunct="0">
              <a:lnSpc>
                <a:spcPct val="90000"/>
              </a:lnSpc>
              <a:spcBef>
                <a:spcPct val="15000"/>
              </a:spcBef>
              <a:buFont typeface="Wingdings" panose="05000000000000000000" pitchFamily="2" charset="2"/>
              <a:buChar char="u"/>
              <a:tabLst>
                <a:tab pos="1833880" algn="l"/>
                <a:tab pos="2222500" algn="l"/>
              </a:tabLst>
            </a:pPr>
            <a:r>
              <a:rPr lang="en-US" altLang="zh-CN" sz="1800" b="1" dirty="0">
                <a:solidFill>
                  <a:srgbClr val="0000FF"/>
                </a:solidFill>
                <a:latin typeface="Verdana" panose="020B0604030504040204" pitchFamily="34" charset="0"/>
                <a:ea typeface="宋体" panose="02010600030101010101" pitchFamily="2" charset="-122"/>
              </a:rPr>
              <a:t>x.wait</a:t>
            </a:r>
            <a:r>
              <a:rPr lang="en-US" altLang="zh-CN" sz="1800" b="1" dirty="0">
                <a:latin typeface="Verdana" panose="020B0604030504040204" pitchFamily="34" charset="0"/>
                <a:ea typeface="宋体" panose="02010600030101010101" pitchFamily="2" charset="-122"/>
              </a:rPr>
              <a:t> can be implemented as:</a:t>
            </a:r>
          </a:p>
          <a:p>
            <a:pPr defTabSz="914400" eaLnBrk="0" hangingPunct="0">
              <a:lnSpc>
                <a:spcPct val="150000"/>
              </a:lnSpc>
              <a:spcBef>
                <a:spcPct val="15000"/>
              </a:spcBef>
              <a:buFont typeface="Monotype Sorts" charset="2"/>
              <a:tabLst>
                <a:tab pos="1833880" algn="l"/>
                <a:tab pos="2222500" algn="l"/>
              </a:tabLst>
            </a:pPr>
            <a:r>
              <a:rPr lang="en-US" altLang="zh-CN" sz="1800" b="1" dirty="0">
                <a:solidFill>
                  <a:srgbClr val="0000FF"/>
                </a:solidFill>
                <a:latin typeface="Verdana" panose="020B0604030504040204" pitchFamily="34" charset="0"/>
                <a:ea typeface="宋体" panose="02010600030101010101" pitchFamily="2" charset="-122"/>
              </a:rPr>
              <a:t>        x-count++;</a:t>
            </a:r>
          </a:p>
          <a:p>
            <a:pPr defTabSz="914400" eaLnBrk="0" hangingPunct="0">
              <a:lnSpc>
                <a:spcPct val="150000"/>
              </a:lnSpc>
              <a:spcBef>
                <a:spcPct val="15000"/>
              </a:spcBef>
              <a:buFont typeface="Monotype Sorts" charset="2"/>
              <a:tabLst>
                <a:tab pos="1833880" algn="l"/>
                <a:tab pos="2222500" algn="l"/>
              </a:tabLst>
            </a:pPr>
            <a:r>
              <a:rPr lang="en-US" altLang="zh-CN" sz="1800" b="1" dirty="0">
                <a:solidFill>
                  <a:srgbClr val="0000FF"/>
                </a:solidFill>
                <a:latin typeface="Verdana" panose="020B0604030504040204" pitchFamily="34" charset="0"/>
                <a:ea typeface="宋体" panose="02010600030101010101" pitchFamily="2" charset="-122"/>
              </a:rPr>
              <a:t>        if (next-count &gt; 0)</a:t>
            </a:r>
          </a:p>
          <a:p>
            <a:pPr defTabSz="914400" eaLnBrk="0" hangingPunct="0">
              <a:lnSpc>
                <a:spcPct val="150000"/>
              </a:lnSpc>
              <a:spcBef>
                <a:spcPct val="15000"/>
              </a:spcBef>
              <a:buFont typeface="Monotype Sorts" charset="2"/>
              <a:tabLst>
                <a:tab pos="1833880" algn="l"/>
                <a:tab pos="2222500" algn="l"/>
              </a:tabLst>
            </a:pPr>
            <a:r>
              <a:rPr lang="en-US" altLang="zh-CN" sz="1800" b="1" dirty="0">
                <a:solidFill>
                  <a:srgbClr val="0000FF"/>
                </a:solidFill>
                <a:latin typeface="Verdana" panose="020B0604030504040204" pitchFamily="34" charset="0"/>
                <a:ea typeface="宋体" panose="02010600030101010101" pitchFamily="2" charset="-122"/>
              </a:rPr>
              <a:t>                 signal(next);</a:t>
            </a:r>
          </a:p>
          <a:p>
            <a:pPr defTabSz="914400" eaLnBrk="0" hangingPunct="0">
              <a:lnSpc>
                <a:spcPct val="150000"/>
              </a:lnSpc>
              <a:spcBef>
                <a:spcPct val="15000"/>
              </a:spcBef>
              <a:buFont typeface="Monotype Sorts" charset="2"/>
              <a:tabLst>
                <a:tab pos="1833880" algn="l"/>
                <a:tab pos="2222500" algn="l"/>
              </a:tabLst>
            </a:pPr>
            <a:r>
              <a:rPr lang="en-US" altLang="zh-CN" sz="1800" b="1" dirty="0">
                <a:solidFill>
                  <a:srgbClr val="0000FF"/>
                </a:solidFill>
                <a:latin typeface="Verdana" panose="020B0604030504040204" pitchFamily="34" charset="0"/>
                <a:ea typeface="宋体" panose="02010600030101010101" pitchFamily="2" charset="-122"/>
              </a:rPr>
              <a:t>        else</a:t>
            </a:r>
          </a:p>
          <a:p>
            <a:pPr defTabSz="914400" eaLnBrk="0" hangingPunct="0">
              <a:lnSpc>
                <a:spcPct val="150000"/>
              </a:lnSpc>
              <a:spcBef>
                <a:spcPct val="15000"/>
              </a:spcBef>
              <a:buFont typeface="Monotype Sorts" charset="2"/>
              <a:tabLst>
                <a:tab pos="1833880" algn="l"/>
                <a:tab pos="2222500" algn="l"/>
              </a:tabLst>
            </a:pPr>
            <a:r>
              <a:rPr lang="en-US" altLang="zh-CN" sz="1800" b="1" dirty="0">
                <a:solidFill>
                  <a:srgbClr val="0000FF"/>
                </a:solidFill>
                <a:latin typeface="Verdana" panose="020B0604030504040204" pitchFamily="34" charset="0"/>
                <a:ea typeface="宋体" panose="02010600030101010101" pitchFamily="2" charset="-122"/>
              </a:rPr>
              <a:t>                 signal(mutex);</a:t>
            </a:r>
          </a:p>
          <a:p>
            <a:pPr defTabSz="914400" eaLnBrk="0" hangingPunct="0">
              <a:lnSpc>
                <a:spcPct val="150000"/>
              </a:lnSpc>
              <a:spcBef>
                <a:spcPct val="15000"/>
              </a:spcBef>
              <a:buFont typeface="Monotype Sorts" charset="2"/>
              <a:tabLst>
                <a:tab pos="1833880" algn="l"/>
                <a:tab pos="2222500" algn="l"/>
              </a:tabLst>
            </a:pPr>
            <a:r>
              <a:rPr lang="en-US" altLang="zh-CN" sz="1800" b="1" dirty="0">
                <a:solidFill>
                  <a:srgbClr val="0000FF"/>
                </a:solidFill>
                <a:latin typeface="Verdana" panose="020B0604030504040204" pitchFamily="34" charset="0"/>
                <a:ea typeface="宋体" panose="02010600030101010101" pitchFamily="2" charset="-122"/>
              </a:rPr>
              <a:t>        wait(x-sem);</a:t>
            </a:r>
          </a:p>
          <a:p>
            <a:pPr defTabSz="914400" eaLnBrk="0" hangingPunct="0">
              <a:lnSpc>
                <a:spcPct val="150000"/>
              </a:lnSpc>
              <a:spcBef>
                <a:spcPct val="15000"/>
              </a:spcBef>
              <a:buFont typeface="Monotype Sorts" charset="2"/>
              <a:tabLst>
                <a:tab pos="1833880" algn="l"/>
                <a:tab pos="2222500" algn="l"/>
              </a:tabLst>
            </a:pPr>
            <a:r>
              <a:rPr lang="en-US" altLang="zh-CN" sz="1800" b="1" dirty="0">
                <a:solidFill>
                  <a:srgbClr val="0000FF"/>
                </a:solidFill>
                <a:latin typeface="Verdana" panose="020B0604030504040204" pitchFamily="34" charset="0"/>
                <a:ea typeface="宋体" panose="02010600030101010101" pitchFamily="2" charset="-122"/>
              </a:rPr>
              <a:t>        x-count--;</a:t>
            </a:r>
          </a:p>
        </p:txBody>
      </p:sp>
      <p:cxnSp>
        <p:nvCxnSpPr>
          <p:cNvPr id="175109" name="直接箭头连接符 6"/>
          <p:cNvCxnSpPr/>
          <p:nvPr/>
        </p:nvCxnSpPr>
        <p:spPr>
          <a:xfrm>
            <a:off x="3235325" y="4178300"/>
            <a:ext cx="2505075" cy="485775"/>
          </a:xfrm>
          <a:prstGeom prst="straightConnector1">
            <a:avLst/>
          </a:prstGeom>
          <a:ln w="15875" cap="flat" cmpd="sng">
            <a:solidFill>
              <a:srgbClr val="C00000"/>
            </a:solidFill>
            <a:prstDash val="solid"/>
            <a:round/>
            <a:headEnd type="none" w="med" len="med"/>
            <a:tailEnd type="arrow" w="med" len="med"/>
          </a:ln>
        </p:spPr>
      </p:cxnSp>
      <p:cxnSp>
        <p:nvCxnSpPr>
          <p:cNvPr id="175110" name="直接箭头连接符 7"/>
          <p:cNvCxnSpPr/>
          <p:nvPr/>
        </p:nvCxnSpPr>
        <p:spPr>
          <a:xfrm rot="-10800000" flipV="1">
            <a:off x="2581275" y="4295775"/>
            <a:ext cx="3217863" cy="1354138"/>
          </a:xfrm>
          <a:prstGeom prst="straightConnector1">
            <a:avLst/>
          </a:prstGeom>
          <a:ln w="15875" cap="flat" cmpd="sng">
            <a:solidFill>
              <a:srgbClr val="C00000"/>
            </a:solidFill>
            <a:prstDash val="solid"/>
            <a:round/>
            <a:headEnd type="none" w="med" len="med"/>
            <a:tailEnd type="arrow" w="med" len="med"/>
          </a:ln>
        </p:spPr>
      </p:cxnSp>
      <p:sp>
        <p:nvSpPr>
          <p:cNvPr id="94216" name="AutoShape 6"/>
          <p:cNvSpPr/>
          <p:nvPr/>
        </p:nvSpPr>
        <p:spPr>
          <a:xfrm>
            <a:off x="422061" y="1598613"/>
            <a:ext cx="4373563" cy="1030287"/>
          </a:xfrm>
          <a:prstGeom prst="cloudCallout">
            <a:avLst>
              <a:gd name="adj1" fmla="val -9488"/>
              <a:gd name="adj2" fmla="val 171773"/>
            </a:avLst>
          </a:prstGeom>
          <a:solidFill>
            <a:srgbClr val="FFFF99"/>
          </a:solidFill>
          <a:ln w="9525" cap="flat" cmpd="sng">
            <a:solidFill>
              <a:schemeClr val="tx1"/>
            </a:solidFill>
            <a:prstDash val="solid"/>
            <a:round/>
            <a:headEnd type="none" w="med" len="med"/>
            <a:tailEnd type="none" w="med" len="med"/>
          </a:ln>
        </p:spPr>
        <p:txBody>
          <a:bodyPr anchor="t" anchorCtr="0"/>
          <a:lstStyle/>
          <a:p>
            <a:pPr eaLnBrk="0" hangingPunct="0"/>
            <a:r>
              <a:rPr lang="zh-CN" altLang="en-US" sz="1800" dirty="0">
                <a:latin typeface="Verdana" panose="020B0604030504040204" pitchFamily="34" charset="0"/>
              </a:rPr>
              <a:t>当前在管程中的进程因为资源不可用而等待</a:t>
            </a:r>
            <a:r>
              <a:rPr lang="en-US" altLang="zh-CN" sz="1800" dirty="0">
                <a:latin typeface="Verdana" panose="020B0604030504040204" pitchFamily="34" charset="0"/>
              </a:rPr>
              <a:t>,</a:t>
            </a:r>
            <a:r>
              <a:rPr lang="zh-CN" altLang="en-US" sz="1800" dirty="0">
                <a:latin typeface="Verdana" panose="020B0604030504040204" pitchFamily="34" charset="0"/>
              </a:rPr>
              <a:t>则需要唤醒一个进程进入管程</a:t>
            </a:r>
          </a:p>
        </p:txBody>
      </p:sp>
      <p:sp>
        <p:nvSpPr>
          <p:cNvPr id="94217" name="AutoShape 5"/>
          <p:cNvSpPr/>
          <p:nvPr/>
        </p:nvSpPr>
        <p:spPr>
          <a:xfrm>
            <a:off x="4795624" y="494110"/>
            <a:ext cx="4373562" cy="1030288"/>
          </a:xfrm>
          <a:prstGeom prst="cloudCallout">
            <a:avLst>
              <a:gd name="adj1" fmla="val -3410"/>
              <a:gd name="adj2" fmla="val 290175"/>
            </a:avLst>
          </a:prstGeom>
          <a:solidFill>
            <a:srgbClr val="FFFF99"/>
          </a:solidFill>
          <a:ln w="9525" cap="flat" cmpd="sng">
            <a:solidFill>
              <a:schemeClr val="tx1"/>
            </a:solidFill>
            <a:prstDash val="solid"/>
            <a:round/>
            <a:headEnd type="none" w="med" len="med"/>
            <a:tailEnd type="none" w="med" len="med"/>
          </a:ln>
        </p:spPr>
        <p:txBody>
          <a:bodyPr anchor="t" anchorCtr="0"/>
          <a:lstStyle/>
          <a:p>
            <a:pPr eaLnBrk="0" hangingPunct="0"/>
            <a:r>
              <a:rPr lang="zh-CN" altLang="en-US" sz="1800" dirty="0">
                <a:latin typeface="Verdana" panose="020B0604030504040204" pitchFamily="34" charset="0"/>
              </a:rPr>
              <a:t>因为唤醒了其他进程</a:t>
            </a:r>
            <a:r>
              <a:rPr lang="en-US" altLang="zh-CN" sz="1800" dirty="0">
                <a:latin typeface="Verdana" panose="020B0604030504040204" pitchFamily="34" charset="0"/>
              </a:rPr>
              <a:t>,</a:t>
            </a:r>
            <a:r>
              <a:rPr lang="zh-CN" altLang="en-US" sz="1800" dirty="0">
                <a:latin typeface="Verdana" panose="020B0604030504040204" pitchFamily="34" charset="0"/>
              </a:rPr>
              <a:t>则该进程需要等待直到被唤醒进程离开或等待为止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4216"/>
                                        </p:tgtEl>
                                        <p:attrNameLst>
                                          <p:attrName>style.visibility</p:attrName>
                                        </p:attrNameLst>
                                      </p:cBhvr>
                                      <p:to>
                                        <p:strVal val="visible"/>
                                      </p:to>
                                    </p:set>
                                    <p:anim calcmode="lin" valueType="num">
                                      <p:cBhvr additive="base">
                                        <p:cTn id="7" dur="500" fill="hold"/>
                                        <p:tgtEl>
                                          <p:spTgt spid="94216"/>
                                        </p:tgtEl>
                                        <p:attrNameLst>
                                          <p:attrName>ppt_x</p:attrName>
                                        </p:attrNameLst>
                                      </p:cBhvr>
                                      <p:tavLst>
                                        <p:tav tm="0">
                                          <p:val>
                                            <p:strVal val="#ppt_x"/>
                                          </p:val>
                                        </p:tav>
                                        <p:tav tm="100000">
                                          <p:val>
                                            <p:strVal val="#ppt_x"/>
                                          </p:val>
                                        </p:tav>
                                      </p:tavLst>
                                    </p:anim>
                                    <p:anim calcmode="lin" valueType="num">
                                      <p:cBhvr additive="base">
                                        <p:cTn id="8" dur="500" fill="hold"/>
                                        <p:tgtEl>
                                          <p:spTgt spid="942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4217"/>
                                        </p:tgtEl>
                                        <p:attrNameLst>
                                          <p:attrName>style.visibility</p:attrName>
                                        </p:attrNameLst>
                                      </p:cBhvr>
                                      <p:to>
                                        <p:strVal val="visible"/>
                                      </p:to>
                                    </p:set>
                                    <p:anim calcmode="lin" valueType="num">
                                      <p:cBhvr additive="base">
                                        <p:cTn id="13" dur="500" fill="hold"/>
                                        <p:tgtEl>
                                          <p:spTgt spid="94217"/>
                                        </p:tgtEl>
                                        <p:attrNameLst>
                                          <p:attrName>ppt_x</p:attrName>
                                        </p:attrNameLst>
                                      </p:cBhvr>
                                      <p:tavLst>
                                        <p:tav tm="0">
                                          <p:val>
                                            <p:strVal val="#ppt_x"/>
                                          </p:val>
                                        </p:tav>
                                        <p:tav tm="100000">
                                          <p:val>
                                            <p:strVal val="#ppt_x"/>
                                          </p:val>
                                        </p:tav>
                                      </p:tavLst>
                                    </p:anim>
                                    <p:anim calcmode="lin" valueType="num">
                                      <p:cBhvr additive="base">
                                        <p:cTn id="14" dur="500" fill="hold"/>
                                        <p:tgtEl>
                                          <p:spTgt spid="942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6" grpId="0" animBg="1"/>
      <p:bldP spid="94217"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E72E939-6B93-4ADE-AAE7-FE8AA06337FF}"/>
              </a:ext>
            </a:extLst>
          </p:cNvPr>
          <p:cNvSpPr txBox="1">
            <a:spLocks noChangeArrowheads="1"/>
          </p:cNvSpPr>
          <p:nvPr/>
        </p:nvSpPr>
        <p:spPr bwMode="auto">
          <a:xfrm>
            <a:off x="358775" y="958850"/>
            <a:ext cx="8343900"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如果有三个进程共享同一互斥段，而且每次最多允许两个进程进入该互斥段，则信号量的初值应设置为（ ）。</a:t>
            </a:r>
          </a:p>
          <a:p>
            <a:pPr>
              <a:spcBef>
                <a:spcPct val="0"/>
              </a:spcBef>
              <a:buClrTx/>
              <a:buSzTx/>
              <a:buFontTx/>
              <a:buNone/>
            </a:pPr>
            <a:r>
              <a:rPr kumimoji="0" lang="en-US" altLang="zh-CN">
                <a:latin typeface="Verdana" panose="020B0604030504040204" pitchFamily="34" charset="0"/>
              </a:rPr>
              <a:t>A. 3     B. 1     C. 2     D. 0</a:t>
            </a:r>
          </a:p>
          <a:p>
            <a:pPr>
              <a:spcBef>
                <a:spcPct val="0"/>
              </a:spcBef>
              <a:buClrTx/>
              <a:buSzTx/>
              <a:buFontTx/>
              <a:buNone/>
            </a:pPr>
            <a:endParaRPr kumimoji="0" lang="en-US" altLang="zh-CN" sz="2800">
              <a:latin typeface="Verdana" panose="020B0604030504040204" pitchFamily="34" charset="0"/>
            </a:endParaRPr>
          </a:p>
          <a:p>
            <a:pPr>
              <a:spcBef>
                <a:spcPct val="0"/>
              </a:spcBef>
              <a:buClrTx/>
              <a:buSzTx/>
              <a:buFontTx/>
              <a:buNone/>
            </a:pPr>
            <a:r>
              <a:rPr kumimoji="0" lang="zh-CN" altLang="en-US" sz="2800">
                <a:latin typeface="Verdana" panose="020B0604030504040204" pitchFamily="34" charset="0"/>
              </a:rPr>
              <a:t>答案：</a:t>
            </a:r>
            <a:r>
              <a:rPr kumimoji="0" lang="en-US" altLang="zh-CN" sz="2800">
                <a:latin typeface="Verdana" panose="020B0604030504040204" pitchFamily="34" charset="0"/>
              </a:rPr>
              <a:t> C</a:t>
            </a:r>
          </a:p>
        </p:txBody>
      </p:sp>
      <p:sp>
        <p:nvSpPr>
          <p:cNvPr id="227331" name="文本框 2">
            <a:extLst>
              <a:ext uri="{FF2B5EF4-FFF2-40B4-BE49-F238E27FC236}">
                <a16:creationId xmlns:a16="http://schemas.microsoft.com/office/drawing/2014/main" id="{62FFA46A-14C5-4683-BF97-B9396CE634A6}"/>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FFB6693-9F59-47F1-81A7-3B99253D6D82}"/>
              </a:ext>
            </a:extLst>
          </p:cNvPr>
          <p:cNvSpPr txBox="1">
            <a:spLocks noChangeArrowheads="1"/>
          </p:cNvSpPr>
          <p:nvPr/>
        </p:nvSpPr>
        <p:spPr bwMode="auto">
          <a:xfrm>
            <a:off x="358775" y="958850"/>
            <a:ext cx="8785225"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   </a:t>
            </a:r>
            <a:r>
              <a:rPr kumimoji="0" lang="en-US" altLang="zh-CN">
                <a:latin typeface="Verdana" panose="020B0604030504040204" pitchFamily="34" charset="0"/>
              </a:rPr>
              <a:t> </a:t>
            </a:r>
            <a:r>
              <a:rPr kumimoji="0" lang="zh-CN" altLang="en-US">
                <a:latin typeface="Verdana" panose="020B0604030504040204" pitchFamily="34" charset="0"/>
              </a:rPr>
              <a:t>）操作不是</a:t>
            </a:r>
            <a:r>
              <a:rPr kumimoji="0" lang="en-US" altLang="zh-CN">
                <a:latin typeface="Verdana" panose="020B0604030504040204" pitchFamily="34" charset="0"/>
              </a:rPr>
              <a:t>P</a:t>
            </a:r>
            <a:r>
              <a:rPr kumimoji="0" lang="zh-CN" altLang="en-US">
                <a:latin typeface="Verdana" panose="020B0604030504040204" pitchFamily="34" charset="0"/>
              </a:rPr>
              <a:t>操作可完成的。</a:t>
            </a:r>
          </a:p>
          <a:p>
            <a:pPr>
              <a:spcBef>
                <a:spcPct val="0"/>
              </a:spcBef>
              <a:buClrTx/>
              <a:buSzTx/>
              <a:buFontTx/>
              <a:buNone/>
            </a:pPr>
            <a:r>
              <a:rPr kumimoji="0" lang="en-US" altLang="zh-CN">
                <a:latin typeface="Verdana" panose="020B0604030504040204" pitchFamily="34" charset="0"/>
              </a:rPr>
              <a:t>A.</a:t>
            </a:r>
            <a:r>
              <a:rPr kumimoji="0" lang="zh-CN" altLang="en-US">
                <a:latin typeface="Verdana" panose="020B0604030504040204" pitchFamily="34" charset="0"/>
              </a:rPr>
              <a:t>为进程分配处理机    </a:t>
            </a:r>
            <a:r>
              <a:rPr kumimoji="0" lang="en-US" altLang="zh-CN">
                <a:latin typeface="Verdana" panose="020B0604030504040204" pitchFamily="34" charset="0"/>
              </a:rPr>
              <a:t>B.</a:t>
            </a:r>
            <a:r>
              <a:rPr kumimoji="0" lang="zh-CN" altLang="en-US">
                <a:latin typeface="Verdana" panose="020B0604030504040204" pitchFamily="34" charset="0"/>
              </a:rPr>
              <a:t>使信号量的值变小</a:t>
            </a:r>
          </a:p>
          <a:p>
            <a:pPr>
              <a:spcBef>
                <a:spcPct val="0"/>
              </a:spcBef>
              <a:buClrTx/>
              <a:buSzTx/>
              <a:buFontTx/>
              <a:buNone/>
            </a:pPr>
            <a:r>
              <a:rPr kumimoji="0" lang="en-US" altLang="zh-CN">
                <a:latin typeface="Verdana" panose="020B0604030504040204" pitchFamily="34" charset="0"/>
              </a:rPr>
              <a:t>C.</a:t>
            </a:r>
            <a:r>
              <a:rPr kumimoji="0" lang="zh-CN" altLang="en-US">
                <a:latin typeface="Verdana" panose="020B0604030504040204" pitchFamily="34" charset="0"/>
              </a:rPr>
              <a:t>可用于进程的同步    </a:t>
            </a:r>
            <a:r>
              <a:rPr kumimoji="0" lang="en-US" altLang="zh-CN">
                <a:latin typeface="Verdana" panose="020B0604030504040204" pitchFamily="34" charset="0"/>
              </a:rPr>
              <a:t>D.</a:t>
            </a:r>
            <a:r>
              <a:rPr kumimoji="0" lang="zh-CN" altLang="en-US">
                <a:latin typeface="Verdana" panose="020B0604030504040204" pitchFamily="34" charset="0"/>
              </a:rPr>
              <a:t>使进程进入阻塞状态</a:t>
            </a:r>
          </a:p>
          <a:p>
            <a:pPr>
              <a:spcBef>
                <a:spcPct val="0"/>
              </a:spcBef>
              <a:buClrTx/>
              <a:buSzTx/>
              <a:buFontTx/>
              <a:buNone/>
            </a:pPr>
            <a:endParaRPr kumimoji="0" lang="en-US" altLang="zh-CN" sz="2800">
              <a:latin typeface="Verdana" panose="020B0604030504040204" pitchFamily="34" charset="0"/>
            </a:endParaRPr>
          </a:p>
          <a:p>
            <a:pPr>
              <a:spcBef>
                <a:spcPct val="0"/>
              </a:spcBef>
              <a:buClrTx/>
              <a:buSzTx/>
              <a:buFontTx/>
              <a:buNone/>
            </a:pPr>
            <a:r>
              <a:rPr kumimoji="0" lang="zh-CN" altLang="en-US" sz="2800">
                <a:latin typeface="Verdana" panose="020B0604030504040204" pitchFamily="34" charset="0"/>
              </a:rPr>
              <a:t>答案：</a:t>
            </a:r>
            <a:r>
              <a:rPr kumimoji="0" lang="en-US" altLang="zh-CN" sz="2800">
                <a:latin typeface="Verdana" panose="020B0604030504040204" pitchFamily="34" charset="0"/>
              </a:rPr>
              <a:t> A</a:t>
            </a:r>
          </a:p>
        </p:txBody>
      </p:sp>
      <p:sp>
        <p:nvSpPr>
          <p:cNvPr id="229379" name="文本框 2">
            <a:extLst>
              <a:ext uri="{FF2B5EF4-FFF2-40B4-BE49-F238E27FC236}">
                <a16:creationId xmlns:a16="http://schemas.microsoft.com/office/drawing/2014/main" id="{18E12B1F-B1DB-4293-9328-523752EC0A48}"/>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A52D9F6-0906-4AB5-86C1-8362B49914A2}"/>
              </a:ext>
            </a:extLst>
          </p:cNvPr>
          <p:cNvSpPr txBox="1">
            <a:spLocks noChangeArrowheads="1"/>
          </p:cNvSpPr>
          <p:nvPr/>
        </p:nvSpPr>
        <p:spPr bwMode="auto">
          <a:xfrm>
            <a:off x="358775" y="958850"/>
            <a:ext cx="8343900"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en-US" altLang="zh-CN">
                <a:latin typeface="Verdana" panose="020B0604030504040204" pitchFamily="34" charset="0"/>
              </a:rPr>
              <a:t>【</a:t>
            </a:r>
            <a:r>
              <a:rPr kumimoji="0" lang="zh-CN" altLang="en-US">
                <a:latin typeface="Verdana" panose="020B0604030504040204" pitchFamily="34" charset="0"/>
              </a:rPr>
              <a:t>多选</a:t>
            </a:r>
            <a:r>
              <a:rPr kumimoji="0" lang="en-US" altLang="zh-CN">
                <a:latin typeface="Verdana" panose="020B0604030504040204" pitchFamily="34" charset="0"/>
              </a:rPr>
              <a:t>】</a:t>
            </a:r>
            <a:r>
              <a:rPr kumimoji="0" lang="zh-CN" altLang="en-US">
                <a:latin typeface="Verdana" panose="020B0604030504040204" pitchFamily="34" charset="0"/>
              </a:rPr>
              <a:t>进程从执行状态转换到阻塞状态的可能原因是</a:t>
            </a:r>
            <a:r>
              <a:rPr kumimoji="0" lang="en-US" altLang="zh-CN">
                <a:latin typeface="Verdana" panose="020B0604030504040204" pitchFamily="34" charset="0"/>
              </a:rPr>
              <a:t>().</a:t>
            </a:r>
          </a:p>
          <a:p>
            <a:pPr>
              <a:spcBef>
                <a:spcPct val="0"/>
              </a:spcBef>
              <a:buClrTx/>
              <a:buSzTx/>
              <a:buFontTx/>
              <a:buNone/>
            </a:pPr>
            <a:r>
              <a:rPr kumimoji="0" lang="en-US" altLang="zh-CN">
                <a:latin typeface="Verdana" panose="020B0604030504040204" pitchFamily="34" charset="0"/>
              </a:rPr>
              <a:t>A.</a:t>
            </a:r>
            <a:r>
              <a:rPr kumimoji="0" lang="zh-CN" altLang="en-US">
                <a:latin typeface="Verdana" panose="020B0604030504040204" pitchFamily="34" charset="0"/>
              </a:rPr>
              <a:t>时间片完           </a:t>
            </a:r>
            <a:endParaRPr kumimoji="0" lang="en-US" altLang="zh-CN">
              <a:latin typeface="Verdana" panose="020B0604030504040204" pitchFamily="34" charset="0"/>
            </a:endParaRPr>
          </a:p>
          <a:p>
            <a:pPr>
              <a:spcBef>
                <a:spcPct val="0"/>
              </a:spcBef>
              <a:buClrTx/>
              <a:buSzTx/>
              <a:buFontTx/>
              <a:buNone/>
            </a:pPr>
            <a:r>
              <a:rPr kumimoji="0" lang="en-US" altLang="zh-CN">
                <a:latin typeface="Verdana" panose="020B0604030504040204" pitchFamily="34" charset="0"/>
              </a:rPr>
              <a:t>B.</a:t>
            </a:r>
            <a:r>
              <a:rPr kumimoji="0" lang="zh-CN" altLang="en-US">
                <a:latin typeface="Verdana" panose="020B0604030504040204" pitchFamily="34" charset="0"/>
              </a:rPr>
              <a:t>需要等待其它进程的执行结果</a:t>
            </a:r>
          </a:p>
          <a:p>
            <a:pPr>
              <a:spcBef>
                <a:spcPct val="0"/>
              </a:spcBef>
              <a:buClrTx/>
              <a:buSzTx/>
              <a:buFontTx/>
              <a:buNone/>
            </a:pPr>
            <a:r>
              <a:rPr kumimoji="0" lang="en-US" altLang="zh-CN">
                <a:latin typeface="Verdana" panose="020B0604030504040204" pitchFamily="34" charset="0"/>
              </a:rPr>
              <a:t>C.</a:t>
            </a:r>
            <a:r>
              <a:rPr kumimoji="0" lang="zh-CN" altLang="en-US">
                <a:latin typeface="Verdana" panose="020B0604030504040204" pitchFamily="34" charset="0"/>
              </a:rPr>
              <a:t>执行了</a:t>
            </a:r>
            <a:r>
              <a:rPr kumimoji="0" lang="en-US" altLang="zh-CN">
                <a:latin typeface="Verdana" panose="020B0604030504040204" pitchFamily="34" charset="0"/>
              </a:rPr>
              <a:t>V</a:t>
            </a:r>
            <a:r>
              <a:rPr kumimoji="0" lang="zh-CN" altLang="en-US">
                <a:latin typeface="Verdana" panose="020B0604030504040204" pitchFamily="34" charset="0"/>
              </a:rPr>
              <a:t>操作       </a:t>
            </a:r>
            <a:endParaRPr kumimoji="0" lang="en-US" altLang="zh-CN">
              <a:latin typeface="Verdana" panose="020B0604030504040204" pitchFamily="34" charset="0"/>
            </a:endParaRPr>
          </a:p>
          <a:p>
            <a:pPr>
              <a:spcBef>
                <a:spcPct val="0"/>
              </a:spcBef>
              <a:buClrTx/>
              <a:buSzTx/>
              <a:buFontTx/>
              <a:buNone/>
            </a:pPr>
            <a:r>
              <a:rPr kumimoji="0" lang="en-US" altLang="zh-CN">
                <a:latin typeface="Verdana" panose="020B0604030504040204" pitchFamily="34" charset="0"/>
              </a:rPr>
              <a:t>D.</a:t>
            </a:r>
            <a:r>
              <a:rPr kumimoji="0" lang="zh-CN" altLang="en-US">
                <a:latin typeface="Verdana" panose="020B0604030504040204" pitchFamily="34" charset="0"/>
              </a:rPr>
              <a:t>执行了</a:t>
            </a:r>
            <a:r>
              <a:rPr kumimoji="0" lang="en-US" altLang="zh-CN">
                <a:latin typeface="Verdana" panose="020B0604030504040204" pitchFamily="34" charset="0"/>
              </a:rPr>
              <a:t>P</a:t>
            </a:r>
            <a:r>
              <a:rPr kumimoji="0" lang="zh-CN" altLang="en-US">
                <a:latin typeface="Verdana" panose="020B0604030504040204" pitchFamily="34" charset="0"/>
              </a:rPr>
              <a:t>操作</a:t>
            </a:r>
          </a:p>
          <a:p>
            <a:pPr>
              <a:spcBef>
                <a:spcPct val="0"/>
              </a:spcBef>
              <a:buClrTx/>
              <a:buSzTx/>
              <a:buFontTx/>
              <a:buNone/>
            </a:pPr>
            <a:endParaRPr kumimoji="0" lang="en-US" altLang="zh-CN" sz="2800">
              <a:latin typeface="Verdana" panose="020B0604030504040204" pitchFamily="34" charset="0"/>
            </a:endParaRPr>
          </a:p>
          <a:p>
            <a:pPr>
              <a:spcBef>
                <a:spcPct val="0"/>
              </a:spcBef>
              <a:buClrTx/>
              <a:buSzTx/>
              <a:buFontTx/>
              <a:buNone/>
            </a:pPr>
            <a:r>
              <a:rPr kumimoji="0" lang="zh-CN" altLang="en-US" sz="2800">
                <a:latin typeface="Verdana" panose="020B0604030504040204" pitchFamily="34" charset="0"/>
              </a:rPr>
              <a:t>答案：</a:t>
            </a:r>
            <a:r>
              <a:rPr kumimoji="0" lang="en-US" altLang="zh-CN" sz="2800">
                <a:latin typeface="Verdana" panose="020B0604030504040204" pitchFamily="34" charset="0"/>
              </a:rPr>
              <a:t> BD</a:t>
            </a:r>
          </a:p>
        </p:txBody>
      </p:sp>
      <p:sp>
        <p:nvSpPr>
          <p:cNvPr id="233475" name="文本框 2">
            <a:extLst>
              <a:ext uri="{FF2B5EF4-FFF2-40B4-BE49-F238E27FC236}">
                <a16:creationId xmlns:a16="http://schemas.microsoft.com/office/drawing/2014/main" id="{EFD99287-C52B-4690-83A4-CA659844A1D3}"/>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A114B8C-6389-4DD7-A39D-A1C053B777AD}"/>
              </a:ext>
            </a:extLst>
          </p:cNvPr>
          <p:cNvSpPr txBox="1">
            <a:spLocks noChangeArrowheads="1"/>
          </p:cNvSpPr>
          <p:nvPr/>
        </p:nvSpPr>
        <p:spPr bwMode="auto">
          <a:xfrm>
            <a:off x="358775" y="958850"/>
            <a:ext cx="8607425" cy="5693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en-US" altLang="zh-CN" sz="2800" dirty="0">
                <a:latin typeface="Verdana" panose="020B0604030504040204" pitchFamily="34" charset="0"/>
              </a:rPr>
              <a:t>【</a:t>
            </a:r>
            <a:r>
              <a:rPr kumimoji="0" lang="zh-CN" altLang="en-US" sz="2800" dirty="0">
                <a:latin typeface="Verdana" panose="020B0604030504040204" pitchFamily="34" charset="0"/>
              </a:rPr>
              <a:t>解答题</a:t>
            </a:r>
            <a:r>
              <a:rPr kumimoji="0" lang="en-US" altLang="zh-CN" sz="2800" dirty="0">
                <a:latin typeface="Verdana" panose="020B0604030504040204" pitchFamily="34" charset="0"/>
              </a:rPr>
              <a:t>】</a:t>
            </a:r>
            <a:r>
              <a:rPr kumimoji="0" lang="zh-CN" altLang="en-US" sz="2800" dirty="0">
                <a:latin typeface="Verdana" panose="020B0604030504040204" pitchFamily="34" charset="0"/>
              </a:rPr>
              <a:t>设有两个优先级相同的进程</a:t>
            </a:r>
            <a:r>
              <a:rPr kumimoji="0" lang="en-US" altLang="zh-CN" sz="2800" dirty="0">
                <a:latin typeface="Verdana" panose="020B0604030504040204" pitchFamily="34" charset="0"/>
              </a:rPr>
              <a:t>P1</a:t>
            </a:r>
            <a:r>
              <a:rPr kumimoji="0" lang="zh-CN" altLang="en-US" sz="2800" dirty="0">
                <a:latin typeface="Verdana" panose="020B0604030504040204" pitchFamily="34" charset="0"/>
              </a:rPr>
              <a:t>和</a:t>
            </a:r>
            <a:r>
              <a:rPr kumimoji="0" lang="en-US" altLang="zh-CN" sz="2800" dirty="0">
                <a:latin typeface="Verdana" panose="020B0604030504040204" pitchFamily="34" charset="0"/>
              </a:rPr>
              <a:t>P2</a:t>
            </a:r>
            <a:r>
              <a:rPr kumimoji="0" lang="zh-CN" altLang="en-US" sz="2800" dirty="0">
                <a:latin typeface="Verdana" panose="020B0604030504040204" pitchFamily="34" charset="0"/>
              </a:rPr>
              <a:t>如下。信号量</a:t>
            </a:r>
            <a:r>
              <a:rPr kumimoji="0" lang="en-US" altLang="zh-CN" sz="2800" dirty="0">
                <a:latin typeface="Verdana" panose="020B0604030504040204" pitchFamily="34" charset="0"/>
              </a:rPr>
              <a:t>S1</a:t>
            </a:r>
            <a:r>
              <a:rPr kumimoji="0" lang="zh-CN" altLang="en-US" sz="2800" dirty="0">
                <a:latin typeface="Verdana" panose="020B0604030504040204" pitchFamily="34" charset="0"/>
              </a:rPr>
              <a:t>和</a:t>
            </a:r>
            <a:r>
              <a:rPr kumimoji="0" lang="en-US" altLang="zh-CN" sz="2800" dirty="0">
                <a:latin typeface="Verdana" panose="020B0604030504040204" pitchFamily="34" charset="0"/>
              </a:rPr>
              <a:t>S2</a:t>
            </a:r>
            <a:r>
              <a:rPr kumimoji="0" lang="zh-CN" altLang="en-US" sz="2800" dirty="0">
                <a:latin typeface="Verdana" panose="020B0604030504040204" pitchFamily="34" charset="0"/>
              </a:rPr>
              <a:t>的初值均为</a:t>
            </a:r>
            <a:r>
              <a:rPr kumimoji="0" lang="en-US" altLang="zh-CN" sz="2800" dirty="0">
                <a:latin typeface="Verdana" panose="020B0604030504040204" pitchFamily="34" charset="0"/>
              </a:rPr>
              <a:t>0</a:t>
            </a:r>
            <a:r>
              <a:rPr kumimoji="0" lang="zh-CN" altLang="en-US" sz="2800" dirty="0">
                <a:latin typeface="Verdana" panose="020B0604030504040204" pitchFamily="34" charset="0"/>
              </a:rPr>
              <a:t>，试问</a:t>
            </a:r>
            <a:r>
              <a:rPr kumimoji="0" lang="en-US" altLang="zh-CN" sz="2800" dirty="0">
                <a:latin typeface="Verdana" panose="020B0604030504040204" pitchFamily="34" charset="0"/>
              </a:rPr>
              <a:t>P1</a:t>
            </a:r>
            <a:r>
              <a:rPr kumimoji="0" lang="zh-CN" altLang="en-US" sz="2800" dirty="0">
                <a:latin typeface="Verdana" panose="020B0604030504040204" pitchFamily="34" charset="0"/>
              </a:rPr>
              <a:t>、</a:t>
            </a:r>
            <a:r>
              <a:rPr kumimoji="0" lang="en-US" altLang="zh-CN" sz="2800" dirty="0">
                <a:latin typeface="Verdana" panose="020B0604030504040204" pitchFamily="34" charset="0"/>
              </a:rPr>
              <a:t>P2</a:t>
            </a:r>
            <a:r>
              <a:rPr kumimoji="0" lang="zh-CN" altLang="en-US" sz="2800" dirty="0">
                <a:latin typeface="Verdana" panose="020B0604030504040204" pitchFamily="34" charset="0"/>
              </a:rPr>
              <a:t>并发执行结束后，</a:t>
            </a:r>
            <a:r>
              <a:rPr kumimoji="0" lang="en-US" altLang="zh-CN" sz="2800" dirty="0">
                <a:latin typeface="Verdana" panose="020B0604030504040204" pitchFamily="34" charset="0"/>
              </a:rPr>
              <a:t>x=?</a:t>
            </a:r>
            <a:r>
              <a:rPr kumimoji="0" lang="zh-CN" altLang="en-US" sz="2800" dirty="0">
                <a:latin typeface="Verdana" panose="020B0604030504040204" pitchFamily="34" charset="0"/>
              </a:rPr>
              <a:t>，</a:t>
            </a:r>
            <a:r>
              <a:rPr kumimoji="0" lang="en-US" altLang="zh-CN" sz="2800" dirty="0">
                <a:latin typeface="Verdana" panose="020B0604030504040204" pitchFamily="34" charset="0"/>
              </a:rPr>
              <a:t>y=?</a:t>
            </a:r>
            <a:r>
              <a:rPr kumimoji="0" lang="zh-CN" altLang="en-US" sz="2800" dirty="0">
                <a:latin typeface="Verdana" panose="020B0604030504040204" pitchFamily="34" charset="0"/>
              </a:rPr>
              <a:t>，</a:t>
            </a:r>
            <a:r>
              <a:rPr kumimoji="0" lang="en-US" altLang="zh-CN" sz="2800" dirty="0">
                <a:latin typeface="Verdana" panose="020B0604030504040204" pitchFamily="34" charset="0"/>
              </a:rPr>
              <a:t>z=?</a:t>
            </a:r>
          </a:p>
          <a:p>
            <a:pPr>
              <a:spcBef>
                <a:spcPct val="0"/>
              </a:spcBef>
              <a:buClrTx/>
              <a:buSzTx/>
              <a:buFontTx/>
              <a:buNone/>
            </a:pPr>
            <a:r>
              <a:rPr kumimoji="0" lang="en-US" altLang="zh-CN" sz="2800" dirty="0">
                <a:latin typeface="Verdana" panose="020B0604030504040204" pitchFamily="34" charset="0"/>
              </a:rPr>
              <a:t>〈</a:t>
            </a:r>
            <a:r>
              <a:rPr kumimoji="0" lang="zh-CN" altLang="en-US" sz="2800" dirty="0">
                <a:latin typeface="Verdana" panose="020B0604030504040204" pitchFamily="34" charset="0"/>
              </a:rPr>
              <a:t>进程</a:t>
            </a:r>
            <a:r>
              <a:rPr kumimoji="0" lang="en-US" altLang="zh-CN" sz="2800" dirty="0">
                <a:latin typeface="Verdana" panose="020B0604030504040204" pitchFamily="34" charset="0"/>
              </a:rPr>
              <a:t>P1〉                 〈</a:t>
            </a:r>
            <a:r>
              <a:rPr kumimoji="0" lang="zh-CN" altLang="en-US" sz="2800" dirty="0">
                <a:latin typeface="Verdana" panose="020B0604030504040204" pitchFamily="34" charset="0"/>
              </a:rPr>
              <a:t>进程</a:t>
            </a:r>
            <a:r>
              <a:rPr kumimoji="0" lang="en-US" altLang="zh-CN" sz="2800" dirty="0">
                <a:latin typeface="Verdana" panose="020B0604030504040204" pitchFamily="34" charset="0"/>
              </a:rPr>
              <a:t>P2〉    </a:t>
            </a:r>
          </a:p>
          <a:p>
            <a:pPr>
              <a:spcBef>
                <a:spcPct val="0"/>
              </a:spcBef>
              <a:buClrTx/>
              <a:buSzTx/>
              <a:buFontTx/>
              <a:buNone/>
            </a:pPr>
            <a:r>
              <a:rPr kumimoji="0" lang="en-US" altLang="zh-CN" sz="2800" dirty="0">
                <a:latin typeface="Verdana" panose="020B0604030504040204" pitchFamily="34" charset="0"/>
              </a:rPr>
              <a:t>y:=1;                        x:=1;</a:t>
            </a:r>
          </a:p>
          <a:p>
            <a:pPr>
              <a:spcBef>
                <a:spcPct val="0"/>
              </a:spcBef>
              <a:buClrTx/>
              <a:buSzTx/>
              <a:buFontTx/>
              <a:buNone/>
            </a:pPr>
            <a:r>
              <a:rPr kumimoji="0" lang="en-US" altLang="zh-CN" sz="2800" dirty="0">
                <a:latin typeface="Verdana" panose="020B0604030504040204" pitchFamily="34" charset="0"/>
              </a:rPr>
              <a:t>y:=y+2;                    x:=x+1;</a:t>
            </a:r>
          </a:p>
          <a:p>
            <a:pPr>
              <a:spcBef>
                <a:spcPct val="0"/>
              </a:spcBef>
              <a:buClrTx/>
              <a:buSzTx/>
              <a:buFontTx/>
              <a:buNone/>
            </a:pPr>
            <a:r>
              <a:rPr kumimoji="0" lang="en-US" altLang="zh-CN" sz="2800" dirty="0">
                <a:latin typeface="Verdana" panose="020B0604030504040204" pitchFamily="34" charset="0"/>
              </a:rPr>
              <a:t>V(S1);                       P(S1);</a:t>
            </a:r>
          </a:p>
          <a:p>
            <a:pPr>
              <a:spcBef>
                <a:spcPct val="0"/>
              </a:spcBef>
              <a:buClrTx/>
              <a:buSzTx/>
              <a:buFontTx/>
              <a:buNone/>
            </a:pPr>
            <a:r>
              <a:rPr kumimoji="0" lang="en-US" altLang="zh-CN" sz="2800" dirty="0">
                <a:latin typeface="Verdana" panose="020B0604030504040204" pitchFamily="34" charset="0"/>
              </a:rPr>
              <a:t>z:=y+1;                     x:=x+y;</a:t>
            </a:r>
          </a:p>
          <a:p>
            <a:pPr>
              <a:spcBef>
                <a:spcPct val="0"/>
              </a:spcBef>
              <a:buClrTx/>
              <a:buSzTx/>
              <a:buFontTx/>
              <a:buNone/>
            </a:pPr>
            <a:r>
              <a:rPr kumimoji="0" lang="en-US" altLang="zh-CN" sz="2800" dirty="0">
                <a:latin typeface="Verdana" panose="020B0604030504040204" pitchFamily="34" charset="0"/>
              </a:rPr>
              <a:t>P(S2)</a:t>
            </a:r>
            <a:r>
              <a:rPr kumimoji="0" lang="zh-CN" altLang="en-US" sz="2800" dirty="0">
                <a:latin typeface="Verdana" panose="020B0604030504040204" pitchFamily="34" charset="0"/>
              </a:rPr>
              <a:t>；                        </a:t>
            </a:r>
            <a:r>
              <a:rPr kumimoji="0" lang="en-US" altLang="zh-CN" sz="2800" dirty="0">
                <a:latin typeface="Verdana" panose="020B0604030504040204" pitchFamily="34" charset="0"/>
              </a:rPr>
              <a:t>V(S2)</a:t>
            </a:r>
            <a:r>
              <a:rPr kumimoji="0" lang="zh-CN" altLang="en-US" sz="2800" dirty="0">
                <a:latin typeface="Verdana" panose="020B0604030504040204" pitchFamily="34" charset="0"/>
              </a:rPr>
              <a:t>；</a:t>
            </a:r>
          </a:p>
          <a:p>
            <a:pPr>
              <a:spcBef>
                <a:spcPct val="0"/>
              </a:spcBef>
              <a:buClrTx/>
              <a:buSzTx/>
              <a:buFontTx/>
              <a:buNone/>
            </a:pPr>
            <a:r>
              <a:rPr kumimoji="0" lang="en-US" altLang="zh-CN" sz="2800" dirty="0">
                <a:latin typeface="Verdana" panose="020B0604030504040204" pitchFamily="34" charset="0"/>
              </a:rPr>
              <a:t>y:=z+y;                     z:=x+z;</a:t>
            </a:r>
          </a:p>
          <a:p>
            <a:pPr>
              <a:spcBef>
                <a:spcPct val="0"/>
              </a:spcBef>
              <a:buClrTx/>
              <a:buSzTx/>
              <a:buFontTx/>
              <a:buNone/>
            </a:pPr>
            <a:endParaRPr kumimoji="0" lang="en-US" altLang="zh-CN" sz="2800" dirty="0">
              <a:latin typeface="Verdana" panose="020B0604030504040204" pitchFamily="34" charset="0"/>
            </a:endParaRPr>
          </a:p>
          <a:p>
            <a:pPr>
              <a:spcBef>
                <a:spcPct val="0"/>
              </a:spcBef>
              <a:buClrTx/>
              <a:buSzTx/>
              <a:buFontTx/>
              <a:buNone/>
            </a:pPr>
            <a:r>
              <a:rPr kumimoji="0" lang="zh-CN" altLang="en-US" sz="2800" dirty="0">
                <a:latin typeface="Verdana" panose="020B0604030504040204" pitchFamily="34" charset="0"/>
              </a:rPr>
              <a:t>答案：</a:t>
            </a:r>
            <a:r>
              <a:rPr kumimoji="0" lang="pl-PL" altLang="zh-CN" sz="2800" dirty="0">
                <a:latin typeface="Verdana" panose="020B0604030504040204" pitchFamily="34" charset="0"/>
              </a:rPr>
              <a:t>x=5</a:t>
            </a:r>
            <a:r>
              <a:rPr kumimoji="0" lang="zh-CN" altLang="pl-PL" sz="2800" dirty="0">
                <a:latin typeface="Verdana" panose="020B0604030504040204" pitchFamily="34" charset="0"/>
              </a:rPr>
              <a:t>，</a:t>
            </a:r>
            <a:r>
              <a:rPr kumimoji="0" lang="pl-PL" altLang="zh-CN" sz="2800" dirty="0">
                <a:latin typeface="Verdana" panose="020B0604030504040204" pitchFamily="34" charset="0"/>
              </a:rPr>
              <a:t>y=12</a:t>
            </a:r>
            <a:r>
              <a:rPr kumimoji="0" lang="zh-CN" altLang="pl-PL" sz="2800" dirty="0">
                <a:latin typeface="Verdana" panose="020B0604030504040204" pitchFamily="34" charset="0"/>
              </a:rPr>
              <a:t>，</a:t>
            </a:r>
            <a:r>
              <a:rPr kumimoji="0" lang="pl-PL" altLang="zh-CN" sz="2800" dirty="0">
                <a:latin typeface="Verdana" panose="020B0604030504040204" pitchFamily="34" charset="0"/>
              </a:rPr>
              <a:t>z=9</a:t>
            </a:r>
            <a:r>
              <a:rPr kumimoji="0" lang="zh-CN" altLang="en-US" sz="2800">
                <a:latin typeface="Verdana" panose="020B0604030504040204" pitchFamily="34" charset="0"/>
              </a:rPr>
              <a:t>或</a:t>
            </a:r>
            <a:r>
              <a:rPr kumimoji="0" lang="en-US" altLang="zh-CN" sz="2800">
                <a:latin typeface="Verdana" panose="020B0604030504040204" pitchFamily="34" charset="0"/>
              </a:rPr>
              <a:t>x</a:t>
            </a:r>
            <a:r>
              <a:rPr kumimoji="0" lang="en-US" altLang="zh-CN" sz="2800" dirty="0">
                <a:latin typeface="Verdana" panose="020B0604030504040204" pitchFamily="34" charset="0"/>
              </a:rPr>
              <a:t>=5</a:t>
            </a:r>
            <a:r>
              <a:rPr kumimoji="0" lang="zh-CN" altLang="zh-CN" sz="2800" dirty="0">
                <a:latin typeface="Verdana" panose="020B0604030504040204" pitchFamily="34" charset="0"/>
              </a:rPr>
              <a:t>，</a:t>
            </a:r>
            <a:r>
              <a:rPr kumimoji="0" lang="en-US" altLang="zh-CN" sz="2800" dirty="0">
                <a:latin typeface="Verdana" panose="020B0604030504040204" pitchFamily="34" charset="0"/>
              </a:rPr>
              <a:t>y=7</a:t>
            </a:r>
            <a:r>
              <a:rPr kumimoji="0" lang="zh-CN" altLang="zh-CN" sz="2800" dirty="0">
                <a:latin typeface="Verdana" panose="020B0604030504040204" pitchFamily="34" charset="0"/>
              </a:rPr>
              <a:t>，</a:t>
            </a:r>
            <a:r>
              <a:rPr kumimoji="0" lang="en-US" altLang="zh-CN" sz="2800" dirty="0">
                <a:latin typeface="Verdana" panose="020B0604030504040204" pitchFamily="34" charset="0"/>
              </a:rPr>
              <a:t>z=9</a:t>
            </a:r>
            <a:endParaRPr kumimoji="0" lang="zh-CN" altLang="en-US" sz="2800" dirty="0">
              <a:latin typeface="Verdana" panose="020B0604030504040204" pitchFamily="34" charset="0"/>
            </a:endParaRPr>
          </a:p>
          <a:p>
            <a:pPr>
              <a:spcBef>
                <a:spcPct val="0"/>
              </a:spcBef>
              <a:buClrTx/>
              <a:buSzTx/>
              <a:buFontTx/>
              <a:buNone/>
            </a:pPr>
            <a:endParaRPr kumimoji="0" lang="zh-CN" altLang="en-US" sz="2800" dirty="0">
              <a:latin typeface="Verdana" panose="020B0604030504040204" pitchFamily="34" charset="0"/>
            </a:endParaRPr>
          </a:p>
        </p:txBody>
      </p:sp>
      <p:sp>
        <p:nvSpPr>
          <p:cNvPr id="235523" name="文本框 2">
            <a:extLst>
              <a:ext uri="{FF2B5EF4-FFF2-40B4-BE49-F238E27FC236}">
                <a16:creationId xmlns:a16="http://schemas.microsoft.com/office/drawing/2014/main" id="{2702D963-AA96-4A01-94AD-3180CFF6EB87}"/>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文本框 1">
            <a:extLst>
              <a:ext uri="{FF2B5EF4-FFF2-40B4-BE49-F238E27FC236}">
                <a16:creationId xmlns:a16="http://schemas.microsoft.com/office/drawing/2014/main" id="{9D14ACEB-934C-45CA-87B2-27AD62308C8B}"/>
              </a:ext>
            </a:extLst>
          </p:cNvPr>
          <p:cNvSpPr txBox="1">
            <a:spLocks noChangeArrowheads="1"/>
          </p:cNvSpPr>
          <p:nvPr/>
        </p:nvSpPr>
        <p:spPr bwMode="auto">
          <a:xfrm>
            <a:off x="358775" y="958850"/>
            <a:ext cx="8607425"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en-US" altLang="zh-CN" sz="2800">
                <a:latin typeface="Verdana" panose="020B0604030504040204" pitchFamily="34" charset="0"/>
              </a:rPr>
              <a:t>【</a:t>
            </a:r>
            <a:r>
              <a:rPr kumimoji="0" lang="zh-CN" altLang="en-US" sz="2800">
                <a:latin typeface="Verdana" panose="020B0604030504040204" pitchFamily="34" charset="0"/>
              </a:rPr>
              <a:t>解答题</a:t>
            </a:r>
            <a:r>
              <a:rPr kumimoji="0" lang="en-US" altLang="zh-CN" sz="2800">
                <a:latin typeface="Verdana" panose="020B0604030504040204" pitchFamily="34" charset="0"/>
              </a:rPr>
              <a:t>】</a:t>
            </a:r>
            <a:r>
              <a:rPr kumimoji="0" lang="zh-CN" altLang="en-US" sz="2800">
                <a:latin typeface="Verdana" panose="020B0604030504040204" pitchFamily="34" charset="0"/>
              </a:rPr>
              <a:t>已知系统中有四个缓冲池</a:t>
            </a:r>
            <a:r>
              <a:rPr kumimoji="0" lang="en-US" altLang="zh-CN" sz="2800">
                <a:latin typeface="Verdana" panose="020B0604030504040204" pitchFamily="34" charset="0"/>
              </a:rPr>
              <a:t>M1</a:t>
            </a:r>
            <a:r>
              <a:rPr kumimoji="0" lang="zh-CN" altLang="en-US" sz="2800">
                <a:latin typeface="Verdana" panose="020B0604030504040204" pitchFamily="34" charset="0"/>
              </a:rPr>
              <a:t>，</a:t>
            </a:r>
            <a:r>
              <a:rPr kumimoji="0" lang="en-US" altLang="zh-CN" sz="2800">
                <a:latin typeface="Verdana" panose="020B0604030504040204" pitchFamily="34" charset="0"/>
              </a:rPr>
              <a:t>M2</a:t>
            </a:r>
            <a:r>
              <a:rPr kumimoji="0" lang="zh-CN" altLang="en-US" sz="2800">
                <a:latin typeface="Verdana" panose="020B0604030504040204" pitchFamily="34" charset="0"/>
              </a:rPr>
              <a:t>，</a:t>
            </a:r>
            <a:r>
              <a:rPr kumimoji="0" lang="en-US" altLang="zh-CN" sz="2800">
                <a:latin typeface="Verdana" panose="020B0604030504040204" pitchFamily="34" charset="0"/>
              </a:rPr>
              <a:t>M3</a:t>
            </a:r>
            <a:r>
              <a:rPr kumimoji="0" lang="zh-CN" altLang="en-US" sz="2800">
                <a:latin typeface="Verdana" panose="020B0604030504040204" pitchFamily="34" charset="0"/>
              </a:rPr>
              <a:t>，</a:t>
            </a:r>
            <a:r>
              <a:rPr kumimoji="0" lang="en-US" altLang="zh-CN" sz="2800">
                <a:latin typeface="Verdana" panose="020B0604030504040204" pitchFamily="34" charset="0"/>
              </a:rPr>
              <a:t>M4</a:t>
            </a:r>
            <a:r>
              <a:rPr kumimoji="0" lang="zh-CN" altLang="en-US" sz="2800">
                <a:latin typeface="Verdana" panose="020B0604030504040204" pitchFamily="34" charset="0"/>
              </a:rPr>
              <a:t>。其大小分别为</a:t>
            </a:r>
            <a:r>
              <a:rPr kumimoji="0" lang="en-US" altLang="zh-CN" sz="2800">
                <a:latin typeface="Verdana" panose="020B0604030504040204" pitchFamily="34" charset="0"/>
              </a:rPr>
              <a:t>3</a:t>
            </a:r>
            <a:r>
              <a:rPr kumimoji="0" lang="zh-CN" altLang="en-US" sz="2800">
                <a:latin typeface="Verdana" panose="020B0604030504040204" pitchFamily="34" charset="0"/>
              </a:rPr>
              <a:t>、</a:t>
            </a:r>
            <a:r>
              <a:rPr kumimoji="0" lang="en-US" altLang="zh-CN" sz="2800">
                <a:latin typeface="Verdana" panose="020B0604030504040204" pitchFamily="34" charset="0"/>
              </a:rPr>
              <a:t>2</a:t>
            </a:r>
            <a:r>
              <a:rPr kumimoji="0" lang="zh-CN" altLang="en-US" sz="2800">
                <a:latin typeface="Verdana" panose="020B0604030504040204" pitchFamily="34" charset="0"/>
              </a:rPr>
              <a:t>、</a:t>
            </a:r>
            <a:r>
              <a:rPr kumimoji="0" lang="en-US" altLang="zh-CN" sz="2800">
                <a:latin typeface="Verdana" panose="020B0604030504040204" pitchFamily="34" charset="0"/>
              </a:rPr>
              <a:t>3</a:t>
            </a:r>
            <a:r>
              <a:rPr kumimoji="0" lang="zh-CN" altLang="en-US" sz="2800">
                <a:latin typeface="Verdana" panose="020B0604030504040204" pitchFamily="34" charset="0"/>
              </a:rPr>
              <a:t>、</a:t>
            </a:r>
            <a:r>
              <a:rPr kumimoji="0" lang="en-US" altLang="zh-CN" sz="2800">
                <a:latin typeface="Verdana" panose="020B0604030504040204" pitchFamily="34" charset="0"/>
              </a:rPr>
              <a:t>2</a:t>
            </a:r>
            <a:r>
              <a:rPr kumimoji="0" lang="zh-CN" altLang="en-US" sz="2800">
                <a:latin typeface="Verdana" panose="020B0604030504040204" pitchFamily="34" charset="0"/>
              </a:rPr>
              <a:t>，各缓冲池分别存在</a:t>
            </a:r>
            <a:r>
              <a:rPr kumimoji="0" lang="en-US" altLang="zh-CN" sz="2800">
                <a:latin typeface="Verdana" panose="020B0604030504040204" pitchFamily="34" charset="0"/>
              </a:rPr>
              <a:t>0</a:t>
            </a:r>
            <a:r>
              <a:rPr kumimoji="0" lang="zh-CN" altLang="en-US" sz="2800">
                <a:latin typeface="Verdana" panose="020B0604030504040204" pitchFamily="34" charset="0"/>
              </a:rPr>
              <a:t>，</a:t>
            </a:r>
            <a:r>
              <a:rPr kumimoji="0" lang="en-US" altLang="zh-CN" sz="2800">
                <a:latin typeface="Verdana" panose="020B0604030504040204" pitchFamily="34" charset="0"/>
              </a:rPr>
              <a:t>1</a:t>
            </a:r>
            <a:r>
              <a:rPr kumimoji="0" lang="zh-CN" altLang="en-US" sz="2800">
                <a:latin typeface="Verdana" panose="020B0604030504040204" pitchFamily="34" charset="0"/>
              </a:rPr>
              <a:t>，</a:t>
            </a:r>
            <a:r>
              <a:rPr kumimoji="0" lang="en-US" altLang="zh-CN" sz="2800">
                <a:latin typeface="Verdana" panose="020B0604030504040204" pitchFamily="34" charset="0"/>
              </a:rPr>
              <a:t>0</a:t>
            </a:r>
            <a:r>
              <a:rPr kumimoji="0" lang="zh-CN" altLang="en-US" sz="2800">
                <a:latin typeface="Verdana" panose="020B0604030504040204" pitchFamily="34" charset="0"/>
              </a:rPr>
              <a:t>，</a:t>
            </a:r>
            <a:r>
              <a:rPr kumimoji="0" lang="en-US" altLang="zh-CN" sz="2800">
                <a:latin typeface="Verdana" panose="020B0604030504040204" pitchFamily="34" charset="0"/>
              </a:rPr>
              <a:t>2</a:t>
            </a:r>
            <a:r>
              <a:rPr kumimoji="0" lang="zh-CN" altLang="en-US" sz="2800">
                <a:latin typeface="Verdana" panose="020B0604030504040204" pitchFamily="34" charset="0"/>
              </a:rPr>
              <a:t>个缓冲区有数据。现同时有四个进程</a:t>
            </a:r>
            <a:r>
              <a:rPr kumimoji="0" lang="en-US" altLang="zh-CN" sz="2800">
                <a:latin typeface="Verdana" panose="020B0604030504040204" pitchFamily="34" charset="0"/>
              </a:rPr>
              <a:t>P1</a:t>
            </a:r>
            <a:r>
              <a:rPr kumimoji="0" lang="zh-CN" altLang="en-US" sz="2800">
                <a:latin typeface="Verdana" panose="020B0604030504040204" pitchFamily="34" charset="0"/>
              </a:rPr>
              <a:t>，</a:t>
            </a:r>
            <a:r>
              <a:rPr kumimoji="0" lang="en-US" altLang="zh-CN" sz="2800">
                <a:latin typeface="Verdana" panose="020B0604030504040204" pitchFamily="34" charset="0"/>
              </a:rPr>
              <a:t>P2</a:t>
            </a:r>
            <a:r>
              <a:rPr kumimoji="0" lang="zh-CN" altLang="en-US" sz="2800">
                <a:latin typeface="Verdana" panose="020B0604030504040204" pitchFamily="34" charset="0"/>
              </a:rPr>
              <a:t>，</a:t>
            </a:r>
            <a:r>
              <a:rPr kumimoji="0" lang="en-US" altLang="zh-CN" sz="2800">
                <a:latin typeface="Verdana" panose="020B0604030504040204" pitchFamily="34" charset="0"/>
              </a:rPr>
              <a:t>P3</a:t>
            </a:r>
            <a:r>
              <a:rPr kumimoji="0" lang="zh-CN" altLang="en-US" sz="2800">
                <a:latin typeface="Verdana" panose="020B0604030504040204" pitchFamily="34" charset="0"/>
              </a:rPr>
              <a:t>，</a:t>
            </a:r>
            <a:r>
              <a:rPr kumimoji="0" lang="en-US" altLang="zh-CN" sz="2800">
                <a:latin typeface="Verdana" panose="020B0604030504040204" pitchFamily="34" charset="0"/>
              </a:rPr>
              <a:t>P4</a:t>
            </a:r>
            <a:r>
              <a:rPr kumimoji="0" lang="zh-CN" altLang="en-US" sz="2800">
                <a:latin typeface="Verdana" panose="020B0604030504040204" pitchFamily="34" charset="0"/>
              </a:rPr>
              <a:t>分别在各缓冲区间不断地移动数据。见下图。例如，</a:t>
            </a:r>
            <a:r>
              <a:rPr kumimoji="0" lang="en-US" altLang="zh-CN" sz="2800">
                <a:latin typeface="Verdana" panose="020B0604030504040204" pitchFamily="34" charset="0"/>
              </a:rPr>
              <a:t>P1</a:t>
            </a:r>
            <a:r>
              <a:rPr kumimoji="0" lang="zh-CN" altLang="en-US" sz="2800">
                <a:latin typeface="Verdana" panose="020B0604030504040204" pitchFamily="34" charset="0"/>
              </a:rPr>
              <a:t>进程从</a:t>
            </a:r>
            <a:r>
              <a:rPr kumimoji="0" lang="en-US" altLang="zh-CN" sz="2800">
                <a:latin typeface="Verdana" panose="020B0604030504040204" pitchFamily="34" charset="0"/>
              </a:rPr>
              <a:t>M1</a:t>
            </a:r>
            <a:r>
              <a:rPr kumimoji="0" lang="zh-CN" altLang="en-US" sz="2800">
                <a:latin typeface="Verdana" panose="020B0604030504040204" pitchFamily="34" charset="0"/>
              </a:rPr>
              <a:t>向</a:t>
            </a:r>
            <a:r>
              <a:rPr kumimoji="0" lang="en-US" altLang="zh-CN" sz="2800">
                <a:latin typeface="Verdana" panose="020B0604030504040204" pitchFamily="34" charset="0"/>
              </a:rPr>
              <a:t>M2</a:t>
            </a:r>
            <a:r>
              <a:rPr kumimoji="0" lang="zh-CN" altLang="en-US" sz="2800">
                <a:latin typeface="Verdana" panose="020B0604030504040204" pitchFamily="34" charset="0"/>
              </a:rPr>
              <a:t>移动数据。试用信号量及其</a:t>
            </a:r>
            <a:r>
              <a:rPr kumimoji="0" lang="en-US" altLang="zh-CN" sz="2800">
                <a:latin typeface="Verdana" panose="020B0604030504040204" pitchFamily="34" charset="0"/>
              </a:rPr>
              <a:t>P</a:t>
            </a:r>
            <a:r>
              <a:rPr kumimoji="0" lang="zh-CN" altLang="en-US" sz="2800">
                <a:latin typeface="Verdana" panose="020B0604030504040204" pitchFamily="34" charset="0"/>
              </a:rPr>
              <a:t>、</a:t>
            </a:r>
            <a:r>
              <a:rPr kumimoji="0" lang="en-US" altLang="zh-CN" sz="2800">
                <a:latin typeface="Verdana" panose="020B0604030504040204" pitchFamily="34" charset="0"/>
              </a:rPr>
              <a:t>V</a:t>
            </a:r>
            <a:r>
              <a:rPr kumimoji="0" lang="zh-CN" altLang="en-US" sz="2800">
                <a:latin typeface="Verdana" panose="020B0604030504040204" pitchFamily="34" charset="0"/>
              </a:rPr>
              <a:t>（或</a:t>
            </a:r>
            <a:r>
              <a:rPr kumimoji="0" lang="en-US" altLang="zh-CN" sz="2800">
                <a:latin typeface="Verdana" panose="020B0604030504040204" pitchFamily="34" charset="0"/>
              </a:rPr>
              <a:t>signal,wait</a:t>
            </a:r>
            <a:r>
              <a:rPr kumimoji="0" lang="zh-CN" altLang="en-US" sz="2800">
                <a:latin typeface="Verdana" panose="020B0604030504040204" pitchFamily="34" charset="0"/>
              </a:rPr>
              <a:t>）操作及类</a:t>
            </a:r>
            <a:r>
              <a:rPr kumimoji="0" lang="en-US" altLang="zh-CN" sz="2800">
                <a:latin typeface="Verdana" panose="020B0604030504040204" pitchFamily="34" charset="0"/>
              </a:rPr>
              <a:t>Pasic/C</a:t>
            </a:r>
            <a:r>
              <a:rPr kumimoji="0" lang="zh-CN" altLang="en-US" sz="2800">
                <a:latin typeface="Verdana" panose="020B0604030504040204" pitchFamily="34" charset="0"/>
              </a:rPr>
              <a:t>语言描述各进程之间的同步关系，并给出各信号量的含义和初值。</a:t>
            </a:r>
          </a:p>
          <a:p>
            <a:pPr>
              <a:spcBef>
                <a:spcPct val="0"/>
              </a:spcBef>
              <a:buClrTx/>
              <a:buSzTx/>
              <a:buFontTx/>
              <a:buNone/>
            </a:pPr>
            <a:endParaRPr kumimoji="0" lang="zh-CN" altLang="en-US" sz="2800">
              <a:latin typeface="Verdana" panose="020B0604030504040204" pitchFamily="34" charset="0"/>
            </a:endParaRPr>
          </a:p>
        </p:txBody>
      </p:sp>
      <p:sp>
        <p:nvSpPr>
          <p:cNvPr id="237571" name="文本框 2">
            <a:extLst>
              <a:ext uri="{FF2B5EF4-FFF2-40B4-BE49-F238E27FC236}">
                <a16:creationId xmlns:a16="http://schemas.microsoft.com/office/drawing/2014/main" id="{D8365B38-B898-44C2-912B-049564B961D9}"/>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pic>
        <p:nvPicPr>
          <p:cNvPr id="237572" name="图片 3">
            <a:extLst>
              <a:ext uri="{FF2B5EF4-FFF2-40B4-BE49-F238E27FC236}">
                <a16:creationId xmlns:a16="http://schemas.microsoft.com/office/drawing/2014/main" id="{B2B68F14-FF3C-41A1-AE6E-2E41090627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8775" y="4095750"/>
            <a:ext cx="3479800" cy="241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a:extLst>
              <a:ext uri="{FF2B5EF4-FFF2-40B4-BE49-F238E27FC236}">
                <a16:creationId xmlns:a16="http://schemas.microsoft.com/office/drawing/2014/main" id="{BED49B41-7350-448B-BB86-906A34E16C70}"/>
              </a:ext>
            </a:extLst>
          </p:cNvPr>
          <p:cNvSpPr>
            <a:spLocks noGrp="1" noChangeArrowheads="1"/>
          </p:cNvSpPr>
          <p:nvPr>
            <p:ph type="title" idx="4294967295"/>
          </p:nvPr>
        </p:nvSpPr>
        <p:spPr/>
        <p:txBody>
          <a:bodyPr/>
          <a:lstStyle/>
          <a:p>
            <a:r>
              <a:rPr lang="en-US" altLang="zh-CN">
                <a:ea typeface="宋体" panose="02010600030101010101" pitchFamily="2" charset="-122"/>
              </a:rPr>
              <a:t>Tips</a:t>
            </a:r>
          </a:p>
        </p:txBody>
      </p:sp>
      <p:sp>
        <p:nvSpPr>
          <p:cNvPr id="239619" name="Rectangle 3">
            <a:extLst>
              <a:ext uri="{FF2B5EF4-FFF2-40B4-BE49-F238E27FC236}">
                <a16:creationId xmlns:a16="http://schemas.microsoft.com/office/drawing/2014/main" id="{7552BA3D-54DD-4F1A-8DB7-988CE65549CD}"/>
              </a:ext>
            </a:extLst>
          </p:cNvPr>
          <p:cNvSpPr>
            <a:spLocks noGrp="1" noChangeArrowheads="1"/>
          </p:cNvSpPr>
          <p:nvPr>
            <p:ph type="body" idx="4294967295"/>
          </p:nvPr>
        </p:nvSpPr>
        <p:spPr>
          <a:xfrm>
            <a:off x="827088" y="1282700"/>
            <a:ext cx="7664450" cy="4860925"/>
          </a:xfrm>
        </p:spPr>
        <p:txBody>
          <a:bodyPr/>
          <a:lstStyle/>
          <a:p>
            <a:pPr>
              <a:lnSpc>
                <a:spcPct val="90000"/>
              </a:lnSpc>
            </a:pPr>
            <a:r>
              <a:rPr lang="en-US" altLang="zh-CN" sz="2800">
                <a:ea typeface="宋体" panose="02010600030101010101" pitchFamily="2" charset="-122"/>
              </a:rPr>
              <a:t> </a:t>
            </a:r>
            <a:r>
              <a:rPr lang="zh-CN" altLang="en-US" sz="2800">
                <a:ea typeface="宋体" panose="02010600030101010101" pitchFamily="2" charset="-122"/>
              </a:rPr>
              <a:t>互斥</a:t>
            </a:r>
            <a:r>
              <a:rPr lang="en-US" altLang="zh-CN" sz="2800">
                <a:ea typeface="宋体" panose="02010600030101010101" pitchFamily="2" charset="-122"/>
              </a:rPr>
              <a:t>/</a:t>
            </a:r>
            <a:r>
              <a:rPr lang="zh-CN" altLang="en-US" sz="2800">
                <a:ea typeface="宋体" panose="02010600030101010101" pitchFamily="2" charset="-122"/>
              </a:rPr>
              <a:t>同步的对象是谁？</a:t>
            </a:r>
            <a:endParaRPr lang="en-US" altLang="zh-CN" sz="2800">
              <a:ea typeface="宋体" panose="02010600030101010101" pitchFamily="2" charset="-122"/>
            </a:endParaRPr>
          </a:p>
          <a:p>
            <a:pPr>
              <a:lnSpc>
                <a:spcPct val="90000"/>
              </a:lnSpc>
            </a:pPr>
            <a:r>
              <a:rPr lang="zh-CN" altLang="en-US" sz="2800">
                <a:ea typeface="宋体" panose="02010600030101010101" pitchFamily="2" charset="-122"/>
              </a:rPr>
              <a:t>互斥访问什么？</a:t>
            </a:r>
            <a:endParaRPr lang="en-US" altLang="zh-CN" sz="2800">
              <a:ea typeface="宋体" panose="02010600030101010101" pitchFamily="2" charset="-122"/>
            </a:endParaRPr>
          </a:p>
          <a:p>
            <a:pPr>
              <a:lnSpc>
                <a:spcPct val="90000"/>
              </a:lnSpc>
            </a:pPr>
            <a:r>
              <a:rPr lang="zh-CN" altLang="en-US" sz="2800">
                <a:ea typeface="宋体" panose="02010600030101010101" pitchFamily="2" charset="-122"/>
              </a:rPr>
              <a:t>同步什么内容？</a:t>
            </a:r>
            <a:endParaRPr lang="en-US" altLang="zh-CN" sz="2800">
              <a:ea typeface="宋体" panose="02010600030101010101" pitchFamily="2" charset="-122"/>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6A5D7A8-457D-4AAB-A55B-55FBBF0F0B57}"/>
              </a:ext>
            </a:extLst>
          </p:cNvPr>
          <p:cNvSpPr txBox="1"/>
          <p:nvPr/>
        </p:nvSpPr>
        <p:spPr>
          <a:xfrm>
            <a:off x="358775" y="958850"/>
            <a:ext cx="8607425" cy="6924973"/>
          </a:xfrm>
          <a:prstGeom prst="rect">
            <a:avLst/>
          </a:prstGeom>
          <a:noFill/>
        </p:spPr>
        <p:txBody>
          <a:bodyPr>
            <a:spAutoFit/>
          </a:bodyPr>
          <a:lstStyle/>
          <a:p>
            <a:pPr indent="266700" algn="just">
              <a:defRPr/>
            </a:pPr>
            <a:r>
              <a:rPr lang="zh-CN" altLang="en-US" sz="2800" dirty="0"/>
              <a:t>答案：</a:t>
            </a:r>
            <a:r>
              <a:rPr lang="en-US" altLang="zh-CN" kern="100" dirty="0">
                <a:latin typeface="Times New Roman" panose="02020603050405020304" pitchFamily="18" charset="0"/>
                <a:ea typeface="宋体" panose="02010600030101010101" pitchFamily="2" charset="-122"/>
              </a:rPr>
              <a:t> </a:t>
            </a:r>
            <a:endParaRPr lang="zh-CN" altLang="zh-CN" kern="100" dirty="0">
              <a:latin typeface="Times New Roman" panose="02020603050405020304" pitchFamily="18" charset="0"/>
              <a:ea typeface="宋体" panose="02010600030101010101" pitchFamily="2" charset="-122"/>
            </a:endParaRPr>
          </a:p>
          <a:p>
            <a:pPr algn="just">
              <a:tabLst>
                <a:tab pos="480695" algn="l"/>
              </a:tabLst>
              <a:defRPr/>
            </a:pPr>
            <a:r>
              <a:rPr lang="zh-CN" altLang="en-US"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1</a:t>
            </a:r>
            <a:r>
              <a:rPr lang="zh-CN" altLang="en-US" kern="100" dirty="0">
                <a:latin typeface="Times New Roman" panose="02020603050405020304" pitchFamily="18" charset="0"/>
                <a:ea typeface="宋体" panose="02010600030101010101" pitchFamily="2" charset="-122"/>
              </a:rPr>
              <a:t>）</a:t>
            </a:r>
            <a:r>
              <a:rPr lang="zh-CN" altLang="zh-CN" kern="100" dirty="0">
                <a:latin typeface="Times New Roman" panose="02020603050405020304" pitchFamily="18" charset="0"/>
                <a:ea typeface="宋体" panose="02010600030101010101" pitchFamily="2" charset="-122"/>
              </a:rPr>
              <a:t>互斥信号量和初值</a:t>
            </a:r>
          </a:p>
          <a:p>
            <a:pPr indent="266700" algn="just">
              <a:defRPr/>
            </a:pPr>
            <a:r>
              <a:rPr lang="en-US" altLang="zh-CN" kern="100" dirty="0">
                <a:latin typeface="Times New Roman" panose="02020603050405020304" pitchFamily="18" charset="0"/>
                <a:ea typeface="宋体" panose="02010600030101010101" pitchFamily="2" charset="-122"/>
              </a:rPr>
              <a:t>m(1)=1,m(2)=1,m(3)=1,m(4)=1</a:t>
            </a:r>
            <a:endParaRPr lang="zh-CN" altLang="zh-CN" kern="100" dirty="0">
              <a:latin typeface="Times New Roman" panose="02020603050405020304" pitchFamily="18" charset="0"/>
              <a:ea typeface="宋体" panose="02010600030101010101" pitchFamily="2" charset="-122"/>
            </a:endParaRPr>
          </a:p>
          <a:p>
            <a:pPr algn="just">
              <a:tabLst>
                <a:tab pos="480695" algn="l"/>
              </a:tabLst>
              <a:defRPr/>
            </a:pPr>
            <a:r>
              <a:rPr lang="zh-CN" altLang="en-US"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2</a:t>
            </a:r>
            <a:r>
              <a:rPr lang="zh-CN" altLang="en-US" kern="100" dirty="0">
                <a:latin typeface="Times New Roman" panose="02020603050405020304" pitchFamily="18" charset="0"/>
                <a:ea typeface="宋体" panose="02010600030101010101" pitchFamily="2" charset="-122"/>
              </a:rPr>
              <a:t>）</a:t>
            </a:r>
            <a:r>
              <a:rPr lang="zh-CN" altLang="zh-CN" kern="100" dirty="0">
                <a:latin typeface="Times New Roman" panose="02020603050405020304" pitchFamily="18" charset="0"/>
                <a:ea typeface="宋体" panose="02010600030101010101" pitchFamily="2" charset="-122"/>
              </a:rPr>
              <a:t>同步信号量</a:t>
            </a:r>
          </a:p>
          <a:p>
            <a:pPr indent="266700" algn="just">
              <a:defRPr/>
            </a:pPr>
            <a:r>
              <a:rPr lang="en-US" altLang="zh-CN" kern="100" dirty="0">
                <a:latin typeface="Times New Roman" panose="02020603050405020304" pitchFamily="18" charset="0"/>
                <a:ea typeface="宋体" panose="02010600030101010101" pitchFamily="2" charset="-122"/>
              </a:rPr>
              <a:t>full(</a:t>
            </a:r>
            <a:r>
              <a:rPr lang="en-US" altLang="zh-CN" kern="100" dirty="0" err="1">
                <a:latin typeface="Times New Roman" panose="02020603050405020304" pitchFamily="18" charset="0"/>
                <a:ea typeface="宋体" panose="02010600030101010101" pitchFamily="2" charset="-122"/>
              </a:rPr>
              <a:t>i</a:t>
            </a:r>
            <a:r>
              <a:rPr lang="en-US" altLang="zh-CN" kern="100" dirty="0">
                <a:latin typeface="Times New Roman" panose="02020603050405020304" pitchFamily="18" charset="0"/>
                <a:ea typeface="宋体" panose="02010600030101010101" pitchFamily="2" charset="-122"/>
              </a:rPr>
              <a:t>) </a:t>
            </a:r>
            <a:r>
              <a:rPr lang="zh-CN" altLang="zh-CN" kern="100" dirty="0">
                <a:latin typeface="Times New Roman" panose="02020603050405020304" pitchFamily="18" charset="0"/>
                <a:ea typeface="宋体" panose="02010600030101010101" pitchFamily="2" charset="-122"/>
              </a:rPr>
              <a:t>表示</a:t>
            </a:r>
            <a:r>
              <a:rPr lang="en-US" altLang="zh-CN" kern="100" spc="25" dirty="0">
                <a:latin typeface="宋体" panose="02010600030101010101" pitchFamily="2" charset="-122"/>
                <a:ea typeface="宋体" panose="02010600030101010101" pitchFamily="2" charset="-122"/>
              </a:rPr>
              <a:t>buffer(</a:t>
            </a:r>
            <a:r>
              <a:rPr lang="en-US" altLang="zh-CN" kern="100" spc="25" dirty="0" err="1">
                <a:latin typeface="宋体" panose="02010600030101010101" pitchFamily="2" charset="-122"/>
                <a:ea typeface="宋体" panose="02010600030101010101" pitchFamily="2" charset="-122"/>
              </a:rPr>
              <a:t>i</a:t>
            </a:r>
            <a:r>
              <a:rPr lang="en-US" altLang="zh-CN" kern="100" spc="25" dirty="0">
                <a:latin typeface="宋体" panose="02010600030101010101" pitchFamily="2" charset="-122"/>
                <a:ea typeface="宋体" panose="02010600030101010101" pitchFamily="2" charset="-122"/>
              </a:rPr>
              <a:t>)</a:t>
            </a:r>
            <a:r>
              <a:rPr lang="zh-CN" altLang="zh-CN" kern="100" spc="25" dirty="0">
                <a:latin typeface="Times New Roman" panose="02020603050405020304" pitchFamily="18" charset="0"/>
                <a:ea typeface="宋体" panose="02010600030101010101" pitchFamily="2" charset="-122"/>
              </a:rPr>
              <a:t>是否有数据；</a:t>
            </a:r>
            <a:r>
              <a:rPr lang="en-US" altLang="zh-CN" kern="100" dirty="0">
                <a:latin typeface="Times New Roman" panose="02020603050405020304" pitchFamily="18" charset="0"/>
                <a:ea typeface="宋体" panose="02010600030101010101" pitchFamily="2" charset="-122"/>
              </a:rPr>
              <a:t>  </a:t>
            </a:r>
            <a:endParaRPr lang="zh-CN" altLang="zh-CN" kern="100" dirty="0">
              <a:latin typeface="Times New Roman" panose="02020603050405020304" pitchFamily="18" charset="0"/>
              <a:ea typeface="宋体" panose="02010600030101010101" pitchFamily="2" charset="-122"/>
            </a:endParaRPr>
          </a:p>
          <a:p>
            <a:pPr algn="just">
              <a:defRPr/>
            </a:pPr>
            <a:r>
              <a:rPr lang="en-US" altLang="zh-CN" kern="100" dirty="0">
                <a:latin typeface="Times New Roman" panose="02020603050405020304" pitchFamily="18" charset="0"/>
                <a:ea typeface="宋体" panose="02010600030101010101" pitchFamily="2" charset="-122"/>
              </a:rPr>
              <a:t>    </a:t>
            </a:r>
            <a:r>
              <a:rPr lang="zh-CN" altLang="zh-CN" kern="100" dirty="0">
                <a:latin typeface="Times New Roman" panose="02020603050405020304" pitchFamily="18" charset="0"/>
                <a:ea typeface="宋体" panose="02010600030101010101" pitchFamily="2" charset="-122"/>
              </a:rPr>
              <a:t>初值为</a:t>
            </a:r>
            <a:r>
              <a:rPr lang="en-US" altLang="zh-CN" kern="100" dirty="0">
                <a:latin typeface="Times New Roman" panose="02020603050405020304" pitchFamily="18" charset="0"/>
                <a:ea typeface="宋体" panose="02010600030101010101" pitchFamily="2" charset="-122"/>
              </a:rPr>
              <a:t> full(1)=0, full (2)=1, full (3)=0, full (4)=2</a:t>
            </a:r>
            <a:r>
              <a:rPr lang="zh-CN" altLang="zh-CN" kern="100" dirty="0">
                <a:latin typeface="Times New Roman" panose="02020603050405020304" pitchFamily="18" charset="0"/>
                <a:ea typeface="宋体" panose="02010600030101010101" pitchFamily="2" charset="-122"/>
              </a:rPr>
              <a:t>；</a:t>
            </a:r>
          </a:p>
          <a:p>
            <a:pPr indent="266700" algn="just">
              <a:defRPr/>
            </a:pPr>
            <a:r>
              <a:rPr lang="en-US" altLang="zh-CN" kern="100" dirty="0">
                <a:latin typeface="Times New Roman" panose="02020603050405020304" pitchFamily="18" charset="0"/>
                <a:ea typeface="宋体" panose="02010600030101010101" pitchFamily="2" charset="-122"/>
              </a:rPr>
              <a:t>empty</a:t>
            </a:r>
            <a:r>
              <a:rPr lang="en-US" altLang="zh-CN" kern="100" dirty="0">
                <a:latin typeface="宋体" panose="02010600030101010101" pitchFamily="2" charset="-122"/>
                <a:ea typeface="宋体" panose="02010600030101010101" pitchFamily="2" charset="-122"/>
              </a:rPr>
              <a:t>(</a:t>
            </a:r>
            <a:r>
              <a:rPr lang="en-US" altLang="zh-CN" kern="100" dirty="0" err="1">
                <a:latin typeface="宋体" panose="02010600030101010101" pitchFamily="2" charset="-122"/>
                <a:ea typeface="宋体" panose="02010600030101010101" pitchFamily="2" charset="-122"/>
              </a:rPr>
              <a:t>i</a:t>
            </a:r>
            <a:r>
              <a:rPr lang="en-US" altLang="zh-CN" kern="100" dirty="0">
                <a:latin typeface="宋体" panose="02010600030101010101" pitchFamily="2" charset="-122"/>
                <a:ea typeface="宋体" panose="02010600030101010101" pitchFamily="2" charset="-122"/>
              </a:rPr>
              <a:t>)</a:t>
            </a:r>
            <a:r>
              <a:rPr lang="zh-CN" altLang="zh-CN" kern="100" dirty="0">
                <a:latin typeface="Times New Roman" panose="02020603050405020304" pitchFamily="18" charset="0"/>
                <a:ea typeface="宋体" panose="02010600030101010101" pitchFamily="2" charset="-122"/>
              </a:rPr>
              <a:t>表示</a:t>
            </a:r>
            <a:r>
              <a:rPr lang="en-US" altLang="zh-CN" kern="100" spc="25" dirty="0">
                <a:latin typeface="宋体" panose="02010600030101010101" pitchFamily="2" charset="-122"/>
                <a:ea typeface="宋体" panose="02010600030101010101" pitchFamily="2" charset="-122"/>
              </a:rPr>
              <a:t>buffer(</a:t>
            </a:r>
            <a:r>
              <a:rPr lang="en-US" altLang="zh-CN" kern="100" spc="25" dirty="0" err="1">
                <a:latin typeface="宋体" panose="02010600030101010101" pitchFamily="2" charset="-122"/>
                <a:ea typeface="宋体" panose="02010600030101010101" pitchFamily="2" charset="-122"/>
              </a:rPr>
              <a:t>i</a:t>
            </a:r>
            <a:r>
              <a:rPr lang="en-US" altLang="zh-CN" kern="100" spc="25" dirty="0">
                <a:latin typeface="宋体" panose="02010600030101010101" pitchFamily="2" charset="-122"/>
                <a:ea typeface="宋体" panose="02010600030101010101" pitchFamily="2" charset="-122"/>
              </a:rPr>
              <a:t>)</a:t>
            </a:r>
            <a:r>
              <a:rPr lang="zh-CN" altLang="zh-CN" kern="100" spc="25" dirty="0">
                <a:latin typeface="Times New Roman" panose="02020603050405020304" pitchFamily="18" charset="0"/>
                <a:ea typeface="宋体" panose="02010600030101010101" pitchFamily="2" charset="-122"/>
              </a:rPr>
              <a:t>是否有空间；</a:t>
            </a:r>
            <a:endParaRPr lang="zh-CN" altLang="zh-CN" kern="100" dirty="0">
              <a:latin typeface="Times New Roman" panose="02020603050405020304" pitchFamily="18" charset="0"/>
              <a:ea typeface="宋体" panose="02010600030101010101" pitchFamily="2" charset="-122"/>
            </a:endParaRPr>
          </a:p>
          <a:p>
            <a:pPr indent="266700" algn="just">
              <a:defRPr/>
            </a:pPr>
            <a:r>
              <a:rPr lang="zh-CN" altLang="zh-CN" kern="100" dirty="0">
                <a:latin typeface="Times New Roman" panose="02020603050405020304" pitchFamily="18" charset="0"/>
                <a:ea typeface="宋体" panose="02010600030101010101" pitchFamily="2" charset="-122"/>
              </a:rPr>
              <a:t>初值为</a:t>
            </a:r>
            <a:r>
              <a:rPr lang="en-US" altLang="zh-CN" kern="100" dirty="0">
                <a:latin typeface="Times New Roman" panose="02020603050405020304" pitchFamily="18" charset="0"/>
                <a:ea typeface="宋体" panose="02010600030101010101" pitchFamily="2" charset="-122"/>
              </a:rPr>
              <a:t>empty(1)=3, empty (2)=1, empty (3)=3, empty (4)=0</a:t>
            </a:r>
            <a:r>
              <a:rPr lang="zh-CN" altLang="en-US" kern="100" dirty="0">
                <a:latin typeface="Times New Roman" panose="02020603050405020304" pitchFamily="18" charset="0"/>
                <a:ea typeface="宋体" panose="02010600030101010101" pitchFamily="2" charset="-122"/>
              </a:rPr>
              <a:t>、</a:t>
            </a:r>
            <a:endParaRPr lang="en-US" altLang="zh-CN" kern="100" dirty="0">
              <a:latin typeface="Times New Roman" panose="02020603050405020304" pitchFamily="18" charset="0"/>
              <a:ea typeface="宋体" panose="02010600030101010101" pitchFamily="2" charset="-122"/>
            </a:endParaRPr>
          </a:p>
          <a:p>
            <a:pPr indent="266700" algn="just">
              <a:defRPr/>
            </a:pPr>
            <a:r>
              <a:rPr lang="zh-CN" altLang="en-US"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3</a:t>
            </a:r>
            <a:r>
              <a:rPr lang="zh-CN" altLang="zh-CN" kern="100" dirty="0">
                <a:latin typeface="Times New Roman" panose="02020603050405020304" pitchFamily="18" charset="0"/>
                <a:ea typeface="宋体" panose="02010600030101010101" pitchFamily="2" charset="-122"/>
              </a:rPr>
              <a:t>）进程程序</a:t>
            </a:r>
          </a:p>
          <a:p>
            <a:pPr indent="400050" algn="just">
              <a:defRPr/>
            </a:pPr>
            <a:r>
              <a:rPr lang="en-US" altLang="zh-CN" kern="100" dirty="0">
                <a:latin typeface="Times New Roman" panose="02020603050405020304" pitchFamily="18" charset="0"/>
                <a:ea typeface="宋体" panose="02010600030101010101" pitchFamily="2" charset="-122"/>
              </a:rPr>
              <a:t>process  Proc(</a:t>
            </a:r>
            <a:r>
              <a:rPr lang="en-US" altLang="zh-CN" kern="100" dirty="0" err="1">
                <a:latin typeface="Times New Roman" panose="02020603050405020304" pitchFamily="18" charset="0"/>
                <a:ea typeface="宋体" panose="02010600030101010101" pitchFamily="2" charset="-122"/>
              </a:rPr>
              <a:t>i</a:t>
            </a:r>
            <a:r>
              <a:rPr lang="en-US" altLang="zh-CN" kern="100" dirty="0">
                <a:latin typeface="Times New Roman" panose="02020603050405020304" pitchFamily="18" charset="0"/>
                <a:ea typeface="宋体" panose="02010600030101010101" pitchFamily="2" charset="-122"/>
              </a:rPr>
              <a:t>)</a:t>
            </a:r>
            <a:endParaRPr lang="zh-CN" altLang="zh-CN" kern="100" dirty="0">
              <a:latin typeface="Times New Roman" panose="02020603050405020304" pitchFamily="18" charset="0"/>
              <a:ea typeface="宋体" panose="02010600030101010101" pitchFamily="2" charset="-122"/>
            </a:endParaRPr>
          </a:p>
          <a:p>
            <a:pPr indent="533400" algn="just">
              <a:tabLst>
                <a:tab pos="571500" algn="l"/>
              </a:tabLst>
              <a:defRPr/>
            </a:pPr>
            <a:r>
              <a:rPr lang="en-US" altLang="zh-CN" kern="100" dirty="0">
                <a:latin typeface="Times New Roman" panose="02020603050405020304" pitchFamily="18" charset="0"/>
                <a:ea typeface="宋体" panose="02010600030101010101" pitchFamily="2" charset="-122"/>
              </a:rPr>
              <a:t>{</a:t>
            </a:r>
            <a:r>
              <a:rPr lang="zh-CN" altLang="zh-CN" kern="100" dirty="0">
                <a:latin typeface="Times New Roman" panose="02020603050405020304" pitchFamily="18" charset="0"/>
                <a:ea typeface="宋体" panose="02010600030101010101" pitchFamily="2" charset="-122"/>
              </a:rPr>
              <a:t>；</a:t>
            </a:r>
          </a:p>
          <a:p>
            <a:pPr marL="683895" indent="114935" algn="just">
              <a:tabLst>
                <a:tab pos="571500" algn="l"/>
              </a:tabLst>
              <a:defRPr/>
            </a:pPr>
            <a:r>
              <a:rPr lang="en-US" altLang="zh-CN" kern="100" dirty="0">
                <a:latin typeface="Times New Roman" panose="02020603050405020304" pitchFamily="18" charset="0"/>
                <a:ea typeface="宋体" panose="02010600030101010101" pitchFamily="2" charset="-122"/>
              </a:rPr>
              <a:t>p(full(</a:t>
            </a:r>
            <a:r>
              <a:rPr lang="en-US" altLang="zh-CN" kern="100" dirty="0" err="1">
                <a:latin typeface="Times New Roman" panose="02020603050405020304" pitchFamily="18" charset="0"/>
                <a:ea typeface="宋体" panose="02010600030101010101" pitchFamily="2" charset="-122"/>
              </a:rPr>
              <a:t>i</a:t>
            </a:r>
            <a:r>
              <a:rPr lang="en-US" altLang="zh-CN" kern="100" dirty="0">
                <a:latin typeface="Times New Roman" panose="02020603050405020304" pitchFamily="18" charset="0"/>
                <a:ea typeface="宋体" panose="02010600030101010101" pitchFamily="2" charset="-122"/>
              </a:rPr>
              <a:t>))</a:t>
            </a:r>
            <a:r>
              <a:rPr lang="zh-CN" altLang="zh-CN" kern="100" dirty="0">
                <a:latin typeface="Times New Roman" panose="02020603050405020304" pitchFamily="18" charset="0"/>
                <a:ea typeface="宋体" panose="02010600030101010101" pitchFamily="2" charset="-122"/>
              </a:rPr>
              <a:t>；</a:t>
            </a:r>
            <a:endParaRPr lang="en-US" altLang="zh-CN" kern="100" dirty="0">
              <a:latin typeface="Times New Roman" panose="02020603050405020304" pitchFamily="18" charset="0"/>
              <a:ea typeface="宋体" panose="02010600030101010101" pitchFamily="2" charset="-122"/>
            </a:endParaRPr>
          </a:p>
          <a:p>
            <a:pPr marL="683895" indent="114935" algn="just">
              <a:tabLst>
                <a:tab pos="571500" algn="l"/>
              </a:tabLst>
              <a:defRPr/>
            </a:pPr>
            <a:r>
              <a:rPr lang="en-US" altLang="zh-CN" kern="100" dirty="0">
                <a:latin typeface="Times New Roman" panose="02020603050405020304" pitchFamily="18" charset="0"/>
                <a:ea typeface="宋体" panose="02010600030101010101" pitchFamily="2" charset="-122"/>
              </a:rPr>
              <a:t>p(empty(</a:t>
            </a:r>
            <a:r>
              <a:rPr lang="en-US" altLang="zh-CN" kern="100" dirty="0" err="1">
                <a:latin typeface="Times New Roman" panose="02020603050405020304" pitchFamily="18" charset="0"/>
                <a:ea typeface="宋体" panose="02010600030101010101" pitchFamily="2" charset="-122"/>
              </a:rPr>
              <a:t>i</a:t>
            </a:r>
            <a:r>
              <a:rPr lang="en-US" altLang="zh-CN" kern="100" dirty="0">
                <a:latin typeface="Times New Roman" panose="02020603050405020304" pitchFamily="18" charset="0"/>
                <a:ea typeface="宋体" panose="02010600030101010101" pitchFamily="2" charset="-122"/>
              </a:rPr>
              <a:t> mod4 +1))</a:t>
            </a:r>
            <a:endParaRPr lang="zh-CN" altLang="zh-CN" kern="100" dirty="0">
              <a:latin typeface="Times New Roman" panose="02020603050405020304" pitchFamily="18" charset="0"/>
              <a:ea typeface="宋体" panose="02010600030101010101" pitchFamily="2" charset="-122"/>
            </a:endParaRPr>
          </a:p>
          <a:p>
            <a:pPr marL="683895" indent="114935" algn="just">
              <a:tabLst>
                <a:tab pos="571500" algn="l"/>
              </a:tabLst>
              <a:defRPr/>
            </a:pPr>
            <a:r>
              <a:rPr lang="en-US" altLang="zh-CN" kern="100" dirty="0">
                <a:latin typeface="Times New Roman" panose="02020603050405020304" pitchFamily="18" charset="0"/>
                <a:ea typeface="宋体" panose="02010600030101010101" pitchFamily="2" charset="-122"/>
              </a:rPr>
              <a:t>p(m(</a:t>
            </a:r>
            <a:r>
              <a:rPr lang="en-US" altLang="zh-CN" kern="100" dirty="0" err="1">
                <a:latin typeface="Times New Roman" panose="02020603050405020304" pitchFamily="18" charset="0"/>
                <a:ea typeface="宋体" panose="02010600030101010101" pitchFamily="2" charset="-122"/>
              </a:rPr>
              <a:t>i</a:t>
            </a:r>
            <a:r>
              <a:rPr lang="en-US" altLang="zh-CN" kern="100" dirty="0">
                <a:latin typeface="Times New Roman" panose="02020603050405020304" pitchFamily="18" charset="0"/>
                <a:ea typeface="宋体" panose="02010600030101010101" pitchFamily="2" charset="-122"/>
              </a:rPr>
              <a:t>) &amp;&amp; m(imod4)+1));</a:t>
            </a:r>
            <a:endParaRPr lang="zh-CN" altLang="zh-CN" kern="100" dirty="0">
              <a:latin typeface="Times New Roman" panose="02020603050405020304" pitchFamily="18" charset="0"/>
              <a:ea typeface="宋体" panose="02010600030101010101" pitchFamily="2" charset="-122"/>
            </a:endParaRPr>
          </a:p>
          <a:p>
            <a:pPr indent="800100" algn="just">
              <a:defRPr/>
            </a:pPr>
            <a:r>
              <a:rPr lang="en-US" altLang="zh-CN" kern="100" dirty="0">
                <a:latin typeface="Times New Roman" panose="02020603050405020304" pitchFamily="18" charset="0"/>
                <a:ea typeface="宋体" panose="02010600030101010101" pitchFamily="2" charset="-122"/>
              </a:rPr>
              <a:t>move</a:t>
            </a:r>
            <a:r>
              <a:rPr lang="zh-CN" altLang="zh-CN" kern="100" dirty="0">
                <a:latin typeface="Times New Roman" panose="02020603050405020304" pitchFamily="18" charset="0"/>
                <a:ea typeface="宋体" panose="02010600030101010101" pitchFamily="2" charset="-122"/>
              </a:rPr>
              <a:t>；</a:t>
            </a:r>
          </a:p>
          <a:p>
            <a:pPr marL="683895" indent="114935" algn="just">
              <a:tabLst>
                <a:tab pos="571500" algn="l"/>
              </a:tabLst>
              <a:defRPr/>
            </a:pPr>
            <a:r>
              <a:rPr lang="en-US" altLang="zh-CN" kern="100" dirty="0">
                <a:latin typeface="Times New Roman" panose="02020603050405020304" pitchFamily="18" charset="0"/>
                <a:ea typeface="宋体" panose="02010600030101010101" pitchFamily="2" charset="-122"/>
              </a:rPr>
              <a:t>v(m(</a:t>
            </a:r>
            <a:r>
              <a:rPr lang="en-US" altLang="zh-CN" kern="100" dirty="0" err="1">
                <a:latin typeface="Times New Roman" panose="02020603050405020304" pitchFamily="18" charset="0"/>
                <a:ea typeface="宋体" panose="02010600030101010101" pitchFamily="2" charset="-122"/>
              </a:rPr>
              <a:t>i</a:t>
            </a:r>
            <a:r>
              <a:rPr lang="en-US" altLang="zh-CN" kern="100" dirty="0">
                <a:latin typeface="Times New Roman" panose="02020603050405020304" pitchFamily="18" charset="0"/>
                <a:ea typeface="宋体" panose="02010600030101010101" pitchFamily="2" charset="-122"/>
              </a:rPr>
              <a:t>) &amp;&amp; m(</a:t>
            </a:r>
            <a:r>
              <a:rPr lang="en-US" altLang="zh-CN" kern="100" dirty="0" err="1">
                <a:latin typeface="Times New Roman" panose="02020603050405020304" pitchFamily="18" charset="0"/>
                <a:ea typeface="宋体" panose="02010600030101010101" pitchFamily="2" charset="-122"/>
              </a:rPr>
              <a:t>i</a:t>
            </a:r>
            <a:r>
              <a:rPr lang="en-US" altLang="zh-CN" kern="100" dirty="0">
                <a:latin typeface="Times New Roman" panose="02020603050405020304" pitchFamily="18" charset="0"/>
                <a:ea typeface="宋体" panose="02010600030101010101" pitchFamily="2" charset="-122"/>
              </a:rPr>
              <a:t> mod4)+1));</a:t>
            </a:r>
            <a:endParaRPr lang="zh-CN" altLang="zh-CN" kern="100" dirty="0">
              <a:latin typeface="Times New Roman" panose="02020603050405020304" pitchFamily="18" charset="0"/>
              <a:ea typeface="宋体" panose="02010600030101010101" pitchFamily="2" charset="-122"/>
            </a:endParaRPr>
          </a:p>
          <a:p>
            <a:pPr marL="683895" indent="114935" algn="just">
              <a:tabLst>
                <a:tab pos="571500" algn="l"/>
              </a:tabLst>
              <a:defRPr/>
            </a:pPr>
            <a:r>
              <a:rPr lang="en-US" altLang="zh-CN" kern="100" dirty="0">
                <a:latin typeface="Times New Roman" panose="02020603050405020304" pitchFamily="18" charset="0"/>
                <a:ea typeface="宋体" panose="02010600030101010101" pitchFamily="2" charset="-122"/>
              </a:rPr>
              <a:t>v(full((</a:t>
            </a:r>
            <a:r>
              <a:rPr lang="en-US" altLang="zh-CN" kern="100" dirty="0" err="1">
                <a:latin typeface="Times New Roman" panose="02020603050405020304" pitchFamily="18" charset="0"/>
                <a:ea typeface="宋体" panose="02010600030101010101" pitchFamily="2" charset="-122"/>
              </a:rPr>
              <a:t>i</a:t>
            </a:r>
            <a:r>
              <a:rPr lang="en-US" altLang="zh-CN" kern="100" dirty="0">
                <a:latin typeface="Times New Roman" panose="02020603050405020304" pitchFamily="18" charset="0"/>
                <a:ea typeface="宋体" panose="02010600030101010101" pitchFamily="2" charset="-122"/>
              </a:rPr>
              <a:t> mod4 +1)));</a:t>
            </a:r>
            <a:endParaRPr lang="zh-CN" altLang="zh-CN" kern="100" dirty="0">
              <a:latin typeface="Times New Roman" panose="02020603050405020304" pitchFamily="18" charset="0"/>
              <a:ea typeface="宋体" panose="02010600030101010101" pitchFamily="2" charset="-122"/>
            </a:endParaRPr>
          </a:p>
          <a:p>
            <a:pPr marL="683895" indent="114935" algn="just">
              <a:tabLst>
                <a:tab pos="571500" algn="l"/>
              </a:tabLst>
              <a:defRPr/>
            </a:pPr>
            <a:r>
              <a:rPr lang="en-US" altLang="zh-CN" kern="100" dirty="0">
                <a:latin typeface="Times New Roman" panose="02020603050405020304" pitchFamily="18" charset="0"/>
                <a:ea typeface="宋体" panose="02010600030101010101" pitchFamily="2" charset="-122"/>
              </a:rPr>
              <a:t>v(empty(</a:t>
            </a:r>
            <a:r>
              <a:rPr lang="en-US" altLang="zh-CN" kern="100" dirty="0" err="1">
                <a:latin typeface="Times New Roman" panose="02020603050405020304" pitchFamily="18" charset="0"/>
                <a:ea typeface="宋体" panose="02010600030101010101" pitchFamily="2" charset="-122"/>
              </a:rPr>
              <a:t>i</a:t>
            </a:r>
            <a:r>
              <a:rPr lang="en-US" altLang="zh-CN" kern="100" dirty="0">
                <a:latin typeface="Times New Roman" panose="02020603050405020304" pitchFamily="18" charset="0"/>
                <a:ea typeface="宋体" panose="02010600030101010101" pitchFamily="2" charset="-122"/>
              </a:rPr>
              <a:t>);</a:t>
            </a:r>
            <a:endParaRPr lang="zh-CN" altLang="zh-CN" kern="100" dirty="0">
              <a:latin typeface="Times New Roman" panose="02020603050405020304" pitchFamily="18" charset="0"/>
              <a:ea typeface="宋体" panose="02010600030101010101" pitchFamily="2" charset="-122"/>
            </a:endParaRPr>
          </a:p>
          <a:p>
            <a:pPr indent="266700" algn="just">
              <a:defRPr/>
            </a:pPr>
            <a:r>
              <a:rPr lang="en-US" altLang="zh-CN" kern="100" dirty="0">
                <a:latin typeface="Times New Roman" panose="02020603050405020304" pitchFamily="18" charset="0"/>
                <a:ea typeface="宋体" panose="02010600030101010101" pitchFamily="2" charset="-122"/>
              </a:rPr>
              <a:t>   }</a:t>
            </a:r>
            <a:endParaRPr lang="zh-CN" altLang="zh-CN" kern="100" dirty="0">
              <a:latin typeface="Times New Roman" panose="02020603050405020304" pitchFamily="18" charset="0"/>
              <a:ea typeface="宋体" panose="02010600030101010101" pitchFamily="2" charset="-122"/>
            </a:endParaRPr>
          </a:p>
          <a:p>
            <a:pPr>
              <a:defRPr/>
            </a:pPr>
            <a:endParaRPr lang="en-US" altLang="zh-CN" sz="2800" dirty="0"/>
          </a:p>
          <a:p>
            <a:pPr>
              <a:defRPr/>
            </a:pPr>
            <a:endParaRPr lang="zh-CN" altLang="en-US" sz="2800" dirty="0"/>
          </a:p>
        </p:txBody>
      </p:sp>
      <p:sp>
        <p:nvSpPr>
          <p:cNvPr id="241667" name="文本框 2">
            <a:extLst>
              <a:ext uri="{FF2B5EF4-FFF2-40B4-BE49-F238E27FC236}">
                <a16:creationId xmlns:a16="http://schemas.microsoft.com/office/drawing/2014/main" id="{736C19BC-502A-4FB0-9EFD-8E27FE6A4694}"/>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14" end="1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16" end="1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15" end="1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
                                            <p:txEl>
                                              <p:pRg st="17" end="17"/>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文本框 1">
            <a:extLst>
              <a:ext uri="{FF2B5EF4-FFF2-40B4-BE49-F238E27FC236}">
                <a16:creationId xmlns:a16="http://schemas.microsoft.com/office/drawing/2014/main" id="{3C412BF3-6499-475B-B68F-6A92D90F54F4}"/>
              </a:ext>
            </a:extLst>
          </p:cNvPr>
          <p:cNvSpPr txBox="1">
            <a:spLocks noChangeArrowheads="1"/>
          </p:cNvSpPr>
          <p:nvPr/>
        </p:nvSpPr>
        <p:spPr bwMode="auto">
          <a:xfrm>
            <a:off x="358775" y="958850"/>
            <a:ext cx="8607425"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en-US" altLang="zh-CN" sz="2800">
                <a:latin typeface="Verdana" panose="020B0604030504040204" pitchFamily="34" charset="0"/>
              </a:rPr>
              <a:t>【</a:t>
            </a:r>
            <a:r>
              <a:rPr kumimoji="0" lang="zh-CN" altLang="en-US" sz="2800">
                <a:latin typeface="Verdana" panose="020B0604030504040204" pitchFamily="34" charset="0"/>
              </a:rPr>
              <a:t>解答题</a:t>
            </a:r>
            <a:r>
              <a:rPr kumimoji="0" lang="en-US" altLang="zh-CN" sz="2800">
                <a:latin typeface="Verdana" panose="020B0604030504040204" pitchFamily="34" charset="0"/>
              </a:rPr>
              <a:t>】(2021</a:t>
            </a:r>
            <a:r>
              <a:rPr kumimoji="0" lang="zh-CN" altLang="en-US" sz="2800">
                <a:latin typeface="Verdana" panose="020B0604030504040204" pitchFamily="34" charset="0"/>
              </a:rPr>
              <a:t>统考真题</a:t>
            </a:r>
            <a:r>
              <a:rPr kumimoji="0" lang="en-US" altLang="zh-CN" sz="2800">
                <a:latin typeface="Verdana" panose="020B0604030504040204" pitchFamily="34" charset="0"/>
              </a:rPr>
              <a:t>)</a:t>
            </a:r>
            <a:r>
              <a:rPr kumimoji="0" lang="zh-CN" altLang="en-US" sz="2800">
                <a:latin typeface="Verdana" panose="020B0604030504040204" pitchFamily="34" charset="0"/>
              </a:rPr>
              <a:t>某银行提供</a:t>
            </a:r>
            <a:r>
              <a:rPr kumimoji="0" lang="en-US" altLang="zh-CN" sz="2800">
                <a:latin typeface="Verdana" panose="020B0604030504040204" pitchFamily="34" charset="0"/>
              </a:rPr>
              <a:t>2</a:t>
            </a:r>
            <a:r>
              <a:rPr kumimoji="0" lang="zh-CN" altLang="en-US" sz="2800">
                <a:latin typeface="Verdana" panose="020B0604030504040204" pitchFamily="34" charset="0"/>
              </a:rPr>
              <a:t>个服务窗口和</a:t>
            </a:r>
            <a:r>
              <a:rPr kumimoji="0" lang="en-US" altLang="zh-CN" sz="2800">
                <a:latin typeface="Verdana" panose="020B0604030504040204" pitchFamily="34" charset="0"/>
              </a:rPr>
              <a:t>10</a:t>
            </a:r>
            <a:r>
              <a:rPr kumimoji="0" lang="zh-CN" altLang="en-US" sz="2800">
                <a:latin typeface="Verdana" panose="020B0604030504040204" pitchFamily="34" charset="0"/>
              </a:rPr>
              <a:t>个供顾客等待的座位。顾客到达银行时，若有空座位，则到取号机上领取一个号，等待叫号。取号机每次仅允许一位顾客使用。当营业员空闲时，通过叫号选取一位顾客，并为其服务。</a:t>
            </a:r>
            <a:endParaRPr kumimoji="0" lang="en-US" altLang="zh-CN" sz="2800">
              <a:latin typeface="Verdana" panose="020B0604030504040204" pitchFamily="34" charset="0"/>
            </a:endParaRPr>
          </a:p>
          <a:p>
            <a:pPr>
              <a:spcBef>
                <a:spcPct val="0"/>
              </a:spcBef>
              <a:buClrTx/>
              <a:buSzTx/>
              <a:buFontTx/>
              <a:buNone/>
            </a:pPr>
            <a:r>
              <a:rPr kumimoji="0" lang="zh-CN" altLang="en-US" sz="2800">
                <a:latin typeface="Verdana" panose="020B0604030504040204" pitchFamily="34" charset="0"/>
              </a:rPr>
              <a:t>请添加必要的信号量和</a:t>
            </a:r>
            <a:r>
              <a:rPr kumimoji="0" lang="en-US" altLang="zh-CN" sz="2800">
                <a:latin typeface="Verdana" panose="020B0604030504040204" pitchFamily="34" charset="0"/>
              </a:rPr>
              <a:t>PC</a:t>
            </a:r>
            <a:r>
              <a:rPr kumimoji="0" lang="zh-CN" altLang="en-US" sz="2800">
                <a:latin typeface="Verdana" panose="020B0604030504040204" pitchFamily="34" charset="0"/>
              </a:rPr>
              <a:t>操作，实现上述过程。</a:t>
            </a:r>
          </a:p>
        </p:txBody>
      </p:sp>
      <p:sp>
        <p:nvSpPr>
          <p:cNvPr id="249859" name="文本框 2">
            <a:extLst>
              <a:ext uri="{FF2B5EF4-FFF2-40B4-BE49-F238E27FC236}">
                <a16:creationId xmlns:a16="http://schemas.microsoft.com/office/drawing/2014/main" id="{8E2B28F9-AAC7-4436-A2A9-139CEC1BC577}"/>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文本框 2">
            <a:extLst>
              <a:ext uri="{FF2B5EF4-FFF2-40B4-BE49-F238E27FC236}">
                <a16:creationId xmlns:a16="http://schemas.microsoft.com/office/drawing/2014/main" id="{3A0FCDE1-DC2D-4733-BBA5-8041C1611A31}"/>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pic>
        <p:nvPicPr>
          <p:cNvPr id="251907" name="图片 2">
            <a:extLst>
              <a:ext uri="{FF2B5EF4-FFF2-40B4-BE49-F238E27FC236}">
                <a16:creationId xmlns:a16="http://schemas.microsoft.com/office/drawing/2014/main" id="{C5EBE812-52EC-42C3-90B1-655FEACF7B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850" y="989013"/>
            <a:ext cx="6948488" cy="127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1F9B5E86-C168-42B4-9848-35CC7E70E1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263" y="2536825"/>
            <a:ext cx="3619500"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a:extLst>
              <a:ext uri="{FF2B5EF4-FFF2-40B4-BE49-F238E27FC236}">
                <a16:creationId xmlns:a16="http://schemas.microsoft.com/office/drawing/2014/main" id="{05B23B2C-A771-462C-AC5A-B3BE0CA657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71950" y="2536825"/>
            <a:ext cx="4406900" cy="236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直接箭头连接符 11">
            <a:extLst>
              <a:ext uri="{FF2B5EF4-FFF2-40B4-BE49-F238E27FC236}">
                <a16:creationId xmlns:a16="http://schemas.microsoft.com/office/drawing/2014/main" id="{E999153E-8714-4680-9582-ED395B3CBB68}"/>
              </a:ext>
            </a:extLst>
          </p:cNvPr>
          <p:cNvCxnSpPr>
            <a:cxnSpLocks noChangeShapeType="1"/>
          </p:cNvCxnSpPr>
          <p:nvPr/>
        </p:nvCxnSpPr>
        <p:spPr bwMode="auto">
          <a:xfrm flipV="1">
            <a:off x="2628900" y="4298950"/>
            <a:ext cx="2305050" cy="95250"/>
          </a:xfrm>
          <a:prstGeom prst="straightConnector1">
            <a:avLst/>
          </a:prstGeom>
          <a:noFill/>
          <a:ln w="57150" algn="ctr">
            <a:solidFill>
              <a:srgbClr val="C00000"/>
            </a:solidFill>
            <a:round/>
            <a:headEnd/>
            <a:tailEnd type="triangle" w="med" len="med"/>
          </a:ln>
          <a:extLst>
            <a:ext uri="{909E8E84-426E-40DD-AFC4-6F175D3DCCD1}">
              <a14:hiddenFill xmlns:a14="http://schemas.microsoft.com/office/drawing/2010/main">
                <a:noFill/>
              </a14:hiddenFill>
            </a:ext>
          </a:extLst>
        </p:spPr>
      </p:cxnSp>
      <p:cxnSp>
        <p:nvCxnSpPr>
          <p:cNvPr id="14" name="直接箭头连接符 13">
            <a:extLst>
              <a:ext uri="{FF2B5EF4-FFF2-40B4-BE49-F238E27FC236}">
                <a16:creationId xmlns:a16="http://schemas.microsoft.com/office/drawing/2014/main" id="{6392FD89-0041-45E1-AECF-A1BECBA1097D}"/>
              </a:ext>
            </a:extLst>
          </p:cNvPr>
          <p:cNvCxnSpPr>
            <a:cxnSpLocks/>
          </p:cNvCxnSpPr>
          <p:nvPr/>
        </p:nvCxnSpPr>
        <p:spPr bwMode="auto">
          <a:xfrm flipV="1">
            <a:off x="2482850" y="3276600"/>
            <a:ext cx="2533650" cy="1676400"/>
          </a:xfrm>
          <a:prstGeom prst="straightConnector1">
            <a:avLst/>
          </a:prstGeom>
          <a:noFill/>
          <a:ln w="57150" algn="ctr">
            <a:solidFill>
              <a:srgbClr val="C00000"/>
            </a:solidFill>
            <a:round/>
            <a:headEnd/>
            <a:tailEnd type="triangle" w="med" len="med"/>
          </a:ln>
          <a:extLst>
            <a:ext uri="{909E8E84-426E-40DD-AFC4-6F175D3DCCD1}">
              <a14:hiddenFill xmlns:a14="http://schemas.microsoft.com/office/drawing/2010/main">
                <a:noFill/>
              </a14:hiddenFill>
            </a:ext>
          </a:extLst>
        </p:spPr>
      </p:cxnSp>
      <p:cxnSp>
        <p:nvCxnSpPr>
          <p:cNvPr id="17" name="直接箭头连接符 16">
            <a:extLst>
              <a:ext uri="{FF2B5EF4-FFF2-40B4-BE49-F238E27FC236}">
                <a16:creationId xmlns:a16="http://schemas.microsoft.com/office/drawing/2014/main" id="{363F9EE7-A78E-4766-9F7C-AAB781BB383F}"/>
              </a:ext>
            </a:extLst>
          </p:cNvPr>
          <p:cNvCxnSpPr>
            <a:cxnSpLocks/>
          </p:cNvCxnSpPr>
          <p:nvPr/>
        </p:nvCxnSpPr>
        <p:spPr bwMode="auto">
          <a:xfrm>
            <a:off x="2349500" y="3232150"/>
            <a:ext cx="2667000" cy="520700"/>
          </a:xfrm>
          <a:prstGeom prst="straightConnector1">
            <a:avLst/>
          </a:prstGeom>
          <a:noFill/>
          <a:ln w="57150" algn="ctr">
            <a:solidFill>
              <a:srgbClr val="C00000"/>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文本框 1">
            <a:extLst>
              <a:ext uri="{FF2B5EF4-FFF2-40B4-BE49-F238E27FC236}">
                <a16:creationId xmlns:a16="http://schemas.microsoft.com/office/drawing/2014/main" id="{4E4231AE-90EB-4D0B-B0B9-73024754ABED}"/>
              </a:ext>
            </a:extLst>
          </p:cNvPr>
          <p:cNvSpPr txBox="1">
            <a:spLocks noChangeArrowheads="1"/>
          </p:cNvSpPr>
          <p:nvPr/>
        </p:nvSpPr>
        <p:spPr bwMode="auto">
          <a:xfrm>
            <a:off x="358775" y="958850"/>
            <a:ext cx="8607425"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en-US" altLang="zh-CN" sz="2800">
                <a:latin typeface="Verdana" panose="020B0604030504040204" pitchFamily="34" charset="0"/>
              </a:rPr>
              <a:t>【</a:t>
            </a:r>
            <a:r>
              <a:rPr kumimoji="0" lang="zh-CN" altLang="en-US" sz="2800">
                <a:latin typeface="Verdana" panose="020B0604030504040204" pitchFamily="34" charset="0"/>
              </a:rPr>
              <a:t>解答题</a:t>
            </a:r>
            <a:r>
              <a:rPr kumimoji="0" lang="en-US" altLang="zh-CN" sz="2800">
                <a:latin typeface="Verdana" panose="020B0604030504040204" pitchFamily="34" charset="0"/>
              </a:rPr>
              <a:t>】</a:t>
            </a:r>
            <a:r>
              <a:rPr kumimoji="0" lang="zh-CN" altLang="en-US" sz="2800">
                <a:latin typeface="Verdana" panose="020B0604030504040204" pitchFamily="34" charset="0"/>
              </a:rPr>
              <a:t>理发店有</a:t>
            </a:r>
            <a:r>
              <a:rPr kumimoji="0" lang="en-US" altLang="zh-CN" sz="2800">
                <a:latin typeface="Verdana" panose="020B0604030504040204" pitchFamily="34" charset="0"/>
              </a:rPr>
              <a:t>1</a:t>
            </a:r>
            <a:r>
              <a:rPr kumimoji="0" lang="zh-CN" altLang="en-US" sz="2800">
                <a:latin typeface="Verdana" panose="020B0604030504040204" pitchFamily="34" charset="0"/>
              </a:rPr>
              <a:t>位理发师、</a:t>
            </a:r>
            <a:r>
              <a:rPr kumimoji="0" lang="en-US" altLang="zh-CN" sz="2800">
                <a:latin typeface="Verdana" panose="020B0604030504040204" pitchFamily="34" charset="0"/>
              </a:rPr>
              <a:t>1</a:t>
            </a:r>
            <a:r>
              <a:rPr kumimoji="0" lang="zh-CN" altLang="en-US" sz="2800">
                <a:latin typeface="Verdana" panose="020B0604030504040204" pitchFamily="34" charset="0"/>
              </a:rPr>
              <a:t>把理发椅和</a:t>
            </a:r>
            <a:r>
              <a:rPr kumimoji="0" lang="en-US" altLang="zh-CN" sz="2800">
                <a:latin typeface="Verdana" panose="020B0604030504040204" pitchFamily="34" charset="0"/>
              </a:rPr>
              <a:t>n</a:t>
            </a:r>
            <a:r>
              <a:rPr kumimoji="0" lang="zh-CN" altLang="en-US" sz="2800">
                <a:latin typeface="Verdana" panose="020B0604030504040204" pitchFamily="34" charset="0"/>
              </a:rPr>
              <a:t>把供等候理发的顾客坐的椅子。如果没有顾客，理发师便在理发椅上睡觉等第一个顾客到来。第一个顾客到来时，它必须叫醒理发师。如果理发师正在理发时又有顾客到来，则如果有空椅子可以坐，就坐下来等待，否则就离开。</a:t>
            </a:r>
          </a:p>
        </p:txBody>
      </p:sp>
      <p:sp>
        <p:nvSpPr>
          <p:cNvPr id="243715" name="文本框 2">
            <a:extLst>
              <a:ext uri="{FF2B5EF4-FFF2-40B4-BE49-F238E27FC236}">
                <a16:creationId xmlns:a16="http://schemas.microsoft.com/office/drawing/2014/main" id="{898F2574-3F7A-4E3F-82FA-C9C2E7583F89}"/>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文本框 2">
            <a:extLst>
              <a:ext uri="{FF2B5EF4-FFF2-40B4-BE49-F238E27FC236}">
                <a16:creationId xmlns:a16="http://schemas.microsoft.com/office/drawing/2014/main" id="{FADAD0AF-6FA2-4B96-8E44-10297295DB3D}"/>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pic>
        <p:nvPicPr>
          <p:cNvPr id="245763" name="图片 3">
            <a:extLst>
              <a:ext uri="{FF2B5EF4-FFF2-40B4-BE49-F238E27FC236}">
                <a16:creationId xmlns:a16="http://schemas.microsoft.com/office/drawing/2014/main" id="{A6A73C1B-E2F3-4449-8A56-D74E278106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850" y="917575"/>
            <a:ext cx="5067300" cy="168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764" name="图片 5">
            <a:extLst>
              <a:ext uri="{FF2B5EF4-FFF2-40B4-BE49-F238E27FC236}">
                <a16:creationId xmlns:a16="http://schemas.microsoft.com/office/drawing/2014/main" id="{90131A92-D0D9-42E9-BFE0-EDFA4EBAF8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850" y="2719388"/>
            <a:ext cx="6350000" cy="358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65" name="矩形 6">
            <a:extLst>
              <a:ext uri="{FF2B5EF4-FFF2-40B4-BE49-F238E27FC236}">
                <a16:creationId xmlns:a16="http://schemas.microsoft.com/office/drawing/2014/main" id="{B706E058-7098-4D4F-B4FC-DD8DE6B567EB}"/>
              </a:ext>
            </a:extLst>
          </p:cNvPr>
          <p:cNvSpPr>
            <a:spLocks noChangeArrowheads="1"/>
          </p:cNvSpPr>
          <p:nvPr/>
        </p:nvSpPr>
        <p:spPr bwMode="auto">
          <a:xfrm>
            <a:off x="3416300" y="4032250"/>
            <a:ext cx="704850" cy="177800"/>
          </a:xfrm>
          <a:prstGeom prst="rect">
            <a:avLst/>
          </a:prstGeom>
          <a:solidFill>
            <a:srgbClr val="282C34"/>
          </a:solidFill>
          <a:ln w="9525" algn="ctr">
            <a:solidFill>
              <a:srgbClr val="282C34"/>
            </a:solidFill>
            <a:round/>
            <a:headEnd/>
            <a:tailEnd/>
          </a:ln>
        </p:spPr>
        <p:txBody>
          <a:bodyPr wrap="none"/>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文本框 2">
            <a:extLst>
              <a:ext uri="{FF2B5EF4-FFF2-40B4-BE49-F238E27FC236}">
                <a16:creationId xmlns:a16="http://schemas.microsoft.com/office/drawing/2014/main" id="{72386B1F-CF20-4F03-8E54-314EE0FE7086}"/>
              </a:ext>
            </a:extLst>
          </p:cNvPr>
          <p:cNvSpPr txBox="1">
            <a:spLocks noChangeArrowheads="1"/>
          </p:cNvSpPr>
          <p:nvPr/>
        </p:nvSpPr>
        <p:spPr bwMode="auto">
          <a:xfrm>
            <a:off x="4068763" y="215900"/>
            <a:ext cx="1006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charset="2"/>
              <a:buChar char="n"/>
              <a:defRPr kumimoji="1" sz="3200">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800">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kumimoji="0" lang="zh-CN" altLang="en-US">
                <a:latin typeface="Verdana" panose="020B0604030504040204" pitchFamily="34" charset="0"/>
              </a:rPr>
              <a:t>例题</a:t>
            </a:r>
          </a:p>
        </p:txBody>
      </p:sp>
      <p:pic>
        <p:nvPicPr>
          <p:cNvPr id="247811" name="图片 3">
            <a:extLst>
              <a:ext uri="{FF2B5EF4-FFF2-40B4-BE49-F238E27FC236}">
                <a16:creationId xmlns:a16="http://schemas.microsoft.com/office/drawing/2014/main" id="{6533ABFB-BD20-41E8-9125-ABC559AC5C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850" y="917575"/>
            <a:ext cx="5067300" cy="168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7812" name="图片 2">
            <a:extLst>
              <a:ext uri="{FF2B5EF4-FFF2-40B4-BE49-F238E27FC236}">
                <a16:creationId xmlns:a16="http://schemas.microsoft.com/office/drawing/2014/main" id="{2156B227-5110-4F51-837D-A3DB5A75C8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850" y="2719388"/>
            <a:ext cx="5505450" cy="288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FFC1DF4B-A520-4CD5-ACA5-052366CA7AC2}"/>
              </a:ext>
            </a:extLst>
          </p:cNvPr>
          <p:cNvSpPr/>
          <p:nvPr/>
        </p:nvSpPr>
        <p:spPr bwMode="auto">
          <a:xfrm>
            <a:off x="1191491" y="4516582"/>
            <a:ext cx="1108364" cy="277091"/>
          </a:xfrm>
          <a:prstGeom prst="rect">
            <a:avLst/>
          </a:prstGeom>
          <a:solidFill>
            <a:srgbClr val="282C34"/>
          </a:solidFill>
          <a:ln w="9525" cap="flat" cmpd="sng" algn="ctr">
            <a:no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Verdana" panose="020B0604030504040204" pitchFamily="34" charset="0"/>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p:cNvSpPr>
          <p:nvPr>
            <p:ph type="title"/>
          </p:nvPr>
        </p:nvSpPr>
        <p:spPr>
          <a:ln/>
        </p:spPr>
        <p:txBody>
          <a:bodyPr vert="horz" wrap="square" lIns="91440" tIns="45720" rIns="91440" bIns="45720" anchor="b" anchorCtr="0"/>
          <a:lstStyle/>
          <a:p>
            <a:br>
              <a:rPr lang="zh-CN" altLang="en-US" dirty="0"/>
            </a:br>
            <a:br>
              <a:rPr lang="zh-CN" altLang="en-US" dirty="0"/>
            </a:br>
            <a:r>
              <a:rPr lang="en-US" altLang="zh-CN" dirty="0"/>
              <a:t>Chapter 6: Process Synchronization</a:t>
            </a:r>
          </a:p>
        </p:txBody>
      </p:sp>
      <p:sp>
        <p:nvSpPr>
          <p:cNvPr id="9218" name="Rectangle 3"/>
          <p:cNvSpPr>
            <a:spLocks noGrp="1"/>
          </p:cNvSpPr>
          <p:nvPr>
            <p:ph idx="1"/>
          </p:nvPr>
        </p:nvSpPr>
        <p:spPr>
          <a:ln/>
        </p:spPr>
        <p:txBody>
          <a:bodyPr vert="horz" wrap="square" lIns="91440" tIns="45720" rIns="91440" bIns="45720" anchor="t" anchorCtr="0"/>
          <a:lstStyle/>
          <a:p>
            <a:r>
              <a:rPr lang="en-US" altLang="zh-CN" sz="2400" dirty="0"/>
              <a:t>Background</a:t>
            </a:r>
          </a:p>
          <a:p>
            <a:r>
              <a:rPr lang="en-US" altLang="zh-CN" sz="2400" dirty="0"/>
              <a:t>The Critical-Section Problem</a:t>
            </a:r>
          </a:p>
          <a:p>
            <a:r>
              <a:rPr lang="en-US" altLang="zh-CN" sz="2400" dirty="0"/>
              <a:t>Peterson’s Solution</a:t>
            </a:r>
          </a:p>
          <a:p>
            <a:r>
              <a:rPr lang="en-US" altLang="zh-CN" sz="2400" dirty="0"/>
              <a:t>Synchronization Hardware</a:t>
            </a:r>
          </a:p>
          <a:p>
            <a:r>
              <a:rPr lang="en-US" altLang="zh-CN" sz="2400" dirty="0"/>
              <a:t>Semaphores</a:t>
            </a:r>
          </a:p>
          <a:p>
            <a:r>
              <a:rPr lang="en-US" altLang="zh-CN" sz="2400" dirty="0"/>
              <a:t>Classic Problems of Synchronization</a:t>
            </a:r>
          </a:p>
          <a:p>
            <a:r>
              <a:rPr lang="en-US" altLang="zh-CN" sz="2400" dirty="0"/>
              <a:t>Monitors</a:t>
            </a:r>
          </a:p>
          <a:p>
            <a:r>
              <a:rPr lang="en-US" altLang="zh-CN" sz="2400" dirty="0">
                <a:solidFill>
                  <a:srgbClr val="C00000"/>
                </a:solidFill>
              </a:rPr>
              <a:t>Synchronization Examples </a:t>
            </a:r>
          </a:p>
          <a:p>
            <a:r>
              <a:rPr lang="en-US" altLang="zh-CN" sz="2400" dirty="0"/>
              <a:t>Atomic Transactions</a:t>
            </a:r>
          </a:p>
          <a:p>
            <a:pPr>
              <a:buNone/>
            </a:pPr>
            <a:endParaRPr lang="zh-CN" altLang="en-US" sz="2400" dirty="0"/>
          </a:p>
        </p:txBody>
      </p:sp>
    </p:spTree>
    <p:extLst>
      <p:ext uri="{BB962C8B-B14F-4D97-AF65-F5344CB8AC3E}">
        <p14:creationId xmlns:p14="http://schemas.microsoft.com/office/powerpoint/2010/main" val="399083685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Rectangle 2"/>
          <p:cNvSpPr>
            <a:spLocks noGrp="1"/>
          </p:cNvSpPr>
          <p:nvPr>
            <p:ph type="title"/>
          </p:nvPr>
        </p:nvSpPr>
        <p:spPr>
          <a:ln/>
        </p:spPr>
        <p:txBody>
          <a:bodyPr vert="horz" wrap="square" lIns="91440" tIns="45720" rIns="91440" bIns="45720" anchor="b" anchorCtr="0"/>
          <a:lstStyle/>
          <a:p>
            <a:r>
              <a:rPr lang="en-US" altLang="zh-CN" dirty="0">
                <a:ea typeface="宋体" panose="02010600030101010101" pitchFamily="2" charset="-122"/>
              </a:rPr>
              <a:t>Synchronization Examples</a:t>
            </a:r>
          </a:p>
        </p:txBody>
      </p:sp>
      <p:sp>
        <p:nvSpPr>
          <p:cNvPr id="177154" name="Rectangle 3"/>
          <p:cNvSpPr>
            <a:spLocks noGrp="1"/>
          </p:cNvSpPr>
          <p:nvPr>
            <p:ph idx="1"/>
          </p:nvPr>
        </p:nvSpPr>
        <p:spPr>
          <a:ln/>
        </p:spPr>
        <p:txBody>
          <a:bodyPr vert="horz" wrap="square" lIns="91440" tIns="45720" rIns="91440" bIns="45720" anchor="t" anchorCtr="0"/>
          <a:lstStyle/>
          <a:p>
            <a:r>
              <a:rPr lang="en-US" altLang="zh-CN" dirty="0">
                <a:ea typeface="宋体" panose="02010600030101010101" pitchFamily="2" charset="-122"/>
              </a:rPr>
              <a:t>Solaris</a:t>
            </a:r>
          </a:p>
          <a:p>
            <a:r>
              <a:rPr lang="en-US" altLang="zh-CN" dirty="0">
                <a:ea typeface="宋体" panose="02010600030101010101" pitchFamily="2" charset="-122"/>
              </a:rPr>
              <a:t>Windows XP</a:t>
            </a:r>
          </a:p>
          <a:p>
            <a:r>
              <a:rPr lang="en-US" altLang="zh-CN" dirty="0">
                <a:ea typeface="宋体" panose="02010600030101010101" pitchFamily="2" charset="-122"/>
              </a:rPr>
              <a:t>Linux</a:t>
            </a:r>
          </a:p>
          <a:p>
            <a:r>
              <a:rPr lang="en-US" altLang="zh-CN" dirty="0">
                <a:ea typeface="宋体" panose="02010600030101010101" pitchFamily="2" charset="-122"/>
              </a:rPr>
              <a:t>Pthreads</a:t>
            </a:r>
          </a:p>
          <a:p>
            <a:r>
              <a:rPr lang="en-US" altLang="zh-CN" dirty="0">
                <a:ea typeface="宋体" panose="02010600030101010101" pitchFamily="2" charset="-122"/>
              </a:rPr>
              <a:t>JAVA</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Rectangle 2"/>
          <p:cNvSpPr>
            <a:spLocks noGrp="1"/>
          </p:cNvSpPr>
          <p:nvPr>
            <p:ph type="title"/>
          </p:nvPr>
        </p:nvSpPr>
        <p:spPr>
          <a:ln/>
        </p:spPr>
        <p:txBody>
          <a:bodyPr vert="horz" wrap="square" lIns="91440" tIns="45720" rIns="91440" bIns="45720" anchor="b" anchorCtr="0"/>
          <a:lstStyle/>
          <a:p>
            <a:r>
              <a:rPr lang="en-US" altLang="zh-CN" dirty="0">
                <a:ea typeface="宋体" panose="02010600030101010101" pitchFamily="2" charset="-122"/>
              </a:rPr>
              <a:t>Solaris Synchronization</a:t>
            </a:r>
          </a:p>
        </p:txBody>
      </p:sp>
      <p:sp>
        <p:nvSpPr>
          <p:cNvPr id="179202" name="Rectangle 3"/>
          <p:cNvSpPr>
            <a:spLocks noGrp="1"/>
          </p:cNvSpPr>
          <p:nvPr>
            <p:ph idx="1"/>
          </p:nvPr>
        </p:nvSpPr>
        <p:spPr>
          <a:xfrm>
            <a:off x="406400" y="1282700"/>
            <a:ext cx="8394700" cy="4483100"/>
          </a:xfrm>
          <a:ln/>
        </p:spPr>
        <p:txBody>
          <a:bodyPr vert="horz" wrap="square" lIns="91440" tIns="45720" rIns="91440" bIns="45720" anchor="t" anchorCtr="0"/>
          <a:lstStyle/>
          <a:p>
            <a:r>
              <a:rPr lang="en-US" altLang="zh-CN" sz="2400" dirty="0">
                <a:ea typeface="宋体" panose="02010600030101010101" pitchFamily="2" charset="-122"/>
              </a:rPr>
              <a:t>Implements a variety of </a:t>
            </a:r>
            <a:r>
              <a:rPr lang="en-US" altLang="zh-CN" sz="2400" dirty="0">
                <a:solidFill>
                  <a:srgbClr val="C00000"/>
                </a:solidFill>
                <a:ea typeface="宋体" panose="02010600030101010101" pitchFamily="2" charset="-122"/>
              </a:rPr>
              <a:t>locks</a:t>
            </a:r>
            <a:r>
              <a:rPr lang="en-US" altLang="zh-CN" sz="2400" dirty="0">
                <a:ea typeface="宋体" panose="02010600030101010101" pitchFamily="2" charset="-122"/>
              </a:rPr>
              <a:t> to support multitasking, multithreading (including real-time threads), and multiprocessing</a:t>
            </a:r>
            <a:r>
              <a:rPr lang="zh-CN" altLang="en-US" sz="2400" dirty="0">
                <a:ea typeface="宋体" panose="02010600030101010101" pitchFamily="2" charset="-122"/>
              </a:rPr>
              <a:t>（</a:t>
            </a:r>
            <a:r>
              <a:rPr lang="zh-CN" altLang="en-US" sz="2400" dirty="0"/>
              <a:t>实现各种锁以支持多任务、多线程</a:t>
            </a:r>
            <a:r>
              <a:rPr lang="en-US" altLang="zh-CN" sz="2400" dirty="0"/>
              <a:t>(</a:t>
            </a:r>
            <a:r>
              <a:rPr lang="zh-CN" altLang="en-US" sz="2400" dirty="0"/>
              <a:t>包括实时线程</a:t>
            </a:r>
            <a:r>
              <a:rPr lang="en-US" altLang="zh-CN" sz="2400" dirty="0"/>
              <a:t>)</a:t>
            </a:r>
            <a:r>
              <a:rPr lang="zh-CN" altLang="en-US" sz="2400" dirty="0"/>
              <a:t>和多处理</a:t>
            </a:r>
            <a:r>
              <a:rPr lang="zh-CN" altLang="en-US" sz="2400" dirty="0">
                <a:ea typeface="宋体" panose="02010600030101010101" pitchFamily="2" charset="-122"/>
              </a:rPr>
              <a:t>）</a:t>
            </a:r>
            <a:endParaRPr lang="en-US" altLang="zh-CN" sz="2400" dirty="0">
              <a:ea typeface="宋体" panose="02010600030101010101" pitchFamily="2" charset="-122"/>
            </a:endParaRPr>
          </a:p>
          <a:p>
            <a:r>
              <a:rPr lang="en-US" altLang="zh-CN" sz="2400" dirty="0">
                <a:ea typeface="宋体" panose="02010600030101010101" pitchFamily="2" charset="-122"/>
              </a:rPr>
              <a:t>Uses </a:t>
            </a:r>
            <a:r>
              <a:rPr lang="en-US" altLang="zh-CN" sz="2400" dirty="0">
                <a:solidFill>
                  <a:srgbClr val="FF0000"/>
                </a:solidFill>
                <a:ea typeface="宋体" panose="02010600030101010101" pitchFamily="2" charset="-122"/>
              </a:rPr>
              <a:t>adaptive mutexes </a:t>
            </a:r>
            <a:r>
              <a:rPr lang="en-US" altLang="zh-CN" sz="2400" dirty="0">
                <a:ea typeface="宋体" panose="02010600030101010101" pitchFamily="2" charset="-122"/>
              </a:rPr>
              <a:t>for efficiency when protecting data from short code segments.</a:t>
            </a:r>
            <a:r>
              <a:rPr lang="zh-CN" altLang="en-US" sz="2400" dirty="0">
                <a:ea typeface="宋体" panose="02010600030101010101" pitchFamily="2" charset="-122"/>
              </a:rPr>
              <a:t>（</a:t>
            </a:r>
            <a:r>
              <a:rPr lang="zh-CN" altLang="en-US" sz="2400" dirty="0"/>
              <a:t>在保护数据不受短代码段影响时，使用</a:t>
            </a:r>
            <a:r>
              <a:rPr lang="zh-CN" altLang="en-US" sz="2400" b="1" dirty="0"/>
              <a:t>自适应互斥信号量</a:t>
            </a:r>
            <a:r>
              <a:rPr lang="zh-CN" altLang="en-US" sz="2400" dirty="0"/>
              <a:t>提高效率</a:t>
            </a:r>
            <a:r>
              <a:rPr lang="zh-CN" altLang="en-US" sz="2400" dirty="0">
                <a:ea typeface="宋体" panose="02010600030101010101" pitchFamily="2" charset="-122"/>
              </a:rPr>
              <a:t>）</a:t>
            </a:r>
            <a:endParaRPr lang="en-US" altLang="zh-CN" sz="2400" dirty="0">
              <a:ea typeface="宋体" panose="02010600030101010101" pitchFamily="2" charset="-122"/>
            </a:endParaRPr>
          </a:p>
          <a:p>
            <a:r>
              <a:rPr lang="en-US" altLang="zh-CN" sz="2400" dirty="0">
                <a:ea typeface="宋体" panose="02010600030101010101" pitchFamily="2" charset="-122"/>
              </a:rPr>
              <a:t>Uses </a:t>
            </a:r>
            <a:r>
              <a:rPr lang="en-US" altLang="zh-CN" sz="2400" dirty="0">
                <a:solidFill>
                  <a:srgbClr val="FF0000"/>
                </a:solidFill>
                <a:ea typeface="宋体" panose="02010600030101010101" pitchFamily="2" charset="-122"/>
              </a:rPr>
              <a:t>condition variables </a:t>
            </a:r>
            <a:r>
              <a:rPr lang="en-US" altLang="zh-CN" sz="2400" dirty="0">
                <a:ea typeface="宋体" panose="02010600030101010101" pitchFamily="2" charset="-122"/>
              </a:rPr>
              <a:t>and </a:t>
            </a:r>
            <a:r>
              <a:rPr lang="en-US" altLang="zh-CN" sz="2400" dirty="0">
                <a:solidFill>
                  <a:srgbClr val="FF0000"/>
                </a:solidFill>
                <a:ea typeface="宋体" panose="02010600030101010101" pitchFamily="2" charset="-122"/>
              </a:rPr>
              <a:t>readers-writers</a:t>
            </a:r>
            <a:r>
              <a:rPr lang="en-US" altLang="zh-CN" sz="2400" dirty="0">
                <a:ea typeface="宋体" panose="02010600030101010101" pitchFamily="2" charset="-122"/>
              </a:rPr>
              <a:t> locks when longer sections of code need access to data.</a:t>
            </a:r>
            <a:r>
              <a:rPr lang="zh-CN" altLang="en-US" sz="2400" dirty="0">
                <a:ea typeface="宋体" panose="02010600030101010101" pitchFamily="2" charset="-122"/>
              </a:rPr>
              <a:t>（</a:t>
            </a:r>
            <a:r>
              <a:rPr lang="zh-CN" altLang="en-US" sz="2400" dirty="0"/>
              <a:t>当较长的代码段需要访问数据时，</a:t>
            </a:r>
            <a:r>
              <a:rPr lang="zh-CN" altLang="en-US" sz="2400" b="1" dirty="0"/>
              <a:t>使用条件变量和读写锁</a:t>
            </a:r>
            <a:r>
              <a:rPr lang="zh-CN" altLang="en-US" sz="2400" dirty="0">
                <a:ea typeface="宋体" panose="02010600030101010101" pitchFamily="2" charset="-122"/>
              </a:rPr>
              <a:t>）</a:t>
            </a:r>
            <a:endParaRPr lang="en-US" altLang="zh-CN" sz="2400" dirty="0">
              <a:ea typeface="宋体" panose="02010600030101010101" pitchFamily="2" charset="-122"/>
            </a:endParaRPr>
          </a:p>
          <a:p>
            <a:r>
              <a:rPr lang="en-US" altLang="zh-CN" sz="2400" dirty="0">
                <a:ea typeface="宋体" panose="02010600030101010101" pitchFamily="2" charset="-122"/>
              </a:rPr>
              <a:t>Uses </a:t>
            </a:r>
            <a:r>
              <a:rPr lang="en-US" altLang="zh-CN" sz="2400" dirty="0">
                <a:solidFill>
                  <a:srgbClr val="FF0000"/>
                </a:solidFill>
                <a:ea typeface="宋体" panose="02010600030101010101" pitchFamily="2" charset="-122"/>
              </a:rPr>
              <a:t>turnstiles</a:t>
            </a:r>
            <a:r>
              <a:rPr lang="zh-CN" altLang="en-US" sz="2400" dirty="0">
                <a:solidFill>
                  <a:srgbClr val="FF0000"/>
                </a:solidFill>
                <a:ea typeface="宋体" panose="02010600030101010101" pitchFamily="2" charset="-122"/>
              </a:rPr>
              <a:t>（十字转门）</a:t>
            </a:r>
            <a:r>
              <a:rPr lang="en-US" altLang="zh-CN" sz="2400" dirty="0">
                <a:ea typeface="宋体" panose="02010600030101010101" pitchFamily="2" charset="-122"/>
              </a:rPr>
              <a:t> to order the list of threads waiting to acquire either an adaptive mutex or a reader-writer lock.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920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920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2"/>
          <p:cNvSpPr>
            <a:spLocks noGrp="1"/>
          </p:cNvSpPr>
          <p:nvPr>
            <p:ph type="title" idx="4294967295"/>
          </p:nvPr>
        </p:nvSpPr>
        <p:spPr>
          <a:ln/>
        </p:spPr>
        <p:txBody>
          <a:bodyPr vert="horz" wrap="square" lIns="91440" tIns="45720" rIns="91440" bIns="45720" anchor="b" anchorCtr="0"/>
          <a:lstStyle/>
          <a:p>
            <a:r>
              <a:rPr lang="en-US" altLang="zh-CN" dirty="0">
                <a:ea typeface="宋体" panose="02010600030101010101" pitchFamily="2" charset="-122"/>
              </a:rPr>
              <a:t>Solaris Synchronization</a:t>
            </a:r>
          </a:p>
        </p:txBody>
      </p:sp>
      <p:sp>
        <p:nvSpPr>
          <p:cNvPr id="181250" name="Rectangle 3"/>
          <p:cNvSpPr>
            <a:spLocks noGrp="1"/>
          </p:cNvSpPr>
          <p:nvPr>
            <p:ph type="body" idx="4294967295"/>
          </p:nvPr>
        </p:nvSpPr>
        <p:spPr>
          <a:xfrm>
            <a:off x="406400" y="1282700"/>
            <a:ext cx="8394700" cy="4483100"/>
          </a:xfrm>
          <a:ln/>
        </p:spPr>
        <p:txBody>
          <a:bodyPr vert="horz" wrap="square" lIns="91440" tIns="45720" rIns="91440" bIns="45720" anchor="t" anchorCtr="0"/>
          <a:lstStyle/>
          <a:p>
            <a:pPr>
              <a:lnSpc>
                <a:spcPct val="90000"/>
              </a:lnSpc>
            </a:pPr>
            <a:r>
              <a:rPr lang="en-US" altLang="zh-CN" sz="2400" dirty="0">
                <a:solidFill>
                  <a:srgbClr val="FF3300"/>
                </a:solidFill>
                <a:ea typeface="宋体" panose="02010600030101010101" pitchFamily="2" charset="-122"/>
              </a:rPr>
              <a:t>adaptive mutex</a:t>
            </a:r>
            <a:r>
              <a:rPr lang="en-US" altLang="zh-CN" sz="2400" dirty="0">
                <a:ea typeface="宋体" panose="02010600030101010101" pitchFamily="2" charset="-122"/>
              </a:rPr>
              <a:t> is used to protect critical data</a:t>
            </a:r>
          </a:p>
          <a:p>
            <a:pPr>
              <a:lnSpc>
                <a:spcPct val="90000"/>
              </a:lnSpc>
            </a:pPr>
            <a:r>
              <a:rPr lang="en-US" altLang="zh-CN" sz="2400" dirty="0">
                <a:ea typeface="宋体" panose="02010600030101010101" pitchFamily="2" charset="-122"/>
              </a:rPr>
              <a:t>On a multiprocessor</a:t>
            </a:r>
            <a:r>
              <a:rPr lang="zh-CN" altLang="en-US" sz="2400" dirty="0">
                <a:ea typeface="宋体" panose="02010600030101010101" pitchFamily="2" charset="-122"/>
              </a:rPr>
              <a:t>（多处理器）</a:t>
            </a:r>
            <a:r>
              <a:rPr lang="en-US" altLang="zh-CN" sz="2400" dirty="0">
                <a:ea typeface="宋体" panose="02010600030101010101" pitchFamily="2" charset="-122"/>
              </a:rPr>
              <a:t> system</a:t>
            </a:r>
          </a:p>
          <a:p>
            <a:pPr lvl="1">
              <a:lnSpc>
                <a:spcPct val="90000"/>
              </a:lnSpc>
            </a:pPr>
            <a:r>
              <a:rPr lang="en-US" altLang="zh-CN" sz="2000" dirty="0">
                <a:ea typeface="宋体" panose="02010600030101010101" pitchFamily="2" charset="-122"/>
              </a:rPr>
              <a:t>spinlock </a:t>
            </a:r>
            <a:r>
              <a:rPr lang="zh-CN" altLang="en-US" sz="2000" dirty="0">
                <a:ea typeface="宋体" panose="02010600030101010101" pitchFamily="2" charset="-122"/>
              </a:rPr>
              <a:t>（自旋锁）</a:t>
            </a:r>
            <a:endParaRPr lang="en-US" altLang="zh-CN" sz="2000" dirty="0">
              <a:ea typeface="宋体" panose="02010600030101010101" pitchFamily="2" charset="-122"/>
            </a:endParaRPr>
          </a:p>
          <a:p>
            <a:pPr marL="1143000" lvl="2">
              <a:lnSpc>
                <a:spcPct val="90000"/>
              </a:lnSpc>
            </a:pPr>
            <a:r>
              <a:rPr lang="en-US" altLang="zh-CN" sz="1800" dirty="0">
                <a:ea typeface="宋体" panose="02010600030101010101" pitchFamily="2" charset="-122"/>
              </a:rPr>
              <a:t>If the lock is held by a thread currently running on another CPU, the thread spins while waiting for the lock to become available</a:t>
            </a:r>
          </a:p>
          <a:p>
            <a:pPr lvl="1">
              <a:lnSpc>
                <a:spcPct val="90000"/>
              </a:lnSpc>
            </a:pPr>
            <a:r>
              <a:rPr lang="en-US" altLang="zh-CN" sz="2000" dirty="0">
                <a:ea typeface="宋体" panose="02010600030101010101" pitchFamily="2" charset="-122"/>
              </a:rPr>
              <a:t>Not spin</a:t>
            </a:r>
            <a:r>
              <a:rPr lang="zh-CN" altLang="en-US" sz="2000" dirty="0">
                <a:ea typeface="宋体" panose="02010600030101010101" pitchFamily="2" charset="-122"/>
              </a:rPr>
              <a:t>（非自旋锁）</a:t>
            </a:r>
            <a:endParaRPr lang="en-US" altLang="zh-CN" sz="2000" dirty="0">
              <a:ea typeface="宋体" panose="02010600030101010101" pitchFamily="2" charset="-122"/>
            </a:endParaRPr>
          </a:p>
          <a:p>
            <a:pPr marL="1143000" lvl="2">
              <a:lnSpc>
                <a:spcPct val="90000"/>
              </a:lnSpc>
            </a:pPr>
            <a:r>
              <a:rPr lang="en-US" altLang="zh-CN" sz="1800" dirty="0">
                <a:ea typeface="宋体" panose="02010600030101010101" pitchFamily="2" charset="-122"/>
              </a:rPr>
              <a:t>If the thread holding the lock is not running, the thread blocks until the releasing of the lock. </a:t>
            </a:r>
          </a:p>
          <a:p>
            <a:pPr>
              <a:lnSpc>
                <a:spcPct val="90000"/>
              </a:lnSpc>
            </a:pPr>
            <a:r>
              <a:rPr lang="en-US" altLang="zh-CN" sz="2400" dirty="0">
                <a:ea typeface="宋体" panose="02010600030101010101" pitchFamily="2" charset="-122"/>
              </a:rPr>
              <a:t>On a single-processor</a:t>
            </a:r>
            <a:r>
              <a:rPr lang="zh-CN" altLang="en-US" sz="2400" dirty="0">
                <a:ea typeface="宋体" panose="02010600030101010101" pitchFamily="2" charset="-122"/>
              </a:rPr>
              <a:t>（单处理器）</a:t>
            </a:r>
            <a:r>
              <a:rPr lang="en-US" altLang="zh-CN" sz="2400" dirty="0">
                <a:ea typeface="宋体" panose="02010600030101010101" pitchFamily="2" charset="-122"/>
              </a:rPr>
              <a:t> system</a:t>
            </a:r>
          </a:p>
          <a:p>
            <a:pPr lvl="1">
              <a:lnSpc>
                <a:spcPct val="90000"/>
              </a:lnSpc>
            </a:pPr>
            <a:r>
              <a:rPr lang="en-US" altLang="zh-CN" sz="2000" dirty="0">
                <a:ea typeface="宋体" panose="02010600030101010101" pitchFamily="2" charset="-122"/>
              </a:rPr>
              <a:t>The thread holding the lock is never running if the lock is tested by another thread, so </a:t>
            </a:r>
            <a:r>
              <a:rPr lang="en-US" altLang="zh-CN" sz="2000" dirty="0">
                <a:solidFill>
                  <a:srgbClr val="C00000"/>
                </a:solidFill>
                <a:ea typeface="宋体" panose="02010600030101010101" pitchFamily="2" charset="-122"/>
              </a:rPr>
              <a:t>threads always sleep</a:t>
            </a:r>
            <a:r>
              <a:rPr lang="en-US" altLang="zh-CN" sz="2000" dirty="0">
                <a:ea typeface="宋体" panose="02010600030101010101" pitchFamily="2" charset="-122"/>
              </a:rPr>
              <a:t> rather than spin if they encounter a lock.</a:t>
            </a:r>
            <a:r>
              <a:rPr lang="zh-CN" altLang="en-US" sz="2000" dirty="0">
                <a:ea typeface="宋体" panose="02010600030101010101" pitchFamily="2" charset="-122"/>
              </a:rPr>
              <a:t>（线程在遇到锁时总是休眠而不是旋转。）</a:t>
            </a:r>
            <a:endParaRPr lang="en-US" altLang="zh-CN" sz="20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125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1250">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1250">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1250">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1250">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125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125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Rectangle 2"/>
          <p:cNvSpPr>
            <a:spLocks noGrp="1"/>
          </p:cNvSpPr>
          <p:nvPr>
            <p:ph type="title" idx="4294967295"/>
          </p:nvPr>
        </p:nvSpPr>
        <p:spPr>
          <a:ln/>
        </p:spPr>
        <p:txBody>
          <a:bodyPr vert="horz" wrap="square" lIns="91440" tIns="45720" rIns="91440" bIns="45720" anchor="b" anchorCtr="0"/>
          <a:lstStyle/>
          <a:p>
            <a:r>
              <a:rPr lang="en-US" altLang="zh-CN" dirty="0">
                <a:ea typeface="宋体" panose="02010600030101010101" pitchFamily="2" charset="-122"/>
              </a:rPr>
              <a:t>Solaris Synchronization</a:t>
            </a:r>
          </a:p>
        </p:txBody>
      </p:sp>
      <p:sp>
        <p:nvSpPr>
          <p:cNvPr id="183298" name="Rectangle 3"/>
          <p:cNvSpPr>
            <a:spLocks noGrp="1"/>
          </p:cNvSpPr>
          <p:nvPr>
            <p:ph type="body" idx="4294967295"/>
          </p:nvPr>
        </p:nvSpPr>
        <p:spPr>
          <a:xfrm>
            <a:off x="406400" y="1282700"/>
            <a:ext cx="8394700" cy="4483100"/>
          </a:xfrm>
          <a:ln/>
        </p:spPr>
        <p:txBody>
          <a:bodyPr vert="horz" wrap="square" lIns="91440" tIns="45720" rIns="91440" bIns="45720" anchor="t" anchorCtr="0"/>
          <a:lstStyle/>
          <a:p>
            <a:r>
              <a:rPr lang="en-US" altLang="zh-CN" sz="2400" dirty="0">
                <a:solidFill>
                  <a:srgbClr val="FF3300"/>
                </a:solidFill>
                <a:ea typeface="宋体" panose="02010600030101010101" pitchFamily="2" charset="-122"/>
              </a:rPr>
              <a:t>Reader-writer locks</a:t>
            </a:r>
            <a:r>
              <a:rPr lang="zh-CN" altLang="en-US" sz="2400" dirty="0">
                <a:solidFill>
                  <a:srgbClr val="FF3300"/>
                </a:solidFill>
                <a:ea typeface="宋体" panose="02010600030101010101" pitchFamily="2" charset="-122"/>
              </a:rPr>
              <a:t>（读写锁）</a:t>
            </a:r>
            <a:r>
              <a:rPr lang="en-US" altLang="zh-CN" sz="2400" dirty="0">
                <a:ea typeface="宋体" panose="02010600030101010101" pitchFamily="2" charset="-122"/>
              </a:rPr>
              <a:t> are used to protect data that are accessed frequently  but are usually accessed in a read-only manner.</a:t>
            </a:r>
          </a:p>
          <a:p>
            <a:r>
              <a:rPr lang="en-US" altLang="zh-CN" sz="2400" dirty="0">
                <a:ea typeface="宋体" panose="02010600030101010101" pitchFamily="2" charset="-122"/>
              </a:rPr>
              <a:t>More efficient than semaphore</a:t>
            </a:r>
          </a:p>
          <a:p>
            <a:r>
              <a:rPr lang="en-US" altLang="zh-CN" sz="2400" dirty="0">
                <a:ea typeface="宋体" panose="02010600030101010101" pitchFamily="2" charset="-122"/>
              </a:rPr>
              <a:t>Used on </a:t>
            </a:r>
            <a:r>
              <a:rPr lang="en-US" altLang="zh-CN" sz="2400" dirty="0">
                <a:solidFill>
                  <a:srgbClr val="FF0000"/>
                </a:solidFill>
                <a:ea typeface="宋体" panose="02010600030101010101" pitchFamily="2" charset="-122"/>
              </a:rPr>
              <a:t>only long sections </a:t>
            </a:r>
            <a:r>
              <a:rPr lang="en-US" altLang="zh-CN" sz="2400" dirty="0">
                <a:ea typeface="宋体" panose="02010600030101010101" pitchFamily="2" charset="-122"/>
              </a:rPr>
              <a:t>of code.</a:t>
            </a:r>
          </a:p>
          <a:p>
            <a:endParaRPr lang="en-US" altLang="zh-CN" sz="2400" dirty="0">
              <a:ea typeface="宋体" panose="02010600030101010101" pitchFamily="2" charset="-122"/>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Rectangle 2"/>
          <p:cNvSpPr>
            <a:spLocks noGrp="1"/>
          </p:cNvSpPr>
          <p:nvPr>
            <p:ph type="title"/>
          </p:nvPr>
        </p:nvSpPr>
        <p:spPr>
          <a:ln/>
        </p:spPr>
        <p:txBody>
          <a:bodyPr vert="horz" wrap="square" lIns="91440" tIns="45720" rIns="91440" bIns="45720" anchor="b" anchorCtr="0"/>
          <a:lstStyle/>
          <a:p>
            <a:r>
              <a:rPr lang="en-US" altLang="zh-CN" dirty="0">
                <a:ea typeface="宋体" panose="02010600030101010101" pitchFamily="2" charset="-122"/>
              </a:rPr>
              <a:t>Windows XP Synchronization</a:t>
            </a:r>
          </a:p>
        </p:txBody>
      </p:sp>
      <p:sp>
        <p:nvSpPr>
          <p:cNvPr id="185346" name="Rectangle 3"/>
          <p:cNvSpPr>
            <a:spLocks noGrp="1"/>
          </p:cNvSpPr>
          <p:nvPr>
            <p:ph idx="1"/>
          </p:nvPr>
        </p:nvSpPr>
        <p:spPr>
          <a:xfrm>
            <a:off x="465138" y="1128713"/>
            <a:ext cx="8229600" cy="5114925"/>
          </a:xfrm>
          <a:ln/>
        </p:spPr>
        <p:txBody>
          <a:bodyPr vert="horz" wrap="square" lIns="91440" tIns="45720" rIns="91440" bIns="45720" anchor="t" anchorCtr="0"/>
          <a:lstStyle/>
          <a:p>
            <a:r>
              <a:rPr lang="en-US" altLang="zh-CN" sz="2400" dirty="0">
                <a:ea typeface="宋体" panose="02010600030101010101" pitchFamily="2" charset="-122"/>
              </a:rPr>
              <a:t>For kernel thread</a:t>
            </a:r>
            <a:r>
              <a:rPr lang="zh-CN" altLang="en-US" sz="2400" dirty="0">
                <a:ea typeface="宋体" panose="02010600030101010101" pitchFamily="2" charset="-122"/>
              </a:rPr>
              <a:t>（内核线程）</a:t>
            </a:r>
            <a:endParaRPr lang="en-US" altLang="zh-CN" sz="2400" dirty="0">
              <a:ea typeface="宋体" panose="02010600030101010101" pitchFamily="2" charset="-122"/>
            </a:endParaRPr>
          </a:p>
          <a:p>
            <a:pPr lvl="1"/>
            <a:r>
              <a:rPr lang="zh-CN" altLang="en-US" sz="2400" dirty="0">
                <a:ea typeface="宋体" panose="02010600030101010101" pitchFamily="2" charset="-122"/>
              </a:rPr>
              <a:t>单处理器：</a:t>
            </a:r>
            <a:r>
              <a:rPr lang="en-US" altLang="zh-CN" sz="2400" dirty="0">
                <a:ea typeface="宋体" panose="02010600030101010101" pitchFamily="2" charset="-122"/>
              </a:rPr>
              <a:t>Uses </a:t>
            </a:r>
            <a:r>
              <a:rPr lang="en-US" altLang="zh-CN" sz="2400" dirty="0">
                <a:solidFill>
                  <a:srgbClr val="FF0000"/>
                </a:solidFill>
                <a:ea typeface="宋体" panose="02010600030101010101" pitchFamily="2" charset="-122"/>
              </a:rPr>
              <a:t>interrupt masks</a:t>
            </a:r>
            <a:r>
              <a:rPr lang="zh-CN" altLang="en-US" sz="2400" dirty="0">
                <a:solidFill>
                  <a:srgbClr val="FF0000"/>
                </a:solidFill>
                <a:ea typeface="宋体" panose="02010600030101010101" pitchFamily="2" charset="-122"/>
              </a:rPr>
              <a:t>（中断掩码） </a:t>
            </a:r>
            <a:r>
              <a:rPr lang="en-US" altLang="zh-CN" sz="2400" dirty="0">
                <a:ea typeface="宋体" panose="02010600030101010101" pitchFamily="2" charset="-122"/>
              </a:rPr>
              <a:t>to protect access to global resources on uniprocessor systems</a:t>
            </a:r>
          </a:p>
          <a:p>
            <a:pPr lvl="1"/>
            <a:r>
              <a:rPr lang="zh-CN" altLang="en-US" sz="2400" dirty="0">
                <a:ea typeface="宋体" panose="02010600030101010101" pitchFamily="2" charset="-122"/>
              </a:rPr>
              <a:t>多处理器：</a:t>
            </a:r>
            <a:r>
              <a:rPr lang="en-US" altLang="zh-CN" sz="2400" dirty="0">
                <a:ea typeface="宋体" panose="02010600030101010101" pitchFamily="2" charset="-122"/>
              </a:rPr>
              <a:t>Uses </a:t>
            </a:r>
            <a:r>
              <a:rPr lang="en-US" altLang="zh-CN" sz="2400" dirty="0">
                <a:solidFill>
                  <a:srgbClr val="FF0000"/>
                </a:solidFill>
                <a:ea typeface="宋体" panose="02010600030101010101" pitchFamily="2" charset="-122"/>
              </a:rPr>
              <a:t>spinlocks</a:t>
            </a:r>
            <a:r>
              <a:rPr lang="zh-CN" altLang="en-US" sz="2400" dirty="0">
                <a:solidFill>
                  <a:srgbClr val="FF0000"/>
                </a:solidFill>
                <a:ea typeface="宋体" panose="02010600030101010101" pitchFamily="2" charset="-122"/>
              </a:rPr>
              <a:t>（自旋锁）</a:t>
            </a:r>
            <a:r>
              <a:rPr lang="en-US" altLang="zh-CN" sz="2400" dirty="0">
                <a:solidFill>
                  <a:srgbClr val="FF0000"/>
                </a:solidFill>
                <a:ea typeface="宋体" panose="02010600030101010101" pitchFamily="2" charset="-122"/>
              </a:rPr>
              <a:t> </a:t>
            </a:r>
            <a:r>
              <a:rPr lang="en-US" altLang="zh-CN" sz="2400" dirty="0">
                <a:ea typeface="宋体" panose="02010600030101010101" pitchFamily="2" charset="-122"/>
              </a:rPr>
              <a:t>on multiprocessor systems</a:t>
            </a:r>
          </a:p>
          <a:p>
            <a:r>
              <a:rPr lang="en-US" altLang="zh-CN" sz="2400" dirty="0">
                <a:ea typeface="宋体" panose="02010600030101010101" pitchFamily="2" charset="-122"/>
              </a:rPr>
              <a:t>For user thread</a:t>
            </a:r>
            <a:r>
              <a:rPr lang="zh-CN" altLang="en-US" sz="2400" dirty="0">
                <a:ea typeface="宋体" panose="02010600030101010101" pitchFamily="2" charset="-122"/>
              </a:rPr>
              <a:t>（用户线程）</a:t>
            </a:r>
            <a:endParaRPr lang="en-US" altLang="zh-CN" sz="2400" dirty="0">
              <a:ea typeface="宋体" panose="02010600030101010101" pitchFamily="2" charset="-122"/>
            </a:endParaRPr>
          </a:p>
          <a:p>
            <a:pPr lvl="1"/>
            <a:r>
              <a:rPr lang="en-US" altLang="zh-CN" sz="2400" dirty="0">
                <a:ea typeface="宋体" panose="02010600030101010101" pitchFamily="2" charset="-122"/>
              </a:rPr>
              <a:t>provides </a:t>
            </a:r>
            <a:r>
              <a:rPr lang="en-US" altLang="zh-CN" sz="2400" dirty="0">
                <a:solidFill>
                  <a:srgbClr val="FF0000"/>
                </a:solidFill>
                <a:ea typeface="宋体" panose="02010600030101010101" pitchFamily="2" charset="-122"/>
              </a:rPr>
              <a:t>dispatcher objects</a:t>
            </a:r>
            <a:r>
              <a:rPr lang="zh-CN" altLang="en-US" sz="2400" dirty="0">
                <a:solidFill>
                  <a:srgbClr val="FF0000"/>
                </a:solidFill>
                <a:ea typeface="宋体" panose="02010600030101010101" pitchFamily="2" charset="-122"/>
              </a:rPr>
              <a:t>（调度对象）</a:t>
            </a:r>
            <a:r>
              <a:rPr lang="en-US" altLang="zh-CN" sz="2400" dirty="0">
                <a:solidFill>
                  <a:srgbClr val="FF0000"/>
                </a:solidFill>
                <a:ea typeface="宋体" panose="02010600030101010101" pitchFamily="2" charset="-122"/>
              </a:rPr>
              <a:t> </a:t>
            </a:r>
            <a:r>
              <a:rPr lang="en-US" altLang="zh-CN" sz="2400" dirty="0">
                <a:ea typeface="宋体" panose="02010600030101010101" pitchFamily="2" charset="-122"/>
              </a:rPr>
              <a:t>which may act as mutexes, semaphores and events</a:t>
            </a:r>
          </a:p>
          <a:p>
            <a:pPr lvl="1"/>
            <a:r>
              <a:rPr lang="en-US" altLang="zh-CN" sz="2400" dirty="0">
                <a:ea typeface="宋体" panose="02010600030101010101" pitchFamily="2" charset="-122"/>
              </a:rPr>
              <a:t>An event acts much like a condition variable</a:t>
            </a:r>
            <a:r>
              <a:rPr lang="zh-CN" altLang="en-US" sz="2400" dirty="0">
                <a:ea typeface="宋体" panose="02010600030101010101" pitchFamily="2" charset="-122"/>
              </a:rPr>
              <a:t>（事件的作用很像条件变量）</a:t>
            </a:r>
            <a:endParaRPr lang="en-US" altLang="zh-CN" sz="2400" dirty="0">
              <a:ea typeface="宋体" panose="02010600030101010101" pitchFamily="2" charset="-122"/>
            </a:endParaRPr>
          </a:p>
          <a:p>
            <a:pPr lvl="1"/>
            <a:r>
              <a:rPr lang="en-US" altLang="zh-CN" sz="2400" dirty="0">
                <a:ea typeface="宋体" panose="02010600030101010101" pitchFamily="2" charset="-122"/>
              </a:rPr>
              <a:t>An event may notify a waiting thread when a desired condition occurs. </a:t>
            </a:r>
            <a:r>
              <a:rPr lang="zh-CN" altLang="en-US" sz="2400" dirty="0">
                <a:ea typeface="宋体" panose="02010600030101010101" pitchFamily="2" charset="-122"/>
              </a:rPr>
              <a:t>（事件发生可以通知等待的线程）</a:t>
            </a:r>
            <a:endParaRPr lang="en-US" altLang="zh-CN" sz="2400" dirty="0">
              <a:ea typeface="宋体" panose="02010600030101010101" pitchFamily="2" charset="-122"/>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Rectangle 2"/>
          <p:cNvSpPr>
            <a:spLocks noGrp="1"/>
          </p:cNvSpPr>
          <p:nvPr>
            <p:ph type="title"/>
          </p:nvPr>
        </p:nvSpPr>
        <p:spPr>
          <a:ln/>
        </p:spPr>
        <p:txBody>
          <a:bodyPr vert="horz" wrap="square" lIns="91440" tIns="45720" rIns="91440" bIns="45720" anchor="b" anchorCtr="0"/>
          <a:lstStyle/>
          <a:p>
            <a:r>
              <a:rPr lang="en-US" altLang="zh-CN" dirty="0">
                <a:ea typeface="宋体" panose="02010600030101010101" pitchFamily="2" charset="-122"/>
              </a:rPr>
              <a:t>Linux Synchronization</a:t>
            </a:r>
          </a:p>
        </p:txBody>
      </p:sp>
      <p:sp>
        <p:nvSpPr>
          <p:cNvPr id="187394" name="Rectangle 3"/>
          <p:cNvSpPr>
            <a:spLocks noGrp="1"/>
          </p:cNvSpPr>
          <p:nvPr>
            <p:ph idx="1"/>
          </p:nvPr>
        </p:nvSpPr>
        <p:spPr>
          <a:xfrm>
            <a:off x="609600" y="1282700"/>
            <a:ext cx="8377382" cy="4483100"/>
          </a:xfrm>
          <a:ln/>
        </p:spPr>
        <p:txBody>
          <a:bodyPr vert="horz" wrap="square" lIns="91440" tIns="45720" rIns="91440" bIns="45720" anchor="t" anchorCtr="0"/>
          <a:lstStyle/>
          <a:p>
            <a:pPr>
              <a:lnSpc>
                <a:spcPct val="90000"/>
              </a:lnSpc>
            </a:pPr>
            <a:r>
              <a:rPr lang="en-US" altLang="zh-CN" sz="2800" dirty="0">
                <a:ea typeface="宋体" panose="02010600030101010101" pitchFamily="2" charset="-122"/>
              </a:rPr>
              <a:t>Prior to version 2.6, Linux was a </a:t>
            </a:r>
            <a:r>
              <a:rPr lang="en-US" altLang="zh-CN" sz="2800" dirty="0" err="1">
                <a:solidFill>
                  <a:srgbClr val="C00000"/>
                </a:solidFill>
                <a:ea typeface="宋体" panose="02010600030101010101" pitchFamily="2" charset="-122"/>
              </a:rPr>
              <a:t>nonpreemptive</a:t>
            </a:r>
            <a:r>
              <a:rPr lang="en-US" altLang="zh-CN" sz="2800" dirty="0">
                <a:solidFill>
                  <a:srgbClr val="C00000"/>
                </a:solidFill>
                <a:ea typeface="宋体" panose="02010600030101010101" pitchFamily="2" charset="-122"/>
              </a:rPr>
              <a:t> kernel</a:t>
            </a:r>
            <a:r>
              <a:rPr lang="zh-CN" altLang="en-US" sz="2800" dirty="0">
                <a:solidFill>
                  <a:srgbClr val="C00000"/>
                </a:solidFill>
                <a:ea typeface="宋体" panose="02010600030101010101" pitchFamily="2" charset="-122"/>
              </a:rPr>
              <a:t>（非抢占式内核）</a:t>
            </a:r>
            <a:r>
              <a:rPr lang="en-US" altLang="zh-CN" sz="2800" dirty="0">
                <a:ea typeface="宋体" panose="02010600030101010101" pitchFamily="2" charset="-122"/>
              </a:rPr>
              <a:t>, meaning that a process running in kernel mode could not be </a:t>
            </a:r>
            <a:r>
              <a:rPr lang="en-US" altLang="zh-CN" sz="2800" dirty="0" err="1">
                <a:ea typeface="宋体" panose="02010600030101010101" pitchFamily="2" charset="-122"/>
              </a:rPr>
              <a:t>peempted</a:t>
            </a:r>
            <a:r>
              <a:rPr lang="en-US" altLang="zh-CN" sz="2800" dirty="0">
                <a:ea typeface="宋体" panose="02010600030101010101" pitchFamily="2" charset="-122"/>
              </a:rPr>
              <a:t>.</a:t>
            </a:r>
            <a:r>
              <a:rPr lang="zh-CN" altLang="en-US" sz="2800" dirty="0">
                <a:ea typeface="宋体" panose="02010600030101010101" pitchFamily="2" charset="-122"/>
              </a:rPr>
              <a:t>（内核模式下运行的进程不能被抢占）</a:t>
            </a:r>
            <a:endParaRPr lang="en-US" altLang="zh-CN" sz="2800" dirty="0">
              <a:ea typeface="宋体" panose="02010600030101010101" pitchFamily="2" charset="-122"/>
            </a:endParaRPr>
          </a:p>
          <a:p>
            <a:pPr>
              <a:lnSpc>
                <a:spcPct val="90000"/>
              </a:lnSpc>
            </a:pPr>
            <a:r>
              <a:rPr lang="en-US" altLang="zh-CN" sz="2800" dirty="0">
                <a:ea typeface="宋体" panose="02010600030101010101" pitchFamily="2" charset="-122"/>
              </a:rPr>
              <a:t>Now the Linux kernel is fully preempted.</a:t>
            </a:r>
            <a:r>
              <a:rPr lang="zh-CN" altLang="en-US" sz="2800" dirty="0">
                <a:ea typeface="宋体" panose="02010600030101010101" pitchFamily="2" charset="-122"/>
              </a:rPr>
              <a:t>（现在</a:t>
            </a:r>
            <a:r>
              <a:rPr lang="en-US" altLang="zh-CN" sz="2800" dirty="0">
                <a:ea typeface="宋体" panose="02010600030101010101" pitchFamily="2" charset="-122"/>
              </a:rPr>
              <a:t>Linux</a:t>
            </a:r>
            <a:r>
              <a:rPr lang="zh-CN" altLang="en-US" sz="2800" dirty="0">
                <a:ea typeface="宋体" panose="02010600030101010101" pitchFamily="2" charset="-122"/>
              </a:rPr>
              <a:t>内核被完全抢占了）</a:t>
            </a:r>
            <a:endParaRPr lang="en-US" altLang="zh-CN" sz="2800" dirty="0">
              <a:ea typeface="宋体" panose="02010600030101010101" pitchFamily="2" charset="-122"/>
            </a:endParaRPr>
          </a:p>
          <a:p>
            <a:pPr>
              <a:lnSpc>
                <a:spcPct val="90000"/>
              </a:lnSpc>
            </a:pPr>
            <a:r>
              <a:rPr lang="en-US" altLang="zh-CN" sz="2800" dirty="0">
                <a:ea typeface="宋体" panose="02010600030101010101" pitchFamily="2" charset="-122"/>
              </a:rPr>
              <a:t>Linux kernel provides:</a:t>
            </a:r>
          </a:p>
          <a:p>
            <a:pPr lvl="1">
              <a:lnSpc>
                <a:spcPct val="90000"/>
              </a:lnSpc>
            </a:pPr>
            <a:r>
              <a:rPr lang="en-US" altLang="zh-CN" dirty="0">
                <a:ea typeface="宋体" panose="02010600030101010101" pitchFamily="2" charset="-122"/>
              </a:rPr>
              <a:t>Semaphores</a:t>
            </a:r>
            <a:r>
              <a:rPr lang="zh-CN" altLang="en-US" dirty="0">
                <a:ea typeface="宋体" panose="02010600030101010101" pitchFamily="2" charset="-122"/>
              </a:rPr>
              <a:t>（信号量）</a:t>
            </a:r>
            <a:endParaRPr lang="en-US" altLang="zh-CN" dirty="0">
              <a:ea typeface="宋体" panose="02010600030101010101" pitchFamily="2" charset="-122"/>
            </a:endParaRPr>
          </a:p>
          <a:p>
            <a:pPr marL="1143000" lvl="2">
              <a:lnSpc>
                <a:spcPct val="90000"/>
              </a:lnSpc>
            </a:pPr>
            <a:r>
              <a:rPr lang="en-US" altLang="zh-CN" dirty="0">
                <a:ea typeface="宋体" panose="02010600030101010101" pitchFamily="2" charset="-122"/>
              </a:rPr>
              <a:t>For single processor system</a:t>
            </a:r>
            <a:r>
              <a:rPr lang="zh-CN" altLang="en-US" dirty="0">
                <a:ea typeface="宋体" panose="02010600030101010101" pitchFamily="2" charset="-122"/>
              </a:rPr>
              <a:t>（单处理器系统）</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spin locks</a:t>
            </a:r>
            <a:r>
              <a:rPr lang="zh-CN" altLang="en-US" dirty="0">
                <a:ea typeface="宋体" panose="02010600030101010101" pitchFamily="2" charset="-122"/>
              </a:rPr>
              <a:t>（自旋锁）</a:t>
            </a:r>
            <a:endParaRPr lang="en-US" altLang="zh-CN" dirty="0">
              <a:ea typeface="宋体" panose="02010600030101010101" pitchFamily="2" charset="-122"/>
            </a:endParaRPr>
          </a:p>
          <a:p>
            <a:pPr marL="1143000" lvl="2">
              <a:lnSpc>
                <a:spcPct val="90000"/>
              </a:lnSpc>
            </a:pPr>
            <a:r>
              <a:rPr lang="en-US" altLang="zh-CN" dirty="0">
                <a:ea typeface="宋体" panose="02010600030101010101" pitchFamily="2" charset="-122"/>
              </a:rPr>
              <a:t>For SMP</a:t>
            </a:r>
            <a:r>
              <a:rPr lang="zh-CN" altLang="en-US" dirty="0">
                <a:ea typeface="宋体" panose="02010600030101010101" pitchFamily="2" charset="-122"/>
              </a:rPr>
              <a:t>（对称多处理器系统）</a:t>
            </a:r>
            <a:endParaRPr lang="en-US" altLang="zh-CN" dirty="0">
              <a:ea typeface="宋体" panose="02010600030101010101" pitchFamily="2" charset="-122"/>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Rectangle 2"/>
          <p:cNvSpPr>
            <a:spLocks noGrp="1"/>
          </p:cNvSpPr>
          <p:nvPr>
            <p:ph type="title"/>
          </p:nvPr>
        </p:nvSpPr>
        <p:spPr>
          <a:ln/>
        </p:spPr>
        <p:txBody>
          <a:bodyPr vert="horz" wrap="square" lIns="91440" tIns="45720" rIns="91440" bIns="45720" anchor="b" anchorCtr="0"/>
          <a:lstStyle/>
          <a:p>
            <a:r>
              <a:rPr lang="en-US" altLang="zh-CN" dirty="0">
                <a:ea typeface="宋体" panose="02010600030101010101" pitchFamily="2" charset="-122"/>
              </a:rPr>
              <a:t>Pthreads Synchronization</a:t>
            </a:r>
          </a:p>
        </p:txBody>
      </p:sp>
      <p:sp>
        <p:nvSpPr>
          <p:cNvPr id="189442" name="Rectangle 3"/>
          <p:cNvSpPr>
            <a:spLocks noGrp="1"/>
          </p:cNvSpPr>
          <p:nvPr>
            <p:ph type="body" sz="half" idx="1"/>
          </p:nvPr>
        </p:nvSpPr>
        <p:spPr>
          <a:xfrm>
            <a:off x="614363" y="1103313"/>
            <a:ext cx="8302625" cy="4894262"/>
          </a:xfrm>
          <a:ln/>
        </p:spPr>
        <p:txBody>
          <a:bodyPr vert="horz" wrap="square" lIns="91440" tIns="45720" rIns="91440" bIns="45720" anchor="t" anchorCtr="0"/>
          <a:lstStyle/>
          <a:p>
            <a:pPr>
              <a:buClr>
                <a:srgbClr val="993300"/>
              </a:buClr>
              <a:buSzPct val="90000"/>
              <a:buFont typeface="Monotype Sorts" charset="2"/>
            </a:pPr>
            <a:r>
              <a:rPr lang="en-US" altLang="zh-CN" sz="2400" dirty="0">
                <a:ea typeface="宋体" panose="02010600030101010101" pitchFamily="2" charset="-122"/>
              </a:rPr>
              <a:t>Pthreads API is OS-independent</a:t>
            </a:r>
            <a:r>
              <a:rPr lang="zh-CN" altLang="en-US" sz="2400" dirty="0">
                <a:ea typeface="宋体" panose="02010600030101010101" pitchFamily="2" charset="-122"/>
              </a:rPr>
              <a:t>（</a:t>
            </a:r>
            <a:r>
              <a:rPr lang="en-US" altLang="zh-CN" sz="2400" dirty="0">
                <a:ea typeface="宋体" panose="02010600030101010101" pitchFamily="2" charset="-122"/>
              </a:rPr>
              <a:t>API</a:t>
            </a:r>
            <a:r>
              <a:rPr lang="zh-CN" altLang="en-US" sz="2400" dirty="0">
                <a:ea typeface="宋体" panose="02010600030101010101" pitchFamily="2" charset="-122"/>
              </a:rPr>
              <a:t>与操作系统无关）</a:t>
            </a:r>
            <a:endParaRPr lang="en-US" altLang="zh-CN" sz="2400" dirty="0">
              <a:ea typeface="宋体" panose="02010600030101010101" pitchFamily="2" charset="-122"/>
            </a:endParaRPr>
          </a:p>
          <a:p>
            <a:pPr>
              <a:buClr>
                <a:srgbClr val="993300"/>
              </a:buClr>
              <a:buSzPct val="90000"/>
              <a:buFont typeface="Monotype Sorts" charset="2"/>
            </a:pPr>
            <a:r>
              <a:rPr lang="en-US" altLang="zh-CN" sz="2400" dirty="0">
                <a:ea typeface="宋体" panose="02010600030101010101" pitchFamily="2" charset="-122"/>
              </a:rPr>
              <a:t>It provides:</a:t>
            </a:r>
          </a:p>
          <a:p>
            <a:pPr lvl="1">
              <a:buClr>
                <a:srgbClr val="CC6600"/>
              </a:buClr>
              <a:buSzPct val="80000"/>
              <a:buFont typeface="Monotype Sorts" charset="2"/>
            </a:pPr>
            <a:r>
              <a:rPr lang="en-US" altLang="zh-CN" sz="2400" dirty="0">
                <a:ea typeface="宋体" panose="02010600030101010101" pitchFamily="2" charset="-122"/>
              </a:rPr>
              <a:t>mutex locks</a:t>
            </a:r>
            <a:r>
              <a:rPr lang="zh-CN" altLang="en-US" sz="2400" dirty="0">
                <a:ea typeface="宋体" panose="02010600030101010101" pitchFamily="2" charset="-122"/>
              </a:rPr>
              <a:t>（互斥锁）</a:t>
            </a:r>
            <a:endParaRPr lang="en-US" altLang="zh-CN" sz="2400" dirty="0">
              <a:ea typeface="宋体" panose="02010600030101010101" pitchFamily="2" charset="-122"/>
            </a:endParaRPr>
          </a:p>
          <a:p>
            <a:pPr marL="1143000" lvl="2">
              <a:buClr>
                <a:srgbClr val="009900"/>
              </a:buClr>
              <a:buSzPct val="75000"/>
              <a:buFont typeface="Webdings" panose="05030102010509060703" pitchFamily="18" charset="2"/>
            </a:pPr>
            <a:r>
              <a:rPr lang="en-US" altLang="zh-CN" dirty="0">
                <a:ea typeface="宋体" panose="02010600030101010101" pitchFamily="2" charset="-122"/>
              </a:rPr>
              <a:t>To protect critical section of code</a:t>
            </a:r>
            <a:r>
              <a:rPr lang="zh-CN" altLang="en-US" dirty="0">
                <a:ea typeface="宋体" panose="02010600030101010101" pitchFamily="2" charset="-122"/>
              </a:rPr>
              <a:t>（保护临界区）</a:t>
            </a:r>
            <a:endParaRPr lang="en-US" altLang="zh-CN" dirty="0">
              <a:ea typeface="宋体" panose="02010600030101010101" pitchFamily="2" charset="-122"/>
            </a:endParaRPr>
          </a:p>
          <a:p>
            <a:pPr lvl="1">
              <a:buClr>
                <a:srgbClr val="CC6600"/>
              </a:buClr>
              <a:buSzPct val="80000"/>
              <a:buFont typeface="Monotype Sorts" charset="2"/>
            </a:pPr>
            <a:r>
              <a:rPr lang="en-US" altLang="zh-CN" sz="2400" dirty="0">
                <a:ea typeface="宋体" panose="02010600030101010101" pitchFamily="2" charset="-122"/>
              </a:rPr>
              <a:t>condition variables</a:t>
            </a:r>
            <a:r>
              <a:rPr lang="zh-CN" altLang="en-US" sz="2400" dirty="0">
                <a:ea typeface="宋体" panose="02010600030101010101" pitchFamily="2" charset="-122"/>
              </a:rPr>
              <a:t>（条件变量）</a:t>
            </a:r>
            <a:endParaRPr lang="en-US" altLang="zh-CN" sz="2400" dirty="0">
              <a:ea typeface="宋体" panose="02010600030101010101" pitchFamily="2" charset="-122"/>
            </a:endParaRPr>
          </a:p>
          <a:p>
            <a:pPr marL="1143000" lvl="2">
              <a:buClr>
                <a:srgbClr val="009900"/>
              </a:buClr>
              <a:buSzPct val="75000"/>
              <a:buFont typeface="Webdings" panose="05030102010509060703" pitchFamily="18" charset="2"/>
            </a:pPr>
            <a:r>
              <a:rPr lang="en-US" altLang="zh-CN" dirty="0">
                <a:ea typeface="宋体" panose="02010600030101010101" pitchFamily="2" charset="-122"/>
              </a:rPr>
              <a:t>behave much as described in monitor</a:t>
            </a:r>
            <a:r>
              <a:rPr lang="zh-CN" altLang="en-US" dirty="0">
                <a:ea typeface="宋体" panose="02010600030101010101" pitchFamily="2" charset="-122"/>
              </a:rPr>
              <a:t>（与管程中的描述大致相同）</a:t>
            </a:r>
            <a:endParaRPr lang="en-US" altLang="zh-CN" dirty="0">
              <a:ea typeface="宋体" panose="02010600030101010101" pitchFamily="2" charset="-122"/>
            </a:endParaRPr>
          </a:p>
          <a:p>
            <a:pPr lvl="1">
              <a:buClr>
                <a:srgbClr val="CC6600"/>
              </a:buClr>
              <a:buSzPct val="80000"/>
              <a:buFont typeface="Monotype Sorts" charset="2"/>
            </a:pPr>
            <a:r>
              <a:rPr lang="en-US" altLang="zh-CN" sz="2400" dirty="0">
                <a:ea typeface="宋体" panose="02010600030101010101" pitchFamily="2" charset="-122"/>
              </a:rPr>
              <a:t> read-write locks</a:t>
            </a:r>
            <a:r>
              <a:rPr lang="zh-CN" altLang="en-US" sz="2400" dirty="0">
                <a:ea typeface="宋体" panose="02010600030101010101" pitchFamily="2" charset="-122"/>
              </a:rPr>
              <a:t>（读写锁）</a:t>
            </a:r>
            <a:endParaRPr lang="en-US" altLang="zh-CN" sz="2400" dirty="0">
              <a:ea typeface="宋体" panose="02010600030101010101" pitchFamily="2" charset="-122"/>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Rectangle 2"/>
          <p:cNvSpPr>
            <a:spLocks noGrp="1"/>
          </p:cNvSpPr>
          <p:nvPr>
            <p:ph type="title" idx="4294967295"/>
          </p:nvPr>
        </p:nvSpPr>
        <p:spPr>
          <a:ln/>
        </p:spPr>
        <p:txBody>
          <a:bodyPr vert="horz" wrap="square" lIns="91440" tIns="45720" rIns="91440" bIns="45720" anchor="b" anchorCtr="0"/>
          <a:lstStyle/>
          <a:p>
            <a:pPr eaLnBrk="1" hangingPunct="1"/>
            <a:r>
              <a:rPr lang="en-US" altLang="zh-CN" dirty="0"/>
              <a:t>Java Synchronization</a:t>
            </a:r>
          </a:p>
        </p:txBody>
      </p:sp>
      <p:sp>
        <p:nvSpPr>
          <p:cNvPr id="191490" name="Rectangle 3"/>
          <p:cNvSpPr>
            <a:spLocks noGrp="1"/>
          </p:cNvSpPr>
          <p:nvPr>
            <p:ph type="body" idx="4294967295"/>
          </p:nvPr>
        </p:nvSpPr>
        <p:spPr>
          <a:ln/>
        </p:spPr>
        <p:txBody>
          <a:bodyPr vert="horz" wrap="square" lIns="91440" tIns="45720" rIns="91440" bIns="45720" anchor="t" anchorCtr="0"/>
          <a:lstStyle/>
          <a:p>
            <a:pPr eaLnBrk="1" hangingPunct="1"/>
            <a:r>
              <a:rPr lang="en-US" altLang="zh-CN" sz="2400" dirty="0"/>
              <a:t>Synchronized, wait(), notify() statements</a:t>
            </a:r>
          </a:p>
          <a:p>
            <a:pPr eaLnBrk="1" hangingPunct="1"/>
            <a:r>
              <a:rPr lang="en-US" altLang="zh-CN" sz="2400" dirty="0"/>
              <a:t>Multiple Notifications</a:t>
            </a:r>
            <a:r>
              <a:rPr lang="zh-CN" altLang="en-US" sz="2400" dirty="0"/>
              <a:t>（多通知）</a:t>
            </a:r>
          </a:p>
          <a:p>
            <a:pPr eaLnBrk="1" hangingPunct="1"/>
            <a:r>
              <a:rPr lang="en-US" altLang="zh-CN" sz="2400" dirty="0"/>
              <a:t>Block Synchronization</a:t>
            </a:r>
            <a:r>
              <a:rPr lang="zh-CN" altLang="en-US" sz="2400" dirty="0"/>
              <a:t>（块同步）</a:t>
            </a:r>
          </a:p>
          <a:p>
            <a:pPr eaLnBrk="1" hangingPunct="1"/>
            <a:r>
              <a:rPr lang="en-US" altLang="zh-CN" sz="2400" dirty="0"/>
              <a:t>Java Semaphores</a:t>
            </a:r>
            <a:endParaRPr lang="zh-CN" altLang="en-US" sz="2400" dirty="0"/>
          </a:p>
        </p:txBody>
      </p:sp>
    </p:spTree>
  </p:cSld>
  <p:clrMapOvr>
    <a:masterClrMapping/>
  </p:clrMapOv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Rectangle 2"/>
          <p:cNvSpPr>
            <a:spLocks noGrp="1"/>
          </p:cNvSpPr>
          <p:nvPr>
            <p:ph type="title" idx="4294967295"/>
          </p:nvPr>
        </p:nvSpPr>
        <p:spPr>
          <a:ln/>
        </p:spPr>
        <p:txBody>
          <a:bodyPr vert="horz" wrap="square" lIns="91440" tIns="45720" rIns="91440" bIns="45720" anchor="b" anchorCtr="0"/>
          <a:lstStyle/>
          <a:p>
            <a:pPr eaLnBrk="1" hangingPunct="1"/>
            <a:r>
              <a:rPr lang="en-US" altLang="zh-CN" dirty="0"/>
              <a:t>Java Synchronization</a:t>
            </a:r>
          </a:p>
        </p:txBody>
      </p:sp>
      <p:sp>
        <p:nvSpPr>
          <p:cNvPr id="193538" name="Rectangle 3"/>
          <p:cNvSpPr>
            <a:spLocks noGrp="1"/>
          </p:cNvSpPr>
          <p:nvPr>
            <p:ph type="body" idx="4294967295"/>
          </p:nvPr>
        </p:nvSpPr>
        <p:spPr>
          <a:xfrm>
            <a:off x="457200" y="1163637"/>
            <a:ext cx="8229600" cy="4530725"/>
          </a:xfrm>
          <a:ln/>
        </p:spPr>
        <p:txBody>
          <a:bodyPr vert="horz" wrap="square" lIns="91440" tIns="45720" rIns="91440" bIns="45720" anchor="t" anchorCtr="0"/>
          <a:lstStyle/>
          <a:p>
            <a:pPr eaLnBrk="1" hangingPunct="1"/>
            <a:r>
              <a:rPr lang="en-US" altLang="zh-CN" sz="2400" dirty="0"/>
              <a:t>Synchronized statements</a:t>
            </a:r>
            <a:r>
              <a:rPr lang="zh-CN" altLang="en-US" sz="2400" dirty="0"/>
              <a:t>（</a:t>
            </a:r>
            <a:r>
              <a:rPr lang="en-US" altLang="zh-CN" sz="2400" dirty="0"/>
              <a:t>Synchronized</a:t>
            </a:r>
            <a:r>
              <a:rPr lang="zh-CN" altLang="en-US" sz="2400" dirty="0"/>
              <a:t>声明）</a:t>
            </a:r>
            <a:endParaRPr lang="en-US" altLang="zh-CN" sz="2400" dirty="0"/>
          </a:p>
          <a:p>
            <a:pPr eaLnBrk="1" hangingPunct="1"/>
            <a:r>
              <a:rPr lang="en-US" altLang="zh-CN" sz="2400" dirty="0"/>
              <a:t>Every object in JAVA has associated with it a single lock.</a:t>
            </a:r>
          </a:p>
          <a:p>
            <a:pPr eaLnBrk="1" hangingPunct="1"/>
            <a:r>
              <a:rPr lang="en-US" altLang="zh-CN" sz="2400" dirty="0"/>
              <a:t>When a method is declared as synchronized, calling the method requires owning the lock for the object.</a:t>
            </a:r>
            <a:r>
              <a:rPr lang="zh-CN" altLang="en-US" sz="2400" dirty="0"/>
              <a:t>（当一个方法声明为</a:t>
            </a:r>
            <a:r>
              <a:rPr lang="zh-CN" altLang="en-US" sz="2400" dirty="0">
                <a:latin typeface="Arial" panose="020B0604020202020204" pitchFamily="34" charset="0"/>
              </a:rPr>
              <a:t>“</a:t>
            </a:r>
            <a:r>
              <a:rPr lang="en-US" altLang="zh-CN" sz="2400" dirty="0"/>
              <a:t>synchronized</a:t>
            </a:r>
            <a:r>
              <a:rPr lang="zh-CN" altLang="en-US" sz="2400" dirty="0">
                <a:latin typeface="Arial" panose="020B0604020202020204" pitchFamily="34" charset="0"/>
              </a:rPr>
              <a:t>”</a:t>
            </a:r>
            <a:r>
              <a:rPr lang="zh-CN" altLang="en-US" sz="2400" dirty="0"/>
              <a:t>，那么调用这个方法就需要拥有该对象的锁）</a:t>
            </a:r>
            <a:endParaRPr lang="en-US" altLang="zh-CN" sz="2400" dirty="0"/>
          </a:p>
          <a:p>
            <a:pPr eaLnBrk="1" hangingPunct="1"/>
            <a:r>
              <a:rPr lang="en-US" altLang="zh-CN" sz="2400" dirty="0"/>
              <a:t>Entry set: </a:t>
            </a:r>
          </a:p>
          <a:p>
            <a:pPr lvl="1" eaLnBrk="1" hangingPunct="1"/>
            <a:r>
              <a:rPr lang="en-US" altLang="zh-CN" sz="2400" dirty="0"/>
              <a:t> the set of threads waiting  for the lock to become available.</a:t>
            </a:r>
            <a:r>
              <a:rPr lang="zh-CN" altLang="en-US" sz="2400" dirty="0"/>
              <a:t>（如果对象的锁已被别的线程拥有，那么调用同步方法的线程进入该对象锁的入口等待队列</a:t>
            </a:r>
            <a:r>
              <a:rPr lang="en-US" altLang="zh-CN" sz="2400" dirty="0"/>
              <a:t>(</a:t>
            </a:r>
            <a:r>
              <a:rPr lang="en-US" altLang="zh-CN" dirty="0"/>
              <a:t>entry set </a:t>
            </a:r>
            <a:r>
              <a:rPr lang="en-US" altLang="zh-CN" sz="2400" dirty="0"/>
              <a:t>)</a:t>
            </a:r>
            <a:r>
              <a:rPr lang="zh-CN" altLang="en-US" sz="2400" dirty="0"/>
              <a:t>中）</a:t>
            </a:r>
            <a:endParaRPr lang="en-US" altLang="zh-CN" sz="2400" dirty="0"/>
          </a:p>
          <a:p>
            <a:pPr eaLnBrk="1" hangingPunct="1"/>
            <a:endParaRPr lang="en-US" altLang="zh-CN" sz="2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353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3538">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353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Rectangle 2"/>
          <p:cNvSpPr>
            <a:spLocks noGrp="1"/>
          </p:cNvSpPr>
          <p:nvPr>
            <p:ph type="title" idx="4294967295"/>
          </p:nvPr>
        </p:nvSpPr>
        <p:spPr>
          <a:ln/>
        </p:spPr>
        <p:txBody>
          <a:bodyPr vert="horz" wrap="square" lIns="91440" tIns="45720" rIns="91440" bIns="45720" anchor="b" anchorCtr="0"/>
          <a:lstStyle/>
          <a:p>
            <a:pPr eaLnBrk="1" hangingPunct="1"/>
            <a:r>
              <a:rPr lang="en-US" altLang="zh-CN" dirty="0"/>
              <a:t>Entry Set</a:t>
            </a:r>
          </a:p>
        </p:txBody>
      </p:sp>
      <p:pic>
        <p:nvPicPr>
          <p:cNvPr id="195586" name="Picture 3"/>
          <p:cNvPicPr>
            <a:picLocks noChangeAspect="1"/>
          </p:cNvPicPr>
          <p:nvPr/>
        </p:nvPicPr>
        <p:blipFill>
          <a:blip r:embed="rId2"/>
          <a:srcRect l="604" t="29247" r="203" b="29498"/>
          <a:stretch>
            <a:fillRect/>
          </a:stretch>
        </p:blipFill>
        <p:spPr>
          <a:xfrm>
            <a:off x="813206" y="2188830"/>
            <a:ext cx="7607300" cy="2675565"/>
          </a:xfrm>
          <a:prstGeom prst="rect">
            <a:avLst/>
          </a:prstGeom>
          <a:noFill/>
          <a:ln w="9525">
            <a:noFill/>
          </a:ln>
        </p:spPr>
      </p:pic>
    </p:spTree>
  </p:cSld>
  <p:clrMapOvr>
    <a:masterClrMapping/>
  </p:clrMapOvr>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Rectangle 2"/>
          <p:cNvSpPr>
            <a:spLocks noGrp="1"/>
          </p:cNvSpPr>
          <p:nvPr>
            <p:ph type="title" idx="4294967295"/>
          </p:nvPr>
        </p:nvSpPr>
        <p:spPr>
          <a:xfrm>
            <a:off x="457200" y="277813"/>
            <a:ext cx="8229600" cy="425450"/>
          </a:xfrm>
          <a:ln/>
        </p:spPr>
        <p:txBody>
          <a:bodyPr vert="horz" wrap="square" lIns="91440" tIns="45720" rIns="91440" bIns="45720" anchor="b" anchorCtr="0"/>
          <a:lstStyle/>
          <a:p>
            <a:pPr eaLnBrk="1" hangingPunct="1"/>
            <a:r>
              <a:rPr lang="en-US" altLang="zh-CN" dirty="0"/>
              <a:t>synchronized enter() Method</a:t>
            </a:r>
          </a:p>
        </p:txBody>
      </p:sp>
      <p:sp>
        <p:nvSpPr>
          <p:cNvPr id="196610" name="Rectangle 3"/>
          <p:cNvSpPr>
            <a:spLocks noGrp="1"/>
          </p:cNvSpPr>
          <p:nvPr>
            <p:ph type="body" idx="4294967295"/>
          </p:nvPr>
        </p:nvSpPr>
        <p:spPr>
          <a:xfrm>
            <a:off x="1165225" y="1270000"/>
            <a:ext cx="7799388" cy="4467225"/>
          </a:xfrm>
          <a:ln/>
        </p:spPr>
        <p:txBody>
          <a:bodyPr vert="horz" wrap="square" lIns="91440" tIns="45720" rIns="91440" bIns="45720" anchor="t" anchorCtr="0"/>
          <a:lstStyle/>
          <a:p>
            <a:pPr eaLnBrk="1" hangingPunct="1">
              <a:buNone/>
            </a:pPr>
            <a:r>
              <a:rPr lang="en-US" altLang="zh-CN" sz="2400" dirty="0"/>
              <a:t>public </a:t>
            </a:r>
            <a:r>
              <a:rPr lang="en-US" altLang="zh-CN" sz="2400" dirty="0">
                <a:solidFill>
                  <a:srgbClr val="FF3300"/>
                </a:solidFill>
              </a:rPr>
              <a:t>synchronized</a:t>
            </a:r>
            <a:r>
              <a:rPr lang="en-US" altLang="zh-CN" sz="2400" dirty="0"/>
              <a:t> void enter(Object item) {</a:t>
            </a:r>
          </a:p>
          <a:p>
            <a:pPr eaLnBrk="1" hangingPunct="1">
              <a:buNone/>
            </a:pPr>
            <a:r>
              <a:rPr lang="en-US" altLang="zh-CN" sz="2400" dirty="0"/>
              <a:t>	while (count == BUFFER_SIZE)</a:t>
            </a:r>
          </a:p>
          <a:p>
            <a:pPr eaLnBrk="1" hangingPunct="1">
              <a:buNone/>
            </a:pPr>
            <a:r>
              <a:rPr lang="en-US" altLang="zh-CN" sz="2400" dirty="0"/>
              <a:t>		Thread.yield();</a:t>
            </a:r>
          </a:p>
          <a:p>
            <a:pPr eaLnBrk="1" hangingPunct="1">
              <a:buNone/>
            </a:pPr>
            <a:r>
              <a:rPr lang="en-US" altLang="zh-CN" sz="2400" dirty="0"/>
              <a:t>	++count;</a:t>
            </a:r>
          </a:p>
          <a:p>
            <a:pPr eaLnBrk="1" hangingPunct="1">
              <a:buNone/>
            </a:pPr>
            <a:r>
              <a:rPr lang="en-US" altLang="zh-CN" sz="2400" dirty="0"/>
              <a:t>	buffer[in] = item;</a:t>
            </a:r>
          </a:p>
          <a:p>
            <a:pPr eaLnBrk="1" hangingPunct="1">
              <a:buNone/>
            </a:pPr>
            <a:r>
              <a:rPr lang="en-US" altLang="zh-CN" sz="2400" dirty="0"/>
              <a:t>	in = (in + 1) % BUFFER_SIZE;</a:t>
            </a:r>
          </a:p>
          <a:p>
            <a:pPr eaLnBrk="1" hangingPunct="1">
              <a:buNone/>
            </a:pPr>
            <a:r>
              <a:rPr lang="en-US" altLang="zh-CN" sz="2400" dirty="0"/>
              <a:t>}</a:t>
            </a:r>
          </a:p>
        </p:txBody>
      </p:sp>
    </p:spTree>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3" name="Rectangle 2"/>
          <p:cNvSpPr>
            <a:spLocks noGrp="1"/>
          </p:cNvSpPr>
          <p:nvPr>
            <p:ph type="title" idx="4294967295"/>
          </p:nvPr>
        </p:nvSpPr>
        <p:spPr>
          <a:xfrm>
            <a:off x="1065213" y="746125"/>
            <a:ext cx="7558087" cy="198438"/>
          </a:xfrm>
          <a:ln/>
        </p:spPr>
        <p:txBody>
          <a:bodyPr vert="horz" wrap="square" lIns="91440" tIns="45720" rIns="91440" bIns="45720" anchor="b" anchorCtr="0"/>
          <a:lstStyle/>
          <a:p>
            <a:pPr eaLnBrk="1" hangingPunct="1"/>
            <a:r>
              <a:rPr lang="en-US" altLang="zh-CN" dirty="0"/>
              <a:t>synchronized remove() Method</a:t>
            </a:r>
          </a:p>
        </p:txBody>
      </p:sp>
      <p:sp>
        <p:nvSpPr>
          <p:cNvPr id="197634" name="Rectangle 3"/>
          <p:cNvSpPr>
            <a:spLocks noGrp="1"/>
          </p:cNvSpPr>
          <p:nvPr>
            <p:ph type="body" idx="4294967295"/>
          </p:nvPr>
        </p:nvSpPr>
        <p:spPr>
          <a:xfrm>
            <a:off x="1047750" y="1570038"/>
            <a:ext cx="7777163" cy="4792662"/>
          </a:xfrm>
          <a:ln/>
        </p:spPr>
        <p:txBody>
          <a:bodyPr vert="horz" wrap="square" lIns="91440" tIns="45720" rIns="91440" bIns="45720" anchor="t" anchorCtr="0"/>
          <a:lstStyle/>
          <a:p>
            <a:pPr eaLnBrk="1" hangingPunct="1">
              <a:buNone/>
            </a:pPr>
            <a:r>
              <a:rPr lang="en-US" altLang="zh-CN" sz="2400" dirty="0"/>
              <a:t>public </a:t>
            </a:r>
            <a:r>
              <a:rPr lang="en-US" altLang="zh-CN" sz="2400" dirty="0">
                <a:solidFill>
                  <a:srgbClr val="FF3300"/>
                </a:solidFill>
              </a:rPr>
              <a:t>synchronized</a:t>
            </a:r>
            <a:r>
              <a:rPr lang="en-US" altLang="zh-CN" sz="2400" dirty="0"/>
              <a:t> Object remove() {</a:t>
            </a:r>
          </a:p>
          <a:p>
            <a:pPr eaLnBrk="1" hangingPunct="1">
              <a:buNone/>
            </a:pPr>
            <a:r>
              <a:rPr lang="en-US" altLang="zh-CN" sz="2400" dirty="0"/>
              <a:t>	Object  item;</a:t>
            </a:r>
          </a:p>
          <a:p>
            <a:pPr eaLnBrk="1" hangingPunct="1">
              <a:buNone/>
            </a:pPr>
            <a:r>
              <a:rPr lang="en-US" altLang="zh-CN" sz="2400" dirty="0"/>
              <a:t>	while (count == 0)</a:t>
            </a:r>
          </a:p>
          <a:p>
            <a:pPr eaLnBrk="1" hangingPunct="1">
              <a:buNone/>
            </a:pPr>
            <a:r>
              <a:rPr lang="en-US" altLang="zh-CN" sz="2400" dirty="0"/>
              <a:t>		Thread.yield();</a:t>
            </a:r>
          </a:p>
          <a:p>
            <a:pPr eaLnBrk="1" hangingPunct="1">
              <a:buNone/>
            </a:pPr>
            <a:r>
              <a:rPr lang="en-US" altLang="zh-CN" sz="2400" dirty="0"/>
              <a:t>	--count;</a:t>
            </a:r>
          </a:p>
          <a:p>
            <a:pPr eaLnBrk="1" hangingPunct="1">
              <a:buNone/>
            </a:pPr>
            <a:r>
              <a:rPr lang="en-US" altLang="zh-CN" sz="2400" dirty="0"/>
              <a:t>	item = buffer[out];</a:t>
            </a:r>
          </a:p>
          <a:p>
            <a:pPr eaLnBrk="1" hangingPunct="1">
              <a:buNone/>
            </a:pPr>
            <a:r>
              <a:rPr lang="en-US" altLang="zh-CN" sz="2400" dirty="0"/>
              <a:t>	out = (out + 1) % BUFFER_SIZE;</a:t>
            </a:r>
          </a:p>
          <a:p>
            <a:pPr eaLnBrk="1" hangingPunct="1">
              <a:buNone/>
            </a:pPr>
            <a:r>
              <a:rPr lang="en-US" altLang="zh-CN" sz="2400" dirty="0"/>
              <a:t>	return item;</a:t>
            </a:r>
          </a:p>
          <a:p>
            <a:pPr eaLnBrk="1" hangingPunct="1">
              <a:buNone/>
            </a:pPr>
            <a:r>
              <a:rPr lang="en-US" altLang="zh-CN" sz="2400" b="1" dirty="0"/>
              <a:t>}</a:t>
            </a:r>
          </a:p>
        </p:txBody>
      </p:sp>
    </p:spTree>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Rectangle 2"/>
          <p:cNvSpPr>
            <a:spLocks noGrp="1"/>
          </p:cNvSpPr>
          <p:nvPr>
            <p:ph type="title" idx="4294967295"/>
          </p:nvPr>
        </p:nvSpPr>
        <p:spPr>
          <a:xfrm>
            <a:off x="514350" y="404813"/>
            <a:ext cx="8229600" cy="349250"/>
          </a:xfrm>
          <a:ln/>
        </p:spPr>
        <p:txBody>
          <a:bodyPr vert="horz" wrap="square" lIns="91440" tIns="45720" rIns="91440" bIns="45720" anchor="b" anchorCtr="0"/>
          <a:lstStyle/>
          <a:p>
            <a:pPr eaLnBrk="1" hangingPunct="1"/>
            <a:r>
              <a:rPr lang="en-US" altLang="zh-CN" dirty="0"/>
              <a:t>Java Synchronization</a:t>
            </a:r>
            <a:endParaRPr lang="zh-CN" altLang="en-US" dirty="0"/>
          </a:p>
        </p:txBody>
      </p:sp>
      <p:sp>
        <p:nvSpPr>
          <p:cNvPr id="198658" name="Rectangle 3"/>
          <p:cNvSpPr>
            <a:spLocks noGrp="1"/>
          </p:cNvSpPr>
          <p:nvPr>
            <p:ph type="body" idx="4294967295"/>
          </p:nvPr>
        </p:nvSpPr>
        <p:spPr>
          <a:xfrm>
            <a:off x="612774" y="1196975"/>
            <a:ext cx="8429625" cy="4527550"/>
          </a:xfrm>
          <a:ln/>
        </p:spPr>
        <p:txBody>
          <a:bodyPr vert="horz" wrap="square" lIns="91440" tIns="45720" rIns="91440" bIns="45720" anchor="t" anchorCtr="0"/>
          <a:lstStyle/>
          <a:p>
            <a:pPr eaLnBrk="1" hangingPunct="1">
              <a:lnSpc>
                <a:spcPct val="130000"/>
              </a:lnSpc>
            </a:pPr>
            <a:r>
              <a:rPr lang="en-US" altLang="zh-CN" sz="2400" dirty="0"/>
              <a:t>Producer-consumer problem</a:t>
            </a:r>
            <a:r>
              <a:rPr lang="zh-CN" altLang="en-US" sz="2400" dirty="0"/>
              <a:t>（生产者消费者问题）</a:t>
            </a:r>
            <a:r>
              <a:rPr lang="en-US" altLang="zh-CN" sz="2400" dirty="0"/>
              <a:t>:</a:t>
            </a:r>
          </a:p>
          <a:p>
            <a:pPr lvl="1" eaLnBrk="1" hangingPunct="1">
              <a:lnSpc>
                <a:spcPct val="130000"/>
              </a:lnSpc>
            </a:pPr>
            <a:r>
              <a:rPr lang="en-US" altLang="zh-CN" sz="2400" dirty="0"/>
              <a:t>The object BoundedBuffer has one lock</a:t>
            </a:r>
            <a:r>
              <a:rPr lang="zh-CN" altLang="en-US" sz="2400" dirty="0"/>
              <a:t>（</a:t>
            </a:r>
            <a:r>
              <a:rPr lang="zh-CN" altLang="en-US" sz="2400" dirty="0">
                <a:latin typeface="PingFang SC"/>
              </a:rPr>
              <a:t>对象</a:t>
            </a:r>
            <a:r>
              <a:rPr lang="en-US" altLang="zh-CN" sz="2400" dirty="0" err="1">
                <a:latin typeface="PingFang SC"/>
              </a:rPr>
              <a:t>BoundedBuffer</a:t>
            </a:r>
            <a:r>
              <a:rPr lang="zh-CN" altLang="en-US" sz="2400" dirty="0">
                <a:latin typeface="PingFang SC"/>
              </a:rPr>
              <a:t>有一个锁</a:t>
            </a:r>
            <a:r>
              <a:rPr lang="zh-CN" altLang="en-US" sz="2400" dirty="0"/>
              <a:t>）</a:t>
            </a:r>
            <a:endParaRPr lang="en-US" altLang="zh-CN" sz="2400" dirty="0"/>
          </a:p>
          <a:p>
            <a:pPr lvl="1" eaLnBrk="1" hangingPunct="1">
              <a:lnSpc>
                <a:spcPct val="130000"/>
              </a:lnSpc>
            </a:pPr>
            <a:r>
              <a:rPr lang="en-US" altLang="zh-CN" sz="2400" dirty="0"/>
              <a:t>A producer must acquire the lock before invoking method enter().</a:t>
            </a:r>
            <a:r>
              <a:rPr lang="zh-CN" altLang="en-US" sz="2400" dirty="0"/>
              <a:t>（生产者必须在调用方法之前获取锁）</a:t>
            </a:r>
          </a:p>
          <a:p>
            <a:pPr lvl="1" eaLnBrk="1" hangingPunct="1">
              <a:lnSpc>
                <a:spcPct val="130000"/>
              </a:lnSpc>
            </a:pPr>
            <a:r>
              <a:rPr lang="en-US" altLang="zh-CN" sz="2400" dirty="0"/>
              <a:t>When the lock is owned by a producer, if a consumer want to invoke remove(), it has to block until the producer  exits the method enter() and release the lock.</a:t>
            </a:r>
            <a:r>
              <a:rPr lang="zh-CN" altLang="en-US" sz="2400" dirty="0"/>
              <a:t> （当锁由生产者拥有时，如果消费者想要调用</a:t>
            </a:r>
            <a:r>
              <a:rPr lang="en-US" altLang="zh-CN" sz="2400" dirty="0"/>
              <a:t>remove()</a:t>
            </a:r>
            <a:r>
              <a:rPr lang="zh-CN" altLang="en-US" sz="2400" dirty="0"/>
              <a:t>，它必须阻塞，直到生产者退出方法</a:t>
            </a:r>
            <a:r>
              <a:rPr lang="en-US" altLang="zh-CN" sz="2400" dirty="0"/>
              <a:t>enter()</a:t>
            </a:r>
            <a:r>
              <a:rPr lang="zh-CN" altLang="en-US" sz="2400" dirty="0"/>
              <a:t>并释放锁）</a:t>
            </a:r>
            <a:endParaRPr lang="en-US" altLang="zh-CN"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865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Rectangle 2"/>
          <p:cNvSpPr>
            <a:spLocks noGrp="1"/>
          </p:cNvSpPr>
          <p:nvPr>
            <p:ph type="title" idx="4294967295"/>
          </p:nvPr>
        </p:nvSpPr>
        <p:spPr>
          <a:ln/>
        </p:spPr>
        <p:txBody>
          <a:bodyPr vert="horz" wrap="square" lIns="91440" tIns="45720" rIns="91440" bIns="45720" anchor="b" anchorCtr="0"/>
          <a:lstStyle/>
          <a:p>
            <a:pPr eaLnBrk="1" hangingPunct="1"/>
            <a:r>
              <a:rPr lang="en-US" altLang="zh-CN" dirty="0"/>
              <a:t> Java Synchronization</a:t>
            </a:r>
            <a:endParaRPr lang="zh-CN" altLang="en-US" dirty="0"/>
          </a:p>
        </p:txBody>
      </p:sp>
      <p:sp>
        <p:nvSpPr>
          <p:cNvPr id="200706" name="Rectangle 3"/>
          <p:cNvSpPr>
            <a:spLocks noGrp="1"/>
          </p:cNvSpPr>
          <p:nvPr>
            <p:ph type="body" idx="4294967295"/>
          </p:nvPr>
        </p:nvSpPr>
        <p:spPr>
          <a:xfrm>
            <a:off x="457200" y="920750"/>
            <a:ext cx="8380412" cy="5016500"/>
          </a:xfrm>
          <a:ln/>
        </p:spPr>
        <p:txBody>
          <a:bodyPr vert="horz" wrap="square" lIns="91440" tIns="45720" rIns="91440" bIns="45720" anchor="t" anchorCtr="0"/>
          <a:lstStyle/>
          <a:p>
            <a:pPr eaLnBrk="1" hangingPunct="1"/>
            <a:r>
              <a:rPr lang="en-US" altLang="zh-CN" sz="2400" dirty="0"/>
              <a:t>However, lock ownership has led to another problem.</a:t>
            </a:r>
            <a:r>
              <a:rPr lang="zh-CN" altLang="en-US" sz="2400" dirty="0"/>
              <a:t>（锁所有权带来了另一个问题）</a:t>
            </a:r>
            <a:endParaRPr lang="en-US" altLang="zh-CN" sz="2400" dirty="0"/>
          </a:p>
          <a:p>
            <a:pPr eaLnBrk="1" hangingPunct="1"/>
            <a:r>
              <a:rPr lang="en-US" altLang="zh-CN" sz="2400" dirty="0"/>
              <a:t>Assume that the buffer is full and the consumer is sleeping.</a:t>
            </a:r>
            <a:r>
              <a:rPr lang="zh-CN" altLang="en-US" sz="2400" dirty="0"/>
              <a:t>（假设缓冲区已满，消费者处于睡眠状态）</a:t>
            </a:r>
            <a:endParaRPr lang="en-US" altLang="zh-CN" sz="2400" dirty="0"/>
          </a:p>
          <a:p>
            <a:pPr eaLnBrk="1" hangingPunct="1"/>
            <a:r>
              <a:rPr lang="en-US" altLang="zh-CN" sz="2400" dirty="0"/>
              <a:t>If the producer calls enter(), it will be allowed to continue because the lock is available. When the producer invokes enter(), it sees a full buffer and performs the yield(), but it still owns the lock for the object.</a:t>
            </a:r>
            <a:r>
              <a:rPr lang="zh-CN" altLang="en-US" sz="2400" dirty="0"/>
              <a:t>（如果生产者调用</a:t>
            </a:r>
            <a:r>
              <a:rPr lang="en-US" altLang="zh-CN" sz="2400" dirty="0"/>
              <a:t>enter()</a:t>
            </a:r>
            <a:r>
              <a:rPr lang="zh-CN" altLang="en-US" sz="2400" dirty="0"/>
              <a:t>，它将被允许继续，因为锁是可用的。当生产者调用</a:t>
            </a:r>
            <a:r>
              <a:rPr lang="en-US" altLang="zh-CN" sz="2400" dirty="0"/>
              <a:t>enter()</a:t>
            </a:r>
            <a:r>
              <a:rPr lang="zh-CN" altLang="en-US" sz="2400" dirty="0"/>
              <a:t>时，它看到一个满缓冲区并执行</a:t>
            </a:r>
            <a:r>
              <a:rPr lang="en-US" altLang="zh-CN" sz="2400" dirty="0"/>
              <a:t>yield()</a:t>
            </a:r>
            <a:r>
              <a:rPr lang="zh-CN" altLang="en-US" sz="2400" dirty="0"/>
              <a:t>，但它仍然拥有对象的锁）</a:t>
            </a:r>
            <a:endParaRPr lang="en-US" altLang="zh-CN" sz="2400" dirty="0"/>
          </a:p>
          <a:p>
            <a:pPr eaLnBrk="1" hangingPunct="1"/>
            <a:r>
              <a:rPr lang="en-US" altLang="zh-CN" sz="2400" dirty="0"/>
              <a:t>When the consumer awakens and try to call remove(), it will block because it does not own the lock.</a:t>
            </a:r>
            <a:r>
              <a:rPr lang="zh-CN" altLang="en-US" sz="2400" dirty="0"/>
              <a:t>（当消费者唤醒并尝试调用</a:t>
            </a:r>
            <a:r>
              <a:rPr lang="en-US" altLang="zh-CN" sz="2400" dirty="0"/>
              <a:t>remove()</a:t>
            </a:r>
            <a:r>
              <a:rPr lang="zh-CN" altLang="en-US" sz="2400" dirty="0"/>
              <a:t>时，它会阻塞，因为它不拥有锁）</a:t>
            </a:r>
            <a:endParaRPr lang="en-US" altLang="zh-CN" sz="2400" dirty="0"/>
          </a:p>
          <a:p>
            <a:pPr eaLnBrk="1" hangingPunct="1"/>
            <a:r>
              <a:rPr lang="en-US" altLang="zh-CN" sz="2400" dirty="0"/>
              <a:t>This leads to </a:t>
            </a:r>
            <a:r>
              <a:rPr lang="en-US" altLang="zh-CN" sz="2400" dirty="0">
                <a:solidFill>
                  <a:srgbClr val="C00000"/>
                </a:solidFill>
              </a:rPr>
              <a:t>deadlock</a:t>
            </a:r>
            <a:r>
              <a:rPr lang="en-US" altLang="zh-CN" sz="2400" dirty="0"/>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070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070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070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3" name="Rectangle 2"/>
          <p:cNvSpPr>
            <a:spLocks noGrp="1"/>
          </p:cNvSpPr>
          <p:nvPr>
            <p:ph type="title" idx="4294967295"/>
          </p:nvPr>
        </p:nvSpPr>
        <p:spPr>
          <a:ln/>
        </p:spPr>
        <p:txBody>
          <a:bodyPr vert="horz" wrap="square" lIns="91440" tIns="45720" rIns="91440" bIns="45720" anchor="b" anchorCtr="0"/>
          <a:lstStyle/>
          <a:p>
            <a:pPr eaLnBrk="1" hangingPunct="1"/>
            <a:r>
              <a:rPr lang="en-US" altLang="zh-CN" dirty="0"/>
              <a:t>Java Synchronization</a:t>
            </a:r>
            <a:endParaRPr lang="zh-CN" altLang="en-US" dirty="0"/>
          </a:p>
        </p:txBody>
      </p:sp>
      <p:sp>
        <p:nvSpPr>
          <p:cNvPr id="202754" name="Rectangle 3"/>
          <p:cNvSpPr>
            <a:spLocks noGrp="1"/>
          </p:cNvSpPr>
          <p:nvPr>
            <p:ph type="body" idx="4294967295"/>
          </p:nvPr>
        </p:nvSpPr>
        <p:spPr>
          <a:xfrm>
            <a:off x="571500" y="1049338"/>
            <a:ext cx="8091488" cy="4778375"/>
          </a:xfrm>
          <a:ln/>
        </p:spPr>
        <p:txBody>
          <a:bodyPr vert="horz" wrap="square" lIns="91440" tIns="45720" rIns="91440" bIns="45720" anchor="t" anchorCtr="0"/>
          <a:lstStyle/>
          <a:p>
            <a:pPr eaLnBrk="1" hangingPunct="1"/>
            <a:r>
              <a:rPr lang="en-US" altLang="zh-CN" sz="2400" dirty="0"/>
              <a:t>Solution: </a:t>
            </a:r>
          </a:p>
          <a:p>
            <a:pPr lvl="1" eaLnBrk="1" hangingPunct="1"/>
            <a:r>
              <a:rPr lang="en-US" altLang="zh-CN" sz="2400" dirty="0"/>
              <a:t>In addition to having a lock, every object also has a </a:t>
            </a:r>
            <a:r>
              <a:rPr lang="en-US" altLang="zh-CN" sz="2400" dirty="0">
                <a:solidFill>
                  <a:srgbClr val="FF3300"/>
                </a:solidFill>
              </a:rPr>
              <a:t>wait set.</a:t>
            </a:r>
          </a:p>
          <a:p>
            <a:pPr lvl="1" eaLnBrk="1" hangingPunct="1"/>
            <a:r>
              <a:rPr lang="en-US" altLang="zh-CN" sz="2400" dirty="0"/>
              <a:t>Two new methods: </a:t>
            </a:r>
            <a:r>
              <a:rPr lang="en-US" altLang="zh-CN" sz="2400" dirty="0">
                <a:solidFill>
                  <a:srgbClr val="FF3300"/>
                </a:solidFill>
              </a:rPr>
              <a:t>wait() and notify().</a:t>
            </a:r>
          </a:p>
          <a:p>
            <a:pPr eaLnBrk="1" hangingPunct="1"/>
            <a:r>
              <a:rPr lang="en-US" altLang="zh-CN" sz="2400" dirty="0"/>
              <a:t>If the producer calls enter() and the buffer is full, it will </a:t>
            </a:r>
            <a:r>
              <a:rPr lang="en-US" altLang="zh-CN" sz="2400" dirty="0">
                <a:solidFill>
                  <a:srgbClr val="FF3300"/>
                </a:solidFill>
              </a:rPr>
              <a:t>release the lock by invoking wait(), </a:t>
            </a:r>
            <a:r>
              <a:rPr lang="en-US" altLang="zh-CN" sz="2400" dirty="0"/>
              <a:t>and enter to the wait set for the object.</a:t>
            </a:r>
            <a:r>
              <a:rPr lang="zh-CN" altLang="en-US" sz="2400" dirty="0"/>
              <a:t>（如果生产者调用</a:t>
            </a:r>
            <a:r>
              <a:rPr lang="en-US" altLang="zh-CN" sz="2400" dirty="0"/>
              <a:t>enter()</a:t>
            </a:r>
            <a:r>
              <a:rPr lang="zh-CN" altLang="en-US" sz="2400" dirty="0"/>
              <a:t>并且缓冲区已满，它将通过调用</a:t>
            </a:r>
            <a:r>
              <a:rPr lang="en-US" altLang="zh-CN" sz="2400" dirty="0"/>
              <a:t>wait()</a:t>
            </a:r>
            <a:r>
              <a:rPr lang="zh-CN" altLang="en-US" sz="2400" dirty="0"/>
              <a:t>释放锁，并进入对象的等待集）</a:t>
            </a:r>
            <a:endParaRPr lang="en-US" altLang="zh-CN" sz="2400" dirty="0"/>
          </a:p>
          <a:p>
            <a:pPr eaLnBrk="1" hangingPunct="1"/>
            <a:r>
              <a:rPr lang="en-US" altLang="zh-CN" sz="2400" dirty="0"/>
              <a:t>So the consumer can acquire the lock and call remove(), and then awake the producer by notify().</a:t>
            </a:r>
            <a:r>
              <a:rPr lang="zh-CN" altLang="en-US" sz="2400" dirty="0"/>
              <a:t>（消费者可以获取锁并调用</a:t>
            </a:r>
            <a:r>
              <a:rPr lang="en-US" altLang="zh-CN" sz="2400" dirty="0"/>
              <a:t>remove()</a:t>
            </a:r>
            <a:r>
              <a:rPr lang="zh-CN" altLang="en-US" sz="2400" dirty="0"/>
              <a:t>，然后通过</a:t>
            </a:r>
            <a:r>
              <a:rPr lang="en-US" altLang="zh-CN" sz="2400" dirty="0"/>
              <a:t>notify()</a:t>
            </a:r>
            <a:r>
              <a:rPr lang="zh-CN" altLang="en-US" sz="2400" dirty="0"/>
              <a:t>唤醒生产者）</a:t>
            </a:r>
            <a:endParaRPr lang="en-US" altLang="zh-CN"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275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275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Rectangle 2"/>
          <p:cNvSpPr>
            <a:spLocks noGrp="1"/>
          </p:cNvSpPr>
          <p:nvPr>
            <p:ph type="title" idx="4294967295"/>
          </p:nvPr>
        </p:nvSpPr>
        <p:spPr>
          <a:ln/>
        </p:spPr>
        <p:txBody>
          <a:bodyPr vert="horz" wrap="square" lIns="91440" tIns="45720" rIns="91440" bIns="45720" anchor="b" anchorCtr="0"/>
          <a:lstStyle/>
          <a:p>
            <a:pPr eaLnBrk="1" hangingPunct="1"/>
            <a:r>
              <a:rPr lang="en-US" altLang="zh-CN" dirty="0"/>
              <a:t>Entry and Wait Sets</a:t>
            </a:r>
          </a:p>
        </p:txBody>
      </p:sp>
      <p:pic>
        <p:nvPicPr>
          <p:cNvPr id="204802" name="Picture 3"/>
          <p:cNvPicPr>
            <a:picLocks noChangeAspect="1"/>
          </p:cNvPicPr>
          <p:nvPr/>
        </p:nvPicPr>
        <p:blipFill>
          <a:blip r:embed="rId2"/>
          <a:srcRect l="813" t="36272" r="813" b="36272"/>
          <a:stretch>
            <a:fillRect/>
          </a:stretch>
        </p:blipFill>
        <p:spPr>
          <a:xfrm>
            <a:off x="279400" y="1992313"/>
            <a:ext cx="8470900" cy="2819400"/>
          </a:xfrm>
          <a:prstGeom prst="rect">
            <a:avLst/>
          </a:prstGeom>
          <a:noFill/>
          <a:ln w="9525">
            <a:noFill/>
          </a:ln>
        </p:spPr>
      </p:pic>
    </p:spTree>
  </p:cSld>
  <p:clrMapOvr>
    <a:masterClrMapping/>
  </p:clrMapOvr>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Rectangle 2"/>
          <p:cNvSpPr>
            <a:spLocks noGrp="1"/>
          </p:cNvSpPr>
          <p:nvPr>
            <p:ph type="title" idx="4294967295"/>
          </p:nvPr>
        </p:nvSpPr>
        <p:spPr>
          <a:ln/>
        </p:spPr>
        <p:txBody>
          <a:bodyPr vert="horz" wrap="square" lIns="91440" tIns="45720" rIns="91440" bIns="45720" anchor="b" anchorCtr="0"/>
          <a:lstStyle/>
          <a:p>
            <a:pPr eaLnBrk="1" hangingPunct="1"/>
            <a:r>
              <a:rPr lang="en-US" altLang="zh-CN" dirty="0"/>
              <a:t>Entry Set</a:t>
            </a:r>
          </a:p>
        </p:txBody>
      </p:sp>
      <p:pic>
        <p:nvPicPr>
          <p:cNvPr id="195586" name="Picture 3"/>
          <p:cNvPicPr>
            <a:picLocks noChangeAspect="1"/>
          </p:cNvPicPr>
          <p:nvPr/>
        </p:nvPicPr>
        <p:blipFill>
          <a:blip r:embed="rId2"/>
          <a:srcRect l="604" t="29247" r="203" b="29498"/>
          <a:stretch>
            <a:fillRect/>
          </a:stretch>
        </p:blipFill>
        <p:spPr>
          <a:xfrm>
            <a:off x="839788" y="1917700"/>
            <a:ext cx="7607300" cy="3360738"/>
          </a:xfrm>
          <a:prstGeom prst="rect">
            <a:avLst/>
          </a:prstGeom>
          <a:noFill/>
          <a:ln w="9525">
            <a:noFill/>
          </a:ln>
        </p:spPr>
      </p:pic>
    </p:spTree>
    <p:extLst>
      <p:ext uri="{BB962C8B-B14F-4D97-AF65-F5344CB8AC3E}">
        <p14:creationId xmlns:p14="http://schemas.microsoft.com/office/powerpoint/2010/main" val="1370449636"/>
      </p:ext>
    </p:extLst>
  </p:cSld>
  <p:clrMapOvr>
    <a:masterClrMapping/>
  </p:clrMapOv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Rectangle 2"/>
          <p:cNvSpPr>
            <a:spLocks noGrp="1"/>
          </p:cNvSpPr>
          <p:nvPr>
            <p:ph type="title" idx="4294967295"/>
          </p:nvPr>
        </p:nvSpPr>
        <p:spPr>
          <a:ln/>
        </p:spPr>
        <p:txBody>
          <a:bodyPr vert="horz" wrap="square" lIns="91440" tIns="45720" rIns="91440" bIns="45720" anchor="b" anchorCtr="0"/>
          <a:lstStyle/>
          <a:p>
            <a:pPr eaLnBrk="1" hangingPunct="1"/>
            <a:r>
              <a:rPr lang="en-US" altLang="zh-CN" dirty="0"/>
              <a:t>The wait() Method</a:t>
            </a:r>
          </a:p>
        </p:txBody>
      </p:sp>
      <p:sp>
        <p:nvSpPr>
          <p:cNvPr id="205826" name="Rectangle 3"/>
          <p:cNvSpPr>
            <a:spLocks noGrp="1"/>
          </p:cNvSpPr>
          <p:nvPr>
            <p:ph type="body" idx="4294967295"/>
          </p:nvPr>
        </p:nvSpPr>
        <p:spPr>
          <a:xfrm>
            <a:off x="582613" y="1390650"/>
            <a:ext cx="7842250" cy="4608513"/>
          </a:xfrm>
          <a:ln/>
        </p:spPr>
        <p:txBody>
          <a:bodyPr vert="horz" wrap="square" lIns="91440" tIns="45720" rIns="91440" bIns="45720" anchor="t" anchorCtr="0"/>
          <a:lstStyle/>
          <a:p>
            <a:pPr eaLnBrk="1" hangingPunct="1"/>
            <a:r>
              <a:rPr lang="en-US" altLang="zh-CN" sz="2400" dirty="0"/>
              <a:t>When a thread calls </a:t>
            </a:r>
            <a:r>
              <a:rPr lang="en-US" altLang="zh-CN" sz="2400" dirty="0">
                <a:solidFill>
                  <a:srgbClr val="FF3300"/>
                </a:solidFill>
              </a:rPr>
              <a:t>wait(),</a:t>
            </a:r>
            <a:r>
              <a:rPr lang="en-US" altLang="zh-CN" sz="2400" dirty="0"/>
              <a:t> the following occurs</a:t>
            </a:r>
            <a:r>
              <a:rPr lang="zh-CN" altLang="zh-CN" sz="2400" dirty="0"/>
              <a:t>:</a:t>
            </a:r>
          </a:p>
          <a:p>
            <a:pPr eaLnBrk="1" hangingPunct="1">
              <a:buNone/>
            </a:pPr>
            <a:r>
              <a:rPr lang="zh-CN" altLang="zh-CN" sz="2400" dirty="0"/>
              <a:t>	- </a:t>
            </a:r>
            <a:r>
              <a:rPr lang="en-US" altLang="zh-CN" sz="2400" dirty="0"/>
              <a:t>the thread releases the object lock</a:t>
            </a:r>
            <a:r>
              <a:rPr lang="zh-CN" altLang="zh-CN" sz="2400" dirty="0"/>
              <a:t>.</a:t>
            </a:r>
            <a:r>
              <a:rPr lang="zh-CN" altLang="en-US" sz="2400" dirty="0"/>
              <a:t>（线程释放锁）</a:t>
            </a:r>
            <a:endParaRPr lang="zh-CN" altLang="zh-CN" sz="2400" dirty="0"/>
          </a:p>
          <a:p>
            <a:pPr eaLnBrk="1" hangingPunct="1">
              <a:buNone/>
            </a:pPr>
            <a:r>
              <a:rPr lang="zh-CN" altLang="zh-CN" sz="2400" dirty="0"/>
              <a:t>	- </a:t>
            </a:r>
            <a:r>
              <a:rPr lang="en-US" altLang="zh-CN" sz="2400" dirty="0"/>
              <a:t>thread state is set to blocked</a:t>
            </a:r>
            <a:r>
              <a:rPr lang="zh-CN" altLang="zh-CN" sz="2400" dirty="0"/>
              <a:t>.</a:t>
            </a:r>
            <a:r>
              <a:rPr lang="zh-CN" altLang="en-US" sz="2400" dirty="0"/>
              <a:t>（线程阻塞）</a:t>
            </a:r>
            <a:endParaRPr lang="zh-CN" altLang="zh-CN" sz="2400" dirty="0"/>
          </a:p>
          <a:p>
            <a:pPr eaLnBrk="1" hangingPunct="1">
              <a:buNone/>
            </a:pPr>
            <a:r>
              <a:rPr lang="zh-CN" altLang="zh-CN" sz="2400" dirty="0"/>
              <a:t>	- </a:t>
            </a:r>
            <a:r>
              <a:rPr lang="en-US" altLang="zh-CN" sz="2400" dirty="0"/>
              <a:t>thread is placed in the wait set</a:t>
            </a:r>
            <a:r>
              <a:rPr lang="zh-CN" altLang="en-US" sz="2400" dirty="0"/>
              <a:t>（放入等待集）</a:t>
            </a:r>
            <a:endParaRPr lang="zh-CN" altLang="zh-CN" sz="2400" dirty="0"/>
          </a:p>
        </p:txBody>
      </p:sp>
    </p:spTree>
  </p:cSld>
  <p:clrMapOvr>
    <a:masterClrMapping/>
  </p:clrMapOvr>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3" name="Rectangle 2"/>
          <p:cNvSpPr>
            <a:spLocks noGrp="1"/>
          </p:cNvSpPr>
          <p:nvPr>
            <p:ph type="title" idx="4294967295"/>
          </p:nvPr>
        </p:nvSpPr>
        <p:spPr>
          <a:ln/>
        </p:spPr>
        <p:txBody>
          <a:bodyPr vert="horz" wrap="square" lIns="91440" tIns="45720" rIns="91440" bIns="45720" anchor="b" anchorCtr="0"/>
          <a:lstStyle/>
          <a:p>
            <a:pPr eaLnBrk="1" hangingPunct="1"/>
            <a:r>
              <a:rPr lang="en-US" altLang="zh-CN" dirty="0"/>
              <a:t>The notify() Method</a:t>
            </a:r>
          </a:p>
        </p:txBody>
      </p:sp>
      <p:sp>
        <p:nvSpPr>
          <p:cNvPr id="207874" name="Rectangle 3"/>
          <p:cNvSpPr>
            <a:spLocks noGrp="1"/>
          </p:cNvSpPr>
          <p:nvPr>
            <p:ph type="body" idx="4294967295"/>
          </p:nvPr>
        </p:nvSpPr>
        <p:spPr>
          <a:xfrm>
            <a:off x="581025" y="1331913"/>
            <a:ext cx="7673975" cy="4913312"/>
          </a:xfrm>
          <a:ln/>
        </p:spPr>
        <p:txBody>
          <a:bodyPr vert="horz" wrap="square" lIns="91440" tIns="45720" rIns="91440" bIns="45720" anchor="t" anchorCtr="0"/>
          <a:lstStyle/>
          <a:p>
            <a:pPr eaLnBrk="1" hangingPunct="1"/>
            <a:r>
              <a:rPr lang="en-US" altLang="zh-CN" sz="2400" dirty="0"/>
              <a:t>When a thread calls notify(), the following occurs</a:t>
            </a:r>
            <a:r>
              <a:rPr lang="zh-CN" altLang="zh-CN" sz="2400" dirty="0"/>
              <a:t>:</a:t>
            </a:r>
          </a:p>
          <a:p>
            <a:pPr eaLnBrk="1" hangingPunct="1">
              <a:buNone/>
            </a:pPr>
            <a:r>
              <a:rPr lang="zh-CN" altLang="zh-CN" sz="2400" dirty="0"/>
              <a:t>	- </a:t>
            </a:r>
            <a:r>
              <a:rPr lang="en-US" altLang="zh-CN" sz="2400" dirty="0"/>
              <a:t>selects an </a:t>
            </a:r>
            <a:r>
              <a:rPr lang="en-US" altLang="zh-CN" sz="2400" dirty="0">
                <a:solidFill>
                  <a:srgbClr val="FF3300"/>
                </a:solidFill>
              </a:rPr>
              <a:t>arbitrary</a:t>
            </a:r>
            <a:r>
              <a:rPr lang="en-US" altLang="zh-CN" sz="2400" dirty="0"/>
              <a:t> thread T from the wait set</a:t>
            </a:r>
            <a:r>
              <a:rPr lang="zh-CN" altLang="en-US" sz="2400" dirty="0"/>
              <a:t>（在等待集选择随便一个线程</a:t>
            </a:r>
            <a:r>
              <a:rPr lang="en-US" altLang="zh-CN" sz="2400" dirty="0"/>
              <a:t>T</a:t>
            </a:r>
            <a:r>
              <a:rPr lang="zh-CN" altLang="en-US" sz="2400" dirty="0"/>
              <a:t>）</a:t>
            </a:r>
            <a:endParaRPr lang="en-US" altLang="zh-CN" sz="2400" dirty="0"/>
          </a:p>
          <a:p>
            <a:pPr eaLnBrk="1" hangingPunct="1">
              <a:buNone/>
            </a:pPr>
            <a:r>
              <a:rPr lang="en-US" altLang="zh-CN" sz="2400" dirty="0"/>
              <a:t>	- moves T to the entry set</a:t>
            </a:r>
            <a:r>
              <a:rPr lang="zh-CN" altLang="zh-CN" sz="2400" dirty="0"/>
              <a:t>.</a:t>
            </a:r>
            <a:r>
              <a:rPr lang="zh-CN" altLang="en-US" sz="2400" dirty="0"/>
              <a:t>（将它挪入进入集）</a:t>
            </a:r>
            <a:endParaRPr lang="zh-CN" altLang="zh-CN" sz="2400" dirty="0"/>
          </a:p>
          <a:p>
            <a:pPr eaLnBrk="1" hangingPunct="1">
              <a:buNone/>
            </a:pPr>
            <a:r>
              <a:rPr lang="zh-CN" altLang="zh-CN" sz="2400" dirty="0"/>
              <a:t>	- </a:t>
            </a:r>
            <a:r>
              <a:rPr lang="en-US" altLang="zh-CN" sz="2400" dirty="0"/>
              <a:t>sets T to Runnable</a:t>
            </a:r>
            <a:r>
              <a:rPr lang="zh-CN" altLang="zh-CN" sz="2400" dirty="0"/>
              <a:t>.</a:t>
            </a:r>
            <a:r>
              <a:rPr lang="zh-CN" altLang="en-US" sz="2400" dirty="0"/>
              <a:t>（将它设为就绪）</a:t>
            </a:r>
            <a:endParaRPr lang="zh-CN" altLang="zh-CN" sz="2400" dirty="0"/>
          </a:p>
          <a:p>
            <a:pPr eaLnBrk="1" hangingPunct="1"/>
            <a:r>
              <a:rPr lang="en-US" altLang="zh-CN" sz="2400" dirty="0"/>
              <a:t>T can now compete for the object</a:t>
            </a:r>
            <a:r>
              <a:rPr lang="en-US" altLang="zh-CN" sz="2400" dirty="0">
                <a:latin typeface="Arial" panose="020B0604020202020204" pitchFamily="34" charset="0"/>
              </a:rPr>
              <a:t>’</a:t>
            </a:r>
            <a:r>
              <a:rPr lang="en-US" altLang="zh-CN" sz="2400" dirty="0"/>
              <a:t>s lock again</a:t>
            </a:r>
            <a:r>
              <a:rPr lang="zh-CN" altLang="en-US" sz="2400" dirty="0"/>
              <a:t>（该线程能够继续竞争锁）</a:t>
            </a:r>
            <a:endParaRPr lang="zh-CN" altLang="zh-CN" sz="2400" dirty="0"/>
          </a:p>
        </p:txBody>
      </p:sp>
    </p:spTree>
  </p:cSld>
  <p:clrMapOvr>
    <a:masterClrMapping/>
  </p:clrMapOvr>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Rectangle 2"/>
          <p:cNvSpPr>
            <a:spLocks noGrp="1"/>
          </p:cNvSpPr>
          <p:nvPr>
            <p:ph type="title" idx="4294967295"/>
          </p:nvPr>
        </p:nvSpPr>
        <p:spPr>
          <a:xfrm>
            <a:off x="457200" y="277813"/>
            <a:ext cx="8229600" cy="366712"/>
          </a:xfrm>
          <a:ln/>
        </p:spPr>
        <p:txBody>
          <a:bodyPr vert="horz" wrap="square" lIns="91440" tIns="45720" rIns="91440" bIns="45720" anchor="b" anchorCtr="0"/>
          <a:lstStyle/>
          <a:p>
            <a:pPr eaLnBrk="1" hangingPunct="1"/>
            <a:r>
              <a:rPr lang="en-US" altLang="zh-CN" dirty="0"/>
              <a:t>Multiple Notifications</a:t>
            </a:r>
            <a:endParaRPr lang="zh-CN" altLang="en-US" dirty="0"/>
          </a:p>
        </p:txBody>
      </p:sp>
      <p:sp>
        <p:nvSpPr>
          <p:cNvPr id="211970" name="Rectangle 3"/>
          <p:cNvSpPr>
            <a:spLocks noGrp="1"/>
          </p:cNvSpPr>
          <p:nvPr>
            <p:ph type="body" idx="4294967295"/>
          </p:nvPr>
        </p:nvSpPr>
        <p:spPr>
          <a:xfrm>
            <a:off x="330200" y="939800"/>
            <a:ext cx="8202613" cy="4972050"/>
          </a:xfrm>
          <a:ln/>
        </p:spPr>
        <p:txBody>
          <a:bodyPr vert="horz" wrap="square" lIns="91440" tIns="45720" rIns="91440" bIns="45720" anchor="t" anchorCtr="0"/>
          <a:lstStyle/>
          <a:p>
            <a:pPr eaLnBrk="1" hangingPunct="1"/>
            <a:r>
              <a:rPr lang="en-US" altLang="zh-CN" sz="2400" dirty="0">
                <a:solidFill>
                  <a:srgbClr val="FF3300"/>
                </a:solidFill>
              </a:rPr>
              <a:t>notify()</a:t>
            </a:r>
            <a:r>
              <a:rPr lang="en-US" altLang="zh-CN" sz="2400" dirty="0">
                <a:solidFill>
                  <a:schemeClr val="tx2"/>
                </a:solidFill>
              </a:rPr>
              <a:t> </a:t>
            </a:r>
            <a:r>
              <a:rPr lang="en-US" altLang="zh-CN" sz="2400" dirty="0"/>
              <a:t>selects an </a:t>
            </a:r>
            <a:r>
              <a:rPr lang="en-US" altLang="zh-CN" sz="2400" dirty="0">
                <a:solidFill>
                  <a:srgbClr val="FF3300"/>
                </a:solidFill>
              </a:rPr>
              <a:t>arbitrary</a:t>
            </a:r>
            <a:r>
              <a:rPr lang="en-US" altLang="zh-CN" sz="2400" dirty="0"/>
              <a:t> thread T from the wait set</a:t>
            </a:r>
          </a:p>
          <a:p>
            <a:pPr eaLnBrk="1" hangingPunct="1"/>
            <a:r>
              <a:rPr lang="en-US" altLang="zh-CN" sz="2400" dirty="0"/>
              <a:t>If there are multiple threads in wait set and more than one condition for which to wait, it is possible to have another deadlock.</a:t>
            </a:r>
            <a:r>
              <a:rPr lang="zh-CN" altLang="en-US" sz="2400" dirty="0"/>
              <a:t>（如果等待集中有多个线程，并且需要等待的条件不止一个，则可能再次发生死锁）</a:t>
            </a:r>
          </a:p>
          <a:p>
            <a:pPr eaLnBrk="1" hangingPunct="1"/>
            <a:r>
              <a:rPr lang="zh-CN" altLang="en-US" sz="2400" dirty="0"/>
              <a:t>例：有5个线程</a:t>
            </a:r>
            <a:r>
              <a:rPr lang="en-US" altLang="zh-CN" sz="2400" dirty="0"/>
              <a:t>T1，T2，T3，T4，T5，</a:t>
            </a:r>
            <a:r>
              <a:rPr lang="zh-CN" altLang="en-US" sz="2400" dirty="0"/>
              <a:t>一个共享变量</a:t>
            </a:r>
            <a:r>
              <a:rPr lang="en-US" altLang="zh-CN" sz="2400" dirty="0"/>
              <a:t>turn，5</a:t>
            </a:r>
            <a:r>
              <a:rPr lang="zh-CN" altLang="en-US" sz="2400" dirty="0"/>
              <a:t>个线程都需要调用</a:t>
            </a:r>
            <a:r>
              <a:rPr lang="en-US" altLang="zh-CN" sz="2400" dirty="0"/>
              <a:t>dowork()</a:t>
            </a:r>
            <a:r>
              <a:rPr lang="zh-CN" altLang="en-US" sz="2400" dirty="0"/>
              <a:t>方法，规定只有编号与</a:t>
            </a:r>
            <a:r>
              <a:rPr lang="en-US" altLang="zh-CN" sz="2400" dirty="0"/>
              <a:t>turn</a:t>
            </a:r>
            <a:r>
              <a:rPr lang="zh-CN" altLang="en-US" sz="2400" dirty="0"/>
              <a:t>相同的线程才能进入</a:t>
            </a:r>
            <a:r>
              <a:rPr lang="en-US" altLang="zh-CN" sz="2400" dirty="0"/>
              <a:t>dowork()。</a:t>
            </a:r>
            <a:r>
              <a:rPr lang="zh-CN" altLang="en-US" sz="2400" dirty="0"/>
              <a:t>假定</a:t>
            </a:r>
            <a:r>
              <a:rPr lang="en-US" altLang="zh-CN" sz="2400" dirty="0"/>
              <a:t>turn=3， T1，T2，T4</a:t>
            </a:r>
            <a:r>
              <a:rPr lang="zh-CN" altLang="en-US" sz="2400" dirty="0"/>
              <a:t>在等待集中， </a:t>
            </a:r>
            <a:r>
              <a:rPr lang="en-US" altLang="zh-CN" sz="2400" dirty="0"/>
              <a:t>T3</a:t>
            </a:r>
            <a:r>
              <a:rPr lang="zh-CN" altLang="en-US" sz="2400" dirty="0"/>
              <a:t>在调用</a:t>
            </a:r>
            <a:r>
              <a:rPr lang="en-US" altLang="zh-CN" sz="2400" dirty="0"/>
              <a:t>dowork()。</a:t>
            </a:r>
            <a:r>
              <a:rPr lang="zh-CN" altLang="en-US" sz="2400" dirty="0"/>
              <a:t>当</a:t>
            </a:r>
            <a:r>
              <a:rPr lang="en-US" altLang="zh-CN" sz="2400" dirty="0"/>
              <a:t>T3</a:t>
            </a:r>
            <a:r>
              <a:rPr lang="zh-CN" altLang="en-US" sz="2400" dirty="0"/>
              <a:t>完成了它的工作，它把</a:t>
            </a:r>
            <a:r>
              <a:rPr lang="en-US" altLang="zh-CN" sz="2400" dirty="0"/>
              <a:t>turn</a:t>
            </a:r>
            <a:r>
              <a:rPr lang="zh-CN" altLang="en-US" sz="2400" dirty="0"/>
              <a:t>设为4，并调用</a:t>
            </a:r>
            <a:r>
              <a:rPr lang="en-US" altLang="zh-CN" sz="2400" dirty="0"/>
              <a:t>notify()。 notify()</a:t>
            </a:r>
            <a:r>
              <a:rPr lang="zh-CN" altLang="en-US" sz="2400" dirty="0"/>
              <a:t>从等待集中任意选取一个线程，假设选中了</a:t>
            </a:r>
            <a:r>
              <a:rPr lang="en-US" altLang="zh-CN" sz="2400" dirty="0"/>
              <a:t>T2，</a:t>
            </a:r>
            <a:r>
              <a:rPr lang="zh-CN" altLang="en-US" sz="2400" dirty="0"/>
              <a:t>但当</a:t>
            </a:r>
            <a:r>
              <a:rPr lang="en-US" altLang="zh-CN" sz="2400" dirty="0"/>
              <a:t>T2</a:t>
            </a:r>
            <a:r>
              <a:rPr lang="zh-CN" altLang="en-US" sz="2400" dirty="0"/>
              <a:t>恢复运行后检查条件时，发现</a:t>
            </a:r>
            <a:r>
              <a:rPr lang="en-US" altLang="zh-CN" sz="2400" dirty="0"/>
              <a:t>turn</a:t>
            </a:r>
            <a:r>
              <a:rPr lang="zh-CN" altLang="en-US" sz="2400" dirty="0"/>
              <a:t>并不是它的值，于是</a:t>
            </a:r>
            <a:r>
              <a:rPr lang="en-US" altLang="zh-CN" sz="2400" dirty="0"/>
              <a:t>T2</a:t>
            </a:r>
            <a:r>
              <a:rPr lang="zh-CN" altLang="en-US" sz="2400" dirty="0"/>
              <a:t>再次调用</a:t>
            </a:r>
            <a:r>
              <a:rPr lang="en-US" altLang="zh-CN" sz="2400" dirty="0"/>
              <a:t>wait(),</a:t>
            </a:r>
            <a:r>
              <a:rPr lang="zh-CN" altLang="en-US" sz="2400" dirty="0"/>
              <a:t>进入等待集。接下来，如果</a:t>
            </a:r>
            <a:r>
              <a:rPr lang="en-US" altLang="zh-CN" sz="2400" dirty="0"/>
              <a:t>T3，T5</a:t>
            </a:r>
            <a:r>
              <a:rPr lang="zh-CN" altLang="en-US" sz="2400" dirty="0"/>
              <a:t>调用</a:t>
            </a:r>
            <a:r>
              <a:rPr lang="en-US" altLang="zh-CN" sz="2400" dirty="0"/>
              <a:t>dowork()，</a:t>
            </a:r>
            <a:r>
              <a:rPr lang="zh-CN" altLang="en-US" sz="2400" dirty="0"/>
              <a:t>也会进入等待集。这样，5个线程都进入了等待集，形成了死锁。</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197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197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Rectangle 2"/>
          <p:cNvSpPr>
            <a:spLocks noGrp="1"/>
          </p:cNvSpPr>
          <p:nvPr>
            <p:ph type="title" idx="4294967295"/>
          </p:nvPr>
        </p:nvSpPr>
        <p:spPr>
          <a:xfrm>
            <a:off x="485775" y="546100"/>
            <a:ext cx="8229600" cy="361950"/>
          </a:xfrm>
          <a:ln/>
        </p:spPr>
        <p:txBody>
          <a:bodyPr vert="horz" wrap="square" lIns="91440" tIns="45720" rIns="91440" bIns="45720" anchor="b" anchorCtr="0"/>
          <a:lstStyle/>
          <a:p>
            <a:pPr eaLnBrk="1" hangingPunct="1"/>
            <a:r>
              <a:rPr lang="en-US" altLang="zh-CN" dirty="0"/>
              <a:t>Multiple Notifications</a:t>
            </a:r>
          </a:p>
        </p:txBody>
      </p:sp>
      <p:sp>
        <p:nvSpPr>
          <p:cNvPr id="214018" name="Rectangle 3"/>
          <p:cNvSpPr>
            <a:spLocks noGrp="1"/>
          </p:cNvSpPr>
          <p:nvPr>
            <p:ph type="body" idx="4294967295"/>
          </p:nvPr>
        </p:nvSpPr>
        <p:spPr>
          <a:xfrm>
            <a:off x="882650" y="1265238"/>
            <a:ext cx="7634288" cy="5186362"/>
          </a:xfrm>
          <a:ln/>
        </p:spPr>
        <p:txBody>
          <a:bodyPr vert="horz" wrap="square" lIns="91440" tIns="45720" rIns="91440" bIns="45720" anchor="t" anchorCtr="0"/>
          <a:lstStyle/>
          <a:p>
            <a:pPr eaLnBrk="1" hangingPunct="1"/>
            <a:r>
              <a:rPr lang="en-US" altLang="zh-CN" sz="2400" dirty="0"/>
              <a:t>notify() selects an arbitrary thread from the wait set. This may not be the thread that you want to be selected.</a:t>
            </a:r>
            <a:r>
              <a:rPr lang="zh-CN" altLang="en-US" sz="2400" dirty="0"/>
              <a:t>（可能没选择合适的</a:t>
            </a:r>
            <a:r>
              <a:rPr lang="en-US" altLang="zh-CN" sz="2400" dirty="0"/>
              <a:t>thread</a:t>
            </a:r>
            <a:r>
              <a:rPr lang="zh-CN" altLang="en-US" sz="2400" dirty="0"/>
              <a:t>）</a:t>
            </a:r>
            <a:endParaRPr lang="zh-CN" altLang="zh-CN" sz="2400" dirty="0"/>
          </a:p>
          <a:p>
            <a:pPr eaLnBrk="1" hangingPunct="1"/>
            <a:r>
              <a:rPr lang="en-US" altLang="zh-CN" sz="2400" dirty="0">
                <a:solidFill>
                  <a:srgbClr val="FF3300"/>
                </a:solidFill>
              </a:rPr>
              <a:t>notifyAll()</a:t>
            </a:r>
            <a:r>
              <a:rPr lang="en-US" altLang="zh-CN" sz="2400" dirty="0"/>
              <a:t> removes ALL threads from the wait set and places them in the entry set. This allows the threads to decide among themselves who should proceed next.</a:t>
            </a:r>
            <a:r>
              <a:rPr lang="zh-CN" altLang="en-US" sz="2400" dirty="0"/>
              <a:t>（把所有等待集中的线程放入进入集）</a:t>
            </a:r>
            <a:endParaRPr lang="zh-CN" altLang="zh-CN"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401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5" name="Rectangle 2"/>
          <p:cNvSpPr>
            <a:spLocks noGrp="1"/>
          </p:cNvSpPr>
          <p:nvPr>
            <p:ph type="title" idx="4294967295"/>
          </p:nvPr>
        </p:nvSpPr>
        <p:spPr>
          <a:xfrm>
            <a:off x="868363" y="590550"/>
            <a:ext cx="7529512" cy="198438"/>
          </a:xfrm>
          <a:ln/>
        </p:spPr>
        <p:txBody>
          <a:bodyPr vert="horz" wrap="square" lIns="91440" tIns="45720" rIns="91440" bIns="45720" anchor="b" anchorCtr="0"/>
          <a:lstStyle/>
          <a:p>
            <a:pPr eaLnBrk="1" hangingPunct="1"/>
            <a:r>
              <a:rPr lang="en-US" altLang="zh-CN" dirty="0"/>
              <a:t>The Readers-Writers Problem</a:t>
            </a:r>
          </a:p>
        </p:txBody>
      </p:sp>
      <p:sp>
        <p:nvSpPr>
          <p:cNvPr id="216066" name="Rectangle 3"/>
          <p:cNvSpPr>
            <a:spLocks noGrp="1"/>
          </p:cNvSpPr>
          <p:nvPr>
            <p:ph type="body" idx="4294967295"/>
          </p:nvPr>
        </p:nvSpPr>
        <p:spPr>
          <a:xfrm>
            <a:off x="307975" y="1614488"/>
            <a:ext cx="8836025" cy="4708525"/>
          </a:xfrm>
          <a:ln/>
        </p:spPr>
        <p:txBody>
          <a:bodyPr vert="horz" wrap="square" lIns="91440" tIns="45720" rIns="91440" bIns="45720" anchor="t" anchorCtr="0"/>
          <a:lstStyle/>
          <a:p>
            <a:pPr eaLnBrk="1" hangingPunct="1"/>
            <a:r>
              <a:rPr lang="en-US" altLang="zh-CN" sz="2400" dirty="0"/>
              <a:t>JAVA solution to reader-writer problem</a:t>
            </a:r>
            <a:r>
              <a:rPr lang="zh-CN" altLang="en-US" sz="2400" dirty="0"/>
              <a:t>：</a:t>
            </a:r>
          </a:p>
          <a:p>
            <a:pPr lvl="1" eaLnBrk="1" hangingPunct="1"/>
            <a:r>
              <a:rPr lang="en-US" altLang="zh-CN" sz="2400" dirty="0"/>
              <a:t>readerCount： number of readers </a:t>
            </a:r>
          </a:p>
          <a:p>
            <a:pPr lvl="1" eaLnBrk="1" hangingPunct="1"/>
            <a:r>
              <a:rPr lang="en-US" altLang="zh-CN" sz="2400" dirty="0"/>
              <a:t>dbReading： is set to true if the database is currently being read</a:t>
            </a:r>
          </a:p>
          <a:p>
            <a:pPr lvl="1" eaLnBrk="1" hangingPunct="1"/>
            <a:r>
              <a:rPr lang="en-US" altLang="zh-CN" sz="2400" dirty="0"/>
              <a:t>dbWriting： is set to true if the database is currently being written </a:t>
            </a:r>
          </a:p>
          <a:p>
            <a:pPr lvl="1" eaLnBrk="1" hangingPunct="1"/>
            <a:r>
              <a:rPr lang="en-US" altLang="zh-CN" sz="2400" dirty="0"/>
              <a:t>startRead()、endRead ()、startWrite ()、endWritet (): are all declared as </a:t>
            </a:r>
            <a:r>
              <a:rPr lang="en-US" altLang="zh-CN" sz="2400" dirty="0">
                <a:solidFill>
                  <a:srgbClr val="FF3300"/>
                </a:solidFill>
              </a:rPr>
              <a:t>synchronized</a:t>
            </a:r>
            <a:r>
              <a:rPr lang="en-US" altLang="zh-CN" sz="2400" dirty="0"/>
              <a:t> to ensure mutual exclusion for the shared variables.</a:t>
            </a:r>
            <a:endParaRPr lang="zh-CN" altLang="en-US" sz="2400" dirty="0"/>
          </a:p>
        </p:txBody>
      </p:sp>
    </p:spTree>
  </p:cSld>
  <p:clrMapOvr>
    <a:masterClrMapping/>
  </p:clrMapOvr>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89" name="Rectangle 2"/>
          <p:cNvSpPr>
            <a:spLocks noGrp="1"/>
          </p:cNvSpPr>
          <p:nvPr>
            <p:ph type="title" idx="4294967295"/>
          </p:nvPr>
        </p:nvSpPr>
        <p:spPr>
          <a:xfrm>
            <a:off x="849313" y="420688"/>
            <a:ext cx="7569200" cy="390525"/>
          </a:xfrm>
          <a:ln/>
        </p:spPr>
        <p:txBody>
          <a:bodyPr vert="horz" wrap="square" lIns="91440" tIns="45720" rIns="91440" bIns="45720" anchor="b" anchorCtr="0"/>
          <a:lstStyle/>
          <a:p>
            <a:pPr eaLnBrk="1" hangingPunct="1"/>
            <a:r>
              <a:rPr lang="en-US" altLang="zh-CN" sz="2400" dirty="0"/>
              <a:t>Reader Methods with Java Synchronization</a:t>
            </a:r>
          </a:p>
        </p:txBody>
      </p:sp>
      <p:sp>
        <p:nvSpPr>
          <p:cNvPr id="217090" name="Rectangle 3"/>
          <p:cNvSpPr>
            <a:spLocks noGrp="1"/>
          </p:cNvSpPr>
          <p:nvPr>
            <p:ph type="body" idx="4294967295"/>
          </p:nvPr>
        </p:nvSpPr>
        <p:spPr>
          <a:xfrm>
            <a:off x="385763" y="798513"/>
            <a:ext cx="8161337" cy="4870450"/>
          </a:xfrm>
          <a:ln/>
        </p:spPr>
        <p:txBody>
          <a:bodyPr vert="horz" wrap="square" lIns="91440" tIns="45720" rIns="91440" bIns="45720" anchor="t" anchorCtr="0"/>
          <a:lstStyle/>
          <a:p>
            <a:pPr eaLnBrk="1" hangingPunct="1">
              <a:lnSpc>
                <a:spcPct val="90000"/>
              </a:lnSpc>
              <a:buNone/>
            </a:pPr>
            <a:r>
              <a:rPr lang="en-US" altLang="zh-CN" sz="2000" dirty="0"/>
              <a:t>public class Database {</a:t>
            </a:r>
          </a:p>
          <a:p>
            <a:pPr eaLnBrk="1" hangingPunct="1">
              <a:lnSpc>
                <a:spcPct val="90000"/>
              </a:lnSpc>
              <a:spcBef>
                <a:spcPct val="15000"/>
              </a:spcBef>
              <a:buNone/>
            </a:pPr>
            <a:r>
              <a:rPr lang="en-US" altLang="zh-CN" sz="2000" dirty="0"/>
              <a:t>   public Database() {</a:t>
            </a:r>
          </a:p>
          <a:p>
            <a:pPr eaLnBrk="1" hangingPunct="1">
              <a:lnSpc>
                <a:spcPct val="90000"/>
              </a:lnSpc>
              <a:spcBef>
                <a:spcPct val="15000"/>
              </a:spcBef>
              <a:buNone/>
            </a:pPr>
            <a:r>
              <a:rPr lang="en-US" altLang="zh-CN" sz="2000" dirty="0"/>
              <a:t>      readerCount = 0;      </a:t>
            </a:r>
          </a:p>
          <a:p>
            <a:pPr eaLnBrk="1" hangingPunct="1">
              <a:lnSpc>
                <a:spcPct val="90000"/>
              </a:lnSpc>
              <a:spcBef>
                <a:spcPct val="15000"/>
              </a:spcBef>
              <a:buNone/>
            </a:pPr>
            <a:r>
              <a:rPr lang="en-US" altLang="zh-CN" sz="2000" dirty="0"/>
              <a:t>      dbReading = false;</a:t>
            </a:r>
          </a:p>
          <a:p>
            <a:pPr eaLnBrk="1" hangingPunct="1">
              <a:lnSpc>
                <a:spcPct val="90000"/>
              </a:lnSpc>
              <a:spcBef>
                <a:spcPct val="15000"/>
              </a:spcBef>
              <a:buNone/>
            </a:pPr>
            <a:r>
              <a:rPr lang="en-US" altLang="zh-CN" sz="2000" dirty="0"/>
              <a:t>      dbWriting = false;</a:t>
            </a:r>
          </a:p>
          <a:p>
            <a:pPr eaLnBrk="1" hangingPunct="1">
              <a:lnSpc>
                <a:spcPct val="90000"/>
              </a:lnSpc>
              <a:spcBef>
                <a:spcPct val="15000"/>
              </a:spcBef>
              <a:buNone/>
            </a:pPr>
            <a:r>
              <a:rPr lang="en-US" altLang="zh-CN" sz="2000" dirty="0"/>
              <a:t>   }</a:t>
            </a:r>
          </a:p>
          <a:p>
            <a:pPr eaLnBrk="1" hangingPunct="1">
              <a:lnSpc>
                <a:spcPct val="90000"/>
              </a:lnSpc>
              <a:spcBef>
                <a:spcPct val="15000"/>
              </a:spcBef>
              <a:buNone/>
            </a:pPr>
            <a:r>
              <a:rPr lang="en-US" altLang="zh-CN" sz="2000" dirty="0"/>
              <a:t>	public </a:t>
            </a:r>
            <a:r>
              <a:rPr lang="en-US" altLang="zh-CN" sz="2000" dirty="0">
                <a:solidFill>
                  <a:srgbClr val="FF3300"/>
                </a:solidFill>
              </a:rPr>
              <a:t>synchronized</a:t>
            </a:r>
            <a:r>
              <a:rPr lang="en-US" altLang="zh-CN" sz="2000" dirty="0">
                <a:solidFill>
                  <a:schemeClr val="tx2"/>
                </a:solidFill>
              </a:rPr>
              <a:t> </a:t>
            </a:r>
            <a:r>
              <a:rPr lang="en-US" altLang="zh-CN" sz="2000" dirty="0"/>
              <a:t>int startRead() { /* see next slides */ }</a:t>
            </a:r>
          </a:p>
          <a:p>
            <a:pPr eaLnBrk="1" hangingPunct="1">
              <a:lnSpc>
                <a:spcPct val="90000"/>
              </a:lnSpc>
              <a:spcBef>
                <a:spcPct val="15000"/>
              </a:spcBef>
              <a:buNone/>
            </a:pPr>
            <a:r>
              <a:rPr lang="en-US" altLang="zh-CN" sz="2000" dirty="0"/>
              <a:t>	public </a:t>
            </a:r>
            <a:r>
              <a:rPr lang="en-US" altLang="zh-CN" sz="2000" dirty="0">
                <a:solidFill>
                  <a:srgbClr val="FF3300"/>
                </a:solidFill>
              </a:rPr>
              <a:t>synchronized </a:t>
            </a:r>
            <a:r>
              <a:rPr lang="en-US" altLang="zh-CN" sz="2000" dirty="0"/>
              <a:t>int endRead()  { /* see next slides */ }</a:t>
            </a:r>
          </a:p>
          <a:p>
            <a:pPr eaLnBrk="1" hangingPunct="1">
              <a:lnSpc>
                <a:spcPct val="90000"/>
              </a:lnSpc>
              <a:spcBef>
                <a:spcPct val="15000"/>
              </a:spcBef>
              <a:buNone/>
            </a:pPr>
            <a:r>
              <a:rPr lang="zh-CN" altLang="en-US" sz="2000" dirty="0"/>
              <a:t>	</a:t>
            </a:r>
            <a:r>
              <a:rPr lang="en-US" altLang="zh-CN" sz="2000" dirty="0"/>
              <a:t>public</a:t>
            </a:r>
            <a:r>
              <a:rPr lang="en-US" altLang="zh-CN" sz="2000" dirty="0">
                <a:solidFill>
                  <a:srgbClr val="FF3300"/>
                </a:solidFill>
              </a:rPr>
              <a:t> synchronized </a:t>
            </a:r>
            <a:r>
              <a:rPr lang="en-US" altLang="zh-CN" sz="2000" dirty="0"/>
              <a:t>void startWrite() { /* see next slides */ }</a:t>
            </a:r>
          </a:p>
          <a:p>
            <a:pPr eaLnBrk="1" hangingPunct="1">
              <a:lnSpc>
                <a:spcPct val="90000"/>
              </a:lnSpc>
              <a:spcBef>
                <a:spcPct val="15000"/>
              </a:spcBef>
              <a:buNone/>
            </a:pPr>
            <a:r>
              <a:rPr lang="en-US" altLang="zh-CN" sz="2000" dirty="0"/>
              <a:t>   	public </a:t>
            </a:r>
            <a:r>
              <a:rPr lang="en-US" altLang="zh-CN" sz="2000" dirty="0">
                <a:solidFill>
                  <a:srgbClr val="FF3300"/>
                </a:solidFill>
              </a:rPr>
              <a:t>synchronized </a:t>
            </a:r>
            <a:r>
              <a:rPr lang="en-US" altLang="zh-CN" sz="2000" dirty="0"/>
              <a:t>void endWrite()  { /* see next slides */ }</a:t>
            </a:r>
          </a:p>
          <a:p>
            <a:pPr eaLnBrk="1" hangingPunct="1">
              <a:lnSpc>
                <a:spcPct val="90000"/>
              </a:lnSpc>
              <a:spcBef>
                <a:spcPct val="15000"/>
              </a:spcBef>
              <a:buNone/>
            </a:pPr>
            <a:endParaRPr lang="en-US" altLang="zh-CN" sz="2000" dirty="0"/>
          </a:p>
          <a:p>
            <a:pPr eaLnBrk="1" hangingPunct="1">
              <a:lnSpc>
                <a:spcPct val="90000"/>
              </a:lnSpc>
              <a:spcBef>
                <a:spcPct val="15000"/>
              </a:spcBef>
              <a:buNone/>
            </a:pPr>
            <a:r>
              <a:rPr lang="en-US" altLang="zh-CN" sz="2000" dirty="0"/>
              <a:t>   	private int readerCount; </a:t>
            </a:r>
          </a:p>
          <a:p>
            <a:pPr eaLnBrk="1" hangingPunct="1">
              <a:lnSpc>
                <a:spcPct val="90000"/>
              </a:lnSpc>
              <a:spcBef>
                <a:spcPct val="15000"/>
              </a:spcBef>
              <a:buNone/>
            </a:pPr>
            <a:r>
              <a:rPr lang="en-US" altLang="zh-CN" sz="2000" dirty="0"/>
              <a:t>   	private boolean dbReading;</a:t>
            </a:r>
          </a:p>
          <a:p>
            <a:pPr eaLnBrk="1" hangingPunct="1">
              <a:lnSpc>
                <a:spcPct val="90000"/>
              </a:lnSpc>
              <a:spcBef>
                <a:spcPct val="15000"/>
              </a:spcBef>
              <a:buNone/>
            </a:pPr>
            <a:r>
              <a:rPr lang="en-US" altLang="zh-CN" sz="2000" dirty="0"/>
              <a:t>   	private boolean dbWriting;</a:t>
            </a:r>
          </a:p>
          <a:p>
            <a:pPr eaLnBrk="1" hangingPunct="1">
              <a:lnSpc>
                <a:spcPct val="90000"/>
              </a:lnSpc>
              <a:spcBef>
                <a:spcPct val="15000"/>
              </a:spcBef>
              <a:buNone/>
            </a:pPr>
            <a:r>
              <a:rPr lang="en-US" altLang="zh-CN" sz="2000" b="1" dirty="0"/>
              <a:t>}    </a:t>
            </a:r>
          </a:p>
          <a:p>
            <a:pPr eaLnBrk="1" hangingPunct="1">
              <a:lnSpc>
                <a:spcPct val="90000"/>
              </a:lnSpc>
              <a:buNone/>
            </a:pPr>
            <a:endParaRPr lang="zh-CN" altLang="en-US" sz="2000" b="1" dirty="0"/>
          </a:p>
        </p:txBody>
      </p:sp>
    </p:spTree>
  </p:cSld>
  <p:clrMapOvr>
    <a:masterClrMapping/>
  </p:clrMapOvr>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1" name="Rectangle 2"/>
          <p:cNvSpPr>
            <a:spLocks noGrp="1"/>
          </p:cNvSpPr>
          <p:nvPr>
            <p:ph type="title" idx="4294967295"/>
          </p:nvPr>
        </p:nvSpPr>
        <p:spPr>
          <a:xfrm>
            <a:off x="457200" y="277813"/>
            <a:ext cx="8229600" cy="439737"/>
          </a:xfrm>
          <a:ln/>
        </p:spPr>
        <p:txBody>
          <a:bodyPr vert="horz" wrap="square" lIns="91440" tIns="45720" rIns="91440" bIns="45720" anchor="b" anchorCtr="0"/>
          <a:lstStyle/>
          <a:p>
            <a:pPr eaLnBrk="1" hangingPunct="1"/>
            <a:r>
              <a:rPr lang="en-US" altLang="zh-CN" dirty="0"/>
              <a:t>Writer Methods</a:t>
            </a:r>
          </a:p>
        </p:txBody>
      </p:sp>
      <p:sp>
        <p:nvSpPr>
          <p:cNvPr id="220162" name="Rectangle 3"/>
          <p:cNvSpPr>
            <a:spLocks noGrp="1"/>
          </p:cNvSpPr>
          <p:nvPr>
            <p:ph type="body" idx="4294967295"/>
          </p:nvPr>
        </p:nvSpPr>
        <p:spPr>
          <a:xfrm>
            <a:off x="698500" y="1147763"/>
            <a:ext cx="7742238" cy="5129212"/>
          </a:xfrm>
          <a:ln/>
        </p:spPr>
        <p:txBody>
          <a:bodyPr vert="horz" wrap="square" lIns="91440" tIns="45720" rIns="91440" bIns="45720" anchor="t" anchorCtr="0"/>
          <a:lstStyle/>
          <a:p>
            <a:pPr eaLnBrk="1" hangingPunct="1">
              <a:lnSpc>
                <a:spcPct val="90000"/>
              </a:lnSpc>
              <a:buNone/>
            </a:pPr>
            <a:r>
              <a:rPr lang="en-US" altLang="zh-CN" sz="2000" dirty="0"/>
              <a:t>public void </a:t>
            </a:r>
            <a:r>
              <a:rPr lang="en-US" altLang="zh-CN" sz="2000" dirty="0">
                <a:solidFill>
                  <a:srgbClr val="FF0000"/>
                </a:solidFill>
              </a:rPr>
              <a:t>synchronized </a:t>
            </a:r>
            <a:r>
              <a:rPr lang="en-US" altLang="zh-CN" sz="2000" dirty="0"/>
              <a:t>startWrite() {</a:t>
            </a:r>
          </a:p>
          <a:p>
            <a:pPr eaLnBrk="1" hangingPunct="1">
              <a:lnSpc>
                <a:spcPct val="90000"/>
              </a:lnSpc>
              <a:buNone/>
            </a:pPr>
            <a:r>
              <a:rPr lang="en-US" altLang="zh-CN" sz="2000" dirty="0"/>
              <a:t>      while (dbReading == true || dbWriting == true)</a:t>
            </a:r>
          </a:p>
          <a:p>
            <a:pPr eaLnBrk="1" hangingPunct="1">
              <a:lnSpc>
                <a:spcPct val="90000"/>
              </a:lnSpc>
              <a:buNone/>
            </a:pPr>
            <a:r>
              <a:rPr lang="en-US" altLang="zh-CN" sz="2000" dirty="0"/>
              <a:t>		try {</a:t>
            </a:r>
          </a:p>
          <a:p>
            <a:pPr eaLnBrk="1" hangingPunct="1">
              <a:lnSpc>
                <a:spcPct val="90000"/>
              </a:lnSpc>
              <a:buNone/>
            </a:pPr>
            <a:r>
              <a:rPr lang="en-US" altLang="zh-CN" sz="2000" dirty="0"/>
              <a:t>			</a:t>
            </a:r>
            <a:r>
              <a:rPr lang="en-US" altLang="zh-CN" sz="2000" dirty="0">
                <a:solidFill>
                  <a:srgbClr val="FF0000"/>
                </a:solidFill>
              </a:rPr>
              <a:t>wait();</a:t>
            </a:r>
          </a:p>
          <a:p>
            <a:pPr eaLnBrk="1" hangingPunct="1">
              <a:lnSpc>
                <a:spcPct val="90000"/>
              </a:lnSpc>
              <a:buNone/>
            </a:pPr>
            <a:r>
              <a:rPr lang="en-US" altLang="zh-CN" sz="2000" dirty="0"/>
              <a:t>		}</a:t>
            </a:r>
          </a:p>
          <a:p>
            <a:pPr eaLnBrk="1" hangingPunct="1">
              <a:lnSpc>
                <a:spcPct val="90000"/>
              </a:lnSpc>
              <a:buNone/>
            </a:pPr>
            <a:r>
              <a:rPr lang="en-US" altLang="zh-CN" sz="2000" dirty="0"/>
              <a:t>		catch (InterruptedException e) { }</a:t>
            </a:r>
          </a:p>
          <a:p>
            <a:pPr eaLnBrk="1" hangingPunct="1">
              <a:lnSpc>
                <a:spcPct val="90000"/>
              </a:lnSpc>
              <a:buNone/>
            </a:pPr>
            <a:r>
              <a:rPr lang="en-US" altLang="zh-CN" sz="2000" dirty="0"/>
              <a:t>		dbWriting = true;</a:t>
            </a:r>
          </a:p>
          <a:p>
            <a:pPr eaLnBrk="1" hangingPunct="1">
              <a:lnSpc>
                <a:spcPct val="90000"/>
              </a:lnSpc>
              <a:buNone/>
            </a:pPr>
            <a:r>
              <a:rPr lang="en-US" altLang="zh-CN" sz="2000" dirty="0"/>
              <a:t>}</a:t>
            </a:r>
          </a:p>
          <a:p>
            <a:pPr eaLnBrk="1" hangingPunct="1">
              <a:lnSpc>
                <a:spcPct val="90000"/>
              </a:lnSpc>
              <a:buNone/>
            </a:pPr>
            <a:r>
              <a:rPr lang="en-US" altLang="zh-CN" sz="2000" dirty="0"/>
              <a:t>public void </a:t>
            </a:r>
            <a:r>
              <a:rPr lang="en-US" altLang="zh-CN" sz="2000" dirty="0">
                <a:solidFill>
                  <a:srgbClr val="FF0000"/>
                </a:solidFill>
              </a:rPr>
              <a:t>synchronized</a:t>
            </a:r>
            <a:r>
              <a:rPr lang="en-US" altLang="zh-CN" sz="2000" dirty="0"/>
              <a:t> endWrite() {</a:t>
            </a:r>
          </a:p>
          <a:p>
            <a:pPr eaLnBrk="1" hangingPunct="1">
              <a:lnSpc>
                <a:spcPct val="90000"/>
              </a:lnSpc>
              <a:buNone/>
            </a:pPr>
            <a:r>
              <a:rPr lang="en-US" altLang="zh-CN" sz="2000" dirty="0"/>
              <a:t>	dbWriting = false;</a:t>
            </a:r>
          </a:p>
          <a:p>
            <a:pPr eaLnBrk="1" hangingPunct="1">
              <a:lnSpc>
                <a:spcPct val="90000"/>
              </a:lnSpc>
              <a:buNone/>
            </a:pPr>
            <a:r>
              <a:rPr lang="en-US" altLang="zh-CN" sz="2000" dirty="0"/>
              <a:t>	</a:t>
            </a:r>
            <a:r>
              <a:rPr lang="en-US" altLang="zh-CN" sz="2000" dirty="0">
                <a:solidFill>
                  <a:srgbClr val="FF0000"/>
                </a:solidFill>
              </a:rPr>
              <a:t>notifyAll();	 </a:t>
            </a:r>
          </a:p>
          <a:p>
            <a:pPr eaLnBrk="1" hangingPunct="1">
              <a:lnSpc>
                <a:spcPct val="90000"/>
              </a:lnSpc>
              <a:buNone/>
            </a:pPr>
            <a:r>
              <a:rPr lang="en-US" altLang="zh-CN" sz="2000" dirty="0"/>
              <a:t>}</a:t>
            </a:r>
          </a:p>
          <a:p>
            <a:pPr eaLnBrk="1" hangingPunct="1">
              <a:lnSpc>
                <a:spcPct val="90000"/>
              </a:lnSpc>
              <a:buNone/>
            </a:pPr>
            <a:endParaRPr lang="zh-CN" altLang="en-US" sz="2000" dirty="0"/>
          </a:p>
        </p:txBody>
      </p:sp>
    </p:spTree>
  </p:cSld>
  <p:clrMapOvr>
    <a:masterClrMapping/>
  </p:clrMapOvr>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3" name="Rectangle 2"/>
          <p:cNvSpPr>
            <a:spLocks noGrp="1"/>
          </p:cNvSpPr>
          <p:nvPr>
            <p:ph type="title" idx="4294967295"/>
          </p:nvPr>
        </p:nvSpPr>
        <p:spPr>
          <a:xfrm>
            <a:off x="457200" y="277813"/>
            <a:ext cx="8229600" cy="439737"/>
          </a:xfrm>
          <a:ln/>
        </p:spPr>
        <p:txBody>
          <a:bodyPr vert="horz" wrap="square" lIns="91440" tIns="45720" rIns="91440" bIns="45720" anchor="b" anchorCtr="0"/>
          <a:lstStyle/>
          <a:p>
            <a:pPr eaLnBrk="1" hangingPunct="1"/>
            <a:r>
              <a:rPr lang="en-US" altLang="zh-CN" dirty="0"/>
              <a:t>startRead() Method</a:t>
            </a:r>
          </a:p>
        </p:txBody>
      </p:sp>
      <p:sp>
        <p:nvSpPr>
          <p:cNvPr id="218114" name="Rectangle 3"/>
          <p:cNvSpPr>
            <a:spLocks noGrp="1"/>
          </p:cNvSpPr>
          <p:nvPr>
            <p:ph type="body" idx="4294967295"/>
          </p:nvPr>
        </p:nvSpPr>
        <p:spPr>
          <a:xfrm>
            <a:off x="1304925" y="1435100"/>
            <a:ext cx="7016750" cy="5013325"/>
          </a:xfrm>
          <a:ln/>
        </p:spPr>
        <p:txBody>
          <a:bodyPr vert="horz" wrap="square" lIns="91440" tIns="45720" rIns="91440" bIns="45720" anchor="t" anchorCtr="0"/>
          <a:lstStyle/>
          <a:p>
            <a:pPr eaLnBrk="1" hangingPunct="1">
              <a:buNone/>
            </a:pPr>
            <a:r>
              <a:rPr lang="en-US" altLang="zh-CN" sz="2000" dirty="0"/>
              <a:t>public </a:t>
            </a:r>
            <a:r>
              <a:rPr lang="en-US" altLang="zh-CN" sz="2000" dirty="0">
                <a:solidFill>
                  <a:srgbClr val="FF0000"/>
                </a:solidFill>
              </a:rPr>
              <a:t>synchronized</a:t>
            </a:r>
            <a:r>
              <a:rPr lang="en-US" altLang="zh-CN" sz="2000" dirty="0"/>
              <a:t> int startRead() { </a:t>
            </a:r>
          </a:p>
          <a:p>
            <a:pPr eaLnBrk="1" hangingPunct="1">
              <a:buNone/>
            </a:pPr>
            <a:r>
              <a:rPr lang="en-US" altLang="zh-CN" sz="2000" dirty="0"/>
              <a:t>	while (dbWriting == true) {</a:t>
            </a:r>
          </a:p>
          <a:p>
            <a:pPr eaLnBrk="1" hangingPunct="1">
              <a:buNone/>
            </a:pPr>
            <a:r>
              <a:rPr lang="en-US" altLang="zh-CN" sz="2000" dirty="0"/>
              <a:t>		try {</a:t>
            </a:r>
          </a:p>
          <a:p>
            <a:pPr eaLnBrk="1" hangingPunct="1">
              <a:buNone/>
            </a:pPr>
            <a:r>
              <a:rPr lang="en-US" altLang="zh-CN" sz="2000" dirty="0"/>
              <a:t>			</a:t>
            </a:r>
            <a:r>
              <a:rPr lang="en-US" altLang="zh-CN" sz="2000" dirty="0">
                <a:solidFill>
                  <a:srgbClr val="FF0000"/>
                </a:solidFill>
              </a:rPr>
              <a:t>wait();</a:t>
            </a:r>
          </a:p>
          <a:p>
            <a:pPr eaLnBrk="1" hangingPunct="1">
              <a:buNone/>
            </a:pPr>
            <a:r>
              <a:rPr lang="en-US" altLang="zh-CN" sz="2000" dirty="0"/>
              <a:t>		}</a:t>
            </a:r>
          </a:p>
          <a:p>
            <a:pPr eaLnBrk="1" hangingPunct="1">
              <a:buNone/>
            </a:pPr>
            <a:r>
              <a:rPr lang="en-US" altLang="zh-CN" sz="2000" dirty="0"/>
              <a:t>		catch (InterruptedException e) { }</a:t>
            </a:r>
          </a:p>
          <a:p>
            <a:pPr eaLnBrk="1" hangingPunct="1">
              <a:buNone/>
            </a:pPr>
            <a:r>
              <a:rPr lang="en-US" altLang="zh-CN" sz="2000" dirty="0"/>
              <a:t>      }</a:t>
            </a:r>
          </a:p>
          <a:p>
            <a:pPr eaLnBrk="1" hangingPunct="1">
              <a:buNone/>
            </a:pPr>
            <a:r>
              <a:rPr lang="en-US" altLang="zh-CN" sz="2000" dirty="0"/>
              <a:t>	++readerCount;</a:t>
            </a:r>
          </a:p>
          <a:p>
            <a:pPr eaLnBrk="1" hangingPunct="1">
              <a:buNone/>
            </a:pPr>
            <a:r>
              <a:rPr lang="en-US" altLang="zh-CN" sz="2000" dirty="0"/>
              <a:t>	if (readerCount == 1)</a:t>
            </a:r>
          </a:p>
          <a:p>
            <a:pPr eaLnBrk="1" hangingPunct="1">
              <a:buNone/>
            </a:pPr>
            <a:r>
              <a:rPr lang="en-US" altLang="zh-CN" sz="2000" dirty="0"/>
              <a:t>		</a:t>
            </a:r>
            <a:r>
              <a:rPr lang="en-US" altLang="zh-CN" sz="2000" dirty="0" err="1"/>
              <a:t>dbReading</a:t>
            </a:r>
            <a:r>
              <a:rPr lang="en-US" altLang="zh-CN" sz="2000" dirty="0"/>
              <a:t> = true;</a:t>
            </a:r>
          </a:p>
          <a:p>
            <a:pPr eaLnBrk="1" hangingPunct="1">
              <a:buNone/>
            </a:pPr>
            <a:r>
              <a:rPr lang="en-US" altLang="zh-CN" sz="2000" dirty="0"/>
              <a:t>	return readerCount;</a:t>
            </a:r>
          </a:p>
          <a:p>
            <a:pPr eaLnBrk="1" hangingPunct="1">
              <a:buNone/>
            </a:pPr>
            <a:r>
              <a:rPr lang="en-US" altLang="zh-CN" sz="2000" dirty="0"/>
              <a:t>}</a:t>
            </a:r>
          </a:p>
        </p:txBody>
      </p:sp>
    </p:spTree>
  </p:cSld>
  <p:clrMapOvr>
    <a:masterClrMapping/>
  </p:clrMapOvr>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7" name="Rectangle 2"/>
          <p:cNvSpPr>
            <a:spLocks noGrp="1"/>
          </p:cNvSpPr>
          <p:nvPr>
            <p:ph type="title" idx="4294967295"/>
          </p:nvPr>
        </p:nvSpPr>
        <p:spPr>
          <a:ln/>
        </p:spPr>
        <p:txBody>
          <a:bodyPr vert="horz" wrap="square" lIns="91440" tIns="45720" rIns="91440" bIns="45720" anchor="b" anchorCtr="0"/>
          <a:lstStyle/>
          <a:p>
            <a:pPr eaLnBrk="1" hangingPunct="1"/>
            <a:r>
              <a:rPr lang="en-US" altLang="zh-CN" dirty="0"/>
              <a:t>endRead() Method</a:t>
            </a:r>
          </a:p>
        </p:txBody>
      </p:sp>
      <p:sp>
        <p:nvSpPr>
          <p:cNvPr id="219138" name="Rectangle 3"/>
          <p:cNvSpPr>
            <a:spLocks noGrp="1"/>
          </p:cNvSpPr>
          <p:nvPr>
            <p:ph type="body" idx="4294967295"/>
          </p:nvPr>
        </p:nvSpPr>
        <p:spPr>
          <a:xfrm>
            <a:off x="719138" y="1179513"/>
            <a:ext cx="7870825" cy="4708525"/>
          </a:xfrm>
          <a:ln/>
        </p:spPr>
        <p:txBody>
          <a:bodyPr vert="horz" wrap="square" lIns="91440" tIns="45720" rIns="91440" bIns="45720" anchor="t" anchorCtr="0"/>
          <a:lstStyle/>
          <a:p>
            <a:pPr eaLnBrk="1" hangingPunct="1">
              <a:buNone/>
            </a:pPr>
            <a:r>
              <a:rPr lang="en-US" altLang="zh-CN" sz="2400" dirty="0"/>
              <a:t>public</a:t>
            </a:r>
            <a:r>
              <a:rPr lang="en-US" altLang="zh-CN" sz="2400" dirty="0">
                <a:solidFill>
                  <a:srgbClr val="FFCC00"/>
                </a:solidFill>
              </a:rPr>
              <a:t> </a:t>
            </a:r>
            <a:r>
              <a:rPr lang="en-US" altLang="zh-CN" sz="2400" dirty="0">
                <a:solidFill>
                  <a:srgbClr val="FF0000"/>
                </a:solidFill>
              </a:rPr>
              <a:t>synchronized</a:t>
            </a:r>
            <a:r>
              <a:rPr lang="en-US" altLang="zh-CN" sz="2400" dirty="0">
                <a:solidFill>
                  <a:srgbClr val="FFCC00"/>
                </a:solidFill>
              </a:rPr>
              <a:t> </a:t>
            </a:r>
            <a:r>
              <a:rPr lang="en-US" altLang="zh-CN" sz="2400" dirty="0"/>
              <a:t>int endRead() {</a:t>
            </a:r>
          </a:p>
          <a:p>
            <a:pPr eaLnBrk="1" hangingPunct="1">
              <a:buNone/>
            </a:pPr>
            <a:r>
              <a:rPr lang="en-US" altLang="zh-CN" sz="2400" dirty="0"/>
              <a:t>      --readerCount</a:t>
            </a:r>
          </a:p>
          <a:p>
            <a:pPr eaLnBrk="1" hangingPunct="1">
              <a:buNone/>
            </a:pPr>
            <a:r>
              <a:rPr lang="en-US" altLang="zh-CN" sz="2400" dirty="0"/>
              <a:t>      if (readerCount == 0)</a:t>
            </a:r>
          </a:p>
          <a:p>
            <a:pPr eaLnBrk="1" hangingPunct="1">
              <a:buNone/>
            </a:pPr>
            <a:r>
              <a:rPr lang="en-US" altLang="zh-CN" sz="2400" dirty="0"/>
              <a:t>         dbReading = false;</a:t>
            </a:r>
          </a:p>
          <a:p>
            <a:pPr eaLnBrk="1" hangingPunct="1">
              <a:buNone/>
            </a:pPr>
            <a:r>
              <a:rPr lang="en-US" altLang="zh-CN" sz="2400" dirty="0"/>
              <a:t>      </a:t>
            </a:r>
            <a:r>
              <a:rPr lang="en-US" altLang="zh-CN" sz="2400" dirty="0">
                <a:solidFill>
                  <a:srgbClr val="FF0000"/>
                </a:solidFill>
              </a:rPr>
              <a:t>notifyAll();</a:t>
            </a:r>
          </a:p>
          <a:p>
            <a:pPr eaLnBrk="1" hangingPunct="1">
              <a:buNone/>
            </a:pPr>
            <a:r>
              <a:rPr lang="en-US" altLang="zh-CN" sz="2400" dirty="0"/>
              <a:t>      return readerCount;</a:t>
            </a:r>
          </a:p>
          <a:p>
            <a:pPr eaLnBrk="1" hangingPunct="1">
              <a:buNone/>
            </a:pPr>
            <a:r>
              <a:rPr lang="en-US" altLang="zh-CN" sz="2400" dirty="0"/>
              <a:t>   }</a:t>
            </a:r>
          </a:p>
        </p:txBody>
      </p:sp>
    </p:spTree>
  </p:cSld>
  <p:clrMapOvr>
    <a:masterClrMapping/>
  </p:clrMapOvr>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5" name="Rectangle 2"/>
          <p:cNvSpPr>
            <a:spLocks noGrp="1"/>
          </p:cNvSpPr>
          <p:nvPr>
            <p:ph type="title" idx="4294967295"/>
          </p:nvPr>
        </p:nvSpPr>
        <p:spPr>
          <a:ln/>
        </p:spPr>
        <p:txBody>
          <a:bodyPr vert="horz" wrap="square" lIns="91440" tIns="45720" rIns="91440" bIns="45720" anchor="b" anchorCtr="0"/>
          <a:lstStyle/>
          <a:p>
            <a:pPr eaLnBrk="1" hangingPunct="1"/>
            <a:r>
              <a:rPr lang="en-US" altLang="zh-CN" dirty="0"/>
              <a:t>Block Synchronization</a:t>
            </a:r>
          </a:p>
        </p:txBody>
      </p:sp>
      <p:sp>
        <p:nvSpPr>
          <p:cNvPr id="221186" name="Rectangle 3"/>
          <p:cNvSpPr>
            <a:spLocks noGrp="1"/>
          </p:cNvSpPr>
          <p:nvPr>
            <p:ph type="body" idx="4294967295"/>
          </p:nvPr>
        </p:nvSpPr>
        <p:spPr>
          <a:xfrm>
            <a:off x="284163" y="1000125"/>
            <a:ext cx="8555037" cy="4624388"/>
          </a:xfrm>
          <a:ln/>
        </p:spPr>
        <p:txBody>
          <a:bodyPr vert="horz" wrap="square" lIns="91440" tIns="45720" rIns="91440" bIns="45720" anchor="t" anchorCtr="0"/>
          <a:lstStyle/>
          <a:p>
            <a:pPr eaLnBrk="1" hangingPunct="1">
              <a:lnSpc>
                <a:spcPct val="80000"/>
              </a:lnSpc>
            </a:pPr>
            <a:r>
              <a:rPr lang="en-US" altLang="zh-CN" sz="2400" dirty="0"/>
              <a:t>Blocks of code </a:t>
            </a:r>
            <a:r>
              <a:rPr lang="en-US" altLang="zh-CN" sz="2400" dirty="0">
                <a:latin typeface="Arial" panose="020B0604020202020204" pitchFamily="34" charset="0"/>
              </a:rPr>
              <a:t>–</a:t>
            </a:r>
            <a:r>
              <a:rPr lang="en-US" altLang="zh-CN" sz="2400" dirty="0"/>
              <a:t> rather than entire methods </a:t>
            </a:r>
            <a:r>
              <a:rPr lang="en-US" altLang="zh-CN" sz="2400" dirty="0">
                <a:latin typeface="Arial" panose="020B0604020202020204" pitchFamily="34" charset="0"/>
              </a:rPr>
              <a:t>–</a:t>
            </a:r>
            <a:r>
              <a:rPr lang="en-US" altLang="zh-CN" sz="2400" dirty="0"/>
              <a:t> may be declared as synchronized</a:t>
            </a:r>
            <a:r>
              <a:rPr lang="zh-CN" altLang="en-US" sz="2400" dirty="0"/>
              <a:t>（可以将代码块</a:t>
            </a:r>
            <a:r>
              <a:rPr lang="en-US" altLang="zh-CN" sz="2400" dirty="0"/>
              <a:t>——</a:t>
            </a:r>
            <a:r>
              <a:rPr lang="zh-CN" altLang="en-US" sz="2400" dirty="0"/>
              <a:t>而不是整个方法</a:t>
            </a:r>
            <a:r>
              <a:rPr lang="en-US" altLang="zh-CN" sz="2400" dirty="0"/>
              <a:t>——</a:t>
            </a:r>
            <a:r>
              <a:rPr lang="zh-CN" altLang="en-US" sz="2400" dirty="0"/>
              <a:t>声明为同步的）</a:t>
            </a:r>
          </a:p>
          <a:p>
            <a:pPr eaLnBrk="1" hangingPunct="1">
              <a:lnSpc>
                <a:spcPct val="80000"/>
              </a:lnSpc>
            </a:pPr>
            <a:r>
              <a:rPr lang="en-US" altLang="zh-CN" sz="2400" dirty="0"/>
              <a:t>This yields a lock scope that is typically</a:t>
            </a:r>
            <a:r>
              <a:rPr lang="en-US" altLang="zh-CN" sz="2400" dirty="0">
                <a:solidFill>
                  <a:srgbClr val="C00000"/>
                </a:solidFill>
              </a:rPr>
              <a:t> smaller than a synchronized method</a:t>
            </a:r>
            <a:r>
              <a:rPr lang="zh-CN" altLang="en-US" sz="2400" dirty="0">
                <a:solidFill>
                  <a:srgbClr val="C00000"/>
                </a:solidFill>
              </a:rPr>
              <a:t>（这产生的锁范围通常比同步方法小）</a:t>
            </a:r>
            <a:endParaRPr lang="en-US" altLang="zh-CN" sz="2400" dirty="0">
              <a:solidFill>
                <a:srgbClr val="C00000"/>
              </a:solidFill>
            </a:endParaRPr>
          </a:p>
          <a:p>
            <a:pPr marL="0" indent="0" eaLnBrk="1" hangingPunct="1">
              <a:lnSpc>
                <a:spcPct val="80000"/>
              </a:lnSpc>
              <a:buNone/>
            </a:pPr>
            <a:endParaRPr lang="en-US" altLang="zh-CN" sz="1000" dirty="0"/>
          </a:p>
          <a:p>
            <a:pPr eaLnBrk="1" hangingPunct="1">
              <a:lnSpc>
                <a:spcPct val="80000"/>
              </a:lnSpc>
              <a:buNone/>
            </a:pPr>
            <a:r>
              <a:rPr lang="en-US" altLang="zh-CN" sz="2000" dirty="0"/>
              <a:t>             Object mutexLock = new Object();</a:t>
            </a:r>
          </a:p>
          <a:p>
            <a:pPr eaLnBrk="1" hangingPunct="1">
              <a:lnSpc>
                <a:spcPct val="80000"/>
              </a:lnSpc>
              <a:buNone/>
            </a:pPr>
            <a:r>
              <a:rPr lang="en-US" altLang="zh-CN" sz="2000" dirty="0"/>
              <a:t>                 . . .</a:t>
            </a:r>
          </a:p>
          <a:p>
            <a:pPr eaLnBrk="1" hangingPunct="1">
              <a:lnSpc>
                <a:spcPct val="80000"/>
              </a:lnSpc>
              <a:buNone/>
            </a:pPr>
            <a:r>
              <a:rPr lang="en-US" altLang="zh-CN" sz="2000" dirty="0"/>
              <a:t>              public void someMethod() {</a:t>
            </a:r>
          </a:p>
          <a:p>
            <a:pPr eaLnBrk="1" hangingPunct="1">
              <a:lnSpc>
                <a:spcPct val="80000"/>
              </a:lnSpc>
              <a:buNone/>
            </a:pPr>
            <a:r>
              <a:rPr lang="en-US" altLang="zh-CN" sz="2000" dirty="0"/>
              <a:t>	                          // non-critical section</a:t>
            </a:r>
          </a:p>
          <a:p>
            <a:pPr eaLnBrk="1" hangingPunct="1">
              <a:lnSpc>
                <a:spcPct val="80000"/>
              </a:lnSpc>
              <a:buNone/>
            </a:pPr>
            <a:r>
              <a:rPr lang="en-US" altLang="zh-CN" sz="2000" dirty="0"/>
              <a:t>	                        </a:t>
            </a:r>
            <a:r>
              <a:rPr lang="en-US" altLang="zh-CN" sz="2000" dirty="0">
                <a:solidFill>
                  <a:srgbClr val="FF0000"/>
                </a:solidFill>
              </a:rPr>
              <a:t>synchronized</a:t>
            </a:r>
            <a:r>
              <a:rPr lang="en-US" altLang="zh-CN" sz="2000" dirty="0"/>
              <a:t>(mutexLock) {</a:t>
            </a:r>
          </a:p>
          <a:p>
            <a:pPr eaLnBrk="1" hangingPunct="1">
              <a:lnSpc>
                <a:spcPct val="80000"/>
              </a:lnSpc>
              <a:buNone/>
            </a:pPr>
            <a:r>
              <a:rPr lang="en-US" altLang="zh-CN" sz="2000" dirty="0"/>
              <a:t>		                     // critical  section</a:t>
            </a:r>
          </a:p>
          <a:p>
            <a:pPr eaLnBrk="1" hangingPunct="1">
              <a:lnSpc>
                <a:spcPct val="80000"/>
              </a:lnSpc>
              <a:buNone/>
            </a:pPr>
            <a:r>
              <a:rPr lang="en-US" altLang="zh-CN" sz="2000" dirty="0"/>
              <a:t>	                          }</a:t>
            </a:r>
          </a:p>
          <a:p>
            <a:pPr eaLnBrk="1" hangingPunct="1">
              <a:lnSpc>
                <a:spcPct val="80000"/>
              </a:lnSpc>
              <a:buNone/>
            </a:pPr>
            <a:r>
              <a:rPr lang="en-US" altLang="zh-CN" sz="2000" dirty="0"/>
              <a:t>	                        // non-critical section</a:t>
            </a:r>
          </a:p>
          <a:p>
            <a:pPr eaLnBrk="1" hangingPunct="1">
              <a:lnSpc>
                <a:spcPct val="80000"/>
              </a:lnSpc>
              <a:buNone/>
            </a:pPr>
            <a:r>
              <a:rPr lang="en-US" altLang="zh-CN" sz="2000" dirty="0"/>
              <a:t>                  }</a:t>
            </a:r>
          </a:p>
          <a:p>
            <a:pPr eaLnBrk="1" hangingPunct="1">
              <a:lnSpc>
                <a:spcPct val="80000"/>
              </a:lnSpc>
              <a:buNone/>
            </a:pPr>
            <a:endParaRPr lang="zh-CN" altLang="en-US" sz="2000" dirty="0"/>
          </a:p>
          <a:p>
            <a:pPr eaLnBrk="1" hangingPunct="1">
              <a:lnSpc>
                <a:spcPct val="80000"/>
              </a:lnSpc>
            </a:pPr>
            <a:endParaRPr lang="zh-CN" altLang="en-US" sz="2000" dirty="0"/>
          </a:p>
        </p:txBody>
      </p:sp>
    </p:spTree>
  </p:cSld>
  <p:clrMapOvr>
    <a:masterClrMapping/>
  </p:clrMapOvr>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3" name="Rectangle 2"/>
          <p:cNvSpPr>
            <a:spLocks noGrp="1"/>
          </p:cNvSpPr>
          <p:nvPr>
            <p:ph type="title" idx="4294967295"/>
          </p:nvPr>
        </p:nvSpPr>
        <p:spPr>
          <a:xfrm>
            <a:off x="457200" y="277813"/>
            <a:ext cx="8229600" cy="466725"/>
          </a:xfrm>
          <a:ln/>
        </p:spPr>
        <p:txBody>
          <a:bodyPr vert="horz" wrap="square" lIns="91440" tIns="45720" rIns="91440" bIns="45720" anchor="b" anchorCtr="0"/>
          <a:lstStyle/>
          <a:p>
            <a:pPr eaLnBrk="1" hangingPunct="1"/>
            <a:r>
              <a:rPr lang="en-US" altLang="zh-CN" dirty="0"/>
              <a:t>Java Semaphores</a:t>
            </a:r>
          </a:p>
        </p:txBody>
      </p:sp>
      <p:sp>
        <p:nvSpPr>
          <p:cNvPr id="223234" name="Rectangle 3"/>
          <p:cNvSpPr>
            <a:spLocks noGrp="1"/>
          </p:cNvSpPr>
          <p:nvPr>
            <p:ph type="body" idx="4294967295"/>
          </p:nvPr>
        </p:nvSpPr>
        <p:spPr>
          <a:xfrm>
            <a:off x="541338" y="1385888"/>
            <a:ext cx="7727950" cy="4462462"/>
          </a:xfrm>
          <a:ln/>
        </p:spPr>
        <p:txBody>
          <a:bodyPr vert="horz" wrap="square" lIns="91440" tIns="45720" rIns="91440" bIns="45720" anchor="t" anchorCtr="0"/>
          <a:lstStyle/>
          <a:p>
            <a:pPr eaLnBrk="1" hangingPunct="1"/>
            <a:r>
              <a:rPr lang="en-US" altLang="zh-CN" sz="2400" dirty="0"/>
              <a:t>Java does not provide a semaphore, but a basic semaphore can be constructed using Java synchronization mechanism</a:t>
            </a:r>
            <a:r>
              <a:rPr lang="zh-CN" altLang="en-US" sz="2400" dirty="0"/>
              <a:t>（</a:t>
            </a:r>
            <a:r>
              <a:rPr lang="en-US" altLang="zh-CN" sz="2400" dirty="0"/>
              <a:t>Java</a:t>
            </a:r>
            <a:r>
              <a:rPr lang="zh-CN" altLang="en-US" sz="2400" dirty="0"/>
              <a:t>不提供信号量，但是可以使用</a:t>
            </a:r>
            <a:r>
              <a:rPr lang="en-US" altLang="zh-CN" sz="2400" dirty="0"/>
              <a:t>Java</a:t>
            </a:r>
            <a:r>
              <a:rPr lang="zh-CN" altLang="en-US" sz="2400" dirty="0"/>
              <a:t>同步机制构造基本的信号量）</a:t>
            </a:r>
            <a:endParaRPr lang="zh-CN" altLang="zh-CN" sz="2400" dirty="0"/>
          </a:p>
        </p:txBody>
      </p:sp>
    </p:spTree>
  </p:cSld>
  <p:clrMapOvr>
    <a:masterClrMapping/>
  </p:clrMapOvr>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1" name="Rectangle 2"/>
          <p:cNvSpPr>
            <a:spLocks noGrp="1"/>
          </p:cNvSpPr>
          <p:nvPr>
            <p:ph type="title" idx="4294967295"/>
          </p:nvPr>
        </p:nvSpPr>
        <p:spPr>
          <a:xfrm>
            <a:off x="457200" y="277813"/>
            <a:ext cx="8229600" cy="446087"/>
          </a:xfrm>
          <a:ln/>
        </p:spPr>
        <p:txBody>
          <a:bodyPr vert="horz" wrap="square" lIns="91440" tIns="45720" rIns="91440" bIns="45720" anchor="b" anchorCtr="0"/>
          <a:lstStyle/>
          <a:p>
            <a:pPr eaLnBrk="1" hangingPunct="1"/>
            <a:r>
              <a:rPr lang="en-US" altLang="zh-CN" dirty="0"/>
              <a:t>Semaphore Class</a:t>
            </a:r>
          </a:p>
        </p:txBody>
      </p:sp>
      <p:sp>
        <p:nvSpPr>
          <p:cNvPr id="225282" name="Rectangle 3"/>
          <p:cNvSpPr>
            <a:spLocks noGrp="1"/>
          </p:cNvSpPr>
          <p:nvPr>
            <p:ph type="body" idx="4294967295"/>
          </p:nvPr>
        </p:nvSpPr>
        <p:spPr>
          <a:xfrm>
            <a:off x="1389063" y="912813"/>
            <a:ext cx="7191375" cy="5014912"/>
          </a:xfrm>
          <a:ln/>
        </p:spPr>
        <p:txBody>
          <a:bodyPr vert="horz" wrap="square" lIns="91440" tIns="45720" rIns="91440" bIns="45720" anchor="t" anchorCtr="0"/>
          <a:lstStyle/>
          <a:p>
            <a:pPr eaLnBrk="1" hangingPunct="1">
              <a:buNone/>
            </a:pPr>
            <a:r>
              <a:rPr lang="en-US" altLang="zh-CN" sz="2000" dirty="0"/>
              <a:t>public class Semaphore {</a:t>
            </a:r>
          </a:p>
          <a:p>
            <a:pPr eaLnBrk="1" hangingPunct="1">
              <a:buNone/>
            </a:pPr>
            <a:r>
              <a:rPr lang="en-US" altLang="zh-CN" sz="2000" dirty="0"/>
              <a:t>   public Semaphore() { </a:t>
            </a:r>
          </a:p>
          <a:p>
            <a:pPr eaLnBrk="1" hangingPunct="1">
              <a:buNone/>
            </a:pPr>
            <a:r>
              <a:rPr lang="en-US" altLang="zh-CN" sz="2000" dirty="0"/>
              <a:t>		value = 0; </a:t>
            </a:r>
          </a:p>
          <a:p>
            <a:pPr eaLnBrk="1" hangingPunct="1">
              <a:buNone/>
            </a:pPr>
            <a:r>
              <a:rPr lang="en-US" altLang="zh-CN" sz="2000" dirty="0"/>
              <a:t>	}</a:t>
            </a:r>
          </a:p>
          <a:p>
            <a:pPr eaLnBrk="1" hangingPunct="1">
              <a:buNone/>
            </a:pPr>
            <a:r>
              <a:rPr lang="en-US" altLang="zh-CN" sz="2000" dirty="0"/>
              <a:t>   public Semaphore(int v) { </a:t>
            </a:r>
          </a:p>
          <a:p>
            <a:pPr eaLnBrk="1" hangingPunct="1">
              <a:buNone/>
            </a:pPr>
            <a:r>
              <a:rPr lang="en-US" altLang="zh-CN" sz="2000" dirty="0"/>
              <a:t>		value = v; </a:t>
            </a:r>
          </a:p>
          <a:p>
            <a:pPr eaLnBrk="1" hangingPunct="1">
              <a:buNone/>
            </a:pPr>
            <a:r>
              <a:rPr lang="en-US" altLang="zh-CN" sz="2000" dirty="0"/>
              <a:t>	}</a:t>
            </a:r>
          </a:p>
          <a:p>
            <a:pPr eaLnBrk="1" hangingPunct="1">
              <a:buNone/>
            </a:pPr>
            <a:r>
              <a:rPr lang="en-US" altLang="zh-CN" sz="2000" dirty="0"/>
              <a:t>   public </a:t>
            </a:r>
            <a:r>
              <a:rPr lang="en-US" altLang="zh-CN" sz="2000" dirty="0">
                <a:solidFill>
                  <a:srgbClr val="FF0000"/>
                </a:solidFill>
              </a:rPr>
              <a:t>synchronized </a:t>
            </a:r>
            <a:r>
              <a:rPr lang="en-US" altLang="zh-CN" sz="2000" dirty="0"/>
              <a:t>void P() { /* see next slide */ }</a:t>
            </a:r>
          </a:p>
          <a:p>
            <a:pPr eaLnBrk="1" hangingPunct="1">
              <a:buNone/>
            </a:pPr>
            <a:r>
              <a:rPr lang="en-US" altLang="zh-CN" sz="2000" dirty="0"/>
              <a:t>   public </a:t>
            </a:r>
            <a:r>
              <a:rPr lang="en-US" altLang="zh-CN" sz="2000" dirty="0">
                <a:solidFill>
                  <a:srgbClr val="FF0000"/>
                </a:solidFill>
              </a:rPr>
              <a:t>synchronized</a:t>
            </a:r>
            <a:r>
              <a:rPr lang="en-US" altLang="zh-CN" sz="2000" dirty="0">
                <a:solidFill>
                  <a:srgbClr val="FFCC00"/>
                </a:solidFill>
              </a:rPr>
              <a:t> </a:t>
            </a:r>
            <a:r>
              <a:rPr lang="en-US" altLang="zh-CN" sz="2000" dirty="0"/>
              <a:t>void V() { /* see next slide */ }   </a:t>
            </a:r>
          </a:p>
          <a:p>
            <a:pPr eaLnBrk="1" hangingPunct="1">
              <a:buNone/>
            </a:pPr>
            <a:r>
              <a:rPr lang="en-US" altLang="zh-CN" sz="2000" dirty="0"/>
              <a:t>   private int value;</a:t>
            </a:r>
          </a:p>
          <a:p>
            <a:pPr eaLnBrk="1" hangingPunct="1">
              <a:buNone/>
            </a:pPr>
            <a:r>
              <a:rPr lang="en-US" altLang="zh-CN" sz="2000" dirty="0"/>
              <a:t>}</a:t>
            </a:r>
          </a:p>
        </p:txBody>
      </p:sp>
    </p:spTree>
  </p:cSld>
  <p:clrMapOvr>
    <a:masterClrMapping/>
  </p:clrMapOvr>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5" name="Rectangle 2"/>
          <p:cNvSpPr>
            <a:spLocks noGrp="1"/>
          </p:cNvSpPr>
          <p:nvPr>
            <p:ph type="title" idx="4294967295"/>
          </p:nvPr>
        </p:nvSpPr>
        <p:spPr>
          <a:xfrm>
            <a:off x="685800" y="-177800"/>
            <a:ext cx="6870700" cy="1130300"/>
          </a:xfrm>
          <a:ln/>
        </p:spPr>
        <p:txBody>
          <a:bodyPr vert="horz" wrap="square" lIns="91440" tIns="45720" rIns="91440" bIns="45720" anchor="b" anchorCtr="0"/>
          <a:lstStyle/>
          <a:p>
            <a:pPr eaLnBrk="1" hangingPunct="1"/>
            <a:r>
              <a:rPr lang="en-US" altLang="zh-CN" dirty="0"/>
              <a:t>P() Operation</a:t>
            </a:r>
          </a:p>
        </p:txBody>
      </p:sp>
      <p:sp>
        <p:nvSpPr>
          <p:cNvPr id="226306" name="Rectangle 3"/>
          <p:cNvSpPr>
            <a:spLocks noGrp="1"/>
          </p:cNvSpPr>
          <p:nvPr>
            <p:ph type="body" idx="4294967295"/>
          </p:nvPr>
        </p:nvSpPr>
        <p:spPr>
          <a:xfrm>
            <a:off x="1644650" y="1081088"/>
            <a:ext cx="6985000" cy="5133975"/>
          </a:xfrm>
          <a:ln/>
        </p:spPr>
        <p:txBody>
          <a:bodyPr vert="horz" wrap="square" lIns="91440" tIns="45720" rIns="91440" bIns="45720" anchor="t" anchorCtr="0"/>
          <a:lstStyle/>
          <a:p>
            <a:pPr eaLnBrk="1" hangingPunct="1">
              <a:buNone/>
            </a:pPr>
            <a:r>
              <a:rPr lang="en-US" altLang="zh-CN" sz="2000" dirty="0"/>
              <a:t>public </a:t>
            </a:r>
            <a:r>
              <a:rPr lang="en-US" altLang="zh-CN" sz="2000" dirty="0">
                <a:solidFill>
                  <a:srgbClr val="FF0000"/>
                </a:solidFill>
              </a:rPr>
              <a:t>synchronized</a:t>
            </a:r>
            <a:r>
              <a:rPr lang="en-US" altLang="zh-CN" sz="2000" dirty="0">
                <a:solidFill>
                  <a:srgbClr val="FFCC00"/>
                </a:solidFill>
              </a:rPr>
              <a:t> </a:t>
            </a:r>
            <a:r>
              <a:rPr lang="en-US" altLang="zh-CN" sz="2000" dirty="0"/>
              <a:t>void P() {</a:t>
            </a:r>
          </a:p>
          <a:p>
            <a:pPr eaLnBrk="1" hangingPunct="1">
              <a:buNone/>
            </a:pPr>
            <a:r>
              <a:rPr lang="en-US" altLang="zh-CN" sz="2000" dirty="0"/>
              <a:t>      while (value &lt;= 0) {</a:t>
            </a:r>
          </a:p>
          <a:p>
            <a:pPr eaLnBrk="1" hangingPunct="1">
              <a:buNone/>
            </a:pPr>
            <a:r>
              <a:rPr lang="en-US" altLang="zh-CN" sz="2000" dirty="0"/>
              <a:t>         try {</a:t>
            </a:r>
          </a:p>
          <a:p>
            <a:pPr eaLnBrk="1" hangingPunct="1">
              <a:buNone/>
            </a:pPr>
            <a:r>
              <a:rPr lang="en-US" altLang="zh-CN" sz="2000" dirty="0"/>
              <a:t>            wait();</a:t>
            </a:r>
          </a:p>
          <a:p>
            <a:pPr eaLnBrk="1" hangingPunct="1">
              <a:buNone/>
            </a:pPr>
            <a:r>
              <a:rPr lang="en-US" altLang="zh-CN" sz="2000" dirty="0"/>
              <a:t>         }</a:t>
            </a:r>
          </a:p>
          <a:p>
            <a:pPr eaLnBrk="1" hangingPunct="1">
              <a:buNone/>
            </a:pPr>
            <a:r>
              <a:rPr lang="en-US" altLang="zh-CN" sz="2000" dirty="0"/>
              <a:t>         catch (InterruptedException e) { }</a:t>
            </a:r>
          </a:p>
          <a:p>
            <a:pPr eaLnBrk="1" hangingPunct="1">
              <a:buNone/>
            </a:pPr>
            <a:r>
              <a:rPr lang="en-US" altLang="zh-CN" sz="2000" dirty="0"/>
              <a:t>      }</a:t>
            </a:r>
          </a:p>
          <a:p>
            <a:pPr eaLnBrk="1" hangingPunct="1">
              <a:buNone/>
            </a:pPr>
            <a:r>
              <a:rPr lang="en-US" altLang="zh-CN" sz="2000" dirty="0"/>
              <a:t>      value --;</a:t>
            </a:r>
          </a:p>
          <a:p>
            <a:pPr eaLnBrk="1" hangingPunct="1">
              <a:buNone/>
            </a:pPr>
            <a:r>
              <a:rPr lang="en-US" altLang="zh-CN" sz="2000" dirty="0"/>
              <a:t>   }</a:t>
            </a:r>
          </a:p>
        </p:txBody>
      </p:sp>
    </p:spTree>
  </p:cSld>
  <p:clrMapOvr>
    <a:masterClrMapping/>
  </p:clrMapOvr>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29" name="Rectangle 2"/>
          <p:cNvSpPr>
            <a:spLocks noGrp="1"/>
          </p:cNvSpPr>
          <p:nvPr>
            <p:ph type="title" idx="4294967295"/>
          </p:nvPr>
        </p:nvSpPr>
        <p:spPr>
          <a:ln/>
        </p:spPr>
        <p:txBody>
          <a:bodyPr vert="horz" wrap="square" lIns="91440" tIns="45720" rIns="91440" bIns="45720" anchor="b" anchorCtr="0"/>
          <a:lstStyle/>
          <a:p>
            <a:pPr eaLnBrk="1" hangingPunct="1"/>
            <a:r>
              <a:rPr lang="en-US" altLang="zh-CN" dirty="0"/>
              <a:t>V() Operation</a:t>
            </a:r>
          </a:p>
        </p:txBody>
      </p:sp>
      <p:sp>
        <p:nvSpPr>
          <p:cNvPr id="227330" name="Rectangle 3"/>
          <p:cNvSpPr>
            <a:spLocks noGrp="1"/>
          </p:cNvSpPr>
          <p:nvPr>
            <p:ph type="body" idx="4294967295"/>
          </p:nvPr>
        </p:nvSpPr>
        <p:spPr>
          <a:ln/>
        </p:spPr>
        <p:txBody>
          <a:bodyPr vert="horz" wrap="square" lIns="91440" tIns="45720" rIns="91440" bIns="45720" anchor="t" anchorCtr="0"/>
          <a:lstStyle/>
          <a:p>
            <a:pPr eaLnBrk="1" hangingPunct="1">
              <a:buNone/>
            </a:pPr>
            <a:r>
              <a:rPr lang="en-US" altLang="zh-CN" dirty="0"/>
              <a:t>public </a:t>
            </a:r>
            <a:r>
              <a:rPr lang="en-US" altLang="zh-CN" dirty="0">
                <a:solidFill>
                  <a:srgbClr val="FF0000"/>
                </a:solidFill>
              </a:rPr>
              <a:t>synchronized </a:t>
            </a:r>
            <a:r>
              <a:rPr lang="en-US" altLang="zh-CN" dirty="0"/>
              <a:t>void V() {</a:t>
            </a:r>
          </a:p>
          <a:p>
            <a:pPr eaLnBrk="1" hangingPunct="1">
              <a:buNone/>
            </a:pPr>
            <a:r>
              <a:rPr lang="en-US" altLang="zh-CN" dirty="0"/>
              <a:t>      ++value;      </a:t>
            </a:r>
          </a:p>
          <a:p>
            <a:pPr eaLnBrk="1" hangingPunct="1">
              <a:buNone/>
            </a:pPr>
            <a:r>
              <a:rPr lang="en-US" altLang="zh-CN" dirty="0"/>
              <a:t>      notify();</a:t>
            </a:r>
          </a:p>
          <a:p>
            <a:pPr eaLnBrk="1" hangingPunct="1">
              <a:buNone/>
            </a:pPr>
            <a:r>
              <a:rPr lang="en-US" altLang="zh-CN" dirty="0"/>
              <a:t>   }</a:t>
            </a:r>
          </a:p>
        </p:txBody>
      </p:sp>
    </p:spTree>
  </p:cSld>
  <p:clrMapOvr>
    <a:masterClrMapping/>
  </p:clrMapOvr>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3" name="Rectangle 2"/>
          <p:cNvSpPr>
            <a:spLocks noGrp="1"/>
          </p:cNvSpPr>
          <p:nvPr>
            <p:ph type="title" idx="4294967295"/>
          </p:nvPr>
        </p:nvSpPr>
        <p:spPr>
          <a:xfrm>
            <a:off x="238125" y="241300"/>
            <a:ext cx="8510588" cy="744538"/>
          </a:xfrm>
          <a:ln/>
        </p:spPr>
        <p:txBody>
          <a:bodyPr vert="horz" wrap="square" lIns="91440" tIns="45720" rIns="91440" bIns="45720" anchor="b" anchorCtr="0"/>
          <a:lstStyle/>
          <a:p>
            <a:pPr eaLnBrk="1" hangingPunct="1"/>
            <a:r>
              <a:rPr lang="en-US" altLang="zh-CN" dirty="0"/>
              <a:t>Java Synchronization rules</a:t>
            </a:r>
          </a:p>
        </p:txBody>
      </p:sp>
      <p:sp>
        <p:nvSpPr>
          <p:cNvPr id="228354" name="Rectangle 3"/>
          <p:cNvSpPr>
            <a:spLocks noGrp="1"/>
          </p:cNvSpPr>
          <p:nvPr>
            <p:ph type="body" idx="4294967295"/>
          </p:nvPr>
        </p:nvSpPr>
        <p:spPr>
          <a:xfrm>
            <a:off x="628650" y="1270000"/>
            <a:ext cx="7943850" cy="4968875"/>
          </a:xfrm>
          <a:ln/>
        </p:spPr>
        <p:txBody>
          <a:bodyPr vert="horz" wrap="square" lIns="91440" tIns="45720" rIns="91440" bIns="45720" anchor="t" anchorCtr="0"/>
          <a:lstStyle/>
          <a:p>
            <a:pPr eaLnBrk="1" hangingPunct="1">
              <a:lnSpc>
                <a:spcPct val="130000"/>
              </a:lnSpc>
            </a:pPr>
            <a:r>
              <a:rPr lang="en-US" altLang="zh-CN" sz="2400" dirty="0"/>
              <a:t>a thread that owns the lock for an object can enter another synchronized method for the same object.</a:t>
            </a:r>
            <a:r>
              <a:rPr lang="zh-CN" altLang="en-US" sz="2400" dirty="0"/>
              <a:t> （拥有对象锁的线程可以进入同一对象另一个同步方法）</a:t>
            </a:r>
          </a:p>
          <a:p>
            <a:pPr eaLnBrk="1" hangingPunct="1">
              <a:lnSpc>
                <a:spcPct val="130000"/>
              </a:lnSpc>
            </a:pPr>
            <a:r>
              <a:rPr lang="en-US" altLang="zh-CN" sz="2400" dirty="0"/>
              <a:t>a thread can </a:t>
            </a:r>
            <a:r>
              <a:rPr lang="en-US" altLang="zh-CN" sz="2400" dirty="0">
                <a:solidFill>
                  <a:srgbClr val="FF3300"/>
                </a:solidFill>
              </a:rPr>
              <a:t>nest </a:t>
            </a:r>
            <a:r>
              <a:rPr lang="en-US" altLang="zh-CN" sz="2400" dirty="0"/>
              <a:t>synchronized method invocations for different objects. thus, a thread can simultaneously own the lock for several different objects</a:t>
            </a:r>
            <a:r>
              <a:rPr lang="zh-CN" altLang="en-US" sz="2400" dirty="0"/>
              <a:t>（线程可以嵌套不同对象的同步方法调用。因此，一个线程可以同时拥有几个不同对象的锁）</a:t>
            </a:r>
          </a:p>
        </p:txBody>
      </p:sp>
    </p:spTree>
  </p:cSld>
  <p:clrMapOvr>
    <a:masterClrMapping/>
  </p:clrMapOvr>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1" name="Rectangle 2"/>
          <p:cNvSpPr>
            <a:spLocks noGrp="1"/>
          </p:cNvSpPr>
          <p:nvPr>
            <p:ph type="title" idx="4294967295"/>
          </p:nvPr>
        </p:nvSpPr>
        <p:spPr>
          <a:ln/>
        </p:spPr>
        <p:txBody>
          <a:bodyPr vert="horz" wrap="square" lIns="91440" tIns="45720" rIns="91440" bIns="45720" anchor="b" anchorCtr="0"/>
          <a:lstStyle/>
          <a:p>
            <a:pPr eaLnBrk="1" hangingPunct="1"/>
            <a:r>
              <a:rPr lang="en-US" altLang="zh-CN" dirty="0"/>
              <a:t>Java Synchronization rules(Cont.)</a:t>
            </a:r>
            <a:endParaRPr lang="zh-CN" altLang="en-US" dirty="0"/>
          </a:p>
        </p:txBody>
      </p:sp>
      <p:sp>
        <p:nvSpPr>
          <p:cNvPr id="230402" name="Rectangle 3"/>
          <p:cNvSpPr>
            <a:spLocks noGrp="1"/>
          </p:cNvSpPr>
          <p:nvPr>
            <p:ph type="body" idx="4294967295"/>
          </p:nvPr>
        </p:nvSpPr>
        <p:spPr>
          <a:xfrm>
            <a:off x="412750" y="1290638"/>
            <a:ext cx="8229600" cy="4530725"/>
          </a:xfrm>
          <a:ln/>
        </p:spPr>
        <p:txBody>
          <a:bodyPr vert="horz" wrap="square" lIns="91440" tIns="45720" rIns="91440" bIns="45720" anchor="t" anchorCtr="0"/>
          <a:lstStyle/>
          <a:p>
            <a:pPr eaLnBrk="1" hangingPunct="1">
              <a:lnSpc>
                <a:spcPct val="130000"/>
              </a:lnSpc>
            </a:pPr>
            <a:r>
              <a:rPr lang="en-US" altLang="zh-CN" sz="2400" dirty="0"/>
              <a:t>if a method is not declared as synchronized, then it can be invoked regardless of lock ownership, even while another synchronized method for the same object is executing.</a:t>
            </a:r>
            <a:r>
              <a:rPr lang="zh-CN" altLang="en-US" sz="2400" dirty="0"/>
              <a:t>（如果一个方法没有被声明为</a:t>
            </a:r>
            <a:r>
              <a:rPr lang="en-US" altLang="zh-CN" sz="2400" dirty="0"/>
              <a:t>synchronized</a:t>
            </a:r>
            <a:r>
              <a:rPr lang="zh-CN" altLang="en-US" sz="2400" dirty="0"/>
              <a:t>的，那么不管锁的所有权如何，它都可以被调用，即使是在同一对象的另一个同步方法正在执行的时候。）</a:t>
            </a:r>
            <a:endParaRPr lang="en-US" altLang="zh-CN" sz="2400" dirty="0"/>
          </a:p>
          <a:p>
            <a:pPr eaLnBrk="1" hangingPunct="1">
              <a:lnSpc>
                <a:spcPct val="130000"/>
              </a:lnSpc>
            </a:pPr>
            <a:r>
              <a:rPr lang="en-US" altLang="zh-CN" sz="2400" dirty="0"/>
              <a:t>if the wait set for an object is empty, then a call to notify() or notifyall() has no effect.</a:t>
            </a:r>
            <a:r>
              <a:rPr lang="zh-CN" altLang="en-US" sz="2400" dirty="0"/>
              <a:t>（如果对象的等待集为空，则调用</a:t>
            </a:r>
            <a:r>
              <a:rPr lang="en-US" altLang="zh-CN" sz="2400" dirty="0"/>
              <a:t>notify</a:t>
            </a:r>
            <a:r>
              <a:rPr lang="zh-CN" altLang="en-US" sz="2400" dirty="0"/>
              <a:t>（）或</a:t>
            </a:r>
            <a:r>
              <a:rPr lang="en-US" altLang="zh-CN" sz="2400" dirty="0" err="1"/>
              <a:t>notifyall</a:t>
            </a:r>
            <a:r>
              <a:rPr lang="zh-CN" altLang="en-US" sz="2400" dirty="0"/>
              <a:t>（）不起作用）</a:t>
            </a:r>
          </a:p>
        </p:txBody>
      </p:sp>
    </p:spTree>
  </p:cSld>
  <p:clrMapOvr>
    <a:masterClrMapping/>
  </p:clrMapOvr>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49" name="Rectangle 2"/>
          <p:cNvSpPr>
            <a:spLocks noGrp="1"/>
          </p:cNvSpPr>
          <p:nvPr>
            <p:ph type="title"/>
          </p:nvPr>
        </p:nvSpPr>
        <p:spPr>
          <a:ln/>
        </p:spPr>
        <p:txBody>
          <a:bodyPr vert="horz" wrap="square" lIns="91440" tIns="45720" rIns="91440" bIns="45720" anchor="b" anchorCtr="0"/>
          <a:lstStyle/>
          <a:p>
            <a:r>
              <a:rPr lang="zh-CN" altLang="en-US" sz="2800" dirty="0"/>
              <a:t>例题</a:t>
            </a:r>
            <a:endParaRPr lang="en-US" altLang="zh-CN" sz="2800" dirty="0"/>
          </a:p>
        </p:txBody>
      </p:sp>
      <p:sp>
        <p:nvSpPr>
          <p:cNvPr id="232450" name="Rectangle 3"/>
          <p:cNvSpPr>
            <a:spLocks noGrp="1"/>
          </p:cNvSpPr>
          <p:nvPr>
            <p:ph idx="1"/>
          </p:nvPr>
        </p:nvSpPr>
        <p:spPr>
          <a:xfrm>
            <a:off x="457200" y="1089948"/>
            <a:ext cx="8229600" cy="4530725"/>
          </a:xfrm>
          <a:ln/>
        </p:spPr>
        <p:txBody>
          <a:bodyPr vert="horz" wrap="square" lIns="91440" tIns="45720" rIns="91440" bIns="45720" anchor="t" anchorCtr="0"/>
          <a:lstStyle/>
          <a:p>
            <a:r>
              <a:rPr lang="zh-CN" altLang="en-US" sz="2400" dirty="0"/>
              <a:t>为什么在单处理器系统上通过禁止中断来实现同步原语的方法不适用于用户级程序？</a:t>
            </a:r>
            <a:endParaRPr lang="en-US" altLang="zh-CN" sz="2400" dirty="0"/>
          </a:p>
          <a:p>
            <a:r>
              <a:rPr lang="en-US" altLang="zh-CN" sz="2400" b="0" dirty="0">
                <a:solidFill>
                  <a:srgbClr val="231F20"/>
                </a:solidFill>
                <a:effectLst/>
                <a:latin typeface="Palatino-Roman"/>
              </a:rPr>
              <a:t>Explain why implementing synchronization primitives by disabling interrupts is not appropriate in a single-processor system if the synchronization primitives are to be used in user-level programs.</a:t>
            </a:r>
          </a:p>
          <a:p>
            <a:endParaRPr lang="en-US" altLang="zh-CN" sz="2400" dirty="0">
              <a:solidFill>
                <a:srgbClr val="231F20"/>
              </a:solidFill>
              <a:latin typeface="Palatino-Roman"/>
            </a:endParaRPr>
          </a:p>
          <a:p>
            <a:r>
              <a:rPr lang="zh-CN" altLang="en-US" sz="2400" dirty="0">
                <a:solidFill>
                  <a:srgbClr val="231F20"/>
                </a:solidFill>
                <a:latin typeface="Palatino-Roman"/>
              </a:rPr>
              <a:t>答：</a:t>
            </a:r>
            <a:endParaRPr lang="en-US" altLang="zh-CN" sz="2400" dirty="0">
              <a:solidFill>
                <a:srgbClr val="231F20"/>
              </a:solidFill>
              <a:latin typeface="Palatino-Roman"/>
            </a:endParaRPr>
          </a:p>
          <a:p>
            <a:pPr marL="0" indent="0">
              <a:buNone/>
            </a:pPr>
            <a:r>
              <a:rPr lang="zh-CN" altLang="en-US" sz="2400" dirty="0"/>
              <a:t>如果用户程序禁止了中断，这个用户程序将永久霸占</a:t>
            </a:r>
            <a:r>
              <a:rPr lang="en-US" altLang="zh-CN" sz="2400" dirty="0"/>
              <a:t>CPU</a:t>
            </a:r>
            <a:r>
              <a:rPr lang="zh-CN" altLang="en-US" sz="2400" dirty="0"/>
              <a:t>，在单处理器系统上会使得整个系统崩溃</a:t>
            </a:r>
          </a:p>
          <a:p>
            <a:endParaRPr lang="en-US" altLang="zh-CN" sz="2400" dirty="0"/>
          </a:p>
        </p:txBody>
      </p:sp>
    </p:spTree>
    <p:extLst>
      <p:ext uri="{BB962C8B-B14F-4D97-AF65-F5344CB8AC3E}">
        <p14:creationId xmlns:p14="http://schemas.microsoft.com/office/powerpoint/2010/main" val="806634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245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245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58E483-D39C-42F2-9B03-958F5BA1FF64}"/>
              </a:ext>
            </a:extLst>
          </p:cNvPr>
          <p:cNvSpPr>
            <a:spLocks noGrp="1"/>
          </p:cNvSpPr>
          <p:nvPr>
            <p:ph type="title"/>
          </p:nvPr>
        </p:nvSpPr>
        <p:spPr/>
        <p:txBody>
          <a:bodyPr/>
          <a:lstStyle/>
          <a:p>
            <a:r>
              <a:rPr lang="zh-CN" altLang="en-US" dirty="0"/>
              <a:t>例题</a:t>
            </a:r>
          </a:p>
        </p:txBody>
      </p:sp>
      <p:sp>
        <p:nvSpPr>
          <p:cNvPr id="3" name="内容占位符 2">
            <a:extLst>
              <a:ext uri="{FF2B5EF4-FFF2-40B4-BE49-F238E27FC236}">
                <a16:creationId xmlns:a16="http://schemas.microsoft.com/office/drawing/2014/main" id="{87FA4D54-52FC-473D-ADD7-C733B5DBFA91}"/>
              </a:ext>
            </a:extLst>
          </p:cNvPr>
          <p:cNvSpPr>
            <a:spLocks noGrp="1"/>
          </p:cNvSpPr>
          <p:nvPr>
            <p:ph idx="1"/>
          </p:nvPr>
        </p:nvSpPr>
        <p:spPr>
          <a:xfrm>
            <a:off x="457200" y="1163637"/>
            <a:ext cx="8229600" cy="4530725"/>
          </a:xfrm>
        </p:spPr>
        <p:txBody>
          <a:bodyPr/>
          <a:lstStyle/>
          <a:p>
            <a:r>
              <a:rPr lang="zh-CN" altLang="en-US" dirty="0"/>
              <a:t>进程的同步与互斥是由于程序的（ ）引起的：</a:t>
            </a:r>
            <a:endParaRPr lang="en-US" altLang="zh-CN" dirty="0"/>
          </a:p>
          <a:p>
            <a:pPr marL="0" indent="0">
              <a:buNone/>
            </a:pPr>
            <a:r>
              <a:rPr lang="en-US" altLang="zh-CN" dirty="0"/>
              <a:t>A </a:t>
            </a:r>
            <a:r>
              <a:rPr lang="zh-CN" altLang="en-US" dirty="0"/>
              <a:t>顺序执行</a:t>
            </a:r>
            <a:endParaRPr lang="en-US" altLang="zh-CN" dirty="0"/>
          </a:p>
          <a:p>
            <a:pPr marL="0" indent="0">
              <a:buNone/>
            </a:pPr>
            <a:r>
              <a:rPr lang="en-US" altLang="zh-CN" dirty="0"/>
              <a:t>B </a:t>
            </a:r>
            <a:r>
              <a:rPr lang="zh-CN" altLang="en-US" dirty="0"/>
              <a:t>长短不同</a:t>
            </a:r>
            <a:endParaRPr lang="en-US" altLang="zh-CN" dirty="0"/>
          </a:p>
          <a:p>
            <a:pPr marL="0" indent="0">
              <a:buNone/>
            </a:pPr>
            <a:r>
              <a:rPr lang="en-US" altLang="zh-CN" dirty="0"/>
              <a:t>C </a:t>
            </a:r>
            <a:r>
              <a:rPr lang="zh-CN" altLang="en-US" dirty="0"/>
              <a:t>信号量</a:t>
            </a:r>
            <a:endParaRPr lang="en-US" altLang="zh-CN" dirty="0"/>
          </a:p>
          <a:p>
            <a:pPr marL="0" indent="0">
              <a:buNone/>
            </a:pPr>
            <a:r>
              <a:rPr lang="en-US" altLang="zh-CN" dirty="0"/>
              <a:t>D </a:t>
            </a:r>
            <a:r>
              <a:rPr lang="zh-CN" altLang="en-US" dirty="0"/>
              <a:t>并发执行</a:t>
            </a:r>
            <a:endParaRPr lang="en-US" altLang="zh-CN" dirty="0"/>
          </a:p>
          <a:p>
            <a:pPr marL="0" indent="0">
              <a:buNone/>
            </a:pPr>
            <a:endParaRPr lang="en-US" altLang="zh-CN" dirty="0"/>
          </a:p>
          <a:p>
            <a:pPr marL="0" indent="0">
              <a:buNone/>
            </a:pPr>
            <a:r>
              <a:rPr lang="zh-CN" altLang="en-US" dirty="0"/>
              <a:t>答案：</a:t>
            </a:r>
            <a:r>
              <a:rPr lang="en-US" altLang="zh-CN" dirty="0"/>
              <a:t>D</a:t>
            </a:r>
          </a:p>
          <a:p>
            <a:pPr marL="0" indent="0">
              <a:buNone/>
            </a:pPr>
            <a:endParaRPr lang="zh-CN" altLang="en-US" dirty="0"/>
          </a:p>
          <a:p>
            <a:endParaRPr lang="zh-CN" altLang="en-US" dirty="0"/>
          </a:p>
          <a:p>
            <a:endParaRPr lang="zh-CN" altLang="en-US" dirty="0"/>
          </a:p>
          <a:p>
            <a:endParaRPr lang="zh-CN" altLang="en-US" dirty="0"/>
          </a:p>
          <a:p>
            <a:endParaRPr lang="zh-CN" altLang="en-US" dirty="0"/>
          </a:p>
        </p:txBody>
      </p:sp>
    </p:spTree>
    <p:extLst>
      <p:ext uri="{BB962C8B-B14F-4D97-AF65-F5344CB8AC3E}">
        <p14:creationId xmlns:p14="http://schemas.microsoft.com/office/powerpoint/2010/main" val="2706931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980347-5657-45CE-895F-8F2C5F4C954A}"/>
              </a:ext>
            </a:extLst>
          </p:cNvPr>
          <p:cNvSpPr>
            <a:spLocks noGrp="1"/>
          </p:cNvSpPr>
          <p:nvPr>
            <p:ph type="title"/>
          </p:nvPr>
        </p:nvSpPr>
        <p:spPr/>
        <p:txBody>
          <a:bodyPr/>
          <a:lstStyle/>
          <a:p>
            <a:r>
              <a:rPr lang="zh-CN" altLang="en-US" sz="3200" dirty="0"/>
              <a:t>例题</a:t>
            </a:r>
            <a:endParaRPr lang="zh-CN" altLang="en-US" dirty="0"/>
          </a:p>
        </p:txBody>
      </p:sp>
      <p:sp>
        <p:nvSpPr>
          <p:cNvPr id="3" name="内容占位符 2">
            <a:extLst>
              <a:ext uri="{FF2B5EF4-FFF2-40B4-BE49-F238E27FC236}">
                <a16:creationId xmlns:a16="http://schemas.microsoft.com/office/drawing/2014/main" id="{3097C244-B69A-4CE8-80B3-6DF4FABA10B1}"/>
              </a:ext>
            </a:extLst>
          </p:cNvPr>
          <p:cNvSpPr>
            <a:spLocks noGrp="1"/>
          </p:cNvSpPr>
          <p:nvPr>
            <p:ph idx="1"/>
          </p:nvPr>
        </p:nvSpPr>
        <p:spPr>
          <a:xfrm>
            <a:off x="457200" y="1163637"/>
            <a:ext cx="8229600" cy="4530725"/>
          </a:xfrm>
        </p:spPr>
        <p:txBody>
          <a:bodyPr/>
          <a:lstStyle/>
          <a:p>
            <a:r>
              <a:rPr lang="zh-CN" altLang="en-US" sz="2400" b="0" dirty="0">
                <a:solidFill>
                  <a:srgbClr val="231F20"/>
                </a:solidFill>
                <a:effectLst/>
                <a:latin typeface="Palatino-Roman"/>
              </a:rPr>
              <a:t>自旋锁为什么不适用于单处理器系统，但在多处理器系统上经常用？</a:t>
            </a:r>
            <a:endParaRPr lang="en-US" altLang="zh-CN" sz="2400" b="0" dirty="0">
              <a:solidFill>
                <a:srgbClr val="231F20"/>
              </a:solidFill>
              <a:effectLst/>
              <a:latin typeface="Palatino-Roman"/>
            </a:endParaRPr>
          </a:p>
          <a:p>
            <a:r>
              <a:rPr lang="en-US" altLang="zh-CN" sz="2400" b="0" dirty="0">
                <a:solidFill>
                  <a:srgbClr val="231F20"/>
                </a:solidFill>
                <a:effectLst/>
                <a:latin typeface="Palatino-Roman"/>
              </a:rPr>
              <a:t>Explain why spinlocks are not appropriate for single-processor systems yet are often used in multiprocessor systems.</a:t>
            </a:r>
          </a:p>
          <a:p>
            <a:endParaRPr lang="en-US" altLang="zh-CN" sz="2400" dirty="0">
              <a:solidFill>
                <a:srgbClr val="231F20"/>
              </a:solidFill>
              <a:latin typeface="Palatino-Roman"/>
            </a:endParaRPr>
          </a:p>
          <a:p>
            <a:r>
              <a:rPr lang="zh-CN" altLang="en-US" sz="2400" dirty="0">
                <a:solidFill>
                  <a:srgbClr val="231F20"/>
                </a:solidFill>
                <a:latin typeface="Palatino-Roman"/>
              </a:rPr>
              <a:t>答：</a:t>
            </a:r>
            <a:endParaRPr lang="en-US" altLang="zh-CN" sz="2400" dirty="0">
              <a:solidFill>
                <a:srgbClr val="231F20"/>
              </a:solidFill>
              <a:latin typeface="Palatino-Roman"/>
            </a:endParaRPr>
          </a:p>
          <a:p>
            <a:pPr marL="0" indent="0">
              <a:buNone/>
            </a:pPr>
            <a:r>
              <a:rPr lang="zh-CN" altLang="en-US" sz="2400" dirty="0"/>
              <a:t>在单处理器上，线程的自旋会一直占用着唯一的</a:t>
            </a:r>
            <a:r>
              <a:rPr lang="en-US" altLang="zh-CN" sz="2400" dirty="0"/>
              <a:t>CPU</a:t>
            </a:r>
            <a:r>
              <a:rPr lang="zh-CN" altLang="en-US" sz="2400" dirty="0"/>
              <a:t>。</a:t>
            </a:r>
            <a:endParaRPr lang="en-US" altLang="zh-CN" sz="2400" dirty="0"/>
          </a:p>
          <a:p>
            <a:pPr marL="0" indent="0">
              <a:buNone/>
            </a:pPr>
            <a:r>
              <a:rPr lang="zh-CN" altLang="en-US" sz="2400" dirty="0"/>
              <a:t>而多处理器有多个</a:t>
            </a:r>
            <a:r>
              <a:rPr lang="en-US" altLang="zh-CN" sz="2400" dirty="0"/>
              <a:t>CPU</a:t>
            </a:r>
            <a:r>
              <a:rPr lang="zh-CN" altLang="en-US" sz="2400" dirty="0"/>
              <a:t>，自旋不会阻塞锁的持有者</a:t>
            </a:r>
          </a:p>
        </p:txBody>
      </p:sp>
    </p:spTree>
    <p:extLst>
      <p:ext uri="{BB962C8B-B14F-4D97-AF65-F5344CB8AC3E}">
        <p14:creationId xmlns:p14="http://schemas.microsoft.com/office/powerpoint/2010/main" val="2777891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660C0D-9B70-4748-9E4E-D249085B0010}"/>
              </a:ext>
            </a:extLst>
          </p:cNvPr>
          <p:cNvSpPr>
            <a:spLocks noGrp="1"/>
          </p:cNvSpPr>
          <p:nvPr>
            <p:ph type="title"/>
          </p:nvPr>
        </p:nvSpPr>
        <p:spPr/>
        <p:txBody>
          <a:bodyPr/>
          <a:lstStyle/>
          <a:p>
            <a:r>
              <a:rPr lang="zh-CN" altLang="en-US" dirty="0"/>
              <a:t>例题</a:t>
            </a:r>
          </a:p>
        </p:txBody>
      </p:sp>
      <p:sp>
        <p:nvSpPr>
          <p:cNvPr id="3" name="内容占位符 2">
            <a:extLst>
              <a:ext uri="{FF2B5EF4-FFF2-40B4-BE49-F238E27FC236}">
                <a16:creationId xmlns:a16="http://schemas.microsoft.com/office/drawing/2014/main" id="{B4E68559-2EF6-4267-865D-6F4C44683EAE}"/>
              </a:ext>
            </a:extLst>
          </p:cNvPr>
          <p:cNvSpPr>
            <a:spLocks noGrp="1"/>
          </p:cNvSpPr>
          <p:nvPr>
            <p:ph idx="1"/>
          </p:nvPr>
        </p:nvSpPr>
        <p:spPr>
          <a:xfrm>
            <a:off x="457200" y="1163637"/>
            <a:ext cx="8229600" cy="4530725"/>
          </a:xfrm>
        </p:spPr>
        <p:txBody>
          <a:bodyPr/>
          <a:lstStyle/>
          <a:p>
            <a:r>
              <a:rPr lang="zh-CN" altLang="en-US" sz="2400" dirty="0">
                <a:solidFill>
                  <a:srgbClr val="231F20"/>
                </a:solidFill>
                <a:latin typeface="Palatino-Roman"/>
              </a:rPr>
              <a:t>与管程相关的</a:t>
            </a:r>
            <a:r>
              <a:rPr lang="en-US" altLang="zh-CN" sz="2400" dirty="0">
                <a:solidFill>
                  <a:srgbClr val="231F20"/>
                </a:solidFill>
                <a:latin typeface="Palatino-Roman"/>
              </a:rPr>
              <a:t>signal</a:t>
            </a:r>
            <a:r>
              <a:rPr lang="zh-CN" altLang="en-US" sz="2400" dirty="0">
                <a:solidFill>
                  <a:srgbClr val="231F20"/>
                </a:solidFill>
                <a:latin typeface="Palatino-Roman"/>
              </a:rPr>
              <a:t>（）操作与为信号量定义的相应操作有何不同？</a:t>
            </a:r>
          </a:p>
          <a:p>
            <a:r>
              <a:rPr lang="en-US" altLang="zh-CN" sz="2400" dirty="0">
                <a:solidFill>
                  <a:srgbClr val="231F20"/>
                </a:solidFill>
                <a:latin typeface="Palatino-Roman"/>
              </a:rPr>
              <a:t>How does the signal() operation associated with monitors differ from the corresponding operation deﬁned for semaphores?</a:t>
            </a:r>
          </a:p>
          <a:p>
            <a:endParaRPr lang="en-US" altLang="zh-CN" sz="2400" dirty="0">
              <a:solidFill>
                <a:srgbClr val="231F20"/>
              </a:solidFill>
              <a:latin typeface="Palatino-Roman"/>
            </a:endParaRPr>
          </a:p>
          <a:p>
            <a:r>
              <a:rPr lang="zh-CN" altLang="en-US" sz="2400" dirty="0">
                <a:solidFill>
                  <a:srgbClr val="231F20"/>
                </a:solidFill>
                <a:latin typeface="Palatino-Roman"/>
              </a:rPr>
              <a:t>答：管程包括一个条件变量和其对应的等待队列</a:t>
            </a:r>
            <a:endParaRPr lang="en-US" altLang="zh-CN" sz="2400" dirty="0">
              <a:solidFill>
                <a:srgbClr val="231F20"/>
              </a:solidFill>
              <a:latin typeface="Palatino-Roman"/>
            </a:endParaRPr>
          </a:p>
          <a:p>
            <a:r>
              <a:rPr lang="zh-CN" altLang="en-US" sz="2400" dirty="0">
                <a:solidFill>
                  <a:srgbClr val="231F20"/>
                </a:solidFill>
                <a:latin typeface="Palatino-Roman"/>
              </a:rPr>
              <a:t> 信号量的 </a:t>
            </a:r>
            <a:r>
              <a:rPr lang="en-US" altLang="zh-CN" sz="2400" dirty="0">
                <a:solidFill>
                  <a:srgbClr val="231F20"/>
                </a:solidFill>
                <a:latin typeface="Palatino-Roman"/>
              </a:rPr>
              <a:t>signal() </a:t>
            </a:r>
            <a:r>
              <a:rPr lang="zh-CN" altLang="en-US" sz="2400" dirty="0">
                <a:solidFill>
                  <a:srgbClr val="231F20"/>
                </a:solidFill>
                <a:latin typeface="Palatino-Roman"/>
              </a:rPr>
              <a:t>是“累积的”，它会改变信号量的状态（增加计数值），这个状态变化是持久的，即使当时没有线程在等待。</a:t>
            </a:r>
          </a:p>
          <a:p>
            <a:r>
              <a:rPr lang="zh-CN" altLang="en-US" sz="2400" dirty="0">
                <a:solidFill>
                  <a:srgbClr val="231F20"/>
                </a:solidFill>
                <a:latin typeface="Palatino-Roman"/>
              </a:rPr>
              <a:t>    管程的 </a:t>
            </a:r>
            <a:r>
              <a:rPr lang="en-US" altLang="zh-CN" sz="2400" dirty="0">
                <a:solidFill>
                  <a:srgbClr val="231F20"/>
                </a:solidFill>
                <a:latin typeface="Palatino-Roman"/>
              </a:rPr>
              <a:t>signal() </a:t>
            </a:r>
            <a:r>
              <a:rPr lang="zh-CN" altLang="en-US" sz="2400" dirty="0">
                <a:solidFill>
                  <a:srgbClr val="231F20"/>
                </a:solidFill>
                <a:latin typeface="Palatino-Roman"/>
              </a:rPr>
              <a:t>是“非累积的”，它更像一个通知。如果发出通知时没有线程在条件变量上等待，那么这个通知就丢失了，不会产生任何效果。</a:t>
            </a:r>
          </a:p>
        </p:txBody>
      </p:sp>
    </p:spTree>
    <p:extLst>
      <p:ext uri="{BB962C8B-B14F-4D97-AF65-F5344CB8AC3E}">
        <p14:creationId xmlns:p14="http://schemas.microsoft.com/office/powerpoint/2010/main" val="2180473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3" name="Rectangle 2"/>
          <p:cNvSpPr>
            <a:spLocks noGrp="1"/>
          </p:cNvSpPr>
          <p:nvPr>
            <p:ph type="ctrTitle"/>
          </p:nvPr>
        </p:nvSpPr>
        <p:spPr>
          <a:ln/>
        </p:spPr>
        <p:txBody>
          <a:bodyPr vert="horz" wrap="square" lIns="91440" tIns="45720" rIns="91440" bIns="45720" anchor="b" anchorCtr="0"/>
          <a:lstStyle/>
          <a:p>
            <a:pPr eaLnBrk="1" hangingPunct="1">
              <a:buClrTx/>
              <a:buSzTx/>
              <a:buFontTx/>
            </a:pPr>
            <a:r>
              <a:rPr lang="en-US" altLang="zh-CN" dirty="0">
                <a:latin typeface="+mj-lt"/>
                <a:ea typeface="MS PGothic" panose="020B0600070205080204" pitchFamily="34" charset="-128"/>
                <a:cs typeface="+mj-cs"/>
              </a:rPr>
              <a:t>End of Chapter 6</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604030504040204" pitchFamily="34"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OS8</Template>
  <TotalTime>2893</TotalTime>
  <Words>13935</Words>
  <Application>Microsoft Office PowerPoint</Application>
  <PresentationFormat>全屏显示(4:3)</PresentationFormat>
  <Paragraphs>1905</Paragraphs>
  <Slides>172</Slides>
  <Notes>122</Notes>
  <HiddenSlides>4</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172</vt:i4>
      </vt:variant>
    </vt:vector>
  </HeadingPairs>
  <TitlesOfParts>
    <vt:vector size="189" baseType="lpstr">
      <vt:lpstr>Palatino-Roman</vt:lpstr>
      <vt:lpstr>黑体</vt:lpstr>
      <vt:lpstr>华文宋体</vt:lpstr>
      <vt:lpstr>宋体</vt:lpstr>
      <vt:lpstr>Arial</vt:lpstr>
      <vt:lpstr>Comic Sans MS</vt:lpstr>
      <vt:lpstr>Helvetica</vt:lpstr>
      <vt:lpstr>Monotype Sorts</vt:lpstr>
      <vt:lpstr>PingFang SC</vt:lpstr>
      <vt:lpstr>Times New Roman</vt:lpstr>
      <vt:lpstr>Verdana</vt:lpstr>
      <vt:lpstr>Webdings</vt:lpstr>
      <vt:lpstr>Wingdings</vt:lpstr>
      <vt:lpstr>Wingdings 2</vt:lpstr>
      <vt:lpstr>os-8</vt:lpstr>
      <vt:lpstr>Microsoft Visio 2000/2002 Drawing</vt:lpstr>
      <vt:lpstr>Visio</vt:lpstr>
      <vt:lpstr>   Chapter 6: Process Synchronization</vt:lpstr>
      <vt:lpstr>  Chapter 6: Process Synchronization</vt:lpstr>
      <vt:lpstr>  Background</vt:lpstr>
      <vt:lpstr>  Background</vt:lpstr>
      <vt:lpstr>  Producer </vt:lpstr>
      <vt:lpstr>  Consumer</vt:lpstr>
      <vt:lpstr>Race Condition (竞争条件)</vt:lpstr>
      <vt:lpstr>Race Condition (竞争条件)</vt:lpstr>
      <vt:lpstr>Race Condition (竞争条件)</vt:lpstr>
      <vt:lpstr>Race Condition (竞争条件)</vt:lpstr>
      <vt:lpstr>Two threads, one counter</vt:lpstr>
      <vt:lpstr>Shared counters</vt:lpstr>
      <vt:lpstr>Objectives</vt:lpstr>
      <vt:lpstr>     Critical-Section (临界区)</vt:lpstr>
      <vt:lpstr>     Critical-Section</vt:lpstr>
      <vt:lpstr>     Solution to Critical-Section Problem</vt:lpstr>
      <vt:lpstr>Critical Section Goals</vt:lpstr>
      <vt:lpstr>Critical Section Goals</vt:lpstr>
      <vt:lpstr>Solving the problem</vt:lpstr>
      <vt:lpstr>Solving the problem: Take 2</vt:lpstr>
      <vt:lpstr>Solving the problem: Take 3</vt:lpstr>
      <vt:lpstr>PowerPoint 演示文稿</vt:lpstr>
      <vt:lpstr>Solving the problem : Take 1</vt:lpstr>
      <vt:lpstr>Solving the problem: Take 2</vt:lpstr>
      <vt:lpstr>Solving the problem: Take 3</vt:lpstr>
      <vt:lpstr>Objectives</vt:lpstr>
      <vt:lpstr>  Peterson’s Solution</vt:lpstr>
      <vt:lpstr>Peterson’s Algorithm</vt:lpstr>
      <vt:lpstr>Dekker Algorithm</vt:lpstr>
      <vt:lpstr>Objectives</vt:lpstr>
      <vt:lpstr>  Synchronization Hardware</vt:lpstr>
      <vt:lpstr>  Solution to Critical-section Problem Using Locks </vt:lpstr>
      <vt:lpstr>  Solution 1: TestAndSet Instruction </vt:lpstr>
      <vt:lpstr>Solution using TestAndSet</vt:lpstr>
      <vt:lpstr>  Solution using TestAndSet</vt:lpstr>
      <vt:lpstr>  Solution 2:  Swap Instruction</vt:lpstr>
      <vt:lpstr>Solution using Swap</vt:lpstr>
      <vt:lpstr>  Solution using Swap</vt:lpstr>
      <vt:lpstr>忙等待和无忙等待</vt:lpstr>
      <vt:lpstr>忙等待和无忙等待</vt:lpstr>
      <vt:lpstr>原子操作优点</vt:lpstr>
      <vt:lpstr>原子操作的缺点</vt:lpstr>
      <vt:lpstr>禁用中断</vt:lpstr>
      <vt:lpstr>禁用中断缺点</vt:lpstr>
      <vt:lpstr>An example</vt:lpstr>
      <vt:lpstr>临界区小结</vt:lpstr>
      <vt:lpstr>本节小结</vt:lpstr>
      <vt:lpstr>习题</vt:lpstr>
      <vt:lpstr>习题</vt:lpstr>
      <vt:lpstr>习题</vt:lpstr>
      <vt:lpstr>PowerPoint 演示文稿</vt:lpstr>
      <vt:lpstr>  Chapter 6: Process Synchronization</vt:lpstr>
      <vt:lpstr>Semaphore</vt:lpstr>
      <vt:lpstr>Semaphore Implementation</vt:lpstr>
      <vt:lpstr>Semaphore Implementation with no Busy waiting </vt:lpstr>
      <vt:lpstr>Semaphore Implementation with no Busy waiting (Cont.)</vt:lpstr>
      <vt:lpstr>Semaphore as General Synchronization Tool</vt:lpstr>
      <vt:lpstr>Deadlock and Starvation</vt:lpstr>
      <vt:lpstr>Deadlock and Starvation</vt:lpstr>
      <vt:lpstr>Deadlock and Starvation</vt:lpstr>
      <vt:lpstr>Deadlock and Starvation</vt:lpstr>
      <vt:lpstr>PowerPoint 演示文稿</vt:lpstr>
      <vt:lpstr>PowerPoint 演示文稿</vt:lpstr>
      <vt:lpstr>(互斥）Mutual exclusion using semaphore</vt:lpstr>
      <vt:lpstr>（同步）Synchronization using semaphore</vt:lpstr>
      <vt:lpstr>PowerPoint 演示文稿</vt:lpstr>
      <vt:lpstr>PowerPoint 演示文稿</vt:lpstr>
      <vt:lpstr>PowerPoint 演示文稿</vt:lpstr>
      <vt:lpstr>PowerPoint 演示文稿</vt:lpstr>
      <vt:lpstr>  Chapter 6: Process Synchronization</vt:lpstr>
      <vt:lpstr>Classical Problems of Synchronization</vt:lpstr>
      <vt:lpstr>Bounded-Buffer Problem</vt:lpstr>
      <vt:lpstr>Bounded-Buffer Problem</vt:lpstr>
      <vt:lpstr>Producer-Consumer Problem</vt:lpstr>
      <vt:lpstr>Bounded-Buffer Problem</vt:lpstr>
      <vt:lpstr>PowerPoint 演示文稿</vt:lpstr>
      <vt:lpstr>Bounded Buffer Problem (Cont.)</vt:lpstr>
      <vt:lpstr>Bounded Buffer Problem (Cont.)</vt:lpstr>
      <vt:lpstr>Bounded-Buffer Problem</vt:lpstr>
      <vt:lpstr>Bounded Buffer Constructor</vt:lpstr>
      <vt:lpstr>enter() Method</vt:lpstr>
      <vt:lpstr>remove() Method</vt:lpstr>
      <vt:lpstr>What’s wrong?</vt:lpstr>
      <vt:lpstr>Discussion about Bounded Buffer Solution</vt:lpstr>
      <vt:lpstr>Readers-Writers Problem</vt:lpstr>
      <vt:lpstr>Readers-Writers Problem</vt:lpstr>
      <vt:lpstr>PowerPoint 演示文稿</vt:lpstr>
      <vt:lpstr>PowerPoint 演示文稿</vt:lpstr>
      <vt:lpstr>Readers-Writers Problem: Reader</vt:lpstr>
      <vt:lpstr>Readers-Writers Problem (cont)</vt:lpstr>
      <vt:lpstr>startRead() Method</vt:lpstr>
      <vt:lpstr>endRead() Method</vt:lpstr>
      <vt:lpstr>Writer Methods</vt:lpstr>
      <vt:lpstr>Dining-Philosophers Problem</vt:lpstr>
      <vt:lpstr>Dining-Philosophers Problem (Cont.)</vt:lpstr>
      <vt:lpstr>Solution2：AND semaphore</vt:lpstr>
      <vt:lpstr>Discussion about Semaphores</vt:lpstr>
      <vt:lpstr>Discussion about Semaphores( Cont.)</vt:lpstr>
      <vt:lpstr>Tips</vt:lpstr>
      <vt:lpstr>例题</vt:lpstr>
      <vt:lpstr>PowerPoint 演示文稿</vt:lpstr>
      <vt:lpstr>PowerPoint 演示文稿</vt:lpstr>
      <vt:lpstr>PowerPoint 演示文稿</vt:lpstr>
      <vt:lpstr>PowerPoint 演示文稿</vt:lpstr>
      <vt:lpstr>PowerPoint 演示文稿</vt:lpstr>
      <vt:lpstr>PowerPoint 演示文稿</vt:lpstr>
      <vt:lpstr>  Chapter 6: Process Synchronization</vt:lpstr>
      <vt:lpstr>Monitors</vt:lpstr>
      <vt:lpstr>Monitors</vt:lpstr>
      <vt:lpstr>Schematic view of a Monitor</vt:lpstr>
      <vt:lpstr>Condition Variables</vt:lpstr>
      <vt:lpstr>Condition Variables</vt:lpstr>
      <vt:lpstr> Monitor with Condition Variables</vt:lpstr>
      <vt:lpstr>Producer Consumer using Monitors</vt:lpstr>
      <vt:lpstr>Producer Consumer using Monitors</vt:lpstr>
      <vt:lpstr>Solution to Dining Philosophers</vt:lpstr>
      <vt:lpstr>Solution to Dining Philosophers (cont)</vt:lpstr>
      <vt:lpstr>Solution to Dining Philosophers (cont)</vt:lpstr>
      <vt:lpstr>Monitor Implementation Using Semaphores</vt:lpstr>
      <vt:lpstr>Monitor Implementation Using Semaphores</vt:lpstr>
      <vt:lpstr>Monitor Implementation</vt:lpstr>
      <vt:lpstr>PowerPoint 演示文稿</vt:lpstr>
      <vt:lpstr>PowerPoint 演示文稿</vt:lpstr>
      <vt:lpstr>PowerPoint 演示文稿</vt:lpstr>
      <vt:lpstr>PowerPoint 演示文稿</vt:lpstr>
      <vt:lpstr>PowerPoint 演示文稿</vt:lpstr>
      <vt:lpstr>Tips</vt:lpstr>
      <vt:lpstr>PowerPoint 演示文稿</vt:lpstr>
      <vt:lpstr>PowerPoint 演示文稿</vt:lpstr>
      <vt:lpstr>PowerPoint 演示文稿</vt:lpstr>
      <vt:lpstr>PowerPoint 演示文稿</vt:lpstr>
      <vt:lpstr>PowerPoint 演示文稿</vt:lpstr>
      <vt:lpstr>PowerPoint 演示文稿</vt:lpstr>
      <vt:lpstr>  Chapter 6: Process Synchronization</vt:lpstr>
      <vt:lpstr>Synchronization Examples</vt:lpstr>
      <vt:lpstr>Solaris Synchronization</vt:lpstr>
      <vt:lpstr>Solaris Synchronization</vt:lpstr>
      <vt:lpstr>Solaris Synchronization</vt:lpstr>
      <vt:lpstr>Windows XP Synchronization</vt:lpstr>
      <vt:lpstr>Linux Synchronization</vt:lpstr>
      <vt:lpstr>Pthreads Synchronization</vt:lpstr>
      <vt:lpstr>Java Synchronization</vt:lpstr>
      <vt:lpstr>Java Synchronization</vt:lpstr>
      <vt:lpstr>Entry Set</vt:lpstr>
      <vt:lpstr>synchronized enter() Method</vt:lpstr>
      <vt:lpstr>synchronized remove() Method</vt:lpstr>
      <vt:lpstr>Java Synchronization</vt:lpstr>
      <vt:lpstr> Java Synchronization</vt:lpstr>
      <vt:lpstr>Java Synchronization</vt:lpstr>
      <vt:lpstr>Entry and Wait Sets</vt:lpstr>
      <vt:lpstr>Entry Set</vt:lpstr>
      <vt:lpstr>The wait() Method</vt:lpstr>
      <vt:lpstr>The notify() Method</vt:lpstr>
      <vt:lpstr>Multiple Notifications</vt:lpstr>
      <vt:lpstr>Multiple Notifications</vt:lpstr>
      <vt:lpstr>The Readers-Writers Problem</vt:lpstr>
      <vt:lpstr>Reader Methods with Java Synchronization</vt:lpstr>
      <vt:lpstr>Writer Methods</vt:lpstr>
      <vt:lpstr>startRead() Method</vt:lpstr>
      <vt:lpstr>endRead() Method</vt:lpstr>
      <vt:lpstr>Block Synchronization</vt:lpstr>
      <vt:lpstr>Java Semaphores</vt:lpstr>
      <vt:lpstr>Semaphore Class</vt:lpstr>
      <vt:lpstr>P() Operation</vt:lpstr>
      <vt:lpstr>V() Operation</vt:lpstr>
      <vt:lpstr>Java Synchronization rules</vt:lpstr>
      <vt:lpstr>Java Synchronization rules(Cont.)</vt:lpstr>
      <vt:lpstr>例题</vt:lpstr>
      <vt:lpstr>例题</vt:lpstr>
      <vt:lpstr>例题</vt:lpstr>
      <vt:lpstr>例题</vt:lpstr>
      <vt:lpstr>End of Chapter 6</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 5.01</dc:title>
  <dc:creator>Marilyn Turnamian</dc:creator>
  <cp:lastModifiedBy>鸽 王</cp:lastModifiedBy>
  <cp:revision>653</cp:revision>
  <cp:lastPrinted>2001-06-14T14:23:12Z</cp:lastPrinted>
  <dcterms:created xsi:type="dcterms:W3CDTF">2008-07-16T21:23:58Z</dcterms:created>
  <dcterms:modified xsi:type="dcterms:W3CDTF">2025-10-16T15:49:58Z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FCB533CF247344FDBD55F4E828AD1E17</vt:lpwstr>
  </property>
  <property fmtid="{D5CDD505-2E9C-101B-9397-08002B2CF9AE}" pid="3" name="KSOProductBuildVer">
    <vt:lpwstr>2052-11.1.0.11045</vt:lpwstr>
  </property>
</Properties>
</file>
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2" r:id="rId3"/>
    <p:sldMasterId id="2147483676" r:id="rId4"/>
  </p:sldMasterIdLst>
  <p:notesMasterIdLst>
    <p:notesMasterId r:id="rId6"/>
  </p:notesMasterIdLst>
  <p:handoutMasterIdLst>
    <p:handoutMasterId r:id="rId88"/>
  </p:handoutMasterIdLst>
  <p:sldIdLst>
    <p:sldId id="518" r:id="rId5"/>
    <p:sldId id="2108" r:id="rId7"/>
    <p:sldId id="542" r:id="rId8"/>
    <p:sldId id="543" r:id="rId9"/>
    <p:sldId id="562" r:id="rId10"/>
    <p:sldId id="547" r:id="rId11"/>
    <p:sldId id="609" r:id="rId12"/>
    <p:sldId id="549" r:id="rId13"/>
    <p:sldId id="572" r:id="rId14"/>
    <p:sldId id="573" r:id="rId15"/>
    <p:sldId id="552" r:id="rId16"/>
    <p:sldId id="596" r:id="rId17"/>
    <p:sldId id="595" r:id="rId18"/>
    <p:sldId id="574" r:id="rId19"/>
    <p:sldId id="678" r:id="rId20"/>
    <p:sldId id="2110" r:id="rId21"/>
    <p:sldId id="2111" r:id="rId22"/>
    <p:sldId id="2112" r:id="rId23"/>
    <p:sldId id="2113" r:id="rId24"/>
    <p:sldId id="679" r:id="rId25"/>
    <p:sldId id="563" r:id="rId26"/>
    <p:sldId id="550" r:id="rId27"/>
    <p:sldId id="551" r:id="rId28"/>
    <p:sldId id="564" r:id="rId29"/>
    <p:sldId id="544" r:id="rId30"/>
    <p:sldId id="568" r:id="rId31"/>
    <p:sldId id="569" r:id="rId32"/>
    <p:sldId id="570" r:id="rId33"/>
    <p:sldId id="2114" r:id="rId34"/>
    <p:sldId id="571" r:id="rId35"/>
    <p:sldId id="2109" r:id="rId36"/>
    <p:sldId id="585" r:id="rId37"/>
    <p:sldId id="586" r:id="rId38"/>
    <p:sldId id="587" r:id="rId39"/>
    <p:sldId id="588" r:id="rId40"/>
    <p:sldId id="589" r:id="rId41"/>
    <p:sldId id="590" r:id="rId42"/>
    <p:sldId id="634" r:id="rId43"/>
    <p:sldId id="635" r:id="rId44"/>
    <p:sldId id="636" r:id="rId45"/>
    <p:sldId id="638" r:id="rId46"/>
    <p:sldId id="639" r:id="rId47"/>
    <p:sldId id="640" r:id="rId48"/>
    <p:sldId id="555" r:id="rId49"/>
    <p:sldId id="623" r:id="rId50"/>
    <p:sldId id="624" r:id="rId51"/>
    <p:sldId id="594" r:id="rId52"/>
    <p:sldId id="625" r:id="rId53"/>
    <p:sldId id="560" r:id="rId54"/>
    <p:sldId id="553" r:id="rId55"/>
    <p:sldId id="561" r:id="rId56"/>
    <p:sldId id="575" r:id="rId57"/>
    <p:sldId id="576" r:id="rId58"/>
    <p:sldId id="577" r:id="rId59"/>
    <p:sldId id="578" r:id="rId60"/>
    <p:sldId id="580" r:id="rId61"/>
    <p:sldId id="581" r:id="rId62"/>
    <p:sldId id="582" r:id="rId63"/>
    <p:sldId id="583" r:id="rId64"/>
    <p:sldId id="612" r:id="rId65"/>
    <p:sldId id="611" r:id="rId66"/>
    <p:sldId id="613" r:id="rId67"/>
    <p:sldId id="614" r:id="rId68"/>
    <p:sldId id="615" r:id="rId69"/>
    <p:sldId id="618" r:id="rId70"/>
    <p:sldId id="621" r:id="rId71"/>
    <p:sldId id="619" r:id="rId72"/>
    <p:sldId id="620" r:id="rId73"/>
    <p:sldId id="622" r:id="rId74"/>
    <p:sldId id="641" r:id="rId75"/>
    <p:sldId id="650" r:id="rId76"/>
    <p:sldId id="642" r:id="rId77"/>
    <p:sldId id="643" r:id="rId78"/>
    <p:sldId id="645" r:id="rId79"/>
    <p:sldId id="646" r:id="rId80"/>
    <p:sldId id="647" r:id="rId81"/>
    <p:sldId id="648" r:id="rId82"/>
    <p:sldId id="649" r:id="rId83"/>
    <p:sldId id="651" r:id="rId84"/>
    <p:sldId id="656" r:id="rId85"/>
    <p:sldId id="658" r:id="rId86"/>
    <p:sldId id="608" r:id="rId87"/>
  </p:sldIdLst>
  <p:sldSz cx="9144000" cy="6858000" type="screen4x3"/>
  <p:notesSz cx="6858000" cy="9144000"/>
  <p:embeddedFontLst>
    <p:embeddedFont>
      <p:font typeface="微软雅黑" charset="0"/>
      <p:regular r:id="rId92"/>
    </p:embeddedFont>
    <p:embeddedFont>
      <p:font typeface="黑体" pitchFamily="49" charset="-122"/>
      <p:regular r:id="rId93"/>
    </p:embeddedFont>
    <p:embeddedFont>
      <p:font typeface="Wingdings 2" panose="05020102010507070707" pitchFamily="18" charset="2"/>
      <p:regular r:id="rId94"/>
    </p:embeddedFont>
    <p:embeddedFont>
      <p:font typeface="Arial Unicode MS" panose="020B0604020202020204" charset="-122"/>
      <p:regular r:id="rId95"/>
    </p:embeddedFont>
    <p:embeddedFont>
      <p:font typeface="Calibri" panose="020F0502020204030204" pitchFamily="34" charset="0"/>
      <p:regular r:id="rId96"/>
    </p:embeddedFont>
    <p:embeddedFont>
      <p:font typeface="方正兰亭中黑_GBK" panose="02000000000000000000" pitchFamily="2" charset="-122"/>
      <p:regular r:id="rId97"/>
    </p:embeddedFont>
  </p:embeddedFont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anose="020B080403050404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anose="020B080403050404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anose="020B080403050404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anose="020B080403050404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anose="020B080403050404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Verdana" panose="020B0804030504040204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Verdana" panose="020B0804030504040204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Verdana" panose="020B0804030504040204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Verdana" panose="020B080403050404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57AE"/>
    <a:srgbClr val="0000FF"/>
    <a:srgbClr val="FF9933"/>
    <a:srgbClr val="FFFFCC"/>
    <a:srgbClr val="FFFFFF"/>
    <a:srgbClr val="CCFF99"/>
    <a:srgbClr val="99FF99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79" autoAdjust="0"/>
    <p:restoredTop sz="95447" autoAdjust="0"/>
  </p:normalViewPr>
  <p:slideViewPr>
    <p:cSldViewPr showGuides="1">
      <p:cViewPr varScale="1">
        <p:scale>
          <a:sx n="106" d="100"/>
          <a:sy n="106" d="100"/>
        </p:scale>
        <p:origin x="1632" y="5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08"/>
    </p:cViewPr>
  </p:sorterViewPr>
  <p:notesViewPr>
    <p:cSldViewPr>
      <p:cViewPr varScale="1">
        <p:scale>
          <a:sx n="57" d="100"/>
          <a:sy n="57" d="100"/>
        </p:scale>
        <p:origin x="-183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7" Type="http://schemas.openxmlformats.org/officeDocument/2006/relationships/font" Target="fonts/font6.fntdata"/><Relationship Id="rId96" Type="http://schemas.openxmlformats.org/officeDocument/2006/relationships/font" Target="fonts/font5.fntdata"/><Relationship Id="rId95" Type="http://schemas.openxmlformats.org/officeDocument/2006/relationships/font" Target="fonts/font4.fntdata"/><Relationship Id="rId94" Type="http://schemas.openxmlformats.org/officeDocument/2006/relationships/font" Target="fonts/font3.fntdata"/><Relationship Id="rId93" Type="http://schemas.openxmlformats.org/officeDocument/2006/relationships/font" Target="fonts/font2.fntdata"/><Relationship Id="rId92" Type="http://schemas.openxmlformats.org/officeDocument/2006/relationships/font" Target="fonts/font1.fntdata"/><Relationship Id="rId91" Type="http://schemas.openxmlformats.org/officeDocument/2006/relationships/tableStyles" Target="tableStyles.xml"/><Relationship Id="rId90" Type="http://schemas.openxmlformats.org/officeDocument/2006/relationships/viewProps" Target="viewProps.xml"/><Relationship Id="rId9" Type="http://schemas.openxmlformats.org/officeDocument/2006/relationships/slide" Target="slides/slide4.xml"/><Relationship Id="rId89" Type="http://schemas.openxmlformats.org/officeDocument/2006/relationships/presProps" Target="presProps.xml"/><Relationship Id="rId88" Type="http://schemas.openxmlformats.org/officeDocument/2006/relationships/handoutMaster" Target="handoutMasters/handoutMaster1.xml"/><Relationship Id="rId87" Type="http://schemas.openxmlformats.org/officeDocument/2006/relationships/slide" Target="slides/slide82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80" Type="http://schemas.openxmlformats.org/officeDocument/2006/relationships/slide" Target="slides/slide75.xml"/><Relationship Id="rId8" Type="http://schemas.openxmlformats.org/officeDocument/2006/relationships/slide" Target="slides/slide3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7" Type="http://schemas.openxmlformats.org/officeDocument/2006/relationships/slide" Target="slides/slide2.xml"/><Relationship Id="rId69" Type="http://schemas.openxmlformats.org/officeDocument/2006/relationships/slide" Target="slides/slide64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0" Type="http://schemas.openxmlformats.org/officeDocument/2006/relationships/slide" Target="slides/slide55.xml"/><Relationship Id="rId6" Type="http://schemas.openxmlformats.org/officeDocument/2006/relationships/notesMaster" Target="notesMasters/notesMaster1.xml"/><Relationship Id="rId59" Type="http://schemas.openxmlformats.org/officeDocument/2006/relationships/slide" Target="slides/slide54.xml"/><Relationship Id="rId58" Type="http://schemas.openxmlformats.org/officeDocument/2006/relationships/slide" Target="slides/slide53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8330AB-FD57-4F24-943F-B43B1DA1E5BC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/>
      <dgm:spPr/>
    </dgm:pt>
    <dgm:pt modelId="{9624EA7F-A502-459B-B551-74E9DBED7969}">
      <dgm:prSet/>
      <dgm:spPr/>
      <dgm:t>
        <a:bodyPr/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黑体" pitchFamily="49" charset="-122"/>
            </a:rPr>
            <a:t>Computer </a:t>
          </a:r>
        </a:p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黑体" pitchFamily="49" charset="-122"/>
            </a:rPr>
            <a:t>[support=10%]</a:t>
          </a:r>
        </a:p>
      </dgm:t>
    </dgm:pt>
    <dgm:pt modelId="{D5DA1F72-7ECB-446F-B06C-E58777D788C8}" cxnId="{95F3CE2D-67F1-4207-8FF5-BDA31A3BE443}" type="parTrans">
      <dgm:prSet/>
      <dgm:spPr/>
      <dgm:t>
        <a:bodyPr/>
        <a:lstStyle/>
        <a:p>
          <a:endParaRPr lang="zh-CN" altLang="en-US"/>
        </a:p>
      </dgm:t>
    </dgm:pt>
    <dgm:pt modelId="{51B38BBD-C54F-4507-954B-39CC0A944D77}" cxnId="{95F3CE2D-67F1-4207-8FF5-BDA31A3BE443}" type="sibTrans">
      <dgm:prSet/>
      <dgm:spPr/>
      <dgm:t>
        <a:bodyPr/>
        <a:lstStyle/>
        <a:p>
          <a:endParaRPr lang="zh-CN" altLang="en-US"/>
        </a:p>
      </dgm:t>
    </dgm:pt>
    <dgm:pt modelId="{B9AE3D6A-EC7A-44C3-9833-D6A21580C918}">
      <dgm:prSet/>
      <dgm:spPr/>
      <dgm:t>
        <a:bodyPr/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黑体" pitchFamily="49" charset="-122"/>
            </a:rPr>
            <a:t>Laptop</a:t>
          </a:r>
        </a:p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黑体" pitchFamily="49" charset="-122"/>
            </a:rPr>
            <a:t>[support=6%]</a:t>
          </a:r>
        </a:p>
      </dgm:t>
    </dgm:pt>
    <dgm:pt modelId="{C492574B-B1C3-4292-B709-2C504E62391A}" cxnId="{FBA7A396-805E-46E1-AC89-6BB96384A914}" type="parTrans">
      <dgm:prSet/>
      <dgm:spPr/>
      <dgm:t>
        <a:bodyPr/>
        <a:lstStyle/>
        <a:p>
          <a:endParaRPr lang="zh-CN" altLang="en-US"/>
        </a:p>
      </dgm:t>
    </dgm:pt>
    <dgm:pt modelId="{906E582A-8B38-44AA-9EDA-C92919548734}" cxnId="{FBA7A396-805E-46E1-AC89-6BB96384A914}" type="sibTrans">
      <dgm:prSet/>
      <dgm:spPr/>
      <dgm:t>
        <a:bodyPr/>
        <a:lstStyle/>
        <a:p>
          <a:endParaRPr lang="zh-CN" altLang="en-US"/>
        </a:p>
      </dgm:t>
    </dgm:pt>
    <dgm:pt modelId="{9270D4BE-88DB-4F8A-8DDF-C3F56CF46B83}">
      <dgm:prSet/>
      <dgm:spPr/>
      <dgm:t>
        <a:bodyPr/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黑体" pitchFamily="49" charset="-122"/>
            </a:rPr>
            <a:t>Desktop</a:t>
          </a:r>
        </a:p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黑体" pitchFamily="49" charset="-122"/>
            </a:rPr>
            <a:t>[support=4%]</a:t>
          </a:r>
        </a:p>
      </dgm:t>
    </dgm:pt>
    <dgm:pt modelId="{20222196-2FD4-4CC1-8152-A7C875D81FDB}" cxnId="{B8434AED-CC7B-41C9-863B-CF72D2EAC35A}" type="parTrans">
      <dgm:prSet/>
      <dgm:spPr/>
      <dgm:t>
        <a:bodyPr/>
        <a:lstStyle/>
        <a:p>
          <a:endParaRPr lang="zh-CN" altLang="en-US"/>
        </a:p>
      </dgm:t>
    </dgm:pt>
    <dgm:pt modelId="{D0D4A262-317B-416C-8157-1A9AD5A47BF6}" cxnId="{B8434AED-CC7B-41C9-863B-CF72D2EAC35A}" type="sibTrans">
      <dgm:prSet/>
      <dgm:spPr/>
      <dgm:t>
        <a:bodyPr/>
        <a:lstStyle/>
        <a:p>
          <a:endParaRPr lang="zh-CN" altLang="en-US"/>
        </a:p>
      </dgm:t>
    </dgm:pt>
    <dgm:pt modelId="{85AA5833-4AD9-4324-B08F-D9293DE3B975}" type="pres">
      <dgm:prSet presAssocID="{538330AB-FD57-4F24-943F-B43B1DA1E5B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AE0CF9C-8107-4064-96A6-104E3AD2244F}" type="pres">
      <dgm:prSet presAssocID="{9624EA7F-A502-459B-B551-74E9DBED7969}" presName="hierRoot1" presStyleCnt="0">
        <dgm:presLayoutVars>
          <dgm:hierBranch/>
        </dgm:presLayoutVars>
      </dgm:prSet>
      <dgm:spPr/>
    </dgm:pt>
    <dgm:pt modelId="{04F0F23A-F707-4229-9333-E951FD1526A8}" type="pres">
      <dgm:prSet presAssocID="{9624EA7F-A502-459B-B551-74E9DBED7969}" presName="rootComposite1" presStyleCnt="0"/>
      <dgm:spPr/>
    </dgm:pt>
    <dgm:pt modelId="{699AE976-C373-4B2C-8271-B32D2F012CEB}" type="pres">
      <dgm:prSet presAssocID="{9624EA7F-A502-459B-B551-74E9DBED7969}" presName="rootText1" presStyleLbl="node0" presStyleIdx="0" presStyleCnt="1">
        <dgm:presLayoutVars>
          <dgm:chPref val="3"/>
        </dgm:presLayoutVars>
      </dgm:prSet>
      <dgm:spPr/>
    </dgm:pt>
    <dgm:pt modelId="{92E03CB6-E6AC-4BE9-9C60-9A4CA456848F}" type="pres">
      <dgm:prSet presAssocID="{9624EA7F-A502-459B-B551-74E9DBED7969}" presName="rootConnector1" presStyleLbl="node1" presStyleIdx="0" presStyleCnt="0"/>
      <dgm:spPr/>
    </dgm:pt>
    <dgm:pt modelId="{44179E54-0D99-440D-B82F-BD2D1D228A25}" type="pres">
      <dgm:prSet presAssocID="{9624EA7F-A502-459B-B551-74E9DBED7969}" presName="hierChild2" presStyleCnt="0"/>
      <dgm:spPr/>
    </dgm:pt>
    <dgm:pt modelId="{B1A9E984-14E8-4767-B4D4-DAF1FA2766D1}" type="pres">
      <dgm:prSet presAssocID="{C492574B-B1C3-4292-B709-2C504E62391A}" presName="Name35" presStyleLbl="parChTrans1D2" presStyleIdx="0" presStyleCnt="2"/>
      <dgm:spPr/>
    </dgm:pt>
    <dgm:pt modelId="{DB65E12A-9480-4164-8E49-DCBB59063986}" type="pres">
      <dgm:prSet presAssocID="{B9AE3D6A-EC7A-44C3-9833-D6A21580C918}" presName="hierRoot2" presStyleCnt="0">
        <dgm:presLayoutVars>
          <dgm:hierBranch/>
        </dgm:presLayoutVars>
      </dgm:prSet>
      <dgm:spPr/>
    </dgm:pt>
    <dgm:pt modelId="{46ED9701-8C8B-4A88-AD44-A7CA083FC08F}" type="pres">
      <dgm:prSet presAssocID="{B9AE3D6A-EC7A-44C3-9833-D6A21580C918}" presName="rootComposite" presStyleCnt="0"/>
      <dgm:spPr/>
    </dgm:pt>
    <dgm:pt modelId="{294C716C-55C4-4EBF-AA66-6F646914C981}" type="pres">
      <dgm:prSet presAssocID="{B9AE3D6A-EC7A-44C3-9833-D6A21580C918}" presName="rootText" presStyleLbl="node2" presStyleIdx="0" presStyleCnt="2">
        <dgm:presLayoutVars>
          <dgm:chPref val="3"/>
        </dgm:presLayoutVars>
      </dgm:prSet>
      <dgm:spPr/>
    </dgm:pt>
    <dgm:pt modelId="{23F18CB8-F4FA-4018-A7D2-AF29F28E2A6F}" type="pres">
      <dgm:prSet presAssocID="{B9AE3D6A-EC7A-44C3-9833-D6A21580C918}" presName="rootConnector" presStyleLbl="node2" presStyleIdx="0" presStyleCnt="2"/>
      <dgm:spPr/>
    </dgm:pt>
    <dgm:pt modelId="{A3FAA3F2-7111-4C59-8EE6-480C894C7609}" type="pres">
      <dgm:prSet presAssocID="{B9AE3D6A-EC7A-44C3-9833-D6A21580C918}" presName="hierChild4" presStyleCnt="0"/>
      <dgm:spPr/>
    </dgm:pt>
    <dgm:pt modelId="{2C4823DC-5C7A-4315-BA99-EBEEEE4DCD33}" type="pres">
      <dgm:prSet presAssocID="{B9AE3D6A-EC7A-44C3-9833-D6A21580C918}" presName="hierChild5" presStyleCnt="0"/>
      <dgm:spPr/>
    </dgm:pt>
    <dgm:pt modelId="{E3E86351-53AE-413B-8467-3F95F8B4C02D}" type="pres">
      <dgm:prSet presAssocID="{20222196-2FD4-4CC1-8152-A7C875D81FDB}" presName="Name35" presStyleLbl="parChTrans1D2" presStyleIdx="1" presStyleCnt="2"/>
      <dgm:spPr/>
    </dgm:pt>
    <dgm:pt modelId="{0C09858C-891F-4A9A-BD09-AAE8E8E3CB85}" type="pres">
      <dgm:prSet presAssocID="{9270D4BE-88DB-4F8A-8DDF-C3F56CF46B83}" presName="hierRoot2" presStyleCnt="0">
        <dgm:presLayoutVars>
          <dgm:hierBranch/>
        </dgm:presLayoutVars>
      </dgm:prSet>
      <dgm:spPr/>
    </dgm:pt>
    <dgm:pt modelId="{5CAA1A77-DDBC-4BB7-8F91-CC234E4841C2}" type="pres">
      <dgm:prSet presAssocID="{9270D4BE-88DB-4F8A-8DDF-C3F56CF46B83}" presName="rootComposite" presStyleCnt="0"/>
      <dgm:spPr/>
    </dgm:pt>
    <dgm:pt modelId="{AF839BEC-B58C-4132-9216-06B82B9C6E28}" type="pres">
      <dgm:prSet presAssocID="{9270D4BE-88DB-4F8A-8DDF-C3F56CF46B83}" presName="rootText" presStyleLbl="node2" presStyleIdx="1" presStyleCnt="2">
        <dgm:presLayoutVars>
          <dgm:chPref val="3"/>
        </dgm:presLayoutVars>
      </dgm:prSet>
      <dgm:spPr/>
    </dgm:pt>
    <dgm:pt modelId="{2941566C-C133-4116-B5DC-4B361039F51A}" type="pres">
      <dgm:prSet presAssocID="{9270D4BE-88DB-4F8A-8DDF-C3F56CF46B83}" presName="rootConnector" presStyleLbl="node2" presStyleIdx="1" presStyleCnt="2"/>
      <dgm:spPr/>
    </dgm:pt>
    <dgm:pt modelId="{811637F4-EF3A-475D-8378-8C0D859BBFCB}" type="pres">
      <dgm:prSet presAssocID="{9270D4BE-88DB-4F8A-8DDF-C3F56CF46B83}" presName="hierChild4" presStyleCnt="0"/>
      <dgm:spPr/>
    </dgm:pt>
    <dgm:pt modelId="{45735665-85AF-41F3-863B-AC0A4204878C}" type="pres">
      <dgm:prSet presAssocID="{9270D4BE-88DB-4F8A-8DDF-C3F56CF46B83}" presName="hierChild5" presStyleCnt="0"/>
      <dgm:spPr/>
    </dgm:pt>
    <dgm:pt modelId="{318AD04F-FA42-4D0D-ADB4-0B73BFF8594A}" type="pres">
      <dgm:prSet presAssocID="{9624EA7F-A502-459B-B551-74E9DBED7969}" presName="hierChild3" presStyleCnt="0"/>
      <dgm:spPr/>
    </dgm:pt>
  </dgm:ptLst>
  <dgm:cxnLst>
    <dgm:cxn modelId="{95F3CE2D-67F1-4207-8FF5-BDA31A3BE443}" srcId="{538330AB-FD57-4F24-943F-B43B1DA1E5BC}" destId="{9624EA7F-A502-459B-B551-74E9DBED7969}" srcOrd="0" destOrd="0" parTransId="{D5DA1F72-7ECB-446F-B06C-E58777D788C8}" sibTransId="{51B38BBD-C54F-4507-954B-39CC0A944D77}"/>
    <dgm:cxn modelId="{0A59375B-275D-4966-8D57-1F1FDE529E04}" type="presOf" srcId="{9624EA7F-A502-459B-B551-74E9DBED7969}" destId="{699AE976-C373-4B2C-8271-B32D2F012CEB}" srcOrd="0" destOrd="0" presId="urn:microsoft.com/office/officeart/2005/8/layout/orgChart1"/>
    <dgm:cxn modelId="{15109754-F062-4F83-A1D9-4104E7585128}" type="presOf" srcId="{B9AE3D6A-EC7A-44C3-9833-D6A21580C918}" destId="{294C716C-55C4-4EBF-AA66-6F646914C981}" srcOrd="0" destOrd="0" presId="urn:microsoft.com/office/officeart/2005/8/layout/orgChart1"/>
    <dgm:cxn modelId="{0DEF0486-2082-4408-9C1F-9145A1FB28D2}" type="presOf" srcId="{9624EA7F-A502-459B-B551-74E9DBED7969}" destId="{92E03CB6-E6AC-4BE9-9C60-9A4CA456848F}" srcOrd="1" destOrd="0" presId="urn:microsoft.com/office/officeart/2005/8/layout/orgChart1"/>
    <dgm:cxn modelId="{31C9F68B-76E4-40A6-A3A8-5A4571EBC16F}" type="presOf" srcId="{20222196-2FD4-4CC1-8152-A7C875D81FDB}" destId="{E3E86351-53AE-413B-8467-3F95F8B4C02D}" srcOrd="0" destOrd="0" presId="urn:microsoft.com/office/officeart/2005/8/layout/orgChart1"/>
    <dgm:cxn modelId="{FBA7A396-805E-46E1-AC89-6BB96384A914}" srcId="{9624EA7F-A502-459B-B551-74E9DBED7969}" destId="{B9AE3D6A-EC7A-44C3-9833-D6A21580C918}" srcOrd="0" destOrd="0" parTransId="{C492574B-B1C3-4292-B709-2C504E62391A}" sibTransId="{906E582A-8B38-44AA-9EDA-C92919548734}"/>
    <dgm:cxn modelId="{5DE4279A-4B38-439F-A9D2-B520E4F832F3}" type="presOf" srcId="{538330AB-FD57-4F24-943F-B43B1DA1E5BC}" destId="{85AA5833-4AD9-4324-B08F-D9293DE3B975}" srcOrd="0" destOrd="0" presId="urn:microsoft.com/office/officeart/2005/8/layout/orgChart1"/>
    <dgm:cxn modelId="{BF2290A4-0B0F-4420-914C-C04C12C3C456}" type="presOf" srcId="{9270D4BE-88DB-4F8A-8DDF-C3F56CF46B83}" destId="{2941566C-C133-4116-B5DC-4B361039F51A}" srcOrd="1" destOrd="0" presId="urn:microsoft.com/office/officeart/2005/8/layout/orgChart1"/>
    <dgm:cxn modelId="{5205BAC1-CC7A-4537-B959-BF02B2687780}" type="presOf" srcId="{B9AE3D6A-EC7A-44C3-9833-D6A21580C918}" destId="{23F18CB8-F4FA-4018-A7D2-AF29F28E2A6F}" srcOrd="1" destOrd="0" presId="urn:microsoft.com/office/officeart/2005/8/layout/orgChart1"/>
    <dgm:cxn modelId="{A6CA00CC-14C0-4B54-8C49-D7EF3F1DE1E0}" type="presOf" srcId="{9270D4BE-88DB-4F8A-8DDF-C3F56CF46B83}" destId="{AF839BEC-B58C-4132-9216-06B82B9C6E28}" srcOrd="0" destOrd="0" presId="urn:microsoft.com/office/officeart/2005/8/layout/orgChart1"/>
    <dgm:cxn modelId="{97CE44D8-9D9C-4583-B942-821B01D30119}" type="presOf" srcId="{C492574B-B1C3-4292-B709-2C504E62391A}" destId="{B1A9E984-14E8-4767-B4D4-DAF1FA2766D1}" srcOrd="0" destOrd="0" presId="urn:microsoft.com/office/officeart/2005/8/layout/orgChart1"/>
    <dgm:cxn modelId="{B8434AED-CC7B-41C9-863B-CF72D2EAC35A}" srcId="{9624EA7F-A502-459B-B551-74E9DBED7969}" destId="{9270D4BE-88DB-4F8A-8DDF-C3F56CF46B83}" srcOrd="1" destOrd="0" parTransId="{20222196-2FD4-4CC1-8152-A7C875D81FDB}" sibTransId="{D0D4A262-317B-416C-8157-1A9AD5A47BF6}"/>
    <dgm:cxn modelId="{12DC75FB-4935-4981-8705-E091916C14A1}" type="presParOf" srcId="{85AA5833-4AD9-4324-B08F-D9293DE3B975}" destId="{5AE0CF9C-8107-4064-96A6-104E3AD2244F}" srcOrd="0" destOrd="0" presId="urn:microsoft.com/office/officeart/2005/8/layout/orgChart1"/>
    <dgm:cxn modelId="{B41287F6-379C-4B6C-8B3A-BFDEC114E2B2}" type="presParOf" srcId="{5AE0CF9C-8107-4064-96A6-104E3AD2244F}" destId="{04F0F23A-F707-4229-9333-E951FD1526A8}" srcOrd="0" destOrd="0" presId="urn:microsoft.com/office/officeart/2005/8/layout/orgChart1"/>
    <dgm:cxn modelId="{2CD199D5-20FB-4073-850B-66037354FEFD}" type="presParOf" srcId="{04F0F23A-F707-4229-9333-E951FD1526A8}" destId="{699AE976-C373-4B2C-8271-B32D2F012CEB}" srcOrd="0" destOrd="0" presId="urn:microsoft.com/office/officeart/2005/8/layout/orgChart1"/>
    <dgm:cxn modelId="{894FF224-7542-4EFE-915F-7F991B55F5FB}" type="presParOf" srcId="{04F0F23A-F707-4229-9333-E951FD1526A8}" destId="{92E03CB6-E6AC-4BE9-9C60-9A4CA456848F}" srcOrd="1" destOrd="0" presId="urn:microsoft.com/office/officeart/2005/8/layout/orgChart1"/>
    <dgm:cxn modelId="{C527ED77-D37B-4134-8F71-FC50E662CB34}" type="presParOf" srcId="{5AE0CF9C-8107-4064-96A6-104E3AD2244F}" destId="{44179E54-0D99-440D-B82F-BD2D1D228A25}" srcOrd="1" destOrd="0" presId="urn:microsoft.com/office/officeart/2005/8/layout/orgChart1"/>
    <dgm:cxn modelId="{DD89B2C9-A9E8-4840-A638-39E1DC842206}" type="presParOf" srcId="{44179E54-0D99-440D-B82F-BD2D1D228A25}" destId="{B1A9E984-14E8-4767-B4D4-DAF1FA2766D1}" srcOrd="0" destOrd="0" presId="urn:microsoft.com/office/officeart/2005/8/layout/orgChart1"/>
    <dgm:cxn modelId="{C59A6AC7-2F60-4F7C-BB22-216B33489002}" type="presParOf" srcId="{44179E54-0D99-440D-B82F-BD2D1D228A25}" destId="{DB65E12A-9480-4164-8E49-DCBB59063986}" srcOrd="1" destOrd="0" presId="urn:microsoft.com/office/officeart/2005/8/layout/orgChart1"/>
    <dgm:cxn modelId="{C59064F9-F60E-43F8-94D1-B8ED2946663B}" type="presParOf" srcId="{DB65E12A-9480-4164-8E49-DCBB59063986}" destId="{46ED9701-8C8B-4A88-AD44-A7CA083FC08F}" srcOrd="0" destOrd="0" presId="urn:microsoft.com/office/officeart/2005/8/layout/orgChart1"/>
    <dgm:cxn modelId="{C262C987-64AD-4915-8185-67DAB42B0EDA}" type="presParOf" srcId="{46ED9701-8C8B-4A88-AD44-A7CA083FC08F}" destId="{294C716C-55C4-4EBF-AA66-6F646914C981}" srcOrd="0" destOrd="0" presId="urn:microsoft.com/office/officeart/2005/8/layout/orgChart1"/>
    <dgm:cxn modelId="{6A52F8BF-C569-4C41-9742-C8224BECB458}" type="presParOf" srcId="{46ED9701-8C8B-4A88-AD44-A7CA083FC08F}" destId="{23F18CB8-F4FA-4018-A7D2-AF29F28E2A6F}" srcOrd="1" destOrd="0" presId="urn:microsoft.com/office/officeart/2005/8/layout/orgChart1"/>
    <dgm:cxn modelId="{7DBF5ACA-BF4A-47AC-BAAA-CC4F6425B645}" type="presParOf" srcId="{DB65E12A-9480-4164-8E49-DCBB59063986}" destId="{A3FAA3F2-7111-4C59-8EE6-480C894C7609}" srcOrd="1" destOrd="0" presId="urn:microsoft.com/office/officeart/2005/8/layout/orgChart1"/>
    <dgm:cxn modelId="{E1D8AFFC-A2FD-4F6C-B968-6E1FBF9DE8FE}" type="presParOf" srcId="{DB65E12A-9480-4164-8E49-DCBB59063986}" destId="{2C4823DC-5C7A-4315-BA99-EBEEEE4DCD33}" srcOrd="2" destOrd="0" presId="urn:microsoft.com/office/officeart/2005/8/layout/orgChart1"/>
    <dgm:cxn modelId="{13D96508-FDF7-4B96-BAEB-79BE29EF5558}" type="presParOf" srcId="{44179E54-0D99-440D-B82F-BD2D1D228A25}" destId="{E3E86351-53AE-413B-8467-3F95F8B4C02D}" srcOrd="2" destOrd="0" presId="urn:microsoft.com/office/officeart/2005/8/layout/orgChart1"/>
    <dgm:cxn modelId="{889E787B-B9E0-40FB-93FC-CA17508C8DD5}" type="presParOf" srcId="{44179E54-0D99-440D-B82F-BD2D1D228A25}" destId="{0C09858C-891F-4A9A-BD09-AAE8E8E3CB85}" srcOrd="3" destOrd="0" presId="urn:microsoft.com/office/officeart/2005/8/layout/orgChart1"/>
    <dgm:cxn modelId="{BB22537A-DE5D-482A-81CE-21E8E7B13839}" type="presParOf" srcId="{0C09858C-891F-4A9A-BD09-AAE8E8E3CB85}" destId="{5CAA1A77-DDBC-4BB7-8F91-CC234E4841C2}" srcOrd="0" destOrd="0" presId="urn:microsoft.com/office/officeart/2005/8/layout/orgChart1"/>
    <dgm:cxn modelId="{72CCB6C5-43CC-46A8-ACBB-FADE049B92ED}" type="presParOf" srcId="{5CAA1A77-DDBC-4BB7-8F91-CC234E4841C2}" destId="{AF839BEC-B58C-4132-9216-06B82B9C6E28}" srcOrd="0" destOrd="0" presId="urn:microsoft.com/office/officeart/2005/8/layout/orgChart1"/>
    <dgm:cxn modelId="{AAC1FF8B-DC5B-46FC-807F-5AE3CFC80080}" type="presParOf" srcId="{5CAA1A77-DDBC-4BB7-8F91-CC234E4841C2}" destId="{2941566C-C133-4116-B5DC-4B361039F51A}" srcOrd="1" destOrd="0" presId="urn:microsoft.com/office/officeart/2005/8/layout/orgChart1"/>
    <dgm:cxn modelId="{F850EF80-41BB-4E33-AA64-1A4CB5FEF55F}" type="presParOf" srcId="{0C09858C-891F-4A9A-BD09-AAE8E8E3CB85}" destId="{811637F4-EF3A-475D-8378-8C0D859BBFCB}" srcOrd="1" destOrd="0" presId="urn:microsoft.com/office/officeart/2005/8/layout/orgChart1"/>
    <dgm:cxn modelId="{C1D9EC07-1D6C-47DB-8915-37205DD50693}" type="presParOf" srcId="{0C09858C-891F-4A9A-BD09-AAE8E8E3CB85}" destId="{45735665-85AF-41F3-863B-AC0A4204878C}" srcOrd="2" destOrd="0" presId="urn:microsoft.com/office/officeart/2005/8/layout/orgChart1"/>
    <dgm:cxn modelId="{077BB154-A5FF-49F9-AB44-8000F409E95C}" type="presParOf" srcId="{5AE0CF9C-8107-4064-96A6-104E3AD2244F}" destId="{318AD04F-FA42-4D0D-ADB4-0B73BFF8594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3611438" cy="2659856"/>
        <a:chOff x="0" y="0"/>
        <a:chExt cx="3611438" cy="2659856"/>
      </a:xfrm>
    </dsp:grpSpPr>
    <dsp:sp modelId="{B1A9E984-14E8-4767-B4D4-DAF1FA2766D1}">
      <dsp:nvSpPr>
        <dsp:cNvPr id="5" name="任意多边形 4"/>
        <dsp:cNvSpPr/>
      </dsp:nvSpPr>
      <dsp:spPr bwMode="white">
        <a:xfrm>
          <a:off x="817067" y="1158344"/>
          <a:ext cx="988652" cy="343168"/>
        </a:xfrm>
        <a:custGeom>
          <a:avLst/>
          <a:gdLst/>
          <a:ahLst/>
          <a:cxnLst/>
          <a:pathLst>
            <a:path w="1557" h="540">
              <a:moveTo>
                <a:pt x="1557" y="0"/>
              </a:moveTo>
              <a:lnTo>
                <a:pt x="1557" y="270"/>
              </a:lnTo>
              <a:lnTo>
                <a:pt x="0" y="270"/>
              </a:lnTo>
              <a:lnTo>
                <a:pt x="0" y="540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817067" y="1158344"/>
        <a:ext cx="988652" cy="343168"/>
      </dsp:txXfrm>
    </dsp:sp>
    <dsp:sp modelId="{E3E86351-53AE-413B-8467-3F95F8B4C02D}">
      <dsp:nvSpPr>
        <dsp:cNvPr id="8" name="任意多边形 7"/>
        <dsp:cNvSpPr/>
      </dsp:nvSpPr>
      <dsp:spPr bwMode="white">
        <a:xfrm>
          <a:off x="1805719" y="1158344"/>
          <a:ext cx="988652" cy="343168"/>
        </a:xfrm>
        <a:custGeom>
          <a:avLst/>
          <a:gdLst/>
          <a:ahLst/>
          <a:cxnLst/>
          <a:pathLst>
            <a:path w="1557" h="540">
              <a:moveTo>
                <a:pt x="0" y="0"/>
              </a:moveTo>
              <a:lnTo>
                <a:pt x="0" y="270"/>
              </a:lnTo>
              <a:lnTo>
                <a:pt x="1557" y="270"/>
              </a:lnTo>
              <a:lnTo>
                <a:pt x="1557" y="540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1805719" y="1158344"/>
        <a:ext cx="988652" cy="343168"/>
      </dsp:txXfrm>
    </dsp:sp>
    <dsp:sp modelId="{699AE976-C373-4B2C-8271-B32D2F012CEB}">
      <dsp:nvSpPr>
        <dsp:cNvPr id="3" name="矩形 2"/>
        <dsp:cNvSpPr/>
      </dsp:nvSpPr>
      <dsp:spPr bwMode="white">
        <a:xfrm>
          <a:off x="988652" y="341276"/>
          <a:ext cx="1634135" cy="817067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2700" tIns="12700" rIns="12700" bIns="12700" anchor="ctr"/>
        <a:lstStyle>
          <a:lvl1pPr algn="ctr">
            <a:defRPr sz="2000"/>
          </a:lvl1pPr>
          <a:lvl2pPr marL="114300" indent="-114300" algn="ctr">
            <a:defRPr sz="1500"/>
          </a:lvl2pPr>
          <a:lvl3pPr marL="228600" indent="-114300" algn="ctr">
            <a:defRPr sz="1500"/>
          </a:lvl3pPr>
          <a:lvl4pPr marL="342900" indent="-114300" algn="ctr">
            <a:defRPr sz="1500"/>
          </a:lvl4pPr>
          <a:lvl5pPr marL="457200" indent="-114300" algn="ctr">
            <a:defRPr sz="1500"/>
          </a:lvl5pPr>
          <a:lvl6pPr marL="571500" indent="-114300" algn="ctr">
            <a:defRPr sz="1500"/>
          </a:lvl6pPr>
          <a:lvl7pPr marL="685800" indent="-114300" algn="ctr">
            <a:defRPr sz="1500"/>
          </a:lvl7pPr>
          <a:lvl8pPr marL="800100" indent="-114300" algn="ctr">
            <a:defRPr sz="1500"/>
          </a:lvl8pPr>
          <a:lvl9pPr marL="914400" indent="-114300" algn="ctr">
            <a:defRPr sz="1500"/>
          </a:lvl9pPr>
        </a:lstStyle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黑体" pitchFamily="49" charset="-122"/>
            </a:rPr>
            <a:t>Computer </a:t>
          </a:r>
          <a:endParaRPr kumimoji="0" lang="en-US" altLang="zh-CN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Times New Roman" panose="02020503050405090304" pitchFamily="18" charset="0"/>
            <a:ea typeface="黑体" pitchFamily="49" charset="-122"/>
          </a:endParaRPr>
        </a:p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黑体" pitchFamily="49" charset="-122"/>
            </a:rPr>
            <a:t>[support=10%]</a:t>
          </a:r>
        </a:p>
      </dsp:txBody>
      <dsp:txXfrm>
        <a:off x="988652" y="341276"/>
        <a:ext cx="1634135" cy="817067"/>
      </dsp:txXfrm>
    </dsp:sp>
    <dsp:sp modelId="{294C716C-55C4-4EBF-AA66-6F646914C981}">
      <dsp:nvSpPr>
        <dsp:cNvPr id="6" name="矩形 5"/>
        <dsp:cNvSpPr/>
      </dsp:nvSpPr>
      <dsp:spPr bwMode="white">
        <a:xfrm>
          <a:off x="0" y="1501512"/>
          <a:ext cx="1634135" cy="817067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2700" tIns="12700" rIns="12700" bIns="12700" anchor="ctr"/>
        <a:lstStyle>
          <a:lvl1pPr algn="ctr">
            <a:defRPr sz="2000"/>
          </a:lvl1pPr>
          <a:lvl2pPr marL="114300" indent="-114300" algn="ctr">
            <a:defRPr sz="1500"/>
          </a:lvl2pPr>
          <a:lvl3pPr marL="228600" indent="-114300" algn="ctr">
            <a:defRPr sz="1500"/>
          </a:lvl3pPr>
          <a:lvl4pPr marL="342900" indent="-114300" algn="ctr">
            <a:defRPr sz="1500"/>
          </a:lvl4pPr>
          <a:lvl5pPr marL="457200" indent="-114300" algn="ctr">
            <a:defRPr sz="1500"/>
          </a:lvl5pPr>
          <a:lvl6pPr marL="571500" indent="-114300" algn="ctr">
            <a:defRPr sz="1500"/>
          </a:lvl6pPr>
          <a:lvl7pPr marL="685800" indent="-114300" algn="ctr">
            <a:defRPr sz="1500"/>
          </a:lvl7pPr>
          <a:lvl8pPr marL="800100" indent="-114300" algn="ctr">
            <a:defRPr sz="1500"/>
          </a:lvl8pPr>
          <a:lvl9pPr marL="914400" indent="-114300" algn="ctr">
            <a:defRPr sz="1500"/>
          </a:lvl9pPr>
        </a:lstStyle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黑体" pitchFamily="49" charset="-122"/>
            </a:rPr>
            <a:t>Laptop</a:t>
          </a:r>
          <a:endParaRPr kumimoji="0" lang="en-US" altLang="zh-CN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Times New Roman" panose="02020503050405090304" pitchFamily="18" charset="0"/>
            <a:ea typeface="黑体" pitchFamily="49" charset="-122"/>
          </a:endParaRPr>
        </a:p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黑体" pitchFamily="49" charset="-122"/>
            </a:rPr>
            <a:t>[support=6%]</a:t>
          </a:r>
        </a:p>
      </dsp:txBody>
      <dsp:txXfrm>
        <a:off x="0" y="1501512"/>
        <a:ext cx="1634135" cy="817067"/>
      </dsp:txXfrm>
    </dsp:sp>
    <dsp:sp modelId="{AF839BEC-B58C-4132-9216-06B82B9C6E28}">
      <dsp:nvSpPr>
        <dsp:cNvPr id="9" name="矩形 8"/>
        <dsp:cNvSpPr/>
      </dsp:nvSpPr>
      <dsp:spPr bwMode="white">
        <a:xfrm>
          <a:off x="1977303" y="1501512"/>
          <a:ext cx="1634135" cy="817067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2700" tIns="12700" rIns="12700" bIns="12700" anchor="ctr"/>
        <a:lstStyle>
          <a:lvl1pPr algn="ctr">
            <a:defRPr sz="2000"/>
          </a:lvl1pPr>
          <a:lvl2pPr marL="114300" indent="-114300" algn="ctr">
            <a:defRPr sz="1500"/>
          </a:lvl2pPr>
          <a:lvl3pPr marL="228600" indent="-114300" algn="ctr">
            <a:defRPr sz="1500"/>
          </a:lvl3pPr>
          <a:lvl4pPr marL="342900" indent="-114300" algn="ctr">
            <a:defRPr sz="1500"/>
          </a:lvl4pPr>
          <a:lvl5pPr marL="457200" indent="-114300" algn="ctr">
            <a:defRPr sz="1500"/>
          </a:lvl5pPr>
          <a:lvl6pPr marL="571500" indent="-114300" algn="ctr">
            <a:defRPr sz="1500"/>
          </a:lvl6pPr>
          <a:lvl7pPr marL="685800" indent="-114300" algn="ctr">
            <a:defRPr sz="1500"/>
          </a:lvl7pPr>
          <a:lvl8pPr marL="800100" indent="-114300" algn="ctr">
            <a:defRPr sz="1500"/>
          </a:lvl8pPr>
          <a:lvl9pPr marL="914400" indent="-114300" algn="ctr">
            <a:defRPr sz="1500"/>
          </a:lvl9pPr>
        </a:lstStyle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黑体" pitchFamily="49" charset="-122"/>
            </a:rPr>
            <a:t>Desktop</a:t>
          </a:r>
          <a:endParaRPr kumimoji="0" lang="en-US" altLang="zh-CN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Times New Roman" panose="02020503050405090304" pitchFamily="18" charset="0"/>
            <a:ea typeface="黑体" pitchFamily="49" charset="-122"/>
          </a:endParaRPr>
        </a:p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黑体" pitchFamily="49" charset="-122"/>
            </a:rPr>
            <a:t>[support=4%]</a:t>
          </a:r>
        </a:p>
      </dsp:txBody>
      <dsp:txXfrm>
        <a:off x="1977303" y="1501512"/>
        <a:ext cx="1634135" cy="817067"/>
      </dsp:txXfrm>
    </dsp:sp>
    <dsp:sp modelId="{92E03CB6-E6AC-4BE9-9C60-9A4CA456848F}">
      <dsp:nvSpPr>
        <dsp:cNvPr id="4" name="矩形 3" hidden="1"/>
        <dsp:cNvSpPr/>
      </dsp:nvSpPr>
      <dsp:spPr>
        <a:xfrm>
          <a:off x="2295959" y="341276"/>
          <a:ext cx="326827" cy="817067"/>
        </a:xfrm>
        <a:prstGeom prst="rect">
          <a:avLst/>
        </a:prstGeom>
      </dsp:spPr>
      <dsp:txXfrm>
        <a:off x="2295959" y="341276"/>
        <a:ext cx="326827" cy="817067"/>
      </dsp:txXfrm>
    </dsp:sp>
    <dsp:sp modelId="{23F18CB8-F4FA-4018-A7D2-AF29F28E2A6F}">
      <dsp:nvSpPr>
        <dsp:cNvPr id="7" name="矩形 6" hidden="1"/>
        <dsp:cNvSpPr/>
      </dsp:nvSpPr>
      <dsp:spPr>
        <a:xfrm>
          <a:off x="1307308" y="1501512"/>
          <a:ext cx="326827" cy="817067"/>
        </a:xfrm>
        <a:prstGeom prst="rect">
          <a:avLst/>
        </a:prstGeom>
      </dsp:spPr>
      <dsp:txXfrm>
        <a:off x="1307308" y="1501512"/>
        <a:ext cx="326827" cy="817067"/>
      </dsp:txXfrm>
    </dsp:sp>
    <dsp:sp modelId="{2941566C-C133-4116-B5DC-4B361039F51A}">
      <dsp:nvSpPr>
        <dsp:cNvPr id="10" name="矩形 9" hidden="1"/>
        <dsp:cNvSpPr/>
      </dsp:nvSpPr>
      <dsp:spPr>
        <a:xfrm>
          <a:off x="3284611" y="1501512"/>
          <a:ext cx="326827" cy="817067"/>
        </a:xfrm>
        <a:prstGeom prst="rect">
          <a:avLst/>
        </a:prstGeom>
      </dsp:spPr>
      <dsp:txXfrm>
        <a:off x="3284611" y="1501512"/>
        <a:ext cx="326827" cy="8170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linDir" val="fromT"/>
                  <dgm:param type="chAlign" val="r"/>
                </dgm:alg>
              </dgm:if>
              <dgm:if name="Name23" func="var" arg="hierBranch" op="equ" val="r">
                <dgm:alg type="hierChild">
                  <dgm:param type="linDir" val="fromT"/>
                  <dgm:param type="chAlign" val="l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linDir" val="fromL"/>
                      <dgm:param type="chAlign" val="l"/>
                      <dgm:param type="secLinDir" val="fromT"/>
                      <dgm:param type="secChAlign" val="t"/>
                    </dgm:alg>
                  </dgm:if>
                  <dgm:else name="Name27">
                    <dgm:alg type="hierChild">
                      <dgm:param type="linDir" val="fromR"/>
                      <dgm:param type="chAlign" val="l"/>
                      <dgm:param type="secLinDir" val="fromT"/>
                      <dgm:param type="secChAlign" val="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srcNode" val="rootConnector"/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srcNode" val="rootConnector1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srcNode" val="rootConnector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85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89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05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linDir" val="fromL"/>
                  <dgm:param type="chAlign" val="l"/>
                  <dgm:param type="secLinDir" val="fromT"/>
                  <dgm:param type="secChAlign" val="t"/>
                </dgm:alg>
              </dgm:if>
              <dgm:else name="Name109">
                <dgm:alg type="hierChild">
                  <dgm:param type="linDir" val="fromR"/>
                  <dgm:param type="chAlign" val="l"/>
                  <dgm:param type="secLinDir" val="fromT"/>
                  <dgm:param type="secChAlign" val="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129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133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46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7" Type="http://schemas.openxmlformats.org/officeDocument/2006/relationships/image" Target="../media/image24.emf"/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4" Type="http://schemas.openxmlformats.org/officeDocument/2006/relationships/image" Target="../media/image21.emf"/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6.vml.rels><?xml version="1.0" encoding="UTF-8" standalone="yes"?>
<Relationships xmlns="http://schemas.openxmlformats.org/package/2006/relationships"><Relationship Id="rId4" Type="http://schemas.openxmlformats.org/officeDocument/2006/relationships/image" Target="../media/image34.wmf"/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9.vml.rels><?xml version="1.0" encoding="UTF-8" standalone="yes"?>
<Relationships xmlns="http://schemas.openxmlformats.org/package/2006/relationships"><Relationship Id="rId4" Type="http://schemas.openxmlformats.org/officeDocument/2006/relationships/image" Target="../media/image45.emf"/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png"/></Relationships>
</file>

<file path=ppt/drawings/_rels/vmlDrawing12.vml.rels><?xml version="1.0" encoding="UTF-8" standalone="yes"?>
<Relationships xmlns="http://schemas.openxmlformats.org/package/2006/relationships"><Relationship Id="rId5" Type="http://schemas.openxmlformats.org/officeDocument/2006/relationships/image" Target="../media/image54.wmf"/><Relationship Id="rId4" Type="http://schemas.openxmlformats.org/officeDocument/2006/relationships/image" Target="../media/image53.wmf"/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png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image" Target="../media/image56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96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96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fld id="{CE336AF0-FD95-4CF5-A438-479299AB1BAE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1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151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1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fld id="{FB9EFB9A-8B46-45D9-B71E-980BFFE1559D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黑体" pitchFamily="49" charset="-122"/>
        <a:cs typeface="黑体" pitchFamily="49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黑体" pitchFamily="49" charset="-122"/>
        <a:cs typeface="黑体" pitchFamily="49" charset="-122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黑体" pitchFamily="49" charset="-122"/>
        <a:cs typeface="黑体" pitchFamily="49" charset="-122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黑体" pitchFamily="49" charset="-122"/>
        <a:cs typeface="黑体" pitchFamily="49" charset="-122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黑体" pitchFamily="49" charset="-122"/>
        <a:cs typeface="黑体" pitchFamily="49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</a:pPr>
            <a:fld id="{6E274669-CBB0-4554-8702-40A53EE91C5A}" type="slidenum">
              <a:rPr lang="en-US" altLang="zh-CN" smtClean="0">
                <a:ea typeface="宋体" pitchFamily="2" charset="-122"/>
              </a:rPr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2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fld id="{955383F0-6439-477D-BAF5-722A5F7F0433}" type="slidenum">
              <a:rPr lang="en-US" altLang="zh-CN" b="0" smtClean="0">
                <a:solidFill>
                  <a:srgbClr val="000000"/>
                </a:solidFill>
                <a:latin typeface="Arial" panose="020B0604020202090204" pitchFamily="34" charset="0"/>
              </a:rPr>
            </a:fld>
            <a:endParaRPr lang="en-US" altLang="zh-CN" b="0">
              <a:solidFill>
                <a:srgbClr val="000000"/>
              </a:solidFill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</a:pPr>
            <a:fld id="{D26087FC-593F-4567-920E-F6419824B0EC}" type="slidenum">
              <a:rPr lang="en-US" altLang="zh-CN" smtClean="0">
                <a:ea typeface="宋体" pitchFamily="2" charset="-122"/>
              </a:rPr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</a:pPr>
            <a:fld id="{5A77A8FA-FC33-4623-A684-E4B431780ED5}" type="slidenum">
              <a:rPr lang="en-US" altLang="zh-CN" smtClean="0">
                <a:ea typeface="宋体" pitchFamily="2" charset="-122"/>
              </a:rPr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</a:pPr>
            <a:fld id="{94E0AF01-CFC7-40AA-B523-CA86C4F7F3D7}" type="slidenum">
              <a:rPr lang="en-US" altLang="zh-CN" smtClean="0">
                <a:ea typeface="宋体" pitchFamily="2" charset="-122"/>
              </a:rPr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</a:pPr>
            <a:fld id="{747E6D00-CE06-49CB-83DC-459C8C50D161}" type="slidenum">
              <a:rPr lang="en-US" altLang="zh-CN" smtClean="0">
                <a:ea typeface="宋体" pitchFamily="2" charset="-122"/>
              </a:rPr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</a:pPr>
            <a:fld id="{9A10518C-5813-49C9-AD74-460DA8975CC2}" type="slidenum">
              <a:rPr lang="en-US" altLang="zh-CN" smtClean="0">
                <a:ea typeface="宋体" pitchFamily="2" charset="-122"/>
              </a:rPr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</a:pPr>
            <a:fld id="{CDC81DE2-EF93-42B6-8198-E5A5826E29BA}" type="slidenum">
              <a:rPr lang="en-US" altLang="zh-CN" smtClean="0">
                <a:ea typeface="宋体" pitchFamily="2" charset="-122"/>
              </a:rPr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</a:pPr>
            <a:fld id="{4CDC06E4-89CC-43FD-9AE5-33DB07869BC7}" type="slidenum">
              <a:rPr lang="en-US" altLang="zh-CN" smtClean="0">
                <a:ea typeface="宋体" pitchFamily="2" charset="-122"/>
              </a:rPr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</a:pPr>
            <a:fld id="{F1DBF4B6-F4C1-4445-BAD0-0D07F46D97E8}" type="slidenum">
              <a:rPr lang="en-US" altLang="zh-CN" smtClean="0">
                <a:ea typeface="宋体" pitchFamily="2" charset="-122"/>
              </a:rPr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</a:pPr>
            <a:fld id="{4B24A4D3-79A3-4AE0-92EE-B058EE802D7C}" type="slidenum">
              <a:rPr lang="en-US" altLang="zh-CN" smtClean="0">
                <a:ea typeface="宋体" pitchFamily="2" charset="-122"/>
              </a:rPr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</a:pPr>
            <a:fld id="{53D595D5-DC9E-4069-808A-A9DFD8595ACC}" type="slidenum">
              <a:rPr lang="en-US" altLang="zh-CN" smtClean="0">
                <a:ea typeface="宋体" pitchFamily="2" charset="-122"/>
              </a:rPr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</a:pPr>
            <a:fld id="{7A49EB4C-DF9A-4B08-9695-3580E6A2B683}" type="slidenum">
              <a:rPr lang="en-US" altLang="zh-CN" smtClean="0">
                <a:ea typeface="宋体" pitchFamily="2" charset="-122"/>
              </a:rPr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</a:pPr>
            <a:fld id="{5577C612-C355-4949-9DDF-4383BF0686EB}" type="slidenum">
              <a:rPr lang="en-US" altLang="zh-CN" smtClean="0">
                <a:ea typeface="宋体" pitchFamily="2" charset="-122"/>
              </a:rPr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闭集模式是指在数据集中，如果一个项集是频繁的，并且没有超过它的超集具有相同的支持度，那么该项集被称为闭集模式。换句话说，闭集模式是指没有比它更特定的具有相同支持度的频繁项集。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最大模式指的是在一个数据集中，不能再添加任何其他项使得该模式仍然频繁的项集。换句话说，最大模式是指在不损失频繁性的前提下，不再能向其中添加更多项的项集。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闭集模式是指在数据集中，如果一个项集是频繁的，并且没有超过它的超集具有相同的支持度，那么该项集被称为闭集模式。换句话说，闭集模式是指没有比它更特定的具有相同支持度的频繁项集。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最大模式指的是在一个数据集中，不能再添加任何其他项使得该模式仍然频繁的项集。换句话说，最大模式是指在不损失频繁性的前提下，不再能向其中添加更多项的项集。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闭集模式是指在数据集中，如果一个项集是频繁的，并且没有超过它的超集具有相同的支持度，那么该项集被称为闭集模式。换句话说，闭集模式是指没有比它更特定的具有相同支持度的频繁项集。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最大模式指的是在一个数据集中，不能再添加任何其他项使得该模式仍然频繁的项集。换句话说，最大模式是指在不损失频繁性的前提下，不再能向其中添加更多项的项集。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闭集模式是指在数据集中，如果一个项集是频繁的，并且没有超过它的超集具有相同的支持度，那么该项集被称为闭集模式。换句话说，闭集模式是指没有比它更特定的具有相同支持度的频繁项集。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最大模式指的是在一个数据集中，不能再添加任何其他项使得该模式仍然频繁的项集。换句话说，最大模式是指在不损失频繁性的前提下，不再能向其中添加更多项的项集。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闭集模式是指在数据集中，如果一个项集是频繁的，并且没有超过它的超集具有相同的支持度，那么该项集被称为闭集模式。换句话说，闭集模式是指没有比它更特定的具有相同支持度的频繁项集。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最大模式指的是在一个数据集中，不能再添加任何其他项使得该模式仍然频繁的项集。换句话说，最大模式是指在不损失频繁性的前提下，不再能向其中添加更多项的项集。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</a:pPr>
            <a:fld id="{28A2E1E4-E416-43C3-A2DB-9858244776AE}" type="slidenum">
              <a:rPr lang="en-US" altLang="zh-CN" smtClean="0">
                <a:ea typeface="宋体" pitchFamily="2" charset="-122"/>
              </a:rPr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</a:pPr>
            <a:fld id="{AD47D110-7448-4CC5-91DF-BE500E8358BB}" type="slidenum">
              <a:rPr lang="en-US" altLang="zh-CN" smtClean="0">
                <a:ea typeface="宋体" pitchFamily="2" charset="-122"/>
              </a:rPr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</a:pPr>
            <a:fld id="{D0688BED-2DF7-4E64-BA20-F2BF30D960BE}" type="slidenum">
              <a:rPr lang="en-US" altLang="zh-CN" smtClean="0">
                <a:ea typeface="宋体" pitchFamily="2" charset="-122"/>
              </a:rPr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</a:pPr>
            <a:fld id="{BA43D4CE-5123-470C-84D9-BD9DBD8BCC3D}" type="slidenum">
              <a:rPr lang="en-US" altLang="zh-CN" smtClean="0">
                <a:ea typeface="宋体" pitchFamily="2" charset="-122"/>
              </a:rPr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</a:pPr>
            <a:fld id="{8E221C3F-D196-4EE4-990A-A543F12B38F6}" type="slidenum">
              <a:rPr lang="en-US" altLang="zh-CN" smtClean="0">
                <a:ea typeface="宋体" pitchFamily="2" charset="-122"/>
              </a:rPr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dirty="0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</a:pPr>
            <a:fld id="{047E7CF1-DE92-4C5F-AA95-C35524AE1812}" type="slidenum">
              <a:rPr lang="en-US" altLang="zh-CN" smtClean="0">
                <a:solidFill>
                  <a:srgbClr val="000000"/>
                </a:solidFill>
                <a:ea typeface="宋体" pitchFamily="2" charset="-122"/>
              </a:rPr>
            </a:fld>
            <a:endParaRPr lang="en-US" altLang="zh-CN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Arial" panose="020B0604020202090204" pitchFamily="34" charset="0"/>
                <a:ea typeface="宋体" pitchFamily="2" charset="-122"/>
              </a:rPr>
              <a:t>Minimum support = 2</a:t>
            </a:r>
            <a:endParaRPr lang="en-US" altLang="zh-CN">
              <a:latin typeface="Arial" panose="020B0604020202090204" pitchFamily="34" charset="0"/>
              <a:ea typeface="宋体" pitchFamily="2" charset="-122"/>
            </a:endParaRPr>
          </a:p>
          <a:p>
            <a:pPr eaLnBrk="1" hangingPunct="1"/>
            <a:r>
              <a:rPr lang="en-US" altLang="zh-CN">
                <a:latin typeface="Arial" panose="020B0604020202090204" pitchFamily="34" charset="0"/>
                <a:ea typeface="宋体" pitchFamily="2" charset="-122"/>
              </a:rPr>
              <a:t>C^2 </a:t>
            </a:r>
            <a:r>
              <a:rPr lang="he-IL" altLang="zh-CN">
                <a:latin typeface="Arial" panose="020B0604020202090204" pitchFamily="34" charset="0"/>
                <a:cs typeface="Arial" panose="020B0604020202090204" pitchFamily="34" charset="0"/>
              </a:rPr>
              <a:t> גדול יותר אבל בשלב הבא נהיה קטן.</a:t>
            </a:r>
            <a:endParaRPr lang="he-IL" altLang="zh-CN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eaLnBrk="1" hangingPunct="1"/>
            <a:endParaRPr lang="zh-CN" altLang="zh-CN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减少扫描次数：由于AprioriTid算法预先对数据库进行排序和压缩，它可以显著减少对数据库的多次扫描，从而提高了效率。</a:t>
            </a:r>
            <a:endParaRPr lang="zh-CN" altLang="en-US"/>
          </a:p>
          <a:p>
            <a:r>
              <a:rPr lang="zh-CN" altLang="en-US"/>
              <a:t>节省内存消耗：通过使用事务的排序列表表示，AprioriTid算法可以显著减少内存消耗，特别是在处理大规模数据时尤为明显。</a:t>
            </a:r>
            <a:endParaRPr lang="zh-CN" altLang="en-US"/>
          </a:p>
          <a:p>
            <a:r>
              <a:rPr lang="zh-CN" altLang="en-US"/>
              <a:t>适用于大规模数据集：由于其高效的扫描和计算支持度的方法，AprioriTid算法特别适合处理大规模数据集，例如在市场篮分析和Web点击流分析等领域。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</a:pPr>
            <a:fld id="{F05B09E1-0F02-480F-94D8-750D740B2406}" type="slidenum">
              <a:rPr lang="en-US" altLang="zh-CN" smtClean="0">
                <a:ea typeface="宋体" pitchFamily="2" charset="-122"/>
              </a:rPr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</a:pPr>
            <a:fld id="{C893ECF1-0C91-436F-97E4-2FE4CA56751F}" type="slidenum">
              <a:rPr lang="en-US" altLang="zh-CN" smtClean="0">
                <a:ea typeface="宋体" pitchFamily="2" charset="-122"/>
              </a:rPr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</a:pPr>
            <a:fld id="{DC4B4B92-C750-420D-A40A-886708814625}" type="slidenum">
              <a:rPr lang="en-US" altLang="zh-CN" smtClean="0">
                <a:ea typeface="宋体" pitchFamily="2" charset="-122"/>
              </a:rPr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</a:pPr>
            <a:fld id="{12F3F3FB-4AF7-46DB-A921-CA0CEAAC6065}" type="slidenum">
              <a:rPr lang="en-US" altLang="zh-CN" smtClean="0">
                <a:ea typeface="宋体" pitchFamily="2" charset="-122"/>
              </a:rPr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</a:pPr>
            <a:fld id="{ECA63C44-B036-4D36-B088-F45C4DD558F1}" type="slidenum">
              <a:rPr lang="en-US" altLang="zh-CN" smtClean="0">
                <a:ea typeface="宋体" pitchFamily="2" charset="-122"/>
              </a:rPr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</a:pPr>
            <a:fld id="{7DD80573-CC1B-44EA-B6FB-AEA4F1364C6E}" type="slidenum">
              <a:rPr lang="en-US" altLang="zh-CN" smtClean="0">
                <a:ea typeface="宋体" pitchFamily="2" charset="-122"/>
              </a:rPr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</a:pPr>
            <a:fld id="{03CF0DD7-9691-4380-928A-1D465D335562}" type="slidenum">
              <a:rPr lang="en-US" altLang="zh-CN" smtClean="0">
                <a:ea typeface="宋体" pitchFamily="2" charset="-122"/>
              </a:rPr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</a:pPr>
            <a:fld id="{414B6D89-4143-48A9-AFA3-C514E41DDD85}" type="slidenum">
              <a:rPr lang="en-US" altLang="zh-CN" smtClean="0">
                <a:ea typeface="宋体" pitchFamily="2" charset="-122"/>
              </a:rPr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</a:pPr>
            <a:fld id="{27F484C4-F779-427D-925A-285CB24CFDBE}" type="slidenum">
              <a:rPr lang="en-US" altLang="zh-CN" smtClean="0">
                <a:ea typeface="宋体" pitchFamily="2" charset="-122"/>
              </a:rPr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</a:pPr>
            <a:fld id="{D41CAA16-1E33-431E-BECC-EF9464D6AFB6}" type="slidenum">
              <a:rPr lang="en-US" altLang="zh-CN" smtClean="0">
                <a:ea typeface="宋体" pitchFamily="2" charset="-122"/>
              </a:rPr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</a:pPr>
            <a:fld id="{7BB01997-38DA-4CB5-84CA-EA00938B7B6B}" type="slidenum">
              <a:rPr lang="en-US" altLang="zh-CN" smtClean="0">
                <a:ea typeface="宋体" pitchFamily="2" charset="-122"/>
              </a:rPr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</a:pPr>
            <a:fld id="{7597AA0F-CAE3-4891-A86B-32CB0604DC7D}" type="slidenum">
              <a:rPr lang="en-US" altLang="zh-CN" smtClean="0">
                <a:ea typeface="宋体" pitchFamily="2" charset="-122"/>
              </a:rPr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</a:pPr>
            <a:fld id="{D2C50CEE-541D-4C78-9CD3-DEF86A01008C}" type="slidenum">
              <a:rPr lang="en-US" altLang="zh-CN" smtClean="0">
                <a:ea typeface="宋体" pitchFamily="2" charset="-122"/>
              </a:rPr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</a:pPr>
            <a:fld id="{97D768DC-70EF-415F-86AD-99B6018579F2}" type="slidenum">
              <a:rPr lang="en-US" altLang="zh-CN" smtClean="0">
                <a:ea typeface="宋体" pitchFamily="2" charset="-122"/>
              </a:rPr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</a:pPr>
            <a:fld id="{7FB154F2-0BCF-4DC7-92AE-6929D0CF00E5}" type="slidenum">
              <a:rPr lang="en-US" altLang="zh-CN" smtClean="0">
                <a:ea typeface="宋体" pitchFamily="2" charset="-122"/>
              </a:rPr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</a:pPr>
            <a:fld id="{11A30C32-578A-4BE6-AF1E-81C0F146E370}" type="slidenum">
              <a:rPr lang="en-US" altLang="zh-CN" smtClean="0">
                <a:ea typeface="宋体" pitchFamily="2" charset="-122"/>
              </a:rPr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</a:pPr>
            <a:fld id="{CF45BF3E-34C4-4306-A53A-CDC74C8E1643}" type="slidenum">
              <a:rPr lang="en-US" altLang="zh-CN" smtClean="0">
                <a:ea typeface="宋体" pitchFamily="2" charset="-122"/>
              </a:rPr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</a:pPr>
            <a:fld id="{1697AE7E-291C-4C41-BE8B-E4BFF3754007}" type="slidenum">
              <a:rPr lang="en-US" altLang="zh-CN" smtClean="0">
                <a:solidFill>
                  <a:srgbClr val="000000"/>
                </a:solidFill>
                <a:ea typeface="宋体" pitchFamily="2" charset="-122"/>
              </a:rPr>
            </a:fld>
            <a:endParaRPr lang="en-US" altLang="zh-CN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</a:pPr>
            <a:fld id="{A5CF10AF-C568-463E-B991-43316AD12D1A}" type="slidenum">
              <a:rPr lang="en-US" altLang="zh-CN" smtClean="0">
                <a:solidFill>
                  <a:srgbClr val="000000"/>
                </a:solidFill>
                <a:ea typeface="宋体" pitchFamily="2" charset="-122"/>
              </a:rPr>
            </a:fld>
            <a:endParaRPr lang="en-US" altLang="zh-CN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</a:pPr>
            <a:fld id="{F9737E4A-F2BF-44B5-8C60-C27F5C7E4002}" type="slidenum">
              <a:rPr lang="en-US" altLang="zh-CN" smtClean="0">
                <a:solidFill>
                  <a:srgbClr val="000000"/>
                </a:solidFill>
                <a:ea typeface="宋体" pitchFamily="2" charset="-122"/>
              </a:rPr>
            </a:fld>
            <a:endParaRPr lang="en-US" altLang="zh-CN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</a:pPr>
            <a:fld id="{636F26BA-9253-4984-B14F-895E1778D54B}" type="slidenum">
              <a:rPr lang="en-US" altLang="zh-CN" smtClean="0">
                <a:solidFill>
                  <a:srgbClr val="000000"/>
                </a:solidFill>
                <a:ea typeface="宋体" pitchFamily="2" charset="-122"/>
              </a:rPr>
            </a:fld>
            <a:endParaRPr lang="en-US" altLang="zh-CN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</a:pPr>
            <a:fld id="{17FA24B0-7F7C-43E3-981E-84D769EF7F91}" type="slidenum">
              <a:rPr lang="en-US" altLang="zh-CN" smtClean="0">
                <a:solidFill>
                  <a:srgbClr val="000000"/>
                </a:solidFill>
                <a:ea typeface="宋体" pitchFamily="2" charset="-122"/>
              </a:rPr>
            </a:fld>
            <a:endParaRPr lang="en-US" altLang="zh-CN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</a:pPr>
            <a:fld id="{B0F3D950-7968-4FE5-BB7E-B2D23941A764}" type="slidenum">
              <a:rPr lang="en-US" altLang="zh-CN" smtClean="0">
                <a:ea typeface="宋体" pitchFamily="2" charset="-122"/>
              </a:rPr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029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402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fld id="{38C6A04A-AA56-492A-8878-EDD9284AADFD}" type="slidenum">
              <a:rPr lang="en-US" altLang="zh-CN" b="0" smtClean="0">
                <a:latin typeface="Arial" panose="020B0604020202090204" pitchFamily="34" charset="0"/>
              </a:rPr>
            </a:fld>
            <a:endParaRPr lang="en-US" altLang="zh-CN" b="0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2339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423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fld id="{0789BA9A-9530-405F-934E-D96F740057D2}" type="slidenum">
              <a:rPr lang="en-US" altLang="zh-CN" b="0" smtClean="0">
                <a:latin typeface="Arial" panose="020B0604020202090204" pitchFamily="34" charset="0"/>
              </a:rPr>
            </a:fld>
            <a:endParaRPr lang="en-US" altLang="zh-CN" b="0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438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443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fld id="{66BF49CA-D8F9-409A-BAD2-442A8C9D8CE6}" type="slidenum">
              <a:rPr lang="en-US" altLang="zh-CN" b="0" smtClean="0">
                <a:latin typeface="Arial" panose="020B0604020202090204" pitchFamily="34" charset="0"/>
              </a:rPr>
            </a:fld>
            <a:endParaRPr lang="en-US" altLang="zh-CN" b="0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6435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4643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fld id="{202974D7-5D61-4A94-BA41-7F84791CC87D}" type="slidenum">
              <a:rPr lang="en-US" altLang="zh-CN" b="0" smtClean="0">
                <a:latin typeface="Arial" panose="020B0604020202090204" pitchFamily="34" charset="0"/>
              </a:rPr>
            </a:fld>
            <a:endParaRPr lang="en-US" altLang="zh-CN" b="0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484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fld id="{737ECFAD-BB43-42C2-98CA-3FBB8E0D27D9}" type="slidenum">
              <a:rPr lang="en-US" altLang="zh-CN" b="0" smtClean="0">
                <a:latin typeface="Arial" panose="020B0604020202090204" pitchFamily="34" charset="0"/>
              </a:rPr>
            </a:fld>
            <a:endParaRPr lang="en-US" altLang="zh-CN" b="0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0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505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fld id="{5826782C-3986-4AE2-8E8E-77B6D6467763}" type="slidenum">
              <a:rPr lang="en-US" altLang="zh-CN" b="0" smtClean="0">
                <a:latin typeface="Arial" panose="020B0604020202090204" pitchFamily="34" charset="0"/>
              </a:rPr>
            </a:fld>
            <a:endParaRPr lang="en-US" altLang="zh-CN" b="0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8723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587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fld id="{60097190-E3A1-4FA2-B195-0110D1C18A65}" type="slidenum">
              <a:rPr lang="en-US" altLang="zh-CN" b="0" smtClean="0">
                <a:latin typeface="Arial" panose="020B0604020202090204" pitchFamily="34" charset="0"/>
              </a:rPr>
            </a:fld>
            <a:endParaRPr lang="en-US" altLang="zh-CN" b="0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077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607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fld id="{0C3951DC-F6B7-468C-A46C-A1C8FC3E458A}" type="slidenum">
              <a:rPr lang="en-US" altLang="zh-CN" b="0" smtClean="0">
                <a:latin typeface="Arial" panose="020B0604020202090204" pitchFamily="34" charset="0"/>
              </a:rPr>
            </a:fld>
            <a:endParaRPr lang="en-US" altLang="zh-CN" b="0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</p:spPr>
        <p:txBody>
          <a:bodyPr/>
          <a:lstStyle>
            <a:lvl1pPr>
              <a:defRPr sz="4000" b="1">
                <a:latin typeface="微软雅黑" charset="0"/>
                <a:ea typeface="微软雅黑" charset="0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>
                <a:latin typeface="微软雅黑" charset="0"/>
                <a:ea typeface="微软雅黑" charset="0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>
                <a:latin typeface="微软雅黑" charset="0"/>
                <a:ea typeface="微软雅黑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>
                <a:latin typeface="微软雅黑" charset="0"/>
                <a:ea typeface="微软雅黑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>
                <a:latin typeface="微软雅黑" charset="0"/>
                <a:ea typeface="微软雅黑" charset="0"/>
              </a:defRPr>
            </a:lvl1pPr>
          </a:lstStyle>
          <a:p>
            <a:pPr>
              <a:defRPr/>
            </a:pPr>
            <a:fld id="{3EBB3839-8ED0-4D6B-8067-BDAFE9D53AA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360A0E-19C6-413F-9AA3-9D1276ECD8D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04BF57-F09F-4696-94D6-FA47B56C77D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20DD62-A29D-46E5-8C20-AFC9856A3FF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16016" y="1916832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charset="0"/>
                <a:ea typeface="微软雅黑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charset="0"/>
                <a:ea typeface="微软雅黑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charset="0"/>
                <a:ea typeface="微软雅黑" charset="0"/>
              </a:defRPr>
            </a:lvl1pPr>
          </a:lstStyle>
          <a:p>
            <a:pPr>
              <a:defRPr/>
            </a:pPr>
            <a:fld id="{00AB7CE6-F591-405E-8A38-12A2D866740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C05762-F71A-4581-B611-E0396DF3B79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/>
          <a:lstStyle>
            <a:lvl1pPr algn="l">
              <a:defRPr sz="2000" b="1">
                <a:latin typeface="微软雅黑" charset="0"/>
                <a:ea typeface="微软雅黑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微软雅黑" charset="0"/>
                <a:ea typeface="微软雅黑" charset="0"/>
              </a:defRPr>
            </a:lvl1pPr>
            <a:lvl2pPr>
              <a:defRPr sz="2800">
                <a:latin typeface="微软雅黑" charset="0"/>
                <a:ea typeface="微软雅黑" charset="0"/>
              </a:defRPr>
            </a:lvl2pPr>
            <a:lvl3pPr>
              <a:defRPr sz="2400">
                <a:latin typeface="微软雅黑" charset="0"/>
                <a:ea typeface="微软雅黑" charset="0"/>
              </a:defRPr>
            </a:lvl3pPr>
            <a:lvl4pPr>
              <a:defRPr sz="2000">
                <a:latin typeface="微软雅黑" charset="0"/>
                <a:ea typeface="微软雅黑" charset="0"/>
              </a:defRPr>
            </a:lvl4pPr>
            <a:lvl5pPr>
              <a:defRPr sz="2000">
                <a:latin typeface="微软雅黑" charset="0"/>
                <a:ea typeface="微软雅黑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微软雅黑" charset="0"/>
                <a:ea typeface="微软雅黑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charset="0"/>
                <a:ea typeface="微软雅黑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charset="0"/>
                <a:ea typeface="微软雅黑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charset="0"/>
                <a:ea typeface="微软雅黑" charset="0"/>
              </a:defRPr>
            </a:lvl1pPr>
          </a:lstStyle>
          <a:p>
            <a:pPr>
              <a:defRPr/>
            </a:pPr>
            <a:fld id="{2D840480-578B-45A1-8741-A511486F112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998507-C97E-44E5-BF98-5C02AA312D9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58FE1D-5254-4CDD-8924-F7AC9C0F96E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019CF2-7D2B-47A0-86D1-783E3064649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33621C-35FC-4204-AC78-B463AD59F98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</p:spTree>
  </p:cSld>
  <p:clrMapOvr>
    <a:masterClrMapping/>
  </p:clrMapOvr>
  <p:transition>
    <p:blinds dir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8805863" cy="6858000"/>
            <a:chOff x="0" y="0"/>
            <a:chExt cx="5547" cy="4320"/>
          </a:xfrm>
        </p:grpSpPr>
        <p:grpSp>
          <p:nvGrpSpPr>
            <p:cNvPr id="5" name="Group 3"/>
            <p:cNvGrpSpPr/>
            <p:nvPr userDrawn="1"/>
          </p:nvGrpSpPr>
          <p:grpSpPr bwMode="auto">
            <a:xfrm rot="-215207">
              <a:off x="3692" y="232"/>
              <a:ext cx="1856" cy="3627"/>
              <a:chOff x="3010" y="776"/>
              <a:chExt cx="1856" cy="3627"/>
            </a:xfrm>
          </p:grpSpPr>
          <p:sp>
            <p:nvSpPr>
              <p:cNvPr id="39" name="Freeform 4"/>
              <p:cNvSpPr/>
              <p:nvPr userDrawn="1"/>
            </p:nvSpPr>
            <p:spPr bwMode="ltGray">
              <a:xfrm rot="12185230" flipV="1">
                <a:off x="3533" y="775"/>
                <a:ext cx="1333" cy="1485"/>
              </a:xfrm>
              <a:custGeom>
                <a:avLst/>
                <a:gdLst>
                  <a:gd name="T0" fmla="*/ 2147483646 w 596"/>
                  <a:gd name="T1" fmla="*/ 2147483646 h 666"/>
                  <a:gd name="T2" fmla="*/ 1422315941 w 596"/>
                  <a:gd name="T3" fmla="*/ 2147483646 h 666"/>
                  <a:gd name="T4" fmla="*/ 0 w 596"/>
                  <a:gd name="T5" fmla="*/ 2147483646 h 666"/>
                  <a:gd name="T6" fmla="*/ 989876552 w 596"/>
                  <a:gd name="T7" fmla="*/ 2147483646 h 666"/>
                  <a:gd name="T8" fmla="*/ 2147483646 w 596"/>
                  <a:gd name="T9" fmla="*/ 2147483646 h 666"/>
                  <a:gd name="T10" fmla="*/ 2147483646 w 596"/>
                  <a:gd name="T11" fmla="*/ 2147483646 h 666"/>
                  <a:gd name="T12" fmla="*/ 2147483646 w 596"/>
                  <a:gd name="T13" fmla="*/ 2147483646 h 666"/>
                  <a:gd name="T14" fmla="*/ 2147483646 w 596"/>
                  <a:gd name="T15" fmla="*/ 413694843 h 666"/>
                  <a:gd name="T16" fmla="*/ 2147483646 w 596"/>
                  <a:gd name="T17" fmla="*/ 2056764444 h 666"/>
                  <a:gd name="T18" fmla="*/ 2147483646 w 596"/>
                  <a:gd name="T19" fmla="*/ 2147483646 h 666"/>
                  <a:gd name="T20" fmla="*/ 2147483646 w 596"/>
                  <a:gd name="T21" fmla="*/ 2147483646 h 666"/>
                  <a:gd name="T22" fmla="*/ 2147483646 w 596"/>
                  <a:gd name="T23" fmla="*/ 2147483646 h 666"/>
                  <a:gd name="T24" fmla="*/ 2147483646 w 596"/>
                  <a:gd name="T25" fmla="*/ 2147483646 h 666"/>
                  <a:gd name="T26" fmla="*/ 2147483646 w 596"/>
                  <a:gd name="T27" fmla="*/ 2147483646 h 666"/>
                  <a:gd name="T28" fmla="*/ 2147483646 w 596"/>
                  <a:gd name="T29" fmla="*/ 2147483646 h 666"/>
                  <a:gd name="T30" fmla="*/ 2147483646 w 596"/>
                  <a:gd name="T31" fmla="*/ 2147483646 h 666"/>
                  <a:gd name="T32" fmla="*/ 2147483646 w 596"/>
                  <a:gd name="T33" fmla="*/ 2147483646 h 666"/>
                  <a:gd name="T34" fmla="*/ 2147483646 w 596"/>
                  <a:gd name="T35" fmla="*/ 2147483646 h 666"/>
                  <a:gd name="T36" fmla="*/ 2147483646 w 596"/>
                  <a:gd name="T37" fmla="*/ 2147483646 h 666"/>
                  <a:gd name="T38" fmla="*/ 2147483646 w 596"/>
                  <a:gd name="T39" fmla="*/ 2147483646 h 666"/>
                  <a:gd name="T40" fmla="*/ 2147483646 w 596"/>
                  <a:gd name="T41" fmla="*/ 2147483646 h 666"/>
                  <a:gd name="T42" fmla="*/ 2147483646 w 596"/>
                  <a:gd name="T43" fmla="*/ 2147483646 h 666"/>
                  <a:gd name="T44" fmla="*/ 2147483646 w 596"/>
                  <a:gd name="T45" fmla="*/ 2147483646 h 666"/>
                  <a:gd name="T46" fmla="*/ 2147483646 w 596"/>
                  <a:gd name="T47" fmla="*/ 2147483646 h 666"/>
                  <a:gd name="T48" fmla="*/ 2147483646 w 596"/>
                  <a:gd name="T49" fmla="*/ 2147483646 h 666"/>
                  <a:gd name="T50" fmla="*/ 2147483646 w 596"/>
                  <a:gd name="T51" fmla="*/ 2147483646 h 666"/>
                  <a:gd name="T52" fmla="*/ 2147483646 w 596"/>
                  <a:gd name="T53" fmla="*/ 2147483646 h 666"/>
                  <a:gd name="T54" fmla="*/ 2147483646 w 596"/>
                  <a:gd name="T55" fmla="*/ 2147483646 h 666"/>
                  <a:gd name="T56" fmla="*/ 2147483646 w 596"/>
                  <a:gd name="T57" fmla="*/ 2147483646 h 666"/>
                  <a:gd name="T58" fmla="*/ 2147483646 w 596"/>
                  <a:gd name="T59" fmla="*/ 2147483646 h 666"/>
                  <a:gd name="T60" fmla="*/ 2147483646 w 596"/>
                  <a:gd name="T61" fmla="*/ 2147483646 h 666"/>
                  <a:gd name="T62" fmla="*/ 2147483646 w 596"/>
                  <a:gd name="T63" fmla="*/ 2147483646 h 66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596" h="666">
                    <a:moveTo>
                      <a:pt x="22" y="372"/>
                    </a:moveTo>
                    <a:lnTo>
                      <a:pt x="16" y="370"/>
                    </a:lnTo>
                    <a:lnTo>
                      <a:pt x="10" y="360"/>
                    </a:lnTo>
                    <a:lnTo>
                      <a:pt x="6" y="341"/>
                    </a:lnTo>
                    <a:lnTo>
                      <a:pt x="1" y="318"/>
                    </a:lnTo>
                    <a:lnTo>
                      <a:pt x="0" y="289"/>
                    </a:lnTo>
                    <a:lnTo>
                      <a:pt x="0" y="257"/>
                    </a:lnTo>
                    <a:lnTo>
                      <a:pt x="4" y="222"/>
                    </a:lnTo>
                    <a:lnTo>
                      <a:pt x="13" y="187"/>
                    </a:lnTo>
                    <a:lnTo>
                      <a:pt x="25" y="151"/>
                    </a:lnTo>
                    <a:lnTo>
                      <a:pt x="45" y="116"/>
                    </a:lnTo>
                    <a:lnTo>
                      <a:pt x="69" y="84"/>
                    </a:lnTo>
                    <a:lnTo>
                      <a:pt x="101" y="55"/>
                    </a:lnTo>
                    <a:lnTo>
                      <a:pt x="142" y="31"/>
                    </a:lnTo>
                    <a:lnTo>
                      <a:pt x="190" y="13"/>
                    </a:lnTo>
                    <a:lnTo>
                      <a:pt x="247" y="2"/>
                    </a:lnTo>
                    <a:lnTo>
                      <a:pt x="314" y="0"/>
                    </a:lnTo>
                    <a:lnTo>
                      <a:pt x="380" y="9"/>
                    </a:lnTo>
                    <a:lnTo>
                      <a:pt x="436" y="33"/>
                    </a:lnTo>
                    <a:lnTo>
                      <a:pt x="484" y="68"/>
                    </a:lnTo>
                    <a:lnTo>
                      <a:pt x="524" y="113"/>
                    </a:lnTo>
                    <a:lnTo>
                      <a:pt x="554" y="165"/>
                    </a:lnTo>
                    <a:lnTo>
                      <a:pt x="577" y="222"/>
                    </a:lnTo>
                    <a:lnTo>
                      <a:pt x="591" y="284"/>
                    </a:lnTo>
                    <a:lnTo>
                      <a:pt x="596" y="347"/>
                    </a:lnTo>
                    <a:lnTo>
                      <a:pt x="595" y="409"/>
                    </a:lnTo>
                    <a:lnTo>
                      <a:pt x="585" y="469"/>
                    </a:lnTo>
                    <a:lnTo>
                      <a:pt x="566" y="525"/>
                    </a:lnTo>
                    <a:lnTo>
                      <a:pt x="540" y="574"/>
                    </a:lnTo>
                    <a:lnTo>
                      <a:pt x="507" y="615"/>
                    </a:lnTo>
                    <a:lnTo>
                      <a:pt x="465" y="645"/>
                    </a:lnTo>
                    <a:lnTo>
                      <a:pt x="417" y="663"/>
                    </a:lnTo>
                    <a:lnTo>
                      <a:pt x="360" y="666"/>
                    </a:lnTo>
                    <a:lnTo>
                      <a:pt x="389" y="659"/>
                    </a:lnTo>
                    <a:lnTo>
                      <a:pt x="417" y="642"/>
                    </a:lnTo>
                    <a:lnTo>
                      <a:pt x="441" y="617"/>
                    </a:lnTo>
                    <a:lnTo>
                      <a:pt x="463" y="583"/>
                    </a:lnTo>
                    <a:lnTo>
                      <a:pt x="482" y="544"/>
                    </a:lnTo>
                    <a:lnTo>
                      <a:pt x="497" y="501"/>
                    </a:lnTo>
                    <a:lnTo>
                      <a:pt x="509" y="454"/>
                    </a:lnTo>
                    <a:lnTo>
                      <a:pt x="517" y="404"/>
                    </a:lnTo>
                    <a:lnTo>
                      <a:pt x="520" y="355"/>
                    </a:lnTo>
                    <a:lnTo>
                      <a:pt x="519" y="305"/>
                    </a:lnTo>
                    <a:lnTo>
                      <a:pt x="514" y="258"/>
                    </a:lnTo>
                    <a:lnTo>
                      <a:pt x="502" y="213"/>
                    </a:lnTo>
                    <a:lnTo>
                      <a:pt x="485" y="174"/>
                    </a:lnTo>
                    <a:lnTo>
                      <a:pt x="462" y="139"/>
                    </a:lnTo>
                    <a:lnTo>
                      <a:pt x="433" y="112"/>
                    </a:lnTo>
                    <a:lnTo>
                      <a:pt x="397" y="93"/>
                    </a:lnTo>
                    <a:lnTo>
                      <a:pt x="341" y="75"/>
                    </a:lnTo>
                    <a:lnTo>
                      <a:pt x="290" y="65"/>
                    </a:lnTo>
                    <a:lnTo>
                      <a:pt x="246" y="61"/>
                    </a:lnTo>
                    <a:lnTo>
                      <a:pt x="207" y="63"/>
                    </a:lnTo>
                    <a:lnTo>
                      <a:pt x="174" y="71"/>
                    </a:lnTo>
                    <a:lnTo>
                      <a:pt x="146" y="84"/>
                    </a:lnTo>
                    <a:lnTo>
                      <a:pt x="121" y="101"/>
                    </a:lnTo>
                    <a:lnTo>
                      <a:pt x="101" y="123"/>
                    </a:lnTo>
                    <a:lnTo>
                      <a:pt x="84" y="149"/>
                    </a:lnTo>
                    <a:lnTo>
                      <a:pt x="69" y="176"/>
                    </a:lnTo>
                    <a:lnTo>
                      <a:pt x="57" y="206"/>
                    </a:lnTo>
                    <a:lnTo>
                      <a:pt x="48" y="239"/>
                    </a:lnTo>
                    <a:lnTo>
                      <a:pt x="40" y="272"/>
                    </a:lnTo>
                    <a:lnTo>
                      <a:pt x="33" y="305"/>
                    </a:lnTo>
                    <a:lnTo>
                      <a:pt x="28" y="339"/>
                    </a:lnTo>
                    <a:lnTo>
                      <a:pt x="22" y="37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Freeform 5"/>
              <p:cNvSpPr/>
              <p:nvPr userDrawn="1"/>
            </p:nvSpPr>
            <p:spPr bwMode="ltGray">
              <a:xfrm rot="12185230" flipV="1">
                <a:off x="4028" y="1799"/>
                <a:ext cx="571" cy="531"/>
              </a:xfrm>
              <a:custGeom>
                <a:avLst/>
                <a:gdLst>
                  <a:gd name="T0" fmla="*/ 0 w 257"/>
                  <a:gd name="T1" fmla="*/ 0 h 237"/>
                  <a:gd name="T2" fmla="*/ 0 w 257"/>
                  <a:gd name="T3" fmla="*/ 2147483646 h 237"/>
                  <a:gd name="T4" fmla="*/ 687877657 w 257"/>
                  <a:gd name="T5" fmla="*/ 2147483646 h 237"/>
                  <a:gd name="T6" fmla="*/ 1218048353 w 257"/>
                  <a:gd name="T7" fmla="*/ 2147483646 h 237"/>
                  <a:gd name="T8" fmla="*/ 2147483646 w 257"/>
                  <a:gd name="T9" fmla="*/ 2147483646 h 237"/>
                  <a:gd name="T10" fmla="*/ 2147483646 w 257"/>
                  <a:gd name="T11" fmla="*/ 2147483646 h 237"/>
                  <a:gd name="T12" fmla="*/ 2147483646 w 257"/>
                  <a:gd name="T13" fmla="*/ 2147483646 h 237"/>
                  <a:gd name="T14" fmla="*/ 2147483646 w 257"/>
                  <a:gd name="T15" fmla="*/ 2147483646 h 237"/>
                  <a:gd name="T16" fmla="*/ 2147483646 w 257"/>
                  <a:gd name="T17" fmla="*/ 2147483646 h 237"/>
                  <a:gd name="T18" fmla="*/ 2147483646 w 257"/>
                  <a:gd name="T19" fmla="*/ 2147483646 h 237"/>
                  <a:gd name="T20" fmla="*/ 2147483646 w 257"/>
                  <a:gd name="T21" fmla="*/ 2147483646 h 237"/>
                  <a:gd name="T22" fmla="*/ 2147483646 w 257"/>
                  <a:gd name="T23" fmla="*/ 2147483646 h 237"/>
                  <a:gd name="T24" fmla="*/ 2147483646 w 257"/>
                  <a:gd name="T25" fmla="*/ 2147483646 h 237"/>
                  <a:gd name="T26" fmla="*/ 2147483646 w 257"/>
                  <a:gd name="T27" fmla="*/ 2147483646 h 237"/>
                  <a:gd name="T28" fmla="*/ 2147483646 w 257"/>
                  <a:gd name="T29" fmla="*/ 2147483646 h 237"/>
                  <a:gd name="T30" fmla="*/ 2147483646 w 257"/>
                  <a:gd name="T31" fmla="*/ 2147483646 h 237"/>
                  <a:gd name="T32" fmla="*/ 2147483646 w 257"/>
                  <a:gd name="T33" fmla="*/ 2147483646 h 237"/>
                  <a:gd name="T34" fmla="*/ 2147483646 w 257"/>
                  <a:gd name="T35" fmla="*/ 2147483646 h 237"/>
                  <a:gd name="T36" fmla="*/ 2147483646 w 257"/>
                  <a:gd name="T37" fmla="*/ 2147483646 h 237"/>
                  <a:gd name="T38" fmla="*/ 2147483646 w 257"/>
                  <a:gd name="T39" fmla="*/ 2147483646 h 237"/>
                  <a:gd name="T40" fmla="*/ 2147483646 w 257"/>
                  <a:gd name="T41" fmla="*/ 2147483646 h 237"/>
                  <a:gd name="T42" fmla="*/ 2147483646 w 257"/>
                  <a:gd name="T43" fmla="*/ 2147483646 h 237"/>
                  <a:gd name="T44" fmla="*/ 2147483646 w 257"/>
                  <a:gd name="T45" fmla="*/ 2147483646 h 237"/>
                  <a:gd name="T46" fmla="*/ 2147483646 w 257"/>
                  <a:gd name="T47" fmla="*/ 2147483646 h 237"/>
                  <a:gd name="T48" fmla="*/ 2147483646 w 257"/>
                  <a:gd name="T49" fmla="*/ 2147483646 h 237"/>
                  <a:gd name="T50" fmla="*/ 2147483646 w 257"/>
                  <a:gd name="T51" fmla="*/ 2147483646 h 237"/>
                  <a:gd name="T52" fmla="*/ 2147483646 w 257"/>
                  <a:gd name="T53" fmla="*/ 2147483646 h 237"/>
                  <a:gd name="T54" fmla="*/ 2147483646 w 257"/>
                  <a:gd name="T55" fmla="*/ 2147483646 h 237"/>
                  <a:gd name="T56" fmla="*/ 2147483646 w 257"/>
                  <a:gd name="T57" fmla="*/ 2147483646 h 237"/>
                  <a:gd name="T58" fmla="*/ 2147483646 w 257"/>
                  <a:gd name="T59" fmla="*/ 2147483646 h 237"/>
                  <a:gd name="T60" fmla="*/ 2147483646 w 257"/>
                  <a:gd name="T61" fmla="*/ 2147483646 h 237"/>
                  <a:gd name="T62" fmla="*/ 2147483646 w 257"/>
                  <a:gd name="T63" fmla="*/ 2147483646 h 237"/>
                  <a:gd name="T64" fmla="*/ 0 w 257"/>
                  <a:gd name="T65" fmla="*/ 0 h 23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257" h="237">
                    <a:moveTo>
                      <a:pt x="0" y="0"/>
                    </a:moveTo>
                    <a:lnTo>
                      <a:pt x="0" y="25"/>
                    </a:lnTo>
                    <a:lnTo>
                      <a:pt x="3" y="50"/>
                    </a:lnTo>
                    <a:lnTo>
                      <a:pt x="6" y="75"/>
                    </a:lnTo>
                    <a:lnTo>
                      <a:pt x="11" y="98"/>
                    </a:lnTo>
                    <a:lnTo>
                      <a:pt x="18" y="119"/>
                    </a:lnTo>
                    <a:lnTo>
                      <a:pt x="27" y="141"/>
                    </a:lnTo>
                    <a:lnTo>
                      <a:pt x="38" y="161"/>
                    </a:lnTo>
                    <a:lnTo>
                      <a:pt x="51" y="178"/>
                    </a:lnTo>
                    <a:lnTo>
                      <a:pt x="67" y="194"/>
                    </a:lnTo>
                    <a:lnTo>
                      <a:pt x="86" y="208"/>
                    </a:lnTo>
                    <a:lnTo>
                      <a:pt x="106" y="219"/>
                    </a:lnTo>
                    <a:lnTo>
                      <a:pt x="131" y="228"/>
                    </a:lnTo>
                    <a:lnTo>
                      <a:pt x="158" y="234"/>
                    </a:lnTo>
                    <a:lnTo>
                      <a:pt x="188" y="237"/>
                    </a:lnTo>
                    <a:lnTo>
                      <a:pt x="220" y="236"/>
                    </a:lnTo>
                    <a:lnTo>
                      <a:pt x="257" y="232"/>
                    </a:lnTo>
                    <a:lnTo>
                      <a:pt x="224" y="227"/>
                    </a:lnTo>
                    <a:lnTo>
                      <a:pt x="195" y="220"/>
                    </a:lnTo>
                    <a:lnTo>
                      <a:pt x="170" y="212"/>
                    </a:lnTo>
                    <a:lnTo>
                      <a:pt x="148" y="204"/>
                    </a:lnTo>
                    <a:lnTo>
                      <a:pt x="128" y="193"/>
                    </a:lnTo>
                    <a:lnTo>
                      <a:pt x="112" y="182"/>
                    </a:lnTo>
                    <a:lnTo>
                      <a:pt x="97" y="169"/>
                    </a:lnTo>
                    <a:lnTo>
                      <a:pt x="84" y="155"/>
                    </a:lnTo>
                    <a:lnTo>
                      <a:pt x="72" y="141"/>
                    </a:lnTo>
                    <a:lnTo>
                      <a:pt x="61" y="125"/>
                    </a:lnTo>
                    <a:lnTo>
                      <a:pt x="52" y="107"/>
                    </a:lnTo>
                    <a:lnTo>
                      <a:pt x="43" y="88"/>
                    </a:lnTo>
                    <a:lnTo>
                      <a:pt x="33" y="69"/>
                    </a:lnTo>
                    <a:lnTo>
                      <a:pt x="23" y="47"/>
                    </a:lnTo>
                    <a:lnTo>
                      <a:pt x="12" y="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Freeform 6"/>
              <p:cNvSpPr/>
              <p:nvPr userDrawn="1"/>
            </p:nvSpPr>
            <p:spPr bwMode="ltGray">
              <a:xfrm rot="12185230" flipV="1">
                <a:off x="3636" y="2164"/>
                <a:ext cx="277" cy="249"/>
              </a:xfrm>
              <a:custGeom>
                <a:avLst/>
                <a:gdLst>
                  <a:gd name="T0" fmla="*/ 2147483646 w 124"/>
                  <a:gd name="T1" fmla="*/ 0 h 110"/>
                  <a:gd name="T2" fmla="*/ 2147483646 w 124"/>
                  <a:gd name="T3" fmla="*/ 2147483646 h 110"/>
                  <a:gd name="T4" fmla="*/ 2147483646 w 124"/>
                  <a:gd name="T5" fmla="*/ 2147483646 h 110"/>
                  <a:gd name="T6" fmla="*/ 2147483646 w 124"/>
                  <a:gd name="T7" fmla="*/ 2147483646 h 110"/>
                  <a:gd name="T8" fmla="*/ 2147483646 w 124"/>
                  <a:gd name="T9" fmla="*/ 2147483646 h 110"/>
                  <a:gd name="T10" fmla="*/ 2147483646 w 124"/>
                  <a:gd name="T11" fmla="*/ 2147483646 h 110"/>
                  <a:gd name="T12" fmla="*/ 2147483646 w 124"/>
                  <a:gd name="T13" fmla="*/ 2147483646 h 110"/>
                  <a:gd name="T14" fmla="*/ 2147483646 w 124"/>
                  <a:gd name="T15" fmla="*/ 2147483646 h 110"/>
                  <a:gd name="T16" fmla="*/ 2147483646 w 124"/>
                  <a:gd name="T17" fmla="*/ 2147483646 h 110"/>
                  <a:gd name="T18" fmla="*/ 0 w 124"/>
                  <a:gd name="T19" fmla="*/ 2147483646 h 110"/>
                  <a:gd name="T20" fmla="*/ 968924700 w 124"/>
                  <a:gd name="T21" fmla="*/ 2147483646 h 110"/>
                  <a:gd name="T22" fmla="*/ 1906946431 w 124"/>
                  <a:gd name="T23" fmla="*/ 2147483646 h 110"/>
                  <a:gd name="T24" fmla="*/ 2147483646 w 124"/>
                  <a:gd name="T25" fmla="*/ 2147483646 h 110"/>
                  <a:gd name="T26" fmla="*/ 2147483646 w 124"/>
                  <a:gd name="T27" fmla="*/ 2147483646 h 110"/>
                  <a:gd name="T28" fmla="*/ 2147483646 w 124"/>
                  <a:gd name="T29" fmla="*/ 2147483646 h 110"/>
                  <a:gd name="T30" fmla="*/ 2147483646 w 124"/>
                  <a:gd name="T31" fmla="*/ 2147483646 h 110"/>
                  <a:gd name="T32" fmla="*/ 2147483646 w 124"/>
                  <a:gd name="T33" fmla="*/ 2147483646 h 110"/>
                  <a:gd name="T34" fmla="*/ 2147483646 w 124"/>
                  <a:gd name="T35" fmla="*/ 2147483646 h 110"/>
                  <a:gd name="T36" fmla="*/ 2147483646 w 124"/>
                  <a:gd name="T37" fmla="*/ 2147483646 h 110"/>
                  <a:gd name="T38" fmla="*/ 2147483646 w 124"/>
                  <a:gd name="T39" fmla="*/ 2147483646 h 110"/>
                  <a:gd name="T40" fmla="*/ 2147483646 w 124"/>
                  <a:gd name="T41" fmla="*/ 2147483646 h 110"/>
                  <a:gd name="T42" fmla="*/ 2147483646 w 124"/>
                  <a:gd name="T43" fmla="*/ 2147483646 h 110"/>
                  <a:gd name="T44" fmla="*/ 2147483646 w 124"/>
                  <a:gd name="T45" fmla="*/ 2147483646 h 110"/>
                  <a:gd name="T46" fmla="*/ 2147483646 w 124"/>
                  <a:gd name="T47" fmla="*/ 2147483646 h 110"/>
                  <a:gd name="T48" fmla="*/ 2147483646 w 124"/>
                  <a:gd name="T49" fmla="*/ 2147483646 h 110"/>
                  <a:gd name="T50" fmla="*/ 2147483646 w 124"/>
                  <a:gd name="T51" fmla="*/ 2147483646 h 110"/>
                  <a:gd name="T52" fmla="*/ 2147483646 w 124"/>
                  <a:gd name="T53" fmla="*/ 2147483646 h 110"/>
                  <a:gd name="T54" fmla="*/ 2147483646 w 124"/>
                  <a:gd name="T55" fmla="*/ 2147483646 h 110"/>
                  <a:gd name="T56" fmla="*/ 2147483646 w 124"/>
                  <a:gd name="T57" fmla="*/ 2147483646 h 110"/>
                  <a:gd name="T58" fmla="*/ 2147483646 w 124"/>
                  <a:gd name="T59" fmla="*/ 0 h 110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124" h="110">
                    <a:moveTo>
                      <a:pt x="77" y="0"/>
                    </a:moveTo>
                    <a:lnTo>
                      <a:pt x="124" y="108"/>
                    </a:lnTo>
                    <a:lnTo>
                      <a:pt x="120" y="107"/>
                    </a:lnTo>
                    <a:lnTo>
                      <a:pt x="107" y="105"/>
                    </a:lnTo>
                    <a:lnTo>
                      <a:pt x="89" y="101"/>
                    </a:lnTo>
                    <a:lnTo>
                      <a:pt x="68" y="99"/>
                    </a:lnTo>
                    <a:lnTo>
                      <a:pt x="45" y="97"/>
                    </a:lnTo>
                    <a:lnTo>
                      <a:pt x="25" y="98"/>
                    </a:lnTo>
                    <a:lnTo>
                      <a:pt x="9" y="102"/>
                    </a:lnTo>
                    <a:lnTo>
                      <a:pt x="0" y="110"/>
                    </a:lnTo>
                    <a:lnTo>
                      <a:pt x="4" y="98"/>
                    </a:lnTo>
                    <a:lnTo>
                      <a:pt x="8" y="89"/>
                    </a:lnTo>
                    <a:lnTo>
                      <a:pt x="16" y="82"/>
                    </a:lnTo>
                    <a:lnTo>
                      <a:pt x="25" y="76"/>
                    </a:lnTo>
                    <a:lnTo>
                      <a:pt x="36" y="72"/>
                    </a:lnTo>
                    <a:lnTo>
                      <a:pt x="47" y="71"/>
                    </a:lnTo>
                    <a:lnTo>
                      <a:pt x="59" y="71"/>
                    </a:lnTo>
                    <a:lnTo>
                      <a:pt x="72" y="74"/>
                    </a:lnTo>
                    <a:lnTo>
                      <a:pt x="73" y="71"/>
                    </a:lnTo>
                    <a:lnTo>
                      <a:pt x="70" y="56"/>
                    </a:lnTo>
                    <a:lnTo>
                      <a:pt x="67" y="38"/>
                    </a:lnTo>
                    <a:lnTo>
                      <a:pt x="65" y="30"/>
                    </a:lnTo>
                    <a:lnTo>
                      <a:pt x="63" y="30"/>
                    </a:lnTo>
                    <a:lnTo>
                      <a:pt x="61" y="29"/>
                    </a:lnTo>
                    <a:lnTo>
                      <a:pt x="59" y="26"/>
                    </a:lnTo>
                    <a:lnTo>
                      <a:pt x="57" y="23"/>
                    </a:lnTo>
                    <a:lnTo>
                      <a:pt x="57" y="19"/>
                    </a:lnTo>
                    <a:lnTo>
                      <a:pt x="59" y="14"/>
                    </a:lnTo>
                    <a:lnTo>
                      <a:pt x="66" y="8"/>
                    </a:lnTo>
                    <a:lnTo>
                      <a:pt x="7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" name="Freeform 7"/>
              <p:cNvSpPr/>
              <p:nvPr userDrawn="1"/>
            </p:nvSpPr>
            <p:spPr bwMode="ltGray">
              <a:xfrm rot="12185230" flipV="1">
                <a:off x="3977" y="974"/>
                <a:ext cx="245" cy="347"/>
              </a:xfrm>
              <a:custGeom>
                <a:avLst/>
                <a:gdLst>
                  <a:gd name="T0" fmla="*/ 0 w 109"/>
                  <a:gd name="T1" fmla="*/ 0 h 156"/>
                  <a:gd name="T2" fmla="*/ 1364139335 w 109"/>
                  <a:gd name="T3" fmla="*/ 174203051 h 156"/>
                  <a:gd name="T4" fmla="*/ 2147483646 w 109"/>
                  <a:gd name="T5" fmla="*/ 1036152412 h 156"/>
                  <a:gd name="T6" fmla="*/ 2147483646 w 109"/>
                  <a:gd name="T7" fmla="*/ 2147483646 h 156"/>
                  <a:gd name="T8" fmla="*/ 2147483646 w 109"/>
                  <a:gd name="T9" fmla="*/ 2147483646 h 156"/>
                  <a:gd name="T10" fmla="*/ 2147483646 w 109"/>
                  <a:gd name="T11" fmla="*/ 2147483646 h 156"/>
                  <a:gd name="T12" fmla="*/ 2147483646 w 109"/>
                  <a:gd name="T13" fmla="*/ 2147483646 h 156"/>
                  <a:gd name="T14" fmla="*/ 2147483646 w 109"/>
                  <a:gd name="T15" fmla="*/ 2147483646 h 156"/>
                  <a:gd name="T16" fmla="*/ 2147483646 w 109"/>
                  <a:gd name="T17" fmla="*/ 2147483646 h 156"/>
                  <a:gd name="T18" fmla="*/ 2147483646 w 109"/>
                  <a:gd name="T19" fmla="*/ 2147483646 h 156"/>
                  <a:gd name="T20" fmla="*/ 2147483646 w 109"/>
                  <a:gd name="T21" fmla="*/ 2147483646 h 156"/>
                  <a:gd name="T22" fmla="*/ 2147483646 w 109"/>
                  <a:gd name="T23" fmla="*/ 2147483646 h 156"/>
                  <a:gd name="T24" fmla="*/ 2147483646 w 109"/>
                  <a:gd name="T25" fmla="*/ 2147483646 h 156"/>
                  <a:gd name="T26" fmla="*/ 2147483646 w 109"/>
                  <a:gd name="T27" fmla="*/ 2147483646 h 156"/>
                  <a:gd name="T28" fmla="*/ 2147483646 w 109"/>
                  <a:gd name="T29" fmla="*/ 2147483646 h 156"/>
                  <a:gd name="T30" fmla="*/ 2147483646 w 109"/>
                  <a:gd name="T31" fmla="*/ 2147483646 h 156"/>
                  <a:gd name="T32" fmla="*/ 2147483646 w 109"/>
                  <a:gd name="T33" fmla="*/ 2147483646 h 156"/>
                  <a:gd name="T34" fmla="*/ 2147483646 w 109"/>
                  <a:gd name="T35" fmla="*/ 2147483646 h 156"/>
                  <a:gd name="T36" fmla="*/ 2147483646 w 109"/>
                  <a:gd name="T37" fmla="*/ 2147483646 h 156"/>
                  <a:gd name="T38" fmla="*/ 2147483646 w 109"/>
                  <a:gd name="T39" fmla="*/ 2147483646 h 156"/>
                  <a:gd name="T40" fmla="*/ 2147483646 w 109"/>
                  <a:gd name="T41" fmla="*/ 2147483646 h 156"/>
                  <a:gd name="T42" fmla="*/ 2147483646 w 109"/>
                  <a:gd name="T43" fmla="*/ 2147483646 h 156"/>
                  <a:gd name="T44" fmla="*/ 2147483646 w 109"/>
                  <a:gd name="T45" fmla="*/ 2147483646 h 156"/>
                  <a:gd name="T46" fmla="*/ 2147483646 w 109"/>
                  <a:gd name="T47" fmla="*/ 2147483646 h 156"/>
                  <a:gd name="T48" fmla="*/ 0 w 109"/>
                  <a:gd name="T49" fmla="*/ 0 h 15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109" h="156">
                    <a:moveTo>
                      <a:pt x="0" y="0"/>
                    </a:moveTo>
                    <a:lnTo>
                      <a:pt x="5" y="1"/>
                    </a:lnTo>
                    <a:lnTo>
                      <a:pt x="18" y="5"/>
                    </a:lnTo>
                    <a:lnTo>
                      <a:pt x="37" y="12"/>
                    </a:lnTo>
                    <a:lnTo>
                      <a:pt x="58" y="24"/>
                    </a:lnTo>
                    <a:lnTo>
                      <a:pt x="78" y="44"/>
                    </a:lnTo>
                    <a:lnTo>
                      <a:pt x="96" y="71"/>
                    </a:lnTo>
                    <a:lnTo>
                      <a:pt x="107" y="108"/>
                    </a:lnTo>
                    <a:lnTo>
                      <a:pt x="109" y="156"/>
                    </a:lnTo>
                    <a:lnTo>
                      <a:pt x="105" y="156"/>
                    </a:lnTo>
                    <a:lnTo>
                      <a:pt x="99" y="156"/>
                    </a:lnTo>
                    <a:lnTo>
                      <a:pt x="93" y="156"/>
                    </a:lnTo>
                    <a:lnTo>
                      <a:pt x="87" y="154"/>
                    </a:lnTo>
                    <a:lnTo>
                      <a:pt x="81" y="153"/>
                    </a:lnTo>
                    <a:lnTo>
                      <a:pt x="74" y="150"/>
                    </a:lnTo>
                    <a:lnTo>
                      <a:pt x="66" y="145"/>
                    </a:lnTo>
                    <a:lnTo>
                      <a:pt x="58" y="139"/>
                    </a:lnTo>
                    <a:lnTo>
                      <a:pt x="53" y="126"/>
                    </a:lnTo>
                    <a:lnTo>
                      <a:pt x="53" y="111"/>
                    </a:lnTo>
                    <a:lnTo>
                      <a:pt x="56" y="96"/>
                    </a:lnTo>
                    <a:lnTo>
                      <a:pt x="59" y="80"/>
                    </a:lnTo>
                    <a:lnTo>
                      <a:pt x="56" y="62"/>
                    </a:lnTo>
                    <a:lnTo>
                      <a:pt x="48" y="43"/>
                    </a:lnTo>
                    <a:lnTo>
                      <a:pt x="31" y="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" name="Freeform 8"/>
              <p:cNvSpPr/>
              <p:nvPr userDrawn="1"/>
            </p:nvSpPr>
            <p:spPr bwMode="ltGray">
              <a:xfrm rot="12185230" flipV="1">
                <a:off x="3842" y="2207"/>
                <a:ext cx="103" cy="209"/>
              </a:xfrm>
              <a:custGeom>
                <a:avLst/>
                <a:gdLst>
                  <a:gd name="T0" fmla="*/ 2147483646 w 46"/>
                  <a:gd name="T1" fmla="*/ 0 h 94"/>
                  <a:gd name="T2" fmla="*/ 2147483646 w 46"/>
                  <a:gd name="T3" fmla="*/ 2147483646 h 94"/>
                  <a:gd name="T4" fmla="*/ 2147483646 w 46"/>
                  <a:gd name="T5" fmla="*/ 2147483646 h 94"/>
                  <a:gd name="T6" fmla="*/ 2147483646 w 46"/>
                  <a:gd name="T7" fmla="*/ 2147483646 h 94"/>
                  <a:gd name="T8" fmla="*/ 0 w 46"/>
                  <a:gd name="T9" fmla="*/ 2147483646 h 94"/>
                  <a:gd name="T10" fmla="*/ 2147483646 w 46"/>
                  <a:gd name="T11" fmla="*/ 2147483646 h 94"/>
                  <a:gd name="T12" fmla="*/ 2147483646 w 46"/>
                  <a:gd name="T13" fmla="*/ 2147483646 h 94"/>
                  <a:gd name="T14" fmla="*/ 2147483646 w 46"/>
                  <a:gd name="T15" fmla="*/ 2147483646 h 94"/>
                  <a:gd name="T16" fmla="*/ 2147483646 w 46"/>
                  <a:gd name="T17" fmla="*/ 2147483646 h 94"/>
                  <a:gd name="T18" fmla="*/ 2147483646 w 46"/>
                  <a:gd name="T19" fmla="*/ 2147483646 h 94"/>
                  <a:gd name="T20" fmla="*/ 2147483646 w 46"/>
                  <a:gd name="T21" fmla="*/ 2147483646 h 94"/>
                  <a:gd name="T22" fmla="*/ 2147483646 w 46"/>
                  <a:gd name="T23" fmla="*/ 2147483646 h 94"/>
                  <a:gd name="T24" fmla="*/ 2147483646 w 46"/>
                  <a:gd name="T25" fmla="*/ 0 h 9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6" h="94">
                    <a:moveTo>
                      <a:pt x="31" y="0"/>
                    </a:moveTo>
                    <a:lnTo>
                      <a:pt x="20" y="38"/>
                    </a:lnTo>
                    <a:lnTo>
                      <a:pt x="15" y="62"/>
                    </a:lnTo>
                    <a:lnTo>
                      <a:pt x="11" y="79"/>
                    </a:lnTo>
                    <a:lnTo>
                      <a:pt x="0" y="94"/>
                    </a:lnTo>
                    <a:lnTo>
                      <a:pt x="12" y="88"/>
                    </a:lnTo>
                    <a:lnTo>
                      <a:pt x="23" y="80"/>
                    </a:lnTo>
                    <a:lnTo>
                      <a:pt x="32" y="69"/>
                    </a:lnTo>
                    <a:lnTo>
                      <a:pt x="40" y="57"/>
                    </a:lnTo>
                    <a:lnTo>
                      <a:pt x="45" y="44"/>
                    </a:lnTo>
                    <a:lnTo>
                      <a:pt x="46" y="30"/>
                    </a:lnTo>
                    <a:lnTo>
                      <a:pt x="42" y="15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Freeform 9"/>
              <p:cNvSpPr/>
              <p:nvPr userDrawn="1"/>
            </p:nvSpPr>
            <p:spPr bwMode="ltGray">
              <a:xfrm rot="12185230" flipV="1">
                <a:off x="3892" y="1325"/>
                <a:ext cx="120" cy="90"/>
              </a:xfrm>
              <a:custGeom>
                <a:avLst/>
                <a:gdLst>
                  <a:gd name="T0" fmla="*/ 0 w 54"/>
                  <a:gd name="T1" fmla="*/ 0 h 40"/>
                  <a:gd name="T2" fmla="*/ 171236391 w 54"/>
                  <a:gd name="T3" fmla="*/ 275780644 h 40"/>
                  <a:gd name="T4" fmla="*/ 1226089022 w 54"/>
                  <a:gd name="T5" fmla="*/ 896047171 h 40"/>
                  <a:gd name="T6" fmla="*/ 2147483646 w 54"/>
                  <a:gd name="T7" fmla="*/ 2147483646 h 40"/>
                  <a:gd name="T8" fmla="*/ 2147483646 w 54"/>
                  <a:gd name="T9" fmla="*/ 2147483646 h 40"/>
                  <a:gd name="T10" fmla="*/ 2147483646 w 54"/>
                  <a:gd name="T11" fmla="*/ 2147483646 h 40"/>
                  <a:gd name="T12" fmla="*/ 2147483646 w 54"/>
                  <a:gd name="T13" fmla="*/ 2147483646 h 40"/>
                  <a:gd name="T14" fmla="*/ 2147483646 w 54"/>
                  <a:gd name="T15" fmla="*/ 2147483646 h 40"/>
                  <a:gd name="T16" fmla="*/ 2147483646 w 54"/>
                  <a:gd name="T17" fmla="*/ 2147483646 h 40"/>
                  <a:gd name="T18" fmla="*/ 2147483646 w 54"/>
                  <a:gd name="T19" fmla="*/ 2147483646 h 40"/>
                  <a:gd name="T20" fmla="*/ 2147483646 w 54"/>
                  <a:gd name="T21" fmla="*/ 2147483646 h 40"/>
                  <a:gd name="T22" fmla="*/ 2147483646 w 54"/>
                  <a:gd name="T23" fmla="*/ 2147483646 h 40"/>
                  <a:gd name="T24" fmla="*/ 2147483646 w 54"/>
                  <a:gd name="T25" fmla="*/ 2147483646 h 40"/>
                  <a:gd name="T26" fmla="*/ 2147483646 w 54"/>
                  <a:gd name="T27" fmla="*/ 2147483646 h 40"/>
                  <a:gd name="T28" fmla="*/ 2147483646 w 54"/>
                  <a:gd name="T29" fmla="*/ 2147483646 h 40"/>
                  <a:gd name="T30" fmla="*/ 2089162504 w 54"/>
                  <a:gd name="T31" fmla="*/ 2147483646 h 40"/>
                  <a:gd name="T32" fmla="*/ 0 w 54"/>
                  <a:gd name="T33" fmla="*/ 0 h 4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54" h="40">
                    <a:moveTo>
                      <a:pt x="0" y="0"/>
                    </a:moveTo>
                    <a:lnTo>
                      <a:pt x="1" y="1"/>
                    </a:lnTo>
                    <a:lnTo>
                      <a:pt x="6" y="3"/>
                    </a:lnTo>
                    <a:lnTo>
                      <a:pt x="13" y="8"/>
                    </a:lnTo>
                    <a:lnTo>
                      <a:pt x="21" y="12"/>
                    </a:lnTo>
                    <a:lnTo>
                      <a:pt x="29" y="15"/>
                    </a:lnTo>
                    <a:lnTo>
                      <a:pt x="38" y="17"/>
                    </a:lnTo>
                    <a:lnTo>
                      <a:pt x="46" y="18"/>
                    </a:lnTo>
                    <a:lnTo>
                      <a:pt x="54" y="16"/>
                    </a:lnTo>
                    <a:lnTo>
                      <a:pt x="53" y="25"/>
                    </a:lnTo>
                    <a:lnTo>
                      <a:pt x="50" y="33"/>
                    </a:lnTo>
                    <a:lnTo>
                      <a:pt x="44" y="38"/>
                    </a:lnTo>
                    <a:lnTo>
                      <a:pt x="37" y="40"/>
                    </a:lnTo>
                    <a:lnTo>
                      <a:pt x="28" y="39"/>
                    </a:lnTo>
                    <a:lnTo>
                      <a:pt x="19" y="32"/>
                    </a:lnTo>
                    <a:lnTo>
                      <a:pt x="10" y="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" name="Freeform 10"/>
              <p:cNvSpPr/>
              <p:nvPr userDrawn="1"/>
            </p:nvSpPr>
            <p:spPr bwMode="ltGray">
              <a:xfrm rot="12185230" flipV="1">
                <a:off x="3009" y="2344"/>
                <a:ext cx="330" cy="2059"/>
              </a:xfrm>
              <a:custGeom>
                <a:avLst/>
                <a:gdLst>
                  <a:gd name="T0" fmla="*/ 0 w 149"/>
                  <a:gd name="T1" fmla="*/ 0 h 704"/>
                  <a:gd name="T2" fmla="*/ 1142476438 w 149"/>
                  <a:gd name="T3" fmla="*/ 2147483646 h 704"/>
                  <a:gd name="T4" fmla="*/ 2147483646 w 149"/>
                  <a:gd name="T5" fmla="*/ 2147483646 h 704"/>
                  <a:gd name="T6" fmla="*/ 2147483646 w 149"/>
                  <a:gd name="T7" fmla="*/ 2147483646 h 704"/>
                  <a:gd name="T8" fmla="*/ 2147483646 w 149"/>
                  <a:gd name="T9" fmla="*/ 2147483646 h 704"/>
                  <a:gd name="T10" fmla="*/ 2147483646 w 149"/>
                  <a:gd name="T11" fmla="*/ 2147483646 h 704"/>
                  <a:gd name="T12" fmla="*/ 2147483646 w 149"/>
                  <a:gd name="T13" fmla="*/ 2147483646 h 704"/>
                  <a:gd name="T14" fmla="*/ 2147483646 w 149"/>
                  <a:gd name="T15" fmla="*/ 2147483646 h 704"/>
                  <a:gd name="T16" fmla="*/ 2147483646 w 149"/>
                  <a:gd name="T17" fmla="*/ 2147483646 h 704"/>
                  <a:gd name="T18" fmla="*/ 2147483646 w 149"/>
                  <a:gd name="T19" fmla="*/ 2147483646 h 704"/>
                  <a:gd name="T20" fmla="*/ 2147483646 w 149"/>
                  <a:gd name="T21" fmla="*/ 2147483646 h 704"/>
                  <a:gd name="T22" fmla="*/ 2147483646 w 149"/>
                  <a:gd name="T23" fmla="*/ 2147483646 h 704"/>
                  <a:gd name="T24" fmla="*/ 2147483646 w 149"/>
                  <a:gd name="T25" fmla="*/ 2147483646 h 704"/>
                  <a:gd name="T26" fmla="*/ 2147483646 w 149"/>
                  <a:gd name="T27" fmla="*/ 2147483646 h 704"/>
                  <a:gd name="T28" fmla="*/ 2147483646 w 149"/>
                  <a:gd name="T29" fmla="*/ 2147483646 h 704"/>
                  <a:gd name="T30" fmla="*/ 2147483646 w 149"/>
                  <a:gd name="T31" fmla="*/ 2147483646 h 704"/>
                  <a:gd name="T32" fmla="*/ 2147483646 w 149"/>
                  <a:gd name="T33" fmla="*/ 2147483646 h 704"/>
                  <a:gd name="T34" fmla="*/ 2147483646 w 149"/>
                  <a:gd name="T35" fmla="*/ 2147483646 h 704"/>
                  <a:gd name="T36" fmla="*/ 2147483646 w 149"/>
                  <a:gd name="T37" fmla="*/ 2147483646 h 704"/>
                  <a:gd name="T38" fmla="*/ 1944836536 w 149"/>
                  <a:gd name="T39" fmla="*/ 2147483646 h 704"/>
                  <a:gd name="T40" fmla="*/ 1142476438 w 149"/>
                  <a:gd name="T41" fmla="*/ 2147483646 h 704"/>
                  <a:gd name="T42" fmla="*/ 1142476438 w 149"/>
                  <a:gd name="T43" fmla="*/ 2147483646 h 704"/>
                  <a:gd name="T44" fmla="*/ 1587558277 w 149"/>
                  <a:gd name="T45" fmla="*/ 2147483646 h 704"/>
                  <a:gd name="T46" fmla="*/ 2147483646 w 149"/>
                  <a:gd name="T47" fmla="*/ 2147483646 h 704"/>
                  <a:gd name="T48" fmla="*/ 2147483646 w 149"/>
                  <a:gd name="T49" fmla="*/ 2147483646 h 704"/>
                  <a:gd name="T50" fmla="*/ 2147483646 w 149"/>
                  <a:gd name="T51" fmla="*/ 2147483646 h 704"/>
                  <a:gd name="T52" fmla="*/ 2147483646 w 149"/>
                  <a:gd name="T53" fmla="*/ 2147483646 h 704"/>
                  <a:gd name="T54" fmla="*/ 2147483646 w 149"/>
                  <a:gd name="T55" fmla="*/ 2147483646 h 704"/>
                  <a:gd name="T56" fmla="*/ 2147483646 w 149"/>
                  <a:gd name="T57" fmla="*/ 2147483646 h 704"/>
                  <a:gd name="T58" fmla="*/ 2147483646 w 149"/>
                  <a:gd name="T59" fmla="*/ 2147483646 h 704"/>
                  <a:gd name="T60" fmla="*/ 2147483646 w 149"/>
                  <a:gd name="T61" fmla="*/ 2147483646 h 704"/>
                  <a:gd name="T62" fmla="*/ 2147483646 w 149"/>
                  <a:gd name="T63" fmla="*/ 2147483646 h 704"/>
                  <a:gd name="T64" fmla="*/ 2147483646 w 149"/>
                  <a:gd name="T65" fmla="*/ 2147483646 h 704"/>
                  <a:gd name="T66" fmla="*/ 2147483646 w 149"/>
                  <a:gd name="T67" fmla="*/ 2147483646 h 704"/>
                  <a:gd name="T68" fmla="*/ 2147483646 w 149"/>
                  <a:gd name="T69" fmla="*/ 2147483646 h 704"/>
                  <a:gd name="T70" fmla="*/ 2147483646 w 149"/>
                  <a:gd name="T71" fmla="*/ 2147483646 h 704"/>
                  <a:gd name="T72" fmla="*/ 2147483646 w 149"/>
                  <a:gd name="T73" fmla="*/ 2147483646 h 704"/>
                  <a:gd name="T74" fmla="*/ 2147483646 w 149"/>
                  <a:gd name="T75" fmla="*/ 2147483646 h 704"/>
                  <a:gd name="T76" fmla="*/ 2147483646 w 149"/>
                  <a:gd name="T77" fmla="*/ 2147483646 h 704"/>
                  <a:gd name="T78" fmla="*/ 2147483646 w 149"/>
                  <a:gd name="T79" fmla="*/ 2147483646 h 704"/>
                  <a:gd name="T80" fmla="*/ 2147483646 w 149"/>
                  <a:gd name="T81" fmla="*/ 2147483646 h 704"/>
                  <a:gd name="T82" fmla="*/ 0 w 149"/>
                  <a:gd name="T83" fmla="*/ 0 h 704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149" h="704">
                    <a:moveTo>
                      <a:pt x="0" y="0"/>
                    </a:moveTo>
                    <a:lnTo>
                      <a:pt x="6" y="6"/>
                    </a:lnTo>
                    <a:lnTo>
                      <a:pt x="16" y="14"/>
                    </a:lnTo>
                    <a:lnTo>
                      <a:pt x="28" y="24"/>
                    </a:lnTo>
                    <a:lnTo>
                      <a:pt x="41" y="37"/>
                    </a:lnTo>
                    <a:lnTo>
                      <a:pt x="58" y="53"/>
                    </a:lnTo>
                    <a:lnTo>
                      <a:pt x="73" y="70"/>
                    </a:lnTo>
                    <a:lnTo>
                      <a:pt x="88" y="90"/>
                    </a:lnTo>
                    <a:lnTo>
                      <a:pt x="100" y="113"/>
                    </a:lnTo>
                    <a:lnTo>
                      <a:pt x="112" y="137"/>
                    </a:lnTo>
                    <a:lnTo>
                      <a:pt x="120" y="165"/>
                    </a:lnTo>
                    <a:lnTo>
                      <a:pt x="124" y="196"/>
                    </a:lnTo>
                    <a:lnTo>
                      <a:pt x="126" y="228"/>
                    </a:lnTo>
                    <a:lnTo>
                      <a:pt x="120" y="264"/>
                    </a:lnTo>
                    <a:lnTo>
                      <a:pt x="109" y="302"/>
                    </a:lnTo>
                    <a:lnTo>
                      <a:pt x="92" y="342"/>
                    </a:lnTo>
                    <a:lnTo>
                      <a:pt x="67" y="386"/>
                    </a:lnTo>
                    <a:lnTo>
                      <a:pt x="39" y="436"/>
                    </a:lnTo>
                    <a:lnTo>
                      <a:pt x="21" y="482"/>
                    </a:lnTo>
                    <a:lnTo>
                      <a:pt x="10" y="525"/>
                    </a:lnTo>
                    <a:lnTo>
                      <a:pt x="6" y="566"/>
                    </a:lnTo>
                    <a:lnTo>
                      <a:pt x="6" y="605"/>
                    </a:lnTo>
                    <a:lnTo>
                      <a:pt x="8" y="641"/>
                    </a:lnTo>
                    <a:lnTo>
                      <a:pt x="12" y="673"/>
                    </a:lnTo>
                    <a:lnTo>
                      <a:pt x="14" y="704"/>
                    </a:lnTo>
                    <a:lnTo>
                      <a:pt x="41" y="688"/>
                    </a:lnTo>
                    <a:lnTo>
                      <a:pt x="39" y="680"/>
                    </a:lnTo>
                    <a:lnTo>
                      <a:pt x="36" y="657"/>
                    </a:lnTo>
                    <a:lnTo>
                      <a:pt x="33" y="622"/>
                    </a:lnTo>
                    <a:lnTo>
                      <a:pt x="35" y="575"/>
                    </a:lnTo>
                    <a:lnTo>
                      <a:pt x="41" y="519"/>
                    </a:lnTo>
                    <a:lnTo>
                      <a:pt x="58" y="455"/>
                    </a:lnTo>
                    <a:lnTo>
                      <a:pt x="86" y="386"/>
                    </a:lnTo>
                    <a:lnTo>
                      <a:pt x="129" y="313"/>
                    </a:lnTo>
                    <a:lnTo>
                      <a:pt x="143" y="279"/>
                    </a:lnTo>
                    <a:lnTo>
                      <a:pt x="149" y="235"/>
                    </a:lnTo>
                    <a:lnTo>
                      <a:pt x="144" y="184"/>
                    </a:lnTo>
                    <a:lnTo>
                      <a:pt x="131" y="134"/>
                    </a:lnTo>
                    <a:lnTo>
                      <a:pt x="109" y="85"/>
                    </a:lnTo>
                    <a:lnTo>
                      <a:pt x="81" y="44"/>
                    </a:lnTo>
                    <a:lnTo>
                      <a:pt x="44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" name="Freeform 11"/>
            <p:cNvSpPr/>
            <p:nvPr userDrawn="1"/>
          </p:nvSpPr>
          <p:spPr bwMode="ltGray">
            <a:xfrm rot="373331" flipH="1">
              <a:off x="22" y="1957"/>
              <a:ext cx="323" cy="649"/>
            </a:xfrm>
            <a:custGeom>
              <a:avLst/>
              <a:gdLst>
                <a:gd name="T0" fmla="*/ 2147483646 w 128"/>
                <a:gd name="T1" fmla="*/ 0 h 217"/>
                <a:gd name="T2" fmla="*/ 2147483646 w 128"/>
                <a:gd name="T3" fmla="*/ 2147483646 h 217"/>
                <a:gd name="T4" fmla="*/ 2147483646 w 128"/>
                <a:gd name="T5" fmla="*/ 2147483646 h 217"/>
                <a:gd name="T6" fmla="*/ 2147483646 w 128"/>
                <a:gd name="T7" fmla="*/ 2147483646 h 217"/>
                <a:gd name="T8" fmla="*/ 2147483646 w 128"/>
                <a:gd name="T9" fmla="*/ 2147483646 h 217"/>
                <a:gd name="T10" fmla="*/ 2147483646 w 128"/>
                <a:gd name="T11" fmla="*/ 2147483646 h 217"/>
                <a:gd name="T12" fmla="*/ 2147483646 w 128"/>
                <a:gd name="T13" fmla="*/ 2147483646 h 217"/>
                <a:gd name="T14" fmla="*/ 2147483646 w 128"/>
                <a:gd name="T15" fmla="*/ 2147483646 h 217"/>
                <a:gd name="T16" fmla="*/ 2147483646 w 128"/>
                <a:gd name="T17" fmla="*/ 2147483646 h 217"/>
                <a:gd name="T18" fmla="*/ 2147483646 w 128"/>
                <a:gd name="T19" fmla="*/ 2147483646 h 217"/>
                <a:gd name="T20" fmla="*/ 2147483646 w 128"/>
                <a:gd name="T21" fmla="*/ 2147483646 h 217"/>
                <a:gd name="T22" fmla="*/ 2147483646 w 128"/>
                <a:gd name="T23" fmla="*/ 2147483646 h 217"/>
                <a:gd name="T24" fmla="*/ 2147483646 w 128"/>
                <a:gd name="T25" fmla="*/ 2147483646 h 217"/>
                <a:gd name="T26" fmla="*/ 2147483646 w 128"/>
                <a:gd name="T27" fmla="*/ 2147483646 h 217"/>
                <a:gd name="T28" fmla="*/ 2147483646 w 128"/>
                <a:gd name="T29" fmla="*/ 2147483646 h 217"/>
                <a:gd name="T30" fmla="*/ 0 w 128"/>
                <a:gd name="T31" fmla="*/ 2147483646 h 217"/>
                <a:gd name="T32" fmla="*/ 2147483646 w 128"/>
                <a:gd name="T33" fmla="*/ 2147483646 h 217"/>
                <a:gd name="T34" fmla="*/ 2147483646 w 128"/>
                <a:gd name="T35" fmla="*/ 2147483646 h 217"/>
                <a:gd name="T36" fmla="*/ 2147483646 w 128"/>
                <a:gd name="T37" fmla="*/ 2147483646 h 217"/>
                <a:gd name="T38" fmla="*/ 2147483646 w 128"/>
                <a:gd name="T39" fmla="*/ 2147483646 h 217"/>
                <a:gd name="T40" fmla="*/ 2147483646 w 128"/>
                <a:gd name="T41" fmla="*/ 2147483646 h 217"/>
                <a:gd name="T42" fmla="*/ 2147483646 w 128"/>
                <a:gd name="T43" fmla="*/ 2147483646 h 217"/>
                <a:gd name="T44" fmla="*/ 2147483646 w 128"/>
                <a:gd name="T45" fmla="*/ 2147483646 h 217"/>
                <a:gd name="T46" fmla="*/ 2147483646 w 128"/>
                <a:gd name="T47" fmla="*/ 2147483646 h 217"/>
                <a:gd name="T48" fmla="*/ 2147483646 w 128"/>
                <a:gd name="T49" fmla="*/ 0 h 21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28" h="217">
                  <a:moveTo>
                    <a:pt x="94" y="0"/>
                  </a:moveTo>
                  <a:lnTo>
                    <a:pt x="105" y="9"/>
                  </a:lnTo>
                  <a:lnTo>
                    <a:pt x="115" y="27"/>
                  </a:lnTo>
                  <a:lnTo>
                    <a:pt x="123" y="50"/>
                  </a:lnTo>
                  <a:lnTo>
                    <a:pt x="128" y="78"/>
                  </a:lnTo>
                  <a:lnTo>
                    <a:pt x="127" y="111"/>
                  </a:lnTo>
                  <a:lnTo>
                    <a:pt x="116" y="145"/>
                  </a:lnTo>
                  <a:lnTo>
                    <a:pt x="94" y="181"/>
                  </a:lnTo>
                  <a:lnTo>
                    <a:pt x="60" y="217"/>
                  </a:lnTo>
                  <a:lnTo>
                    <a:pt x="49" y="213"/>
                  </a:lnTo>
                  <a:lnTo>
                    <a:pt x="38" y="210"/>
                  </a:lnTo>
                  <a:lnTo>
                    <a:pt x="26" y="205"/>
                  </a:lnTo>
                  <a:lnTo>
                    <a:pt x="16" y="201"/>
                  </a:lnTo>
                  <a:lnTo>
                    <a:pt x="8" y="196"/>
                  </a:lnTo>
                  <a:lnTo>
                    <a:pt x="2" y="190"/>
                  </a:lnTo>
                  <a:lnTo>
                    <a:pt x="0" y="183"/>
                  </a:lnTo>
                  <a:lnTo>
                    <a:pt x="1" y="178"/>
                  </a:lnTo>
                  <a:lnTo>
                    <a:pt x="13" y="171"/>
                  </a:lnTo>
                  <a:lnTo>
                    <a:pt x="29" y="161"/>
                  </a:lnTo>
                  <a:lnTo>
                    <a:pt x="46" y="150"/>
                  </a:lnTo>
                  <a:lnTo>
                    <a:pt x="63" y="134"/>
                  </a:lnTo>
                  <a:lnTo>
                    <a:pt x="79" y="112"/>
                  </a:lnTo>
                  <a:lnTo>
                    <a:pt x="91" y="83"/>
                  </a:lnTo>
                  <a:lnTo>
                    <a:pt x="97" y="46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12"/>
            <p:cNvSpPr/>
            <p:nvPr userDrawn="1"/>
          </p:nvSpPr>
          <p:spPr bwMode="ltGray">
            <a:xfrm>
              <a:off x="168" y="1260"/>
              <a:ext cx="1259" cy="1532"/>
            </a:xfrm>
            <a:custGeom>
              <a:avLst/>
              <a:gdLst>
                <a:gd name="T0" fmla="*/ 891 w 1259"/>
                <a:gd name="T1" fmla="*/ 1532 h 1532"/>
                <a:gd name="T2" fmla="*/ 954 w 1259"/>
                <a:gd name="T3" fmla="*/ 1452 h 1532"/>
                <a:gd name="T4" fmla="*/ 1032 w 1259"/>
                <a:gd name="T5" fmla="*/ 1338 h 1532"/>
                <a:gd name="T6" fmla="*/ 1115 w 1259"/>
                <a:gd name="T7" fmla="*/ 1188 h 1532"/>
                <a:gd name="T8" fmla="*/ 1194 w 1259"/>
                <a:gd name="T9" fmla="*/ 1023 h 1532"/>
                <a:gd name="T10" fmla="*/ 1244 w 1259"/>
                <a:gd name="T11" fmla="*/ 841 h 1532"/>
                <a:gd name="T12" fmla="*/ 1259 w 1259"/>
                <a:gd name="T13" fmla="*/ 647 h 1532"/>
                <a:gd name="T14" fmla="*/ 1230 w 1259"/>
                <a:gd name="T15" fmla="*/ 463 h 1532"/>
                <a:gd name="T16" fmla="*/ 1140 w 1259"/>
                <a:gd name="T17" fmla="*/ 294 h 1532"/>
                <a:gd name="T18" fmla="*/ 1043 w 1259"/>
                <a:gd name="T19" fmla="*/ 190 h 1532"/>
                <a:gd name="T20" fmla="*/ 961 w 1259"/>
                <a:gd name="T21" fmla="*/ 109 h 1532"/>
                <a:gd name="T22" fmla="*/ 894 w 1259"/>
                <a:gd name="T23" fmla="*/ 65 h 1532"/>
                <a:gd name="T24" fmla="*/ 786 w 1259"/>
                <a:gd name="T25" fmla="*/ 18 h 1532"/>
                <a:gd name="T26" fmla="*/ 642 w 1259"/>
                <a:gd name="T27" fmla="*/ 0 h 1532"/>
                <a:gd name="T28" fmla="*/ 440 w 1259"/>
                <a:gd name="T29" fmla="*/ 23 h 1532"/>
                <a:gd name="T30" fmla="*/ 366 w 1259"/>
                <a:gd name="T31" fmla="*/ 44 h 1532"/>
                <a:gd name="T32" fmla="*/ 292 w 1259"/>
                <a:gd name="T33" fmla="*/ 58 h 1532"/>
                <a:gd name="T34" fmla="*/ 229 w 1259"/>
                <a:gd name="T35" fmla="*/ 79 h 1532"/>
                <a:gd name="T36" fmla="*/ 178 w 1259"/>
                <a:gd name="T37" fmla="*/ 103 h 1532"/>
                <a:gd name="T38" fmla="*/ 127 w 1259"/>
                <a:gd name="T39" fmla="*/ 127 h 1532"/>
                <a:gd name="T40" fmla="*/ 82 w 1259"/>
                <a:gd name="T41" fmla="*/ 158 h 1532"/>
                <a:gd name="T42" fmla="*/ 41 w 1259"/>
                <a:gd name="T43" fmla="*/ 197 h 1532"/>
                <a:gd name="T44" fmla="*/ 0 w 1259"/>
                <a:gd name="T45" fmla="*/ 243 h 1532"/>
                <a:gd name="T46" fmla="*/ 76 w 1259"/>
                <a:gd name="T47" fmla="*/ 215 h 1532"/>
                <a:gd name="T48" fmla="*/ 144 w 1259"/>
                <a:gd name="T49" fmla="*/ 194 h 1532"/>
                <a:gd name="T50" fmla="*/ 212 w 1259"/>
                <a:gd name="T51" fmla="*/ 179 h 1532"/>
                <a:gd name="T52" fmla="*/ 280 w 1259"/>
                <a:gd name="T53" fmla="*/ 164 h 1532"/>
                <a:gd name="T54" fmla="*/ 336 w 1259"/>
                <a:gd name="T55" fmla="*/ 149 h 1532"/>
                <a:gd name="T56" fmla="*/ 397 w 1259"/>
                <a:gd name="T57" fmla="*/ 149 h 1532"/>
                <a:gd name="T58" fmla="*/ 458 w 1259"/>
                <a:gd name="T59" fmla="*/ 141 h 1532"/>
                <a:gd name="T60" fmla="*/ 511 w 1259"/>
                <a:gd name="T61" fmla="*/ 146 h 1532"/>
                <a:gd name="T62" fmla="*/ 565 w 1259"/>
                <a:gd name="T63" fmla="*/ 152 h 1532"/>
                <a:gd name="T64" fmla="*/ 618 w 1259"/>
                <a:gd name="T65" fmla="*/ 166 h 1532"/>
                <a:gd name="T66" fmla="*/ 669 w 1259"/>
                <a:gd name="T67" fmla="*/ 186 h 1532"/>
                <a:gd name="T68" fmla="*/ 715 w 1259"/>
                <a:gd name="T69" fmla="*/ 205 h 1532"/>
                <a:gd name="T70" fmla="*/ 760 w 1259"/>
                <a:gd name="T71" fmla="*/ 239 h 1532"/>
                <a:gd name="T72" fmla="*/ 811 w 1259"/>
                <a:gd name="T73" fmla="*/ 267 h 1532"/>
                <a:gd name="T74" fmla="*/ 855 w 1259"/>
                <a:gd name="T75" fmla="*/ 307 h 1532"/>
                <a:gd name="T76" fmla="*/ 899 w 1259"/>
                <a:gd name="T77" fmla="*/ 348 h 1532"/>
                <a:gd name="T78" fmla="*/ 971 w 1259"/>
                <a:gd name="T79" fmla="*/ 464 h 1532"/>
                <a:gd name="T80" fmla="*/ 1016 w 1259"/>
                <a:gd name="T81" fmla="*/ 606 h 1532"/>
                <a:gd name="T82" fmla="*/ 1027 w 1259"/>
                <a:gd name="T83" fmla="*/ 774 h 1532"/>
                <a:gd name="T84" fmla="*/ 1022 w 1259"/>
                <a:gd name="T85" fmla="*/ 939 h 1532"/>
                <a:gd name="T86" fmla="*/ 1002 w 1259"/>
                <a:gd name="T87" fmla="*/ 1117 h 1532"/>
                <a:gd name="T88" fmla="*/ 966 w 1259"/>
                <a:gd name="T89" fmla="*/ 1279 h 1532"/>
                <a:gd name="T90" fmla="*/ 933 w 1259"/>
                <a:gd name="T91" fmla="*/ 1421 h 1532"/>
                <a:gd name="T92" fmla="*/ 891 w 1259"/>
                <a:gd name="T93" fmla="*/ 1532 h 1532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1259" h="1532">
                  <a:moveTo>
                    <a:pt x="891" y="1532"/>
                  </a:moveTo>
                  <a:lnTo>
                    <a:pt x="954" y="1452"/>
                  </a:lnTo>
                  <a:lnTo>
                    <a:pt x="1032" y="1338"/>
                  </a:lnTo>
                  <a:lnTo>
                    <a:pt x="1115" y="1188"/>
                  </a:lnTo>
                  <a:lnTo>
                    <a:pt x="1194" y="1023"/>
                  </a:lnTo>
                  <a:lnTo>
                    <a:pt x="1244" y="841"/>
                  </a:lnTo>
                  <a:lnTo>
                    <a:pt x="1259" y="647"/>
                  </a:lnTo>
                  <a:lnTo>
                    <a:pt x="1230" y="463"/>
                  </a:lnTo>
                  <a:lnTo>
                    <a:pt x="1140" y="294"/>
                  </a:lnTo>
                  <a:lnTo>
                    <a:pt x="1043" y="190"/>
                  </a:lnTo>
                  <a:lnTo>
                    <a:pt x="961" y="109"/>
                  </a:lnTo>
                  <a:lnTo>
                    <a:pt x="894" y="65"/>
                  </a:lnTo>
                  <a:lnTo>
                    <a:pt x="786" y="18"/>
                  </a:lnTo>
                  <a:lnTo>
                    <a:pt x="642" y="0"/>
                  </a:lnTo>
                  <a:lnTo>
                    <a:pt x="440" y="23"/>
                  </a:lnTo>
                  <a:lnTo>
                    <a:pt x="366" y="44"/>
                  </a:lnTo>
                  <a:lnTo>
                    <a:pt x="292" y="58"/>
                  </a:lnTo>
                  <a:lnTo>
                    <a:pt x="229" y="79"/>
                  </a:lnTo>
                  <a:lnTo>
                    <a:pt x="178" y="103"/>
                  </a:lnTo>
                  <a:lnTo>
                    <a:pt x="127" y="127"/>
                  </a:lnTo>
                  <a:lnTo>
                    <a:pt x="82" y="158"/>
                  </a:lnTo>
                  <a:lnTo>
                    <a:pt x="41" y="197"/>
                  </a:lnTo>
                  <a:lnTo>
                    <a:pt x="0" y="243"/>
                  </a:lnTo>
                  <a:lnTo>
                    <a:pt x="76" y="215"/>
                  </a:lnTo>
                  <a:lnTo>
                    <a:pt x="144" y="194"/>
                  </a:lnTo>
                  <a:lnTo>
                    <a:pt x="212" y="179"/>
                  </a:lnTo>
                  <a:lnTo>
                    <a:pt x="280" y="164"/>
                  </a:lnTo>
                  <a:lnTo>
                    <a:pt x="336" y="149"/>
                  </a:lnTo>
                  <a:lnTo>
                    <a:pt x="397" y="149"/>
                  </a:lnTo>
                  <a:lnTo>
                    <a:pt x="458" y="141"/>
                  </a:lnTo>
                  <a:lnTo>
                    <a:pt x="511" y="146"/>
                  </a:lnTo>
                  <a:lnTo>
                    <a:pt x="565" y="152"/>
                  </a:lnTo>
                  <a:lnTo>
                    <a:pt x="618" y="166"/>
                  </a:lnTo>
                  <a:lnTo>
                    <a:pt x="669" y="186"/>
                  </a:lnTo>
                  <a:lnTo>
                    <a:pt x="715" y="205"/>
                  </a:lnTo>
                  <a:lnTo>
                    <a:pt x="760" y="239"/>
                  </a:lnTo>
                  <a:lnTo>
                    <a:pt x="811" y="267"/>
                  </a:lnTo>
                  <a:lnTo>
                    <a:pt x="855" y="307"/>
                  </a:lnTo>
                  <a:lnTo>
                    <a:pt x="899" y="348"/>
                  </a:lnTo>
                  <a:lnTo>
                    <a:pt x="971" y="464"/>
                  </a:lnTo>
                  <a:lnTo>
                    <a:pt x="1016" y="606"/>
                  </a:lnTo>
                  <a:lnTo>
                    <a:pt x="1027" y="774"/>
                  </a:lnTo>
                  <a:lnTo>
                    <a:pt x="1022" y="939"/>
                  </a:lnTo>
                  <a:lnTo>
                    <a:pt x="1002" y="1117"/>
                  </a:lnTo>
                  <a:lnTo>
                    <a:pt x="966" y="1279"/>
                  </a:lnTo>
                  <a:lnTo>
                    <a:pt x="933" y="1421"/>
                  </a:lnTo>
                  <a:lnTo>
                    <a:pt x="891" y="1532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13"/>
            <p:cNvSpPr/>
            <p:nvPr userDrawn="1"/>
          </p:nvSpPr>
          <p:spPr bwMode="ltGray">
            <a:xfrm>
              <a:off x="0" y="2610"/>
              <a:ext cx="801" cy="459"/>
            </a:xfrm>
            <a:custGeom>
              <a:avLst/>
              <a:gdLst>
                <a:gd name="T0" fmla="*/ 0 w 801"/>
                <a:gd name="T1" fmla="*/ 0 h 459"/>
                <a:gd name="T2" fmla="*/ 37 w 801"/>
                <a:gd name="T3" fmla="*/ 69 h 459"/>
                <a:gd name="T4" fmla="*/ 68 w 801"/>
                <a:gd name="T5" fmla="*/ 132 h 459"/>
                <a:gd name="T6" fmla="*/ 110 w 801"/>
                <a:gd name="T7" fmla="*/ 188 h 459"/>
                <a:gd name="T8" fmla="*/ 149 w 801"/>
                <a:gd name="T9" fmla="*/ 229 h 459"/>
                <a:gd name="T10" fmla="*/ 192 w 801"/>
                <a:gd name="T11" fmla="*/ 278 h 459"/>
                <a:gd name="T12" fmla="*/ 250 w 801"/>
                <a:gd name="T13" fmla="*/ 314 h 459"/>
                <a:gd name="T14" fmla="*/ 308 w 801"/>
                <a:gd name="T15" fmla="*/ 336 h 459"/>
                <a:gd name="T16" fmla="*/ 365 w 801"/>
                <a:gd name="T17" fmla="*/ 365 h 459"/>
                <a:gd name="T18" fmla="*/ 430 w 801"/>
                <a:gd name="T19" fmla="*/ 381 h 459"/>
                <a:gd name="T20" fmla="*/ 501 w 801"/>
                <a:gd name="T21" fmla="*/ 390 h 459"/>
                <a:gd name="T22" fmla="*/ 573 w 801"/>
                <a:gd name="T23" fmla="*/ 392 h 459"/>
                <a:gd name="T24" fmla="*/ 646 w 801"/>
                <a:gd name="T25" fmla="*/ 381 h 459"/>
                <a:gd name="T26" fmla="*/ 726 w 801"/>
                <a:gd name="T27" fmla="*/ 362 h 459"/>
                <a:gd name="T28" fmla="*/ 801 w 801"/>
                <a:gd name="T29" fmla="*/ 335 h 459"/>
                <a:gd name="T30" fmla="*/ 731 w 801"/>
                <a:gd name="T31" fmla="*/ 377 h 459"/>
                <a:gd name="T32" fmla="*/ 662 w 801"/>
                <a:gd name="T33" fmla="*/ 404 h 459"/>
                <a:gd name="T34" fmla="*/ 594 w 801"/>
                <a:gd name="T35" fmla="*/ 432 h 459"/>
                <a:gd name="T36" fmla="*/ 532 w 801"/>
                <a:gd name="T37" fmla="*/ 445 h 459"/>
                <a:gd name="T38" fmla="*/ 471 w 801"/>
                <a:gd name="T39" fmla="*/ 459 h 459"/>
                <a:gd name="T40" fmla="*/ 411 w 801"/>
                <a:gd name="T41" fmla="*/ 458 h 459"/>
                <a:gd name="T42" fmla="*/ 350 w 801"/>
                <a:gd name="T43" fmla="*/ 458 h 459"/>
                <a:gd name="T44" fmla="*/ 291 w 801"/>
                <a:gd name="T45" fmla="*/ 450 h 459"/>
                <a:gd name="T46" fmla="*/ 244 w 801"/>
                <a:gd name="T47" fmla="*/ 436 h 459"/>
                <a:gd name="T48" fmla="*/ 192 w 801"/>
                <a:gd name="T49" fmla="*/ 415 h 459"/>
                <a:gd name="T50" fmla="*/ 145 w 801"/>
                <a:gd name="T51" fmla="*/ 394 h 459"/>
                <a:gd name="T52" fmla="*/ 100 w 801"/>
                <a:gd name="T53" fmla="*/ 373 h 459"/>
                <a:gd name="T54" fmla="*/ 60 w 801"/>
                <a:gd name="T55" fmla="*/ 347 h 459"/>
                <a:gd name="T56" fmla="*/ 0 w 801"/>
                <a:gd name="T57" fmla="*/ 294 h 459"/>
                <a:gd name="T58" fmla="*/ 0 w 801"/>
                <a:gd name="T59" fmla="*/ 0 h 459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801" h="459">
                  <a:moveTo>
                    <a:pt x="0" y="0"/>
                  </a:moveTo>
                  <a:lnTo>
                    <a:pt x="37" y="69"/>
                  </a:lnTo>
                  <a:lnTo>
                    <a:pt x="68" y="132"/>
                  </a:lnTo>
                  <a:lnTo>
                    <a:pt x="110" y="188"/>
                  </a:lnTo>
                  <a:lnTo>
                    <a:pt x="149" y="229"/>
                  </a:lnTo>
                  <a:lnTo>
                    <a:pt x="192" y="278"/>
                  </a:lnTo>
                  <a:lnTo>
                    <a:pt x="250" y="314"/>
                  </a:lnTo>
                  <a:lnTo>
                    <a:pt x="308" y="336"/>
                  </a:lnTo>
                  <a:lnTo>
                    <a:pt x="365" y="365"/>
                  </a:lnTo>
                  <a:lnTo>
                    <a:pt x="430" y="381"/>
                  </a:lnTo>
                  <a:lnTo>
                    <a:pt x="501" y="390"/>
                  </a:lnTo>
                  <a:lnTo>
                    <a:pt x="573" y="392"/>
                  </a:lnTo>
                  <a:lnTo>
                    <a:pt x="646" y="381"/>
                  </a:lnTo>
                  <a:lnTo>
                    <a:pt x="726" y="362"/>
                  </a:lnTo>
                  <a:lnTo>
                    <a:pt x="801" y="335"/>
                  </a:lnTo>
                  <a:lnTo>
                    <a:pt x="731" y="377"/>
                  </a:lnTo>
                  <a:lnTo>
                    <a:pt x="662" y="404"/>
                  </a:lnTo>
                  <a:lnTo>
                    <a:pt x="594" y="432"/>
                  </a:lnTo>
                  <a:lnTo>
                    <a:pt x="532" y="445"/>
                  </a:lnTo>
                  <a:lnTo>
                    <a:pt x="471" y="459"/>
                  </a:lnTo>
                  <a:lnTo>
                    <a:pt x="411" y="458"/>
                  </a:lnTo>
                  <a:lnTo>
                    <a:pt x="350" y="458"/>
                  </a:lnTo>
                  <a:lnTo>
                    <a:pt x="291" y="450"/>
                  </a:lnTo>
                  <a:lnTo>
                    <a:pt x="244" y="436"/>
                  </a:lnTo>
                  <a:lnTo>
                    <a:pt x="192" y="415"/>
                  </a:lnTo>
                  <a:lnTo>
                    <a:pt x="145" y="394"/>
                  </a:lnTo>
                  <a:lnTo>
                    <a:pt x="100" y="373"/>
                  </a:lnTo>
                  <a:lnTo>
                    <a:pt x="60" y="347"/>
                  </a:lnTo>
                  <a:lnTo>
                    <a:pt x="0" y="2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14"/>
            <p:cNvSpPr/>
            <p:nvPr userDrawn="1"/>
          </p:nvSpPr>
          <p:spPr bwMode="ltGray">
            <a:xfrm rot="373331" flipH="1">
              <a:off x="898" y="2855"/>
              <a:ext cx="354" cy="464"/>
            </a:xfrm>
            <a:custGeom>
              <a:avLst/>
              <a:gdLst>
                <a:gd name="T0" fmla="*/ 2147483646 w 117"/>
                <a:gd name="T1" fmla="*/ 0 h 132"/>
                <a:gd name="T2" fmla="*/ 0 w 117"/>
                <a:gd name="T3" fmla="*/ 2147483646 h 132"/>
                <a:gd name="T4" fmla="*/ 2147483646 w 117"/>
                <a:gd name="T5" fmla="*/ 2147483646 h 132"/>
                <a:gd name="T6" fmla="*/ 2147483646 w 117"/>
                <a:gd name="T7" fmla="*/ 2147483646 h 132"/>
                <a:gd name="T8" fmla="*/ 2147483646 w 117"/>
                <a:gd name="T9" fmla="*/ 2147483646 h 132"/>
                <a:gd name="T10" fmla="*/ 2147483646 w 117"/>
                <a:gd name="T11" fmla="*/ 2147483646 h 132"/>
                <a:gd name="T12" fmla="*/ 2147483646 w 117"/>
                <a:gd name="T13" fmla="*/ 2147483646 h 132"/>
                <a:gd name="T14" fmla="*/ 2147483646 w 117"/>
                <a:gd name="T15" fmla="*/ 2147483646 h 132"/>
                <a:gd name="T16" fmla="*/ 2147483646 w 117"/>
                <a:gd name="T17" fmla="*/ 2147483646 h 132"/>
                <a:gd name="T18" fmla="*/ 2147483646 w 117"/>
                <a:gd name="T19" fmla="*/ 2147483646 h 132"/>
                <a:gd name="T20" fmla="*/ 2147483646 w 117"/>
                <a:gd name="T21" fmla="*/ 2147483646 h 132"/>
                <a:gd name="T22" fmla="*/ 2147483646 w 117"/>
                <a:gd name="T23" fmla="*/ 2147483646 h 132"/>
                <a:gd name="T24" fmla="*/ 2147483646 w 117"/>
                <a:gd name="T25" fmla="*/ 2147483646 h 132"/>
                <a:gd name="T26" fmla="*/ 2147483646 w 117"/>
                <a:gd name="T27" fmla="*/ 2147483646 h 132"/>
                <a:gd name="T28" fmla="*/ 2147483646 w 117"/>
                <a:gd name="T29" fmla="*/ 2147483646 h 132"/>
                <a:gd name="T30" fmla="*/ 2147483646 w 117"/>
                <a:gd name="T31" fmla="*/ 2147483646 h 132"/>
                <a:gd name="T32" fmla="*/ 2147483646 w 117"/>
                <a:gd name="T33" fmla="*/ 2147483646 h 132"/>
                <a:gd name="T34" fmla="*/ 2147483646 w 117"/>
                <a:gd name="T35" fmla="*/ 2147483646 h 132"/>
                <a:gd name="T36" fmla="*/ 2147483646 w 117"/>
                <a:gd name="T37" fmla="*/ 2147483646 h 132"/>
                <a:gd name="T38" fmla="*/ 2147483646 w 117"/>
                <a:gd name="T39" fmla="*/ 2147483646 h 132"/>
                <a:gd name="T40" fmla="*/ 2147483646 w 117"/>
                <a:gd name="T41" fmla="*/ 2147483646 h 132"/>
                <a:gd name="T42" fmla="*/ 2147483646 w 117"/>
                <a:gd name="T43" fmla="*/ 2147483646 h 132"/>
                <a:gd name="T44" fmla="*/ 2147483646 w 117"/>
                <a:gd name="T45" fmla="*/ 2147483646 h 132"/>
                <a:gd name="T46" fmla="*/ 2147483646 w 117"/>
                <a:gd name="T47" fmla="*/ 2147483646 h 132"/>
                <a:gd name="T48" fmla="*/ 2147483646 w 117"/>
                <a:gd name="T49" fmla="*/ 2147483646 h 132"/>
                <a:gd name="T50" fmla="*/ 2147483646 w 117"/>
                <a:gd name="T51" fmla="*/ 2147483646 h 132"/>
                <a:gd name="T52" fmla="*/ 2147483646 w 117"/>
                <a:gd name="T53" fmla="*/ 0 h 13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117" h="132">
                  <a:moveTo>
                    <a:pt x="75" y="0"/>
                  </a:moveTo>
                  <a:lnTo>
                    <a:pt x="0" y="25"/>
                  </a:lnTo>
                  <a:lnTo>
                    <a:pt x="3" y="26"/>
                  </a:lnTo>
                  <a:lnTo>
                    <a:pt x="14" y="29"/>
                  </a:lnTo>
                  <a:lnTo>
                    <a:pt x="29" y="36"/>
                  </a:lnTo>
                  <a:lnTo>
                    <a:pt x="46" y="47"/>
                  </a:lnTo>
                  <a:lnTo>
                    <a:pt x="66" y="62"/>
                  </a:lnTo>
                  <a:lnTo>
                    <a:pt x="84" y="80"/>
                  </a:lnTo>
                  <a:lnTo>
                    <a:pt x="102" y="103"/>
                  </a:lnTo>
                  <a:lnTo>
                    <a:pt x="116" y="132"/>
                  </a:lnTo>
                  <a:lnTo>
                    <a:pt x="117" y="120"/>
                  </a:lnTo>
                  <a:lnTo>
                    <a:pt x="115" y="107"/>
                  </a:lnTo>
                  <a:lnTo>
                    <a:pt x="108" y="90"/>
                  </a:lnTo>
                  <a:lnTo>
                    <a:pt x="99" y="74"/>
                  </a:lnTo>
                  <a:lnTo>
                    <a:pt x="89" y="58"/>
                  </a:lnTo>
                  <a:lnTo>
                    <a:pt x="78" y="45"/>
                  </a:lnTo>
                  <a:lnTo>
                    <a:pt x="67" y="36"/>
                  </a:lnTo>
                  <a:lnTo>
                    <a:pt x="58" y="32"/>
                  </a:lnTo>
                  <a:lnTo>
                    <a:pt x="69" y="29"/>
                  </a:lnTo>
                  <a:lnTo>
                    <a:pt x="79" y="28"/>
                  </a:lnTo>
                  <a:lnTo>
                    <a:pt x="89" y="26"/>
                  </a:lnTo>
                  <a:lnTo>
                    <a:pt x="98" y="25"/>
                  </a:lnTo>
                  <a:lnTo>
                    <a:pt x="105" y="24"/>
                  </a:lnTo>
                  <a:lnTo>
                    <a:pt x="109" y="22"/>
                  </a:lnTo>
                  <a:lnTo>
                    <a:pt x="113" y="21"/>
                  </a:lnTo>
                  <a:lnTo>
                    <a:pt x="114" y="21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Freeform 15"/>
            <p:cNvSpPr/>
            <p:nvPr userDrawn="1"/>
          </p:nvSpPr>
          <p:spPr bwMode="ltGray">
            <a:xfrm rot="373331" flipH="1">
              <a:off x="799" y="2979"/>
              <a:ext cx="87" cy="274"/>
            </a:xfrm>
            <a:custGeom>
              <a:avLst/>
              <a:gdLst>
                <a:gd name="T0" fmla="*/ 2147483646 w 29"/>
                <a:gd name="T1" fmla="*/ 0 h 77"/>
                <a:gd name="T2" fmla="*/ 2147483646 w 29"/>
                <a:gd name="T3" fmla="*/ 0 h 77"/>
                <a:gd name="T4" fmla="*/ 2147483646 w 29"/>
                <a:gd name="T5" fmla="*/ 2147483646 h 77"/>
                <a:gd name="T6" fmla="*/ 2147483646 w 29"/>
                <a:gd name="T7" fmla="*/ 2147483646 h 77"/>
                <a:gd name="T8" fmla="*/ 2147483646 w 29"/>
                <a:gd name="T9" fmla="*/ 2147483646 h 77"/>
                <a:gd name="T10" fmla="*/ 2147483646 w 29"/>
                <a:gd name="T11" fmla="*/ 2147483646 h 77"/>
                <a:gd name="T12" fmla="*/ 0 w 29"/>
                <a:gd name="T13" fmla="*/ 2147483646 h 77"/>
                <a:gd name="T14" fmla="*/ 2147483646 w 29"/>
                <a:gd name="T15" fmla="*/ 2147483646 h 77"/>
                <a:gd name="T16" fmla="*/ 2147483646 w 29"/>
                <a:gd name="T17" fmla="*/ 2147483646 h 77"/>
                <a:gd name="T18" fmla="*/ 2147483646 w 29"/>
                <a:gd name="T19" fmla="*/ 2147483646 h 77"/>
                <a:gd name="T20" fmla="*/ 2147483646 w 29"/>
                <a:gd name="T21" fmla="*/ 2147483646 h 77"/>
                <a:gd name="T22" fmla="*/ 2147483646 w 29"/>
                <a:gd name="T23" fmla="*/ 2147483646 h 77"/>
                <a:gd name="T24" fmla="*/ 2147483646 w 29"/>
                <a:gd name="T25" fmla="*/ 0 h 7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9" h="77">
                  <a:moveTo>
                    <a:pt x="29" y="0"/>
                  </a:moveTo>
                  <a:lnTo>
                    <a:pt x="23" y="0"/>
                  </a:lnTo>
                  <a:lnTo>
                    <a:pt x="16" y="4"/>
                  </a:lnTo>
                  <a:lnTo>
                    <a:pt x="9" y="9"/>
                  </a:lnTo>
                  <a:lnTo>
                    <a:pt x="4" y="19"/>
                  </a:lnTo>
                  <a:lnTo>
                    <a:pt x="1" y="30"/>
                  </a:lnTo>
                  <a:lnTo>
                    <a:pt x="0" y="44"/>
                  </a:lnTo>
                  <a:lnTo>
                    <a:pt x="3" y="60"/>
                  </a:lnTo>
                  <a:lnTo>
                    <a:pt x="11" y="77"/>
                  </a:lnTo>
                  <a:lnTo>
                    <a:pt x="15" y="53"/>
                  </a:lnTo>
                  <a:lnTo>
                    <a:pt x="19" y="37"/>
                  </a:lnTo>
                  <a:lnTo>
                    <a:pt x="23" y="2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16"/>
            <p:cNvSpPr/>
            <p:nvPr userDrawn="1"/>
          </p:nvSpPr>
          <p:spPr bwMode="ltGray">
            <a:xfrm>
              <a:off x="1190" y="3273"/>
              <a:ext cx="1108" cy="1047"/>
            </a:xfrm>
            <a:custGeom>
              <a:avLst/>
              <a:gdLst>
                <a:gd name="T0" fmla="*/ 784 w 1108"/>
                <a:gd name="T1" fmla="*/ 1047 h 1047"/>
                <a:gd name="T2" fmla="*/ 692 w 1108"/>
                <a:gd name="T3" fmla="*/ 1011 h 1047"/>
                <a:gd name="T4" fmla="*/ 607 w 1108"/>
                <a:gd name="T5" fmla="*/ 945 h 1047"/>
                <a:gd name="T6" fmla="*/ 517 w 1108"/>
                <a:gd name="T7" fmla="*/ 861 h 1047"/>
                <a:gd name="T8" fmla="*/ 432 w 1108"/>
                <a:gd name="T9" fmla="*/ 776 h 1047"/>
                <a:gd name="T10" fmla="*/ 350 w 1108"/>
                <a:gd name="T11" fmla="*/ 677 h 1047"/>
                <a:gd name="T12" fmla="*/ 266 w 1108"/>
                <a:gd name="T13" fmla="*/ 563 h 1047"/>
                <a:gd name="T14" fmla="*/ 188 w 1108"/>
                <a:gd name="T15" fmla="*/ 447 h 1047"/>
                <a:gd name="T16" fmla="*/ 122 w 1108"/>
                <a:gd name="T17" fmla="*/ 325 h 1047"/>
                <a:gd name="T18" fmla="*/ 65 w 1108"/>
                <a:gd name="T19" fmla="*/ 211 h 1047"/>
                <a:gd name="T20" fmla="*/ 21 w 1108"/>
                <a:gd name="T21" fmla="*/ 101 h 1047"/>
                <a:gd name="T22" fmla="*/ 0 w 1108"/>
                <a:gd name="T23" fmla="*/ 0 h 1047"/>
                <a:gd name="T24" fmla="*/ 109 w 1108"/>
                <a:gd name="T25" fmla="*/ 217 h 1047"/>
                <a:gd name="T26" fmla="*/ 209 w 1108"/>
                <a:gd name="T27" fmla="*/ 378 h 1047"/>
                <a:gd name="T28" fmla="*/ 294 w 1108"/>
                <a:gd name="T29" fmla="*/ 500 h 1047"/>
                <a:gd name="T30" fmla="*/ 373 w 1108"/>
                <a:gd name="T31" fmla="*/ 590 h 1047"/>
                <a:gd name="T32" fmla="*/ 441 w 1108"/>
                <a:gd name="T33" fmla="*/ 661 h 1047"/>
                <a:gd name="T34" fmla="*/ 506 w 1108"/>
                <a:gd name="T35" fmla="*/ 713 h 1047"/>
                <a:gd name="T36" fmla="*/ 564 w 1108"/>
                <a:gd name="T37" fmla="*/ 754 h 1047"/>
                <a:gd name="T38" fmla="*/ 620 w 1108"/>
                <a:gd name="T39" fmla="*/ 801 h 1047"/>
                <a:gd name="T40" fmla="*/ 754 w 1108"/>
                <a:gd name="T41" fmla="*/ 899 h 1047"/>
                <a:gd name="T42" fmla="*/ 925 w 1108"/>
                <a:gd name="T43" fmla="*/ 977 h 1047"/>
                <a:gd name="T44" fmla="*/ 1108 w 1108"/>
                <a:gd name="T45" fmla="*/ 1047 h 1047"/>
                <a:gd name="T46" fmla="*/ 784 w 1108"/>
                <a:gd name="T47" fmla="*/ 1047 h 1047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108" h="1047">
                  <a:moveTo>
                    <a:pt x="784" y="1047"/>
                  </a:moveTo>
                  <a:lnTo>
                    <a:pt x="692" y="1011"/>
                  </a:lnTo>
                  <a:lnTo>
                    <a:pt x="607" y="945"/>
                  </a:lnTo>
                  <a:lnTo>
                    <a:pt x="517" y="861"/>
                  </a:lnTo>
                  <a:lnTo>
                    <a:pt x="432" y="776"/>
                  </a:lnTo>
                  <a:lnTo>
                    <a:pt x="350" y="677"/>
                  </a:lnTo>
                  <a:lnTo>
                    <a:pt x="266" y="563"/>
                  </a:lnTo>
                  <a:lnTo>
                    <a:pt x="188" y="447"/>
                  </a:lnTo>
                  <a:lnTo>
                    <a:pt x="122" y="325"/>
                  </a:lnTo>
                  <a:lnTo>
                    <a:pt x="65" y="211"/>
                  </a:lnTo>
                  <a:lnTo>
                    <a:pt x="21" y="101"/>
                  </a:lnTo>
                  <a:lnTo>
                    <a:pt x="0" y="0"/>
                  </a:lnTo>
                  <a:lnTo>
                    <a:pt x="109" y="217"/>
                  </a:lnTo>
                  <a:lnTo>
                    <a:pt x="209" y="378"/>
                  </a:lnTo>
                  <a:lnTo>
                    <a:pt x="294" y="500"/>
                  </a:lnTo>
                  <a:lnTo>
                    <a:pt x="373" y="590"/>
                  </a:lnTo>
                  <a:lnTo>
                    <a:pt x="441" y="661"/>
                  </a:lnTo>
                  <a:lnTo>
                    <a:pt x="506" y="713"/>
                  </a:lnTo>
                  <a:lnTo>
                    <a:pt x="564" y="754"/>
                  </a:lnTo>
                  <a:lnTo>
                    <a:pt x="620" y="801"/>
                  </a:lnTo>
                  <a:lnTo>
                    <a:pt x="754" y="899"/>
                  </a:lnTo>
                  <a:lnTo>
                    <a:pt x="925" y="977"/>
                  </a:lnTo>
                  <a:lnTo>
                    <a:pt x="1108" y="1047"/>
                  </a:lnTo>
                  <a:lnTo>
                    <a:pt x="784" y="1047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2" name="Group 17"/>
            <p:cNvGrpSpPr/>
            <p:nvPr userDrawn="1"/>
          </p:nvGrpSpPr>
          <p:grpSpPr bwMode="auto">
            <a:xfrm rot="3220060">
              <a:off x="2636" y="751"/>
              <a:ext cx="569" cy="636"/>
              <a:chOff x="1727" y="866"/>
              <a:chExt cx="129" cy="157"/>
            </a:xfrm>
          </p:grpSpPr>
          <p:sp>
            <p:nvSpPr>
              <p:cNvPr id="36" name="Freeform 18"/>
              <p:cNvSpPr/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0 w 83"/>
                  <a:gd name="T1" fmla="*/ 1 h 117"/>
                  <a:gd name="T2" fmla="*/ 0 w 83"/>
                  <a:gd name="T3" fmla="*/ 0 h 117"/>
                  <a:gd name="T4" fmla="*/ 0 w 83"/>
                  <a:gd name="T5" fmla="*/ 1 h 117"/>
                  <a:gd name="T6" fmla="*/ 0 w 83"/>
                  <a:gd name="T7" fmla="*/ 1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Freeform 19"/>
              <p:cNvSpPr/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1 h 98"/>
                  <a:gd name="T2" fmla="*/ 1 w 140"/>
                  <a:gd name="T3" fmla="*/ 0 h 98"/>
                  <a:gd name="T4" fmla="*/ 1 w 140"/>
                  <a:gd name="T5" fmla="*/ 1 h 98"/>
                  <a:gd name="T6" fmla="*/ 0 w 140"/>
                  <a:gd name="T7" fmla="*/ 1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Freeform 20"/>
              <p:cNvSpPr/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1 h 49"/>
                  <a:gd name="T2" fmla="*/ 1 w 145"/>
                  <a:gd name="T3" fmla="*/ 0 h 49"/>
                  <a:gd name="T4" fmla="*/ 1 w 145"/>
                  <a:gd name="T5" fmla="*/ 1 h 49"/>
                  <a:gd name="T6" fmla="*/ 0 w 145"/>
                  <a:gd name="T7" fmla="*/ 1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" name="Group 21"/>
            <p:cNvGrpSpPr/>
            <p:nvPr userDrawn="1"/>
          </p:nvGrpSpPr>
          <p:grpSpPr bwMode="auto">
            <a:xfrm rot="-6691250">
              <a:off x="3641" y="125"/>
              <a:ext cx="356" cy="608"/>
              <a:chOff x="1729" y="866"/>
              <a:chExt cx="129" cy="157"/>
            </a:xfrm>
          </p:grpSpPr>
          <p:sp>
            <p:nvSpPr>
              <p:cNvPr id="33" name="Freeform 22"/>
              <p:cNvSpPr/>
              <p:nvPr userDrawn="1"/>
            </p:nvSpPr>
            <p:spPr bwMode="ltGray">
              <a:xfrm>
                <a:off x="1730" y="866"/>
                <a:ext cx="41" cy="59"/>
              </a:xfrm>
              <a:custGeom>
                <a:avLst/>
                <a:gdLst>
                  <a:gd name="T0" fmla="*/ 0 w 83"/>
                  <a:gd name="T1" fmla="*/ 1 h 117"/>
                  <a:gd name="T2" fmla="*/ 0 w 83"/>
                  <a:gd name="T3" fmla="*/ 0 h 117"/>
                  <a:gd name="T4" fmla="*/ 0 w 83"/>
                  <a:gd name="T5" fmla="*/ 1 h 117"/>
                  <a:gd name="T6" fmla="*/ 0 w 83"/>
                  <a:gd name="T7" fmla="*/ 1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Freeform 23"/>
              <p:cNvSpPr/>
              <p:nvPr userDrawn="1"/>
            </p:nvSpPr>
            <p:spPr bwMode="ltGray">
              <a:xfrm>
                <a:off x="1789" y="894"/>
                <a:ext cx="70" cy="49"/>
              </a:xfrm>
              <a:custGeom>
                <a:avLst/>
                <a:gdLst>
                  <a:gd name="T0" fmla="*/ 0 w 140"/>
                  <a:gd name="T1" fmla="*/ 1 h 98"/>
                  <a:gd name="T2" fmla="*/ 1 w 140"/>
                  <a:gd name="T3" fmla="*/ 0 h 98"/>
                  <a:gd name="T4" fmla="*/ 1 w 140"/>
                  <a:gd name="T5" fmla="*/ 1 h 98"/>
                  <a:gd name="T6" fmla="*/ 0 w 140"/>
                  <a:gd name="T7" fmla="*/ 1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Freeform 24"/>
              <p:cNvSpPr/>
              <p:nvPr userDrawn="1"/>
            </p:nvSpPr>
            <p:spPr bwMode="ltGray">
              <a:xfrm>
                <a:off x="1773" y="998"/>
                <a:ext cx="73" cy="25"/>
              </a:xfrm>
              <a:custGeom>
                <a:avLst/>
                <a:gdLst>
                  <a:gd name="T0" fmla="*/ 0 w 145"/>
                  <a:gd name="T1" fmla="*/ 1 h 49"/>
                  <a:gd name="T2" fmla="*/ 1 w 145"/>
                  <a:gd name="T3" fmla="*/ 0 h 49"/>
                  <a:gd name="T4" fmla="*/ 1 w 145"/>
                  <a:gd name="T5" fmla="*/ 1 h 49"/>
                  <a:gd name="T6" fmla="*/ 0 w 145"/>
                  <a:gd name="T7" fmla="*/ 1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4" name="Group 25"/>
            <p:cNvGrpSpPr/>
            <p:nvPr userDrawn="1"/>
          </p:nvGrpSpPr>
          <p:grpSpPr bwMode="auto">
            <a:xfrm rot="8524840">
              <a:off x="677" y="3307"/>
              <a:ext cx="500" cy="500"/>
              <a:chOff x="1727" y="868"/>
              <a:chExt cx="129" cy="156"/>
            </a:xfrm>
          </p:grpSpPr>
          <p:sp>
            <p:nvSpPr>
              <p:cNvPr id="30" name="Freeform 26"/>
              <p:cNvSpPr/>
              <p:nvPr userDrawn="1"/>
            </p:nvSpPr>
            <p:spPr bwMode="ltGray">
              <a:xfrm>
                <a:off x="1727" y="869"/>
                <a:ext cx="41" cy="59"/>
              </a:xfrm>
              <a:custGeom>
                <a:avLst/>
                <a:gdLst>
                  <a:gd name="T0" fmla="*/ 0 w 83"/>
                  <a:gd name="T1" fmla="*/ 1 h 117"/>
                  <a:gd name="T2" fmla="*/ 0 w 83"/>
                  <a:gd name="T3" fmla="*/ 0 h 117"/>
                  <a:gd name="T4" fmla="*/ 0 w 83"/>
                  <a:gd name="T5" fmla="*/ 1 h 117"/>
                  <a:gd name="T6" fmla="*/ 0 w 83"/>
                  <a:gd name="T7" fmla="*/ 1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Freeform 27"/>
              <p:cNvSpPr/>
              <p:nvPr userDrawn="1"/>
            </p:nvSpPr>
            <p:spPr bwMode="ltGray">
              <a:xfrm>
                <a:off x="1786" y="897"/>
                <a:ext cx="70" cy="49"/>
              </a:xfrm>
              <a:custGeom>
                <a:avLst/>
                <a:gdLst>
                  <a:gd name="T0" fmla="*/ 0 w 140"/>
                  <a:gd name="T1" fmla="*/ 1 h 98"/>
                  <a:gd name="T2" fmla="*/ 1 w 140"/>
                  <a:gd name="T3" fmla="*/ 0 h 98"/>
                  <a:gd name="T4" fmla="*/ 1 w 140"/>
                  <a:gd name="T5" fmla="*/ 1 h 98"/>
                  <a:gd name="T6" fmla="*/ 0 w 140"/>
                  <a:gd name="T7" fmla="*/ 1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Freeform 28"/>
              <p:cNvSpPr/>
              <p:nvPr userDrawn="1"/>
            </p:nvSpPr>
            <p:spPr bwMode="ltGray">
              <a:xfrm>
                <a:off x="1772" y="1000"/>
                <a:ext cx="73" cy="25"/>
              </a:xfrm>
              <a:custGeom>
                <a:avLst/>
                <a:gdLst>
                  <a:gd name="T0" fmla="*/ 0 w 145"/>
                  <a:gd name="T1" fmla="*/ 1 h 49"/>
                  <a:gd name="T2" fmla="*/ 1 w 145"/>
                  <a:gd name="T3" fmla="*/ 0 h 49"/>
                  <a:gd name="T4" fmla="*/ 1 w 145"/>
                  <a:gd name="T5" fmla="*/ 1 h 49"/>
                  <a:gd name="T6" fmla="*/ 0 w 145"/>
                  <a:gd name="T7" fmla="*/ 1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" name="Group 29"/>
            <p:cNvGrpSpPr/>
            <p:nvPr userDrawn="1"/>
          </p:nvGrpSpPr>
          <p:grpSpPr bwMode="auto">
            <a:xfrm rot="4106450" flipH="1">
              <a:off x="404" y="268"/>
              <a:ext cx="708" cy="891"/>
              <a:chOff x="1727" y="866"/>
              <a:chExt cx="129" cy="157"/>
            </a:xfrm>
          </p:grpSpPr>
          <p:sp>
            <p:nvSpPr>
              <p:cNvPr id="27" name="Freeform 30"/>
              <p:cNvSpPr/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0 w 83"/>
                  <a:gd name="T1" fmla="*/ 1 h 117"/>
                  <a:gd name="T2" fmla="*/ 0 w 83"/>
                  <a:gd name="T3" fmla="*/ 0 h 117"/>
                  <a:gd name="T4" fmla="*/ 0 w 83"/>
                  <a:gd name="T5" fmla="*/ 1 h 117"/>
                  <a:gd name="T6" fmla="*/ 0 w 83"/>
                  <a:gd name="T7" fmla="*/ 1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Freeform 31"/>
              <p:cNvSpPr/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1 h 98"/>
                  <a:gd name="T2" fmla="*/ 1 w 140"/>
                  <a:gd name="T3" fmla="*/ 0 h 98"/>
                  <a:gd name="T4" fmla="*/ 1 w 140"/>
                  <a:gd name="T5" fmla="*/ 1 h 98"/>
                  <a:gd name="T6" fmla="*/ 0 w 140"/>
                  <a:gd name="T7" fmla="*/ 1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Freeform 32"/>
              <p:cNvSpPr/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1 h 49"/>
                  <a:gd name="T2" fmla="*/ 1 w 145"/>
                  <a:gd name="T3" fmla="*/ 0 h 49"/>
                  <a:gd name="T4" fmla="*/ 1 w 145"/>
                  <a:gd name="T5" fmla="*/ 1 h 49"/>
                  <a:gd name="T6" fmla="*/ 0 w 145"/>
                  <a:gd name="T7" fmla="*/ 1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" name="Group 33"/>
            <p:cNvGrpSpPr/>
            <p:nvPr userDrawn="1"/>
          </p:nvGrpSpPr>
          <p:grpSpPr bwMode="auto">
            <a:xfrm rot="10015322" flipH="1">
              <a:off x="4618" y="2392"/>
              <a:ext cx="708" cy="891"/>
              <a:chOff x="1727" y="866"/>
              <a:chExt cx="129" cy="157"/>
            </a:xfrm>
          </p:grpSpPr>
          <p:sp>
            <p:nvSpPr>
              <p:cNvPr id="24" name="Freeform 34"/>
              <p:cNvSpPr/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0 w 83"/>
                  <a:gd name="T1" fmla="*/ 1 h 117"/>
                  <a:gd name="T2" fmla="*/ 0 w 83"/>
                  <a:gd name="T3" fmla="*/ 0 h 117"/>
                  <a:gd name="T4" fmla="*/ 0 w 83"/>
                  <a:gd name="T5" fmla="*/ 1 h 117"/>
                  <a:gd name="T6" fmla="*/ 0 w 83"/>
                  <a:gd name="T7" fmla="*/ 1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Freeform 35"/>
              <p:cNvSpPr/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1 h 98"/>
                  <a:gd name="T2" fmla="*/ 1 w 140"/>
                  <a:gd name="T3" fmla="*/ 0 h 98"/>
                  <a:gd name="T4" fmla="*/ 1 w 140"/>
                  <a:gd name="T5" fmla="*/ 1 h 98"/>
                  <a:gd name="T6" fmla="*/ 0 w 140"/>
                  <a:gd name="T7" fmla="*/ 1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Freeform 36"/>
              <p:cNvSpPr/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1 h 49"/>
                  <a:gd name="T2" fmla="*/ 1 w 145"/>
                  <a:gd name="T3" fmla="*/ 0 h 49"/>
                  <a:gd name="T4" fmla="*/ 1 w 145"/>
                  <a:gd name="T5" fmla="*/ 1 h 49"/>
                  <a:gd name="T6" fmla="*/ 0 w 145"/>
                  <a:gd name="T7" fmla="*/ 1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" name="Freeform 37"/>
            <p:cNvSpPr/>
            <p:nvPr userDrawn="1"/>
          </p:nvSpPr>
          <p:spPr bwMode="ltGray">
            <a:xfrm>
              <a:off x="1217" y="2"/>
              <a:ext cx="862" cy="886"/>
            </a:xfrm>
            <a:custGeom>
              <a:avLst/>
              <a:gdLst>
                <a:gd name="T0" fmla="*/ 0 w 862"/>
                <a:gd name="T1" fmla="*/ 0 h 886"/>
                <a:gd name="T2" fmla="*/ 6 w 862"/>
                <a:gd name="T3" fmla="*/ 107 h 886"/>
                <a:gd name="T4" fmla="*/ 37 w 862"/>
                <a:gd name="T5" fmla="*/ 262 h 886"/>
                <a:gd name="T6" fmla="*/ 83 w 862"/>
                <a:gd name="T7" fmla="*/ 410 h 886"/>
                <a:gd name="T8" fmla="*/ 149 w 862"/>
                <a:gd name="T9" fmla="*/ 546 h 886"/>
                <a:gd name="T10" fmla="*/ 237 w 862"/>
                <a:gd name="T11" fmla="*/ 666 h 886"/>
                <a:gd name="T12" fmla="*/ 338 w 862"/>
                <a:gd name="T13" fmla="*/ 764 h 886"/>
                <a:gd name="T14" fmla="*/ 450 w 862"/>
                <a:gd name="T15" fmla="*/ 838 h 886"/>
                <a:gd name="T16" fmla="*/ 579 w 862"/>
                <a:gd name="T17" fmla="*/ 879 h 886"/>
                <a:gd name="T18" fmla="*/ 714 w 862"/>
                <a:gd name="T19" fmla="*/ 886 h 886"/>
                <a:gd name="T20" fmla="*/ 862 w 862"/>
                <a:gd name="T21" fmla="*/ 851 h 886"/>
                <a:gd name="T22" fmla="*/ 784 w 862"/>
                <a:gd name="T23" fmla="*/ 856 h 886"/>
                <a:gd name="T24" fmla="*/ 700 w 862"/>
                <a:gd name="T25" fmla="*/ 835 h 886"/>
                <a:gd name="T26" fmla="*/ 621 w 862"/>
                <a:gd name="T27" fmla="*/ 794 h 886"/>
                <a:gd name="T28" fmla="*/ 542 w 862"/>
                <a:gd name="T29" fmla="*/ 728 h 886"/>
                <a:gd name="T30" fmla="*/ 466 w 862"/>
                <a:gd name="T31" fmla="*/ 649 h 886"/>
                <a:gd name="T32" fmla="*/ 397 w 862"/>
                <a:gd name="T33" fmla="*/ 557 h 886"/>
                <a:gd name="T34" fmla="*/ 334 w 862"/>
                <a:gd name="T35" fmla="*/ 454 h 886"/>
                <a:gd name="T36" fmla="*/ 279 w 862"/>
                <a:gd name="T37" fmla="*/ 339 h 886"/>
                <a:gd name="T38" fmla="*/ 238 w 862"/>
                <a:gd name="T39" fmla="*/ 225 h 886"/>
                <a:gd name="T40" fmla="*/ 205 w 862"/>
                <a:gd name="T41" fmla="*/ 105 h 886"/>
                <a:gd name="T42" fmla="*/ 184 w 862"/>
                <a:gd name="T43" fmla="*/ 3 h 88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862" h="886">
                  <a:moveTo>
                    <a:pt x="0" y="0"/>
                  </a:moveTo>
                  <a:lnTo>
                    <a:pt x="6" y="107"/>
                  </a:lnTo>
                  <a:lnTo>
                    <a:pt x="37" y="262"/>
                  </a:lnTo>
                  <a:lnTo>
                    <a:pt x="83" y="410"/>
                  </a:lnTo>
                  <a:lnTo>
                    <a:pt x="149" y="546"/>
                  </a:lnTo>
                  <a:lnTo>
                    <a:pt x="237" y="666"/>
                  </a:lnTo>
                  <a:lnTo>
                    <a:pt x="338" y="764"/>
                  </a:lnTo>
                  <a:lnTo>
                    <a:pt x="450" y="838"/>
                  </a:lnTo>
                  <a:lnTo>
                    <a:pt x="579" y="879"/>
                  </a:lnTo>
                  <a:lnTo>
                    <a:pt x="714" y="886"/>
                  </a:lnTo>
                  <a:lnTo>
                    <a:pt x="862" y="851"/>
                  </a:lnTo>
                  <a:lnTo>
                    <a:pt x="784" y="856"/>
                  </a:lnTo>
                  <a:lnTo>
                    <a:pt x="700" y="835"/>
                  </a:lnTo>
                  <a:lnTo>
                    <a:pt x="621" y="794"/>
                  </a:lnTo>
                  <a:lnTo>
                    <a:pt x="542" y="728"/>
                  </a:lnTo>
                  <a:lnTo>
                    <a:pt x="466" y="649"/>
                  </a:lnTo>
                  <a:lnTo>
                    <a:pt x="397" y="557"/>
                  </a:lnTo>
                  <a:lnTo>
                    <a:pt x="334" y="454"/>
                  </a:lnTo>
                  <a:lnTo>
                    <a:pt x="279" y="339"/>
                  </a:lnTo>
                  <a:lnTo>
                    <a:pt x="238" y="225"/>
                  </a:lnTo>
                  <a:lnTo>
                    <a:pt x="205" y="105"/>
                  </a:lnTo>
                  <a:lnTo>
                    <a:pt x="184" y="3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38"/>
            <p:cNvSpPr/>
            <p:nvPr userDrawn="1"/>
          </p:nvSpPr>
          <p:spPr bwMode="ltGray">
            <a:xfrm rot="9832527" flipV="1">
              <a:off x="2158" y="102"/>
              <a:ext cx="681" cy="593"/>
            </a:xfrm>
            <a:custGeom>
              <a:avLst/>
              <a:gdLst>
                <a:gd name="T0" fmla="*/ 0 w 257"/>
                <a:gd name="T1" fmla="*/ 0 h 237"/>
                <a:gd name="T2" fmla="*/ 0 w 257"/>
                <a:gd name="T3" fmla="*/ 2147483646 h 237"/>
                <a:gd name="T4" fmla="*/ 2147483646 w 257"/>
                <a:gd name="T5" fmla="*/ 2147483646 h 237"/>
                <a:gd name="T6" fmla="*/ 2147483646 w 257"/>
                <a:gd name="T7" fmla="*/ 2147483646 h 237"/>
                <a:gd name="T8" fmla="*/ 2147483646 w 257"/>
                <a:gd name="T9" fmla="*/ 2147483646 h 237"/>
                <a:gd name="T10" fmla="*/ 2147483646 w 257"/>
                <a:gd name="T11" fmla="*/ 2147483646 h 237"/>
                <a:gd name="T12" fmla="*/ 2147483646 w 257"/>
                <a:gd name="T13" fmla="*/ 2147483646 h 237"/>
                <a:gd name="T14" fmla="*/ 2147483646 w 257"/>
                <a:gd name="T15" fmla="*/ 2147483646 h 237"/>
                <a:gd name="T16" fmla="*/ 2147483646 w 257"/>
                <a:gd name="T17" fmla="*/ 2147483646 h 237"/>
                <a:gd name="T18" fmla="*/ 2147483646 w 257"/>
                <a:gd name="T19" fmla="*/ 2147483646 h 237"/>
                <a:gd name="T20" fmla="*/ 2147483646 w 257"/>
                <a:gd name="T21" fmla="*/ 2147483646 h 237"/>
                <a:gd name="T22" fmla="*/ 2147483646 w 257"/>
                <a:gd name="T23" fmla="*/ 2147483646 h 237"/>
                <a:gd name="T24" fmla="*/ 2147483646 w 257"/>
                <a:gd name="T25" fmla="*/ 2147483646 h 237"/>
                <a:gd name="T26" fmla="*/ 2147483646 w 257"/>
                <a:gd name="T27" fmla="*/ 2147483646 h 237"/>
                <a:gd name="T28" fmla="*/ 2147483646 w 257"/>
                <a:gd name="T29" fmla="*/ 2147483646 h 237"/>
                <a:gd name="T30" fmla="*/ 2147483646 w 257"/>
                <a:gd name="T31" fmla="*/ 2147483646 h 237"/>
                <a:gd name="T32" fmla="*/ 2147483646 w 257"/>
                <a:gd name="T33" fmla="*/ 2147483646 h 237"/>
                <a:gd name="T34" fmla="*/ 2147483646 w 257"/>
                <a:gd name="T35" fmla="*/ 2147483646 h 237"/>
                <a:gd name="T36" fmla="*/ 2147483646 w 257"/>
                <a:gd name="T37" fmla="*/ 2147483646 h 237"/>
                <a:gd name="T38" fmla="*/ 2147483646 w 257"/>
                <a:gd name="T39" fmla="*/ 2147483646 h 237"/>
                <a:gd name="T40" fmla="*/ 2147483646 w 257"/>
                <a:gd name="T41" fmla="*/ 2147483646 h 237"/>
                <a:gd name="T42" fmla="*/ 2147483646 w 257"/>
                <a:gd name="T43" fmla="*/ 2147483646 h 237"/>
                <a:gd name="T44" fmla="*/ 2147483646 w 257"/>
                <a:gd name="T45" fmla="*/ 2147483646 h 237"/>
                <a:gd name="T46" fmla="*/ 2147483646 w 257"/>
                <a:gd name="T47" fmla="*/ 2147483646 h 237"/>
                <a:gd name="T48" fmla="*/ 2147483646 w 257"/>
                <a:gd name="T49" fmla="*/ 2147483646 h 237"/>
                <a:gd name="T50" fmla="*/ 2147483646 w 257"/>
                <a:gd name="T51" fmla="*/ 2147483646 h 237"/>
                <a:gd name="T52" fmla="*/ 2147483646 w 257"/>
                <a:gd name="T53" fmla="*/ 2147483646 h 237"/>
                <a:gd name="T54" fmla="*/ 2147483646 w 257"/>
                <a:gd name="T55" fmla="*/ 2147483646 h 237"/>
                <a:gd name="T56" fmla="*/ 2147483646 w 257"/>
                <a:gd name="T57" fmla="*/ 2147483646 h 237"/>
                <a:gd name="T58" fmla="*/ 2147483646 w 257"/>
                <a:gd name="T59" fmla="*/ 2147483646 h 237"/>
                <a:gd name="T60" fmla="*/ 2147483646 w 257"/>
                <a:gd name="T61" fmla="*/ 2147483646 h 237"/>
                <a:gd name="T62" fmla="*/ 2147483646 w 257"/>
                <a:gd name="T63" fmla="*/ 2147483646 h 237"/>
                <a:gd name="T64" fmla="*/ 0 w 257"/>
                <a:gd name="T65" fmla="*/ 0 h 23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257" h="237">
                  <a:moveTo>
                    <a:pt x="0" y="0"/>
                  </a:moveTo>
                  <a:lnTo>
                    <a:pt x="0" y="25"/>
                  </a:lnTo>
                  <a:lnTo>
                    <a:pt x="3" y="50"/>
                  </a:lnTo>
                  <a:lnTo>
                    <a:pt x="6" y="75"/>
                  </a:lnTo>
                  <a:lnTo>
                    <a:pt x="11" y="98"/>
                  </a:lnTo>
                  <a:lnTo>
                    <a:pt x="18" y="119"/>
                  </a:lnTo>
                  <a:lnTo>
                    <a:pt x="27" y="141"/>
                  </a:lnTo>
                  <a:lnTo>
                    <a:pt x="38" y="161"/>
                  </a:lnTo>
                  <a:lnTo>
                    <a:pt x="51" y="178"/>
                  </a:lnTo>
                  <a:lnTo>
                    <a:pt x="67" y="194"/>
                  </a:lnTo>
                  <a:lnTo>
                    <a:pt x="86" y="208"/>
                  </a:lnTo>
                  <a:lnTo>
                    <a:pt x="106" y="219"/>
                  </a:lnTo>
                  <a:lnTo>
                    <a:pt x="131" y="228"/>
                  </a:lnTo>
                  <a:lnTo>
                    <a:pt x="158" y="234"/>
                  </a:lnTo>
                  <a:lnTo>
                    <a:pt x="188" y="237"/>
                  </a:lnTo>
                  <a:lnTo>
                    <a:pt x="220" y="236"/>
                  </a:lnTo>
                  <a:lnTo>
                    <a:pt x="257" y="232"/>
                  </a:lnTo>
                  <a:lnTo>
                    <a:pt x="224" y="227"/>
                  </a:lnTo>
                  <a:lnTo>
                    <a:pt x="195" y="220"/>
                  </a:lnTo>
                  <a:lnTo>
                    <a:pt x="170" y="212"/>
                  </a:lnTo>
                  <a:lnTo>
                    <a:pt x="148" y="204"/>
                  </a:lnTo>
                  <a:lnTo>
                    <a:pt x="128" y="193"/>
                  </a:lnTo>
                  <a:lnTo>
                    <a:pt x="112" y="182"/>
                  </a:lnTo>
                  <a:lnTo>
                    <a:pt x="97" y="169"/>
                  </a:lnTo>
                  <a:lnTo>
                    <a:pt x="84" y="155"/>
                  </a:lnTo>
                  <a:lnTo>
                    <a:pt x="72" y="141"/>
                  </a:lnTo>
                  <a:lnTo>
                    <a:pt x="61" y="125"/>
                  </a:lnTo>
                  <a:lnTo>
                    <a:pt x="52" y="107"/>
                  </a:lnTo>
                  <a:lnTo>
                    <a:pt x="43" y="88"/>
                  </a:lnTo>
                  <a:lnTo>
                    <a:pt x="33" y="69"/>
                  </a:lnTo>
                  <a:lnTo>
                    <a:pt x="23" y="47"/>
                  </a:lnTo>
                  <a:lnTo>
                    <a:pt x="1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39"/>
            <p:cNvSpPr/>
            <p:nvPr userDrawn="1"/>
          </p:nvSpPr>
          <p:spPr bwMode="ltGray">
            <a:xfrm rot="9832527" flipV="1">
              <a:off x="1997" y="858"/>
              <a:ext cx="330" cy="278"/>
            </a:xfrm>
            <a:custGeom>
              <a:avLst/>
              <a:gdLst>
                <a:gd name="T0" fmla="*/ 2147483646 w 124"/>
                <a:gd name="T1" fmla="*/ 0 h 110"/>
                <a:gd name="T2" fmla="*/ 2147483646 w 124"/>
                <a:gd name="T3" fmla="*/ 2147483646 h 110"/>
                <a:gd name="T4" fmla="*/ 2147483646 w 124"/>
                <a:gd name="T5" fmla="*/ 2147483646 h 110"/>
                <a:gd name="T6" fmla="*/ 2147483646 w 124"/>
                <a:gd name="T7" fmla="*/ 2147483646 h 110"/>
                <a:gd name="T8" fmla="*/ 2147483646 w 124"/>
                <a:gd name="T9" fmla="*/ 2147483646 h 110"/>
                <a:gd name="T10" fmla="*/ 2147483646 w 124"/>
                <a:gd name="T11" fmla="*/ 2147483646 h 110"/>
                <a:gd name="T12" fmla="*/ 2147483646 w 124"/>
                <a:gd name="T13" fmla="*/ 2147483646 h 110"/>
                <a:gd name="T14" fmla="*/ 2147483646 w 124"/>
                <a:gd name="T15" fmla="*/ 2147483646 h 110"/>
                <a:gd name="T16" fmla="*/ 2147483646 w 124"/>
                <a:gd name="T17" fmla="*/ 2147483646 h 110"/>
                <a:gd name="T18" fmla="*/ 0 w 124"/>
                <a:gd name="T19" fmla="*/ 2147483646 h 110"/>
                <a:gd name="T20" fmla="*/ 2147483646 w 124"/>
                <a:gd name="T21" fmla="*/ 2147483646 h 110"/>
                <a:gd name="T22" fmla="*/ 2147483646 w 124"/>
                <a:gd name="T23" fmla="*/ 2147483646 h 110"/>
                <a:gd name="T24" fmla="*/ 2147483646 w 124"/>
                <a:gd name="T25" fmla="*/ 2147483646 h 110"/>
                <a:gd name="T26" fmla="*/ 2147483646 w 124"/>
                <a:gd name="T27" fmla="*/ 2147483646 h 110"/>
                <a:gd name="T28" fmla="*/ 2147483646 w 124"/>
                <a:gd name="T29" fmla="*/ 2147483646 h 110"/>
                <a:gd name="T30" fmla="*/ 2147483646 w 124"/>
                <a:gd name="T31" fmla="*/ 2147483646 h 110"/>
                <a:gd name="T32" fmla="*/ 2147483646 w 124"/>
                <a:gd name="T33" fmla="*/ 2147483646 h 110"/>
                <a:gd name="T34" fmla="*/ 2147483646 w 124"/>
                <a:gd name="T35" fmla="*/ 2147483646 h 110"/>
                <a:gd name="T36" fmla="*/ 2147483646 w 124"/>
                <a:gd name="T37" fmla="*/ 2147483646 h 110"/>
                <a:gd name="T38" fmla="*/ 2147483646 w 124"/>
                <a:gd name="T39" fmla="*/ 2147483646 h 110"/>
                <a:gd name="T40" fmla="*/ 2147483646 w 124"/>
                <a:gd name="T41" fmla="*/ 2147483646 h 110"/>
                <a:gd name="T42" fmla="*/ 2147483646 w 124"/>
                <a:gd name="T43" fmla="*/ 2147483646 h 110"/>
                <a:gd name="T44" fmla="*/ 2147483646 w 124"/>
                <a:gd name="T45" fmla="*/ 2147483646 h 110"/>
                <a:gd name="T46" fmla="*/ 2147483646 w 124"/>
                <a:gd name="T47" fmla="*/ 2147483646 h 110"/>
                <a:gd name="T48" fmla="*/ 2147483646 w 124"/>
                <a:gd name="T49" fmla="*/ 2147483646 h 110"/>
                <a:gd name="T50" fmla="*/ 2147483646 w 124"/>
                <a:gd name="T51" fmla="*/ 2147483646 h 110"/>
                <a:gd name="T52" fmla="*/ 2147483646 w 124"/>
                <a:gd name="T53" fmla="*/ 2147483646 h 110"/>
                <a:gd name="T54" fmla="*/ 2147483646 w 124"/>
                <a:gd name="T55" fmla="*/ 2147483646 h 110"/>
                <a:gd name="T56" fmla="*/ 2147483646 w 124"/>
                <a:gd name="T57" fmla="*/ 2147483646 h 110"/>
                <a:gd name="T58" fmla="*/ 2147483646 w 124"/>
                <a:gd name="T59" fmla="*/ 0 h 11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24" h="110">
                  <a:moveTo>
                    <a:pt x="77" y="0"/>
                  </a:moveTo>
                  <a:lnTo>
                    <a:pt x="124" y="108"/>
                  </a:lnTo>
                  <a:lnTo>
                    <a:pt x="120" y="107"/>
                  </a:lnTo>
                  <a:lnTo>
                    <a:pt x="107" y="105"/>
                  </a:lnTo>
                  <a:lnTo>
                    <a:pt x="89" y="101"/>
                  </a:lnTo>
                  <a:lnTo>
                    <a:pt x="68" y="99"/>
                  </a:lnTo>
                  <a:lnTo>
                    <a:pt x="45" y="97"/>
                  </a:lnTo>
                  <a:lnTo>
                    <a:pt x="25" y="98"/>
                  </a:lnTo>
                  <a:lnTo>
                    <a:pt x="9" y="102"/>
                  </a:lnTo>
                  <a:lnTo>
                    <a:pt x="0" y="110"/>
                  </a:lnTo>
                  <a:lnTo>
                    <a:pt x="4" y="98"/>
                  </a:lnTo>
                  <a:lnTo>
                    <a:pt x="8" y="89"/>
                  </a:lnTo>
                  <a:lnTo>
                    <a:pt x="16" y="82"/>
                  </a:lnTo>
                  <a:lnTo>
                    <a:pt x="25" y="76"/>
                  </a:lnTo>
                  <a:lnTo>
                    <a:pt x="36" y="72"/>
                  </a:lnTo>
                  <a:lnTo>
                    <a:pt x="47" y="71"/>
                  </a:lnTo>
                  <a:lnTo>
                    <a:pt x="59" y="71"/>
                  </a:lnTo>
                  <a:lnTo>
                    <a:pt x="72" y="74"/>
                  </a:lnTo>
                  <a:lnTo>
                    <a:pt x="73" y="71"/>
                  </a:lnTo>
                  <a:lnTo>
                    <a:pt x="70" y="56"/>
                  </a:lnTo>
                  <a:lnTo>
                    <a:pt x="67" y="38"/>
                  </a:lnTo>
                  <a:lnTo>
                    <a:pt x="65" y="30"/>
                  </a:lnTo>
                  <a:lnTo>
                    <a:pt x="63" y="30"/>
                  </a:lnTo>
                  <a:lnTo>
                    <a:pt x="61" y="29"/>
                  </a:lnTo>
                  <a:lnTo>
                    <a:pt x="59" y="26"/>
                  </a:lnTo>
                  <a:lnTo>
                    <a:pt x="57" y="23"/>
                  </a:lnTo>
                  <a:lnTo>
                    <a:pt x="57" y="19"/>
                  </a:lnTo>
                  <a:lnTo>
                    <a:pt x="59" y="14"/>
                  </a:lnTo>
                  <a:lnTo>
                    <a:pt x="66" y="8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40"/>
            <p:cNvSpPr/>
            <p:nvPr userDrawn="1"/>
          </p:nvSpPr>
          <p:spPr bwMode="ltGray">
            <a:xfrm rot="9832527" flipV="1">
              <a:off x="2224" y="808"/>
              <a:ext cx="123" cy="233"/>
            </a:xfrm>
            <a:custGeom>
              <a:avLst/>
              <a:gdLst>
                <a:gd name="T0" fmla="*/ 2147483646 w 46"/>
                <a:gd name="T1" fmla="*/ 0 h 94"/>
                <a:gd name="T2" fmla="*/ 2147483646 w 46"/>
                <a:gd name="T3" fmla="*/ 2147483646 h 94"/>
                <a:gd name="T4" fmla="*/ 2147483646 w 46"/>
                <a:gd name="T5" fmla="*/ 2147483646 h 94"/>
                <a:gd name="T6" fmla="*/ 2147483646 w 46"/>
                <a:gd name="T7" fmla="*/ 2147483646 h 94"/>
                <a:gd name="T8" fmla="*/ 0 w 46"/>
                <a:gd name="T9" fmla="*/ 2147483646 h 94"/>
                <a:gd name="T10" fmla="*/ 2147483646 w 46"/>
                <a:gd name="T11" fmla="*/ 2147483646 h 94"/>
                <a:gd name="T12" fmla="*/ 2147483646 w 46"/>
                <a:gd name="T13" fmla="*/ 2147483646 h 94"/>
                <a:gd name="T14" fmla="*/ 2147483646 w 46"/>
                <a:gd name="T15" fmla="*/ 2147483646 h 94"/>
                <a:gd name="T16" fmla="*/ 2147483646 w 46"/>
                <a:gd name="T17" fmla="*/ 2147483646 h 94"/>
                <a:gd name="T18" fmla="*/ 2147483646 w 46"/>
                <a:gd name="T19" fmla="*/ 2147483646 h 94"/>
                <a:gd name="T20" fmla="*/ 2147483646 w 46"/>
                <a:gd name="T21" fmla="*/ 2147483646 h 94"/>
                <a:gd name="T22" fmla="*/ 2147483646 w 46"/>
                <a:gd name="T23" fmla="*/ 2147483646 h 94"/>
                <a:gd name="T24" fmla="*/ 2147483646 w 46"/>
                <a:gd name="T25" fmla="*/ 0 h 9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6" h="94">
                  <a:moveTo>
                    <a:pt x="31" y="0"/>
                  </a:moveTo>
                  <a:lnTo>
                    <a:pt x="20" y="38"/>
                  </a:lnTo>
                  <a:lnTo>
                    <a:pt x="15" y="62"/>
                  </a:lnTo>
                  <a:lnTo>
                    <a:pt x="11" y="79"/>
                  </a:lnTo>
                  <a:lnTo>
                    <a:pt x="0" y="94"/>
                  </a:lnTo>
                  <a:lnTo>
                    <a:pt x="12" y="88"/>
                  </a:lnTo>
                  <a:lnTo>
                    <a:pt x="23" y="80"/>
                  </a:lnTo>
                  <a:lnTo>
                    <a:pt x="32" y="69"/>
                  </a:lnTo>
                  <a:lnTo>
                    <a:pt x="40" y="57"/>
                  </a:lnTo>
                  <a:lnTo>
                    <a:pt x="45" y="44"/>
                  </a:lnTo>
                  <a:lnTo>
                    <a:pt x="46" y="30"/>
                  </a:lnTo>
                  <a:lnTo>
                    <a:pt x="42" y="1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41"/>
            <p:cNvSpPr/>
            <p:nvPr userDrawn="1"/>
          </p:nvSpPr>
          <p:spPr bwMode="ltGray">
            <a:xfrm>
              <a:off x="1603" y="0"/>
              <a:ext cx="124" cy="121"/>
            </a:xfrm>
            <a:custGeom>
              <a:avLst/>
              <a:gdLst>
                <a:gd name="T0" fmla="*/ 124 w 124"/>
                <a:gd name="T1" fmla="*/ 0 h 121"/>
                <a:gd name="T2" fmla="*/ 113 w 124"/>
                <a:gd name="T3" fmla="*/ 9 h 121"/>
                <a:gd name="T4" fmla="*/ 99 w 124"/>
                <a:gd name="T5" fmla="*/ 25 h 121"/>
                <a:gd name="T6" fmla="*/ 81 w 124"/>
                <a:gd name="T7" fmla="*/ 41 h 121"/>
                <a:gd name="T8" fmla="*/ 63 w 124"/>
                <a:gd name="T9" fmla="*/ 54 h 121"/>
                <a:gd name="T10" fmla="*/ 41 w 124"/>
                <a:gd name="T11" fmla="*/ 66 h 121"/>
                <a:gd name="T12" fmla="*/ 22 w 124"/>
                <a:gd name="T13" fmla="*/ 74 h 121"/>
                <a:gd name="T14" fmla="*/ 0 w 124"/>
                <a:gd name="T15" fmla="*/ 75 h 121"/>
                <a:gd name="T16" fmla="*/ 10 w 124"/>
                <a:gd name="T17" fmla="*/ 96 h 121"/>
                <a:gd name="T18" fmla="*/ 23 w 124"/>
                <a:gd name="T19" fmla="*/ 113 h 121"/>
                <a:gd name="T20" fmla="*/ 41 w 124"/>
                <a:gd name="T21" fmla="*/ 121 h 121"/>
                <a:gd name="T22" fmla="*/ 60 w 124"/>
                <a:gd name="T23" fmla="*/ 121 h 121"/>
                <a:gd name="T24" fmla="*/ 83 w 124"/>
                <a:gd name="T25" fmla="*/ 111 h 121"/>
                <a:gd name="T26" fmla="*/ 101 w 124"/>
                <a:gd name="T27" fmla="*/ 88 h 121"/>
                <a:gd name="T28" fmla="*/ 116 w 124"/>
                <a:gd name="T29" fmla="*/ 53 h 121"/>
                <a:gd name="T30" fmla="*/ 124 w 124"/>
                <a:gd name="T31" fmla="*/ 0 h 12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24" h="121">
                  <a:moveTo>
                    <a:pt x="124" y="0"/>
                  </a:moveTo>
                  <a:lnTo>
                    <a:pt x="113" y="9"/>
                  </a:lnTo>
                  <a:lnTo>
                    <a:pt x="99" y="25"/>
                  </a:lnTo>
                  <a:lnTo>
                    <a:pt x="81" y="41"/>
                  </a:lnTo>
                  <a:lnTo>
                    <a:pt x="63" y="54"/>
                  </a:lnTo>
                  <a:lnTo>
                    <a:pt x="41" y="66"/>
                  </a:lnTo>
                  <a:lnTo>
                    <a:pt x="22" y="74"/>
                  </a:lnTo>
                  <a:lnTo>
                    <a:pt x="0" y="75"/>
                  </a:lnTo>
                  <a:lnTo>
                    <a:pt x="10" y="96"/>
                  </a:lnTo>
                  <a:lnTo>
                    <a:pt x="23" y="113"/>
                  </a:lnTo>
                  <a:lnTo>
                    <a:pt x="41" y="121"/>
                  </a:lnTo>
                  <a:lnTo>
                    <a:pt x="60" y="121"/>
                  </a:lnTo>
                  <a:lnTo>
                    <a:pt x="83" y="111"/>
                  </a:lnTo>
                  <a:lnTo>
                    <a:pt x="101" y="88"/>
                  </a:lnTo>
                  <a:lnTo>
                    <a:pt x="116" y="53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42"/>
            <p:cNvSpPr/>
            <p:nvPr userDrawn="1"/>
          </p:nvSpPr>
          <p:spPr bwMode="ltGray">
            <a:xfrm rot="9832527" flipV="1">
              <a:off x="2173" y="1238"/>
              <a:ext cx="393" cy="2300"/>
            </a:xfrm>
            <a:custGeom>
              <a:avLst/>
              <a:gdLst>
                <a:gd name="T0" fmla="*/ 0 w 149"/>
                <a:gd name="T1" fmla="*/ 0 h 704"/>
                <a:gd name="T2" fmla="*/ 2147483646 w 149"/>
                <a:gd name="T3" fmla="*/ 2147483646 h 704"/>
                <a:gd name="T4" fmla="*/ 2147483646 w 149"/>
                <a:gd name="T5" fmla="*/ 2147483646 h 704"/>
                <a:gd name="T6" fmla="*/ 2147483646 w 149"/>
                <a:gd name="T7" fmla="*/ 2147483646 h 704"/>
                <a:gd name="T8" fmla="*/ 2147483646 w 149"/>
                <a:gd name="T9" fmla="*/ 2147483646 h 704"/>
                <a:gd name="T10" fmla="*/ 2147483646 w 149"/>
                <a:gd name="T11" fmla="*/ 2147483646 h 704"/>
                <a:gd name="T12" fmla="*/ 2147483646 w 149"/>
                <a:gd name="T13" fmla="*/ 2147483646 h 704"/>
                <a:gd name="T14" fmla="*/ 2147483646 w 149"/>
                <a:gd name="T15" fmla="*/ 2147483646 h 704"/>
                <a:gd name="T16" fmla="*/ 2147483646 w 149"/>
                <a:gd name="T17" fmla="*/ 2147483646 h 704"/>
                <a:gd name="T18" fmla="*/ 2147483646 w 149"/>
                <a:gd name="T19" fmla="*/ 2147483646 h 704"/>
                <a:gd name="T20" fmla="*/ 2147483646 w 149"/>
                <a:gd name="T21" fmla="*/ 2147483646 h 704"/>
                <a:gd name="T22" fmla="*/ 2147483646 w 149"/>
                <a:gd name="T23" fmla="*/ 2147483646 h 704"/>
                <a:gd name="T24" fmla="*/ 2147483646 w 149"/>
                <a:gd name="T25" fmla="*/ 2147483646 h 704"/>
                <a:gd name="T26" fmla="*/ 2147483646 w 149"/>
                <a:gd name="T27" fmla="*/ 2147483646 h 704"/>
                <a:gd name="T28" fmla="*/ 2147483646 w 149"/>
                <a:gd name="T29" fmla="*/ 2147483646 h 704"/>
                <a:gd name="T30" fmla="*/ 2147483646 w 149"/>
                <a:gd name="T31" fmla="*/ 2147483646 h 704"/>
                <a:gd name="T32" fmla="*/ 2147483646 w 149"/>
                <a:gd name="T33" fmla="*/ 2147483646 h 704"/>
                <a:gd name="T34" fmla="*/ 2147483646 w 149"/>
                <a:gd name="T35" fmla="*/ 2147483646 h 704"/>
                <a:gd name="T36" fmla="*/ 2147483646 w 149"/>
                <a:gd name="T37" fmla="*/ 2147483646 h 704"/>
                <a:gd name="T38" fmla="*/ 2147483646 w 149"/>
                <a:gd name="T39" fmla="*/ 2147483646 h 704"/>
                <a:gd name="T40" fmla="*/ 2147483646 w 149"/>
                <a:gd name="T41" fmla="*/ 2147483646 h 704"/>
                <a:gd name="T42" fmla="*/ 2147483646 w 149"/>
                <a:gd name="T43" fmla="*/ 2147483646 h 704"/>
                <a:gd name="T44" fmla="*/ 2147483646 w 149"/>
                <a:gd name="T45" fmla="*/ 2147483646 h 704"/>
                <a:gd name="T46" fmla="*/ 2147483646 w 149"/>
                <a:gd name="T47" fmla="*/ 2147483646 h 704"/>
                <a:gd name="T48" fmla="*/ 2147483646 w 149"/>
                <a:gd name="T49" fmla="*/ 2147483646 h 704"/>
                <a:gd name="T50" fmla="*/ 2147483646 w 149"/>
                <a:gd name="T51" fmla="*/ 2147483646 h 704"/>
                <a:gd name="T52" fmla="*/ 2147483646 w 149"/>
                <a:gd name="T53" fmla="*/ 2147483646 h 704"/>
                <a:gd name="T54" fmla="*/ 2147483646 w 149"/>
                <a:gd name="T55" fmla="*/ 2147483646 h 704"/>
                <a:gd name="T56" fmla="*/ 2147483646 w 149"/>
                <a:gd name="T57" fmla="*/ 2147483646 h 704"/>
                <a:gd name="T58" fmla="*/ 2147483646 w 149"/>
                <a:gd name="T59" fmla="*/ 2147483646 h 704"/>
                <a:gd name="T60" fmla="*/ 2147483646 w 149"/>
                <a:gd name="T61" fmla="*/ 2147483646 h 704"/>
                <a:gd name="T62" fmla="*/ 2147483646 w 149"/>
                <a:gd name="T63" fmla="*/ 2147483646 h 704"/>
                <a:gd name="T64" fmla="*/ 2147483646 w 149"/>
                <a:gd name="T65" fmla="*/ 2147483646 h 704"/>
                <a:gd name="T66" fmla="*/ 2147483646 w 149"/>
                <a:gd name="T67" fmla="*/ 2147483646 h 704"/>
                <a:gd name="T68" fmla="*/ 2147483646 w 149"/>
                <a:gd name="T69" fmla="*/ 2147483646 h 704"/>
                <a:gd name="T70" fmla="*/ 2147483646 w 149"/>
                <a:gd name="T71" fmla="*/ 2147483646 h 704"/>
                <a:gd name="T72" fmla="*/ 2147483646 w 149"/>
                <a:gd name="T73" fmla="*/ 2147483646 h 704"/>
                <a:gd name="T74" fmla="*/ 2147483646 w 149"/>
                <a:gd name="T75" fmla="*/ 2147483646 h 704"/>
                <a:gd name="T76" fmla="*/ 2147483646 w 149"/>
                <a:gd name="T77" fmla="*/ 2147483646 h 704"/>
                <a:gd name="T78" fmla="*/ 2147483646 w 149"/>
                <a:gd name="T79" fmla="*/ 2147483646 h 704"/>
                <a:gd name="T80" fmla="*/ 2147483646 w 149"/>
                <a:gd name="T81" fmla="*/ 2147483646 h 704"/>
                <a:gd name="T82" fmla="*/ 0 w 149"/>
                <a:gd name="T83" fmla="*/ 0 h 70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49" h="704">
                  <a:moveTo>
                    <a:pt x="0" y="0"/>
                  </a:moveTo>
                  <a:lnTo>
                    <a:pt x="6" y="6"/>
                  </a:lnTo>
                  <a:lnTo>
                    <a:pt x="16" y="14"/>
                  </a:lnTo>
                  <a:lnTo>
                    <a:pt x="28" y="24"/>
                  </a:lnTo>
                  <a:lnTo>
                    <a:pt x="41" y="37"/>
                  </a:lnTo>
                  <a:lnTo>
                    <a:pt x="58" y="53"/>
                  </a:lnTo>
                  <a:lnTo>
                    <a:pt x="73" y="70"/>
                  </a:lnTo>
                  <a:lnTo>
                    <a:pt x="88" y="90"/>
                  </a:lnTo>
                  <a:lnTo>
                    <a:pt x="100" y="113"/>
                  </a:lnTo>
                  <a:lnTo>
                    <a:pt x="112" y="137"/>
                  </a:lnTo>
                  <a:lnTo>
                    <a:pt x="120" y="165"/>
                  </a:lnTo>
                  <a:lnTo>
                    <a:pt x="124" y="196"/>
                  </a:lnTo>
                  <a:lnTo>
                    <a:pt x="126" y="228"/>
                  </a:lnTo>
                  <a:lnTo>
                    <a:pt x="120" y="264"/>
                  </a:lnTo>
                  <a:lnTo>
                    <a:pt x="109" y="302"/>
                  </a:lnTo>
                  <a:lnTo>
                    <a:pt x="92" y="342"/>
                  </a:lnTo>
                  <a:lnTo>
                    <a:pt x="67" y="386"/>
                  </a:lnTo>
                  <a:lnTo>
                    <a:pt x="39" y="436"/>
                  </a:lnTo>
                  <a:lnTo>
                    <a:pt x="21" y="482"/>
                  </a:lnTo>
                  <a:lnTo>
                    <a:pt x="10" y="525"/>
                  </a:lnTo>
                  <a:lnTo>
                    <a:pt x="6" y="566"/>
                  </a:lnTo>
                  <a:lnTo>
                    <a:pt x="6" y="605"/>
                  </a:lnTo>
                  <a:lnTo>
                    <a:pt x="8" y="641"/>
                  </a:lnTo>
                  <a:lnTo>
                    <a:pt x="12" y="673"/>
                  </a:lnTo>
                  <a:lnTo>
                    <a:pt x="14" y="704"/>
                  </a:lnTo>
                  <a:lnTo>
                    <a:pt x="41" y="688"/>
                  </a:lnTo>
                  <a:lnTo>
                    <a:pt x="39" y="680"/>
                  </a:lnTo>
                  <a:lnTo>
                    <a:pt x="36" y="657"/>
                  </a:lnTo>
                  <a:lnTo>
                    <a:pt x="33" y="622"/>
                  </a:lnTo>
                  <a:lnTo>
                    <a:pt x="35" y="575"/>
                  </a:lnTo>
                  <a:lnTo>
                    <a:pt x="41" y="519"/>
                  </a:lnTo>
                  <a:lnTo>
                    <a:pt x="58" y="455"/>
                  </a:lnTo>
                  <a:lnTo>
                    <a:pt x="86" y="386"/>
                  </a:lnTo>
                  <a:lnTo>
                    <a:pt x="129" y="313"/>
                  </a:lnTo>
                  <a:lnTo>
                    <a:pt x="143" y="279"/>
                  </a:lnTo>
                  <a:lnTo>
                    <a:pt x="149" y="235"/>
                  </a:lnTo>
                  <a:lnTo>
                    <a:pt x="144" y="184"/>
                  </a:lnTo>
                  <a:lnTo>
                    <a:pt x="131" y="134"/>
                  </a:lnTo>
                  <a:lnTo>
                    <a:pt x="109" y="85"/>
                  </a:lnTo>
                  <a:lnTo>
                    <a:pt x="81" y="44"/>
                  </a:lnTo>
                  <a:lnTo>
                    <a:pt x="44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43"/>
            <p:cNvSpPr/>
            <p:nvPr userDrawn="1"/>
          </p:nvSpPr>
          <p:spPr bwMode="ltGray">
            <a:xfrm>
              <a:off x="0" y="1848"/>
              <a:ext cx="36" cy="132"/>
            </a:xfrm>
            <a:custGeom>
              <a:avLst/>
              <a:gdLst>
                <a:gd name="T0" fmla="*/ 0 w 36"/>
                <a:gd name="T1" fmla="*/ 0 h 132"/>
                <a:gd name="T2" fmla="*/ 36 w 36"/>
                <a:gd name="T3" fmla="*/ 12 h 132"/>
                <a:gd name="T4" fmla="*/ 0 w 36"/>
                <a:gd name="T5" fmla="*/ 132 h 132"/>
                <a:gd name="T6" fmla="*/ 0 w 36"/>
                <a:gd name="T7" fmla="*/ 0 h 1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" h="132">
                  <a:moveTo>
                    <a:pt x="0" y="0"/>
                  </a:moveTo>
                  <a:lnTo>
                    <a:pt x="36" y="12"/>
                  </a:lnTo>
                  <a:lnTo>
                    <a:pt x="0" y="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1423" name="Rectangle 47"/>
          <p:cNvSpPr>
            <a:spLocks noGrp="1" noChangeArrowheads="1"/>
          </p:cNvSpPr>
          <p:nvPr>
            <p:ph type="ctrTitle"/>
          </p:nvPr>
        </p:nvSpPr>
        <p:spPr>
          <a:xfrm>
            <a:off x="2455863" y="596900"/>
            <a:ext cx="6192837" cy="3581400"/>
          </a:xfrm>
        </p:spPr>
        <p:txBody>
          <a:bodyPr/>
          <a:lstStyle>
            <a:lvl1pPr>
              <a:defRPr sz="52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1424" name="Rectangle 48"/>
          <p:cNvSpPr>
            <a:spLocks noGrp="1" noChangeArrowheads="1"/>
          </p:cNvSpPr>
          <p:nvPr>
            <p:ph type="subTitle" idx="1"/>
          </p:nvPr>
        </p:nvSpPr>
        <p:spPr>
          <a:xfrm>
            <a:off x="2489200" y="4279900"/>
            <a:ext cx="6146800" cy="1485900"/>
          </a:xfrm>
        </p:spPr>
        <p:txBody>
          <a:bodyPr/>
          <a:lstStyle>
            <a:lvl1pPr marL="0" indent="0" algn="ctr">
              <a:buFontTx/>
              <a:buNone/>
              <a:defRPr b="1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6" name="Rectangle 4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8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0AAB8CF1-0305-475B-8289-644791F81C1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8BD47168-B9C6-4222-A8C5-0BE89ED94D7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B4C78096-6700-4B15-AC76-AFC2D603832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56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2E2012C4-04E8-47F1-8CD0-7EDB81B5467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225C7BEF-8B59-4634-AE54-C217A94456D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BD5A71C2-A26D-4361-BF35-0EFB153FEC2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49C96C27-F0F9-48B4-B6B8-CDFC2006107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69FFB206-4508-4696-8376-C4950E4B4B4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6A6322E8-71AD-4F3C-BD39-54E319E1B6A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0FB5E4B5-156F-4C04-8062-05C298D2309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103188"/>
            <a:ext cx="2060575" cy="59531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2913" y="103188"/>
            <a:ext cx="6030912" cy="59531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FFF92877-7D03-4E26-B714-F752E5ACFD4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>
            <a:lvl1pPr>
              <a:defRPr>
                <a:latin typeface="微软雅黑" charset="0"/>
                <a:ea typeface="微软雅黑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>
            <a:lvl1pPr>
              <a:defRPr>
                <a:latin typeface="微软雅黑" charset="0"/>
                <a:ea typeface="微软雅黑" charset="0"/>
              </a:defRPr>
            </a:lvl1pPr>
            <a:lvl2pPr>
              <a:defRPr>
                <a:latin typeface="微软雅黑" charset="0"/>
                <a:ea typeface="微软雅黑" charset="0"/>
              </a:defRPr>
            </a:lvl2pPr>
            <a:lvl3pPr>
              <a:defRPr>
                <a:latin typeface="微软雅黑" charset="0"/>
                <a:ea typeface="微软雅黑" charset="0"/>
              </a:defRPr>
            </a:lvl3pPr>
            <a:lvl4pPr>
              <a:defRPr>
                <a:latin typeface="微软雅黑" charset="0"/>
                <a:ea typeface="微软雅黑" charset="0"/>
              </a:defRPr>
            </a:lvl4pPr>
            <a:lvl5pPr>
              <a:defRPr>
                <a:latin typeface="微软雅黑" charset="0"/>
                <a:ea typeface="微软雅黑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56113"/>
          </a:xfrm>
        </p:spPr>
        <p:txBody>
          <a:bodyPr/>
          <a:lstStyle>
            <a:lvl1pPr>
              <a:defRPr>
                <a:latin typeface="微软雅黑" charset="0"/>
                <a:ea typeface="微软雅黑" charset="0"/>
              </a:defRPr>
            </a:lvl1pPr>
            <a:lvl2pPr>
              <a:defRPr>
                <a:latin typeface="微软雅黑" charset="0"/>
                <a:ea typeface="微软雅黑" charset="0"/>
              </a:defRPr>
            </a:lvl2pPr>
            <a:lvl3pPr>
              <a:defRPr>
                <a:latin typeface="微软雅黑" charset="0"/>
                <a:ea typeface="微软雅黑" charset="0"/>
              </a:defRPr>
            </a:lvl3pPr>
            <a:lvl4pPr>
              <a:defRPr>
                <a:latin typeface="微软雅黑" charset="0"/>
                <a:ea typeface="微软雅黑" charset="0"/>
              </a:defRPr>
            </a:lvl4pPr>
            <a:lvl5pPr>
              <a:defRPr>
                <a:latin typeface="微软雅黑" charset="0"/>
                <a:ea typeface="微软雅黑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>
                <a:latin typeface="微软雅黑" charset="0"/>
                <a:ea typeface="微软雅黑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微软雅黑" charset="0"/>
                <a:ea typeface="微软雅黑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微软雅黑" charset="0"/>
                <a:ea typeface="微软雅黑" charset="0"/>
              </a:defRPr>
            </a:lvl1pPr>
          </a:lstStyle>
          <a:p>
            <a:pPr>
              <a:defRPr/>
            </a:pPr>
            <a:fld id="{4C012CA1-213D-4FBC-9987-48436323BBA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510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510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03663"/>
            <a:ext cx="4038600" cy="21526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03663"/>
            <a:ext cx="4038600" cy="21526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07A35290-7557-418B-ACE3-1691840A4CC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过程 1"/>
          <p:cNvSpPr/>
          <p:nvPr userDrawn="1"/>
        </p:nvSpPr>
        <p:spPr>
          <a:xfrm rot="5400000">
            <a:off x="4486275" y="2200275"/>
            <a:ext cx="171450" cy="9144000"/>
          </a:xfrm>
          <a:prstGeom prst="flowChartProcess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流程图: 过程 8"/>
          <p:cNvSpPr/>
          <p:nvPr userDrawn="1"/>
        </p:nvSpPr>
        <p:spPr>
          <a:xfrm rot="5400000" flipH="1">
            <a:off x="8183563" y="5849938"/>
            <a:ext cx="328612" cy="1592262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-1" fmla="*/ 0 w 10000"/>
              <a:gd name="connsiteY0-2" fmla="*/ 0 h 10000"/>
              <a:gd name="connsiteX1-3" fmla="*/ 10000 w 10000"/>
              <a:gd name="connsiteY1-4" fmla="*/ 0 h 10000"/>
              <a:gd name="connsiteX2-5" fmla="*/ 9474 w 10000"/>
              <a:gd name="connsiteY2-6" fmla="*/ 9062 h 10000"/>
              <a:gd name="connsiteX3-7" fmla="*/ 0 w 10000"/>
              <a:gd name="connsiteY3-8" fmla="*/ 10000 h 10000"/>
              <a:gd name="connsiteX4-9" fmla="*/ 0 w 10000"/>
              <a:gd name="connsiteY4-10" fmla="*/ 0 h 10000"/>
              <a:gd name="connsiteX0-11" fmla="*/ 0 w 10075"/>
              <a:gd name="connsiteY0-12" fmla="*/ 0 h 10000"/>
              <a:gd name="connsiteX1-13" fmla="*/ 10000 w 10075"/>
              <a:gd name="connsiteY1-14" fmla="*/ 0 h 10000"/>
              <a:gd name="connsiteX2-15" fmla="*/ 10028 w 10075"/>
              <a:gd name="connsiteY2-16" fmla="*/ 8891 h 10000"/>
              <a:gd name="connsiteX3-17" fmla="*/ 0 w 10075"/>
              <a:gd name="connsiteY3-18" fmla="*/ 10000 h 10000"/>
              <a:gd name="connsiteX4-19" fmla="*/ 0 w 10075"/>
              <a:gd name="connsiteY4-20" fmla="*/ 0 h 10000"/>
              <a:gd name="connsiteX0-21" fmla="*/ 0 w 10335"/>
              <a:gd name="connsiteY0-22" fmla="*/ 0 h 10000"/>
              <a:gd name="connsiteX1-23" fmla="*/ 10000 w 10335"/>
              <a:gd name="connsiteY1-24" fmla="*/ 0 h 10000"/>
              <a:gd name="connsiteX2-25" fmla="*/ 10305 w 10335"/>
              <a:gd name="connsiteY2-26" fmla="*/ 8891 h 10000"/>
              <a:gd name="connsiteX3-27" fmla="*/ 0 w 10335"/>
              <a:gd name="connsiteY3-28" fmla="*/ 10000 h 10000"/>
              <a:gd name="connsiteX4-29" fmla="*/ 0 w 10335"/>
              <a:gd name="connsiteY4-30" fmla="*/ 0 h 10000"/>
              <a:gd name="connsiteX0-31" fmla="*/ 0 w 10000"/>
              <a:gd name="connsiteY0-32" fmla="*/ 0 h 10000"/>
              <a:gd name="connsiteX1-33" fmla="*/ 10000 w 10000"/>
              <a:gd name="connsiteY1-34" fmla="*/ 0 h 10000"/>
              <a:gd name="connsiteX2-35" fmla="*/ 9751 w 10000"/>
              <a:gd name="connsiteY2-36" fmla="*/ 9062 h 10000"/>
              <a:gd name="connsiteX3-37" fmla="*/ 0 w 10000"/>
              <a:gd name="connsiteY3-38" fmla="*/ 10000 h 10000"/>
              <a:gd name="connsiteX4-39" fmla="*/ 0 w 10000"/>
              <a:gd name="connsiteY4-40" fmla="*/ 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cubicBezTo>
                  <a:pt x="9825" y="3021"/>
                  <a:pt x="9926" y="6041"/>
                  <a:pt x="9751" y="9062"/>
                </a:cubicBez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biLevel thresh="50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9550" y="6523038"/>
            <a:ext cx="1154113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"/>
          <p:cNvCxnSpPr>
            <a:cxnSpLocks noChangeShapeType="1"/>
          </p:cNvCxnSpPr>
          <p:nvPr userDrawn="1"/>
        </p:nvCxnSpPr>
        <p:spPr bwMode="auto">
          <a:xfrm>
            <a:off x="276225" y="828675"/>
            <a:ext cx="8591550" cy="0"/>
          </a:xfrm>
          <a:prstGeom prst="line">
            <a:avLst/>
          </a:prstGeom>
          <a:noFill/>
          <a:ln w="19050" algn="ctr">
            <a:solidFill>
              <a:srgbClr val="1557AE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E:\WORK\工作\PPT\PPT新校徽\L15副本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2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5" Type="http://schemas.openxmlformats.org/officeDocument/2006/relationships/theme" Target="../theme/theme2.xml"/><Relationship Id="rId14" Type="http://schemas.openxmlformats.org/officeDocument/2006/relationships/image" Target="../media/image2.png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6" Type="http://schemas.openxmlformats.org/officeDocument/2006/relationships/theme" Target="../theme/theme3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28638" y="188913"/>
            <a:ext cx="8001000" cy="636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AutoShape 4"/>
          <p:cNvSpPr>
            <a:spLocks noChangeArrowheads="1"/>
          </p:cNvSpPr>
          <p:nvPr userDrawn="1"/>
        </p:nvSpPr>
        <p:spPr bwMode="auto">
          <a:xfrm>
            <a:off x="485775" y="879475"/>
            <a:ext cx="80899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noFill/>
          <a:ln w="19050">
            <a:solidFill>
              <a:srgbClr val="1557AE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latin typeface="微软雅黑" charset="0"/>
              <a:ea typeface="微软雅黑" charset="0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 b="0">
                <a:latin typeface="微软雅黑" charset="0"/>
                <a:ea typeface="微软雅黑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b="0">
                <a:latin typeface="微软雅黑" charset="0"/>
                <a:ea typeface="微软雅黑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>
                <a:latin typeface="微软雅黑" charset="0"/>
                <a:ea typeface="微软雅黑" charset="0"/>
              </a:defRPr>
            </a:lvl1pPr>
          </a:lstStyle>
          <a:p>
            <a:pPr>
              <a:defRPr/>
            </a:pPr>
            <a:fld id="{41818BBA-4A6E-4D81-B2D7-7E422B57831E}" type="slidenum">
              <a:rPr lang="en-US" altLang="zh-CN"/>
            </a:fld>
            <a:endParaRPr lang="en-US" altLang="zh-CN"/>
          </a:p>
        </p:txBody>
      </p:sp>
      <p:sp>
        <p:nvSpPr>
          <p:cNvPr id="15" name="流程图: 过程 14"/>
          <p:cNvSpPr/>
          <p:nvPr userDrawn="1"/>
        </p:nvSpPr>
        <p:spPr>
          <a:xfrm rot="5400000">
            <a:off x="4486275" y="2200275"/>
            <a:ext cx="171450" cy="9144000"/>
          </a:xfrm>
          <a:prstGeom prst="flowChartProcess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微软雅黑" charset="0"/>
              <a:ea typeface="微软雅黑" charset="0"/>
            </a:endParaRPr>
          </a:p>
        </p:txBody>
      </p:sp>
      <p:sp>
        <p:nvSpPr>
          <p:cNvPr id="16" name="流程图: 过程 8"/>
          <p:cNvSpPr/>
          <p:nvPr userDrawn="1"/>
        </p:nvSpPr>
        <p:spPr>
          <a:xfrm rot="5400000" flipH="1">
            <a:off x="8183563" y="5849938"/>
            <a:ext cx="328612" cy="1592262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-1" fmla="*/ 0 w 10000"/>
              <a:gd name="connsiteY0-2" fmla="*/ 0 h 10000"/>
              <a:gd name="connsiteX1-3" fmla="*/ 10000 w 10000"/>
              <a:gd name="connsiteY1-4" fmla="*/ 0 h 10000"/>
              <a:gd name="connsiteX2-5" fmla="*/ 9474 w 10000"/>
              <a:gd name="connsiteY2-6" fmla="*/ 9062 h 10000"/>
              <a:gd name="connsiteX3-7" fmla="*/ 0 w 10000"/>
              <a:gd name="connsiteY3-8" fmla="*/ 10000 h 10000"/>
              <a:gd name="connsiteX4-9" fmla="*/ 0 w 10000"/>
              <a:gd name="connsiteY4-10" fmla="*/ 0 h 10000"/>
              <a:gd name="connsiteX0-11" fmla="*/ 0 w 10075"/>
              <a:gd name="connsiteY0-12" fmla="*/ 0 h 10000"/>
              <a:gd name="connsiteX1-13" fmla="*/ 10000 w 10075"/>
              <a:gd name="connsiteY1-14" fmla="*/ 0 h 10000"/>
              <a:gd name="connsiteX2-15" fmla="*/ 10028 w 10075"/>
              <a:gd name="connsiteY2-16" fmla="*/ 8891 h 10000"/>
              <a:gd name="connsiteX3-17" fmla="*/ 0 w 10075"/>
              <a:gd name="connsiteY3-18" fmla="*/ 10000 h 10000"/>
              <a:gd name="connsiteX4-19" fmla="*/ 0 w 10075"/>
              <a:gd name="connsiteY4-20" fmla="*/ 0 h 10000"/>
              <a:gd name="connsiteX0-21" fmla="*/ 0 w 10335"/>
              <a:gd name="connsiteY0-22" fmla="*/ 0 h 10000"/>
              <a:gd name="connsiteX1-23" fmla="*/ 10000 w 10335"/>
              <a:gd name="connsiteY1-24" fmla="*/ 0 h 10000"/>
              <a:gd name="connsiteX2-25" fmla="*/ 10305 w 10335"/>
              <a:gd name="connsiteY2-26" fmla="*/ 8891 h 10000"/>
              <a:gd name="connsiteX3-27" fmla="*/ 0 w 10335"/>
              <a:gd name="connsiteY3-28" fmla="*/ 10000 h 10000"/>
              <a:gd name="connsiteX4-29" fmla="*/ 0 w 10335"/>
              <a:gd name="connsiteY4-30" fmla="*/ 0 h 10000"/>
              <a:gd name="connsiteX0-31" fmla="*/ 0 w 10000"/>
              <a:gd name="connsiteY0-32" fmla="*/ 0 h 10000"/>
              <a:gd name="connsiteX1-33" fmla="*/ 10000 w 10000"/>
              <a:gd name="connsiteY1-34" fmla="*/ 0 h 10000"/>
              <a:gd name="connsiteX2-35" fmla="*/ 9751 w 10000"/>
              <a:gd name="connsiteY2-36" fmla="*/ 9062 h 10000"/>
              <a:gd name="connsiteX3-37" fmla="*/ 0 w 10000"/>
              <a:gd name="connsiteY3-38" fmla="*/ 10000 h 10000"/>
              <a:gd name="connsiteX4-39" fmla="*/ 0 w 10000"/>
              <a:gd name="connsiteY4-40" fmla="*/ 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cubicBezTo>
                  <a:pt x="9825" y="3021"/>
                  <a:pt x="9926" y="6041"/>
                  <a:pt x="9751" y="9062"/>
                </a:cubicBez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微软雅黑" charset="0"/>
              <a:ea typeface="微软雅黑" charset="0"/>
            </a:endParaRPr>
          </a:p>
        </p:txBody>
      </p:sp>
      <p:pic>
        <p:nvPicPr>
          <p:cNvPr id="1034" name="图片 16"/>
          <p:cNvPicPr>
            <a:picLocks noChangeAspect="1"/>
          </p:cNvPicPr>
          <p:nvPr userDrawn="1"/>
        </p:nvPicPr>
        <p:blipFill>
          <a:blip r:embed="rId14">
            <a:biLevel thresh="50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9550" y="6523038"/>
            <a:ext cx="1154113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>
    <p:blinds dir="vert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微软雅黑" charset="0"/>
          <a:ea typeface="微软雅黑" charset="0"/>
          <a:cs typeface="黑体" pitchFamily="49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804030504040204" pitchFamily="34" charset="0"/>
          <a:ea typeface="黑体" pitchFamily="49" charset="-122"/>
          <a:cs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804030504040204" pitchFamily="34" charset="0"/>
          <a:ea typeface="黑体" pitchFamily="49" charset="-122"/>
          <a:cs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804030504040204" pitchFamily="34" charset="0"/>
          <a:ea typeface="黑体" pitchFamily="49" charset="-122"/>
          <a:cs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804030504040204" pitchFamily="34" charset="0"/>
          <a:ea typeface="黑体" pitchFamily="49" charset="-122"/>
          <a:cs typeface="黑体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804030504040204" pitchFamily="34" charset="0"/>
          <a:ea typeface="黑体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804030504040204" pitchFamily="34" charset="0"/>
          <a:ea typeface="黑体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804030504040204" pitchFamily="34" charset="0"/>
          <a:ea typeface="黑体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804030504040204" pitchFamily="34" charset="0"/>
          <a:ea typeface="黑体" pitchFamily="49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 b="1">
          <a:solidFill>
            <a:schemeClr val="tx1"/>
          </a:solidFill>
          <a:latin typeface="微软雅黑" charset="0"/>
          <a:ea typeface="微软雅黑" charset="0"/>
          <a:cs typeface="黑体" pitchFamily="49" charset="-122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 b="1">
          <a:solidFill>
            <a:schemeClr val="tx1"/>
          </a:solidFill>
          <a:latin typeface="微软雅黑" charset="0"/>
          <a:ea typeface="微软雅黑" charset="0"/>
          <a:cs typeface="黑体" pitchFamily="49" charset="-122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 b="1">
          <a:solidFill>
            <a:schemeClr val="tx1"/>
          </a:solidFill>
          <a:latin typeface="微软雅黑" charset="0"/>
          <a:ea typeface="微软雅黑" charset="0"/>
          <a:cs typeface="黑体" pitchFamily="49" charset="-122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微软雅黑" charset="0"/>
          <a:ea typeface="微软雅黑" charset="0"/>
          <a:cs typeface="黑体" pitchFamily="49" charset="-122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微软雅黑" charset="0"/>
          <a:ea typeface="微软雅黑" charset="0"/>
          <a:cs typeface="黑体" pitchFamily="49" charset="-122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 bwMode="auto">
          <a:xfrm>
            <a:off x="-7938" y="0"/>
            <a:ext cx="2833688" cy="6856413"/>
            <a:chOff x="-5" y="0"/>
            <a:chExt cx="1785" cy="4319"/>
          </a:xfrm>
        </p:grpSpPr>
        <p:sp>
          <p:nvSpPr>
            <p:cNvPr id="2056" name="Freeform 3"/>
            <p:cNvSpPr/>
            <p:nvPr/>
          </p:nvSpPr>
          <p:spPr bwMode="ltGray">
            <a:xfrm>
              <a:off x="-5" y="3262"/>
              <a:ext cx="472" cy="802"/>
            </a:xfrm>
            <a:custGeom>
              <a:avLst/>
              <a:gdLst>
                <a:gd name="T0" fmla="*/ 5 w 472"/>
                <a:gd name="T1" fmla="*/ 32 h 802"/>
                <a:gd name="T2" fmla="*/ 189 w 472"/>
                <a:gd name="T3" fmla="*/ 26 h 802"/>
                <a:gd name="T4" fmla="*/ 309 w 472"/>
                <a:gd name="T5" fmla="*/ 66 h 802"/>
                <a:gd name="T6" fmla="*/ 357 w 472"/>
                <a:gd name="T7" fmla="*/ 98 h 802"/>
                <a:gd name="T8" fmla="*/ 413 w 472"/>
                <a:gd name="T9" fmla="*/ 162 h 802"/>
                <a:gd name="T10" fmla="*/ 437 w 472"/>
                <a:gd name="T11" fmla="*/ 250 h 802"/>
                <a:gd name="T12" fmla="*/ 397 w 472"/>
                <a:gd name="T13" fmla="*/ 530 h 802"/>
                <a:gd name="T14" fmla="*/ 341 w 472"/>
                <a:gd name="T15" fmla="*/ 634 h 802"/>
                <a:gd name="T16" fmla="*/ 173 w 472"/>
                <a:gd name="T17" fmla="*/ 714 h 802"/>
                <a:gd name="T18" fmla="*/ 77 w 472"/>
                <a:gd name="T19" fmla="*/ 730 h 802"/>
                <a:gd name="T20" fmla="*/ 69 w 472"/>
                <a:gd name="T21" fmla="*/ 802 h 802"/>
                <a:gd name="T22" fmla="*/ 7 w 472"/>
                <a:gd name="T23" fmla="*/ 788 h 802"/>
                <a:gd name="T24" fmla="*/ 5 w 472"/>
                <a:gd name="T25" fmla="*/ 751 h 802"/>
                <a:gd name="T26" fmla="*/ 37 w 472"/>
                <a:gd name="T27" fmla="*/ 722 h 802"/>
                <a:gd name="T28" fmla="*/ 5 w 472"/>
                <a:gd name="T29" fmla="*/ 670 h 802"/>
                <a:gd name="T30" fmla="*/ 5 w 472"/>
                <a:gd name="T31" fmla="*/ 32 h 80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72" h="802">
                  <a:moveTo>
                    <a:pt x="5" y="32"/>
                  </a:moveTo>
                  <a:cubicBezTo>
                    <a:pt x="101" y="0"/>
                    <a:pt x="20" y="17"/>
                    <a:pt x="189" y="26"/>
                  </a:cubicBezTo>
                  <a:cubicBezTo>
                    <a:pt x="221" y="37"/>
                    <a:pt x="280" y="47"/>
                    <a:pt x="309" y="66"/>
                  </a:cubicBezTo>
                  <a:cubicBezTo>
                    <a:pt x="325" y="77"/>
                    <a:pt x="357" y="98"/>
                    <a:pt x="357" y="98"/>
                  </a:cubicBezTo>
                  <a:cubicBezTo>
                    <a:pt x="394" y="154"/>
                    <a:pt x="373" y="135"/>
                    <a:pt x="413" y="162"/>
                  </a:cubicBezTo>
                  <a:cubicBezTo>
                    <a:pt x="433" y="223"/>
                    <a:pt x="426" y="193"/>
                    <a:pt x="437" y="250"/>
                  </a:cubicBezTo>
                  <a:cubicBezTo>
                    <a:pt x="433" y="370"/>
                    <a:pt x="472" y="455"/>
                    <a:pt x="397" y="530"/>
                  </a:cubicBezTo>
                  <a:cubicBezTo>
                    <a:pt x="385" y="567"/>
                    <a:pt x="368" y="607"/>
                    <a:pt x="341" y="634"/>
                  </a:cubicBezTo>
                  <a:cubicBezTo>
                    <a:pt x="319" y="701"/>
                    <a:pt x="233" y="707"/>
                    <a:pt x="173" y="714"/>
                  </a:cubicBezTo>
                  <a:cubicBezTo>
                    <a:pt x="142" y="724"/>
                    <a:pt x="100" y="707"/>
                    <a:pt x="77" y="730"/>
                  </a:cubicBezTo>
                  <a:cubicBezTo>
                    <a:pt x="60" y="747"/>
                    <a:pt x="72" y="778"/>
                    <a:pt x="69" y="802"/>
                  </a:cubicBezTo>
                  <a:cubicBezTo>
                    <a:pt x="53" y="799"/>
                    <a:pt x="23" y="792"/>
                    <a:pt x="7" y="788"/>
                  </a:cubicBezTo>
                  <a:cubicBezTo>
                    <a:pt x="5" y="788"/>
                    <a:pt x="0" y="762"/>
                    <a:pt x="5" y="751"/>
                  </a:cubicBezTo>
                  <a:cubicBezTo>
                    <a:pt x="10" y="740"/>
                    <a:pt x="37" y="735"/>
                    <a:pt x="37" y="722"/>
                  </a:cubicBezTo>
                  <a:cubicBezTo>
                    <a:pt x="26" y="682"/>
                    <a:pt x="22" y="685"/>
                    <a:pt x="5" y="670"/>
                  </a:cubicBezTo>
                  <a:cubicBezTo>
                    <a:pt x="5" y="541"/>
                    <a:pt x="5" y="233"/>
                    <a:pt x="5" y="32"/>
                  </a:cubicBezTo>
                  <a:close/>
                </a:path>
              </a:pathLst>
            </a:custGeom>
            <a:solidFill>
              <a:schemeClr val="folHlink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微软雅黑" charset="0"/>
                <a:ea typeface="微软雅黑" charset="0"/>
              </a:endParaRPr>
            </a:p>
          </p:txBody>
        </p:sp>
        <p:grpSp>
          <p:nvGrpSpPr>
            <p:cNvPr id="2057" name="Group 4"/>
            <p:cNvGrpSpPr/>
            <p:nvPr/>
          </p:nvGrpSpPr>
          <p:grpSpPr bwMode="auto">
            <a:xfrm rot="14964908" flipH="1">
              <a:off x="104" y="2441"/>
              <a:ext cx="452" cy="444"/>
              <a:chOff x="1727" y="866"/>
              <a:chExt cx="129" cy="157"/>
            </a:xfrm>
          </p:grpSpPr>
          <p:sp>
            <p:nvSpPr>
              <p:cNvPr id="2095" name="Freeform 5"/>
              <p:cNvSpPr/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0 w 83"/>
                  <a:gd name="T1" fmla="*/ 1 h 117"/>
                  <a:gd name="T2" fmla="*/ 0 w 83"/>
                  <a:gd name="T3" fmla="*/ 0 h 117"/>
                  <a:gd name="T4" fmla="*/ 0 w 83"/>
                  <a:gd name="T5" fmla="*/ 1 h 117"/>
                  <a:gd name="T6" fmla="*/ 0 w 83"/>
                  <a:gd name="T7" fmla="*/ 1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charset="0"/>
                  <a:ea typeface="微软雅黑" charset="0"/>
                </a:endParaRPr>
              </a:p>
            </p:txBody>
          </p:sp>
          <p:sp>
            <p:nvSpPr>
              <p:cNvPr id="2096" name="Freeform 6"/>
              <p:cNvSpPr/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1 h 98"/>
                  <a:gd name="T2" fmla="*/ 1 w 140"/>
                  <a:gd name="T3" fmla="*/ 0 h 98"/>
                  <a:gd name="T4" fmla="*/ 1 w 140"/>
                  <a:gd name="T5" fmla="*/ 1 h 98"/>
                  <a:gd name="T6" fmla="*/ 0 w 140"/>
                  <a:gd name="T7" fmla="*/ 1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charset="0"/>
                  <a:ea typeface="微软雅黑" charset="0"/>
                </a:endParaRPr>
              </a:p>
            </p:txBody>
          </p:sp>
          <p:sp>
            <p:nvSpPr>
              <p:cNvPr id="2097" name="Freeform 7"/>
              <p:cNvSpPr/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1 h 49"/>
                  <a:gd name="T2" fmla="*/ 1 w 145"/>
                  <a:gd name="T3" fmla="*/ 0 h 49"/>
                  <a:gd name="T4" fmla="*/ 1 w 145"/>
                  <a:gd name="T5" fmla="*/ 1 h 49"/>
                  <a:gd name="T6" fmla="*/ 0 w 145"/>
                  <a:gd name="T7" fmla="*/ 1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charset="0"/>
                  <a:ea typeface="微软雅黑" charset="0"/>
                </a:endParaRPr>
              </a:p>
            </p:txBody>
          </p:sp>
        </p:grpSp>
        <p:sp>
          <p:nvSpPr>
            <p:cNvPr id="2058" name="Freeform 8"/>
            <p:cNvSpPr/>
            <p:nvPr/>
          </p:nvSpPr>
          <p:spPr bwMode="ltGray">
            <a:xfrm>
              <a:off x="90" y="1736"/>
              <a:ext cx="710" cy="768"/>
            </a:xfrm>
            <a:custGeom>
              <a:avLst/>
              <a:gdLst>
                <a:gd name="T0" fmla="*/ 14 w 710"/>
                <a:gd name="T1" fmla="*/ 416 h 768"/>
                <a:gd name="T2" fmla="*/ 14 w 710"/>
                <a:gd name="T3" fmla="*/ 272 h 768"/>
                <a:gd name="T4" fmla="*/ 102 w 710"/>
                <a:gd name="T5" fmla="*/ 144 h 768"/>
                <a:gd name="T6" fmla="*/ 150 w 710"/>
                <a:gd name="T7" fmla="*/ 96 h 768"/>
                <a:gd name="T8" fmla="*/ 198 w 710"/>
                <a:gd name="T9" fmla="*/ 64 h 768"/>
                <a:gd name="T10" fmla="*/ 350 w 710"/>
                <a:gd name="T11" fmla="*/ 0 h 768"/>
                <a:gd name="T12" fmla="*/ 534 w 710"/>
                <a:gd name="T13" fmla="*/ 8 h 768"/>
                <a:gd name="T14" fmla="*/ 662 w 710"/>
                <a:gd name="T15" fmla="*/ 96 h 768"/>
                <a:gd name="T16" fmla="*/ 710 w 710"/>
                <a:gd name="T17" fmla="*/ 200 h 768"/>
                <a:gd name="T18" fmla="*/ 702 w 710"/>
                <a:gd name="T19" fmla="*/ 400 h 768"/>
                <a:gd name="T20" fmla="*/ 678 w 710"/>
                <a:gd name="T21" fmla="*/ 448 h 768"/>
                <a:gd name="T22" fmla="*/ 550 w 710"/>
                <a:gd name="T23" fmla="*/ 632 h 768"/>
                <a:gd name="T24" fmla="*/ 518 w 710"/>
                <a:gd name="T25" fmla="*/ 656 h 768"/>
                <a:gd name="T26" fmla="*/ 470 w 710"/>
                <a:gd name="T27" fmla="*/ 664 h 768"/>
                <a:gd name="T28" fmla="*/ 518 w 710"/>
                <a:gd name="T29" fmla="*/ 680 h 768"/>
                <a:gd name="T30" fmla="*/ 566 w 710"/>
                <a:gd name="T31" fmla="*/ 696 h 768"/>
                <a:gd name="T32" fmla="*/ 574 w 710"/>
                <a:gd name="T33" fmla="*/ 720 h 768"/>
                <a:gd name="T34" fmla="*/ 526 w 710"/>
                <a:gd name="T35" fmla="*/ 736 h 768"/>
                <a:gd name="T36" fmla="*/ 502 w 710"/>
                <a:gd name="T37" fmla="*/ 752 h 768"/>
                <a:gd name="T38" fmla="*/ 454 w 710"/>
                <a:gd name="T39" fmla="*/ 768 h 768"/>
                <a:gd name="T40" fmla="*/ 438 w 710"/>
                <a:gd name="T41" fmla="*/ 712 h 768"/>
                <a:gd name="T42" fmla="*/ 246 w 710"/>
                <a:gd name="T43" fmla="*/ 688 h 768"/>
                <a:gd name="T44" fmla="*/ 134 w 710"/>
                <a:gd name="T45" fmla="*/ 648 h 768"/>
                <a:gd name="T46" fmla="*/ 110 w 710"/>
                <a:gd name="T47" fmla="*/ 624 h 768"/>
                <a:gd name="T48" fmla="*/ 78 w 710"/>
                <a:gd name="T49" fmla="*/ 576 h 768"/>
                <a:gd name="T50" fmla="*/ 54 w 710"/>
                <a:gd name="T51" fmla="*/ 464 h 768"/>
                <a:gd name="T52" fmla="*/ 30 w 710"/>
                <a:gd name="T53" fmla="*/ 408 h 768"/>
                <a:gd name="T54" fmla="*/ 22 w 710"/>
                <a:gd name="T55" fmla="*/ 384 h 768"/>
                <a:gd name="T56" fmla="*/ 14 w 710"/>
                <a:gd name="T57" fmla="*/ 416 h 768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710" h="768">
                  <a:moveTo>
                    <a:pt x="14" y="416"/>
                  </a:moveTo>
                  <a:cubicBezTo>
                    <a:pt x="6" y="353"/>
                    <a:pt x="0" y="339"/>
                    <a:pt x="14" y="272"/>
                  </a:cubicBezTo>
                  <a:cubicBezTo>
                    <a:pt x="24" y="227"/>
                    <a:pt x="72" y="178"/>
                    <a:pt x="102" y="144"/>
                  </a:cubicBezTo>
                  <a:cubicBezTo>
                    <a:pt x="117" y="127"/>
                    <a:pt x="134" y="112"/>
                    <a:pt x="150" y="96"/>
                  </a:cubicBezTo>
                  <a:cubicBezTo>
                    <a:pt x="164" y="82"/>
                    <a:pt x="198" y="64"/>
                    <a:pt x="198" y="64"/>
                  </a:cubicBezTo>
                  <a:cubicBezTo>
                    <a:pt x="231" y="14"/>
                    <a:pt x="294" y="7"/>
                    <a:pt x="350" y="0"/>
                  </a:cubicBezTo>
                  <a:cubicBezTo>
                    <a:pt x="411" y="3"/>
                    <a:pt x="473" y="1"/>
                    <a:pt x="534" y="8"/>
                  </a:cubicBezTo>
                  <a:cubicBezTo>
                    <a:pt x="582" y="13"/>
                    <a:pt x="624" y="71"/>
                    <a:pt x="662" y="96"/>
                  </a:cubicBezTo>
                  <a:cubicBezTo>
                    <a:pt x="691" y="140"/>
                    <a:pt x="698" y="151"/>
                    <a:pt x="710" y="200"/>
                  </a:cubicBezTo>
                  <a:cubicBezTo>
                    <a:pt x="707" y="267"/>
                    <a:pt x="707" y="333"/>
                    <a:pt x="702" y="400"/>
                  </a:cubicBezTo>
                  <a:cubicBezTo>
                    <a:pt x="700" y="423"/>
                    <a:pt x="688" y="428"/>
                    <a:pt x="678" y="448"/>
                  </a:cubicBezTo>
                  <a:cubicBezTo>
                    <a:pt x="646" y="512"/>
                    <a:pt x="626" y="607"/>
                    <a:pt x="550" y="632"/>
                  </a:cubicBezTo>
                  <a:cubicBezTo>
                    <a:pt x="539" y="640"/>
                    <a:pt x="530" y="651"/>
                    <a:pt x="518" y="656"/>
                  </a:cubicBezTo>
                  <a:cubicBezTo>
                    <a:pt x="503" y="662"/>
                    <a:pt x="470" y="648"/>
                    <a:pt x="470" y="664"/>
                  </a:cubicBezTo>
                  <a:cubicBezTo>
                    <a:pt x="470" y="681"/>
                    <a:pt x="502" y="675"/>
                    <a:pt x="518" y="680"/>
                  </a:cubicBezTo>
                  <a:cubicBezTo>
                    <a:pt x="534" y="685"/>
                    <a:pt x="566" y="696"/>
                    <a:pt x="566" y="696"/>
                  </a:cubicBezTo>
                  <a:cubicBezTo>
                    <a:pt x="569" y="704"/>
                    <a:pt x="580" y="714"/>
                    <a:pt x="574" y="720"/>
                  </a:cubicBezTo>
                  <a:cubicBezTo>
                    <a:pt x="562" y="732"/>
                    <a:pt x="542" y="731"/>
                    <a:pt x="526" y="736"/>
                  </a:cubicBezTo>
                  <a:cubicBezTo>
                    <a:pt x="517" y="739"/>
                    <a:pt x="511" y="748"/>
                    <a:pt x="502" y="752"/>
                  </a:cubicBezTo>
                  <a:cubicBezTo>
                    <a:pt x="487" y="759"/>
                    <a:pt x="454" y="768"/>
                    <a:pt x="454" y="768"/>
                  </a:cubicBezTo>
                  <a:cubicBezTo>
                    <a:pt x="448" y="750"/>
                    <a:pt x="453" y="725"/>
                    <a:pt x="438" y="712"/>
                  </a:cubicBezTo>
                  <a:cubicBezTo>
                    <a:pt x="407" y="685"/>
                    <a:pt x="256" y="689"/>
                    <a:pt x="246" y="688"/>
                  </a:cubicBezTo>
                  <a:cubicBezTo>
                    <a:pt x="207" y="680"/>
                    <a:pt x="166" y="674"/>
                    <a:pt x="134" y="648"/>
                  </a:cubicBezTo>
                  <a:cubicBezTo>
                    <a:pt x="125" y="641"/>
                    <a:pt x="117" y="633"/>
                    <a:pt x="110" y="624"/>
                  </a:cubicBezTo>
                  <a:cubicBezTo>
                    <a:pt x="98" y="609"/>
                    <a:pt x="78" y="576"/>
                    <a:pt x="78" y="576"/>
                  </a:cubicBezTo>
                  <a:cubicBezTo>
                    <a:pt x="66" y="506"/>
                    <a:pt x="74" y="544"/>
                    <a:pt x="54" y="464"/>
                  </a:cubicBezTo>
                  <a:cubicBezTo>
                    <a:pt x="37" y="397"/>
                    <a:pt x="58" y="463"/>
                    <a:pt x="30" y="408"/>
                  </a:cubicBezTo>
                  <a:cubicBezTo>
                    <a:pt x="26" y="400"/>
                    <a:pt x="30" y="380"/>
                    <a:pt x="22" y="384"/>
                  </a:cubicBezTo>
                  <a:cubicBezTo>
                    <a:pt x="12" y="389"/>
                    <a:pt x="17" y="405"/>
                    <a:pt x="14" y="416"/>
                  </a:cubicBezTo>
                  <a:close/>
                </a:path>
              </a:pathLst>
            </a:custGeom>
            <a:solidFill>
              <a:schemeClr val="accent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微软雅黑" charset="0"/>
                <a:ea typeface="微软雅黑" charset="0"/>
              </a:endParaRPr>
            </a:p>
          </p:txBody>
        </p:sp>
        <p:grpSp>
          <p:nvGrpSpPr>
            <p:cNvPr id="2059" name="Group 9"/>
            <p:cNvGrpSpPr/>
            <p:nvPr/>
          </p:nvGrpSpPr>
          <p:grpSpPr bwMode="auto">
            <a:xfrm rot="416244">
              <a:off x="9" y="1746"/>
              <a:ext cx="1771" cy="1741"/>
              <a:chOff x="41" y="2787"/>
              <a:chExt cx="902" cy="833"/>
            </a:xfrm>
          </p:grpSpPr>
          <p:sp>
            <p:nvSpPr>
              <p:cNvPr id="2086" name="Freeform 10"/>
              <p:cNvSpPr/>
              <p:nvPr userDrawn="1"/>
            </p:nvSpPr>
            <p:spPr bwMode="ltGray">
              <a:xfrm rot="373331" flipH="1">
                <a:off x="125" y="2787"/>
                <a:ext cx="313" cy="303"/>
              </a:xfrm>
              <a:custGeom>
                <a:avLst/>
                <a:gdLst>
                  <a:gd name="T0" fmla="*/ 301757 w 217"/>
                  <a:gd name="T1" fmla="*/ 1391177 h 210"/>
                  <a:gd name="T2" fmla="*/ 241098 w 217"/>
                  <a:gd name="T3" fmla="*/ 1315348 h 210"/>
                  <a:gd name="T4" fmla="*/ 173204 w 217"/>
                  <a:gd name="T5" fmla="*/ 1200981 h 210"/>
                  <a:gd name="T6" fmla="*/ 100555 w 217"/>
                  <a:gd name="T7" fmla="*/ 1050251 h 210"/>
                  <a:gd name="T8" fmla="*/ 30918 w 217"/>
                  <a:gd name="T9" fmla="*/ 893274 h 210"/>
                  <a:gd name="T10" fmla="*/ 0 w 217"/>
                  <a:gd name="T11" fmla="*/ 722832 h 210"/>
                  <a:gd name="T12" fmla="*/ 1 w 217"/>
                  <a:gd name="T13" fmla="*/ 541129 h 210"/>
                  <a:gd name="T14" fmla="*/ 59457 w 217"/>
                  <a:gd name="T15" fmla="*/ 375040 h 210"/>
                  <a:gd name="T16" fmla="*/ 178426 w 217"/>
                  <a:gd name="T17" fmla="*/ 235316 h 210"/>
                  <a:gd name="T18" fmla="*/ 297550 w 217"/>
                  <a:gd name="T19" fmla="*/ 145781 h 210"/>
                  <a:gd name="T20" fmla="*/ 395028 w 217"/>
                  <a:gd name="T21" fmla="*/ 79555 h 210"/>
                  <a:gd name="T22" fmla="*/ 473775 w 217"/>
                  <a:gd name="T23" fmla="*/ 44822 h 210"/>
                  <a:gd name="T24" fmla="*/ 535442 w 217"/>
                  <a:gd name="T25" fmla="*/ 31065 h 210"/>
                  <a:gd name="T26" fmla="*/ 579275 w 217"/>
                  <a:gd name="T27" fmla="*/ 31065 h 210"/>
                  <a:gd name="T28" fmla="*/ 683371 w 217"/>
                  <a:gd name="T29" fmla="*/ 0 h 210"/>
                  <a:gd name="T30" fmla="*/ 971405 w 217"/>
                  <a:gd name="T31" fmla="*/ 55137 h 210"/>
                  <a:gd name="T32" fmla="*/ 1051625 w 217"/>
                  <a:gd name="T33" fmla="*/ 79555 h 210"/>
                  <a:gd name="T34" fmla="*/ 1130598 w 217"/>
                  <a:gd name="T35" fmla="*/ 101036 h 210"/>
                  <a:gd name="T36" fmla="*/ 1198333 w 217"/>
                  <a:gd name="T37" fmla="*/ 124319 h 210"/>
                  <a:gd name="T38" fmla="*/ 1249835 w 217"/>
                  <a:gd name="T39" fmla="*/ 152770 h 210"/>
                  <a:gd name="T40" fmla="*/ 1306158 w 217"/>
                  <a:gd name="T41" fmla="*/ 179375 h 210"/>
                  <a:gd name="T42" fmla="*/ 1350465 w 217"/>
                  <a:gd name="T43" fmla="*/ 210341 h 210"/>
                  <a:gd name="T44" fmla="*/ 1385280 w 217"/>
                  <a:gd name="T45" fmla="*/ 250808 h 210"/>
                  <a:gd name="T46" fmla="*/ 1426011 w 217"/>
                  <a:gd name="T47" fmla="*/ 299782 h 210"/>
                  <a:gd name="T48" fmla="*/ 1350465 w 217"/>
                  <a:gd name="T49" fmla="*/ 268239 h 210"/>
                  <a:gd name="T50" fmla="*/ 1278122 w 217"/>
                  <a:gd name="T51" fmla="*/ 238967 h 210"/>
                  <a:gd name="T52" fmla="*/ 1205186 w 217"/>
                  <a:gd name="T53" fmla="*/ 220425 h 210"/>
                  <a:gd name="T54" fmla="*/ 1130598 w 217"/>
                  <a:gd name="T55" fmla="*/ 196014 h 210"/>
                  <a:gd name="T56" fmla="*/ 1071268 w 217"/>
                  <a:gd name="T57" fmla="*/ 179375 h 210"/>
                  <a:gd name="T58" fmla="*/ 1009284 w 217"/>
                  <a:gd name="T59" fmla="*/ 173827 h 210"/>
                  <a:gd name="T60" fmla="*/ 937830 w 217"/>
                  <a:gd name="T61" fmla="*/ 163090 h 210"/>
                  <a:gd name="T62" fmla="*/ 878617 w 217"/>
                  <a:gd name="T63" fmla="*/ 163090 h 210"/>
                  <a:gd name="T64" fmla="*/ 821859 w 217"/>
                  <a:gd name="T65" fmla="*/ 163090 h 210"/>
                  <a:gd name="T66" fmla="*/ 762439 w 217"/>
                  <a:gd name="T67" fmla="*/ 165621 h 210"/>
                  <a:gd name="T68" fmla="*/ 701533 w 217"/>
                  <a:gd name="T69" fmla="*/ 179375 h 210"/>
                  <a:gd name="T70" fmla="*/ 650189 w 217"/>
                  <a:gd name="T71" fmla="*/ 194261 h 210"/>
                  <a:gd name="T72" fmla="*/ 597816 w 217"/>
                  <a:gd name="T73" fmla="*/ 220425 h 210"/>
                  <a:gd name="T74" fmla="*/ 536224 w 217"/>
                  <a:gd name="T75" fmla="*/ 238967 h 210"/>
                  <a:gd name="T76" fmla="*/ 486366 w 217"/>
                  <a:gd name="T77" fmla="*/ 270217 h 210"/>
                  <a:gd name="T78" fmla="*/ 435253 w 217"/>
                  <a:gd name="T79" fmla="*/ 303492 h 210"/>
                  <a:gd name="T80" fmla="*/ 342145 w 217"/>
                  <a:gd name="T81" fmla="*/ 404420 h 210"/>
                  <a:gd name="T82" fmla="*/ 278430 w 217"/>
                  <a:gd name="T83" fmla="*/ 528905 h 210"/>
                  <a:gd name="T84" fmla="*/ 241098 w 217"/>
                  <a:gd name="T85" fmla="*/ 683649 h 210"/>
                  <a:gd name="T86" fmla="*/ 227721 w 217"/>
                  <a:gd name="T87" fmla="*/ 835841 h 210"/>
                  <a:gd name="T88" fmla="*/ 227721 w 217"/>
                  <a:gd name="T89" fmla="*/ 1004953 h 210"/>
                  <a:gd name="T90" fmla="*/ 249829 w 217"/>
                  <a:gd name="T91" fmla="*/ 1151114 h 210"/>
                  <a:gd name="T92" fmla="*/ 268920 w 217"/>
                  <a:gd name="T93" fmla="*/ 1285395 h 210"/>
                  <a:gd name="T94" fmla="*/ 301757 w 217"/>
                  <a:gd name="T95" fmla="*/ 1391177 h 21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17" h="210">
                    <a:moveTo>
                      <a:pt x="46" y="210"/>
                    </a:moveTo>
                    <a:lnTo>
                      <a:pt x="37" y="198"/>
                    </a:lnTo>
                    <a:lnTo>
                      <a:pt x="26" y="181"/>
                    </a:lnTo>
                    <a:lnTo>
                      <a:pt x="15" y="159"/>
                    </a:lnTo>
                    <a:lnTo>
                      <a:pt x="5" y="135"/>
                    </a:lnTo>
                    <a:lnTo>
                      <a:pt x="0" y="109"/>
                    </a:lnTo>
                    <a:lnTo>
                      <a:pt x="1" y="82"/>
                    </a:lnTo>
                    <a:lnTo>
                      <a:pt x="9" y="57"/>
                    </a:lnTo>
                    <a:lnTo>
                      <a:pt x="27" y="35"/>
                    </a:lnTo>
                    <a:lnTo>
                      <a:pt x="45" y="22"/>
                    </a:lnTo>
                    <a:lnTo>
                      <a:pt x="60" y="12"/>
                    </a:lnTo>
                    <a:lnTo>
                      <a:pt x="72" y="7"/>
                    </a:lnTo>
                    <a:lnTo>
                      <a:pt x="81" y="5"/>
                    </a:lnTo>
                    <a:lnTo>
                      <a:pt x="88" y="5"/>
                    </a:lnTo>
                    <a:lnTo>
                      <a:pt x="104" y="0"/>
                    </a:lnTo>
                    <a:lnTo>
                      <a:pt x="148" y="8"/>
                    </a:lnTo>
                    <a:lnTo>
                      <a:pt x="160" y="12"/>
                    </a:lnTo>
                    <a:lnTo>
                      <a:pt x="172" y="15"/>
                    </a:lnTo>
                    <a:lnTo>
                      <a:pt x="182" y="19"/>
                    </a:lnTo>
                    <a:lnTo>
                      <a:pt x="190" y="23"/>
                    </a:lnTo>
                    <a:lnTo>
                      <a:pt x="198" y="27"/>
                    </a:lnTo>
                    <a:lnTo>
                      <a:pt x="205" y="32"/>
                    </a:lnTo>
                    <a:lnTo>
                      <a:pt x="211" y="38"/>
                    </a:lnTo>
                    <a:lnTo>
                      <a:pt x="217" y="45"/>
                    </a:lnTo>
                    <a:lnTo>
                      <a:pt x="205" y="40"/>
                    </a:lnTo>
                    <a:lnTo>
                      <a:pt x="194" y="36"/>
                    </a:lnTo>
                    <a:lnTo>
                      <a:pt x="183" y="33"/>
                    </a:lnTo>
                    <a:lnTo>
                      <a:pt x="172" y="30"/>
                    </a:lnTo>
                    <a:lnTo>
                      <a:pt x="163" y="27"/>
                    </a:lnTo>
                    <a:lnTo>
                      <a:pt x="153" y="26"/>
                    </a:lnTo>
                    <a:lnTo>
                      <a:pt x="143" y="24"/>
                    </a:lnTo>
                    <a:lnTo>
                      <a:pt x="134" y="24"/>
                    </a:lnTo>
                    <a:lnTo>
                      <a:pt x="125" y="24"/>
                    </a:lnTo>
                    <a:lnTo>
                      <a:pt x="116" y="25"/>
                    </a:lnTo>
                    <a:lnTo>
                      <a:pt x="107" y="27"/>
                    </a:lnTo>
                    <a:lnTo>
                      <a:pt x="99" y="29"/>
                    </a:lnTo>
                    <a:lnTo>
                      <a:pt x="91" y="33"/>
                    </a:lnTo>
                    <a:lnTo>
                      <a:pt x="82" y="36"/>
                    </a:lnTo>
                    <a:lnTo>
                      <a:pt x="74" y="41"/>
                    </a:lnTo>
                    <a:lnTo>
                      <a:pt x="66" y="46"/>
                    </a:lnTo>
                    <a:lnTo>
                      <a:pt x="52" y="61"/>
                    </a:lnTo>
                    <a:lnTo>
                      <a:pt x="42" y="80"/>
                    </a:lnTo>
                    <a:lnTo>
                      <a:pt x="37" y="103"/>
                    </a:lnTo>
                    <a:lnTo>
                      <a:pt x="35" y="126"/>
                    </a:lnTo>
                    <a:lnTo>
                      <a:pt x="35" y="151"/>
                    </a:lnTo>
                    <a:lnTo>
                      <a:pt x="38" y="174"/>
                    </a:lnTo>
                    <a:lnTo>
                      <a:pt x="41" y="194"/>
                    </a:lnTo>
                    <a:lnTo>
                      <a:pt x="46" y="21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charset="0"/>
                  <a:ea typeface="微软雅黑" charset="0"/>
                </a:endParaRPr>
              </a:p>
            </p:txBody>
          </p:sp>
          <p:sp>
            <p:nvSpPr>
              <p:cNvPr id="2087" name="Freeform 11"/>
              <p:cNvSpPr/>
              <p:nvPr userDrawn="1"/>
            </p:nvSpPr>
            <p:spPr bwMode="ltGray">
              <a:xfrm rot="373331" flipH="1">
                <a:off x="41" y="2843"/>
                <a:ext cx="262" cy="308"/>
              </a:xfrm>
              <a:custGeom>
                <a:avLst/>
                <a:gdLst>
                  <a:gd name="T0" fmla="*/ 683801 w 182"/>
                  <a:gd name="T1" fmla="*/ 0 h 213"/>
                  <a:gd name="T2" fmla="*/ 701997 w 182"/>
                  <a:gd name="T3" fmla="*/ 14087 h 213"/>
                  <a:gd name="T4" fmla="*/ 741286 w 182"/>
                  <a:gd name="T5" fmla="*/ 57167 h 213"/>
                  <a:gd name="T6" fmla="*/ 797203 w 182"/>
                  <a:gd name="T7" fmla="*/ 128450 h 213"/>
                  <a:gd name="T8" fmla="*/ 861151 w 182"/>
                  <a:gd name="T9" fmla="*/ 232372 h 213"/>
                  <a:gd name="T10" fmla="*/ 909962 w 182"/>
                  <a:gd name="T11" fmla="*/ 361411 h 213"/>
                  <a:gd name="T12" fmla="*/ 942460 w 182"/>
                  <a:gd name="T13" fmla="*/ 532583 h 213"/>
                  <a:gd name="T14" fmla="*/ 942460 w 182"/>
                  <a:gd name="T15" fmla="*/ 734741 h 213"/>
                  <a:gd name="T16" fmla="*/ 902997 w 182"/>
                  <a:gd name="T17" fmla="*/ 973261 h 213"/>
                  <a:gd name="T18" fmla="*/ 880953 w 182"/>
                  <a:gd name="T19" fmla="*/ 1039711 h 213"/>
                  <a:gd name="T20" fmla="*/ 853596 w 182"/>
                  <a:gd name="T21" fmla="*/ 1094606 h 213"/>
                  <a:gd name="T22" fmla="*/ 824151 w 182"/>
                  <a:gd name="T23" fmla="*/ 1154539 h 213"/>
                  <a:gd name="T24" fmla="*/ 784455 w 182"/>
                  <a:gd name="T25" fmla="*/ 1207278 h 213"/>
                  <a:gd name="T26" fmla="*/ 731539 w 182"/>
                  <a:gd name="T27" fmla="*/ 1257672 h 213"/>
                  <a:gd name="T28" fmla="*/ 688157 w 182"/>
                  <a:gd name="T29" fmla="*/ 1295697 h 213"/>
                  <a:gd name="T30" fmla="*/ 641510 w 182"/>
                  <a:gd name="T31" fmla="*/ 1332570 h 213"/>
                  <a:gd name="T32" fmla="*/ 575158 w 182"/>
                  <a:gd name="T33" fmla="*/ 1362138 h 213"/>
                  <a:gd name="T34" fmla="*/ 514939 w 182"/>
                  <a:gd name="T35" fmla="*/ 1376782 h 213"/>
                  <a:gd name="T36" fmla="*/ 454782 w 182"/>
                  <a:gd name="T37" fmla="*/ 1394270 h 213"/>
                  <a:gd name="T38" fmla="*/ 384688 w 182"/>
                  <a:gd name="T39" fmla="*/ 1407345 h 213"/>
                  <a:gd name="T40" fmla="*/ 309559 w 182"/>
                  <a:gd name="T41" fmla="*/ 1407345 h 213"/>
                  <a:gd name="T42" fmla="*/ 229214 w 182"/>
                  <a:gd name="T43" fmla="*/ 1394270 h 213"/>
                  <a:gd name="T44" fmla="*/ 157122 w 182"/>
                  <a:gd name="T45" fmla="*/ 1376782 h 213"/>
                  <a:gd name="T46" fmla="*/ 73562 w 182"/>
                  <a:gd name="T47" fmla="*/ 1346628 h 213"/>
                  <a:gd name="T48" fmla="*/ 0 w 182"/>
                  <a:gd name="T49" fmla="*/ 1310842 h 213"/>
                  <a:gd name="T50" fmla="*/ 70239 w 182"/>
                  <a:gd name="T51" fmla="*/ 1362138 h 213"/>
                  <a:gd name="T52" fmla="*/ 139293 w 182"/>
                  <a:gd name="T53" fmla="*/ 1394270 h 213"/>
                  <a:gd name="T54" fmla="*/ 209540 w 182"/>
                  <a:gd name="T55" fmla="*/ 1428890 h 213"/>
                  <a:gd name="T56" fmla="*/ 268442 w 182"/>
                  <a:gd name="T57" fmla="*/ 1453863 h 213"/>
                  <a:gd name="T58" fmla="*/ 329967 w 182"/>
                  <a:gd name="T59" fmla="*/ 1474648 h 213"/>
                  <a:gd name="T60" fmla="*/ 397692 w 182"/>
                  <a:gd name="T61" fmla="*/ 1482917 h 213"/>
                  <a:gd name="T62" fmla="*/ 455536 w 182"/>
                  <a:gd name="T63" fmla="*/ 1485529 h 213"/>
                  <a:gd name="T64" fmla="*/ 517698 w 182"/>
                  <a:gd name="T65" fmla="*/ 1485529 h 213"/>
                  <a:gd name="T66" fmla="*/ 572502 w 182"/>
                  <a:gd name="T67" fmla="*/ 1482917 h 213"/>
                  <a:gd name="T68" fmla="*/ 627273 w 182"/>
                  <a:gd name="T69" fmla="*/ 1469062 h 213"/>
                  <a:gd name="T70" fmla="*/ 674772 w 182"/>
                  <a:gd name="T71" fmla="*/ 1453863 h 213"/>
                  <a:gd name="T72" fmla="*/ 725249 w 182"/>
                  <a:gd name="T73" fmla="*/ 1439187 h 213"/>
                  <a:gd name="T74" fmla="*/ 771024 w 182"/>
                  <a:gd name="T75" fmla="*/ 1421365 h 213"/>
                  <a:gd name="T76" fmla="*/ 814293 w 182"/>
                  <a:gd name="T77" fmla="*/ 1389605 h 213"/>
                  <a:gd name="T78" fmla="*/ 853596 w 182"/>
                  <a:gd name="T79" fmla="*/ 1362138 h 213"/>
                  <a:gd name="T80" fmla="*/ 889798 w 182"/>
                  <a:gd name="T81" fmla="*/ 1332570 h 213"/>
                  <a:gd name="T82" fmla="*/ 990644 w 182"/>
                  <a:gd name="T83" fmla="*/ 1228158 h 213"/>
                  <a:gd name="T84" fmla="*/ 1060215 w 182"/>
                  <a:gd name="T85" fmla="*/ 1124979 h 213"/>
                  <a:gd name="T86" fmla="*/ 1101363 w 182"/>
                  <a:gd name="T87" fmla="*/ 1005431 h 213"/>
                  <a:gd name="T88" fmla="*/ 1123909 w 182"/>
                  <a:gd name="T89" fmla="*/ 896050 h 213"/>
                  <a:gd name="T90" fmla="*/ 1137492 w 182"/>
                  <a:gd name="T91" fmla="*/ 777989 h 213"/>
                  <a:gd name="T92" fmla="*/ 1137492 w 182"/>
                  <a:gd name="T93" fmla="*/ 661259 h 213"/>
                  <a:gd name="T94" fmla="*/ 1142963 w 182"/>
                  <a:gd name="T95" fmla="*/ 552162 h 213"/>
                  <a:gd name="T96" fmla="*/ 1082647 w 182"/>
                  <a:gd name="T97" fmla="*/ 322145 h 213"/>
                  <a:gd name="T98" fmla="*/ 980321 w 182"/>
                  <a:gd name="T99" fmla="*/ 143392 h 213"/>
                  <a:gd name="T100" fmla="*/ 944023 w 182"/>
                  <a:gd name="T101" fmla="*/ 128450 h 213"/>
                  <a:gd name="T102" fmla="*/ 923492 w 182"/>
                  <a:gd name="T103" fmla="*/ 106546 h 213"/>
                  <a:gd name="T104" fmla="*/ 889798 w 182"/>
                  <a:gd name="T105" fmla="*/ 89057 h 213"/>
                  <a:gd name="T106" fmla="*/ 866414 w 182"/>
                  <a:gd name="T107" fmla="*/ 76855 h 213"/>
                  <a:gd name="T108" fmla="*/ 827975 w 182"/>
                  <a:gd name="T109" fmla="*/ 61588 h 213"/>
                  <a:gd name="T110" fmla="*/ 790166 w 182"/>
                  <a:gd name="T111" fmla="*/ 42592 h 213"/>
                  <a:gd name="T112" fmla="*/ 745258 w 182"/>
                  <a:gd name="T113" fmla="*/ 20370 h 213"/>
                  <a:gd name="T114" fmla="*/ 683801 w 182"/>
                  <a:gd name="T115" fmla="*/ 0 h 213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0" t="0" r="r" b="b"/>
                <a:pathLst>
                  <a:path w="182" h="213">
                    <a:moveTo>
                      <a:pt x="109" y="0"/>
                    </a:moveTo>
                    <a:lnTo>
                      <a:pt x="112" y="2"/>
                    </a:lnTo>
                    <a:lnTo>
                      <a:pt x="118" y="8"/>
                    </a:lnTo>
                    <a:lnTo>
                      <a:pt x="127" y="18"/>
                    </a:lnTo>
                    <a:lnTo>
                      <a:pt x="137" y="33"/>
                    </a:lnTo>
                    <a:lnTo>
                      <a:pt x="145" y="52"/>
                    </a:lnTo>
                    <a:lnTo>
                      <a:pt x="150" y="76"/>
                    </a:lnTo>
                    <a:lnTo>
                      <a:pt x="150" y="105"/>
                    </a:lnTo>
                    <a:lnTo>
                      <a:pt x="144" y="139"/>
                    </a:lnTo>
                    <a:lnTo>
                      <a:pt x="140" y="149"/>
                    </a:lnTo>
                    <a:lnTo>
                      <a:pt x="136" y="157"/>
                    </a:lnTo>
                    <a:lnTo>
                      <a:pt x="131" y="165"/>
                    </a:lnTo>
                    <a:lnTo>
                      <a:pt x="125" y="173"/>
                    </a:lnTo>
                    <a:lnTo>
                      <a:pt x="117" y="180"/>
                    </a:lnTo>
                    <a:lnTo>
                      <a:pt x="110" y="185"/>
                    </a:lnTo>
                    <a:lnTo>
                      <a:pt x="102" y="191"/>
                    </a:lnTo>
                    <a:lnTo>
                      <a:pt x="92" y="195"/>
                    </a:lnTo>
                    <a:lnTo>
                      <a:pt x="82" y="197"/>
                    </a:lnTo>
                    <a:lnTo>
                      <a:pt x="72" y="200"/>
                    </a:lnTo>
                    <a:lnTo>
                      <a:pt x="61" y="201"/>
                    </a:lnTo>
                    <a:lnTo>
                      <a:pt x="49" y="201"/>
                    </a:lnTo>
                    <a:lnTo>
                      <a:pt x="37" y="200"/>
                    </a:lnTo>
                    <a:lnTo>
                      <a:pt x="25" y="197"/>
                    </a:lnTo>
                    <a:lnTo>
                      <a:pt x="12" y="193"/>
                    </a:lnTo>
                    <a:lnTo>
                      <a:pt x="0" y="188"/>
                    </a:lnTo>
                    <a:lnTo>
                      <a:pt x="11" y="195"/>
                    </a:lnTo>
                    <a:lnTo>
                      <a:pt x="22" y="200"/>
                    </a:lnTo>
                    <a:lnTo>
                      <a:pt x="33" y="205"/>
                    </a:lnTo>
                    <a:lnTo>
                      <a:pt x="43" y="208"/>
                    </a:lnTo>
                    <a:lnTo>
                      <a:pt x="53" y="211"/>
                    </a:lnTo>
                    <a:lnTo>
                      <a:pt x="63" y="212"/>
                    </a:lnTo>
                    <a:lnTo>
                      <a:pt x="73" y="213"/>
                    </a:lnTo>
                    <a:lnTo>
                      <a:pt x="83" y="213"/>
                    </a:lnTo>
                    <a:lnTo>
                      <a:pt x="91" y="212"/>
                    </a:lnTo>
                    <a:lnTo>
                      <a:pt x="100" y="210"/>
                    </a:lnTo>
                    <a:lnTo>
                      <a:pt x="108" y="208"/>
                    </a:lnTo>
                    <a:lnTo>
                      <a:pt x="116" y="206"/>
                    </a:lnTo>
                    <a:lnTo>
                      <a:pt x="123" y="203"/>
                    </a:lnTo>
                    <a:lnTo>
                      <a:pt x="130" y="199"/>
                    </a:lnTo>
                    <a:lnTo>
                      <a:pt x="136" y="195"/>
                    </a:lnTo>
                    <a:lnTo>
                      <a:pt x="142" y="191"/>
                    </a:lnTo>
                    <a:lnTo>
                      <a:pt x="158" y="176"/>
                    </a:lnTo>
                    <a:lnTo>
                      <a:pt x="169" y="161"/>
                    </a:lnTo>
                    <a:lnTo>
                      <a:pt x="176" y="144"/>
                    </a:lnTo>
                    <a:lnTo>
                      <a:pt x="179" y="128"/>
                    </a:lnTo>
                    <a:lnTo>
                      <a:pt x="181" y="111"/>
                    </a:lnTo>
                    <a:lnTo>
                      <a:pt x="181" y="95"/>
                    </a:lnTo>
                    <a:lnTo>
                      <a:pt x="182" y="79"/>
                    </a:lnTo>
                    <a:lnTo>
                      <a:pt x="173" y="46"/>
                    </a:lnTo>
                    <a:lnTo>
                      <a:pt x="156" y="21"/>
                    </a:lnTo>
                    <a:lnTo>
                      <a:pt x="151" y="18"/>
                    </a:lnTo>
                    <a:lnTo>
                      <a:pt x="147" y="15"/>
                    </a:lnTo>
                    <a:lnTo>
                      <a:pt x="142" y="13"/>
                    </a:lnTo>
                    <a:lnTo>
                      <a:pt x="138" y="11"/>
                    </a:lnTo>
                    <a:lnTo>
                      <a:pt x="132" y="9"/>
                    </a:lnTo>
                    <a:lnTo>
                      <a:pt x="126" y="6"/>
                    </a:lnTo>
                    <a:lnTo>
                      <a:pt x="119" y="3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charset="0"/>
                  <a:ea typeface="微软雅黑" charset="0"/>
                </a:endParaRPr>
              </a:p>
            </p:txBody>
          </p:sp>
          <p:sp>
            <p:nvSpPr>
              <p:cNvPr id="2088" name="Freeform 12"/>
              <p:cNvSpPr/>
              <p:nvPr userDrawn="1"/>
            </p:nvSpPr>
            <p:spPr bwMode="ltGray">
              <a:xfrm rot="373331" flipH="1">
                <a:off x="121" y="2907"/>
                <a:ext cx="93" cy="156"/>
              </a:xfrm>
              <a:custGeom>
                <a:avLst/>
                <a:gdLst>
                  <a:gd name="T0" fmla="*/ 1 w 128"/>
                  <a:gd name="T1" fmla="*/ 0 h 217"/>
                  <a:gd name="T2" fmla="*/ 1 w 128"/>
                  <a:gd name="T3" fmla="*/ 1 h 217"/>
                  <a:gd name="T4" fmla="*/ 1 w 128"/>
                  <a:gd name="T5" fmla="*/ 1 h 217"/>
                  <a:gd name="T6" fmla="*/ 1 w 128"/>
                  <a:gd name="T7" fmla="*/ 1 h 217"/>
                  <a:gd name="T8" fmla="*/ 1 w 128"/>
                  <a:gd name="T9" fmla="*/ 1 h 217"/>
                  <a:gd name="T10" fmla="*/ 1 w 128"/>
                  <a:gd name="T11" fmla="*/ 1 h 217"/>
                  <a:gd name="T12" fmla="*/ 1 w 128"/>
                  <a:gd name="T13" fmla="*/ 1 h 217"/>
                  <a:gd name="T14" fmla="*/ 1 w 128"/>
                  <a:gd name="T15" fmla="*/ 1 h 217"/>
                  <a:gd name="T16" fmla="*/ 1 w 128"/>
                  <a:gd name="T17" fmla="*/ 1 h 217"/>
                  <a:gd name="T18" fmla="*/ 1 w 128"/>
                  <a:gd name="T19" fmla="*/ 1 h 217"/>
                  <a:gd name="T20" fmla="*/ 1 w 128"/>
                  <a:gd name="T21" fmla="*/ 1 h 217"/>
                  <a:gd name="T22" fmla="*/ 1 w 128"/>
                  <a:gd name="T23" fmla="*/ 1 h 217"/>
                  <a:gd name="T24" fmla="*/ 1 w 128"/>
                  <a:gd name="T25" fmla="*/ 1 h 217"/>
                  <a:gd name="T26" fmla="*/ 1 w 128"/>
                  <a:gd name="T27" fmla="*/ 1 h 217"/>
                  <a:gd name="T28" fmla="*/ 1 w 128"/>
                  <a:gd name="T29" fmla="*/ 1 h 217"/>
                  <a:gd name="T30" fmla="*/ 0 w 128"/>
                  <a:gd name="T31" fmla="*/ 1 h 217"/>
                  <a:gd name="T32" fmla="*/ 1 w 128"/>
                  <a:gd name="T33" fmla="*/ 1 h 217"/>
                  <a:gd name="T34" fmla="*/ 1 w 128"/>
                  <a:gd name="T35" fmla="*/ 1 h 217"/>
                  <a:gd name="T36" fmla="*/ 1 w 128"/>
                  <a:gd name="T37" fmla="*/ 1 h 217"/>
                  <a:gd name="T38" fmla="*/ 1 w 128"/>
                  <a:gd name="T39" fmla="*/ 1 h 217"/>
                  <a:gd name="T40" fmla="*/ 1 w 128"/>
                  <a:gd name="T41" fmla="*/ 1 h 217"/>
                  <a:gd name="T42" fmla="*/ 1 w 128"/>
                  <a:gd name="T43" fmla="*/ 1 h 217"/>
                  <a:gd name="T44" fmla="*/ 1 w 128"/>
                  <a:gd name="T45" fmla="*/ 1 h 217"/>
                  <a:gd name="T46" fmla="*/ 1 w 128"/>
                  <a:gd name="T47" fmla="*/ 1 h 217"/>
                  <a:gd name="T48" fmla="*/ 1 w 128"/>
                  <a:gd name="T49" fmla="*/ 0 h 217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128" h="217">
                    <a:moveTo>
                      <a:pt x="94" y="0"/>
                    </a:moveTo>
                    <a:lnTo>
                      <a:pt x="105" y="9"/>
                    </a:lnTo>
                    <a:lnTo>
                      <a:pt x="115" y="27"/>
                    </a:lnTo>
                    <a:lnTo>
                      <a:pt x="123" y="50"/>
                    </a:lnTo>
                    <a:lnTo>
                      <a:pt x="128" y="78"/>
                    </a:lnTo>
                    <a:lnTo>
                      <a:pt x="127" y="111"/>
                    </a:lnTo>
                    <a:lnTo>
                      <a:pt x="116" y="145"/>
                    </a:lnTo>
                    <a:lnTo>
                      <a:pt x="94" y="181"/>
                    </a:lnTo>
                    <a:lnTo>
                      <a:pt x="60" y="217"/>
                    </a:lnTo>
                    <a:lnTo>
                      <a:pt x="49" y="213"/>
                    </a:lnTo>
                    <a:lnTo>
                      <a:pt x="38" y="210"/>
                    </a:lnTo>
                    <a:lnTo>
                      <a:pt x="26" y="205"/>
                    </a:lnTo>
                    <a:lnTo>
                      <a:pt x="16" y="201"/>
                    </a:lnTo>
                    <a:lnTo>
                      <a:pt x="8" y="196"/>
                    </a:lnTo>
                    <a:lnTo>
                      <a:pt x="2" y="190"/>
                    </a:lnTo>
                    <a:lnTo>
                      <a:pt x="0" y="183"/>
                    </a:lnTo>
                    <a:lnTo>
                      <a:pt x="1" y="178"/>
                    </a:lnTo>
                    <a:lnTo>
                      <a:pt x="13" y="171"/>
                    </a:lnTo>
                    <a:lnTo>
                      <a:pt x="29" y="161"/>
                    </a:lnTo>
                    <a:lnTo>
                      <a:pt x="46" y="150"/>
                    </a:lnTo>
                    <a:lnTo>
                      <a:pt x="63" y="134"/>
                    </a:lnTo>
                    <a:lnTo>
                      <a:pt x="79" y="112"/>
                    </a:lnTo>
                    <a:lnTo>
                      <a:pt x="91" y="83"/>
                    </a:lnTo>
                    <a:lnTo>
                      <a:pt x="97" y="46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charset="0"/>
                  <a:ea typeface="微软雅黑" charset="0"/>
                </a:endParaRPr>
              </a:p>
            </p:txBody>
          </p:sp>
          <p:sp>
            <p:nvSpPr>
              <p:cNvPr id="2089" name="Freeform 13"/>
              <p:cNvSpPr/>
              <p:nvPr userDrawn="1"/>
            </p:nvSpPr>
            <p:spPr bwMode="ltGray">
              <a:xfrm rot="373331" flipH="1">
                <a:off x="313" y="3110"/>
                <a:ext cx="85" cy="93"/>
              </a:xfrm>
              <a:custGeom>
                <a:avLst/>
                <a:gdLst>
                  <a:gd name="T0" fmla="*/ 1 w 117"/>
                  <a:gd name="T1" fmla="*/ 0 h 132"/>
                  <a:gd name="T2" fmla="*/ 0 w 117"/>
                  <a:gd name="T3" fmla="*/ 1 h 132"/>
                  <a:gd name="T4" fmla="*/ 1 w 117"/>
                  <a:gd name="T5" fmla="*/ 1 h 132"/>
                  <a:gd name="T6" fmla="*/ 1 w 117"/>
                  <a:gd name="T7" fmla="*/ 1 h 132"/>
                  <a:gd name="T8" fmla="*/ 1 w 117"/>
                  <a:gd name="T9" fmla="*/ 1 h 132"/>
                  <a:gd name="T10" fmla="*/ 1 w 117"/>
                  <a:gd name="T11" fmla="*/ 1 h 132"/>
                  <a:gd name="T12" fmla="*/ 1 w 117"/>
                  <a:gd name="T13" fmla="*/ 1 h 132"/>
                  <a:gd name="T14" fmla="*/ 1 w 117"/>
                  <a:gd name="T15" fmla="*/ 1 h 132"/>
                  <a:gd name="T16" fmla="*/ 1 w 117"/>
                  <a:gd name="T17" fmla="*/ 1 h 132"/>
                  <a:gd name="T18" fmla="*/ 1 w 117"/>
                  <a:gd name="T19" fmla="*/ 1 h 132"/>
                  <a:gd name="T20" fmla="*/ 1 w 117"/>
                  <a:gd name="T21" fmla="*/ 1 h 132"/>
                  <a:gd name="T22" fmla="*/ 1 w 117"/>
                  <a:gd name="T23" fmla="*/ 1 h 132"/>
                  <a:gd name="T24" fmla="*/ 1 w 117"/>
                  <a:gd name="T25" fmla="*/ 1 h 132"/>
                  <a:gd name="T26" fmla="*/ 1 w 117"/>
                  <a:gd name="T27" fmla="*/ 1 h 132"/>
                  <a:gd name="T28" fmla="*/ 1 w 117"/>
                  <a:gd name="T29" fmla="*/ 1 h 132"/>
                  <a:gd name="T30" fmla="*/ 1 w 117"/>
                  <a:gd name="T31" fmla="*/ 1 h 132"/>
                  <a:gd name="T32" fmla="*/ 1 w 117"/>
                  <a:gd name="T33" fmla="*/ 1 h 132"/>
                  <a:gd name="T34" fmla="*/ 1 w 117"/>
                  <a:gd name="T35" fmla="*/ 1 h 132"/>
                  <a:gd name="T36" fmla="*/ 1 w 117"/>
                  <a:gd name="T37" fmla="*/ 1 h 132"/>
                  <a:gd name="T38" fmla="*/ 1 w 117"/>
                  <a:gd name="T39" fmla="*/ 1 h 132"/>
                  <a:gd name="T40" fmla="*/ 1 w 117"/>
                  <a:gd name="T41" fmla="*/ 1 h 132"/>
                  <a:gd name="T42" fmla="*/ 1 w 117"/>
                  <a:gd name="T43" fmla="*/ 1 h 132"/>
                  <a:gd name="T44" fmla="*/ 1 w 117"/>
                  <a:gd name="T45" fmla="*/ 1 h 132"/>
                  <a:gd name="T46" fmla="*/ 1 w 117"/>
                  <a:gd name="T47" fmla="*/ 1 h 132"/>
                  <a:gd name="T48" fmla="*/ 1 w 117"/>
                  <a:gd name="T49" fmla="*/ 1 h 132"/>
                  <a:gd name="T50" fmla="*/ 1 w 117"/>
                  <a:gd name="T51" fmla="*/ 1 h 132"/>
                  <a:gd name="T52" fmla="*/ 1 w 117"/>
                  <a:gd name="T53" fmla="*/ 0 h 132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117" h="132">
                    <a:moveTo>
                      <a:pt x="75" y="0"/>
                    </a:moveTo>
                    <a:lnTo>
                      <a:pt x="0" y="25"/>
                    </a:lnTo>
                    <a:lnTo>
                      <a:pt x="3" y="26"/>
                    </a:lnTo>
                    <a:lnTo>
                      <a:pt x="14" y="29"/>
                    </a:lnTo>
                    <a:lnTo>
                      <a:pt x="29" y="36"/>
                    </a:lnTo>
                    <a:lnTo>
                      <a:pt x="46" y="47"/>
                    </a:lnTo>
                    <a:lnTo>
                      <a:pt x="66" y="62"/>
                    </a:lnTo>
                    <a:lnTo>
                      <a:pt x="84" y="80"/>
                    </a:lnTo>
                    <a:lnTo>
                      <a:pt x="102" y="103"/>
                    </a:lnTo>
                    <a:lnTo>
                      <a:pt x="116" y="132"/>
                    </a:lnTo>
                    <a:lnTo>
                      <a:pt x="117" y="120"/>
                    </a:lnTo>
                    <a:lnTo>
                      <a:pt x="115" y="107"/>
                    </a:lnTo>
                    <a:lnTo>
                      <a:pt x="108" y="90"/>
                    </a:lnTo>
                    <a:lnTo>
                      <a:pt x="99" y="74"/>
                    </a:lnTo>
                    <a:lnTo>
                      <a:pt x="89" y="58"/>
                    </a:lnTo>
                    <a:lnTo>
                      <a:pt x="78" y="45"/>
                    </a:lnTo>
                    <a:lnTo>
                      <a:pt x="67" y="36"/>
                    </a:lnTo>
                    <a:lnTo>
                      <a:pt x="58" y="32"/>
                    </a:lnTo>
                    <a:lnTo>
                      <a:pt x="69" y="29"/>
                    </a:lnTo>
                    <a:lnTo>
                      <a:pt x="79" y="28"/>
                    </a:lnTo>
                    <a:lnTo>
                      <a:pt x="89" y="26"/>
                    </a:lnTo>
                    <a:lnTo>
                      <a:pt x="98" y="25"/>
                    </a:lnTo>
                    <a:lnTo>
                      <a:pt x="105" y="24"/>
                    </a:lnTo>
                    <a:lnTo>
                      <a:pt x="109" y="22"/>
                    </a:lnTo>
                    <a:lnTo>
                      <a:pt x="113" y="21"/>
                    </a:lnTo>
                    <a:lnTo>
                      <a:pt x="114" y="21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charset="0"/>
                  <a:ea typeface="微软雅黑" charset="0"/>
                </a:endParaRPr>
              </a:p>
            </p:txBody>
          </p:sp>
          <p:sp>
            <p:nvSpPr>
              <p:cNvPr id="2090" name="Freeform 14"/>
              <p:cNvSpPr/>
              <p:nvPr userDrawn="1"/>
            </p:nvSpPr>
            <p:spPr bwMode="ltGray">
              <a:xfrm rot="373331" flipH="1">
                <a:off x="289" y="3133"/>
                <a:ext cx="21" cy="55"/>
              </a:xfrm>
              <a:custGeom>
                <a:avLst/>
                <a:gdLst>
                  <a:gd name="T0" fmla="*/ 1 w 29"/>
                  <a:gd name="T1" fmla="*/ 0 h 77"/>
                  <a:gd name="T2" fmla="*/ 1 w 29"/>
                  <a:gd name="T3" fmla="*/ 0 h 77"/>
                  <a:gd name="T4" fmla="*/ 1 w 29"/>
                  <a:gd name="T5" fmla="*/ 1 h 77"/>
                  <a:gd name="T6" fmla="*/ 1 w 29"/>
                  <a:gd name="T7" fmla="*/ 1 h 77"/>
                  <a:gd name="T8" fmla="*/ 1 w 29"/>
                  <a:gd name="T9" fmla="*/ 1 h 77"/>
                  <a:gd name="T10" fmla="*/ 1 w 29"/>
                  <a:gd name="T11" fmla="*/ 1 h 77"/>
                  <a:gd name="T12" fmla="*/ 0 w 29"/>
                  <a:gd name="T13" fmla="*/ 1 h 77"/>
                  <a:gd name="T14" fmla="*/ 1 w 29"/>
                  <a:gd name="T15" fmla="*/ 1 h 77"/>
                  <a:gd name="T16" fmla="*/ 1 w 29"/>
                  <a:gd name="T17" fmla="*/ 1 h 77"/>
                  <a:gd name="T18" fmla="*/ 1 w 29"/>
                  <a:gd name="T19" fmla="*/ 1 h 77"/>
                  <a:gd name="T20" fmla="*/ 1 w 29"/>
                  <a:gd name="T21" fmla="*/ 1 h 77"/>
                  <a:gd name="T22" fmla="*/ 1 w 29"/>
                  <a:gd name="T23" fmla="*/ 1 h 77"/>
                  <a:gd name="T24" fmla="*/ 1 w 29"/>
                  <a:gd name="T25" fmla="*/ 0 h 7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9" h="77">
                    <a:moveTo>
                      <a:pt x="29" y="0"/>
                    </a:moveTo>
                    <a:lnTo>
                      <a:pt x="23" y="0"/>
                    </a:lnTo>
                    <a:lnTo>
                      <a:pt x="16" y="4"/>
                    </a:lnTo>
                    <a:lnTo>
                      <a:pt x="9" y="9"/>
                    </a:lnTo>
                    <a:lnTo>
                      <a:pt x="4" y="19"/>
                    </a:lnTo>
                    <a:lnTo>
                      <a:pt x="1" y="30"/>
                    </a:lnTo>
                    <a:lnTo>
                      <a:pt x="0" y="44"/>
                    </a:lnTo>
                    <a:lnTo>
                      <a:pt x="3" y="60"/>
                    </a:lnTo>
                    <a:lnTo>
                      <a:pt x="11" y="77"/>
                    </a:lnTo>
                    <a:lnTo>
                      <a:pt x="15" y="53"/>
                    </a:lnTo>
                    <a:lnTo>
                      <a:pt x="19" y="37"/>
                    </a:lnTo>
                    <a:lnTo>
                      <a:pt x="23" y="22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charset="0"/>
                  <a:ea typeface="微软雅黑" charset="0"/>
                </a:endParaRPr>
              </a:p>
            </p:txBody>
          </p:sp>
          <p:grpSp>
            <p:nvGrpSpPr>
              <p:cNvPr id="2091" name="Group 15"/>
              <p:cNvGrpSpPr/>
              <p:nvPr userDrawn="1"/>
            </p:nvGrpSpPr>
            <p:grpSpPr bwMode="auto">
              <a:xfrm rot="10886446" flipH="1">
                <a:off x="335" y="3251"/>
                <a:ext cx="608" cy="369"/>
                <a:chOff x="-366" y="1704"/>
                <a:chExt cx="608" cy="369"/>
              </a:xfrm>
            </p:grpSpPr>
            <p:sp>
              <p:nvSpPr>
                <p:cNvPr id="2092" name="Freeform 16"/>
                <p:cNvSpPr/>
                <p:nvPr userDrawn="1"/>
              </p:nvSpPr>
              <p:spPr bwMode="ltGray">
                <a:xfrm rot="4200091">
                  <a:off x="-243" y="1807"/>
                  <a:ext cx="143" cy="390"/>
                </a:xfrm>
                <a:custGeom>
                  <a:avLst/>
                  <a:gdLst>
                    <a:gd name="T0" fmla="*/ 1 w 207"/>
                    <a:gd name="T1" fmla="*/ 1 h 564"/>
                    <a:gd name="T2" fmla="*/ 1 w 207"/>
                    <a:gd name="T3" fmla="*/ 1 h 564"/>
                    <a:gd name="T4" fmla="*/ 1 w 207"/>
                    <a:gd name="T5" fmla="*/ 1 h 564"/>
                    <a:gd name="T6" fmla="*/ 0 w 207"/>
                    <a:gd name="T7" fmla="*/ 1 h 564"/>
                    <a:gd name="T8" fmla="*/ 0 w 207"/>
                    <a:gd name="T9" fmla="*/ 1 h 564"/>
                    <a:gd name="T10" fmla="*/ 1 w 207"/>
                    <a:gd name="T11" fmla="*/ 1 h 564"/>
                    <a:gd name="T12" fmla="*/ 1 w 207"/>
                    <a:gd name="T13" fmla="*/ 1 h 564"/>
                    <a:gd name="T14" fmla="*/ 1 w 207"/>
                    <a:gd name="T15" fmla="*/ 1 h 564"/>
                    <a:gd name="T16" fmla="*/ 1 w 207"/>
                    <a:gd name="T17" fmla="*/ 1 h 564"/>
                    <a:gd name="T18" fmla="*/ 1 w 207"/>
                    <a:gd name="T19" fmla="*/ 1 h 564"/>
                    <a:gd name="T20" fmla="*/ 1 w 207"/>
                    <a:gd name="T21" fmla="*/ 1 h 564"/>
                    <a:gd name="T22" fmla="*/ 1 w 207"/>
                    <a:gd name="T23" fmla="*/ 1 h 564"/>
                    <a:gd name="T24" fmla="*/ 1 w 207"/>
                    <a:gd name="T25" fmla="*/ 1 h 564"/>
                    <a:gd name="T26" fmla="*/ 1 w 207"/>
                    <a:gd name="T27" fmla="*/ 1 h 564"/>
                    <a:gd name="T28" fmla="*/ 1 w 207"/>
                    <a:gd name="T29" fmla="*/ 1 h 564"/>
                    <a:gd name="T30" fmla="*/ 1 w 207"/>
                    <a:gd name="T31" fmla="*/ 1 h 564"/>
                    <a:gd name="T32" fmla="*/ 1 w 207"/>
                    <a:gd name="T33" fmla="*/ 1 h 564"/>
                    <a:gd name="T34" fmla="*/ 1 w 207"/>
                    <a:gd name="T35" fmla="*/ 1 h 564"/>
                    <a:gd name="T36" fmla="*/ 1 w 207"/>
                    <a:gd name="T37" fmla="*/ 1 h 564"/>
                    <a:gd name="T38" fmla="*/ 1 w 207"/>
                    <a:gd name="T39" fmla="*/ 1 h 564"/>
                    <a:gd name="T40" fmla="*/ 1 w 207"/>
                    <a:gd name="T41" fmla="*/ 1 h 564"/>
                    <a:gd name="T42" fmla="*/ 1 w 207"/>
                    <a:gd name="T43" fmla="*/ 1 h 564"/>
                    <a:gd name="T44" fmla="*/ 1 w 207"/>
                    <a:gd name="T45" fmla="*/ 1 h 564"/>
                    <a:gd name="T46" fmla="*/ 1 w 207"/>
                    <a:gd name="T47" fmla="*/ 1 h 564"/>
                    <a:gd name="T48" fmla="*/ 1 w 207"/>
                    <a:gd name="T49" fmla="*/ 1 h 564"/>
                    <a:gd name="T50" fmla="*/ 1 w 207"/>
                    <a:gd name="T51" fmla="*/ 1 h 564"/>
                    <a:gd name="T52" fmla="*/ 1 w 207"/>
                    <a:gd name="T53" fmla="*/ 1 h 564"/>
                    <a:gd name="T54" fmla="*/ 1 w 207"/>
                    <a:gd name="T55" fmla="*/ 1 h 564"/>
                    <a:gd name="T56" fmla="*/ 1 w 207"/>
                    <a:gd name="T57" fmla="*/ 0 h 564"/>
                    <a:gd name="T58" fmla="*/ 1 w 207"/>
                    <a:gd name="T59" fmla="*/ 1 h 564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0" t="0" r="r" b="b"/>
                  <a:pathLst>
                    <a:path w="207" h="564">
                      <a:moveTo>
                        <a:pt x="12" y="44"/>
                      </a:moveTo>
                      <a:lnTo>
                        <a:pt x="6" y="72"/>
                      </a:lnTo>
                      <a:lnTo>
                        <a:pt x="3" y="99"/>
                      </a:lnTo>
                      <a:lnTo>
                        <a:pt x="0" y="125"/>
                      </a:lnTo>
                      <a:lnTo>
                        <a:pt x="0" y="151"/>
                      </a:lnTo>
                      <a:lnTo>
                        <a:pt x="3" y="180"/>
                      </a:lnTo>
                      <a:lnTo>
                        <a:pt x="7" y="211"/>
                      </a:lnTo>
                      <a:lnTo>
                        <a:pt x="16" y="247"/>
                      </a:lnTo>
                      <a:lnTo>
                        <a:pt x="29" y="287"/>
                      </a:lnTo>
                      <a:lnTo>
                        <a:pt x="43" y="325"/>
                      </a:lnTo>
                      <a:lnTo>
                        <a:pt x="61" y="364"/>
                      </a:lnTo>
                      <a:lnTo>
                        <a:pt x="83" y="406"/>
                      </a:lnTo>
                      <a:lnTo>
                        <a:pt x="106" y="446"/>
                      </a:lnTo>
                      <a:lnTo>
                        <a:pt x="132" y="483"/>
                      </a:lnTo>
                      <a:lnTo>
                        <a:pt x="157" y="516"/>
                      </a:lnTo>
                      <a:lnTo>
                        <a:pt x="182" y="544"/>
                      </a:lnTo>
                      <a:lnTo>
                        <a:pt x="207" y="564"/>
                      </a:lnTo>
                      <a:lnTo>
                        <a:pt x="160" y="501"/>
                      </a:lnTo>
                      <a:lnTo>
                        <a:pt x="127" y="448"/>
                      </a:lnTo>
                      <a:lnTo>
                        <a:pt x="103" y="405"/>
                      </a:lnTo>
                      <a:lnTo>
                        <a:pt x="87" y="368"/>
                      </a:lnTo>
                      <a:lnTo>
                        <a:pt x="75" y="337"/>
                      </a:lnTo>
                      <a:lnTo>
                        <a:pt x="68" y="309"/>
                      </a:lnTo>
                      <a:lnTo>
                        <a:pt x="63" y="285"/>
                      </a:lnTo>
                      <a:lnTo>
                        <a:pt x="56" y="261"/>
                      </a:lnTo>
                      <a:lnTo>
                        <a:pt x="44" y="205"/>
                      </a:lnTo>
                      <a:lnTo>
                        <a:pt x="41" y="140"/>
                      </a:lnTo>
                      <a:lnTo>
                        <a:pt x="43" y="68"/>
                      </a:lnTo>
                      <a:lnTo>
                        <a:pt x="50" y="0"/>
                      </a:lnTo>
                      <a:lnTo>
                        <a:pt x="12" y="4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微软雅黑" charset="0"/>
                    <a:ea typeface="微软雅黑" charset="0"/>
                  </a:endParaRPr>
                </a:p>
              </p:txBody>
            </p:sp>
            <p:sp>
              <p:nvSpPr>
                <p:cNvPr id="2093" name="Freeform 17"/>
                <p:cNvSpPr/>
                <p:nvPr userDrawn="1"/>
              </p:nvSpPr>
              <p:spPr bwMode="ltGray">
                <a:xfrm rot="4200091">
                  <a:off x="124" y="1761"/>
                  <a:ext cx="33" cy="160"/>
                </a:xfrm>
                <a:custGeom>
                  <a:avLst/>
                  <a:gdLst>
                    <a:gd name="T0" fmla="*/ 0 w 47"/>
                    <a:gd name="T1" fmla="*/ 1 h 232"/>
                    <a:gd name="T2" fmla="*/ 1 w 47"/>
                    <a:gd name="T3" fmla="*/ 1 h 232"/>
                    <a:gd name="T4" fmla="*/ 1 w 47"/>
                    <a:gd name="T5" fmla="*/ 1 h 232"/>
                    <a:gd name="T6" fmla="*/ 1 w 47"/>
                    <a:gd name="T7" fmla="*/ 1 h 232"/>
                    <a:gd name="T8" fmla="*/ 1 w 47"/>
                    <a:gd name="T9" fmla="*/ 1 h 232"/>
                    <a:gd name="T10" fmla="*/ 1 w 47"/>
                    <a:gd name="T11" fmla="*/ 1 h 232"/>
                    <a:gd name="T12" fmla="*/ 1 w 47"/>
                    <a:gd name="T13" fmla="*/ 1 h 232"/>
                    <a:gd name="T14" fmla="*/ 1 w 47"/>
                    <a:gd name="T15" fmla="*/ 1 h 232"/>
                    <a:gd name="T16" fmla="*/ 1 w 47"/>
                    <a:gd name="T17" fmla="*/ 1 h 232"/>
                    <a:gd name="T18" fmla="*/ 1 w 47"/>
                    <a:gd name="T19" fmla="*/ 1 h 232"/>
                    <a:gd name="T20" fmla="*/ 1 w 47"/>
                    <a:gd name="T21" fmla="*/ 1 h 232"/>
                    <a:gd name="T22" fmla="*/ 1 w 47"/>
                    <a:gd name="T23" fmla="*/ 1 h 232"/>
                    <a:gd name="T24" fmla="*/ 1 w 47"/>
                    <a:gd name="T25" fmla="*/ 1 h 232"/>
                    <a:gd name="T26" fmla="*/ 1 w 47"/>
                    <a:gd name="T27" fmla="*/ 0 h 232"/>
                    <a:gd name="T28" fmla="*/ 0 w 47"/>
                    <a:gd name="T29" fmla="*/ 1 h 232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47" h="232">
                      <a:moveTo>
                        <a:pt x="0" y="19"/>
                      </a:moveTo>
                      <a:lnTo>
                        <a:pt x="14" y="55"/>
                      </a:lnTo>
                      <a:lnTo>
                        <a:pt x="22" y="101"/>
                      </a:lnTo>
                      <a:lnTo>
                        <a:pt x="24" y="159"/>
                      </a:lnTo>
                      <a:lnTo>
                        <a:pt x="19" y="232"/>
                      </a:lnTo>
                      <a:lnTo>
                        <a:pt x="45" y="217"/>
                      </a:lnTo>
                      <a:lnTo>
                        <a:pt x="47" y="178"/>
                      </a:lnTo>
                      <a:lnTo>
                        <a:pt x="47" y="140"/>
                      </a:lnTo>
                      <a:lnTo>
                        <a:pt x="45" y="103"/>
                      </a:lnTo>
                      <a:lnTo>
                        <a:pt x="41" y="71"/>
                      </a:lnTo>
                      <a:lnTo>
                        <a:pt x="36" y="52"/>
                      </a:lnTo>
                      <a:lnTo>
                        <a:pt x="29" y="34"/>
                      </a:lnTo>
                      <a:lnTo>
                        <a:pt x="22" y="17"/>
                      </a:lnTo>
                      <a:lnTo>
                        <a:pt x="13" y="0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微软雅黑" charset="0"/>
                    <a:ea typeface="微软雅黑" charset="0"/>
                  </a:endParaRPr>
                </a:p>
              </p:txBody>
            </p:sp>
            <p:sp>
              <p:nvSpPr>
                <p:cNvPr id="2094" name="Freeform 18"/>
                <p:cNvSpPr/>
                <p:nvPr userDrawn="1"/>
              </p:nvSpPr>
              <p:spPr bwMode="ltGray">
                <a:xfrm rot="4200091">
                  <a:off x="195" y="1722"/>
                  <a:ext cx="60" cy="27"/>
                </a:xfrm>
                <a:custGeom>
                  <a:avLst/>
                  <a:gdLst>
                    <a:gd name="T0" fmla="*/ 1 w 87"/>
                    <a:gd name="T1" fmla="*/ 1 h 40"/>
                    <a:gd name="T2" fmla="*/ 1 w 87"/>
                    <a:gd name="T3" fmla="*/ 1 h 40"/>
                    <a:gd name="T4" fmla="*/ 1 w 87"/>
                    <a:gd name="T5" fmla="*/ 1 h 40"/>
                    <a:gd name="T6" fmla="*/ 1 w 87"/>
                    <a:gd name="T7" fmla="*/ 1 h 40"/>
                    <a:gd name="T8" fmla="*/ 1 w 87"/>
                    <a:gd name="T9" fmla="*/ 1 h 40"/>
                    <a:gd name="T10" fmla="*/ 1 w 87"/>
                    <a:gd name="T11" fmla="*/ 1 h 40"/>
                    <a:gd name="T12" fmla="*/ 1 w 87"/>
                    <a:gd name="T13" fmla="*/ 1 h 40"/>
                    <a:gd name="T14" fmla="*/ 1 w 87"/>
                    <a:gd name="T15" fmla="*/ 0 h 40"/>
                    <a:gd name="T16" fmla="*/ 0 w 87"/>
                    <a:gd name="T17" fmla="*/ 1 h 40"/>
                    <a:gd name="T18" fmla="*/ 1 w 87"/>
                    <a:gd name="T19" fmla="*/ 1 h 40"/>
                    <a:gd name="T20" fmla="*/ 1 w 87"/>
                    <a:gd name="T21" fmla="*/ 1 h 40"/>
                    <a:gd name="T22" fmla="*/ 1 w 87"/>
                    <a:gd name="T23" fmla="*/ 1 h 40"/>
                    <a:gd name="T24" fmla="*/ 1 w 87"/>
                    <a:gd name="T25" fmla="*/ 1 h 40"/>
                    <a:gd name="T26" fmla="*/ 1 w 87"/>
                    <a:gd name="T27" fmla="*/ 1 h 40"/>
                    <a:gd name="T28" fmla="*/ 1 w 87"/>
                    <a:gd name="T29" fmla="*/ 1 h 40"/>
                    <a:gd name="T30" fmla="*/ 1 w 87"/>
                    <a:gd name="T31" fmla="*/ 1 h 40"/>
                    <a:gd name="T32" fmla="*/ 1 w 87"/>
                    <a:gd name="T33" fmla="*/ 1 h 40"/>
                    <a:gd name="T34" fmla="*/ 1 w 87"/>
                    <a:gd name="T35" fmla="*/ 1 h 40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87" h="40">
                      <a:moveTo>
                        <a:pt x="87" y="22"/>
                      </a:moveTo>
                      <a:lnTo>
                        <a:pt x="77" y="17"/>
                      </a:lnTo>
                      <a:lnTo>
                        <a:pt x="68" y="12"/>
                      </a:lnTo>
                      <a:lnTo>
                        <a:pt x="58" y="7"/>
                      </a:lnTo>
                      <a:lnTo>
                        <a:pt x="47" y="5"/>
                      </a:lnTo>
                      <a:lnTo>
                        <a:pt x="37" y="3"/>
                      </a:lnTo>
                      <a:lnTo>
                        <a:pt x="26" y="2"/>
                      </a:lnTo>
                      <a:lnTo>
                        <a:pt x="13" y="0"/>
                      </a:lnTo>
                      <a:lnTo>
                        <a:pt x="0" y="2"/>
                      </a:lnTo>
                      <a:lnTo>
                        <a:pt x="6" y="6"/>
                      </a:lnTo>
                      <a:lnTo>
                        <a:pt x="14" y="10"/>
                      </a:lnTo>
                      <a:lnTo>
                        <a:pt x="22" y="14"/>
                      </a:lnTo>
                      <a:lnTo>
                        <a:pt x="33" y="18"/>
                      </a:lnTo>
                      <a:lnTo>
                        <a:pt x="42" y="22"/>
                      </a:lnTo>
                      <a:lnTo>
                        <a:pt x="52" y="27"/>
                      </a:lnTo>
                      <a:lnTo>
                        <a:pt x="64" y="33"/>
                      </a:lnTo>
                      <a:lnTo>
                        <a:pt x="74" y="40"/>
                      </a:lnTo>
                      <a:lnTo>
                        <a:pt x="87" y="22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微软雅黑" charset="0"/>
                    <a:ea typeface="微软雅黑" charset="0"/>
                  </a:endParaRPr>
                </a:p>
              </p:txBody>
            </p:sp>
          </p:grpSp>
        </p:grpSp>
        <p:grpSp>
          <p:nvGrpSpPr>
            <p:cNvPr id="2060" name="Group 19"/>
            <p:cNvGrpSpPr/>
            <p:nvPr/>
          </p:nvGrpSpPr>
          <p:grpSpPr bwMode="auto">
            <a:xfrm rot="6248562">
              <a:off x="343" y="3854"/>
              <a:ext cx="392" cy="424"/>
              <a:chOff x="1727" y="866"/>
              <a:chExt cx="129" cy="157"/>
            </a:xfrm>
          </p:grpSpPr>
          <p:sp>
            <p:nvSpPr>
              <p:cNvPr id="2083" name="Freeform 20"/>
              <p:cNvSpPr/>
              <p:nvPr userDrawn="1"/>
            </p:nvSpPr>
            <p:spPr bwMode="ltGray">
              <a:xfrm>
                <a:off x="1727" y="868"/>
                <a:ext cx="41" cy="59"/>
              </a:xfrm>
              <a:custGeom>
                <a:avLst/>
                <a:gdLst>
                  <a:gd name="T0" fmla="*/ 0 w 83"/>
                  <a:gd name="T1" fmla="*/ 1 h 117"/>
                  <a:gd name="T2" fmla="*/ 0 w 83"/>
                  <a:gd name="T3" fmla="*/ 0 h 117"/>
                  <a:gd name="T4" fmla="*/ 0 w 83"/>
                  <a:gd name="T5" fmla="*/ 1 h 117"/>
                  <a:gd name="T6" fmla="*/ 0 w 83"/>
                  <a:gd name="T7" fmla="*/ 1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charset="0"/>
                  <a:ea typeface="微软雅黑" charset="0"/>
                </a:endParaRPr>
              </a:p>
            </p:txBody>
          </p:sp>
          <p:sp>
            <p:nvSpPr>
              <p:cNvPr id="2084" name="Freeform 21"/>
              <p:cNvSpPr/>
              <p:nvPr userDrawn="1"/>
            </p:nvSpPr>
            <p:spPr bwMode="ltGray">
              <a:xfrm>
                <a:off x="1786" y="896"/>
                <a:ext cx="70" cy="49"/>
              </a:xfrm>
              <a:custGeom>
                <a:avLst/>
                <a:gdLst>
                  <a:gd name="T0" fmla="*/ 0 w 140"/>
                  <a:gd name="T1" fmla="*/ 1 h 98"/>
                  <a:gd name="T2" fmla="*/ 1 w 140"/>
                  <a:gd name="T3" fmla="*/ 0 h 98"/>
                  <a:gd name="T4" fmla="*/ 1 w 140"/>
                  <a:gd name="T5" fmla="*/ 1 h 98"/>
                  <a:gd name="T6" fmla="*/ 0 w 140"/>
                  <a:gd name="T7" fmla="*/ 1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charset="0"/>
                  <a:ea typeface="微软雅黑" charset="0"/>
                </a:endParaRPr>
              </a:p>
            </p:txBody>
          </p:sp>
          <p:sp>
            <p:nvSpPr>
              <p:cNvPr id="2085" name="Freeform 22"/>
              <p:cNvSpPr/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1 h 49"/>
                  <a:gd name="T2" fmla="*/ 1 w 145"/>
                  <a:gd name="T3" fmla="*/ 0 h 49"/>
                  <a:gd name="T4" fmla="*/ 1 w 145"/>
                  <a:gd name="T5" fmla="*/ 1 h 49"/>
                  <a:gd name="T6" fmla="*/ 0 w 145"/>
                  <a:gd name="T7" fmla="*/ 1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charset="0"/>
                  <a:ea typeface="微软雅黑" charset="0"/>
                </a:endParaRPr>
              </a:p>
            </p:txBody>
          </p:sp>
        </p:grpSp>
        <p:grpSp>
          <p:nvGrpSpPr>
            <p:cNvPr id="2061" name="Group 23"/>
            <p:cNvGrpSpPr/>
            <p:nvPr/>
          </p:nvGrpSpPr>
          <p:grpSpPr bwMode="auto">
            <a:xfrm rot="5003157">
              <a:off x="249" y="1102"/>
              <a:ext cx="412" cy="500"/>
              <a:chOff x="1727" y="866"/>
              <a:chExt cx="129" cy="157"/>
            </a:xfrm>
          </p:grpSpPr>
          <p:sp>
            <p:nvSpPr>
              <p:cNvPr id="2080" name="Freeform 24"/>
              <p:cNvSpPr/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0 w 83"/>
                  <a:gd name="T1" fmla="*/ 1 h 117"/>
                  <a:gd name="T2" fmla="*/ 0 w 83"/>
                  <a:gd name="T3" fmla="*/ 0 h 117"/>
                  <a:gd name="T4" fmla="*/ 0 w 83"/>
                  <a:gd name="T5" fmla="*/ 1 h 117"/>
                  <a:gd name="T6" fmla="*/ 0 w 83"/>
                  <a:gd name="T7" fmla="*/ 1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charset="0"/>
                  <a:ea typeface="微软雅黑" charset="0"/>
                </a:endParaRPr>
              </a:p>
            </p:txBody>
          </p:sp>
          <p:sp>
            <p:nvSpPr>
              <p:cNvPr id="2081" name="Freeform 25"/>
              <p:cNvSpPr/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1 h 98"/>
                  <a:gd name="T2" fmla="*/ 1 w 140"/>
                  <a:gd name="T3" fmla="*/ 0 h 98"/>
                  <a:gd name="T4" fmla="*/ 1 w 140"/>
                  <a:gd name="T5" fmla="*/ 1 h 98"/>
                  <a:gd name="T6" fmla="*/ 0 w 140"/>
                  <a:gd name="T7" fmla="*/ 1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charset="0"/>
                  <a:ea typeface="微软雅黑" charset="0"/>
                </a:endParaRPr>
              </a:p>
            </p:txBody>
          </p:sp>
          <p:sp>
            <p:nvSpPr>
              <p:cNvPr id="2082" name="Freeform 26"/>
              <p:cNvSpPr/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1 h 49"/>
                  <a:gd name="T2" fmla="*/ 1 w 145"/>
                  <a:gd name="T3" fmla="*/ 0 h 49"/>
                  <a:gd name="T4" fmla="*/ 1 w 145"/>
                  <a:gd name="T5" fmla="*/ 1 h 49"/>
                  <a:gd name="T6" fmla="*/ 0 w 145"/>
                  <a:gd name="T7" fmla="*/ 1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charset="0"/>
                  <a:ea typeface="微软雅黑" charset="0"/>
                </a:endParaRPr>
              </a:p>
            </p:txBody>
          </p:sp>
        </p:grpSp>
        <p:grpSp>
          <p:nvGrpSpPr>
            <p:cNvPr id="2062" name="Group 27"/>
            <p:cNvGrpSpPr/>
            <p:nvPr/>
          </p:nvGrpSpPr>
          <p:grpSpPr bwMode="auto">
            <a:xfrm>
              <a:off x="815" y="0"/>
              <a:ext cx="345" cy="367"/>
              <a:chOff x="1727" y="866"/>
              <a:chExt cx="129" cy="157"/>
            </a:xfrm>
          </p:grpSpPr>
          <p:sp>
            <p:nvSpPr>
              <p:cNvPr id="2077" name="Freeform 28"/>
              <p:cNvSpPr/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0 w 83"/>
                  <a:gd name="T1" fmla="*/ 1 h 117"/>
                  <a:gd name="T2" fmla="*/ 0 w 83"/>
                  <a:gd name="T3" fmla="*/ 0 h 117"/>
                  <a:gd name="T4" fmla="*/ 0 w 83"/>
                  <a:gd name="T5" fmla="*/ 1 h 117"/>
                  <a:gd name="T6" fmla="*/ 0 w 83"/>
                  <a:gd name="T7" fmla="*/ 1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charset="0"/>
                  <a:ea typeface="微软雅黑" charset="0"/>
                </a:endParaRPr>
              </a:p>
            </p:txBody>
          </p:sp>
          <p:sp>
            <p:nvSpPr>
              <p:cNvPr id="2078" name="Freeform 29"/>
              <p:cNvSpPr/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1 h 98"/>
                  <a:gd name="T2" fmla="*/ 1 w 140"/>
                  <a:gd name="T3" fmla="*/ 0 h 98"/>
                  <a:gd name="T4" fmla="*/ 1 w 140"/>
                  <a:gd name="T5" fmla="*/ 1 h 98"/>
                  <a:gd name="T6" fmla="*/ 0 w 140"/>
                  <a:gd name="T7" fmla="*/ 1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charset="0"/>
                  <a:ea typeface="微软雅黑" charset="0"/>
                </a:endParaRPr>
              </a:p>
            </p:txBody>
          </p:sp>
          <p:sp>
            <p:nvSpPr>
              <p:cNvPr id="2079" name="Freeform 30"/>
              <p:cNvSpPr/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1 h 49"/>
                  <a:gd name="T2" fmla="*/ 1 w 145"/>
                  <a:gd name="T3" fmla="*/ 0 h 49"/>
                  <a:gd name="T4" fmla="*/ 1 w 145"/>
                  <a:gd name="T5" fmla="*/ 1 h 49"/>
                  <a:gd name="T6" fmla="*/ 0 w 145"/>
                  <a:gd name="T7" fmla="*/ 1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charset="0"/>
                  <a:ea typeface="微软雅黑" charset="0"/>
                </a:endParaRPr>
              </a:p>
            </p:txBody>
          </p:sp>
        </p:grpSp>
        <p:sp>
          <p:nvSpPr>
            <p:cNvPr id="2063" name="Freeform 31"/>
            <p:cNvSpPr/>
            <p:nvPr/>
          </p:nvSpPr>
          <p:spPr bwMode="ltGray">
            <a:xfrm>
              <a:off x="87" y="94"/>
              <a:ext cx="699" cy="756"/>
            </a:xfrm>
            <a:custGeom>
              <a:avLst/>
              <a:gdLst>
                <a:gd name="T0" fmla="*/ 1 w 699"/>
                <a:gd name="T1" fmla="*/ 392 h 756"/>
                <a:gd name="T2" fmla="*/ 3 w 699"/>
                <a:gd name="T3" fmla="*/ 252 h 756"/>
                <a:gd name="T4" fmla="*/ 21 w 699"/>
                <a:gd name="T5" fmla="*/ 210 h 756"/>
                <a:gd name="T6" fmla="*/ 29 w 699"/>
                <a:gd name="T7" fmla="*/ 182 h 756"/>
                <a:gd name="T8" fmla="*/ 39 w 699"/>
                <a:gd name="T9" fmla="*/ 154 h 756"/>
                <a:gd name="T10" fmla="*/ 51 w 699"/>
                <a:gd name="T11" fmla="*/ 138 h 756"/>
                <a:gd name="T12" fmla="*/ 111 w 699"/>
                <a:gd name="T13" fmla="*/ 74 h 756"/>
                <a:gd name="T14" fmla="*/ 169 w 699"/>
                <a:gd name="T15" fmla="*/ 30 h 756"/>
                <a:gd name="T16" fmla="*/ 225 w 699"/>
                <a:gd name="T17" fmla="*/ 10 h 756"/>
                <a:gd name="T18" fmla="*/ 249 w 699"/>
                <a:gd name="T19" fmla="*/ 4 h 756"/>
                <a:gd name="T20" fmla="*/ 265 w 699"/>
                <a:gd name="T21" fmla="*/ 0 h 756"/>
                <a:gd name="T22" fmla="*/ 357 w 699"/>
                <a:gd name="T23" fmla="*/ 2 h 756"/>
                <a:gd name="T24" fmla="*/ 385 w 699"/>
                <a:gd name="T25" fmla="*/ 6 h 756"/>
                <a:gd name="T26" fmla="*/ 489 w 699"/>
                <a:gd name="T27" fmla="*/ 40 h 756"/>
                <a:gd name="T28" fmla="*/ 619 w 699"/>
                <a:gd name="T29" fmla="*/ 128 h 756"/>
                <a:gd name="T30" fmla="*/ 653 w 699"/>
                <a:gd name="T31" fmla="*/ 178 h 756"/>
                <a:gd name="T32" fmla="*/ 693 w 699"/>
                <a:gd name="T33" fmla="*/ 322 h 756"/>
                <a:gd name="T34" fmla="*/ 687 w 699"/>
                <a:gd name="T35" fmla="*/ 434 h 756"/>
                <a:gd name="T36" fmla="*/ 665 w 699"/>
                <a:gd name="T37" fmla="*/ 538 h 756"/>
                <a:gd name="T38" fmla="*/ 639 w 699"/>
                <a:gd name="T39" fmla="*/ 564 h 756"/>
                <a:gd name="T40" fmla="*/ 631 w 699"/>
                <a:gd name="T41" fmla="*/ 580 h 756"/>
                <a:gd name="T42" fmla="*/ 607 w 699"/>
                <a:gd name="T43" fmla="*/ 588 h 756"/>
                <a:gd name="T44" fmla="*/ 473 w 699"/>
                <a:gd name="T45" fmla="*/ 664 h 756"/>
                <a:gd name="T46" fmla="*/ 449 w 699"/>
                <a:gd name="T47" fmla="*/ 678 h 756"/>
                <a:gd name="T48" fmla="*/ 405 w 699"/>
                <a:gd name="T49" fmla="*/ 684 h 756"/>
                <a:gd name="T50" fmla="*/ 375 w 699"/>
                <a:gd name="T51" fmla="*/ 690 h 756"/>
                <a:gd name="T52" fmla="*/ 267 w 699"/>
                <a:gd name="T53" fmla="*/ 684 h 756"/>
                <a:gd name="T54" fmla="*/ 259 w 699"/>
                <a:gd name="T55" fmla="*/ 722 h 756"/>
                <a:gd name="T56" fmla="*/ 241 w 699"/>
                <a:gd name="T57" fmla="*/ 756 h 756"/>
                <a:gd name="T58" fmla="*/ 185 w 699"/>
                <a:gd name="T59" fmla="*/ 728 h 756"/>
                <a:gd name="T60" fmla="*/ 163 w 699"/>
                <a:gd name="T61" fmla="*/ 720 h 756"/>
                <a:gd name="T62" fmla="*/ 151 w 699"/>
                <a:gd name="T63" fmla="*/ 716 h 756"/>
                <a:gd name="T64" fmla="*/ 195 w 699"/>
                <a:gd name="T65" fmla="*/ 674 h 756"/>
                <a:gd name="T66" fmla="*/ 211 w 699"/>
                <a:gd name="T67" fmla="*/ 644 h 756"/>
                <a:gd name="T68" fmla="*/ 209 w 699"/>
                <a:gd name="T69" fmla="*/ 626 h 756"/>
                <a:gd name="T70" fmla="*/ 195 w 699"/>
                <a:gd name="T71" fmla="*/ 620 h 756"/>
                <a:gd name="T72" fmla="*/ 165 w 699"/>
                <a:gd name="T73" fmla="*/ 596 h 756"/>
                <a:gd name="T74" fmla="*/ 99 w 699"/>
                <a:gd name="T75" fmla="*/ 534 h 756"/>
                <a:gd name="T76" fmla="*/ 61 w 699"/>
                <a:gd name="T77" fmla="*/ 506 h 756"/>
                <a:gd name="T78" fmla="*/ 23 w 699"/>
                <a:gd name="T79" fmla="*/ 470 h 756"/>
                <a:gd name="T80" fmla="*/ 7 w 699"/>
                <a:gd name="T81" fmla="*/ 434 h 756"/>
                <a:gd name="T82" fmla="*/ 5 w 699"/>
                <a:gd name="T83" fmla="*/ 396 h 756"/>
                <a:gd name="T84" fmla="*/ 1 w 699"/>
                <a:gd name="T85" fmla="*/ 392 h 75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99" h="756">
                  <a:moveTo>
                    <a:pt x="1" y="392"/>
                  </a:moveTo>
                  <a:cubicBezTo>
                    <a:pt x="2" y="345"/>
                    <a:pt x="2" y="299"/>
                    <a:pt x="3" y="252"/>
                  </a:cubicBezTo>
                  <a:cubicBezTo>
                    <a:pt x="3" y="238"/>
                    <a:pt x="16" y="224"/>
                    <a:pt x="21" y="210"/>
                  </a:cubicBezTo>
                  <a:cubicBezTo>
                    <a:pt x="24" y="202"/>
                    <a:pt x="29" y="182"/>
                    <a:pt x="29" y="182"/>
                  </a:cubicBezTo>
                  <a:cubicBezTo>
                    <a:pt x="32" y="173"/>
                    <a:pt x="34" y="163"/>
                    <a:pt x="39" y="154"/>
                  </a:cubicBezTo>
                  <a:cubicBezTo>
                    <a:pt x="42" y="148"/>
                    <a:pt x="51" y="138"/>
                    <a:pt x="51" y="138"/>
                  </a:cubicBezTo>
                  <a:cubicBezTo>
                    <a:pt x="58" y="116"/>
                    <a:pt x="88" y="82"/>
                    <a:pt x="111" y="74"/>
                  </a:cubicBezTo>
                  <a:cubicBezTo>
                    <a:pt x="128" y="61"/>
                    <a:pt x="149" y="37"/>
                    <a:pt x="169" y="30"/>
                  </a:cubicBezTo>
                  <a:cubicBezTo>
                    <a:pt x="182" y="17"/>
                    <a:pt x="207" y="15"/>
                    <a:pt x="225" y="10"/>
                  </a:cubicBezTo>
                  <a:cubicBezTo>
                    <a:pt x="233" y="8"/>
                    <a:pt x="241" y="6"/>
                    <a:pt x="249" y="4"/>
                  </a:cubicBezTo>
                  <a:cubicBezTo>
                    <a:pt x="254" y="3"/>
                    <a:pt x="265" y="0"/>
                    <a:pt x="265" y="0"/>
                  </a:cubicBezTo>
                  <a:cubicBezTo>
                    <a:pt x="296" y="1"/>
                    <a:pt x="326" y="0"/>
                    <a:pt x="357" y="2"/>
                  </a:cubicBezTo>
                  <a:cubicBezTo>
                    <a:pt x="366" y="2"/>
                    <a:pt x="385" y="6"/>
                    <a:pt x="385" y="6"/>
                  </a:cubicBezTo>
                  <a:cubicBezTo>
                    <a:pt x="417" y="17"/>
                    <a:pt x="463" y="14"/>
                    <a:pt x="489" y="40"/>
                  </a:cubicBezTo>
                  <a:cubicBezTo>
                    <a:pt x="528" y="60"/>
                    <a:pt x="592" y="105"/>
                    <a:pt x="619" y="128"/>
                  </a:cubicBezTo>
                  <a:cubicBezTo>
                    <a:pt x="635" y="134"/>
                    <a:pt x="643" y="164"/>
                    <a:pt x="653" y="178"/>
                  </a:cubicBezTo>
                  <a:cubicBezTo>
                    <a:pt x="667" y="234"/>
                    <a:pt x="687" y="265"/>
                    <a:pt x="693" y="322"/>
                  </a:cubicBezTo>
                  <a:cubicBezTo>
                    <a:pt x="699" y="365"/>
                    <a:pt x="692" y="398"/>
                    <a:pt x="687" y="434"/>
                  </a:cubicBezTo>
                  <a:cubicBezTo>
                    <a:pt x="686" y="469"/>
                    <a:pt x="691" y="510"/>
                    <a:pt x="665" y="538"/>
                  </a:cubicBezTo>
                  <a:cubicBezTo>
                    <a:pt x="657" y="547"/>
                    <a:pt x="644" y="553"/>
                    <a:pt x="639" y="564"/>
                  </a:cubicBezTo>
                  <a:cubicBezTo>
                    <a:pt x="636" y="569"/>
                    <a:pt x="636" y="576"/>
                    <a:pt x="631" y="580"/>
                  </a:cubicBezTo>
                  <a:cubicBezTo>
                    <a:pt x="624" y="585"/>
                    <a:pt x="607" y="588"/>
                    <a:pt x="607" y="588"/>
                  </a:cubicBezTo>
                  <a:cubicBezTo>
                    <a:pt x="581" y="602"/>
                    <a:pt x="499" y="649"/>
                    <a:pt x="473" y="664"/>
                  </a:cubicBezTo>
                  <a:cubicBezTo>
                    <a:pt x="465" y="666"/>
                    <a:pt x="449" y="678"/>
                    <a:pt x="449" y="678"/>
                  </a:cubicBezTo>
                  <a:cubicBezTo>
                    <a:pt x="438" y="685"/>
                    <a:pt x="417" y="679"/>
                    <a:pt x="405" y="684"/>
                  </a:cubicBezTo>
                  <a:cubicBezTo>
                    <a:pt x="396" y="687"/>
                    <a:pt x="385" y="688"/>
                    <a:pt x="375" y="690"/>
                  </a:cubicBezTo>
                  <a:cubicBezTo>
                    <a:pt x="328" y="689"/>
                    <a:pt x="307" y="687"/>
                    <a:pt x="267" y="684"/>
                  </a:cubicBezTo>
                  <a:cubicBezTo>
                    <a:pt x="249" y="690"/>
                    <a:pt x="264" y="683"/>
                    <a:pt x="259" y="722"/>
                  </a:cubicBezTo>
                  <a:cubicBezTo>
                    <a:pt x="258" y="733"/>
                    <a:pt x="250" y="750"/>
                    <a:pt x="241" y="756"/>
                  </a:cubicBezTo>
                  <a:cubicBezTo>
                    <a:pt x="218" y="752"/>
                    <a:pt x="207" y="735"/>
                    <a:pt x="185" y="728"/>
                  </a:cubicBezTo>
                  <a:cubicBezTo>
                    <a:pt x="176" y="725"/>
                    <a:pt x="171" y="724"/>
                    <a:pt x="163" y="720"/>
                  </a:cubicBezTo>
                  <a:cubicBezTo>
                    <a:pt x="159" y="718"/>
                    <a:pt x="151" y="716"/>
                    <a:pt x="151" y="716"/>
                  </a:cubicBezTo>
                  <a:cubicBezTo>
                    <a:pt x="157" y="695"/>
                    <a:pt x="180" y="689"/>
                    <a:pt x="195" y="674"/>
                  </a:cubicBezTo>
                  <a:cubicBezTo>
                    <a:pt x="198" y="665"/>
                    <a:pt x="205" y="652"/>
                    <a:pt x="211" y="644"/>
                  </a:cubicBezTo>
                  <a:cubicBezTo>
                    <a:pt x="210" y="638"/>
                    <a:pt x="212" y="631"/>
                    <a:pt x="209" y="626"/>
                  </a:cubicBezTo>
                  <a:cubicBezTo>
                    <a:pt x="207" y="621"/>
                    <a:pt x="199" y="623"/>
                    <a:pt x="195" y="620"/>
                  </a:cubicBezTo>
                  <a:cubicBezTo>
                    <a:pt x="185" y="612"/>
                    <a:pt x="173" y="606"/>
                    <a:pt x="165" y="596"/>
                  </a:cubicBezTo>
                  <a:cubicBezTo>
                    <a:pt x="146" y="573"/>
                    <a:pt x="123" y="552"/>
                    <a:pt x="99" y="534"/>
                  </a:cubicBezTo>
                  <a:cubicBezTo>
                    <a:pt x="87" y="525"/>
                    <a:pt x="72" y="517"/>
                    <a:pt x="61" y="506"/>
                  </a:cubicBezTo>
                  <a:cubicBezTo>
                    <a:pt x="49" y="494"/>
                    <a:pt x="37" y="480"/>
                    <a:pt x="23" y="470"/>
                  </a:cubicBezTo>
                  <a:cubicBezTo>
                    <a:pt x="13" y="456"/>
                    <a:pt x="10" y="451"/>
                    <a:pt x="7" y="434"/>
                  </a:cubicBezTo>
                  <a:cubicBezTo>
                    <a:pt x="6" y="421"/>
                    <a:pt x="7" y="408"/>
                    <a:pt x="5" y="396"/>
                  </a:cubicBezTo>
                  <a:cubicBezTo>
                    <a:pt x="5" y="394"/>
                    <a:pt x="0" y="391"/>
                    <a:pt x="1" y="392"/>
                  </a:cubicBez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微软雅黑" charset="0"/>
                <a:ea typeface="微软雅黑" charset="0"/>
              </a:endParaRPr>
            </a:p>
          </p:txBody>
        </p:sp>
        <p:sp>
          <p:nvSpPr>
            <p:cNvPr id="2064" name="Freeform 32"/>
            <p:cNvSpPr/>
            <p:nvPr/>
          </p:nvSpPr>
          <p:spPr bwMode="ltGray">
            <a:xfrm rot="828663">
              <a:off x="242" y="3404"/>
              <a:ext cx="132" cy="167"/>
            </a:xfrm>
            <a:custGeom>
              <a:avLst/>
              <a:gdLst>
                <a:gd name="T0" fmla="*/ 0 w 109"/>
                <a:gd name="T1" fmla="*/ 0 h 156"/>
                <a:gd name="T2" fmla="*/ 478 w 109"/>
                <a:gd name="T3" fmla="*/ 1 h 156"/>
                <a:gd name="T4" fmla="*/ 1826 w 109"/>
                <a:gd name="T5" fmla="*/ 5 h 156"/>
                <a:gd name="T6" fmla="*/ 3637 w 109"/>
                <a:gd name="T7" fmla="*/ 59 h 156"/>
                <a:gd name="T8" fmla="*/ 5760 w 109"/>
                <a:gd name="T9" fmla="*/ 124 h 156"/>
                <a:gd name="T10" fmla="*/ 7698 w 109"/>
                <a:gd name="T11" fmla="*/ 227 h 156"/>
                <a:gd name="T12" fmla="*/ 9471 w 109"/>
                <a:gd name="T13" fmla="*/ 365 h 156"/>
                <a:gd name="T14" fmla="*/ 10571 w 109"/>
                <a:gd name="T15" fmla="*/ 553 h 156"/>
                <a:gd name="T16" fmla="*/ 10834 w 109"/>
                <a:gd name="T17" fmla="*/ 811 h 156"/>
                <a:gd name="T18" fmla="*/ 10319 w 109"/>
                <a:gd name="T19" fmla="*/ 811 h 156"/>
                <a:gd name="T20" fmla="*/ 9806 w 109"/>
                <a:gd name="T21" fmla="*/ 811 h 156"/>
                <a:gd name="T22" fmla="*/ 9213 w 109"/>
                <a:gd name="T23" fmla="*/ 811 h 156"/>
                <a:gd name="T24" fmla="*/ 8521 w 109"/>
                <a:gd name="T25" fmla="*/ 784 h 156"/>
                <a:gd name="T26" fmla="*/ 8023 w 109"/>
                <a:gd name="T27" fmla="*/ 783 h 156"/>
                <a:gd name="T28" fmla="*/ 7387 w 109"/>
                <a:gd name="T29" fmla="*/ 771 h 156"/>
                <a:gd name="T30" fmla="*/ 6514 w 109"/>
                <a:gd name="T31" fmla="*/ 744 h 156"/>
                <a:gd name="T32" fmla="*/ 5760 w 109"/>
                <a:gd name="T33" fmla="*/ 714 h 156"/>
                <a:gd name="T34" fmla="*/ 5249 w 109"/>
                <a:gd name="T35" fmla="*/ 649 h 156"/>
                <a:gd name="T36" fmla="*/ 5249 w 109"/>
                <a:gd name="T37" fmla="*/ 576 h 156"/>
                <a:gd name="T38" fmla="*/ 5521 w 109"/>
                <a:gd name="T39" fmla="*/ 494 h 156"/>
                <a:gd name="T40" fmla="*/ 5790 w 109"/>
                <a:gd name="T41" fmla="*/ 411 h 156"/>
                <a:gd name="T42" fmla="*/ 5521 w 109"/>
                <a:gd name="T43" fmla="*/ 319 h 156"/>
                <a:gd name="T44" fmla="*/ 4756 w 109"/>
                <a:gd name="T45" fmla="*/ 221 h 156"/>
                <a:gd name="T46" fmla="*/ 3109 w 109"/>
                <a:gd name="T47" fmla="*/ 119 h 156"/>
                <a:gd name="T48" fmla="*/ 0 w 109"/>
                <a:gd name="T49" fmla="*/ 0 h 15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09" h="156">
                  <a:moveTo>
                    <a:pt x="0" y="0"/>
                  </a:moveTo>
                  <a:lnTo>
                    <a:pt x="5" y="1"/>
                  </a:lnTo>
                  <a:lnTo>
                    <a:pt x="18" y="5"/>
                  </a:lnTo>
                  <a:lnTo>
                    <a:pt x="37" y="12"/>
                  </a:lnTo>
                  <a:lnTo>
                    <a:pt x="58" y="24"/>
                  </a:lnTo>
                  <a:lnTo>
                    <a:pt x="78" y="44"/>
                  </a:lnTo>
                  <a:lnTo>
                    <a:pt x="96" y="71"/>
                  </a:lnTo>
                  <a:lnTo>
                    <a:pt x="107" y="108"/>
                  </a:lnTo>
                  <a:lnTo>
                    <a:pt x="109" y="156"/>
                  </a:lnTo>
                  <a:lnTo>
                    <a:pt x="105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87" y="154"/>
                  </a:lnTo>
                  <a:lnTo>
                    <a:pt x="81" y="153"/>
                  </a:lnTo>
                  <a:lnTo>
                    <a:pt x="74" y="150"/>
                  </a:lnTo>
                  <a:lnTo>
                    <a:pt x="66" y="145"/>
                  </a:lnTo>
                  <a:lnTo>
                    <a:pt x="58" y="139"/>
                  </a:lnTo>
                  <a:lnTo>
                    <a:pt x="53" y="126"/>
                  </a:lnTo>
                  <a:lnTo>
                    <a:pt x="53" y="111"/>
                  </a:lnTo>
                  <a:lnTo>
                    <a:pt x="56" y="96"/>
                  </a:lnTo>
                  <a:lnTo>
                    <a:pt x="59" y="80"/>
                  </a:lnTo>
                  <a:lnTo>
                    <a:pt x="56" y="62"/>
                  </a:lnTo>
                  <a:lnTo>
                    <a:pt x="48" y="43"/>
                  </a:lnTo>
                  <a:lnTo>
                    <a:pt x="31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微软雅黑" charset="0"/>
                <a:ea typeface="微软雅黑" charset="0"/>
              </a:endParaRPr>
            </a:p>
          </p:txBody>
        </p:sp>
        <p:sp>
          <p:nvSpPr>
            <p:cNvPr id="2065" name="Freeform 33"/>
            <p:cNvSpPr/>
            <p:nvPr/>
          </p:nvSpPr>
          <p:spPr bwMode="ltGray">
            <a:xfrm rot="828663">
              <a:off x="266" y="3592"/>
              <a:ext cx="66" cy="43"/>
            </a:xfrm>
            <a:custGeom>
              <a:avLst/>
              <a:gdLst>
                <a:gd name="T0" fmla="*/ 0 w 54"/>
                <a:gd name="T1" fmla="*/ 0 h 40"/>
                <a:gd name="T2" fmla="*/ 1 w 54"/>
                <a:gd name="T3" fmla="*/ 1 h 40"/>
                <a:gd name="T4" fmla="*/ 721 w 54"/>
                <a:gd name="T5" fmla="*/ 3 h 40"/>
                <a:gd name="T6" fmla="*/ 1608 w 54"/>
                <a:gd name="T7" fmla="*/ 49 h 40"/>
                <a:gd name="T8" fmla="*/ 2684 w 54"/>
                <a:gd name="T9" fmla="*/ 66 h 40"/>
                <a:gd name="T10" fmla="*/ 3588 w 54"/>
                <a:gd name="T11" fmla="*/ 82 h 40"/>
                <a:gd name="T12" fmla="*/ 4545 w 54"/>
                <a:gd name="T13" fmla="*/ 95 h 40"/>
                <a:gd name="T14" fmla="*/ 5555 w 54"/>
                <a:gd name="T15" fmla="*/ 102 h 40"/>
                <a:gd name="T16" fmla="*/ 6704 w 54"/>
                <a:gd name="T17" fmla="*/ 88 h 40"/>
                <a:gd name="T18" fmla="*/ 6550 w 54"/>
                <a:gd name="T19" fmla="*/ 139 h 40"/>
                <a:gd name="T20" fmla="*/ 6184 w 54"/>
                <a:gd name="T21" fmla="*/ 185 h 40"/>
                <a:gd name="T22" fmla="*/ 5485 w 54"/>
                <a:gd name="T23" fmla="*/ 214 h 40"/>
                <a:gd name="T24" fmla="*/ 4497 w 54"/>
                <a:gd name="T25" fmla="*/ 228 h 40"/>
                <a:gd name="T26" fmla="*/ 3448 w 54"/>
                <a:gd name="T27" fmla="*/ 226 h 40"/>
                <a:gd name="T28" fmla="*/ 2308 w 54"/>
                <a:gd name="T29" fmla="*/ 183 h 40"/>
                <a:gd name="T30" fmla="*/ 1212 w 54"/>
                <a:gd name="T31" fmla="*/ 118 h 40"/>
                <a:gd name="T32" fmla="*/ 0 w 54"/>
                <a:gd name="T33" fmla="*/ 0 h 4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4" h="40">
                  <a:moveTo>
                    <a:pt x="0" y="0"/>
                  </a:moveTo>
                  <a:lnTo>
                    <a:pt x="1" y="1"/>
                  </a:lnTo>
                  <a:lnTo>
                    <a:pt x="6" y="3"/>
                  </a:lnTo>
                  <a:lnTo>
                    <a:pt x="13" y="8"/>
                  </a:lnTo>
                  <a:lnTo>
                    <a:pt x="21" y="12"/>
                  </a:lnTo>
                  <a:lnTo>
                    <a:pt x="29" y="15"/>
                  </a:lnTo>
                  <a:lnTo>
                    <a:pt x="38" y="17"/>
                  </a:lnTo>
                  <a:lnTo>
                    <a:pt x="46" y="18"/>
                  </a:lnTo>
                  <a:lnTo>
                    <a:pt x="54" y="16"/>
                  </a:lnTo>
                  <a:lnTo>
                    <a:pt x="53" y="25"/>
                  </a:lnTo>
                  <a:lnTo>
                    <a:pt x="50" y="33"/>
                  </a:lnTo>
                  <a:lnTo>
                    <a:pt x="44" y="38"/>
                  </a:lnTo>
                  <a:lnTo>
                    <a:pt x="37" y="40"/>
                  </a:lnTo>
                  <a:lnTo>
                    <a:pt x="28" y="39"/>
                  </a:lnTo>
                  <a:lnTo>
                    <a:pt x="19" y="32"/>
                  </a:lnTo>
                  <a:lnTo>
                    <a:pt x="1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微软雅黑" charset="0"/>
                <a:ea typeface="微软雅黑" charset="0"/>
              </a:endParaRPr>
            </a:p>
          </p:txBody>
        </p:sp>
        <p:sp>
          <p:nvSpPr>
            <p:cNvPr id="2066" name="Freeform 34"/>
            <p:cNvSpPr/>
            <p:nvPr/>
          </p:nvSpPr>
          <p:spPr bwMode="ltGray">
            <a:xfrm>
              <a:off x="11" y="4110"/>
              <a:ext cx="118" cy="209"/>
            </a:xfrm>
            <a:custGeom>
              <a:avLst/>
              <a:gdLst>
                <a:gd name="T0" fmla="*/ 0 w 118"/>
                <a:gd name="T1" fmla="*/ 0 h 209"/>
                <a:gd name="T2" fmla="*/ 6 w 118"/>
                <a:gd name="T3" fmla="*/ 8 h 209"/>
                <a:gd name="T4" fmla="*/ 15 w 118"/>
                <a:gd name="T5" fmla="*/ 19 h 209"/>
                <a:gd name="T6" fmla="*/ 26 w 118"/>
                <a:gd name="T7" fmla="*/ 33 h 209"/>
                <a:gd name="T8" fmla="*/ 38 w 118"/>
                <a:gd name="T9" fmla="*/ 51 h 209"/>
                <a:gd name="T10" fmla="*/ 54 w 118"/>
                <a:gd name="T11" fmla="*/ 72 h 209"/>
                <a:gd name="T12" fmla="*/ 67 w 118"/>
                <a:gd name="T13" fmla="*/ 94 h 209"/>
                <a:gd name="T14" fmla="*/ 79 w 118"/>
                <a:gd name="T15" fmla="*/ 119 h 209"/>
                <a:gd name="T16" fmla="*/ 87 w 118"/>
                <a:gd name="T17" fmla="*/ 146 h 209"/>
                <a:gd name="T18" fmla="*/ 94 w 118"/>
                <a:gd name="T19" fmla="*/ 175 h 209"/>
                <a:gd name="T20" fmla="*/ 91 w 118"/>
                <a:gd name="T21" fmla="*/ 209 h 209"/>
                <a:gd name="T22" fmla="*/ 118 w 118"/>
                <a:gd name="T23" fmla="*/ 209 h 209"/>
                <a:gd name="T24" fmla="*/ 117 w 118"/>
                <a:gd name="T25" fmla="*/ 177 h 209"/>
                <a:gd name="T26" fmla="*/ 104 w 118"/>
                <a:gd name="T27" fmla="*/ 119 h 209"/>
                <a:gd name="T28" fmla="*/ 82 w 118"/>
                <a:gd name="T29" fmla="*/ 69 h 209"/>
                <a:gd name="T30" fmla="*/ 47 w 118"/>
                <a:gd name="T31" fmla="*/ 27 h 209"/>
                <a:gd name="T32" fmla="*/ 0 w 118"/>
                <a:gd name="T33" fmla="*/ 0 h 20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18" h="209">
                  <a:moveTo>
                    <a:pt x="0" y="0"/>
                  </a:moveTo>
                  <a:lnTo>
                    <a:pt x="6" y="8"/>
                  </a:lnTo>
                  <a:lnTo>
                    <a:pt x="15" y="19"/>
                  </a:lnTo>
                  <a:lnTo>
                    <a:pt x="26" y="33"/>
                  </a:lnTo>
                  <a:lnTo>
                    <a:pt x="38" y="51"/>
                  </a:lnTo>
                  <a:lnTo>
                    <a:pt x="54" y="72"/>
                  </a:lnTo>
                  <a:lnTo>
                    <a:pt x="67" y="94"/>
                  </a:lnTo>
                  <a:lnTo>
                    <a:pt x="79" y="119"/>
                  </a:lnTo>
                  <a:lnTo>
                    <a:pt x="87" y="146"/>
                  </a:lnTo>
                  <a:lnTo>
                    <a:pt x="94" y="175"/>
                  </a:lnTo>
                  <a:lnTo>
                    <a:pt x="91" y="209"/>
                  </a:lnTo>
                  <a:lnTo>
                    <a:pt x="118" y="209"/>
                  </a:lnTo>
                  <a:lnTo>
                    <a:pt x="117" y="177"/>
                  </a:lnTo>
                  <a:lnTo>
                    <a:pt x="104" y="119"/>
                  </a:lnTo>
                  <a:lnTo>
                    <a:pt x="82" y="69"/>
                  </a:lnTo>
                  <a:lnTo>
                    <a:pt x="47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微软雅黑" charset="0"/>
                <a:ea typeface="微软雅黑" charset="0"/>
              </a:endParaRPr>
            </a:p>
          </p:txBody>
        </p:sp>
        <p:sp>
          <p:nvSpPr>
            <p:cNvPr id="2067" name="Freeform 35"/>
            <p:cNvSpPr/>
            <p:nvPr/>
          </p:nvSpPr>
          <p:spPr bwMode="ltGray">
            <a:xfrm>
              <a:off x="0" y="3968"/>
              <a:ext cx="130" cy="128"/>
            </a:xfrm>
            <a:custGeom>
              <a:avLst/>
              <a:gdLst>
                <a:gd name="T0" fmla="*/ 103 w 130"/>
                <a:gd name="T1" fmla="*/ 0 h 128"/>
                <a:gd name="T2" fmla="*/ 130 w 130"/>
                <a:gd name="T3" fmla="*/ 128 h 128"/>
                <a:gd name="T4" fmla="*/ 125 w 130"/>
                <a:gd name="T5" fmla="*/ 126 h 128"/>
                <a:gd name="T6" fmla="*/ 111 w 130"/>
                <a:gd name="T7" fmla="*/ 121 h 128"/>
                <a:gd name="T8" fmla="*/ 92 w 130"/>
                <a:gd name="T9" fmla="*/ 111 h 128"/>
                <a:gd name="T10" fmla="*/ 68 w 130"/>
                <a:gd name="T11" fmla="*/ 103 h 128"/>
                <a:gd name="T12" fmla="*/ 41 w 130"/>
                <a:gd name="T13" fmla="*/ 94 h 128"/>
                <a:gd name="T14" fmla="*/ 19 w 130"/>
                <a:gd name="T15" fmla="*/ 90 h 128"/>
                <a:gd name="T16" fmla="*/ 0 w 130"/>
                <a:gd name="T17" fmla="*/ 93 h 128"/>
                <a:gd name="T18" fmla="*/ 0 w 130"/>
                <a:gd name="T19" fmla="*/ 72 h 128"/>
                <a:gd name="T20" fmla="*/ 12 w 130"/>
                <a:gd name="T21" fmla="*/ 70 h 128"/>
                <a:gd name="T22" fmla="*/ 24 w 130"/>
                <a:gd name="T23" fmla="*/ 66 h 128"/>
                <a:gd name="T24" fmla="*/ 38 w 130"/>
                <a:gd name="T25" fmla="*/ 66 h 128"/>
                <a:gd name="T26" fmla="*/ 51 w 130"/>
                <a:gd name="T27" fmla="*/ 67 h 128"/>
                <a:gd name="T28" fmla="*/ 65 w 130"/>
                <a:gd name="T29" fmla="*/ 70 h 128"/>
                <a:gd name="T30" fmla="*/ 78 w 130"/>
                <a:gd name="T31" fmla="*/ 78 h 128"/>
                <a:gd name="T32" fmla="*/ 81 w 130"/>
                <a:gd name="T33" fmla="*/ 74 h 128"/>
                <a:gd name="T34" fmla="*/ 81 w 130"/>
                <a:gd name="T35" fmla="*/ 58 h 128"/>
                <a:gd name="T36" fmla="*/ 82 w 130"/>
                <a:gd name="T37" fmla="*/ 37 h 128"/>
                <a:gd name="T38" fmla="*/ 82 w 130"/>
                <a:gd name="T39" fmla="*/ 29 h 128"/>
                <a:gd name="T40" fmla="*/ 80 w 130"/>
                <a:gd name="T41" fmla="*/ 29 h 128"/>
                <a:gd name="T42" fmla="*/ 77 w 130"/>
                <a:gd name="T43" fmla="*/ 27 h 128"/>
                <a:gd name="T44" fmla="*/ 76 w 130"/>
                <a:gd name="T45" fmla="*/ 22 h 128"/>
                <a:gd name="T46" fmla="*/ 75 w 130"/>
                <a:gd name="T47" fmla="*/ 19 h 128"/>
                <a:gd name="T48" fmla="*/ 76 w 130"/>
                <a:gd name="T49" fmla="*/ 15 h 128"/>
                <a:gd name="T50" fmla="*/ 79 w 130"/>
                <a:gd name="T51" fmla="*/ 10 h 128"/>
                <a:gd name="T52" fmla="*/ 89 w 130"/>
                <a:gd name="T53" fmla="*/ 6 h 128"/>
                <a:gd name="T54" fmla="*/ 103 w 130"/>
                <a:gd name="T55" fmla="*/ 0 h 128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130" h="128">
                  <a:moveTo>
                    <a:pt x="103" y="0"/>
                  </a:moveTo>
                  <a:lnTo>
                    <a:pt x="130" y="128"/>
                  </a:lnTo>
                  <a:lnTo>
                    <a:pt x="125" y="126"/>
                  </a:lnTo>
                  <a:lnTo>
                    <a:pt x="111" y="121"/>
                  </a:lnTo>
                  <a:lnTo>
                    <a:pt x="92" y="111"/>
                  </a:lnTo>
                  <a:lnTo>
                    <a:pt x="68" y="103"/>
                  </a:lnTo>
                  <a:lnTo>
                    <a:pt x="41" y="94"/>
                  </a:lnTo>
                  <a:lnTo>
                    <a:pt x="19" y="90"/>
                  </a:lnTo>
                  <a:lnTo>
                    <a:pt x="0" y="93"/>
                  </a:lnTo>
                  <a:lnTo>
                    <a:pt x="0" y="72"/>
                  </a:lnTo>
                  <a:lnTo>
                    <a:pt x="12" y="70"/>
                  </a:lnTo>
                  <a:lnTo>
                    <a:pt x="24" y="66"/>
                  </a:lnTo>
                  <a:lnTo>
                    <a:pt x="38" y="66"/>
                  </a:lnTo>
                  <a:lnTo>
                    <a:pt x="51" y="67"/>
                  </a:lnTo>
                  <a:lnTo>
                    <a:pt x="65" y="70"/>
                  </a:lnTo>
                  <a:lnTo>
                    <a:pt x="78" y="78"/>
                  </a:lnTo>
                  <a:lnTo>
                    <a:pt x="81" y="74"/>
                  </a:lnTo>
                  <a:lnTo>
                    <a:pt x="81" y="58"/>
                  </a:lnTo>
                  <a:lnTo>
                    <a:pt x="82" y="37"/>
                  </a:lnTo>
                  <a:lnTo>
                    <a:pt x="82" y="29"/>
                  </a:lnTo>
                  <a:lnTo>
                    <a:pt x="80" y="29"/>
                  </a:lnTo>
                  <a:lnTo>
                    <a:pt x="77" y="27"/>
                  </a:lnTo>
                  <a:lnTo>
                    <a:pt x="76" y="22"/>
                  </a:lnTo>
                  <a:lnTo>
                    <a:pt x="75" y="19"/>
                  </a:lnTo>
                  <a:lnTo>
                    <a:pt x="76" y="15"/>
                  </a:lnTo>
                  <a:lnTo>
                    <a:pt x="79" y="10"/>
                  </a:lnTo>
                  <a:lnTo>
                    <a:pt x="89" y="6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微软雅黑" charset="0"/>
                <a:ea typeface="微软雅黑" charset="0"/>
              </a:endParaRPr>
            </a:p>
          </p:txBody>
        </p:sp>
        <p:sp>
          <p:nvSpPr>
            <p:cNvPr id="2068" name="Freeform 36"/>
            <p:cNvSpPr/>
            <p:nvPr/>
          </p:nvSpPr>
          <p:spPr bwMode="ltGray">
            <a:xfrm>
              <a:off x="0" y="3949"/>
              <a:ext cx="47" cy="86"/>
            </a:xfrm>
            <a:custGeom>
              <a:avLst/>
              <a:gdLst>
                <a:gd name="T0" fmla="*/ 37 w 47"/>
                <a:gd name="T1" fmla="*/ 0 h 86"/>
                <a:gd name="T2" fmla="*/ 15 w 47"/>
                <a:gd name="T3" fmla="*/ 37 h 86"/>
                <a:gd name="T4" fmla="*/ 0 w 47"/>
                <a:gd name="T5" fmla="*/ 59 h 86"/>
                <a:gd name="T6" fmla="*/ 0 w 47"/>
                <a:gd name="T7" fmla="*/ 86 h 86"/>
                <a:gd name="T8" fmla="*/ 8 w 47"/>
                <a:gd name="T9" fmla="*/ 82 h 86"/>
                <a:gd name="T10" fmla="*/ 20 w 47"/>
                <a:gd name="T11" fmla="*/ 73 h 86"/>
                <a:gd name="T12" fmla="*/ 33 w 47"/>
                <a:gd name="T13" fmla="*/ 63 h 86"/>
                <a:gd name="T14" fmla="*/ 42 w 47"/>
                <a:gd name="T15" fmla="*/ 51 h 86"/>
                <a:gd name="T16" fmla="*/ 47 w 47"/>
                <a:gd name="T17" fmla="*/ 36 h 86"/>
                <a:gd name="T18" fmla="*/ 46 w 47"/>
                <a:gd name="T19" fmla="*/ 19 h 86"/>
                <a:gd name="T20" fmla="*/ 37 w 47"/>
                <a:gd name="T21" fmla="*/ 0 h 8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7" h="86">
                  <a:moveTo>
                    <a:pt x="37" y="0"/>
                  </a:moveTo>
                  <a:lnTo>
                    <a:pt x="15" y="37"/>
                  </a:lnTo>
                  <a:lnTo>
                    <a:pt x="0" y="59"/>
                  </a:lnTo>
                  <a:lnTo>
                    <a:pt x="0" y="86"/>
                  </a:lnTo>
                  <a:lnTo>
                    <a:pt x="8" y="82"/>
                  </a:lnTo>
                  <a:lnTo>
                    <a:pt x="20" y="73"/>
                  </a:lnTo>
                  <a:lnTo>
                    <a:pt x="33" y="63"/>
                  </a:lnTo>
                  <a:lnTo>
                    <a:pt x="42" y="51"/>
                  </a:lnTo>
                  <a:lnTo>
                    <a:pt x="47" y="36"/>
                  </a:lnTo>
                  <a:lnTo>
                    <a:pt x="46" y="19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微软雅黑" charset="0"/>
                <a:ea typeface="微软雅黑" charset="0"/>
              </a:endParaRPr>
            </a:p>
          </p:txBody>
        </p:sp>
        <p:sp>
          <p:nvSpPr>
            <p:cNvPr id="2069" name="Freeform 37"/>
            <p:cNvSpPr/>
            <p:nvPr/>
          </p:nvSpPr>
          <p:spPr bwMode="ltGray">
            <a:xfrm>
              <a:off x="0" y="3239"/>
              <a:ext cx="497" cy="740"/>
            </a:xfrm>
            <a:custGeom>
              <a:avLst/>
              <a:gdLst>
                <a:gd name="T0" fmla="*/ 0 w 497"/>
                <a:gd name="T1" fmla="*/ 13 h 740"/>
                <a:gd name="T2" fmla="*/ 41 w 497"/>
                <a:gd name="T3" fmla="*/ 4 h 740"/>
                <a:gd name="T4" fmla="*/ 101 w 497"/>
                <a:gd name="T5" fmla="*/ 0 h 740"/>
                <a:gd name="T6" fmla="*/ 170 w 497"/>
                <a:gd name="T7" fmla="*/ 4 h 740"/>
                <a:gd name="T8" fmla="*/ 248 w 497"/>
                <a:gd name="T9" fmla="*/ 21 h 740"/>
                <a:gd name="T10" fmla="*/ 323 w 497"/>
                <a:gd name="T11" fmla="*/ 50 h 740"/>
                <a:gd name="T12" fmla="*/ 382 w 497"/>
                <a:gd name="T13" fmla="*/ 90 h 740"/>
                <a:gd name="T14" fmla="*/ 428 w 497"/>
                <a:gd name="T15" fmla="*/ 141 h 740"/>
                <a:gd name="T16" fmla="*/ 463 w 497"/>
                <a:gd name="T17" fmla="*/ 199 h 740"/>
                <a:gd name="T18" fmla="*/ 485 w 497"/>
                <a:gd name="T19" fmla="*/ 262 h 740"/>
                <a:gd name="T20" fmla="*/ 496 w 497"/>
                <a:gd name="T21" fmla="*/ 327 h 740"/>
                <a:gd name="T22" fmla="*/ 497 w 497"/>
                <a:gd name="T23" fmla="*/ 396 h 740"/>
                <a:gd name="T24" fmla="*/ 487 w 497"/>
                <a:gd name="T25" fmla="*/ 462 h 740"/>
                <a:gd name="T26" fmla="*/ 470 w 497"/>
                <a:gd name="T27" fmla="*/ 527 h 740"/>
                <a:gd name="T28" fmla="*/ 443 w 497"/>
                <a:gd name="T29" fmla="*/ 586 h 740"/>
                <a:gd name="T30" fmla="*/ 406 w 497"/>
                <a:gd name="T31" fmla="*/ 639 h 740"/>
                <a:gd name="T32" fmla="*/ 364 w 497"/>
                <a:gd name="T33" fmla="*/ 683 h 740"/>
                <a:gd name="T34" fmla="*/ 315 w 497"/>
                <a:gd name="T35" fmla="*/ 715 h 740"/>
                <a:gd name="T36" fmla="*/ 259 w 497"/>
                <a:gd name="T37" fmla="*/ 736 h 740"/>
                <a:gd name="T38" fmla="*/ 198 w 497"/>
                <a:gd name="T39" fmla="*/ 740 h 740"/>
                <a:gd name="T40" fmla="*/ 131 w 497"/>
                <a:gd name="T41" fmla="*/ 727 h 740"/>
                <a:gd name="T42" fmla="*/ 167 w 497"/>
                <a:gd name="T43" fmla="*/ 728 h 740"/>
                <a:gd name="T44" fmla="*/ 204 w 497"/>
                <a:gd name="T45" fmla="*/ 718 h 740"/>
                <a:gd name="T46" fmla="*/ 238 w 497"/>
                <a:gd name="T47" fmla="*/ 700 h 740"/>
                <a:gd name="T48" fmla="*/ 272 w 497"/>
                <a:gd name="T49" fmla="*/ 670 h 740"/>
                <a:gd name="T50" fmla="*/ 304 w 497"/>
                <a:gd name="T51" fmla="*/ 635 h 740"/>
                <a:gd name="T52" fmla="*/ 333 w 497"/>
                <a:gd name="T53" fmla="*/ 594 h 740"/>
                <a:gd name="T54" fmla="*/ 358 w 497"/>
                <a:gd name="T55" fmla="*/ 549 h 740"/>
                <a:gd name="T56" fmla="*/ 381 w 497"/>
                <a:gd name="T57" fmla="*/ 500 h 740"/>
                <a:gd name="T58" fmla="*/ 396 w 497"/>
                <a:gd name="T59" fmla="*/ 449 h 740"/>
                <a:gd name="T60" fmla="*/ 408 w 497"/>
                <a:gd name="T61" fmla="*/ 397 h 740"/>
                <a:gd name="T62" fmla="*/ 414 w 497"/>
                <a:gd name="T63" fmla="*/ 346 h 740"/>
                <a:gd name="T64" fmla="*/ 412 w 497"/>
                <a:gd name="T65" fmla="*/ 296 h 740"/>
                <a:gd name="T66" fmla="*/ 402 w 497"/>
                <a:gd name="T67" fmla="*/ 251 h 740"/>
                <a:gd name="T68" fmla="*/ 384 w 497"/>
                <a:gd name="T69" fmla="*/ 208 h 740"/>
                <a:gd name="T70" fmla="*/ 357 w 497"/>
                <a:gd name="T71" fmla="*/ 172 h 740"/>
                <a:gd name="T72" fmla="*/ 320 w 497"/>
                <a:gd name="T73" fmla="*/ 142 h 740"/>
                <a:gd name="T74" fmla="*/ 260 w 497"/>
                <a:gd name="T75" fmla="*/ 107 h 740"/>
                <a:gd name="T76" fmla="*/ 203 w 497"/>
                <a:gd name="T77" fmla="*/ 82 h 740"/>
                <a:gd name="T78" fmla="*/ 154 w 497"/>
                <a:gd name="T79" fmla="*/ 65 h 740"/>
                <a:gd name="T80" fmla="*/ 108 w 497"/>
                <a:gd name="T81" fmla="*/ 56 h 740"/>
                <a:gd name="T82" fmla="*/ 68 w 497"/>
                <a:gd name="T83" fmla="*/ 55 h 740"/>
                <a:gd name="T84" fmla="*/ 32 w 497"/>
                <a:gd name="T85" fmla="*/ 61 h 740"/>
                <a:gd name="T86" fmla="*/ 0 w 497"/>
                <a:gd name="T87" fmla="*/ 70 h 740"/>
                <a:gd name="T88" fmla="*/ 0 w 497"/>
                <a:gd name="T89" fmla="*/ 13 h 74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97" h="740">
                  <a:moveTo>
                    <a:pt x="0" y="13"/>
                  </a:moveTo>
                  <a:lnTo>
                    <a:pt x="41" y="4"/>
                  </a:lnTo>
                  <a:lnTo>
                    <a:pt x="101" y="0"/>
                  </a:lnTo>
                  <a:lnTo>
                    <a:pt x="170" y="4"/>
                  </a:lnTo>
                  <a:lnTo>
                    <a:pt x="248" y="21"/>
                  </a:lnTo>
                  <a:lnTo>
                    <a:pt x="323" y="50"/>
                  </a:lnTo>
                  <a:lnTo>
                    <a:pt x="382" y="90"/>
                  </a:lnTo>
                  <a:lnTo>
                    <a:pt x="428" y="141"/>
                  </a:lnTo>
                  <a:lnTo>
                    <a:pt x="463" y="199"/>
                  </a:lnTo>
                  <a:lnTo>
                    <a:pt x="485" y="262"/>
                  </a:lnTo>
                  <a:lnTo>
                    <a:pt x="496" y="327"/>
                  </a:lnTo>
                  <a:lnTo>
                    <a:pt x="497" y="396"/>
                  </a:lnTo>
                  <a:lnTo>
                    <a:pt x="487" y="462"/>
                  </a:lnTo>
                  <a:lnTo>
                    <a:pt x="470" y="527"/>
                  </a:lnTo>
                  <a:lnTo>
                    <a:pt x="443" y="586"/>
                  </a:lnTo>
                  <a:lnTo>
                    <a:pt x="406" y="639"/>
                  </a:lnTo>
                  <a:lnTo>
                    <a:pt x="364" y="683"/>
                  </a:lnTo>
                  <a:lnTo>
                    <a:pt x="315" y="715"/>
                  </a:lnTo>
                  <a:lnTo>
                    <a:pt x="259" y="736"/>
                  </a:lnTo>
                  <a:lnTo>
                    <a:pt x="198" y="740"/>
                  </a:lnTo>
                  <a:lnTo>
                    <a:pt x="131" y="727"/>
                  </a:lnTo>
                  <a:lnTo>
                    <a:pt x="167" y="728"/>
                  </a:lnTo>
                  <a:lnTo>
                    <a:pt x="204" y="718"/>
                  </a:lnTo>
                  <a:lnTo>
                    <a:pt x="238" y="700"/>
                  </a:lnTo>
                  <a:lnTo>
                    <a:pt x="272" y="670"/>
                  </a:lnTo>
                  <a:lnTo>
                    <a:pt x="304" y="635"/>
                  </a:lnTo>
                  <a:lnTo>
                    <a:pt x="333" y="594"/>
                  </a:lnTo>
                  <a:lnTo>
                    <a:pt x="358" y="549"/>
                  </a:lnTo>
                  <a:lnTo>
                    <a:pt x="381" y="500"/>
                  </a:lnTo>
                  <a:lnTo>
                    <a:pt x="396" y="449"/>
                  </a:lnTo>
                  <a:lnTo>
                    <a:pt x="408" y="397"/>
                  </a:lnTo>
                  <a:lnTo>
                    <a:pt x="414" y="346"/>
                  </a:lnTo>
                  <a:lnTo>
                    <a:pt x="412" y="296"/>
                  </a:lnTo>
                  <a:lnTo>
                    <a:pt x="402" y="251"/>
                  </a:lnTo>
                  <a:lnTo>
                    <a:pt x="384" y="208"/>
                  </a:lnTo>
                  <a:lnTo>
                    <a:pt x="357" y="172"/>
                  </a:lnTo>
                  <a:lnTo>
                    <a:pt x="320" y="142"/>
                  </a:lnTo>
                  <a:lnTo>
                    <a:pt x="260" y="107"/>
                  </a:lnTo>
                  <a:lnTo>
                    <a:pt x="203" y="82"/>
                  </a:lnTo>
                  <a:lnTo>
                    <a:pt x="154" y="65"/>
                  </a:lnTo>
                  <a:lnTo>
                    <a:pt x="108" y="56"/>
                  </a:lnTo>
                  <a:lnTo>
                    <a:pt x="68" y="55"/>
                  </a:lnTo>
                  <a:lnTo>
                    <a:pt x="32" y="61"/>
                  </a:lnTo>
                  <a:lnTo>
                    <a:pt x="0" y="7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微软雅黑" charset="0"/>
                <a:ea typeface="微软雅黑" charset="0"/>
              </a:endParaRPr>
            </a:p>
          </p:txBody>
        </p:sp>
        <p:sp>
          <p:nvSpPr>
            <p:cNvPr id="2070" name="Freeform 38"/>
            <p:cNvSpPr/>
            <p:nvPr/>
          </p:nvSpPr>
          <p:spPr bwMode="ltGray">
            <a:xfrm rot="1584153">
              <a:off x="20" y="410"/>
              <a:ext cx="344" cy="245"/>
            </a:xfrm>
            <a:custGeom>
              <a:avLst/>
              <a:gdLst>
                <a:gd name="T0" fmla="*/ 0 w 257"/>
                <a:gd name="T1" fmla="*/ 0 h 237"/>
                <a:gd name="T2" fmla="*/ 0 w 257"/>
                <a:gd name="T3" fmla="*/ 53 h 237"/>
                <a:gd name="T4" fmla="*/ 2978 w 257"/>
                <a:gd name="T5" fmla="*/ 110 h 237"/>
                <a:gd name="T6" fmla="*/ 6816 w 257"/>
                <a:gd name="T7" fmla="*/ 167 h 237"/>
                <a:gd name="T8" fmla="*/ 12211 w 257"/>
                <a:gd name="T9" fmla="*/ 217 h 237"/>
                <a:gd name="T10" fmla="*/ 19730 w 257"/>
                <a:gd name="T11" fmla="*/ 264 h 237"/>
                <a:gd name="T12" fmla="*/ 29284 w 257"/>
                <a:gd name="T13" fmla="*/ 313 h 237"/>
                <a:gd name="T14" fmla="*/ 41483 w 257"/>
                <a:gd name="T15" fmla="*/ 358 h 237"/>
                <a:gd name="T16" fmla="*/ 55526 w 257"/>
                <a:gd name="T17" fmla="*/ 395 h 237"/>
                <a:gd name="T18" fmla="*/ 73581 w 257"/>
                <a:gd name="T19" fmla="*/ 431 h 237"/>
                <a:gd name="T20" fmla="*/ 94000 w 257"/>
                <a:gd name="T21" fmla="*/ 461 h 237"/>
                <a:gd name="T22" fmla="*/ 115778 w 257"/>
                <a:gd name="T23" fmla="*/ 485 h 237"/>
                <a:gd name="T24" fmla="*/ 142720 w 257"/>
                <a:gd name="T25" fmla="*/ 506 h 237"/>
                <a:gd name="T26" fmla="*/ 172130 w 257"/>
                <a:gd name="T27" fmla="*/ 518 h 237"/>
                <a:gd name="T28" fmla="*/ 205753 w 257"/>
                <a:gd name="T29" fmla="*/ 527 h 237"/>
                <a:gd name="T30" fmla="*/ 240472 w 257"/>
                <a:gd name="T31" fmla="*/ 523 h 237"/>
                <a:gd name="T32" fmla="*/ 281120 w 257"/>
                <a:gd name="T33" fmla="*/ 515 h 237"/>
                <a:gd name="T34" fmla="*/ 245505 w 257"/>
                <a:gd name="T35" fmla="*/ 502 h 237"/>
                <a:gd name="T36" fmla="*/ 213003 w 257"/>
                <a:gd name="T37" fmla="*/ 486 h 237"/>
                <a:gd name="T38" fmla="*/ 186016 w 257"/>
                <a:gd name="T39" fmla="*/ 469 h 237"/>
                <a:gd name="T40" fmla="*/ 161904 w 257"/>
                <a:gd name="T41" fmla="*/ 453 h 237"/>
                <a:gd name="T42" fmla="*/ 139920 w 257"/>
                <a:gd name="T43" fmla="*/ 429 h 237"/>
                <a:gd name="T44" fmla="*/ 122586 w 257"/>
                <a:gd name="T45" fmla="*/ 403 h 237"/>
                <a:gd name="T46" fmla="*/ 106593 w 257"/>
                <a:gd name="T47" fmla="*/ 375 h 237"/>
                <a:gd name="T48" fmla="*/ 91583 w 257"/>
                <a:gd name="T49" fmla="*/ 345 h 237"/>
                <a:gd name="T50" fmla="*/ 78096 w 257"/>
                <a:gd name="T51" fmla="*/ 313 h 237"/>
                <a:gd name="T52" fmla="*/ 67088 w 257"/>
                <a:gd name="T53" fmla="*/ 275 h 237"/>
                <a:gd name="T54" fmla="*/ 57650 w 257"/>
                <a:gd name="T55" fmla="*/ 239 h 237"/>
                <a:gd name="T56" fmla="*/ 47315 w 257"/>
                <a:gd name="T57" fmla="*/ 194 h 237"/>
                <a:gd name="T58" fmla="*/ 36068 w 257"/>
                <a:gd name="T59" fmla="*/ 152 h 237"/>
                <a:gd name="T60" fmla="*/ 25329 w 257"/>
                <a:gd name="T61" fmla="*/ 105 h 237"/>
                <a:gd name="T62" fmla="*/ 12794 w 257"/>
                <a:gd name="T63" fmla="*/ 51 h 237"/>
                <a:gd name="T64" fmla="*/ 0 w 257"/>
                <a:gd name="T65" fmla="*/ 0 h 23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257" h="237">
                  <a:moveTo>
                    <a:pt x="0" y="0"/>
                  </a:moveTo>
                  <a:lnTo>
                    <a:pt x="0" y="25"/>
                  </a:lnTo>
                  <a:lnTo>
                    <a:pt x="3" y="50"/>
                  </a:lnTo>
                  <a:lnTo>
                    <a:pt x="6" y="75"/>
                  </a:lnTo>
                  <a:lnTo>
                    <a:pt x="11" y="98"/>
                  </a:lnTo>
                  <a:lnTo>
                    <a:pt x="18" y="119"/>
                  </a:lnTo>
                  <a:lnTo>
                    <a:pt x="27" y="141"/>
                  </a:lnTo>
                  <a:lnTo>
                    <a:pt x="38" y="161"/>
                  </a:lnTo>
                  <a:lnTo>
                    <a:pt x="51" y="178"/>
                  </a:lnTo>
                  <a:lnTo>
                    <a:pt x="67" y="194"/>
                  </a:lnTo>
                  <a:lnTo>
                    <a:pt x="86" y="208"/>
                  </a:lnTo>
                  <a:lnTo>
                    <a:pt x="106" y="219"/>
                  </a:lnTo>
                  <a:lnTo>
                    <a:pt x="131" y="228"/>
                  </a:lnTo>
                  <a:lnTo>
                    <a:pt x="158" y="234"/>
                  </a:lnTo>
                  <a:lnTo>
                    <a:pt x="188" y="237"/>
                  </a:lnTo>
                  <a:lnTo>
                    <a:pt x="220" y="236"/>
                  </a:lnTo>
                  <a:lnTo>
                    <a:pt x="257" y="232"/>
                  </a:lnTo>
                  <a:lnTo>
                    <a:pt x="224" y="227"/>
                  </a:lnTo>
                  <a:lnTo>
                    <a:pt x="195" y="220"/>
                  </a:lnTo>
                  <a:lnTo>
                    <a:pt x="170" y="212"/>
                  </a:lnTo>
                  <a:lnTo>
                    <a:pt x="148" y="204"/>
                  </a:lnTo>
                  <a:lnTo>
                    <a:pt x="128" y="193"/>
                  </a:lnTo>
                  <a:lnTo>
                    <a:pt x="112" y="182"/>
                  </a:lnTo>
                  <a:lnTo>
                    <a:pt x="97" y="169"/>
                  </a:lnTo>
                  <a:lnTo>
                    <a:pt x="84" y="155"/>
                  </a:lnTo>
                  <a:lnTo>
                    <a:pt x="72" y="141"/>
                  </a:lnTo>
                  <a:lnTo>
                    <a:pt x="61" y="125"/>
                  </a:lnTo>
                  <a:lnTo>
                    <a:pt x="52" y="107"/>
                  </a:lnTo>
                  <a:lnTo>
                    <a:pt x="43" y="88"/>
                  </a:lnTo>
                  <a:lnTo>
                    <a:pt x="33" y="69"/>
                  </a:lnTo>
                  <a:lnTo>
                    <a:pt x="23" y="47"/>
                  </a:lnTo>
                  <a:lnTo>
                    <a:pt x="1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微软雅黑" charset="0"/>
                <a:ea typeface="微软雅黑" charset="0"/>
              </a:endParaRPr>
            </a:p>
          </p:txBody>
        </p:sp>
        <p:sp>
          <p:nvSpPr>
            <p:cNvPr id="2071" name="Freeform 39"/>
            <p:cNvSpPr/>
            <p:nvPr/>
          </p:nvSpPr>
          <p:spPr bwMode="ltGray">
            <a:xfrm rot="1584153">
              <a:off x="242" y="756"/>
              <a:ext cx="167" cy="115"/>
            </a:xfrm>
            <a:custGeom>
              <a:avLst/>
              <a:gdLst>
                <a:gd name="T0" fmla="*/ 98199 w 124"/>
                <a:gd name="T1" fmla="*/ 0 h 110"/>
                <a:gd name="T2" fmla="*/ 156989 w 124"/>
                <a:gd name="T3" fmla="*/ 313 h 110"/>
                <a:gd name="T4" fmla="*/ 152559 w 124"/>
                <a:gd name="T5" fmla="*/ 312 h 110"/>
                <a:gd name="T6" fmla="*/ 135526 w 124"/>
                <a:gd name="T7" fmla="*/ 306 h 110"/>
                <a:gd name="T8" fmla="*/ 113277 w 124"/>
                <a:gd name="T9" fmla="*/ 296 h 110"/>
                <a:gd name="T10" fmla="*/ 86553 w 124"/>
                <a:gd name="T11" fmla="*/ 290 h 110"/>
                <a:gd name="T12" fmla="*/ 56960 w 124"/>
                <a:gd name="T13" fmla="*/ 283 h 110"/>
                <a:gd name="T14" fmla="*/ 32335 w 124"/>
                <a:gd name="T15" fmla="*/ 285 h 110"/>
                <a:gd name="T16" fmla="*/ 11511 w 124"/>
                <a:gd name="T17" fmla="*/ 298 h 110"/>
                <a:gd name="T18" fmla="*/ 0 w 124"/>
                <a:gd name="T19" fmla="*/ 320 h 110"/>
                <a:gd name="T20" fmla="*/ 4712 w 124"/>
                <a:gd name="T21" fmla="*/ 285 h 110"/>
                <a:gd name="T22" fmla="*/ 10353 w 124"/>
                <a:gd name="T23" fmla="*/ 259 h 110"/>
                <a:gd name="T24" fmla="*/ 20879 w 124"/>
                <a:gd name="T25" fmla="*/ 239 h 110"/>
                <a:gd name="T26" fmla="*/ 32335 w 124"/>
                <a:gd name="T27" fmla="*/ 221 h 110"/>
                <a:gd name="T28" fmla="*/ 45871 w 124"/>
                <a:gd name="T29" fmla="*/ 209 h 110"/>
                <a:gd name="T30" fmla="*/ 59230 w 124"/>
                <a:gd name="T31" fmla="*/ 208 h 110"/>
                <a:gd name="T32" fmla="*/ 74273 w 124"/>
                <a:gd name="T33" fmla="*/ 208 h 110"/>
                <a:gd name="T34" fmla="*/ 91292 w 124"/>
                <a:gd name="T35" fmla="*/ 217 h 110"/>
                <a:gd name="T36" fmla="*/ 92507 w 124"/>
                <a:gd name="T37" fmla="*/ 208 h 110"/>
                <a:gd name="T38" fmla="*/ 88824 w 124"/>
                <a:gd name="T39" fmla="*/ 166 h 110"/>
                <a:gd name="T40" fmla="*/ 84735 w 124"/>
                <a:gd name="T41" fmla="*/ 111 h 110"/>
                <a:gd name="T42" fmla="*/ 83201 w 124"/>
                <a:gd name="T43" fmla="*/ 87 h 110"/>
                <a:gd name="T44" fmla="*/ 79769 w 124"/>
                <a:gd name="T45" fmla="*/ 87 h 110"/>
                <a:gd name="T46" fmla="*/ 76712 w 124"/>
                <a:gd name="T47" fmla="*/ 83 h 110"/>
                <a:gd name="T48" fmla="*/ 74273 w 124"/>
                <a:gd name="T49" fmla="*/ 73 h 110"/>
                <a:gd name="T50" fmla="*/ 72914 w 124"/>
                <a:gd name="T51" fmla="*/ 64 h 110"/>
                <a:gd name="T52" fmla="*/ 72914 w 124"/>
                <a:gd name="T53" fmla="*/ 53 h 110"/>
                <a:gd name="T54" fmla="*/ 74273 w 124"/>
                <a:gd name="T55" fmla="*/ 43 h 110"/>
                <a:gd name="T56" fmla="*/ 84110 w 124"/>
                <a:gd name="T57" fmla="*/ 8 h 110"/>
                <a:gd name="T58" fmla="*/ 98199 w 124"/>
                <a:gd name="T59" fmla="*/ 0 h 11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24" h="110">
                  <a:moveTo>
                    <a:pt x="77" y="0"/>
                  </a:moveTo>
                  <a:lnTo>
                    <a:pt x="124" y="108"/>
                  </a:lnTo>
                  <a:lnTo>
                    <a:pt x="120" y="107"/>
                  </a:lnTo>
                  <a:lnTo>
                    <a:pt x="107" y="105"/>
                  </a:lnTo>
                  <a:lnTo>
                    <a:pt x="89" y="101"/>
                  </a:lnTo>
                  <a:lnTo>
                    <a:pt x="68" y="99"/>
                  </a:lnTo>
                  <a:lnTo>
                    <a:pt x="45" y="97"/>
                  </a:lnTo>
                  <a:lnTo>
                    <a:pt x="25" y="98"/>
                  </a:lnTo>
                  <a:lnTo>
                    <a:pt x="9" y="102"/>
                  </a:lnTo>
                  <a:lnTo>
                    <a:pt x="0" y="110"/>
                  </a:lnTo>
                  <a:lnTo>
                    <a:pt x="4" y="98"/>
                  </a:lnTo>
                  <a:lnTo>
                    <a:pt x="8" y="89"/>
                  </a:lnTo>
                  <a:lnTo>
                    <a:pt x="16" y="82"/>
                  </a:lnTo>
                  <a:lnTo>
                    <a:pt x="25" y="76"/>
                  </a:lnTo>
                  <a:lnTo>
                    <a:pt x="36" y="72"/>
                  </a:lnTo>
                  <a:lnTo>
                    <a:pt x="47" y="71"/>
                  </a:lnTo>
                  <a:lnTo>
                    <a:pt x="59" y="71"/>
                  </a:lnTo>
                  <a:lnTo>
                    <a:pt x="72" y="74"/>
                  </a:lnTo>
                  <a:lnTo>
                    <a:pt x="73" y="71"/>
                  </a:lnTo>
                  <a:lnTo>
                    <a:pt x="70" y="56"/>
                  </a:lnTo>
                  <a:lnTo>
                    <a:pt x="67" y="38"/>
                  </a:lnTo>
                  <a:lnTo>
                    <a:pt x="65" y="30"/>
                  </a:lnTo>
                  <a:lnTo>
                    <a:pt x="63" y="30"/>
                  </a:lnTo>
                  <a:lnTo>
                    <a:pt x="61" y="29"/>
                  </a:lnTo>
                  <a:lnTo>
                    <a:pt x="59" y="26"/>
                  </a:lnTo>
                  <a:lnTo>
                    <a:pt x="57" y="23"/>
                  </a:lnTo>
                  <a:lnTo>
                    <a:pt x="57" y="19"/>
                  </a:lnTo>
                  <a:lnTo>
                    <a:pt x="59" y="14"/>
                  </a:lnTo>
                  <a:lnTo>
                    <a:pt x="66" y="8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微软雅黑" charset="0"/>
                <a:ea typeface="微软雅黑" charset="0"/>
              </a:endParaRPr>
            </a:p>
          </p:txBody>
        </p:sp>
        <p:sp>
          <p:nvSpPr>
            <p:cNvPr id="2072" name="Freeform 40"/>
            <p:cNvSpPr/>
            <p:nvPr/>
          </p:nvSpPr>
          <p:spPr bwMode="ltGray">
            <a:xfrm rot="1584153">
              <a:off x="574" y="286"/>
              <a:ext cx="147" cy="160"/>
            </a:xfrm>
            <a:custGeom>
              <a:avLst/>
              <a:gdLst>
                <a:gd name="T0" fmla="*/ 0 w 109"/>
                <a:gd name="T1" fmla="*/ 0 h 156"/>
                <a:gd name="T2" fmla="*/ 6440 w 109"/>
                <a:gd name="T3" fmla="*/ 1 h 156"/>
                <a:gd name="T4" fmla="*/ 22954 w 109"/>
                <a:gd name="T5" fmla="*/ 5 h 156"/>
                <a:gd name="T6" fmla="*/ 48053 w 109"/>
                <a:gd name="T7" fmla="*/ 12 h 156"/>
                <a:gd name="T8" fmla="*/ 75930 w 109"/>
                <a:gd name="T9" fmla="*/ 48 h 156"/>
                <a:gd name="T10" fmla="*/ 102401 w 109"/>
                <a:gd name="T11" fmla="*/ 77 h 156"/>
                <a:gd name="T12" fmla="*/ 125638 w 109"/>
                <a:gd name="T13" fmla="*/ 129 h 156"/>
                <a:gd name="T14" fmla="*/ 139806 w 109"/>
                <a:gd name="T15" fmla="*/ 198 h 156"/>
                <a:gd name="T16" fmla="*/ 142586 w 109"/>
                <a:gd name="T17" fmla="*/ 286 h 156"/>
                <a:gd name="T18" fmla="*/ 138100 w 109"/>
                <a:gd name="T19" fmla="*/ 286 h 156"/>
                <a:gd name="T20" fmla="*/ 130505 w 109"/>
                <a:gd name="T21" fmla="*/ 286 h 156"/>
                <a:gd name="T22" fmla="*/ 121662 w 109"/>
                <a:gd name="T23" fmla="*/ 286 h 156"/>
                <a:gd name="T24" fmla="*/ 113663 w 109"/>
                <a:gd name="T25" fmla="*/ 282 h 156"/>
                <a:gd name="T26" fmla="*/ 105727 w 109"/>
                <a:gd name="T27" fmla="*/ 280 h 156"/>
                <a:gd name="T28" fmla="*/ 96869 w 109"/>
                <a:gd name="T29" fmla="*/ 275 h 156"/>
                <a:gd name="T30" fmla="*/ 86259 w 109"/>
                <a:gd name="T31" fmla="*/ 266 h 156"/>
                <a:gd name="T32" fmla="*/ 75930 w 109"/>
                <a:gd name="T33" fmla="*/ 255 h 156"/>
                <a:gd name="T34" fmla="*/ 69078 w 109"/>
                <a:gd name="T35" fmla="*/ 230 h 156"/>
                <a:gd name="T36" fmla="*/ 69078 w 109"/>
                <a:gd name="T37" fmla="*/ 203 h 156"/>
                <a:gd name="T38" fmla="*/ 73825 w 109"/>
                <a:gd name="T39" fmla="*/ 177 h 156"/>
                <a:gd name="T40" fmla="*/ 78197 w 109"/>
                <a:gd name="T41" fmla="*/ 145 h 156"/>
                <a:gd name="T42" fmla="*/ 73825 w 109"/>
                <a:gd name="T43" fmla="*/ 116 h 156"/>
                <a:gd name="T44" fmla="*/ 63315 w 109"/>
                <a:gd name="T45" fmla="*/ 75 h 156"/>
                <a:gd name="T46" fmla="*/ 41200 w 109"/>
                <a:gd name="T47" fmla="*/ 47 h 156"/>
                <a:gd name="T48" fmla="*/ 0 w 109"/>
                <a:gd name="T49" fmla="*/ 0 h 15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09" h="156">
                  <a:moveTo>
                    <a:pt x="0" y="0"/>
                  </a:moveTo>
                  <a:lnTo>
                    <a:pt x="5" y="1"/>
                  </a:lnTo>
                  <a:lnTo>
                    <a:pt x="18" y="5"/>
                  </a:lnTo>
                  <a:lnTo>
                    <a:pt x="37" y="12"/>
                  </a:lnTo>
                  <a:lnTo>
                    <a:pt x="58" y="24"/>
                  </a:lnTo>
                  <a:lnTo>
                    <a:pt x="78" y="44"/>
                  </a:lnTo>
                  <a:lnTo>
                    <a:pt x="96" y="71"/>
                  </a:lnTo>
                  <a:lnTo>
                    <a:pt x="107" y="108"/>
                  </a:lnTo>
                  <a:lnTo>
                    <a:pt x="109" y="156"/>
                  </a:lnTo>
                  <a:lnTo>
                    <a:pt x="105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87" y="154"/>
                  </a:lnTo>
                  <a:lnTo>
                    <a:pt x="81" y="153"/>
                  </a:lnTo>
                  <a:lnTo>
                    <a:pt x="74" y="150"/>
                  </a:lnTo>
                  <a:lnTo>
                    <a:pt x="66" y="145"/>
                  </a:lnTo>
                  <a:lnTo>
                    <a:pt x="58" y="139"/>
                  </a:lnTo>
                  <a:lnTo>
                    <a:pt x="53" y="126"/>
                  </a:lnTo>
                  <a:lnTo>
                    <a:pt x="53" y="111"/>
                  </a:lnTo>
                  <a:lnTo>
                    <a:pt x="56" y="96"/>
                  </a:lnTo>
                  <a:lnTo>
                    <a:pt x="59" y="80"/>
                  </a:lnTo>
                  <a:lnTo>
                    <a:pt x="56" y="62"/>
                  </a:lnTo>
                  <a:lnTo>
                    <a:pt x="48" y="43"/>
                  </a:lnTo>
                  <a:lnTo>
                    <a:pt x="31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微软雅黑" charset="0"/>
                <a:ea typeface="微软雅黑" charset="0"/>
              </a:endParaRPr>
            </a:p>
          </p:txBody>
        </p:sp>
        <p:sp>
          <p:nvSpPr>
            <p:cNvPr id="2073" name="Freeform 41"/>
            <p:cNvSpPr/>
            <p:nvPr/>
          </p:nvSpPr>
          <p:spPr bwMode="ltGray">
            <a:xfrm rot="1584153">
              <a:off x="236" y="721"/>
              <a:ext cx="62" cy="97"/>
            </a:xfrm>
            <a:custGeom>
              <a:avLst/>
              <a:gdLst>
                <a:gd name="T0" fmla="*/ 40796 w 46"/>
                <a:gd name="T1" fmla="*/ 0 h 94"/>
                <a:gd name="T2" fmla="*/ 25865 w 46"/>
                <a:gd name="T3" fmla="*/ 77 h 94"/>
                <a:gd name="T4" fmla="*/ 19190 w 46"/>
                <a:gd name="T5" fmla="*/ 130 h 94"/>
                <a:gd name="T6" fmla="*/ 14238 w 46"/>
                <a:gd name="T7" fmla="*/ 169 h 94"/>
                <a:gd name="T8" fmla="*/ 0 w 46"/>
                <a:gd name="T9" fmla="*/ 198 h 94"/>
                <a:gd name="T10" fmla="*/ 15628 w 46"/>
                <a:gd name="T11" fmla="*/ 186 h 94"/>
                <a:gd name="T12" fmla="*/ 30268 w 46"/>
                <a:gd name="T13" fmla="*/ 172 h 94"/>
                <a:gd name="T14" fmla="*/ 40995 w 46"/>
                <a:gd name="T15" fmla="*/ 144 h 94"/>
                <a:gd name="T16" fmla="*/ 51576 w 46"/>
                <a:gd name="T17" fmla="*/ 120 h 94"/>
                <a:gd name="T18" fmla="*/ 58710 w 46"/>
                <a:gd name="T19" fmla="*/ 94 h 94"/>
                <a:gd name="T20" fmla="*/ 59430 w 46"/>
                <a:gd name="T21" fmla="*/ 61 h 94"/>
                <a:gd name="T22" fmla="*/ 54986 w 46"/>
                <a:gd name="T23" fmla="*/ 15 h 94"/>
                <a:gd name="T24" fmla="*/ 40796 w 46"/>
                <a:gd name="T25" fmla="*/ 0 h 9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6" h="94">
                  <a:moveTo>
                    <a:pt x="31" y="0"/>
                  </a:moveTo>
                  <a:lnTo>
                    <a:pt x="20" y="38"/>
                  </a:lnTo>
                  <a:lnTo>
                    <a:pt x="15" y="62"/>
                  </a:lnTo>
                  <a:lnTo>
                    <a:pt x="11" y="79"/>
                  </a:lnTo>
                  <a:lnTo>
                    <a:pt x="0" y="94"/>
                  </a:lnTo>
                  <a:lnTo>
                    <a:pt x="12" y="88"/>
                  </a:lnTo>
                  <a:lnTo>
                    <a:pt x="23" y="80"/>
                  </a:lnTo>
                  <a:lnTo>
                    <a:pt x="32" y="69"/>
                  </a:lnTo>
                  <a:lnTo>
                    <a:pt x="40" y="57"/>
                  </a:lnTo>
                  <a:lnTo>
                    <a:pt x="45" y="44"/>
                  </a:lnTo>
                  <a:lnTo>
                    <a:pt x="46" y="30"/>
                  </a:lnTo>
                  <a:lnTo>
                    <a:pt x="42" y="1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微软雅黑" charset="0"/>
                <a:ea typeface="微软雅黑" charset="0"/>
              </a:endParaRPr>
            </a:p>
          </p:txBody>
        </p:sp>
        <p:sp>
          <p:nvSpPr>
            <p:cNvPr id="2074" name="Freeform 42"/>
            <p:cNvSpPr/>
            <p:nvPr/>
          </p:nvSpPr>
          <p:spPr bwMode="ltGray">
            <a:xfrm rot="1584153">
              <a:off x="585" y="466"/>
              <a:ext cx="72" cy="41"/>
            </a:xfrm>
            <a:custGeom>
              <a:avLst/>
              <a:gdLst>
                <a:gd name="T0" fmla="*/ 0 w 54"/>
                <a:gd name="T1" fmla="*/ 0 h 40"/>
                <a:gd name="T2" fmla="*/ 1 w 54"/>
                <a:gd name="T3" fmla="*/ 1 h 40"/>
                <a:gd name="T4" fmla="*/ 6343 w 54"/>
                <a:gd name="T5" fmla="*/ 3 h 40"/>
                <a:gd name="T6" fmla="*/ 12857 w 54"/>
                <a:gd name="T7" fmla="*/ 8 h 40"/>
                <a:gd name="T8" fmla="*/ 20671 w 54"/>
                <a:gd name="T9" fmla="*/ 12 h 40"/>
                <a:gd name="T10" fmla="*/ 29129 w 54"/>
                <a:gd name="T11" fmla="*/ 15 h 40"/>
                <a:gd name="T12" fmla="*/ 38231 w 54"/>
                <a:gd name="T13" fmla="*/ 17 h 40"/>
                <a:gd name="T14" fmla="*/ 45439 w 54"/>
                <a:gd name="T15" fmla="*/ 18 h 40"/>
                <a:gd name="T16" fmla="*/ 53903 w 54"/>
                <a:gd name="T17" fmla="*/ 16 h 40"/>
                <a:gd name="T18" fmla="*/ 53212 w 54"/>
                <a:gd name="T19" fmla="*/ 49 h 40"/>
                <a:gd name="T20" fmla="*/ 50225 w 54"/>
                <a:gd name="T21" fmla="*/ 57 h 40"/>
                <a:gd name="T22" fmla="*/ 44231 w 54"/>
                <a:gd name="T23" fmla="*/ 63 h 40"/>
                <a:gd name="T24" fmla="*/ 36748 w 54"/>
                <a:gd name="T25" fmla="*/ 67 h 40"/>
                <a:gd name="T26" fmla="*/ 27561 w 54"/>
                <a:gd name="T27" fmla="*/ 65 h 40"/>
                <a:gd name="T28" fmla="*/ 18660 w 54"/>
                <a:gd name="T29" fmla="*/ 56 h 40"/>
                <a:gd name="T30" fmla="*/ 9643 w 54"/>
                <a:gd name="T31" fmla="*/ 44 h 40"/>
                <a:gd name="T32" fmla="*/ 0 w 54"/>
                <a:gd name="T33" fmla="*/ 0 h 4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4" h="40">
                  <a:moveTo>
                    <a:pt x="0" y="0"/>
                  </a:moveTo>
                  <a:lnTo>
                    <a:pt x="1" y="1"/>
                  </a:lnTo>
                  <a:lnTo>
                    <a:pt x="6" y="3"/>
                  </a:lnTo>
                  <a:lnTo>
                    <a:pt x="13" y="8"/>
                  </a:lnTo>
                  <a:lnTo>
                    <a:pt x="21" y="12"/>
                  </a:lnTo>
                  <a:lnTo>
                    <a:pt x="29" y="15"/>
                  </a:lnTo>
                  <a:lnTo>
                    <a:pt x="38" y="17"/>
                  </a:lnTo>
                  <a:lnTo>
                    <a:pt x="46" y="18"/>
                  </a:lnTo>
                  <a:lnTo>
                    <a:pt x="54" y="16"/>
                  </a:lnTo>
                  <a:lnTo>
                    <a:pt x="53" y="25"/>
                  </a:lnTo>
                  <a:lnTo>
                    <a:pt x="50" y="33"/>
                  </a:lnTo>
                  <a:lnTo>
                    <a:pt x="44" y="38"/>
                  </a:lnTo>
                  <a:lnTo>
                    <a:pt x="37" y="40"/>
                  </a:lnTo>
                  <a:lnTo>
                    <a:pt x="28" y="39"/>
                  </a:lnTo>
                  <a:lnTo>
                    <a:pt x="19" y="32"/>
                  </a:lnTo>
                  <a:lnTo>
                    <a:pt x="1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微软雅黑" charset="0"/>
                <a:ea typeface="微软雅黑" charset="0"/>
              </a:endParaRPr>
            </a:p>
          </p:txBody>
        </p:sp>
        <p:sp>
          <p:nvSpPr>
            <p:cNvPr id="2075" name="Freeform 43"/>
            <p:cNvSpPr/>
            <p:nvPr/>
          </p:nvSpPr>
          <p:spPr bwMode="ltGray">
            <a:xfrm>
              <a:off x="0" y="886"/>
              <a:ext cx="360" cy="650"/>
            </a:xfrm>
            <a:custGeom>
              <a:avLst/>
              <a:gdLst>
                <a:gd name="T0" fmla="*/ 264 w 360"/>
                <a:gd name="T1" fmla="*/ 0 h 650"/>
                <a:gd name="T2" fmla="*/ 269 w 360"/>
                <a:gd name="T3" fmla="*/ 9 h 650"/>
                <a:gd name="T4" fmla="*/ 277 w 360"/>
                <a:gd name="T5" fmla="*/ 22 h 650"/>
                <a:gd name="T6" fmla="*/ 286 w 360"/>
                <a:gd name="T7" fmla="*/ 39 h 650"/>
                <a:gd name="T8" fmla="*/ 297 w 360"/>
                <a:gd name="T9" fmla="*/ 58 h 650"/>
                <a:gd name="T10" fmla="*/ 309 w 360"/>
                <a:gd name="T11" fmla="*/ 83 h 650"/>
                <a:gd name="T12" fmla="*/ 319 w 360"/>
                <a:gd name="T13" fmla="*/ 108 h 650"/>
                <a:gd name="T14" fmla="*/ 329 w 360"/>
                <a:gd name="T15" fmla="*/ 136 h 650"/>
                <a:gd name="T16" fmla="*/ 333 w 360"/>
                <a:gd name="T17" fmla="*/ 163 h 650"/>
                <a:gd name="T18" fmla="*/ 336 w 360"/>
                <a:gd name="T19" fmla="*/ 193 h 650"/>
                <a:gd name="T20" fmla="*/ 332 w 360"/>
                <a:gd name="T21" fmla="*/ 223 h 650"/>
                <a:gd name="T22" fmla="*/ 323 w 360"/>
                <a:gd name="T23" fmla="*/ 255 h 650"/>
                <a:gd name="T24" fmla="*/ 310 w 360"/>
                <a:gd name="T25" fmla="*/ 285 h 650"/>
                <a:gd name="T26" fmla="*/ 287 w 360"/>
                <a:gd name="T27" fmla="*/ 315 h 650"/>
                <a:gd name="T28" fmla="*/ 257 w 360"/>
                <a:gd name="T29" fmla="*/ 343 h 650"/>
                <a:gd name="T30" fmla="*/ 218 w 360"/>
                <a:gd name="T31" fmla="*/ 370 h 650"/>
                <a:gd name="T32" fmla="*/ 167 w 360"/>
                <a:gd name="T33" fmla="*/ 396 h 650"/>
                <a:gd name="T34" fmla="*/ 111 w 360"/>
                <a:gd name="T35" fmla="*/ 425 h 650"/>
                <a:gd name="T36" fmla="*/ 69 w 360"/>
                <a:gd name="T37" fmla="*/ 457 h 650"/>
                <a:gd name="T38" fmla="*/ 35 w 360"/>
                <a:gd name="T39" fmla="*/ 490 h 650"/>
                <a:gd name="T40" fmla="*/ 12 w 360"/>
                <a:gd name="T41" fmla="*/ 526 h 650"/>
                <a:gd name="T42" fmla="*/ 0 w 360"/>
                <a:gd name="T43" fmla="*/ 553 h 650"/>
                <a:gd name="T44" fmla="*/ 0 w 360"/>
                <a:gd name="T45" fmla="*/ 650 h 650"/>
                <a:gd name="T46" fmla="*/ 6 w 360"/>
                <a:gd name="T47" fmla="*/ 628 h 650"/>
                <a:gd name="T48" fmla="*/ 19 w 360"/>
                <a:gd name="T49" fmla="*/ 594 h 650"/>
                <a:gd name="T50" fmla="*/ 43 w 360"/>
                <a:gd name="T51" fmla="*/ 551 h 650"/>
                <a:gd name="T52" fmla="*/ 76 w 360"/>
                <a:gd name="T53" fmla="*/ 503 h 650"/>
                <a:gd name="T54" fmla="*/ 125 w 360"/>
                <a:gd name="T55" fmla="*/ 454 h 650"/>
                <a:gd name="T56" fmla="*/ 190 w 360"/>
                <a:gd name="T57" fmla="*/ 408 h 650"/>
                <a:gd name="T58" fmla="*/ 275 w 360"/>
                <a:gd name="T59" fmla="*/ 365 h 650"/>
                <a:gd name="T60" fmla="*/ 308 w 360"/>
                <a:gd name="T61" fmla="*/ 342 h 650"/>
                <a:gd name="T62" fmla="*/ 335 w 360"/>
                <a:gd name="T63" fmla="*/ 305 h 650"/>
                <a:gd name="T64" fmla="*/ 352 w 360"/>
                <a:gd name="T65" fmla="*/ 255 h 650"/>
                <a:gd name="T66" fmla="*/ 360 w 360"/>
                <a:gd name="T67" fmla="*/ 201 h 650"/>
                <a:gd name="T68" fmla="*/ 356 w 360"/>
                <a:gd name="T69" fmla="*/ 144 h 650"/>
                <a:gd name="T70" fmla="*/ 341 w 360"/>
                <a:gd name="T71" fmla="*/ 88 h 650"/>
                <a:gd name="T72" fmla="*/ 311 w 360"/>
                <a:gd name="T73" fmla="*/ 39 h 650"/>
                <a:gd name="T74" fmla="*/ 264 w 360"/>
                <a:gd name="T75" fmla="*/ 0 h 65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60" h="650">
                  <a:moveTo>
                    <a:pt x="264" y="0"/>
                  </a:moveTo>
                  <a:lnTo>
                    <a:pt x="269" y="9"/>
                  </a:lnTo>
                  <a:lnTo>
                    <a:pt x="277" y="22"/>
                  </a:lnTo>
                  <a:lnTo>
                    <a:pt x="286" y="39"/>
                  </a:lnTo>
                  <a:lnTo>
                    <a:pt x="297" y="58"/>
                  </a:lnTo>
                  <a:lnTo>
                    <a:pt x="309" y="83"/>
                  </a:lnTo>
                  <a:lnTo>
                    <a:pt x="319" y="108"/>
                  </a:lnTo>
                  <a:lnTo>
                    <a:pt x="329" y="136"/>
                  </a:lnTo>
                  <a:lnTo>
                    <a:pt x="333" y="163"/>
                  </a:lnTo>
                  <a:lnTo>
                    <a:pt x="336" y="193"/>
                  </a:lnTo>
                  <a:lnTo>
                    <a:pt x="332" y="223"/>
                  </a:lnTo>
                  <a:lnTo>
                    <a:pt x="323" y="255"/>
                  </a:lnTo>
                  <a:lnTo>
                    <a:pt x="310" y="285"/>
                  </a:lnTo>
                  <a:lnTo>
                    <a:pt x="287" y="315"/>
                  </a:lnTo>
                  <a:lnTo>
                    <a:pt x="257" y="343"/>
                  </a:lnTo>
                  <a:lnTo>
                    <a:pt x="218" y="370"/>
                  </a:lnTo>
                  <a:lnTo>
                    <a:pt x="167" y="396"/>
                  </a:lnTo>
                  <a:lnTo>
                    <a:pt x="111" y="425"/>
                  </a:lnTo>
                  <a:lnTo>
                    <a:pt x="69" y="457"/>
                  </a:lnTo>
                  <a:lnTo>
                    <a:pt x="35" y="490"/>
                  </a:lnTo>
                  <a:lnTo>
                    <a:pt x="12" y="526"/>
                  </a:lnTo>
                  <a:lnTo>
                    <a:pt x="0" y="553"/>
                  </a:lnTo>
                  <a:lnTo>
                    <a:pt x="0" y="650"/>
                  </a:lnTo>
                  <a:lnTo>
                    <a:pt x="6" y="628"/>
                  </a:lnTo>
                  <a:lnTo>
                    <a:pt x="19" y="594"/>
                  </a:lnTo>
                  <a:lnTo>
                    <a:pt x="43" y="551"/>
                  </a:lnTo>
                  <a:lnTo>
                    <a:pt x="76" y="503"/>
                  </a:lnTo>
                  <a:lnTo>
                    <a:pt x="125" y="454"/>
                  </a:lnTo>
                  <a:lnTo>
                    <a:pt x="190" y="408"/>
                  </a:lnTo>
                  <a:lnTo>
                    <a:pt x="275" y="365"/>
                  </a:lnTo>
                  <a:lnTo>
                    <a:pt x="308" y="342"/>
                  </a:lnTo>
                  <a:lnTo>
                    <a:pt x="335" y="305"/>
                  </a:lnTo>
                  <a:lnTo>
                    <a:pt x="352" y="255"/>
                  </a:lnTo>
                  <a:lnTo>
                    <a:pt x="360" y="201"/>
                  </a:lnTo>
                  <a:lnTo>
                    <a:pt x="356" y="144"/>
                  </a:lnTo>
                  <a:lnTo>
                    <a:pt x="341" y="88"/>
                  </a:lnTo>
                  <a:lnTo>
                    <a:pt x="311" y="39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微软雅黑" charset="0"/>
                <a:ea typeface="微软雅黑" charset="0"/>
              </a:endParaRPr>
            </a:p>
          </p:txBody>
        </p:sp>
        <p:sp>
          <p:nvSpPr>
            <p:cNvPr id="2076" name="Freeform 44"/>
            <p:cNvSpPr/>
            <p:nvPr/>
          </p:nvSpPr>
          <p:spPr bwMode="ltGray">
            <a:xfrm rot="1584153">
              <a:off x="56" y="84"/>
              <a:ext cx="804" cy="686"/>
            </a:xfrm>
            <a:custGeom>
              <a:avLst/>
              <a:gdLst>
                <a:gd name="T0" fmla="*/ 21433 w 596"/>
                <a:gd name="T1" fmla="*/ 750 h 666"/>
                <a:gd name="T2" fmla="*/ 7943 w 596"/>
                <a:gd name="T3" fmla="*/ 695 h 666"/>
                <a:gd name="T4" fmla="*/ 0 w 596"/>
                <a:gd name="T5" fmla="*/ 588 h 666"/>
                <a:gd name="T6" fmla="*/ 4798 w 596"/>
                <a:gd name="T7" fmla="*/ 452 h 666"/>
                <a:gd name="T8" fmla="*/ 33398 w 596"/>
                <a:gd name="T9" fmla="*/ 308 h 666"/>
                <a:gd name="T10" fmla="*/ 90727 w 596"/>
                <a:gd name="T11" fmla="*/ 173 h 666"/>
                <a:gd name="T12" fmla="*/ 187514 w 596"/>
                <a:gd name="T13" fmla="*/ 60 h 666"/>
                <a:gd name="T14" fmla="*/ 325395 w 596"/>
                <a:gd name="T15" fmla="*/ 2 h 666"/>
                <a:gd name="T16" fmla="*/ 501786 w 596"/>
                <a:gd name="T17" fmla="*/ 9 h 666"/>
                <a:gd name="T18" fmla="*/ 638353 w 596"/>
                <a:gd name="T19" fmla="*/ 137 h 666"/>
                <a:gd name="T20" fmla="*/ 730659 w 596"/>
                <a:gd name="T21" fmla="*/ 334 h 666"/>
                <a:gd name="T22" fmla="*/ 779133 w 596"/>
                <a:gd name="T23" fmla="*/ 580 h 666"/>
                <a:gd name="T24" fmla="*/ 785134 w 596"/>
                <a:gd name="T25" fmla="*/ 834 h 666"/>
                <a:gd name="T26" fmla="*/ 747121 w 596"/>
                <a:gd name="T27" fmla="*/ 1067 h 666"/>
                <a:gd name="T28" fmla="*/ 668531 w 596"/>
                <a:gd name="T29" fmla="*/ 1249 h 666"/>
                <a:gd name="T30" fmla="*/ 550006 w 596"/>
                <a:gd name="T31" fmla="*/ 1349 h 666"/>
                <a:gd name="T32" fmla="*/ 513220 w 596"/>
                <a:gd name="T33" fmla="*/ 1342 h 666"/>
                <a:gd name="T34" fmla="*/ 582015 w 596"/>
                <a:gd name="T35" fmla="*/ 1260 h 666"/>
                <a:gd name="T36" fmla="*/ 635516 w 596"/>
                <a:gd name="T37" fmla="*/ 1104 h 666"/>
                <a:gd name="T38" fmla="*/ 672317 w 596"/>
                <a:gd name="T39" fmla="*/ 923 h 666"/>
                <a:gd name="T40" fmla="*/ 685383 w 596"/>
                <a:gd name="T41" fmla="*/ 723 h 666"/>
                <a:gd name="T42" fmla="*/ 677477 w 596"/>
                <a:gd name="T43" fmla="*/ 524 h 666"/>
                <a:gd name="T44" fmla="*/ 639199 w 596"/>
                <a:gd name="T45" fmla="*/ 353 h 666"/>
                <a:gd name="T46" fmla="*/ 571010 w 596"/>
                <a:gd name="T47" fmla="*/ 228 h 666"/>
                <a:gd name="T48" fmla="*/ 450067 w 596"/>
                <a:gd name="T49" fmla="*/ 150 h 666"/>
                <a:gd name="T50" fmla="*/ 324600 w 596"/>
                <a:gd name="T51" fmla="*/ 122 h 666"/>
                <a:gd name="T52" fmla="*/ 229709 w 596"/>
                <a:gd name="T53" fmla="*/ 142 h 666"/>
                <a:gd name="T54" fmla="*/ 159852 w 596"/>
                <a:gd name="T55" fmla="*/ 204 h 666"/>
                <a:gd name="T56" fmla="*/ 110603 w 596"/>
                <a:gd name="T57" fmla="*/ 303 h 666"/>
                <a:gd name="T58" fmla="*/ 75268 w 596"/>
                <a:gd name="T59" fmla="*/ 420 h 666"/>
                <a:gd name="T60" fmla="*/ 52615 w 596"/>
                <a:gd name="T61" fmla="*/ 552 h 666"/>
                <a:gd name="T62" fmla="*/ 36958 w 596"/>
                <a:gd name="T63" fmla="*/ 686 h 66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596" h="666">
                  <a:moveTo>
                    <a:pt x="22" y="372"/>
                  </a:moveTo>
                  <a:lnTo>
                    <a:pt x="16" y="370"/>
                  </a:lnTo>
                  <a:lnTo>
                    <a:pt x="10" y="360"/>
                  </a:lnTo>
                  <a:lnTo>
                    <a:pt x="6" y="341"/>
                  </a:lnTo>
                  <a:lnTo>
                    <a:pt x="1" y="318"/>
                  </a:lnTo>
                  <a:lnTo>
                    <a:pt x="0" y="289"/>
                  </a:lnTo>
                  <a:lnTo>
                    <a:pt x="0" y="257"/>
                  </a:lnTo>
                  <a:lnTo>
                    <a:pt x="4" y="222"/>
                  </a:lnTo>
                  <a:lnTo>
                    <a:pt x="13" y="187"/>
                  </a:lnTo>
                  <a:lnTo>
                    <a:pt x="25" y="151"/>
                  </a:lnTo>
                  <a:lnTo>
                    <a:pt x="45" y="116"/>
                  </a:lnTo>
                  <a:lnTo>
                    <a:pt x="69" y="84"/>
                  </a:lnTo>
                  <a:lnTo>
                    <a:pt x="101" y="55"/>
                  </a:lnTo>
                  <a:lnTo>
                    <a:pt x="142" y="31"/>
                  </a:lnTo>
                  <a:lnTo>
                    <a:pt x="190" y="13"/>
                  </a:lnTo>
                  <a:lnTo>
                    <a:pt x="247" y="2"/>
                  </a:lnTo>
                  <a:lnTo>
                    <a:pt x="314" y="0"/>
                  </a:lnTo>
                  <a:lnTo>
                    <a:pt x="380" y="9"/>
                  </a:lnTo>
                  <a:lnTo>
                    <a:pt x="436" y="33"/>
                  </a:lnTo>
                  <a:lnTo>
                    <a:pt x="484" y="68"/>
                  </a:lnTo>
                  <a:lnTo>
                    <a:pt x="524" y="113"/>
                  </a:lnTo>
                  <a:lnTo>
                    <a:pt x="554" y="165"/>
                  </a:lnTo>
                  <a:lnTo>
                    <a:pt x="577" y="222"/>
                  </a:lnTo>
                  <a:lnTo>
                    <a:pt x="591" y="284"/>
                  </a:lnTo>
                  <a:lnTo>
                    <a:pt x="596" y="347"/>
                  </a:lnTo>
                  <a:lnTo>
                    <a:pt x="595" y="409"/>
                  </a:lnTo>
                  <a:lnTo>
                    <a:pt x="585" y="469"/>
                  </a:lnTo>
                  <a:lnTo>
                    <a:pt x="566" y="525"/>
                  </a:lnTo>
                  <a:lnTo>
                    <a:pt x="540" y="574"/>
                  </a:lnTo>
                  <a:lnTo>
                    <a:pt x="507" y="615"/>
                  </a:lnTo>
                  <a:lnTo>
                    <a:pt x="465" y="645"/>
                  </a:lnTo>
                  <a:lnTo>
                    <a:pt x="417" y="663"/>
                  </a:lnTo>
                  <a:lnTo>
                    <a:pt x="360" y="666"/>
                  </a:lnTo>
                  <a:lnTo>
                    <a:pt x="389" y="659"/>
                  </a:lnTo>
                  <a:lnTo>
                    <a:pt x="417" y="642"/>
                  </a:lnTo>
                  <a:lnTo>
                    <a:pt x="441" y="617"/>
                  </a:lnTo>
                  <a:lnTo>
                    <a:pt x="463" y="583"/>
                  </a:lnTo>
                  <a:lnTo>
                    <a:pt x="482" y="544"/>
                  </a:lnTo>
                  <a:lnTo>
                    <a:pt x="497" y="501"/>
                  </a:lnTo>
                  <a:lnTo>
                    <a:pt x="509" y="454"/>
                  </a:lnTo>
                  <a:lnTo>
                    <a:pt x="517" y="404"/>
                  </a:lnTo>
                  <a:lnTo>
                    <a:pt x="520" y="355"/>
                  </a:lnTo>
                  <a:lnTo>
                    <a:pt x="519" y="305"/>
                  </a:lnTo>
                  <a:lnTo>
                    <a:pt x="514" y="258"/>
                  </a:lnTo>
                  <a:lnTo>
                    <a:pt x="502" y="213"/>
                  </a:lnTo>
                  <a:lnTo>
                    <a:pt x="485" y="174"/>
                  </a:lnTo>
                  <a:lnTo>
                    <a:pt x="462" y="139"/>
                  </a:lnTo>
                  <a:lnTo>
                    <a:pt x="433" y="112"/>
                  </a:lnTo>
                  <a:lnTo>
                    <a:pt x="397" y="93"/>
                  </a:lnTo>
                  <a:lnTo>
                    <a:pt x="341" y="75"/>
                  </a:lnTo>
                  <a:lnTo>
                    <a:pt x="290" y="65"/>
                  </a:lnTo>
                  <a:lnTo>
                    <a:pt x="246" y="61"/>
                  </a:lnTo>
                  <a:lnTo>
                    <a:pt x="207" y="63"/>
                  </a:lnTo>
                  <a:lnTo>
                    <a:pt x="174" y="71"/>
                  </a:lnTo>
                  <a:lnTo>
                    <a:pt x="146" y="84"/>
                  </a:lnTo>
                  <a:lnTo>
                    <a:pt x="121" y="101"/>
                  </a:lnTo>
                  <a:lnTo>
                    <a:pt x="101" y="123"/>
                  </a:lnTo>
                  <a:lnTo>
                    <a:pt x="84" y="149"/>
                  </a:lnTo>
                  <a:lnTo>
                    <a:pt x="69" y="176"/>
                  </a:lnTo>
                  <a:lnTo>
                    <a:pt x="57" y="206"/>
                  </a:lnTo>
                  <a:lnTo>
                    <a:pt x="48" y="239"/>
                  </a:lnTo>
                  <a:lnTo>
                    <a:pt x="40" y="272"/>
                  </a:lnTo>
                  <a:lnTo>
                    <a:pt x="33" y="305"/>
                  </a:lnTo>
                  <a:lnTo>
                    <a:pt x="28" y="339"/>
                  </a:lnTo>
                  <a:lnTo>
                    <a:pt x="22" y="37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微软雅黑" charset="0"/>
                <a:ea typeface="微软雅黑" charset="0"/>
              </a:endParaRPr>
            </a:p>
          </p:txBody>
        </p:sp>
      </p:grpSp>
      <p:sp>
        <p:nvSpPr>
          <p:cNvPr id="100397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442913" y="103188"/>
            <a:ext cx="8243887" cy="13144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2" name="Rectangle 4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5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0399" name="Rectangle 4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 b="0">
                <a:solidFill>
                  <a:srgbClr val="006699"/>
                </a:solidFill>
                <a:latin typeface="微软雅黑" charset="0"/>
                <a:ea typeface="微软雅黑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0400" name="Rectangle 4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="0">
                <a:solidFill>
                  <a:srgbClr val="006699"/>
                </a:solidFill>
                <a:latin typeface="微软雅黑" charset="0"/>
                <a:ea typeface="微软雅黑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0401" name="Rectangle 4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 b="0">
                <a:solidFill>
                  <a:srgbClr val="006699"/>
                </a:solidFill>
                <a:latin typeface="微软雅黑" charset="0"/>
                <a:ea typeface="微软雅黑" charset="0"/>
              </a:defRPr>
            </a:lvl1pPr>
          </a:lstStyle>
          <a:p>
            <a:pPr>
              <a:defRPr/>
            </a:pPr>
            <a:fld id="{7DFFCD63-DEA8-430F-B258-6A669F0F35F7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ransition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微软雅黑" charset="0"/>
          <a:ea typeface="微软雅黑" charset="0"/>
          <a:cs typeface="黑体" pitchFamily="49" charset="-122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804030504040204" pitchFamily="34" charset="0"/>
          <a:ea typeface="黑体" pitchFamily="49" charset="-122"/>
          <a:cs typeface="黑体" pitchFamily="49" charset="-122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804030504040204" pitchFamily="34" charset="0"/>
          <a:ea typeface="黑体" pitchFamily="49" charset="-122"/>
          <a:cs typeface="黑体" pitchFamily="49" charset="-122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804030504040204" pitchFamily="34" charset="0"/>
          <a:ea typeface="黑体" pitchFamily="49" charset="-122"/>
          <a:cs typeface="黑体" pitchFamily="49" charset="-122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804030504040204" pitchFamily="34" charset="0"/>
          <a:ea typeface="黑体" pitchFamily="49" charset="-122"/>
          <a:cs typeface="黑体" pitchFamily="49" charset="-122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804030504040204" pitchFamily="34" charset="0"/>
          <a:ea typeface="宋体" pitchFamily="2" charset="-122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804030504040204" pitchFamily="34" charset="0"/>
          <a:ea typeface="宋体" pitchFamily="2" charset="-122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804030504040204" pitchFamily="34" charset="0"/>
          <a:ea typeface="宋体" pitchFamily="2" charset="-122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8040305040402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微软雅黑" charset="0"/>
          <a:ea typeface="微软雅黑" charset="0"/>
          <a:cs typeface="黑体" pitchFamily="49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微软雅黑" charset="0"/>
          <a:ea typeface="微软雅黑" charset="0"/>
          <a:cs typeface="黑体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微软雅黑" charset="0"/>
          <a:ea typeface="微软雅黑" charset="0"/>
          <a:cs typeface="黑体" pitchFamily="49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微软雅黑" charset="0"/>
          <a:ea typeface="微软雅黑" charset="0"/>
          <a:cs typeface="黑体" pitchFamily="49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微软雅黑" charset="0"/>
          <a:ea typeface="微软雅黑" charset="0"/>
          <a:cs typeface="黑体" pitchFamily="49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黑体" pitchFamily="49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黑体" pitchFamily="49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黑体" pitchFamily="49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黑体" pitchFamily="49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黑体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emf"/><Relationship Id="rId1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8.wmf"/><Relationship Id="rId1" Type="http://schemas.openxmlformats.org/officeDocument/2006/relationships/oleObject" Target="../embeddings/oleObject2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e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11.emf"/><Relationship Id="rId1" Type="http://schemas.openxmlformats.org/officeDocument/2006/relationships/oleObject" Target="../embeddings/oleObject4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.bin"/><Relationship Id="rId8" Type="http://schemas.openxmlformats.org/officeDocument/2006/relationships/image" Target="../media/image21.emf"/><Relationship Id="rId7" Type="http://schemas.openxmlformats.org/officeDocument/2006/relationships/oleObject" Target="../embeddings/oleObject9.bin"/><Relationship Id="rId6" Type="http://schemas.openxmlformats.org/officeDocument/2006/relationships/image" Target="../media/image20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9.e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18.emf"/><Relationship Id="rId19" Type="http://schemas.openxmlformats.org/officeDocument/2006/relationships/notesSlide" Target="../notesSlides/notesSlide24.xml"/><Relationship Id="rId18" Type="http://schemas.openxmlformats.org/officeDocument/2006/relationships/vmlDrawing" Target="../drawings/vmlDrawing4.v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25.emf"/><Relationship Id="rId15" Type="http://schemas.openxmlformats.org/officeDocument/2006/relationships/oleObject" Target="../embeddings/oleObject13.bin"/><Relationship Id="rId14" Type="http://schemas.openxmlformats.org/officeDocument/2006/relationships/image" Target="../media/image24.emf"/><Relationship Id="rId13" Type="http://schemas.openxmlformats.org/officeDocument/2006/relationships/oleObject" Target="../embeddings/oleObject12.bin"/><Relationship Id="rId12" Type="http://schemas.openxmlformats.org/officeDocument/2006/relationships/image" Target="../media/image23.emf"/><Relationship Id="rId11" Type="http://schemas.openxmlformats.org/officeDocument/2006/relationships/oleObject" Target="../embeddings/oleObject11.bin"/><Relationship Id="rId10" Type="http://schemas.openxmlformats.org/officeDocument/2006/relationships/image" Target="../media/image22.emf"/><Relationship Id="rId1" Type="http://schemas.openxmlformats.org/officeDocument/2006/relationships/oleObject" Target="../embeddings/oleObject6.bin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7.w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26.wmf"/><Relationship Id="rId1" Type="http://schemas.openxmlformats.org/officeDocument/2006/relationships/oleObject" Target="../embeddings/oleObject14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34.wmf"/><Relationship Id="rId7" Type="http://schemas.openxmlformats.org/officeDocument/2006/relationships/oleObject" Target="../embeddings/oleObject19.bin"/><Relationship Id="rId6" Type="http://schemas.openxmlformats.org/officeDocument/2006/relationships/image" Target="../media/image33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32.wmf"/><Relationship Id="rId3" Type="http://schemas.openxmlformats.org/officeDocument/2006/relationships/oleObject" Target="../embeddings/oleObject17.bin"/><Relationship Id="rId2" Type="http://schemas.openxmlformats.org/officeDocument/2006/relationships/image" Target="../media/image31.wmf"/><Relationship Id="rId10" Type="http://schemas.openxmlformats.org/officeDocument/2006/relationships/vmlDrawing" Target="../drawings/vmlDrawing6.vml"/><Relationship Id="rId1" Type="http://schemas.openxmlformats.org/officeDocument/2006/relationships/oleObject" Target="../embeddings/oleObject16.bin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3.xml"/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5.xml"/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9.wmf"/><Relationship Id="rId1" Type="http://schemas.openxmlformats.org/officeDocument/2006/relationships/oleObject" Target="../embeddings/oleObject20.bin"/></Relationships>
</file>

<file path=ppt/slides/_rels/slide5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6.xml"/><Relationship Id="rId6" Type="http://schemas.openxmlformats.org/officeDocument/2006/relationships/vmlDrawing" Target="../drawings/vmlDrawing8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1.wmf"/><Relationship Id="rId3" Type="http://schemas.openxmlformats.org/officeDocument/2006/relationships/oleObject" Target="../embeddings/oleObject22.bin"/><Relationship Id="rId2" Type="http://schemas.openxmlformats.org/officeDocument/2006/relationships/image" Target="../media/image40.wmf"/><Relationship Id="rId1" Type="http://schemas.openxmlformats.org/officeDocument/2006/relationships/oleObject" Target="../embeddings/oleObject21.bin"/></Relationships>
</file>

<file path=ppt/slides/_rels/slide5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5.emf"/><Relationship Id="rId7" Type="http://schemas.openxmlformats.org/officeDocument/2006/relationships/oleObject" Target="../embeddings/oleObject26.bin"/><Relationship Id="rId6" Type="http://schemas.openxmlformats.org/officeDocument/2006/relationships/image" Target="../media/image44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43.wmf"/><Relationship Id="rId3" Type="http://schemas.openxmlformats.org/officeDocument/2006/relationships/oleObject" Target="../embeddings/oleObject24.bin"/><Relationship Id="rId2" Type="http://schemas.openxmlformats.org/officeDocument/2006/relationships/image" Target="../media/image42.wmf"/><Relationship Id="rId11" Type="http://schemas.openxmlformats.org/officeDocument/2006/relationships/notesSlide" Target="../notesSlides/notesSlide37.xml"/><Relationship Id="rId10" Type="http://schemas.openxmlformats.org/officeDocument/2006/relationships/vmlDrawing" Target="../drawings/vmlDrawing9.vml"/><Relationship Id="rId1" Type="http://schemas.openxmlformats.org/officeDocument/2006/relationships/oleObject" Target="../embeddings/oleObject23.bin"/></Relationships>
</file>

<file path=ppt/slides/_rels/slide5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8.xml"/><Relationship Id="rId8" Type="http://schemas.openxmlformats.org/officeDocument/2006/relationships/vmlDrawing" Target="../drawings/vmlDrawing10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5.e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47.wmf"/><Relationship Id="rId3" Type="http://schemas.openxmlformats.org/officeDocument/2006/relationships/oleObject" Target="../embeddings/oleObject28.bin"/><Relationship Id="rId2" Type="http://schemas.openxmlformats.org/officeDocument/2006/relationships/image" Target="../media/image46.wmf"/><Relationship Id="rId1" Type="http://schemas.openxmlformats.org/officeDocument/2006/relationships/oleObject" Target="../embeddings/oleObject27.bin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png"/></Relationships>
</file>

<file path=ppt/slides/_rels/slide6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5.xml"/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1" Type="http://schemas.openxmlformats.org/officeDocument/2006/relationships/oleObject" Target="../embeddings/oleObject30.bin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5.bin"/><Relationship Id="rId8" Type="http://schemas.openxmlformats.org/officeDocument/2006/relationships/image" Target="../media/image53.wmf"/><Relationship Id="rId7" Type="http://schemas.openxmlformats.org/officeDocument/2006/relationships/oleObject" Target="../embeddings/oleObject34.bin"/><Relationship Id="rId6" Type="http://schemas.openxmlformats.org/officeDocument/2006/relationships/image" Target="../media/image52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51.wmf"/><Relationship Id="rId3" Type="http://schemas.openxmlformats.org/officeDocument/2006/relationships/oleObject" Target="../embeddings/oleObject32.bin"/><Relationship Id="rId2" Type="http://schemas.openxmlformats.org/officeDocument/2006/relationships/image" Target="../media/image50.png"/><Relationship Id="rId13" Type="http://schemas.openxmlformats.org/officeDocument/2006/relationships/notesSlide" Target="../notesSlides/notesSlide47.xml"/><Relationship Id="rId12" Type="http://schemas.openxmlformats.org/officeDocument/2006/relationships/vmlDrawing" Target="../drawings/vmlDrawing12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54.wmf"/><Relationship Id="rId1" Type="http://schemas.openxmlformats.org/officeDocument/2006/relationships/oleObject" Target="../embeddings/oleObject31.bin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5.emf"/><Relationship Id="rId1" Type="http://schemas.openxmlformats.org/officeDocument/2006/relationships/oleObject" Target="../embeddings/oleObject36.bin"/></Relationships>
</file>

<file path=ppt/slides/_rels/slide7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0.xml"/><Relationship Id="rId6" Type="http://schemas.openxmlformats.org/officeDocument/2006/relationships/vmlDrawing" Target="../drawings/vmlDrawing14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57.emf"/><Relationship Id="rId3" Type="http://schemas.openxmlformats.org/officeDocument/2006/relationships/oleObject" Target="../embeddings/oleObject38.bin"/><Relationship Id="rId2" Type="http://schemas.openxmlformats.org/officeDocument/2006/relationships/image" Target="../media/image56.emf"/><Relationship Id="rId1" Type="http://schemas.openxmlformats.org/officeDocument/2006/relationships/oleObject" Target="../embeddings/oleObject37.bin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8.png"/></Relationships>
</file>

<file path=ppt/slides/_rels/slide7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2.xml"/><Relationship Id="rId5" Type="http://schemas.openxmlformats.org/officeDocument/2006/relationships/vmlDrawing" Target="../drawings/vmlDrawing15.v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60.png"/><Relationship Id="rId2" Type="http://schemas.openxmlformats.org/officeDocument/2006/relationships/image" Target="../media/image59.wmf"/><Relationship Id="rId1" Type="http://schemas.openxmlformats.org/officeDocument/2006/relationships/oleObject" Target="../embeddings/oleObject39.bin"/></Relationships>
</file>

<file path=ppt/slides/_rels/slide7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3.xml"/><Relationship Id="rId4" Type="http://schemas.openxmlformats.org/officeDocument/2006/relationships/vmlDrawing" Target="../drawings/vmlDrawing16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1.wmf"/><Relationship Id="rId1" Type="http://schemas.openxmlformats.org/officeDocument/2006/relationships/oleObject" Target="../embeddings/oleObject40.bin"/></Relationships>
</file>

<file path=ppt/slides/_rels/slide7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4.xml"/><Relationship Id="rId4" Type="http://schemas.openxmlformats.org/officeDocument/2006/relationships/vmlDrawing" Target="../drawings/vmlDrawing17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6.emf"/><Relationship Id="rId1" Type="http://schemas.openxmlformats.org/officeDocument/2006/relationships/oleObject" Target="../embeddings/oleObject41.bin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2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0" y="1700213"/>
            <a:ext cx="9144000" cy="2089150"/>
          </a:xfrm>
          <a:prstGeom prst="rect">
            <a:avLst/>
          </a:prstGeom>
          <a:solidFill>
            <a:srgbClr val="1557AE"/>
          </a:solidFill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6000" b="0" kern="0" dirty="0">
                <a:solidFill>
                  <a:schemeClr val="bg1"/>
                </a:solidFill>
              </a:rPr>
              <a:t>数据挖掘    </a:t>
            </a:r>
            <a:br>
              <a:rPr lang="en-US" altLang="zh-CN" sz="6000" b="0" kern="0" dirty="0"/>
            </a:br>
            <a:r>
              <a:rPr lang="zh-CN" altLang="en-US" sz="6000" b="0" kern="0">
                <a:solidFill>
                  <a:schemeClr val="bg1"/>
                </a:solidFill>
              </a:rPr>
              <a:t>第三章</a:t>
            </a:r>
            <a:r>
              <a:rPr lang="zh-CN" altLang="en-US" sz="6000" b="0" kern="0" dirty="0">
                <a:solidFill>
                  <a:schemeClr val="bg1"/>
                </a:solidFill>
              </a:rPr>
              <a:t>：关联规则挖掘</a:t>
            </a:r>
            <a:endParaRPr lang="zh-CN" altLang="en-US" sz="6000" b="0" kern="0" dirty="0">
              <a:solidFill>
                <a:schemeClr val="bg1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 cstate="print">
            <a:duotone>
              <a:srgbClr val="4472C4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>
            <a:off x="179512" y="-24773"/>
            <a:ext cx="3724832" cy="1308467"/>
          </a:xfrm>
          <a:prstGeom prst="rect">
            <a:avLst/>
          </a:prstGeom>
        </p:spPr>
      </p:pic>
      <p:sp>
        <p:nvSpPr>
          <p:cNvPr id="4" name="Rectangle 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0" y="4077072"/>
            <a:ext cx="9144000" cy="220472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375D80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itchFamily="49" charset="-122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itchFamily="49" charset="-122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itchFamily="49" charset="-122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itchFamily="49" charset="-122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itchFamily="49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itchFamily="49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itchFamily="49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itchFamily="49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itchFamily="49" charset="-122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</a:pPr>
            <a:r>
              <a:rPr lang="zh-CN" altLang="en-US" sz="2800" kern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范</a:t>
            </a:r>
            <a:r>
              <a:rPr lang="en-US" altLang="zh-CN" sz="2800" kern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  </a:t>
            </a:r>
            <a:r>
              <a:rPr lang="zh-CN" altLang="en-US" sz="2800" kern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铭</a:t>
            </a:r>
            <a:endParaRPr lang="zh-CN" altLang="en-US" sz="28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ctr" eaLnBrk="1" hangingPunct="1">
              <a:lnSpc>
                <a:spcPct val="120000"/>
              </a:lnSpc>
              <a:spcBef>
                <a:spcPts val="600"/>
              </a:spcBef>
            </a:pPr>
            <a:endParaRPr lang="en-US" altLang="zh-CN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ctr"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sz="2800" b="0" kern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智能网络与网络安全教育部重点实验室</a:t>
            </a:r>
            <a:endParaRPr lang="en-US" altLang="zh-CN" sz="28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ctr"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sz="2800" b="0" kern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西安交通大学网络空间安全学院</a:t>
            </a:r>
            <a:endParaRPr lang="zh-CN" altLang="en-US" sz="28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</p:spTree>
  </p:cSld>
  <p:clrMapOvr>
    <a:masterClrMapping/>
  </p:clrMapOvr>
  <p:transition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/>
          <p:cNvSpPr/>
          <p:nvPr/>
        </p:nvSpPr>
        <p:spPr>
          <a:xfrm rot="5400000">
            <a:off x="0" y="0"/>
            <a:ext cx="1080000" cy="1080000"/>
          </a:xfrm>
          <a:prstGeom prst="rtTriangle">
            <a:avLst/>
          </a:prstGeom>
          <a:gradFill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prstClr val="white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9" name="直角三角形 8"/>
          <p:cNvSpPr/>
          <p:nvPr/>
        </p:nvSpPr>
        <p:spPr>
          <a:xfrm rot="16200000">
            <a:off x="8064000" y="5793483"/>
            <a:ext cx="1080000" cy="1080000"/>
          </a:xfrm>
          <a:prstGeom prst="rtTriangle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prstClr val="white"/>
              </a:solidFill>
              <a:latin typeface="微软雅黑" charset="0"/>
              <a:ea typeface="微软雅黑" charset="0"/>
            </a:endParaRPr>
          </a:p>
        </p:txBody>
      </p:sp>
      <p:grpSp>
        <p:nvGrpSpPr>
          <p:cNvPr id="25608" name="组合 5"/>
          <p:cNvGrpSpPr/>
          <p:nvPr/>
        </p:nvGrpSpPr>
        <p:grpSpPr bwMode="auto">
          <a:xfrm>
            <a:off x="1192213" y="1557338"/>
            <a:ext cx="7331075" cy="665162"/>
            <a:chOff x="3507234" y="1752600"/>
            <a:chExt cx="7331828" cy="665163"/>
          </a:xfrm>
        </p:grpSpPr>
        <p:grpSp>
          <p:nvGrpSpPr>
            <p:cNvPr id="25648" name="Group 5"/>
            <p:cNvGrpSpPr/>
            <p:nvPr/>
          </p:nvGrpSpPr>
          <p:grpSpPr bwMode="auto">
            <a:xfrm>
              <a:off x="3507234" y="1752600"/>
              <a:ext cx="762000" cy="665163"/>
              <a:chOff x="0" y="0"/>
              <a:chExt cx="1549" cy="1351"/>
            </a:xfrm>
          </p:grpSpPr>
          <p:sp>
            <p:nvSpPr>
              <p:cNvPr id="25652" name="AutoShape 6"/>
              <p:cNvSpPr>
                <a:spLocks noChangeArrowheads="1"/>
              </p:cNvSpPr>
              <p:nvPr/>
            </p:nvSpPr>
            <p:spPr bwMode="auto">
              <a:xfrm>
                <a:off x="13" y="23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buFont typeface="Arial" panose="020B0604020202090204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微软雅黑" charset="0"/>
                  <a:ea typeface="微软雅黑" charset="0"/>
                </a:endParaRPr>
              </a:p>
            </p:txBody>
          </p:sp>
          <p:sp>
            <p:nvSpPr>
              <p:cNvPr id="25653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18900000" scaled="1"/>
              </a:gradFill>
              <a:ln w="9525">
                <a:solidFill>
                  <a:srgbClr val="C0C0C0"/>
                </a:solidFill>
                <a:miter lim="800000"/>
              </a:ln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buFont typeface="Arial" panose="020B0604020202090204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微软雅黑" charset="0"/>
                  <a:ea typeface="微软雅黑" charset="0"/>
                </a:endParaRPr>
              </a:p>
            </p:txBody>
          </p:sp>
          <p:grpSp>
            <p:nvGrpSpPr>
              <p:cNvPr id="25654" name="AutoShape 8"/>
              <p:cNvGrpSpPr/>
              <p:nvPr/>
            </p:nvGrpSpPr>
            <p:grpSpPr bwMode="auto">
              <a:xfrm>
                <a:off x="68" y="54"/>
                <a:ext cx="1400" cy="1213"/>
                <a:chOff x="0" y="0"/>
                <a:chExt cx="688848" cy="597408"/>
              </a:xfrm>
            </p:grpSpPr>
            <p:pic>
              <p:nvPicPr>
                <p:cNvPr id="25655" name="AutoShape 8"/>
                <p:cNvPicPr>
                  <a:picLocks noChangeArrowheads="1"/>
                </p:cNvPicPr>
                <p:nvPr/>
              </p:nvPicPr>
              <p:blipFill>
                <a:blip r:embed="rId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0"/>
                  <a:ext cx="688848" cy="5974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5656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121410" y="109216"/>
                  <a:ext cx="442286" cy="3829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b="1">
                      <a:solidFill>
                        <a:schemeClr val="tx1"/>
                      </a:solidFill>
                      <a:latin typeface="Verdana" panose="020B0804030504040204" pitchFamily="34" charset="0"/>
                      <a:ea typeface="宋体" pitchFamily="2" charset="-122"/>
                    </a:defRPr>
                  </a:lvl1pPr>
                  <a:lvl2pPr marL="742950" indent="-285750">
                    <a:defRPr b="1">
                      <a:solidFill>
                        <a:schemeClr val="tx1"/>
                      </a:solidFill>
                      <a:latin typeface="Verdana" panose="020B0804030504040204" pitchFamily="34" charset="0"/>
                      <a:ea typeface="宋体" pitchFamily="2" charset="-122"/>
                    </a:defRPr>
                  </a:lvl2pPr>
                  <a:lvl3pPr marL="1143000" indent="-228600">
                    <a:defRPr b="1">
                      <a:solidFill>
                        <a:schemeClr val="tx1"/>
                      </a:solidFill>
                      <a:latin typeface="Verdana" panose="020B0804030504040204" pitchFamily="34" charset="0"/>
                      <a:ea typeface="宋体" pitchFamily="2" charset="-122"/>
                    </a:defRPr>
                  </a:lvl3pPr>
                  <a:lvl4pPr marL="1600200" indent="-228600">
                    <a:defRPr b="1">
                      <a:solidFill>
                        <a:schemeClr val="tx1"/>
                      </a:solidFill>
                      <a:latin typeface="Verdana" panose="020B0804030504040204" pitchFamily="34" charset="0"/>
                      <a:ea typeface="宋体" pitchFamily="2" charset="-122"/>
                    </a:defRPr>
                  </a:lvl4pPr>
                  <a:lvl5pPr marL="2057400" indent="-228600">
                    <a:defRPr b="1">
                      <a:solidFill>
                        <a:schemeClr val="tx1"/>
                      </a:solidFill>
                      <a:latin typeface="Verdana" panose="020B0804030504040204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804030504040204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804030504040204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804030504040204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804030504040204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buFont typeface="Arial" panose="020B0604020202090204" pitchFamily="34" charset="0"/>
                    <a:buNone/>
                  </a:pPr>
                  <a:endParaRPr lang="zh-CN" altLang="en-US">
                    <a:solidFill>
                      <a:srgbClr val="FFFFFF"/>
                    </a:solidFill>
                    <a:latin typeface="微软雅黑" charset="0"/>
                    <a:ea typeface="微软雅黑" charset="0"/>
                  </a:endParaRPr>
                </a:p>
              </p:txBody>
            </p:sp>
          </p:grpSp>
        </p:grpSp>
        <p:sp>
          <p:nvSpPr>
            <p:cNvPr id="25649" name="Line 13"/>
            <p:cNvSpPr>
              <a:spLocks noChangeShapeType="1"/>
            </p:cNvSpPr>
            <p:nvPr/>
          </p:nvSpPr>
          <p:spPr bwMode="auto">
            <a:xfrm flipV="1">
              <a:off x="4116834" y="2340974"/>
              <a:ext cx="4127574" cy="18051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prstDash val="sysDot"/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0" name="Text Box 15"/>
            <p:cNvSpPr txBox="1">
              <a:spLocks noChangeArrowheads="1"/>
            </p:cNvSpPr>
            <p:nvPr/>
          </p:nvSpPr>
          <p:spPr bwMode="auto">
            <a:xfrm>
              <a:off x="3688569" y="1825625"/>
              <a:ext cx="38504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>
                <a:buFont typeface="Arial" panose="020B0604020202090204" pitchFamily="34" charset="0"/>
                <a:buNone/>
              </a:pPr>
              <a:r>
                <a:rPr lang="en-US" altLang="zh-CN" sz="2400">
                  <a:solidFill>
                    <a:srgbClr val="FFFFFF"/>
                  </a:solidFill>
                  <a:latin typeface="微软雅黑" charset="0"/>
                  <a:ea typeface="微软雅黑" charset="0"/>
                </a:rPr>
                <a:t>2</a:t>
              </a:r>
              <a:endParaRPr lang="en-US" altLang="zh-CN" sz="2400">
                <a:solidFill>
                  <a:srgbClr val="FFFFFF"/>
                </a:solidFill>
                <a:latin typeface="微软雅黑" charset="0"/>
                <a:ea typeface="微软雅黑" charset="0"/>
              </a:endParaRPr>
            </a:p>
          </p:txBody>
        </p:sp>
        <p:sp>
          <p:nvSpPr>
            <p:cNvPr id="25651" name="Text Box 17"/>
            <p:cNvSpPr txBox="1">
              <a:spLocks noChangeArrowheads="1"/>
            </p:cNvSpPr>
            <p:nvPr/>
          </p:nvSpPr>
          <p:spPr bwMode="auto">
            <a:xfrm>
              <a:off x="4390617" y="1772816"/>
              <a:ext cx="6448445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>
                <a:buFont typeface="Arial" panose="020B0604020202090204" pitchFamily="34" charset="0"/>
                <a:buNone/>
              </a:pPr>
              <a:r>
                <a:rPr lang="zh-CN" altLang="en-US" sz="3000">
                  <a:solidFill>
                    <a:srgbClr val="31589C"/>
                  </a:solidFill>
                  <a:latin typeface="微软雅黑" charset="0"/>
                  <a:ea typeface="微软雅黑" charset="0"/>
                </a:rPr>
                <a:t>由事务数据库挖掘单维布尔关联规则</a:t>
              </a:r>
              <a:endParaRPr lang="zh-CN" altLang="en-US" sz="3000">
                <a:solidFill>
                  <a:srgbClr val="31589C"/>
                </a:solidFill>
                <a:latin typeface="微软雅黑" charset="0"/>
                <a:ea typeface="微软雅黑" charset="0"/>
              </a:endParaRPr>
            </a:p>
          </p:txBody>
        </p:sp>
      </p:grpSp>
      <p:grpSp>
        <p:nvGrpSpPr>
          <p:cNvPr id="25609" name="组合 1"/>
          <p:cNvGrpSpPr/>
          <p:nvPr/>
        </p:nvGrpSpPr>
        <p:grpSpPr bwMode="auto">
          <a:xfrm>
            <a:off x="1200150" y="2446338"/>
            <a:ext cx="5019675" cy="665162"/>
            <a:chOff x="3507234" y="2813050"/>
            <a:chExt cx="5019038" cy="665163"/>
          </a:xfrm>
        </p:grpSpPr>
        <p:grpSp>
          <p:nvGrpSpPr>
            <p:cNvPr id="25639" name="Group 9"/>
            <p:cNvGrpSpPr/>
            <p:nvPr/>
          </p:nvGrpSpPr>
          <p:grpSpPr bwMode="auto">
            <a:xfrm>
              <a:off x="3507234" y="2813050"/>
              <a:ext cx="762000" cy="665163"/>
              <a:chOff x="0" y="0"/>
              <a:chExt cx="1549" cy="1351"/>
            </a:xfrm>
          </p:grpSpPr>
          <p:sp>
            <p:nvSpPr>
              <p:cNvPr id="25643" name="AutoShape 10"/>
              <p:cNvSpPr>
                <a:spLocks noChangeArrowheads="1"/>
              </p:cNvSpPr>
              <p:nvPr/>
            </p:nvSpPr>
            <p:spPr bwMode="auto">
              <a:xfrm>
                <a:off x="13" y="23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buFont typeface="Arial" panose="020B0604020202090204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微软雅黑" charset="0"/>
                  <a:ea typeface="微软雅黑" charset="0"/>
                </a:endParaRPr>
              </a:p>
            </p:txBody>
          </p:sp>
          <p:sp>
            <p:nvSpPr>
              <p:cNvPr id="25644" name="AutoShape 11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18900000" scaled="1"/>
              </a:gradFill>
              <a:ln w="9525">
                <a:solidFill>
                  <a:srgbClr val="C0C0C0"/>
                </a:solidFill>
                <a:miter lim="800000"/>
              </a:ln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buFont typeface="Arial" panose="020B0604020202090204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微软雅黑" charset="0"/>
                  <a:ea typeface="微软雅黑" charset="0"/>
                </a:endParaRPr>
              </a:p>
            </p:txBody>
          </p:sp>
          <p:grpSp>
            <p:nvGrpSpPr>
              <p:cNvPr id="25645" name="AutoShape 12"/>
              <p:cNvGrpSpPr/>
              <p:nvPr/>
            </p:nvGrpSpPr>
            <p:grpSpPr bwMode="auto">
              <a:xfrm>
                <a:off x="68" y="54"/>
                <a:ext cx="1400" cy="1213"/>
                <a:chOff x="0" y="0"/>
                <a:chExt cx="688848" cy="597408"/>
              </a:xfrm>
            </p:grpSpPr>
            <p:pic>
              <p:nvPicPr>
                <p:cNvPr id="25646" name="AutoShape 12"/>
                <p:cNvPicPr>
                  <a:picLocks noChangeArrowheads="1"/>
                </p:cNvPicPr>
                <p:nvPr/>
              </p:nvPicPr>
              <p:blipFill>
                <a:blip r:embed="rId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0"/>
                  <a:ext cx="688848" cy="5974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5647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121410" y="108962"/>
                  <a:ext cx="442286" cy="3829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b="1">
                      <a:solidFill>
                        <a:schemeClr val="tx1"/>
                      </a:solidFill>
                      <a:latin typeface="Verdana" panose="020B0804030504040204" pitchFamily="34" charset="0"/>
                      <a:ea typeface="宋体" pitchFamily="2" charset="-122"/>
                    </a:defRPr>
                  </a:lvl1pPr>
                  <a:lvl2pPr marL="742950" indent="-285750">
                    <a:defRPr b="1">
                      <a:solidFill>
                        <a:schemeClr val="tx1"/>
                      </a:solidFill>
                      <a:latin typeface="Verdana" panose="020B0804030504040204" pitchFamily="34" charset="0"/>
                      <a:ea typeface="宋体" pitchFamily="2" charset="-122"/>
                    </a:defRPr>
                  </a:lvl2pPr>
                  <a:lvl3pPr marL="1143000" indent="-228600">
                    <a:defRPr b="1">
                      <a:solidFill>
                        <a:schemeClr val="tx1"/>
                      </a:solidFill>
                      <a:latin typeface="Verdana" panose="020B0804030504040204" pitchFamily="34" charset="0"/>
                      <a:ea typeface="宋体" pitchFamily="2" charset="-122"/>
                    </a:defRPr>
                  </a:lvl3pPr>
                  <a:lvl4pPr marL="1600200" indent="-228600">
                    <a:defRPr b="1">
                      <a:solidFill>
                        <a:schemeClr val="tx1"/>
                      </a:solidFill>
                      <a:latin typeface="Verdana" panose="020B0804030504040204" pitchFamily="34" charset="0"/>
                      <a:ea typeface="宋体" pitchFamily="2" charset="-122"/>
                    </a:defRPr>
                  </a:lvl4pPr>
                  <a:lvl5pPr marL="2057400" indent="-228600">
                    <a:defRPr b="1">
                      <a:solidFill>
                        <a:schemeClr val="tx1"/>
                      </a:solidFill>
                      <a:latin typeface="Verdana" panose="020B0804030504040204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804030504040204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804030504040204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804030504040204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804030504040204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buFont typeface="Arial" panose="020B0604020202090204" pitchFamily="34" charset="0"/>
                    <a:buNone/>
                  </a:pPr>
                  <a:endParaRPr lang="zh-CN" altLang="en-US">
                    <a:solidFill>
                      <a:srgbClr val="FFFFFF"/>
                    </a:solidFill>
                    <a:latin typeface="微软雅黑" charset="0"/>
                    <a:ea typeface="微软雅黑" charset="0"/>
                  </a:endParaRPr>
                </a:p>
              </p:txBody>
            </p:sp>
          </p:grpSp>
        </p:grpSp>
        <p:sp>
          <p:nvSpPr>
            <p:cNvPr id="25640" name="Line 16"/>
            <p:cNvSpPr>
              <a:spLocks noChangeShapeType="1"/>
            </p:cNvSpPr>
            <p:nvPr/>
          </p:nvSpPr>
          <p:spPr bwMode="auto">
            <a:xfrm flipV="1">
              <a:off x="4116834" y="3411429"/>
              <a:ext cx="4127574" cy="11221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prstDash val="sysDot"/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1" name="Text Box 18"/>
            <p:cNvSpPr txBox="1">
              <a:spLocks noChangeArrowheads="1"/>
            </p:cNvSpPr>
            <p:nvPr/>
          </p:nvSpPr>
          <p:spPr bwMode="auto">
            <a:xfrm>
              <a:off x="3687768" y="2911475"/>
              <a:ext cx="38664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>
                <a:buFont typeface="Arial" panose="020B0604020202090204" pitchFamily="34" charset="0"/>
                <a:buNone/>
              </a:pPr>
              <a:r>
                <a:rPr lang="en-US" altLang="zh-CN" sz="2400">
                  <a:solidFill>
                    <a:srgbClr val="FFFFFF"/>
                  </a:solidFill>
                  <a:latin typeface="微软雅黑" charset="0"/>
                  <a:ea typeface="微软雅黑" charset="0"/>
                </a:rPr>
                <a:t>3</a:t>
              </a:r>
              <a:endParaRPr lang="en-US" altLang="zh-CN" sz="2400">
                <a:solidFill>
                  <a:srgbClr val="FFFFFF"/>
                </a:solidFill>
                <a:latin typeface="微软雅黑" charset="0"/>
                <a:ea typeface="微软雅黑" charset="0"/>
              </a:endParaRPr>
            </a:p>
          </p:txBody>
        </p:sp>
        <p:sp>
          <p:nvSpPr>
            <p:cNvPr id="25642" name="Text Box 24"/>
            <p:cNvSpPr txBox="1">
              <a:spLocks noChangeArrowheads="1"/>
            </p:cNvSpPr>
            <p:nvPr/>
          </p:nvSpPr>
          <p:spPr bwMode="auto">
            <a:xfrm>
              <a:off x="4423107" y="2846107"/>
              <a:ext cx="4103165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>
                <a:buFont typeface="Arial" panose="020B0604020202090204" pitchFamily="34" charset="0"/>
                <a:buNone/>
              </a:pPr>
              <a:r>
                <a:rPr lang="zh-CN" altLang="en-US" sz="3000">
                  <a:solidFill>
                    <a:srgbClr val="31589C"/>
                  </a:solidFill>
                  <a:latin typeface="微软雅黑" charset="0"/>
                  <a:ea typeface="微软雅黑" charset="0"/>
                </a:rPr>
                <a:t>多层关联规则挖掘</a:t>
              </a:r>
              <a:endParaRPr lang="zh-CN" altLang="en-US" sz="3000">
                <a:solidFill>
                  <a:srgbClr val="31589C"/>
                </a:solidFill>
                <a:latin typeface="微软雅黑" charset="0"/>
                <a:ea typeface="微软雅黑" charset="0"/>
              </a:endParaRPr>
            </a:p>
          </p:txBody>
        </p:sp>
      </p:grpSp>
      <p:grpSp>
        <p:nvGrpSpPr>
          <p:cNvPr id="25610" name="Group 19"/>
          <p:cNvGrpSpPr/>
          <p:nvPr/>
        </p:nvGrpSpPr>
        <p:grpSpPr bwMode="auto">
          <a:xfrm>
            <a:off x="1200150" y="3302000"/>
            <a:ext cx="762000" cy="665163"/>
            <a:chOff x="0" y="0"/>
            <a:chExt cx="1549" cy="1351"/>
          </a:xfrm>
        </p:grpSpPr>
        <p:sp>
          <p:nvSpPr>
            <p:cNvPr id="25634" name="AutoShape 20"/>
            <p:cNvSpPr>
              <a:spLocks noChangeArrowheads="1"/>
            </p:cNvSpPr>
            <p:nvPr/>
          </p:nvSpPr>
          <p:spPr bwMode="auto">
            <a:xfrm>
              <a:off x="13" y="23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panose="020B0604020202090204" pitchFamily="34" charset="0"/>
                <a:buNone/>
              </a:pPr>
              <a:endParaRPr lang="zh-CN" altLang="en-US">
                <a:solidFill>
                  <a:srgbClr val="FFFFFF"/>
                </a:solidFill>
                <a:latin typeface="微软雅黑" charset="0"/>
                <a:ea typeface="微软雅黑" charset="0"/>
              </a:endParaRPr>
            </a:p>
          </p:txBody>
        </p:sp>
        <p:sp>
          <p:nvSpPr>
            <p:cNvPr id="25635" name="AutoShape 21"/>
            <p:cNvSpPr>
              <a:spLocks noChangeArrowheads="1"/>
            </p:cNvSpPr>
            <p:nvPr/>
          </p:nvSpPr>
          <p:spPr bwMode="auto">
            <a:xfrm>
              <a:off x="0" y="0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18900000" scaled="1"/>
            </a:gradFill>
            <a:ln w="9525">
              <a:solidFill>
                <a:srgbClr val="C0C0C0"/>
              </a:solidFill>
              <a:miter lim="800000"/>
            </a:ln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panose="020B0604020202090204" pitchFamily="34" charset="0"/>
                <a:buNone/>
              </a:pPr>
              <a:endParaRPr lang="zh-CN" altLang="en-US">
                <a:solidFill>
                  <a:srgbClr val="FFFFFF"/>
                </a:solidFill>
                <a:latin typeface="微软雅黑" charset="0"/>
                <a:ea typeface="微软雅黑" charset="0"/>
              </a:endParaRPr>
            </a:p>
          </p:txBody>
        </p:sp>
        <p:grpSp>
          <p:nvGrpSpPr>
            <p:cNvPr id="25636" name="AutoShape 22"/>
            <p:cNvGrpSpPr/>
            <p:nvPr/>
          </p:nvGrpSpPr>
          <p:grpSpPr bwMode="auto">
            <a:xfrm>
              <a:off x="68" y="53"/>
              <a:ext cx="1400" cy="1213"/>
              <a:chOff x="0" y="0"/>
              <a:chExt cx="688848" cy="597408"/>
            </a:xfrm>
          </p:grpSpPr>
          <p:pic>
            <p:nvPicPr>
              <p:cNvPr id="25637" name="AutoShape 22"/>
              <p:cNvPicPr>
                <a:picLocks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688848" cy="597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638" name="Text Box 24"/>
              <p:cNvSpPr txBox="1">
                <a:spLocks noChangeArrowheads="1"/>
              </p:cNvSpPr>
              <p:nvPr/>
            </p:nvSpPr>
            <p:spPr bwMode="auto">
              <a:xfrm>
                <a:off x="121410" y="109470"/>
                <a:ext cx="442286" cy="3829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buFont typeface="Arial" panose="020B0604020202090204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微软雅黑" charset="0"/>
                  <a:ea typeface="微软雅黑" charset="0"/>
                </a:endParaRPr>
              </a:p>
            </p:txBody>
          </p:sp>
        </p:grpSp>
      </p:grpSp>
      <p:sp>
        <p:nvSpPr>
          <p:cNvPr id="25611" name="Text Box 25"/>
          <p:cNvSpPr txBox="1">
            <a:spLocks noChangeArrowheads="1"/>
          </p:cNvSpPr>
          <p:nvPr/>
        </p:nvSpPr>
        <p:spPr bwMode="auto">
          <a:xfrm>
            <a:off x="1379538" y="3402013"/>
            <a:ext cx="3905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>
              <a:buFont typeface="Arial" panose="020B0604020202090204" pitchFamily="34" charset="0"/>
              <a:buNone/>
            </a:pPr>
            <a:r>
              <a:rPr lang="en-US" altLang="zh-CN" sz="2400">
                <a:solidFill>
                  <a:srgbClr val="FFFFFF"/>
                </a:solidFill>
                <a:latin typeface="微软雅黑" charset="0"/>
                <a:ea typeface="微软雅黑" charset="0"/>
              </a:rPr>
              <a:t>4</a:t>
            </a:r>
            <a:endParaRPr lang="en-US" altLang="zh-CN" sz="2400">
              <a:solidFill>
                <a:srgbClr val="FFFFF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5612" name="Text Box 24"/>
          <p:cNvSpPr txBox="1">
            <a:spLocks noChangeArrowheads="1"/>
          </p:cNvSpPr>
          <p:nvPr/>
        </p:nvSpPr>
        <p:spPr bwMode="auto">
          <a:xfrm>
            <a:off x="2103438" y="3371850"/>
            <a:ext cx="3763962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</a:pPr>
            <a:r>
              <a:rPr lang="zh-CN" altLang="en-US" sz="3000">
                <a:solidFill>
                  <a:srgbClr val="31589C"/>
                </a:solidFill>
                <a:latin typeface="微软雅黑" charset="0"/>
                <a:ea typeface="微软雅黑" charset="0"/>
              </a:rPr>
              <a:t>多维关联规则挖掘</a:t>
            </a:r>
            <a:endParaRPr lang="zh-CN" altLang="en-US" sz="3000">
              <a:solidFill>
                <a:srgbClr val="31589C"/>
              </a:solidFill>
              <a:latin typeface="微软雅黑" charset="0"/>
              <a:ea typeface="微软雅黑" charset="0"/>
            </a:endParaRPr>
          </a:p>
        </p:txBody>
      </p:sp>
      <p:grpSp>
        <p:nvGrpSpPr>
          <p:cNvPr id="25613" name="Group 19"/>
          <p:cNvGrpSpPr/>
          <p:nvPr/>
        </p:nvGrpSpPr>
        <p:grpSpPr bwMode="auto">
          <a:xfrm>
            <a:off x="1206500" y="4211638"/>
            <a:ext cx="762000" cy="665162"/>
            <a:chOff x="0" y="0"/>
            <a:chExt cx="1549" cy="1351"/>
          </a:xfrm>
        </p:grpSpPr>
        <p:sp>
          <p:nvSpPr>
            <p:cNvPr id="25629" name="AutoShape 20"/>
            <p:cNvSpPr>
              <a:spLocks noChangeArrowheads="1"/>
            </p:cNvSpPr>
            <p:nvPr/>
          </p:nvSpPr>
          <p:spPr bwMode="auto">
            <a:xfrm>
              <a:off x="13" y="23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panose="020B0604020202090204" pitchFamily="34" charset="0"/>
                <a:buNone/>
              </a:pPr>
              <a:endParaRPr lang="zh-CN" altLang="en-US">
                <a:solidFill>
                  <a:srgbClr val="FFFFFF"/>
                </a:solidFill>
                <a:latin typeface="微软雅黑" charset="0"/>
                <a:ea typeface="微软雅黑" charset="0"/>
              </a:endParaRPr>
            </a:p>
          </p:txBody>
        </p:sp>
        <p:sp>
          <p:nvSpPr>
            <p:cNvPr id="25630" name="AutoShape 21"/>
            <p:cNvSpPr>
              <a:spLocks noChangeArrowheads="1"/>
            </p:cNvSpPr>
            <p:nvPr/>
          </p:nvSpPr>
          <p:spPr bwMode="auto">
            <a:xfrm>
              <a:off x="0" y="0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18900000" scaled="1"/>
            </a:gradFill>
            <a:ln w="9525">
              <a:solidFill>
                <a:srgbClr val="C0C0C0"/>
              </a:solidFill>
              <a:miter lim="800000"/>
            </a:ln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panose="020B0604020202090204" pitchFamily="34" charset="0"/>
                <a:buNone/>
              </a:pPr>
              <a:endParaRPr lang="zh-CN" altLang="en-US">
                <a:solidFill>
                  <a:srgbClr val="FFFFFF"/>
                </a:solidFill>
                <a:latin typeface="微软雅黑" charset="0"/>
                <a:ea typeface="微软雅黑" charset="0"/>
              </a:endParaRPr>
            </a:p>
          </p:txBody>
        </p:sp>
        <p:grpSp>
          <p:nvGrpSpPr>
            <p:cNvPr id="25631" name="AutoShape 22"/>
            <p:cNvGrpSpPr/>
            <p:nvPr/>
          </p:nvGrpSpPr>
          <p:grpSpPr bwMode="auto">
            <a:xfrm>
              <a:off x="68" y="53"/>
              <a:ext cx="1400" cy="1213"/>
              <a:chOff x="0" y="0"/>
              <a:chExt cx="688848" cy="597408"/>
            </a:xfrm>
          </p:grpSpPr>
          <p:pic>
            <p:nvPicPr>
              <p:cNvPr id="25632" name="AutoShape 22"/>
              <p:cNvPicPr>
                <a:picLocks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688848" cy="597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633" name="Text Box 24"/>
              <p:cNvSpPr txBox="1">
                <a:spLocks noChangeArrowheads="1"/>
              </p:cNvSpPr>
              <p:nvPr/>
            </p:nvSpPr>
            <p:spPr bwMode="auto">
              <a:xfrm>
                <a:off x="121410" y="109470"/>
                <a:ext cx="442286" cy="3829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buFont typeface="Arial" panose="020B0604020202090204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微软雅黑" charset="0"/>
                  <a:ea typeface="微软雅黑" charset="0"/>
                </a:endParaRPr>
              </a:p>
            </p:txBody>
          </p:sp>
        </p:grpSp>
      </p:grpSp>
      <p:sp>
        <p:nvSpPr>
          <p:cNvPr id="25614" name="Text Box 25"/>
          <p:cNvSpPr txBox="1">
            <a:spLocks noChangeArrowheads="1"/>
          </p:cNvSpPr>
          <p:nvPr/>
        </p:nvSpPr>
        <p:spPr bwMode="auto">
          <a:xfrm>
            <a:off x="1384300" y="4310063"/>
            <a:ext cx="390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>
              <a:buFont typeface="Arial" panose="020B0604020202090204" pitchFamily="34" charset="0"/>
              <a:buNone/>
            </a:pPr>
            <a:r>
              <a:rPr lang="en-US" altLang="zh-CN" sz="2400">
                <a:solidFill>
                  <a:srgbClr val="FFFFFF"/>
                </a:solidFill>
                <a:latin typeface="微软雅黑" charset="0"/>
                <a:ea typeface="微软雅黑" charset="0"/>
              </a:rPr>
              <a:t>5</a:t>
            </a:r>
            <a:endParaRPr lang="en-US" altLang="zh-CN" sz="2400">
              <a:solidFill>
                <a:srgbClr val="FFFFF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5615" name="Text Box 24"/>
          <p:cNvSpPr txBox="1">
            <a:spLocks noChangeArrowheads="1"/>
          </p:cNvSpPr>
          <p:nvPr/>
        </p:nvSpPr>
        <p:spPr bwMode="auto">
          <a:xfrm>
            <a:off x="2117725" y="4241800"/>
            <a:ext cx="6334125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</a:pPr>
            <a:r>
              <a:rPr lang="zh-CN" altLang="en-US" sz="3000">
                <a:solidFill>
                  <a:srgbClr val="31589C"/>
                </a:solidFill>
                <a:latin typeface="微软雅黑" charset="0"/>
                <a:ea typeface="微软雅黑" charset="0"/>
              </a:rPr>
              <a:t>关联规则、相关性、因果关系的区别</a:t>
            </a:r>
            <a:endParaRPr lang="zh-CN" altLang="en-US" sz="3000">
              <a:solidFill>
                <a:srgbClr val="31589C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5616" name="Line 16"/>
          <p:cNvSpPr>
            <a:spLocks noChangeShapeType="1"/>
          </p:cNvSpPr>
          <p:nvPr/>
        </p:nvSpPr>
        <p:spPr bwMode="auto">
          <a:xfrm flipV="1">
            <a:off x="1876425" y="3908425"/>
            <a:ext cx="4103688" cy="28575"/>
          </a:xfrm>
          <a:prstGeom prst="line">
            <a:avLst/>
          </a:prstGeom>
          <a:noFill/>
          <a:ln w="25400">
            <a:solidFill>
              <a:srgbClr val="969696"/>
            </a:solidFill>
            <a:prstDash val="sysDot"/>
            <a:rou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7" name="Line 16"/>
          <p:cNvSpPr>
            <a:spLocks noChangeShapeType="1"/>
          </p:cNvSpPr>
          <p:nvPr/>
        </p:nvSpPr>
        <p:spPr bwMode="auto">
          <a:xfrm flipV="1">
            <a:off x="1812925" y="4845050"/>
            <a:ext cx="4127500" cy="11113"/>
          </a:xfrm>
          <a:prstGeom prst="line">
            <a:avLst/>
          </a:prstGeom>
          <a:noFill/>
          <a:ln w="25400">
            <a:solidFill>
              <a:srgbClr val="969696"/>
            </a:solidFill>
            <a:prstDash val="sysDot"/>
            <a:rou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5618" name="组合 46"/>
          <p:cNvGrpSpPr/>
          <p:nvPr/>
        </p:nvGrpSpPr>
        <p:grpSpPr bwMode="auto">
          <a:xfrm>
            <a:off x="1187450" y="676275"/>
            <a:ext cx="5313363" cy="665163"/>
            <a:chOff x="3507234" y="1752600"/>
            <a:chExt cx="5313323" cy="665163"/>
          </a:xfrm>
        </p:grpSpPr>
        <p:grpSp>
          <p:nvGrpSpPr>
            <p:cNvPr id="25620" name="Group 5"/>
            <p:cNvGrpSpPr/>
            <p:nvPr/>
          </p:nvGrpSpPr>
          <p:grpSpPr bwMode="auto">
            <a:xfrm>
              <a:off x="3507234" y="1752600"/>
              <a:ext cx="762000" cy="665163"/>
              <a:chOff x="0" y="0"/>
              <a:chExt cx="1549" cy="1351"/>
            </a:xfrm>
          </p:grpSpPr>
          <p:sp>
            <p:nvSpPr>
              <p:cNvPr id="25624" name="AutoShape 6"/>
              <p:cNvSpPr>
                <a:spLocks noChangeArrowheads="1"/>
              </p:cNvSpPr>
              <p:nvPr/>
            </p:nvSpPr>
            <p:spPr bwMode="auto">
              <a:xfrm>
                <a:off x="13" y="23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buFont typeface="Arial" panose="020B0604020202090204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微软雅黑" charset="0"/>
                  <a:ea typeface="微软雅黑" charset="0"/>
                </a:endParaRPr>
              </a:p>
            </p:txBody>
          </p:sp>
          <p:sp>
            <p:nvSpPr>
              <p:cNvPr id="25625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18900000" scaled="1"/>
              </a:gradFill>
              <a:ln w="9525">
                <a:solidFill>
                  <a:srgbClr val="C0C0C0"/>
                </a:solidFill>
                <a:miter lim="800000"/>
              </a:ln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buFont typeface="Arial" panose="020B0604020202090204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微软雅黑" charset="0"/>
                  <a:ea typeface="微软雅黑" charset="0"/>
                </a:endParaRPr>
              </a:p>
            </p:txBody>
          </p:sp>
          <p:grpSp>
            <p:nvGrpSpPr>
              <p:cNvPr id="25626" name="AutoShape 8"/>
              <p:cNvGrpSpPr/>
              <p:nvPr/>
            </p:nvGrpSpPr>
            <p:grpSpPr bwMode="auto">
              <a:xfrm>
                <a:off x="68" y="54"/>
                <a:ext cx="1400" cy="1213"/>
                <a:chOff x="0" y="0"/>
                <a:chExt cx="688848" cy="597408"/>
              </a:xfrm>
            </p:grpSpPr>
            <p:pic>
              <p:nvPicPr>
                <p:cNvPr id="25627" name="AutoShape 8"/>
                <p:cNvPicPr>
                  <a:picLocks noChangeArrowheads="1"/>
                </p:cNvPicPr>
                <p:nvPr/>
              </p:nvPicPr>
              <p:blipFill>
                <a:blip r:embed="rId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0"/>
                  <a:ext cx="688848" cy="5974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5628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121410" y="109216"/>
                  <a:ext cx="442286" cy="3829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b="1">
                      <a:solidFill>
                        <a:schemeClr val="tx1"/>
                      </a:solidFill>
                      <a:latin typeface="Verdana" panose="020B0804030504040204" pitchFamily="34" charset="0"/>
                      <a:ea typeface="宋体" pitchFamily="2" charset="-122"/>
                    </a:defRPr>
                  </a:lvl1pPr>
                  <a:lvl2pPr marL="742950" indent="-285750">
                    <a:defRPr b="1">
                      <a:solidFill>
                        <a:schemeClr val="tx1"/>
                      </a:solidFill>
                      <a:latin typeface="Verdana" panose="020B0804030504040204" pitchFamily="34" charset="0"/>
                      <a:ea typeface="宋体" pitchFamily="2" charset="-122"/>
                    </a:defRPr>
                  </a:lvl2pPr>
                  <a:lvl3pPr marL="1143000" indent="-228600">
                    <a:defRPr b="1">
                      <a:solidFill>
                        <a:schemeClr val="tx1"/>
                      </a:solidFill>
                      <a:latin typeface="Verdana" panose="020B0804030504040204" pitchFamily="34" charset="0"/>
                      <a:ea typeface="宋体" pitchFamily="2" charset="-122"/>
                    </a:defRPr>
                  </a:lvl3pPr>
                  <a:lvl4pPr marL="1600200" indent="-228600">
                    <a:defRPr b="1">
                      <a:solidFill>
                        <a:schemeClr val="tx1"/>
                      </a:solidFill>
                      <a:latin typeface="Verdana" panose="020B0804030504040204" pitchFamily="34" charset="0"/>
                      <a:ea typeface="宋体" pitchFamily="2" charset="-122"/>
                    </a:defRPr>
                  </a:lvl4pPr>
                  <a:lvl5pPr marL="2057400" indent="-228600">
                    <a:defRPr b="1">
                      <a:solidFill>
                        <a:schemeClr val="tx1"/>
                      </a:solidFill>
                      <a:latin typeface="Verdana" panose="020B0804030504040204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804030504040204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804030504040204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804030504040204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804030504040204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buFont typeface="Arial" panose="020B0604020202090204" pitchFamily="34" charset="0"/>
                    <a:buNone/>
                  </a:pPr>
                  <a:endParaRPr lang="zh-CN" altLang="en-US">
                    <a:solidFill>
                      <a:srgbClr val="FFFFFF"/>
                    </a:solidFill>
                    <a:latin typeface="微软雅黑" charset="0"/>
                    <a:ea typeface="微软雅黑" charset="0"/>
                  </a:endParaRPr>
                </a:p>
              </p:txBody>
            </p:sp>
          </p:grpSp>
        </p:grpSp>
        <p:sp>
          <p:nvSpPr>
            <p:cNvPr id="25621" name="Line 13"/>
            <p:cNvSpPr>
              <a:spLocks noChangeShapeType="1"/>
            </p:cNvSpPr>
            <p:nvPr/>
          </p:nvSpPr>
          <p:spPr bwMode="auto">
            <a:xfrm flipV="1">
              <a:off x="4116834" y="2340974"/>
              <a:ext cx="4127574" cy="18051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prstDash val="sysDot"/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2" name="Text Box 15"/>
            <p:cNvSpPr txBox="1">
              <a:spLocks noChangeArrowheads="1"/>
            </p:cNvSpPr>
            <p:nvPr/>
          </p:nvSpPr>
          <p:spPr bwMode="auto">
            <a:xfrm>
              <a:off x="3694180" y="1825625"/>
              <a:ext cx="37382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>
                <a:buFont typeface="Arial" panose="020B0604020202090204" pitchFamily="34" charset="0"/>
                <a:buNone/>
              </a:pPr>
              <a:r>
                <a:rPr lang="en-US" altLang="zh-CN" sz="2400">
                  <a:solidFill>
                    <a:srgbClr val="FFFFFF"/>
                  </a:solidFill>
                  <a:latin typeface="微软雅黑" charset="0"/>
                  <a:ea typeface="微软雅黑" charset="0"/>
                </a:rPr>
                <a:t>1</a:t>
              </a:r>
              <a:endParaRPr lang="en-US" altLang="zh-CN" sz="2400">
                <a:solidFill>
                  <a:srgbClr val="FFFFFF"/>
                </a:solidFill>
                <a:latin typeface="微软雅黑" charset="0"/>
                <a:ea typeface="微软雅黑" charset="0"/>
              </a:endParaRPr>
            </a:p>
          </p:txBody>
        </p:sp>
        <p:sp>
          <p:nvSpPr>
            <p:cNvPr id="25623" name="Text Box 17"/>
            <p:cNvSpPr txBox="1">
              <a:spLocks noChangeArrowheads="1"/>
            </p:cNvSpPr>
            <p:nvPr/>
          </p:nvSpPr>
          <p:spPr bwMode="auto">
            <a:xfrm>
              <a:off x="4390617" y="1772816"/>
              <a:ext cx="4429940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>
                <a:buFont typeface="Arial" panose="020B0604020202090204" pitchFamily="34" charset="0"/>
                <a:buNone/>
              </a:pPr>
              <a:r>
                <a:rPr lang="zh-CN" altLang="en-US" sz="3000">
                  <a:solidFill>
                    <a:srgbClr val="31589C"/>
                  </a:solidFill>
                  <a:latin typeface="微软雅黑" charset="0"/>
                  <a:ea typeface="微软雅黑" charset="0"/>
                </a:rPr>
                <a:t>关联规则挖掘的基本概念</a:t>
              </a:r>
              <a:endParaRPr lang="zh-CN" altLang="en-US" sz="3000">
                <a:solidFill>
                  <a:srgbClr val="31589C"/>
                </a:solidFill>
                <a:latin typeface="微软雅黑" charset="0"/>
                <a:ea typeface="微软雅黑" charset="0"/>
              </a:endParaRPr>
            </a:p>
          </p:txBody>
        </p:sp>
      </p:grpSp>
      <p:sp>
        <p:nvSpPr>
          <p:cNvPr id="25619" name="圆角矩形 1"/>
          <p:cNvSpPr>
            <a:spLocks noChangeArrowheads="1"/>
          </p:cNvSpPr>
          <p:nvPr/>
        </p:nvSpPr>
        <p:spPr bwMode="auto">
          <a:xfrm>
            <a:off x="323528" y="5280446"/>
            <a:ext cx="8496943" cy="1179932"/>
          </a:xfrm>
          <a:prstGeom prst="roundRect">
            <a:avLst>
              <a:gd name="adj" fmla="val 3553"/>
            </a:avLst>
          </a:prstGeom>
          <a:solidFill>
            <a:srgbClr val="FFFFE7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tailEnd type="triangle" w="lg" len="lg"/>
              </a14:hiddenLine>
            </a:ext>
          </a:extLst>
        </p:spPr>
        <p:txBody>
          <a:bodyPr tIns="72000" bIns="108000"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  <a:buClr>
                <a:srgbClr val="CC0000"/>
              </a:buClr>
            </a:pPr>
            <a:r>
              <a:rPr lang="zh-CN" altLang="en-US" sz="2800" b="0" dirty="0">
                <a:solidFill>
                  <a:srgbClr val="FF0000"/>
                </a:solidFill>
                <a:latin typeface="微软雅黑" charset="0"/>
                <a:ea typeface="微软雅黑" charset="0"/>
              </a:rPr>
              <a:t>基本要求</a:t>
            </a:r>
            <a:r>
              <a:rPr lang="zh-CN" altLang="en-US" sz="2800" b="0" dirty="0">
                <a:solidFill>
                  <a:srgbClr val="000000"/>
                </a:solidFill>
                <a:latin typeface="微软雅黑" charset="0"/>
                <a:ea typeface="微软雅黑" charset="0"/>
              </a:rPr>
              <a:t>：</a:t>
            </a:r>
            <a:r>
              <a:rPr lang="zh-CN" altLang="en-US" sz="2800" b="0" dirty="0">
                <a:solidFill>
                  <a:srgbClr val="1557AE"/>
                </a:solidFill>
                <a:latin typeface="微软雅黑" charset="0"/>
                <a:ea typeface="微软雅黑" charset="0"/>
              </a:rPr>
              <a:t>掌握</a:t>
            </a:r>
            <a:r>
              <a:rPr lang="zh-CN" altLang="en-US" sz="2800" b="0" dirty="0">
                <a:solidFill>
                  <a:srgbClr val="FF0000"/>
                </a:solidFill>
                <a:latin typeface="微软雅黑" charset="0"/>
                <a:ea typeface="微软雅黑" charset="0"/>
              </a:rPr>
              <a:t>关联规则、多层关联规则、多维关联规则</a:t>
            </a:r>
            <a:r>
              <a:rPr lang="zh-CN" altLang="en-US" sz="2800" b="0" dirty="0">
                <a:solidFill>
                  <a:srgbClr val="1557AE"/>
                </a:solidFill>
                <a:latin typeface="微软雅黑" charset="0"/>
                <a:ea typeface="微软雅黑" charset="0"/>
              </a:rPr>
              <a:t>的基本概念，掌握各种关联规则挖掘的算法</a:t>
            </a:r>
            <a:endParaRPr lang="zh-CN" altLang="zh-CN" sz="2800" b="0" dirty="0">
              <a:solidFill>
                <a:srgbClr val="1557AE"/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  <p:transition spd="slow" advTm="225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571500" y="-100013"/>
            <a:ext cx="8001000" cy="892176"/>
          </a:xfrm>
        </p:spPr>
        <p:txBody>
          <a:bodyPr/>
          <a:lstStyle/>
          <a:p>
            <a:pPr algn="ctr" eaLnBrk="1" hangingPunct="1"/>
            <a:r>
              <a:rPr lang="zh-CN" altLang="en-US" sz="3600">
                <a:solidFill>
                  <a:srgbClr val="1557AE"/>
                </a:solidFill>
              </a:rPr>
              <a:t>本章内容</a:t>
            </a:r>
            <a:endParaRPr lang="zh-CN" altLang="en-US" sz="3600">
              <a:solidFill>
                <a:srgbClr val="1557AE"/>
              </a:solidFill>
            </a:endParaRPr>
          </a:p>
        </p:txBody>
      </p:sp>
      <p:sp>
        <p:nvSpPr>
          <p:cNvPr id="2765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681038" y="1916113"/>
            <a:ext cx="7781925" cy="3025775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FF0000"/>
                </a:solidFill>
                <a:cs typeface="微软雅黑" charset="0"/>
              </a:rPr>
              <a:t>3.1  </a:t>
            </a:r>
            <a:r>
              <a:rPr lang="zh-CN" altLang="zh-CN" sz="2800" b="0">
                <a:solidFill>
                  <a:srgbClr val="FF0000"/>
                </a:solidFill>
                <a:cs typeface="微软雅黑" charset="0"/>
              </a:rPr>
              <a:t>关联规则挖掘的基本概念</a:t>
            </a:r>
            <a:endParaRPr lang="zh-CN" altLang="zh-CN" sz="2800" b="0">
              <a:solidFill>
                <a:srgbClr val="FF0000"/>
              </a:solidFill>
              <a:cs typeface="微软雅黑" charset="0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cs typeface="微软雅黑" charset="0"/>
              </a:rPr>
              <a:t>3.2  </a:t>
            </a:r>
            <a:r>
              <a:rPr lang="zh-CN" altLang="zh-CN" sz="2800" b="0">
                <a:solidFill>
                  <a:srgbClr val="1557AE"/>
                </a:solidFill>
                <a:cs typeface="微软雅黑" charset="0"/>
              </a:rPr>
              <a:t>由事务数据库挖掘单维布尔关联规则</a:t>
            </a:r>
            <a:endParaRPr lang="zh-CN" altLang="zh-CN" sz="2800" b="0">
              <a:solidFill>
                <a:srgbClr val="1557AE"/>
              </a:solidFill>
              <a:cs typeface="微软雅黑" charset="0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cs typeface="微软雅黑" charset="0"/>
              </a:rPr>
              <a:t>3.3  </a:t>
            </a:r>
            <a:r>
              <a:rPr lang="zh-CN" altLang="zh-CN" sz="2800" b="0">
                <a:solidFill>
                  <a:srgbClr val="1557AE"/>
                </a:solidFill>
                <a:cs typeface="微软雅黑" charset="0"/>
              </a:rPr>
              <a:t>多层关联规则挖掘</a:t>
            </a:r>
            <a:endParaRPr lang="en-US" altLang="zh-CN" sz="2800" b="0">
              <a:solidFill>
                <a:srgbClr val="1557AE"/>
              </a:solidFill>
              <a:cs typeface="微软雅黑" charset="0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cs typeface="微软雅黑" charset="0"/>
              </a:rPr>
              <a:t>3.4  </a:t>
            </a:r>
            <a:r>
              <a:rPr lang="zh-CN" altLang="en-US" sz="2800" b="0">
                <a:solidFill>
                  <a:srgbClr val="1557AE"/>
                </a:solidFill>
                <a:cs typeface="微软雅黑" charset="0"/>
              </a:rPr>
              <a:t>多维关联规则</a:t>
            </a:r>
            <a:r>
              <a:rPr lang="zh-CN" altLang="zh-CN" sz="2800" b="0">
                <a:solidFill>
                  <a:srgbClr val="1557AE"/>
                </a:solidFill>
                <a:cs typeface="微软雅黑" charset="0"/>
              </a:rPr>
              <a:t>挖掘</a:t>
            </a:r>
            <a:endParaRPr lang="en-US" altLang="zh-CN" sz="2800" b="0">
              <a:solidFill>
                <a:srgbClr val="1557AE"/>
              </a:solidFill>
              <a:cs typeface="微软雅黑" charset="0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cs typeface="微软雅黑" charset="0"/>
              </a:rPr>
              <a:t>3.5  </a:t>
            </a:r>
            <a:r>
              <a:rPr lang="zh-CN" altLang="en-US" sz="2800" b="0">
                <a:solidFill>
                  <a:srgbClr val="1557AE"/>
                </a:solidFill>
                <a:cs typeface="微软雅黑" charset="0"/>
              </a:rPr>
              <a:t>关联规则、相关性、因果关系的区别</a:t>
            </a:r>
            <a:endParaRPr lang="zh-CN" altLang="zh-CN" sz="2800" b="0">
              <a:solidFill>
                <a:srgbClr val="1557AE"/>
              </a:solidFill>
              <a:cs typeface="微软雅黑" charset="0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endParaRPr lang="zh-CN" altLang="zh-CN" sz="2800" b="0">
              <a:solidFill>
                <a:srgbClr val="1557AE"/>
              </a:solidFill>
              <a:cs typeface="微软雅黑" charset="0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endParaRPr lang="zh-CN" altLang="en-US" sz="2800" b="0">
              <a:solidFill>
                <a:srgbClr val="1557AE"/>
              </a:solidFill>
              <a:cs typeface="微软雅黑" charset="0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endParaRPr lang="zh-CN" altLang="en-US" sz="2800" b="0">
              <a:solidFill>
                <a:srgbClr val="1557AE"/>
              </a:solidFill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571500" y="-100013"/>
            <a:ext cx="8001000" cy="892176"/>
          </a:xfrm>
        </p:spPr>
        <p:txBody>
          <a:bodyPr/>
          <a:lstStyle/>
          <a:p>
            <a:pPr algn="ctr" eaLnBrk="1" hangingPunct="1"/>
            <a:r>
              <a:rPr lang="en-US" altLang="zh-CN" sz="3600">
                <a:solidFill>
                  <a:srgbClr val="1557AE"/>
                </a:solidFill>
                <a:cs typeface="微软雅黑" charset="0"/>
              </a:rPr>
              <a:t>3.1  </a:t>
            </a:r>
            <a:r>
              <a:rPr lang="zh-CN" altLang="en-US" sz="3600">
                <a:solidFill>
                  <a:srgbClr val="1557AE"/>
                </a:solidFill>
                <a:cs typeface="微软雅黑" charset="0"/>
              </a:rPr>
              <a:t>基本概念</a:t>
            </a:r>
            <a:endParaRPr lang="zh-CN" altLang="en-US" sz="3600">
              <a:solidFill>
                <a:srgbClr val="1557AE"/>
              </a:solidFill>
              <a:cs typeface="微软雅黑" charset="0"/>
            </a:endParaRPr>
          </a:p>
        </p:txBody>
      </p:sp>
      <p:sp>
        <p:nvSpPr>
          <p:cNvPr id="2969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251520" y="1196752"/>
            <a:ext cx="8568952" cy="3024187"/>
          </a:xfrm>
        </p:spPr>
        <p:txBody>
          <a:bodyPr/>
          <a:lstStyle/>
          <a:p>
            <a:pPr marL="342900" indent="-342900" eaLnBrk="1" hangingPunct="1">
              <a:lnSpc>
                <a:spcPct val="13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rgbClr val="FF0000"/>
                </a:solidFill>
                <a:cs typeface="微软雅黑" charset="0"/>
              </a:rPr>
              <a:t>关联规则挖掘：</a:t>
            </a:r>
            <a:r>
              <a:rPr lang="zh-CN" altLang="en-US" sz="2400" b="0" dirty="0">
                <a:solidFill>
                  <a:srgbClr val="1557AE"/>
                </a:solidFill>
                <a:cs typeface="微软雅黑" charset="0"/>
              </a:rPr>
              <a:t>从事务数据库中发现项集之间有趣的关联</a:t>
            </a:r>
            <a:r>
              <a:rPr lang="en-US" altLang="zh-CN" sz="2400" b="0" dirty="0">
                <a:solidFill>
                  <a:srgbClr val="1557AE"/>
                </a:solidFill>
                <a:cs typeface="微软雅黑" charset="0"/>
              </a:rPr>
              <a:t>.</a:t>
            </a:r>
            <a:endParaRPr lang="en-US" altLang="zh-CN" sz="2400" b="0" dirty="0">
              <a:solidFill>
                <a:srgbClr val="1557AE"/>
              </a:solidFill>
              <a:cs typeface="微软雅黑" charset="0"/>
            </a:endParaRPr>
          </a:p>
          <a:p>
            <a:pPr marL="342900" indent="-342900" eaLnBrk="1" hangingPunct="1">
              <a:lnSpc>
                <a:spcPct val="13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rgbClr val="FF0000"/>
                </a:solidFill>
                <a:cs typeface="微软雅黑" charset="0"/>
              </a:rPr>
              <a:t>应用：</a:t>
            </a:r>
            <a:r>
              <a:rPr lang="zh-CN" altLang="en-US" sz="2800" b="0" dirty="0">
                <a:solidFill>
                  <a:srgbClr val="C00000"/>
                </a:solidFill>
                <a:cs typeface="微软雅黑" charset="0"/>
              </a:rPr>
              <a:t> </a:t>
            </a:r>
            <a:r>
              <a:rPr lang="zh-CN" altLang="en-US" sz="2400" b="0" dirty="0">
                <a:solidFill>
                  <a:srgbClr val="1557AE"/>
                </a:solidFill>
                <a:cs typeface="微软雅黑" charset="0"/>
              </a:rPr>
              <a:t>购物篮分析（</a:t>
            </a:r>
            <a:r>
              <a:rPr lang="en-US" altLang="zh-CN" sz="2400" b="0" dirty="0">
                <a:solidFill>
                  <a:srgbClr val="1557AE"/>
                </a:solidFill>
                <a:cs typeface="微软雅黑" charset="0"/>
              </a:rPr>
              <a:t>Basket data analysis</a:t>
            </a:r>
            <a:r>
              <a:rPr lang="zh-CN" altLang="en-US" sz="2400" b="0" dirty="0">
                <a:solidFill>
                  <a:srgbClr val="1557AE"/>
                </a:solidFill>
                <a:cs typeface="微软雅黑" charset="0"/>
              </a:rPr>
              <a:t>）、交叉营销（</a:t>
            </a:r>
            <a:r>
              <a:rPr lang="en-US" altLang="zh-CN" sz="2400" b="0" dirty="0">
                <a:solidFill>
                  <a:srgbClr val="1557AE"/>
                </a:solidFill>
                <a:cs typeface="微软雅黑" charset="0"/>
              </a:rPr>
              <a:t>cross-marketing</a:t>
            </a:r>
            <a:r>
              <a:rPr lang="zh-CN" altLang="en-US" sz="2400" b="0" dirty="0">
                <a:solidFill>
                  <a:srgbClr val="1557AE"/>
                </a:solidFill>
                <a:cs typeface="微软雅黑" charset="0"/>
              </a:rPr>
              <a:t>）、产品目录设计（</a:t>
            </a:r>
            <a:r>
              <a:rPr lang="en-US" altLang="zh-CN" sz="2400" b="0" dirty="0">
                <a:solidFill>
                  <a:srgbClr val="1557AE"/>
                </a:solidFill>
                <a:cs typeface="微软雅黑" charset="0"/>
              </a:rPr>
              <a:t>catalog design</a:t>
            </a:r>
            <a:r>
              <a:rPr lang="zh-CN" altLang="en-US" sz="2400" b="0" dirty="0">
                <a:solidFill>
                  <a:srgbClr val="1557AE"/>
                </a:solidFill>
                <a:cs typeface="微软雅黑" charset="0"/>
              </a:rPr>
              <a:t>）等</a:t>
            </a:r>
            <a:endParaRPr lang="en-US" altLang="zh-CN" sz="2400" b="0" dirty="0">
              <a:solidFill>
                <a:srgbClr val="1557AE"/>
              </a:solidFill>
              <a:cs typeface="微软雅黑" charset="0"/>
            </a:endParaRPr>
          </a:p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rgbClr val="FF0000"/>
                </a:solidFill>
                <a:cs typeface="微软雅黑" charset="0"/>
              </a:rPr>
              <a:t>例子：</a:t>
            </a:r>
            <a:r>
              <a:rPr lang="en-US" altLang="zh-CN" sz="2800" b="0" dirty="0">
                <a:solidFill>
                  <a:srgbClr val="FF0000"/>
                </a:solidFill>
                <a:cs typeface="微软雅黑" charset="0"/>
              </a:rPr>
              <a:t> </a:t>
            </a:r>
            <a:endParaRPr lang="en-US" altLang="zh-CN" sz="2800" b="0" dirty="0">
              <a:solidFill>
                <a:srgbClr val="FF0000"/>
              </a:solidFill>
              <a:cs typeface="微软雅黑" charset="0"/>
            </a:endParaRPr>
          </a:p>
          <a:p>
            <a:pPr marL="898525" lvl="1" indent="-441325" eaLnBrk="1" hangingPunct="1">
              <a:lnSpc>
                <a:spcPct val="150000"/>
              </a:lnSpc>
              <a:buClr>
                <a:srgbClr val="1557AE"/>
              </a:buClr>
              <a:buFont typeface="Wingdings" panose="05000000000000000000" pitchFamily="2" charset="2"/>
              <a:buChar char="Ø"/>
            </a:pPr>
            <a:r>
              <a:rPr lang="zh-CN" altLang="en-US" sz="2000" b="0" dirty="0">
                <a:solidFill>
                  <a:srgbClr val="1557AE"/>
                </a:solidFill>
                <a:cs typeface="微软雅黑" charset="0"/>
              </a:rPr>
              <a:t>规则形式</a:t>
            </a:r>
            <a:r>
              <a:rPr lang="en-US" altLang="zh-CN" sz="2000" b="0" dirty="0">
                <a:solidFill>
                  <a:srgbClr val="1557AE"/>
                </a:solidFill>
                <a:cs typeface="微软雅黑" charset="0"/>
              </a:rPr>
              <a:t>: </a:t>
            </a:r>
            <a:r>
              <a:rPr lang="en-US" altLang="zh-CN" sz="2000" b="0" dirty="0">
                <a:solidFill>
                  <a:srgbClr val="FF0000"/>
                </a:solidFill>
                <a:cs typeface="微软雅黑" charset="0"/>
              </a:rPr>
              <a:t>“Body →</a:t>
            </a:r>
            <a:r>
              <a:rPr lang="en-US" altLang="zh-CN" sz="2000" b="0" dirty="0">
                <a:solidFill>
                  <a:srgbClr val="FF0000"/>
                </a:solidFill>
                <a:cs typeface="微软雅黑" charset="0"/>
              </a:rPr>
              <a:t> Head [support, confidence]”.</a:t>
            </a:r>
            <a:endParaRPr lang="en-US" altLang="zh-CN" sz="2000" b="0" dirty="0">
              <a:solidFill>
                <a:srgbClr val="FF0000"/>
              </a:solidFill>
              <a:cs typeface="微软雅黑" charset="0"/>
            </a:endParaRPr>
          </a:p>
          <a:p>
            <a:pPr marL="898525" lvl="1" indent="-441325" eaLnBrk="1" hangingPunct="1">
              <a:lnSpc>
                <a:spcPct val="150000"/>
              </a:lnSpc>
              <a:buClr>
                <a:srgbClr val="1557AE"/>
              </a:buClr>
              <a:buFont typeface="Wingdings" panose="05000000000000000000" pitchFamily="2" charset="2"/>
              <a:buChar char="Ø"/>
            </a:pPr>
            <a:r>
              <a:rPr lang="en-US" altLang="zh-CN" sz="2000" b="0" dirty="0">
                <a:solidFill>
                  <a:srgbClr val="1557AE"/>
                </a:solidFill>
                <a:cs typeface="微软雅黑" charset="0"/>
              </a:rPr>
              <a:t>buys(x, “diapers”) →  buys(x, “beers”) [0.5%, 60%]</a:t>
            </a:r>
            <a:endParaRPr lang="en-US" altLang="zh-CN" sz="2000" b="0" dirty="0">
              <a:solidFill>
                <a:srgbClr val="1557AE"/>
              </a:solidFill>
              <a:cs typeface="微软雅黑" charset="0"/>
            </a:endParaRPr>
          </a:p>
          <a:p>
            <a:pPr marL="898525" lvl="1" indent="-441325" eaLnBrk="1" hangingPunct="1">
              <a:lnSpc>
                <a:spcPct val="150000"/>
              </a:lnSpc>
              <a:buClr>
                <a:srgbClr val="1557AE"/>
              </a:buClr>
              <a:buFont typeface="Wingdings" panose="05000000000000000000" pitchFamily="2" charset="2"/>
              <a:buChar char="Ø"/>
            </a:pPr>
            <a:r>
              <a:rPr lang="en-US" altLang="zh-CN" sz="2000" b="0" dirty="0">
                <a:solidFill>
                  <a:srgbClr val="1557AE"/>
                </a:solidFill>
                <a:cs typeface="微软雅黑" charset="0"/>
              </a:rPr>
              <a:t>major(x, “CS”) ^ takes(x, “DB”) →  grade(x, “A”) [1%, 75%]</a:t>
            </a:r>
            <a:endParaRPr lang="zh-CN" altLang="en-US" sz="2400" b="0" dirty="0">
              <a:solidFill>
                <a:srgbClr val="1557AE"/>
              </a:solidFill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395288" y="1124744"/>
            <a:ext cx="8353425" cy="4104456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ts val="6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400" b="0" dirty="0">
                <a:solidFill>
                  <a:srgbClr val="FF0000"/>
                </a:solidFill>
                <a:cs typeface="微软雅黑" charset="0"/>
              </a:rPr>
              <a:t>布尔型与数值型关联规则</a:t>
            </a:r>
            <a:r>
              <a:rPr lang="en-US" altLang="zh-CN" sz="2400" b="0" dirty="0">
                <a:solidFill>
                  <a:srgbClr val="FF0000"/>
                </a:solidFill>
                <a:cs typeface="微软雅黑" charset="0"/>
              </a:rPr>
              <a:t> </a:t>
            </a:r>
            <a:r>
              <a:rPr lang="en-US" altLang="zh-CN" sz="2400" b="0" dirty="0">
                <a:solidFill>
                  <a:srgbClr val="1557AE"/>
                </a:solidFill>
                <a:cs typeface="微软雅黑" charset="0"/>
              </a:rPr>
              <a:t>(</a:t>
            </a:r>
            <a:r>
              <a:rPr lang="zh-CN" altLang="en-US" sz="2400" b="0" dirty="0">
                <a:solidFill>
                  <a:srgbClr val="1557AE"/>
                </a:solidFill>
                <a:cs typeface="微软雅黑" charset="0"/>
              </a:rPr>
              <a:t>基于要处理的数据类型</a:t>
            </a:r>
            <a:r>
              <a:rPr lang="en-US" altLang="zh-CN" sz="2400" b="0" dirty="0">
                <a:solidFill>
                  <a:srgbClr val="1557AE"/>
                </a:solidFill>
                <a:cs typeface="微软雅黑" charset="0"/>
              </a:rPr>
              <a:t>)</a:t>
            </a:r>
            <a:endParaRPr lang="en-US" altLang="zh-CN" sz="2400" b="0" dirty="0">
              <a:solidFill>
                <a:srgbClr val="1557AE"/>
              </a:solidFill>
              <a:cs typeface="微软雅黑" charset="0"/>
            </a:endParaRPr>
          </a:p>
          <a:p>
            <a:pPr lvl="1" eaLnBrk="1" hangingPunct="1">
              <a:lnSpc>
                <a:spcPct val="14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000" b="0" dirty="0">
                <a:solidFill>
                  <a:srgbClr val="1557AE"/>
                </a:solidFill>
                <a:cs typeface="微软雅黑" charset="0"/>
              </a:rPr>
              <a:t>buys(x, “</a:t>
            </a:r>
            <a:r>
              <a:rPr lang="en-US" altLang="zh-CN" sz="2000" b="0" dirty="0" err="1">
                <a:solidFill>
                  <a:srgbClr val="1557AE"/>
                </a:solidFill>
                <a:cs typeface="微软雅黑" charset="0"/>
              </a:rPr>
              <a:t>SQLServer</a:t>
            </a:r>
            <a:r>
              <a:rPr lang="en-US" altLang="zh-CN" sz="2000" b="0" dirty="0">
                <a:solidFill>
                  <a:srgbClr val="1557AE"/>
                </a:solidFill>
                <a:cs typeface="微软雅黑" charset="0"/>
              </a:rPr>
              <a:t>”) ^ buys(x, “</a:t>
            </a:r>
            <a:r>
              <a:rPr lang="en-US" altLang="zh-CN" sz="2000" b="0" dirty="0" err="1">
                <a:solidFill>
                  <a:srgbClr val="1557AE"/>
                </a:solidFill>
                <a:cs typeface="微软雅黑" charset="0"/>
              </a:rPr>
              <a:t>DMBook</a:t>
            </a:r>
            <a:r>
              <a:rPr lang="en-US" altLang="zh-CN" sz="2000" b="0" dirty="0">
                <a:solidFill>
                  <a:srgbClr val="1557AE"/>
                </a:solidFill>
                <a:cs typeface="微软雅黑" charset="0"/>
              </a:rPr>
              <a:t>”) → buys(x, “</a:t>
            </a:r>
            <a:r>
              <a:rPr lang="en-US" altLang="zh-CN" sz="2000" b="0" dirty="0" err="1">
                <a:solidFill>
                  <a:srgbClr val="1557AE"/>
                </a:solidFill>
                <a:cs typeface="微软雅黑" charset="0"/>
              </a:rPr>
              <a:t>DBMiner</a:t>
            </a:r>
            <a:r>
              <a:rPr lang="en-US" altLang="zh-CN" sz="2000" b="0" dirty="0">
                <a:solidFill>
                  <a:srgbClr val="1557AE"/>
                </a:solidFill>
                <a:cs typeface="微软雅黑" charset="0"/>
              </a:rPr>
              <a:t>”) [0.2%, 60%]</a:t>
            </a:r>
            <a:endParaRPr lang="en-US" altLang="zh-CN" sz="2000" b="0" dirty="0">
              <a:solidFill>
                <a:srgbClr val="1557AE"/>
              </a:solidFill>
              <a:cs typeface="微软雅黑" charset="0"/>
            </a:endParaRPr>
          </a:p>
          <a:p>
            <a:pPr lvl="1" eaLnBrk="1" hangingPunct="1">
              <a:lnSpc>
                <a:spcPct val="14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000" b="0" dirty="0">
                <a:solidFill>
                  <a:srgbClr val="1557AE"/>
                </a:solidFill>
                <a:cs typeface="微软雅黑" charset="0"/>
              </a:rPr>
              <a:t>age(x, “30..39”) ^ income(x, “42..48K”) → buys(x, “PC”) [1%, 75%]</a:t>
            </a:r>
            <a:endParaRPr lang="en-US" altLang="zh-CN" sz="2000" b="0" dirty="0">
              <a:solidFill>
                <a:srgbClr val="1557AE"/>
              </a:solidFill>
              <a:cs typeface="微软雅黑" charset="0"/>
            </a:endParaRPr>
          </a:p>
          <a:p>
            <a:pPr eaLnBrk="1" hangingPunct="1">
              <a:lnSpc>
                <a:spcPct val="140000"/>
              </a:lnSpc>
              <a:spcBef>
                <a:spcPts val="6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400" b="0" dirty="0">
                <a:solidFill>
                  <a:srgbClr val="FF0000"/>
                </a:solidFill>
                <a:cs typeface="微软雅黑" charset="0"/>
              </a:rPr>
              <a:t>单维与多维关联规则</a:t>
            </a:r>
            <a:endParaRPr lang="en-US" altLang="zh-CN" sz="2400" b="0" dirty="0">
              <a:solidFill>
                <a:srgbClr val="FF0000"/>
              </a:solidFill>
              <a:cs typeface="微软雅黑" charset="0"/>
            </a:endParaRPr>
          </a:p>
          <a:p>
            <a:pPr eaLnBrk="1" hangingPunct="1">
              <a:lnSpc>
                <a:spcPct val="140000"/>
              </a:lnSpc>
              <a:spcBef>
                <a:spcPts val="6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400" b="0" dirty="0">
                <a:solidFill>
                  <a:srgbClr val="FF0000"/>
                </a:solidFill>
                <a:cs typeface="微软雅黑" charset="0"/>
              </a:rPr>
              <a:t>单层与多层关联规则</a:t>
            </a:r>
            <a:endParaRPr lang="en-US" altLang="zh-CN" sz="2400" b="0" dirty="0">
              <a:solidFill>
                <a:srgbClr val="FF0000"/>
              </a:solidFill>
              <a:cs typeface="微软雅黑" charset="0"/>
            </a:endParaRPr>
          </a:p>
          <a:p>
            <a:pPr lvl="1" eaLnBrk="1" hangingPunct="1">
              <a:lnSpc>
                <a:spcPct val="14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000" b="0" dirty="0">
                <a:solidFill>
                  <a:srgbClr val="1557AE"/>
                </a:solidFill>
                <a:cs typeface="微软雅黑" charset="0"/>
              </a:rPr>
              <a:t>What brands of beers are associated with what brands of diapers?</a:t>
            </a:r>
            <a:endParaRPr lang="en-US" altLang="zh-CN" sz="2000" b="0" dirty="0">
              <a:solidFill>
                <a:srgbClr val="1557AE"/>
              </a:solidFill>
              <a:cs typeface="微软雅黑" charset="0"/>
            </a:endParaRPr>
          </a:p>
        </p:txBody>
      </p:sp>
      <p:sp>
        <p:nvSpPr>
          <p:cNvPr id="317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571500" y="-100013"/>
            <a:ext cx="8001000" cy="892176"/>
          </a:xfrm>
        </p:spPr>
        <p:txBody>
          <a:bodyPr/>
          <a:lstStyle/>
          <a:p>
            <a:pPr algn="ctr" eaLnBrk="1" hangingPunct="1"/>
            <a:r>
              <a:rPr lang="en-US" altLang="zh-CN" sz="3600">
                <a:solidFill>
                  <a:srgbClr val="1557AE"/>
                </a:solidFill>
                <a:cs typeface="微软雅黑" charset="0"/>
              </a:rPr>
              <a:t>3.1  </a:t>
            </a:r>
            <a:r>
              <a:rPr lang="zh-CN" altLang="en-US" sz="3600">
                <a:solidFill>
                  <a:srgbClr val="1557AE"/>
                </a:solidFill>
                <a:cs typeface="微软雅黑" charset="0"/>
              </a:rPr>
              <a:t>基本概念</a:t>
            </a:r>
            <a:endParaRPr lang="zh-CN" altLang="en-US" sz="3600">
              <a:solidFill>
                <a:srgbClr val="1557AE"/>
              </a:solidFill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323528" y="1117600"/>
            <a:ext cx="7993063" cy="720725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rgbClr val="FF0000"/>
                </a:solidFill>
              </a:rPr>
              <a:t>规则度量：支持度和置信度</a:t>
            </a:r>
            <a:endParaRPr lang="zh-CN" altLang="en-US" sz="2800" b="0" dirty="0">
              <a:solidFill>
                <a:srgbClr val="FF0000"/>
              </a:solidFill>
            </a:endParaRPr>
          </a:p>
        </p:txBody>
      </p:sp>
      <p:graphicFrame>
        <p:nvGraphicFramePr>
          <p:cNvPr id="33795" name="Object 2"/>
          <p:cNvGraphicFramePr>
            <a:graphicFrameLocks noChangeAspect="1"/>
          </p:cNvGraphicFramePr>
          <p:nvPr/>
        </p:nvGraphicFramePr>
        <p:xfrm>
          <a:off x="533400" y="4868863"/>
          <a:ext cx="3521075" cy="170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4" name="工作表" r:id="rId1" imgW="6591300" imgH="3378200" progId="Excel.Sheet.8">
                  <p:embed/>
                </p:oleObj>
              </mc:Choice>
              <mc:Fallback>
                <p:oleObj name="工作表" r:id="rId1" imgW="6591300" imgH="3378200" progId="Excel.Shee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868863"/>
                        <a:ext cx="3521075" cy="170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6" name="Oval 6"/>
          <p:cNvSpPr>
            <a:spLocks noChangeArrowheads="1"/>
          </p:cNvSpPr>
          <p:nvPr/>
        </p:nvSpPr>
        <p:spPr bwMode="auto">
          <a:xfrm>
            <a:off x="685800" y="2598738"/>
            <a:ext cx="1905000" cy="1371600"/>
          </a:xfrm>
          <a:prstGeom prst="ellipse">
            <a:avLst/>
          </a:prstGeom>
          <a:solidFill>
            <a:srgbClr val="333399">
              <a:alpha val="59999"/>
            </a:srgbClr>
          </a:solidFill>
          <a:ln w="25400">
            <a:solidFill>
              <a:schemeClr val="tx2"/>
            </a:solidFill>
            <a:rou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b="0">
              <a:solidFill>
                <a:srgbClr val="0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3797" name="Oval 7"/>
          <p:cNvSpPr>
            <a:spLocks noChangeArrowheads="1"/>
          </p:cNvSpPr>
          <p:nvPr/>
        </p:nvSpPr>
        <p:spPr bwMode="auto">
          <a:xfrm>
            <a:off x="1371600" y="2598738"/>
            <a:ext cx="1905000" cy="1524000"/>
          </a:xfrm>
          <a:prstGeom prst="ellipse">
            <a:avLst/>
          </a:prstGeom>
          <a:solidFill>
            <a:srgbClr val="B05800">
              <a:alpha val="30196"/>
            </a:srgbClr>
          </a:solidFill>
          <a:ln w="25400">
            <a:solidFill>
              <a:schemeClr val="hlink"/>
            </a:solidFill>
            <a:rou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b="0">
              <a:solidFill>
                <a:srgbClr val="0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3798" name="Line 8"/>
          <p:cNvSpPr>
            <a:spLocks noChangeShapeType="1"/>
          </p:cNvSpPr>
          <p:nvPr/>
        </p:nvSpPr>
        <p:spPr bwMode="auto">
          <a:xfrm flipH="1">
            <a:off x="914400" y="3284538"/>
            <a:ext cx="228600" cy="7620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799" name="Line 9"/>
          <p:cNvSpPr>
            <a:spLocks noChangeShapeType="1"/>
          </p:cNvSpPr>
          <p:nvPr/>
        </p:nvSpPr>
        <p:spPr bwMode="auto">
          <a:xfrm flipV="1">
            <a:off x="2819400" y="2674938"/>
            <a:ext cx="228600" cy="6858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00" name="Line 10"/>
          <p:cNvSpPr>
            <a:spLocks noChangeShapeType="1"/>
          </p:cNvSpPr>
          <p:nvPr/>
        </p:nvSpPr>
        <p:spPr bwMode="auto">
          <a:xfrm flipH="1" flipV="1">
            <a:off x="1905000" y="2446338"/>
            <a:ext cx="76200" cy="914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01" name="Text Box 11"/>
          <p:cNvSpPr txBox="1">
            <a:spLocks noChangeArrowheads="1"/>
          </p:cNvSpPr>
          <p:nvPr/>
        </p:nvSpPr>
        <p:spPr bwMode="auto">
          <a:xfrm>
            <a:off x="2705100" y="2141538"/>
            <a:ext cx="1409700" cy="89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600" b="0" dirty="0">
                <a:solidFill>
                  <a:srgbClr val="FF8119"/>
                </a:solidFill>
                <a:latin typeface="微软雅黑" charset="0"/>
                <a:ea typeface="微软雅黑" charset="0"/>
              </a:rPr>
              <a:t>Customer</a:t>
            </a:r>
            <a:endParaRPr lang="en-US" altLang="zh-CN" sz="1600" b="0" dirty="0">
              <a:solidFill>
                <a:srgbClr val="FF8119"/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600" b="0" dirty="0">
                <a:solidFill>
                  <a:srgbClr val="FF8119"/>
                </a:solidFill>
                <a:latin typeface="微软雅黑" charset="0"/>
                <a:ea typeface="微软雅黑" charset="0"/>
              </a:rPr>
              <a:t>buys diaper</a:t>
            </a:r>
            <a:endParaRPr lang="en-US" altLang="zh-CN" sz="1800" b="0" u="sng" dirty="0">
              <a:solidFill>
                <a:srgbClr val="0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3802" name="Text Box 12"/>
          <p:cNvSpPr txBox="1">
            <a:spLocks noChangeArrowheads="1"/>
          </p:cNvSpPr>
          <p:nvPr/>
        </p:nvSpPr>
        <p:spPr bwMode="auto">
          <a:xfrm>
            <a:off x="1043608" y="1989138"/>
            <a:ext cx="1294780" cy="620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600" b="0" dirty="0">
                <a:solidFill>
                  <a:srgbClr val="2DA2BF"/>
                </a:solidFill>
                <a:latin typeface="微软雅黑" charset="0"/>
                <a:ea typeface="微软雅黑" charset="0"/>
              </a:rPr>
              <a:t>Customer</a:t>
            </a:r>
            <a:endParaRPr lang="en-US" altLang="zh-CN" sz="1600" b="0" dirty="0">
              <a:solidFill>
                <a:srgbClr val="2DA2BF"/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600" b="0" dirty="0">
                <a:solidFill>
                  <a:srgbClr val="2DA2BF"/>
                </a:solidFill>
                <a:latin typeface="微软雅黑" charset="0"/>
                <a:ea typeface="微软雅黑" charset="0"/>
              </a:rPr>
              <a:t>buys both</a:t>
            </a:r>
            <a:endParaRPr lang="en-US" altLang="zh-CN" sz="1800" b="0" u="sng" dirty="0">
              <a:solidFill>
                <a:srgbClr val="0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3803" name="Text Box 13"/>
          <p:cNvSpPr txBox="1">
            <a:spLocks noChangeArrowheads="1"/>
          </p:cNvSpPr>
          <p:nvPr/>
        </p:nvSpPr>
        <p:spPr bwMode="auto">
          <a:xfrm>
            <a:off x="533400" y="4046538"/>
            <a:ext cx="1263650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600" b="0">
                <a:solidFill>
                  <a:srgbClr val="464646"/>
                </a:solidFill>
                <a:latin typeface="微软雅黑" charset="0"/>
                <a:ea typeface="微软雅黑" charset="0"/>
              </a:rPr>
              <a:t>Customer</a:t>
            </a:r>
            <a:endParaRPr lang="en-US" altLang="zh-CN" sz="1600" b="0">
              <a:solidFill>
                <a:srgbClr val="464646"/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600" b="0">
                <a:solidFill>
                  <a:srgbClr val="464646"/>
                </a:solidFill>
                <a:latin typeface="微软雅黑" charset="0"/>
                <a:ea typeface="微软雅黑" charset="0"/>
              </a:rPr>
              <a:t>buys beer</a:t>
            </a:r>
            <a:endParaRPr lang="en-US" altLang="zh-CN" sz="1800" b="0" u="sng">
              <a:solidFill>
                <a:srgbClr val="0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3804" name="Rectangle 14"/>
          <p:cNvSpPr>
            <a:spLocks noChangeArrowheads="1"/>
          </p:cNvSpPr>
          <p:nvPr/>
        </p:nvSpPr>
        <p:spPr bwMode="auto">
          <a:xfrm>
            <a:off x="288925" y="2074863"/>
            <a:ext cx="3665538" cy="25542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b="0">
              <a:solidFill>
                <a:srgbClr val="0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3805" name="Rectangle 15"/>
          <p:cNvSpPr txBox="1">
            <a:spLocks noChangeArrowheads="1"/>
          </p:cNvSpPr>
          <p:nvPr/>
        </p:nvSpPr>
        <p:spPr bwMode="auto">
          <a:xfrm>
            <a:off x="4114800" y="2189163"/>
            <a:ext cx="4867275" cy="400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621030" indent="-3543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859155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lvl="1" eaLnBrk="1" hangingPunct="1">
              <a:lnSpc>
                <a:spcPct val="150000"/>
              </a:lnSpc>
              <a:spcBef>
                <a:spcPts val="325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支持度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s </a:t>
            </a:r>
            <a:r>
              <a:rPr lang="zh-CN" altLang="en-US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是指事务集 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D  </a:t>
            </a:r>
            <a:r>
              <a:rPr lang="zh-CN" altLang="en-US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中包含 </a:t>
            </a:r>
            <a:endParaRPr lang="en-US" altLang="zh-CN" sz="20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1" eaLnBrk="1" hangingPunct="1">
              <a:lnSpc>
                <a:spcPct val="150000"/>
              </a:lnSpc>
              <a:spcBef>
                <a:spcPts val="325"/>
              </a:spcBef>
              <a:buClrTx/>
              <a:buFont typeface="Verdana" panose="020B0804030504040204" pitchFamily="34" charset="0"/>
              <a:buNone/>
            </a:pPr>
            <a:r>
              <a:rPr lang="en-US" altLang="zh-CN" sz="2000" b="0" dirty="0">
                <a:solidFill>
                  <a:srgbClr val="0000FF"/>
                </a:solidFill>
                <a:latin typeface="微软雅黑" charset="0"/>
                <a:ea typeface="微软雅黑" charset="0"/>
                <a:cs typeface="微软雅黑" charset="0"/>
              </a:rPr>
              <a:t>     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A</a:t>
            </a:r>
            <a:r>
              <a:rPr lang="zh-CN" altLang="en-US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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B </a:t>
            </a:r>
            <a:r>
              <a:rPr lang="zh-CN" altLang="en-US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的百分比</a:t>
            </a:r>
            <a:endParaRPr lang="en-US" altLang="zh-CN" sz="20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DA1F28"/>
              </a:buClr>
              <a:buFont typeface="Wingdings 2" panose="05020102010507070707" pitchFamily="18" charset="2"/>
              <a:buChar char=""/>
            </a:pP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Support (A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 B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)= P(A</a:t>
            </a:r>
            <a:r>
              <a:rPr lang="zh-CN" altLang="en-US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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B)</a:t>
            </a:r>
            <a:endParaRPr lang="zh-CN" altLang="en-US" sz="2000" b="0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1" eaLnBrk="1" hangingPunct="1">
              <a:lnSpc>
                <a:spcPct val="150000"/>
              </a:lnSpc>
              <a:spcBef>
                <a:spcPts val="325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置信度 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c </a:t>
            </a:r>
            <a:r>
              <a:rPr lang="zh-CN" altLang="en-US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是指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D</a:t>
            </a:r>
            <a:r>
              <a:rPr lang="en-US" altLang="zh-CN" sz="2000" b="0" dirty="0">
                <a:solidFill>
                  <a:srgbClr val="0000FF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zh-CN" altLang="en-US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中包含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A </a:t>
            </a:r>
            <a:r>
              <a:rPr lang="zh-CN" altLang="en-US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的事务同时也包含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B</a:t>
            </a:r>
            <a:r>
              <a:rPr lang="zh-CN" altLang="en-US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的百分比</a:t>
            </a:r>
            <a:endParaRPr lang="zh-CN" altLang="en-US" sz="20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rgbClr val="DA1F28"/>
              </a:buClr>
              <a:buFont typeface="Wingdings 2" panose="05020102010507070707" pitchFamily="18" charset="2"/>
              <a:buChar char=""/>
            </a:pP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Confidence(A 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 B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)= P(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B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zh-CN" altLang="en-US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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 A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)</a:t>
            </a:r>
            <a:endParaRPr lang="en-US" altLang="zh-CN" sz="2000" b="0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  <a:p>
            <a:pPr lvl="2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DA1F28"/>
              </a:buClr>
              <a:buFont typeface="Wingdings 2" panose="05020102010507070707" pitchFamily="18" charset="2"/>
              <a:buNone/>
            </a:pP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		 =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P(A</a:t>
            </a:r>
            <a:r>
              <a:rPr lang="zh-CN" altLang="en-US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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B)/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 P(A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)</a:t>
            </a:r>
            <a:endParaRPr lang="zh-CN" altLang="en-US" sz="2000" b="0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3806" name="矩形 1"/>
          <p:cNvSpPr>
            <a:spLocks noChangeArrowheads="1"/>
          </p:cNvSpPr>
          <p:nvPr/>
        </p:nvSpPr>
        <p:spPr bwMode="auto">
          <a:xfrm>
            <a:off x="4932040" y="5840892"/>
            <a:ext cx="284885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</a:rPr>
              <a:t>A → C  ?      C → A  ?</a:t>
            </a:r>
            <a:endParaRPr lang="en-US" altLang="zh-CN" sz="2000" b="0" dirty="0">
              <a:solidFill>
                <a:srgbClr val="1557AE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7" name="Rectangle 6"/>
          <p:cNvSpPr txBox="1">
            <a:spLocks noChangeArrowheads="1"/>
          </p:cNvSpPr>
          <p:nvPr/>
        </p:nvSpPr>
        <p:spPr bwMode="auto">
          <a:xfrm>
            <a:off x="571500" y="-100013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3.1 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基本概念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539750" y="1196975"/>
            <a:ext cx="7993063" cy="720725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2800" b="0">
                <a:solidFill>
                  <a:srgbClr val="FF0000"/>
                </a:solidFill>
              </a:rPr>
              <a:t>规则度量：支持度和置信度</a:t>
            </a:r>
            <a:endParaRPr lang="zh-CN" altLang="en-US" sz="2800" b="0">
              <a:solidFill>
                <a:srgbClr val="FF0000"/>
              </a:solidFill>
            </a:endParaRPr>
          </a:p>
        </p:txBody>
      </p:sp>
      <p:sp>
        <p:nvSpPr>
          <p:cNvPr id="35843" name="Rectangle 15"/>
          <p:cNvSpPr txBox="1">
            <a:spLocks noChangeArrowheads="1"/>
          </p:cNvSpPr>
          <p:nvPr/>
        </p:nvSpPr>
        <p:spPr bwMode="auto">
          <a:xfrm>
            <a:off x="431800" y="4760912"/>
            <a:ext cx="8351837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621030" indent="-3543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859155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lvl="1" eaLnBrk="1" hangingPunct="1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Ø"/>
            </a:pPr>
            <a:r>
              <a:rPr lang="zh-CN" altLang="en-US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设</a:t>
            </a:r>
            <a:r>
              <a:rPr lang="zh-CN" altLang="en-US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最小支持度阈值</a:t>
            </a:r>
            <a:r>
              <a:rPr lang="zh-CN" altLang="en-US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为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50%</a:t>
            </a:r>
            <a:r>
              <a:rPr lang="zh-CN" altLang="en-US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最小置信度阈值</a:t>
            </a:r>
            <a:r>
              <a:rPr lang="zh-CN" altLang="en-US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为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50%</a:t>
            </a:r>
            <a:endParaRPr lang="zh-CN" altLang="en-US" sz="20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2" eaLnBrk="1" hangingPunct="1">
              <a:spcBef>
                <a:spcPct val="0"/>
              </a:spcBef>
              <a:buClr>
                <a:srgbClr val="DA1F28"/>
              </a:buClr>
              <a:buFont typeface="Wingdings 2" panose="05020102010507070707" pitchFamily="18" charset="2"/>
              <a:buChar char=""/>
            </a:pP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A 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  C  (50%, 66.6%)</a:t>
            </a:r>
            <a:endParaRPr lang="en-US" altLang="zh-CN" sz="20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  <a:p>
            <a:pPr lvl="2" eaLnBrk="1" hangingPunct="1">
              <a:spcBef>
                <a:spcPct val="0"/>
              </a:spcBef>
              <a:buClr>
                <a:srgbClr val="DA1F28"/>
              </a:buClr>
              <a:buFont typeface="Wingdings 2" panose="05020102010507070707" pitchFamily="18" charset="2"/>
              <a:buChar char=""/>
            </a:pP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C 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  A  (50%, 100%)</a:t>
            </a:r>
            <a:endParaRPr lang="en-US" altLang="zh-CN" sz="20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同时满足最小支持度阈值和最小置信度阈值的规则称作</a:t>
            </a:r>
            <a:r>
              <a:rPr lang="zh-CN" altLang="en-US" sz="2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强规则</a:t>
            </a:r>
            <a:endParaRPr lang="en-US" altLang="zh-CN" sz="2000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35844" name="Picture 2054" descr="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1908175"/>
            <a:ext cx="5688012" cy="272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6"/>
          <p:cNvSpPr txBox="1">
            <a:spLocks noChangeArrowheads="1"/>
          </p:cNvSpPr>
          <p:nvPr/>
        </p:nvSpPr>
        <p:spPr bwMode="auto">
          <a:xfrm>
            <a:off x="571500" y="-100013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3.1 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基本概念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593725" y="981075"/>
            <a:ext cx="8280400" cy="863600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2800" b="0">
                <a:solidFill>
                  <a:srgbClr val="FF0000"/>
                </a:solidFill>
              </a:rPr>
              <a:t>关联规则的形式化表示</a:t>
            </a:r>
            <a:endParaRPr lang="zh-CN" altLang="en-US" sz="2800" b="0">
              <a:solidFill>
                <a:srgbClr val="FF0000"/>
              </a:solidFill>
            </a:endParaRPr>
          </a:p>
        </p:txBody>
      </p:sp>
      <p:sp>
        <p:nvSpPr>
          <p:cNvPr id="37891" name="Rectangle 3"/>
          <p:cNvSpPr>
            <a:spLocks noGrp="1" noChangeArrowheads="1"/>
          </p:cNvSpPr>
          <p:nvPr/>
        </p:nvSpPr>
        <p:spPr bwMode="auto">
          <a:xfrm>
            <a:off x="107950" y="1673225"/>
            <a:ext cx="8569325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898525" indent="-44132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Let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I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 = {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i</a:t>
            </a:r>
            <a:r>
              <a:rPr lang="en-US" altLang="zh-CN" sz="2000" b="0" baseline="-25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1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,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i</a:t>
            </a:r>
            <a:r>
              <a:rPr lang="en-US" altLang="zh-CN" sz="2000" b="0" baseline="-25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2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, …, </a:t>
            </a:r>
            <a:r>
              <a:rPr lang="en-US" altLang="zh-CN" sz="2000" b="0" i="1" dirty="0" err="1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i</a:t>
            </a:r>
            <a:r>
              <a:rPr lang="en-US" altLang="zh-CN" sz="2000" b="0" baseline="-25000" dirty="0" err="1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m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} 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be a set of items. Let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D</a:t>
            </a:r>
            <a:r>
              <a:rPr lang="en-US" altLang="zh-CN" sz="2000" b="0" dirty="0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be a set of transactions, where each transaction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T</a:t>
            </a:r>
            <a:r>
              <a:rPr lang="en-US" altLang="zh-CN" sz="2000" b="0" dirty="0"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is a set of items such that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T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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I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. </a:t>
            </a:r>
            <a:endParaRPr lang="en-US" altLang="zh-CN" sz="2000" b="0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A transaction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T</a:t>
            </a:r>
            <a:r>
              <a:rPr lang="en-US" altLang="zh-CN" sz="2000" b="0" dirty="0"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contains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X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, a set of some items in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I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, if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X</a:t>
            </a:r>
            <a:r>
              <a:rPr lang="en-US" altLang="zh-CN" sz="2000" b="0" dirty="0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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T</a:t>
            </a:r>
            <a:r>
              <a:rPr lang="en-US" altLang="zh-CN" sz="2000" b="0" dirty="0"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. </a:t>
            </a:r>
            <a:endParaRPr lang="en-US" altLang="zh-CN" sz="2000" b="0" dirty="0"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An association rule is an implication of the form </a:t>
            </a:r>
            <a:r>
              <a:rPr lang="en-US" altLang="zh-CN" sz="2000" b="0" i="1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X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 </a:t>
            </a:r>
            <a:r>
              <a:rPr lang="en-US" altLang="zh-CN" sz="2000" b="0" i="1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Y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, where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X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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I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,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Y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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I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, and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X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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Y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= Ø</a:t>
            </a:r>
            <a:r>
              <a:rPr lang="en-US" altLang="zh-CN" sz="2000" b="0" dirty="0"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. </a:t>
            </a:r>
            <a:endParaRPr lang="en-US" altLang="zh-CN" sz="2000" b="0" dirty="0"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0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X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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Y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holds in the transaction set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D</a:t>
            </a:r>
            <a:r>
              <a:rPr lang="en-US" altLang="zh-CN" sz="2000" b="0" dirty="0"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with</a:t>
            </a:r>
            <a:r>
              <a:rPr lang="en-US" altLang="zh-CN" sz="2000" b="0" dirty="0"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confidence</a:t>
            </a:r>
            <a:r>
              <a:rPr lang="en-US" altLang="zh-CN" sz="2000" b="0" dirty="0">
                <a:solidFill>
                  <a:srgbClr val="0000FF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c if 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c%</a:t>
            </a:r>
            <a:r>
              <a:rPr lang="en-US" altLang="zh-CN" sz="2000" b="0" dirty="0"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of transactions in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D</a:t>
            </a:r>
            <a:r>
              <a:rPr lang="en-US" altLang="zh-CN" sz="2000" b="0" dirty="0"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that contain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X</a:t>
            </a:r>
            <a:r>
              <a:rPr lang="en-US" altLang="zh-CN" sz="2000" b="0" dirty="0"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also contain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Y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.</a:t>
            </a:r>
            <a:r>
              <a:rPr lang="en-US" altLang="zh-CN" sz="2000" b="0" dirty="0"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</a:t>
            </a:r>
            <a:endParaRPr lang="en-US" altLang="zh-CN" sz="2000" b="0" dirty="0"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0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X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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Y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has</a:t>
            </a:r>
            <a:r>
              <a:rPr lang="en-US" altLang="zh-CN" sz="2000" b="0" dirty="0"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support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s% in the transaction set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D</a:t>
            </a:r>
            <a:r>
              <a:rPr lang="en-US" altLang="zh-CN" sz="2000" b="0" dirty="0"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if</a:t>
            </a:r>
            <a:r>
              <a:rPr lang="en-US" altLang="zh-CN" sz="2000" b="0" dirty="0"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s%</a:t>
            </a:r>
            <a:r>
              <a:rPr lang="en-US" altLang="zh-CN" sz="2000" b="0" dirty="0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of transactions in</a:t>
            </a:r>
            <a:r>
              <a:rPr lang="en-US" altLang="zh-CN" sz="2000" b="0" dirty="0"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D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contain</a:t>
            </a:r>
            <a:r>
              <a:rPr lang="en-US" altLang="zh-CN" sz="2000" b="0" dirty="0"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X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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Y</a:t>
            </a:r>
            <a:r>
              <a:rPr lang="en-US" altLang="zh-CN" sz="2000" b="0" dirty="0"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.</a:t>
            </a:r>
            <a:endParaRPr lang="en-US" altLang="zh-CN" sz="2000" b="0" dirty="0"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</p:txBody>
      </p:sp>
      <p:sp>
        <p:nvSpPr>
          <p:cNvPr id="5" name="Rectangle 6"/>
          <p:cNvSpPr txBox="1">
            <a:spLocks noChangeArrowheads="1"/>
          </p:cNvSpPr>
          <p:nvPr/>
        </p:nvSpPr>
        <p:spPr bwMode="auto">
          <a:xfrm>
            <a:off x="571500" y="-100013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3.1  </a:t>
            </a:r>
            <a:r>
              <a:rPr lang="zh-CN" altLang="en-US" sz="3600" b="0" kern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基本概念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395287" y="980728"/>
            <a:ext cx="8280400" cy="863600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2400" b="0" dirty="0">
                <a:solidFill>
                  <a:srgbClr val="FF0000"/>
                </a:solidFill>
              </a:rPr>
              <a:t>事务</a:t>
            </a:r>
            <a:r>
              <a:rPr lang="zh-CN" altLang="en-US" sz="2400" b="0" dirty="0">
                <a:solidFill>
                  <a:srgbClr val="FF0000"/>
                </a:solidFill>
              </a:rPr>
              <a:t>数据：商场购物数据</a:t>
            </a:r>
            <a:endParaRPr lang="zh-CN" altLang="en-US" sz="2400" b="0" dirty="0">
              <a:solidFill>
                <a:srgbClr val="FF0000"/>
              </a:solidFill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/>
        </p:nvSpPr>
        <p:spPr bwMode="auto">
          <a:xfrm>
            <a:off x="179512" y="1412528"/>
            <a:ext cx="8569325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898525" indent="-44132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lvl="1" eaLnBrk="1" hangingPunct="1">
              <a:lnSpc>
                <a:spcPct val="130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Market basket transactions:</a:t>
            </a:r>
            <a:endParaRPr lang="en-US" altLang="zh-CN" sz="2000" b="0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2" eaLnBrk="1" hangingPunct="1">
              <a:lnSpc>
                <a:spcPct val="130000"/>
              </a:lnSpc>
              <a:buClr>
                <a:schemeClr val="bg2"/>
              </a:buClr>
              <a:buSzPct val="65000"/>
              <a:buFontTx/>
              <a:buNone/>
            </a:pPr>
            <a:r>
              <a:rPr lang="en-US" altLang="zh-CN" sz="2000" b="0" dirty="0">
                <a:latin typeface="微软雅黑" charset="0"/>
                <a:ea typeface="微软雅黑" charset="0"/>
                <a:cs typeface="微软雅黑" charset="0"/>
              </a:rPr>
              <a:t>	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t1:</a:t>
            </a:r>
            <a:r>
              <a:rPr lang="en-US" altLang="zh-CN" sz="2000" b="0" dirty="0"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{bread, cheese, milk}</a:t>
            </a:r>
            <a:endParaRPr lang="en-US" altLang="zh-CN" sz="2000" b="0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2" eaLnBrk="1" hangingPunct="1">
              <a:lnSpc>
                <a:spcPct val="130000"/>
              </a:lnSpc>
              <a:buClr>
                <a:schemeClr val="bg2"/>
              </a:buClr>
              <a:buSzPct val="65000"/>
              <a:buFontTx/>
              <a:buNone/>
            </a:pPr>
            <a:r>
              <a:rPr lang="en-US" altLang="zh-CN" sz="2000" b="0" dirty="0">
                <a:latin typeface="微软雅黑" charset="0"/>
                <a:ea typeface="微软雅黑" charset="0"/>
                <a:cs typeface="微软雅黑" charset="0"/>
              </a:rPr>
              <a:t>	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t2:</a:t>
            </a:r>
            <a:r>
              <a:rPr lang="en-US" altLang="zh-CN" sz="2000" b="0" dirty="0"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{apple, eggs, salt, yogurt}</a:t>
            </a:r>
            <a:endParaRPr lang="en-US" altLang="zh-CN" sz="2000" b="0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2" eaLnBrk="1" hangingPunct="1">
              <a:lnSpc>
                <a:spcPct val="130000"/>
              </a:lnSpc>
              <a:buClr>
                <a:schemeClr val="bg2"/>
              </a:buClr>
              <a:buSzPct val="65000"/>
              <a:buFontTx/>
              <a:buNone/>
            </a:pPr>
            <a:r>
              <a:rPr lang="en-US" altLang="zh-CN" sz="2000" b="0" dirty="0">
                <a:latin typeface="微软雅黑" charset="0"/>
                <a:ea typeface="微软雅黑" charset="0"/>
                <a:cs typeface="微软雅黑" charset="0"/>
              </a:rPr>
              <a:t>	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… </a:t>
            </a:r>
            <a:r>
              <a:rPr lang="en-US" altLang="zh-CN" sz="2000" b="0" dirty="0">
                <a:latin typeface="微软雅黑" charset="0"/>
                <a:ea typeface="微软雅黑" charset="0"/>
                <a:cs typeface="微软雅黑" charset="0"/>
              </a:rPr>
              <a:t>		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…</a:t>
            </a:r>
            <a:endParaRPr lang="en-US" altLang="zh-CN" sz="2000" b="0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2" eaLnBrk="1" hangingPunct="1">
              <a:lnSpc>
                <a:spcPct val="130000"/>
              </a:lnSpc>
              <a:buClr>
                <a:schemeClr val="bg2"/>
              </a:buClr>
              <a:buSzPct val="65000"/>
              <a:buFontTx/>
              <a:buNone/>
            </a:pPr>
            <a:r>
              <a:rPr lang="en-US" altLang="zh-CN" sz="2000" b="0" dirty="0">
                <a:latin typeface="微软雅黑" charset="0"/>
                <a:ea typeface="微软雅黑" charset="0"/>
                <a:cs typeface="微软雅黑" charset="0"/>
              </a:rPr>
              <a:t>	</a:t>
            </a:r>
            <a:r>
              <a:rPr lang="en-US" altLang="zh-CN" sz="2000" b="0" dirty="0" err="1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tn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:</a:t>
            </a:r>
            <a:r>
              <a:rPr lang="en-US" altLang="zh-CN" sz="2000" b="0" dirty="0"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{biscuit, eggs, milk}</a:t>
            </a:r>
            <a:endParaRPr lang="en-US" altLang="zh-CN" sz="2000" b="0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1" eaLnBrk="1" hangingPunct="1">
              <a:lnSpc>
                <a:spcPct val="130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Concepts:</a:t>
            </a:r>
            <a:endParaRPr lang="en-US" altLang="zh-CN" sz="2000" b="0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2" eaLnBrk="1" hangingPunct="1">
              <a:lnSpc>
                <a:spcPct val="130000"/>
              </a:lnSpc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An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item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:</a:t>
            </a:r>
            <a:r>
              <a:rPr lang="en-US" altLang="zh-CN" sz="2000" b="0" dirty="0">
                <a:latin typeface="微软雅黑" charset="0"/>
                <a:ea typeface="微软雅黑" charset="0"/>
                <a:cs typeface="微软雅黑" charset="0"/>
              </a:rPr>
              <a:t>  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an item/article in a basket</a:t>
            </a:r>
            <a:endParaRPr lang="en-US" altLang="zh-CN" sz="20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2" eaLnBrk="1" hangingPunct="1">
              <a:lnSpc>
                <a:spcPct val="130000"/>
              </a:lnSpc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0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I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:</a:t>
            </a:r>
            <a:r>
              <a:rPr lang="en-US" altLang="zh-CN" sz="2000" b="0" dirty="0">
                <a:solidFill>
                  <a:schemeClr val="hlink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the set of all items sold in the store</a:t>
            </a:r>
            <a:endParaRPr lang="en-US" altLang="zh-CN" sz="20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2" eaLnBrk="1" hangingPunct="1">
              <a:lnSpc>
                <a:spcPct val="130000"/>
              </a:lnSpc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A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transaction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:</a:t>
            </a:r>
            <a:r>
              <a:rPr lang="en-US" altLang="zh-CN" sz="2000" b="0" dirty="0"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items purchased in a basket; it may have TID (transaction ID)</a:t>
            </a:r>
            <a:endParaRPr lang="en-US" altLang="zh-CN" sz="20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2" eaLnBrk="1" hangingPunct="1">
              <a:lnSpc>
                <a:spcPct val="140000"/>
              </a:lnSpc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A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transactional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dataset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: A set of transactions</a:t>
            </a:r>
            <a:endParaRPr lang="en-US" altLang="zh-CN" sz="20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</p:txBody>
      </p:sp>
      <p:sp>
        <p:nvSpPr>
          <p:cNvPr id="5" name="Rectangle 6"/>
          <p:cNvSpPr txBox="1">
            <a:spLocks noChangeArrowheads="1"/>
          </p:cNvSpPr>
          <p:nvPr/>
        </p:nvSpPr>
        <p:spPr bwMode="auto">
          <a:xfrm>
            <a:off x="571500" y="-100013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3.1  </a:t>
            </a:r>
            <a:r>
              <a:rPr lang="zh-CN" altLang="en-US" sz="3600" b="0" kern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基本概念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468313" y="1412875"/>
            <a:ext cx="8280400" cy="863600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2400" b="0" dirty="0">
                <a:solidFill>
                  <a:srgbClr val="FF0000"/>
                </a:solidFill>
              </a:rPr>
              <a:t>事务数据：文档数据集</a:t>
            </a:r>
            <a:endParaRPr lang="zh-CN" altLang="en-US" sz="2400" b="0" dirty="0">
              <a:solidFill>
                <a:srgbClr val="FF0000"/>
              </a:solidFill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/>
        </p:nvSpPr>
        <p:spPr bwMode="auto">
          <a:xfrm>
            <a:off x="250825" y="1916113"/>
            <a:ext cx="8569325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898525" indent="-44132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lvl="1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ü"/>
            </a:pPr>
            <a:r>
              <a:rPr lang="zh-CN" altLang="en-US" sz="24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每个文档都可以看作一个词袋（</a:t>
            </a:r>
            <a:r>
              <a:rPr lang="en-US" altLang="ja-JP" sz="24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 bag of words</a:t>
            </a:r>
            <a:r>
              <a:rPr lang="zh-CN" altLang="en-US" sz="24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）</a:t>
            </a:r>
            <a:endParaRPr lang="en-US" altLang="ja-JP" sz="2400" b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2" eaLnBrk="1" hangingPunct="1">
              <a:lnSpc>
                <a:spcPct val="120000"/>
              </a:lnSpc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2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doc1: 	</a:t>
            </a:r>
            <a:r>
              <a:rPr lang="en-US" altLang="zh-CN" sz="2200" b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Student, Teach, School 	 </a:t>
            </a:r>
            <a:endParaRPr lang="en-US" altLang="zh-CN" sz="2200" b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2" eaLnBrk="1" hangingPunct="1">
              <a:lnSpc>
                <a:spcPct val="120000"/>
              </a:lnSpc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2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doc2: 	</a:t>
            </a:r>
            <a:r>
              <a:rPr lang="en-US" altLang="zh-CN" sz="2200" b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Student, School </a:t>
            </a:r>
            <a:r>
              <a:rPr lang="en-US" altLang="zh-CN" sz="22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		 </a:t>
            </a:r>
            <a:endParaRPr lang="en-US" altLang="zh-CN" sz="2200" b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2" eaLnBrk="1" hangingPunct="1">
              <a:lnSpc>
                <a:spcPct val="120000"/>
              </a:lnSpc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2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doc3: 	</a:t>
            </a:r>
            <a:r>
              <a:rPr lang="en-US" altLang="zh-CN" sz="2200" b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Teach, School, City, Game 	</a:t>
            </a:r>
            <a:r>
              <a:rPr lang="en-US" altLang="zh-CN" sz="22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endParaRPr lang="en-US" altLang="zh-CN" sz="2200" b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2" eaLnBrk="1" hangingPunct="1">
              <a:lnSpc>
                <a:spcPct val="120000"/>
              </a:lnSpc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2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doc4: 	</a:t>
            </a:r>
            <a:r>
              <a:rPr lang="en-US" altLang="zh-CN" sz="2200" b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Baseball, Basketball	</a:t>
            </a:r>
            <a:r>
              <a:rPr lang="en-US" altLang="zh-CN" sz="22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	</a:t>
            </a:r>
            <a:endParaRPr lang="en-US" altLang="zh-CN" sz="2200" b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2" eaLnBrk="1" hangingPunct="1">
              <a:lnSpc>
                <a:spcPct val="120000"/>
              </a:lnSpc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2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doc5: 	</a:t>
            </a:r>
            <a:r>
              <a:rPr lang="en-US" altLang="zh-CN" sz="2200" b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Basketball, Player, Spectator  </a:t>
            </a:r>
            <a:r>
              <a:rPr lang="en-US" altLang="zh-CN" sz="2200" b="0">
                <a:latin typeface="微软雅黑" charset="0"/>
                <a:ea typeface="微软雅黑" charset="0"/>
                <a:cs typeface="微软雅黑" charset="0"/>
              </a:rPr>
              <a:t>	</a:t>
            </a:r>
            <a:endParaRPr lang="en-US" altLang="zh-CN" sz="2200" b="0">
              <a:latin typeface="微软雅黑" charset="0"/>
              <a:ea typeface="微软雅黑" charset="0"/>
              <a:cs typeface="微软雅黑" charset="0"/>
            </a:endParaRPr>
          </a:p>
          <a:p>
            <a:pPr lvl="2" eaLnBrk="1" hangingPunct="1">
              <a:lnSpc>
                <a:spcPct val="120000"/>
              </a:lnSpc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2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doc6: 	</a:t>
            </a:r>
            <a:r>
              <a:rPr lang="en-US" altLang="zh-CN" sz="2200" b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Baseball, Coach, Game, Team</a:t>
            </a:r>
            <a:endParaRPr lang="en-US" altLang="zh-CN" sz="2200" b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2" eaLnBrk="1" hangingPunct="1">
              <a:lnSpc>
                <a:spcPct val="120000"/>
              </a:lnSpc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2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doc7: 	</a:t>
            </a:r>
            <a:r>
              <a:rPr lang="en-US" altLang="zh-CN" sz="2200" b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Basketball, Team, City, Game 	</a:t>
            </a:r>
            <a:endParaRPr lang="en-US" altLang="zh-CN" sz="2200" b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" name="Rectangle 6"/>
          <p:cNvSpPr txBox="1">
            <a:spLocks noChangeArrowheads="1"/>
          </p:cNvSpPr>
          <p:nvPr/>
        </p:nvSpPr>
        <p:spPr bwMode="auto">
          <a:xfrm>
            <a:off x="571500" y="-100013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3.1  </a:t>
            </a:r>
            <a:r>
              <a:rPr lang="zh-CN" altLang="en-US" sz="3600" b="0" kern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基本概念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755650" y="1628775"/>
            <a:ext cx="7780338" cy="3024188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cs typeface="微软雅黑" charset="0"/>
              </a:rPr>
              <a:t>3.1  </a:t>
            </a:r>
            <a:r>
              <a:rPr lang="zh-CN" altLang="zh-CN" sz="2800" b="0">
                <a:solidFill>
                  <a:srgbClr val="1557AE"/>
                </a:solidFill>
                <a:cs typeface="微软雅黑" charset="0"/>
              </a:rPr>
              <a:t>关联规则挖掘的基本概念</a:t>
            </a:r>
            <a:endParaRPr lang="zh-CN" altLang="zh-CN" sz="2800" b="0">
              <a:solidFill>
                <a:srgbClr val="1557AE"/>
              </a:solidFill>
              <a:cs typeface="微软雅黑" charset="0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FF0000"/>
                </a:solidFill>
                <a:cs typeface="微软雅黑" charset="0"/>
              </a:rPr>
              <a:t>3.2  </a:t>
            </a:r>
            <a:r>
              <a:rPr lang="zh-CN" altLang="zh-CN" sz="2800" b="0">
                <a:solidFill>
                  <a:srgbClr val="FF0000"/>
                </a:solidFill>
                <a:cs typeface="微软雅黑" charset="0"/>
              </a:rPr>
              <a:t>由事务数据库挖掘单维布尔关联规则</a:t>
            </a:r>
            <a:endParaRPr lang="zh-CN" altLang="zh-CN" sz="2800" b="0">
              <a:solidFill>
                <a:srgbClr val="FF0000"/>
              </a:solidFill>
              <a:cs typeface="微软雅黑" charset="0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cs typeface="微软雅黑" charset="0"/>
              </a:rPr>
              <a:t>3.3  </a:t>
            </a:r>
            <a:r>
              <a:rPr lang="zh-CN" altLang="zh-CN" sz="2800" b="0">
                <a:solidFill>
                  <a:srgbClr val="1557AE"/>
                </a:solidFill>
                <a:cs typeface="微软雅黑" charset="0"/>
              </a:rPr>
              <a:t>多层关联规则挖掘</a:t>
            </a:r>
            <a:endParaRPr lang="en-US" altLang="zh-CN" sz="2800" b="0">
              <a:solidFill>
                <a:srgbClr val="1557AE"/>
              </a:solidFill>
              <a:cs typeface="微软雅黑" charset="0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cs typeface="微软雅黑" charset="0"/>
              </a:rPr>
              <a:t>3.4  </a:t>
            </a:r>
            <a:r>
              <a:rPr lang="zh-CN" altLang="en-US" sz="2800" b="0">
                <a:solidFill>
                  <a:srgbClr val="1557AE"/>
                </a:solidFill>
                <a:cs typeface="微软雅黑" charset="0"/>
              </a:rPr>
              <a:t>多维关联规则</a:t>
            </a:r>
            <a:r>
              <a:rPr lang="zh-CN" altLang="zh-CN" sz="2800" b="0">
                <a:solidFill>
                  <a:srgbClr val="1557AE"/>
                </a:solidFill>
                <a:cs typeface="微软雅黑" charset="0"/>
              </a:rPr>
              <a:t>挖掘</a:t>
            </a:r>
            <a:endParaRPr lang="en-US" altLang="zh-CN" sz="2800" b="0">
              <a:solidFill>
                <a:srgbClr val="1557AE"/>
              </a:solidFill>
              <a:cs typeface="微软雅黑" charset="0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cs typeface="微软雅黑" charset="0"/>
              </a:rPr>
              <a:t>3.5  </a:t>
            </a:r>
            <a:r>
              <a:rPr lang="zh-CN" altLang="en-US" sz="2800" b="0">
                <a:solidFill>
                  <a:srgbClr val="1557AE"/>
                </a:solidFill>
                <a:cs typeface="微软雅黑" charset="0"/>
              </a:rPr>
              <a:t>关联规则、相关性、因果关系的区别</a:t>
            </a:r>
            <a:endParaRPr lang="zh-CN" altLang="en-US" sz="2800" b="0">
              <a:solidFill>
                <a:srgbClr val="1557AE"/>
              </a:solidFill>
              <a:cs typeface="微软雅黑" charset="0"/>
            </a:endParaRPr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 bwMode="auto">
          <a:xfrm>
            <a:off x="571500" y="-100013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</a:rPr>
              <a:t>本章内容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250825" y="-120650"/>
            <a:ext cx="8640763" cy="892175"/>
          </a:xfrm>
        </p:spPr>
        <p:txBody>
          <a:bodyPr/>
          <a:lstStyle/>
          <a:p>
            <a:pPr algn="ctr" eaLnBrk="1" hangingPunct="1"/>
            <a:r>
              <a:rPr lang="en-US" altLang="zh-CN" sz="3600">
                <a:solidFill>
                  <a:srgbClr val="1557AE"/>
                </a:solidFill>
                <a:cs typeface="微软雅黑" charset="0"/>
              </a:rPr>
              <a:t>3.2 </a:t>
            </a:r>
            <a:r>
              <a:rPr lang="zh-CN" altLang="en-US" sz="3600">
                <a:solidFill>
                  <a:srgbClr val="1557AE"/>
                </a:solidFill>
                <a:cs typeface="微软雅黑" charset="0"/>
              </a:rPr>
              <a:t>由事务数据库挖掘布尔关联规则</a:t>
            </a:r>
            <a:endParaRPr lang="zh-CN" altLang="en-US" sz="3600">
              <a:solidFill>
                <a:srgbClr val="1557AE"/>
              </a:solidFill>
              <a:cs typeface="微软雅黑" charset="0"/>
            </a:endParaRPr>
          </a:p>
        </p:txBody>
      </p:sp>
      <p:sp>
        <p:nvSpPr>
          <p:cNvPr id="4608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6220" y="1019969"/>
            <a:ext cx="8732244" cy="469900"/>
          </a:xfrm>
        </p:spPr>
        <p:txBody>
          <a:bodyPr/>
          <a:lstStyle/>
          <a:p>
            <a:pPr marL="342900" indent="-342900" eaLnBrk="1" hangingPunct="1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800" b="0" dirty="0">
                <a:solidFill>
                  <a:srgbClr val="C00000"/>
                </a:solidFill>
                <a:cs typeface="微软雅黑" charset="0"/>
              </a:rPr>
              <a:t> </a:t>
            </a:r>
            <a:r>
              <a:rPr lang="zh-CN" altLang="en-US" sz="2800" b="0" dirty="0">
                <a:solidFill>
                  <a:srgbClr val="FF0000"/>
                </a:solidFill>
                <a:cs typeface="微软雅黑" charset="0"/>
              </a:rPr>
              <a:t>关联规则挖掘的原始算法：枚举每个可能的规则，计算其支持度与置信度。</a:t>
            </a:r>
            <a:endParaRPr lang="en-US" altLang="zh-CN" sz="2800" b="0" dirty="0">
              <a:solidFill>
                <a:srgbClr val="FF0000"/>
              </a:solidFill>
              <a:cs typeface="微软雅黑" charset="0"/>
            </a:endParaRPr>
          </a:p>
          <a:p>
            <a:pPr marL="781050" lvl="1" indent="-342900" eaLnBrk="1" hangingPunct="1">
              <a:lnSpc>
                <a:spcPct val="13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rgbClr val="1557AE"/>
                </a:solidFill>
                <a:cs typeface="微软雅黑" charset="0"/>
              </a:rPr>
              <a:t>包含</a:t>
            </a:r>
            <a:r>
              <a:rPr lang="en-US" altLang="zh-CN" sz="2400" b="0" i="1" dirty="0">
                <a:solidFill>
                  <a:srgbClr val="1557AE"/>
                </a:solidFill>
                <a:cs typeface="微软雅黑" charset="0"/>
              </a:rPr>
              <a:t>d </a:t>
            </a:r>
            <a:r>
              <a:rPr lang="zh-CN" altLang="en-US" sz="2400" b="0" dirty="0">
                <a:solidFill>
                  <a:srgbClr val="1557AE"/>
                </a:solidFill>
                <a:cs typeface="微软雅黑" charset="0"/>
              </a:rPr>
              <a:t>个项目的数据集中可能的规则数目为</a:t>
            </a:r>
            <a:endParaRPr lang="en-US" altLang="zh-CN" sz="2400" b="0" dirty="0">
              <a:solidFill>
                <a:srgbClr val="1557AE"/>
              </a:solidFill>
              <a:cs typeface="微软雅黑" charset="0"/>
            </a:endParaRPr>
          </a:p>
          <a:p>
            <a:pPr marL="781050" lvl="1" indent="-342900" eaLnBrk="1" hangingPunct="1">
              <a:lnSpc>
                <a:spcPct val="13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endParaRPr lang="en-US" altLang="zh-CN" sz="2400" b="0" dirty="0">
              <a:solidFill>
                <a:srgbClr val="1557AE"/>
              </a:solidFill>
              <a:cs typeface="微软雅黑" charset="0"/>
            </a:endParaRPr>
          </a:p>
          <a:p>
            <a:pPr marL="781050" lvl="1" indent="-342900" eaLnBrk="1" hangingPunct="1">
              <a:lnSpc>
                <a:spcPct val="130000"/>
              </a:lnSpc>
              <a:spcBef>
                <a:spcPts val="600"/>
              </a:spcBef>
              <a:buClrTx/>
              <a:buFont typeface="Wingdings" panose="05000000000000000000" pitchFamily="2" charset="2"/>
              <a:buNone/>
            </a:pPr>
            <a:endParaRPr lang="en-US" altLang="zh-CN" sz="2400" b="0" dirty="0">
              <a:solidFill>
                <a:srgbClr val="0000FF"/>
              </a:solidFill>
              <a:cs typeface="微软雅黑" charset="0"/>
            </a:endParaRPr>
          </a:p>
        </p:txBody>
      </p:sp>
      <p:graphicFrame>
        <p:nvGraphicFramePr>
          <p:cNvPr id="46084" name="对象 1"/>
          <p:cNvGraphicFramePr>
            <a:graphicFrameLocks noChangeAspect="1"/>
          </p:cNvGraphicFramePr>
          <p:nvPr/>
        </p:nvGraphicFramePr>
        <p:xfrm>
          <a:off x="1259632" y="2947798"/>
          <a:ext cx="2649538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2" name="Formula" r:id="rId1" imgW="873760" imgH="146050" progId="Equation.Ribbit">
                  <p:embed/>
                </p:oleObj>
              </mc:Choice>
              <mc:Fallback>
                <p:oleObj name="Formula" r:id="rId1" imgW="873760" imgH="146050" progId="Equation.Ribbit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2947798"/>
                        <a:ext cx="2649538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5" name="Object 4"/>
          <p:cNvGraphicFramePr>
            <a:graphicFrameLocks noChangeAspect="1"/>
          </p:cNvGraphicFramePr>
          <p:nvPr/>
        </p:nvGraphicFramePr>
        <p:xfrm>
          <a:off x="4572000" y="3997325"/>
          <a:ext cx="3240088" cy="129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3" name="Equation" r:id="rId3" imgW="2832100" imgH="1270000" progId="Equation.3">
                  <p:embed/>
                </p:oleObj>
              </mc:Choice>
              <mc:Fallback>
                <p:oleObj name="Equation" r:id="rId3" imgW="2832100" imgH="1270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997325"/>
                        <a:ext cx="3240088" cy="1290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608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4" t="1904" r="7143" b="952"/>
          <a:stretch>
            <a:fillRect/>
          </a:stretch>
        </p:blipFill>
        <p:spPr bwMode="auto">
          <a:xfrm>
            <a:off x="827584" y="3573016"/>
            <a:ext cx="3411538" cy="263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6087" name="Text Box 5"/>
          <p:cNvSpPr txBox="1">
            <a:spLocks noChangeArrowheads="1"/>
          </p:cNvSpPr>
          <p:nvPr/>
        </p:nvSpPr>
        <p:spPr bwMode="auto">
          <a:xfrm>
            <a:off x="4787900" y="5732463"/>
            <a:ext cx="3200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sz="2000" b="0">
                <a:solidFill>
                  <a:srgbClr val="FF0000"/>
                </a:solidFill>
                <a:latin typeface="微软雅黑" charset="0"/>
                <a:ea typeface="微软雅黑" charset="0"/>
              </a:rPr>
              <a:t>If d=</a:t>
            </a:r>
            <a:r>
              <a:rPr lang="en-US" altLang="zh-CN" sz="2000" b="0">
                <a:solidFill>
                  <a:srgbClr val="FF0000"/>
                </a:solidFill>
                <a:latin typeface="微软雅黑" charset="0"/>
                <a:ea typeface="微软雅黑" charset="0"/>
                <a:sym typeface="Symbol" panose="05050102010706020507" pitchFamily="18" charset="2"/>
              </a:rPr>
              <a:t>6,  R = 602 rules</a:t>
            </a:r>
            <a:endParaRPr lang="en-US" altLang="zh-CN" sz="2000" b="0">
              <a:solidFill>
                <a:srgbClr val="FF0000"/>
              </a:solidFill>
              <a:latin typeface="微软雅黑" charset="0"/>
              <a:ea typeface="微软雅黑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492125" y="1412875"/>
            <a:ext cx="8041005" cy="2512060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800" b="0" dirty="0">
                <a:solidFill>
                  <a:srgbClr val="C00000"/>
                </a:solidFill>
                <a:cs typeface="微软雅黑" charset="0"/>
              </a:rPr>
              <a:t> </a:t>
            </a:r>
            <a:r>
              <a:rPr lang="zh-CN" altLang="en-US" sz="2800" b="0" dirty="0">
                <a:solidFill>
                  <a:srgbClr val="FF0000"/>
                </a:solidFill>
                <a:cs typeface="微软雅黑" charset="0"/>
              </a:rPr>
              <a:t>频繁项集性质</a:t>
            </a:r>
            <a:endParaRPr lang="en-US" altLang="zh-CN" sz="2800" b="0" dirty="0">
              <a:solidFill>
                <a:srgbClr val="FF0000"/>
              </a:solidFill>
              <a:cs typeface="微软雅黑" charset="0"/>
            </a:endParaRPr>
          </a:p>
          <a:p>
            <a:pPr marL="781050" lvl="1" indent="-342900" eaLnBrk="1" hangingPunct="1">
              <a:lnSpc>
                <a:spcPct val="14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rgbClr val="FF0000"/>
                </a:solidFill>
                <a:cs typeface="微软雅黑" charset="0"/>
              </a:rPr>
              <a:t>向下封闭性质（</a:t>
            </a:r>
            <a:r>
              <a:rPr lang="en-US" altLang="zh-CN" sz="2400" b="0" dirty="0">
                <a:solidFill>
                  <a:srgbClr val="FF0000"/>
                </a:solidFill>
                <a:cs typeface="微软雅黑" charset="0"/>
              </a:rPr>
              <a:t>Downward closure</a:t>
            </a:r>
            <a:r>
              <a:rPr lang="zh-CN" altLang="en-US" sz="2400" b="0" dirty="0">
                <a:solidFill>
                  <a:srgbClr val="FF0000"/>
                </a:solidFill>
                <a:cs typeface="微软雅黑" charset="0"/>
              </a:rPr>
              <a:t>）：</a:t>
            </a:r>
            <a:r>
              <a:rPr lang="zh-CN" altLang="en-US" sz="2400" b="0" dirty="0">
                <a:solidFill>
                  <a:srgbClr val="1557AE"/>
                </a:solidFill>
                <a:cs typeface="微软雅黑" charset="0"/>
              </a:rPr>
              <a:t>频繁项集的任意子集都是频繁的</a:t>
            </a:r>
            <a:endParaRPr lang="en-US" altLang="zh-CN" sz="2400" b="0" dirty="0">
              <a:solidFill>
                <a:srgbClr val="1557AE"/>
              </a:solidFill>
              <a:cs typeface="微软雅黑" charset="0"/>
            </a:endParaRPr>
          </a:p>
          <a:p>
            <a:pPr marL="781050" lvl="1" indent="-342900" eaLnBrk="1" hangingPunct="1">
              <a:lnSpc>
                <a:spcPct val="140000"/>
              </a:lnSpc>
              <a:spcBef>
                <a:spcPts val="600"/>
              </a:spcBef>
              <a:buClr>
                <a:schemeClr val="tx1"/>
              </a:buClr>
              <a:buFont typeface="Arial" panose="020B0604020202090204" pitchFamily="34" charset="0"/>
              <a:buChar char="•"/>
            </a:pPr>
            <a:r>
              <a:rPr lang="zh-CN" altLang="en-US" sz="2000" b="0" dirty="0">
                <a:solidFill>
                  <a:srgbClr val="1557AE"/>
                </a:solidFill>
                <a:cs typeface="微软雅黑" charset="0"/>
              </a:rPr>
              <a:t>如果</a:t>
            </a:r>
            <a:r>
              <a:rPr lang="zh-CN" altLang="en-US" sz="2000" b="0" dirty="0">
                <a:solidFill>
                  <a:srgbClr val="1C1C1C"/>
                </a:solidFill>
                <a:cs typeface="微软雅黑" charset="0"/>
              </a:rPr>
              <a:t> </a:t>
            </a:r>
            <a:r>
              <a:rPr lang="en-US" altLang="zh-CN" sz="2000" b="0" dirty="0">
                <a:solidFill>
                  <a:srgbClr val="FF0000"/>
                </a:solidFill>
                <a:cs typeface="微软雅黑" charset="0"/>
              </a:rPr>
              <a:t>{beer, diaper, nuts} </a:t>
            </a:r>
            <a:r>
              <a:rPr lang="zh-CN" altLang="en-US" sz="2000" b="0" dirty="0">
                <a:solidFill>
                  <a:srgbClr val="1557AE"/>
                </a:solidFill>
                <a:cs typeface="微软雅黑" charset="0"/>
              </a:rPr>
              <a:t>是频繁的</a:t>
            </a:r>
            <a:r>
              <a:rPr lang="en-US" altLang="zh-CN" sz="2000" b="0" dirty="0">
                <a:solidFill>
                  <a:srgbClr val="1557AE"/>
                </a:solidFill>
                <a:cs typeface="微软雅黑" charset="0"/>
              </a:rPr>
              <a:t>, </a:t>
            </a:r>
            <a:r>
              <a:rPr lang="zh-CN" altLang="en-US" sz="2000" b="0" dirty="0">
                <a:solidFill>
                  <a:srgbClr val="FF0000"/>
                </a:solidFill>
                <a:cs typeface="微软雅黑" charset="0"/>
              </a:rPr>
              <a:t>则</a:t>
            </a:r>
            <a:r>
              <a:rPr lang="en-US" altLang="zh-CN" sz="2000" b="0" dirty="0">
                <a:solidFill>
                  <a:srgbClr val="FF0000"/>
                </a:solidFill>
                <a:cs typeface="微软雅黑" charset="0"/>
              </a:rPr>
              <a:t> {beer, diaper}</a:t>
            </a:r>
            <a:r>
              <a:rPr lang="zh-CN" altLang="en-US" sz="2000" b="0" dirty="0">
                <a:solidFill>
                  <a:srgbClr val="1557AE"/>
                </a:solidFill>
                <a:cs typeface="微软雅黑" charset="0"/>
              </a:rPr>
              <a:t>也是频繁的</a:t>
            </a:r>
            <a:endParaRPr lang="en-US" altLang="zh-CN" sz="2000" b="0" dirty="0">
              <a:solidFill>
                <a:srgbClr val="1557AE"/>
              </a:solidFill>
              <a:cs typeface="微软雅黑" charset="0"/>
            </a:endParaRPr>
          </a:p>
          <a:p>
            <a:pPr marL="781050" lvl="1" indent="-342900" eaLnBrk="1" hangingPunct="1">
              <a:lnSpc>
                <a:spcPct val="140000"/>
              </a:lnSpc>
              <a:spcBef>
                <a:spcPts val="600"/>
              </a:spcBef>
              <a:buClr>
                <a:schemeClr val="tx1"/>
              </a:buClr>
              <a:buFont typeface="Arial" panose="020B0604020202090204" pitchFamily="34" charset="0"/>
              <a:buChar char="•"/>
            </a:pPr>
            <a:r>
              <a:rPr lang="zh-CN" altLang="en-US" sz="2000" b="0" dirty="0">
                <a:solidFill>
                  <a:srgbClr val="1557AE"/>
                </a:solidFill>
                <a:cs typeface="微软雅黑" charset="0"/>
              </a:rPr>
              <a:t>任何含有</a:t>
            </a:r>
            <a:r>
              <a:rPr lang="en-US" altLang="zh-CN" sz="2000" b="0" dirty="0">
                <a:solidFill>
                  <a:srgbClr val="1C1C1C"/>
                </a:solidFill>
                <a:cs typeface="微软雅黑" charset="0"/>
              </a:rPr>
              <a:t> </a:t>
            </a:r>
            <a:r>
              <a:rPr lang="en-US" altLang="zh-CN" sz="2000" b="0" dirty="0">
                <a:solidFill>
                  <a:srgbClr val="FF0000"/>
                </a:solidFill>
                <a:cs typeface="微软雅黑" charset="0"/>
              </a:rPr>
              <a:t>{beer, diaper, nuts} </a:t>
            </a:r>
            <a:r>
              <a:rPr lang="zh-CN" altLang="en-US" sz="2000" b="0" dirty="0">
                <a:solidFill>
                  <a:srgbClr val="1557AE"/>
                </a:solidFill>
                <a:cs typeface="微软雅黑" charset="0"/>
              </a:rPr>
              <a:t>的事务数据也</a:t>
            </a:r>
            <a:r>
              <a:rPr lang="zh-CN" altLang="en-US" sz="2000" b="0" dirty="0">
                <a:solidFill>
                  <a:srgbClr val="FF0000"/>
                </a:solidFill>
                <a:cs typeface="微软雅黑" charset="0"/>
              </a:rPr>
              <a:t>包含</a:t>
            </a:r>
            <a:r>
              <a:rPr lang="en-US" altLang="zh-CN" sz="2000" b="0" dirty="0">
                <a:solidFill>
                  <a:srgbClr val="FF0000"/>
                </a:solidFill>
                <a:cs typeface="微软雅黑" charset="0"/>
              </a:rPr>
              <a:t> {beer, diaper} </a:t>
            </a:r>
            <a:endParaRPr lang="en-US" altLang="zh-CN" sz="2000" b="0" dirty="0">
              <a:solidFill>
                <a:srgbClr val="FF0000"/>
              </a:solidFill>
              <a:cs typeface="微软雅黑" charset="0"/>
            </a:endParaRPr>
          </a:p>
          <a:p>
            <a:pPr marL="781050" lvl="1" indent="-342900" eaLnBrk="1" hangingPunct="1">
              <a:lnSpc>
                <a:spcPct val="140000"/>
              </a:lnSpc>
              <a:spcBef>
                <a:spcPts val="120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400" b="0" dirty="0" err="1">
                <a:solidFill>
                  <a:srgbClr val="FF0000"/>
                </a:solidFill>
                <a:cs typeface="微软雅黑" charset="0"/>
              </a:rPr>
              <a:t>Apriori</a:t>
            </a:r>
            <a:r>
              <a:rPr lang="en-US" altLang="zh-CN" sz="2400" b="0" dirty="0">
                <a:solidFill>
                  <a:srgbClr val="FF0000"/>
                </a:solidFill>
                <a:cs typeface="微软雅黑" charset="0"/>
              </a:rPr>
              <a:t> </a:t>
            </a:r>
            <a:r>
              <a:rPr lang="zh-CN" altLang="en-US" sz="2400" b="0" dirty="0">
                <a:solidFill>
                  <a:srgbClr val="FF0000"/>
                </a:solidFill>
                <a:cs typeface="微软雅黑" charset="0"/>
              </a:rPr>
              <a:t>修剪原理：</a:t>
            </a:r>
            <a:r>
              <a:rPr lang="zh-CN" altLang="en-US" sz="2400" b="0" dirty="0">
                <a:solidFill>
                  <a:srgbClr val="1557AE"/>
                </a:solidFill>
                <a:cs typeface="微软雅黑" charset="0"/>
              </a:rPr>
              <a:t>非频繁项集的任意超集都是非频繁的，无需生成与测试</a:t>
            </a:r>
            <a:endParaRPr lang="en-US" altLang="zh-CN" sz="2400" b="0" dirty="0">
              <a:solidFill>
                <a:srgbClr val="1557AE"/>
              </a:solidFill>
              <a:cs typeface="微软雅黑" charset="0"/>
            </a:endParaRPr>
          </a:p>
          <a:p>
            <a:pPr marL="781050" lvl="1" indent="-342900" eaLnBrk="1" hangingPunct="1"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None/>
            </a:pPr>
            <a:endParaRPr lang="en-US" altLang="zh-CN" sz="2000" b="0" dirty="0">
              <a:solidFill>
                <a:srgbClr val="0000FF"/>
              </a:solidFill>
              <a:cs typeface="微软雅黑" charset="0"/>
            </a:endParaRPr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78" name="Group 2"/>
          <p:cNvGrpSpPr/>
          <p:nvPr/>
        </p:nvGrpSpPr>
        <p:grpSpPr bwMode="auto">
          <a:xfrm>
            <a:off x="-12911" y="980728"/>
            <a:ext cx="8831262" cy="5235575"/>
            <a:chOff x="144" y="686"/>
            <a:chExt cx="5563" cy="3298"/>
          </a:xfrm>
        </p:grpSpPr>
        <p:sp>
          <p:nvSpPr>
            <p:cNvPr id="50183" name="Line 3"/>
            <p:cNvSpPr>
              <a:spLocks noChangeShapeType="1"/>
            </p:cNvSpPr>
            <p:nvPr/>
          </p:nvSpPr>
          <p:spPr bwMode="auto">
            <a:xfrm flipV="1">
              <a:off x="864" y="1920"/>
              <a:ext cx="576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84" name="Text Box 4"/>
            <p:cNvSpPr txBox="1">
              <a:spLocks noChangeArrowheads="1"/>
            </p:cNvSpPr>
            <p:nvPr/>
          </p:nvSpPr>
          <p:spPr bwMode="auto">
            <a:xfrm>
              <a:off x="144" y="2112"/>
              <a:ext cx="1008" cy="4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Verdana" panose="020B0804030504040204" pitchFamily="34" charset="0"/>
                  <a:ea typeface="黑体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 b="1">
                  <a:solidFill>
                    <a:schemeClr val="tx1"/>
                  </a:solidFill>
                  <a:latin typeface="Verdana" panose="020B0804030504040204" pitchFamily="34" charset="0"/>
                  <a:ea typeface="黑体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Verdana" panose="020B0804030504040204" pitchFamily="34" charset="0"/>
                  <a:ea typeface="黑体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Verdana" panose="020B0804030504040204" pitchFamily="34" charset="0"/>
                  <a:ea typeface="黑体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Verdana" panose="020B0804030504040204" pitchFamily="34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Verdana" panose="020B0804030504040204" pitchFamily="34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Verdana" panose="020B0804030504040204" pitchFamily="34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Verdana" panose="020B0804030504040204" pitchFamily="34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Verdana" panose="020B0804030504040204" pitchFamily="34" charset="0"/>
                  <a:ea typeface="黑体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C6D9C"/>
                  </a:solidFill>
                  <a:latin typeface="微软雅黑" charset="0"/>
                  <a:ea typeface="微软雅黑" charset="0"/>
                </a:rPr>
                <a:t>Found to be Infrequent</a:t>
              </a:r>
              <a:endParaRPr lang="en-US" altLang="zh-CN" sz="2000">
                <a:solidFill>
                  <a:srgbClr val="0C6D9C"/>
                </a:solidFill>
                <a:latin typeface="微软雅黑" charset="0"/>
                <a:ea typeface="微软雅黑" charset="0"/>
                <a:sym typeface="Symbol" panose="05050102010706020507" pitchFamily="18" charset="2"/>
              </a:endParaRPr>
            </a:p>
          </p:txBody>
        </p:sp>
        <p:graphicFrame>
          <p:nvGraphicFramePr>
            <p:cNvPr id="50185" name="Object 3"/>
            <p:cNvGraphicFramePr>
              <a:graphicFrameLocks noChangeAspect="1"/>
            </p:cNvGraphicFramePr>
            <p:nvPr/>
          </p:nvGraphicFramePr>
          <p:xfrm>
            <a:off x="1392" y="686"/>
            <a:ext cx="4315" cy="3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20" name="Visio" r:id="rId1" imgW="9951085" imgH="7438390" progId="Visio.Drawing.6">
                    <p:embed/>
                  </p:oleObj>
                </mc:Choice>
                <mc:Fallback>
                  <p:oleObj name="Visio" r:id="rId1" imgW="9951085" imgH="7438390" progId="Visio.Drawing.6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686"/>
                          <a:ext cx="4315" cy="3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7"/>
          <p:cNvGrpSpPr/>
          <p:nvPr/>
        </p:nvGrpSpPr>
        <p:grpSpPr bwMode="auto">
          <a:xfrm>
            <a:off x="1912727" y="980728"/>
            <a:ext cx="6905624" cy="5235575"/>
            <a:chOff x="1357" y="686"/>
            <a:chExt cx="4350" cy="3298"/>
          </a:xfrm>
        </p:grpSpPr>
        <p:graphicFrame>
          <p:nvGraphicFramePr>
            <p:cNvPr id="50181" name="Object 2"/>
            <p:cNvGraphicFramePr>
              <a:graphicFrameLocks noChangeAspect="1"/>
            </p:cNvGraphicFramePr>
            <p:nvPr/>
          </p:nvGraphicFramePr>
          <p:xfrm>
            <a:off x="1392" y="686"/>
            <a:ext cx="4315" cy="3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21" name="Visio" r:id="rId3" imgW="9951085" imgH="7438390" progId="Visio.Drawing.6">
                    <p:embed/>
                  </p:oleObj>
                </mc:Choice>
                <mc:Fallback>
                  <p:oleObj name="Visio" r:id="rId3" imgW="9951085" imgH="7438390" progId="Visio.Drawing.6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686"/>
                          <a:ext cx="4315" cy="3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182" name="Text Box 9"/>
            <p:cNvSpPr txBox="1">
              <a:spLocks noChangeArrowheads="1"/>
            </p:cNvSpPr>
            <p:nvPr/>
          </p:nvSpPr>
          <p:spPr bwMode="auto">
            <a:xfrm>
              <a:off x="1357" y="3346"/>
              <a:ext cx="912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Verdana" panose="020B0804030504040204" pitchFamily="34" charset="0"/>
                  <a:ea typeface="黑体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 b="1">
                  <a:solidFill>
                    <a:schemeClr val="tx1"/>
                  </a:solidFill>
                  <a:latin typeface="Verdana" panose="020B0804030504040204" pitchFamily="34" charset="0"/>
                  <a:ea typeface="黑体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Verdana" panose="020B0804030504040204" pitchFamily="34" charset="0"/>
                  <a:ea typeface="黑体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Verdana" panose="020B0804030504040204" pitchFamily="34" charset="0"/>
                  <a:ea typeface="黑体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Verdana" panose="020B0804030504040204" pitchFamily="34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Verdana" panose="020B0804030504040204" pitchFamily="34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Verdana" panose="020B0804030504040204" pitchFamily="34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Verdana" panose="020B0804030504040204" pitchFamily="34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Verdana" panose="020B0804030504040204" pitchFamily="34" charset="0"/>
                  <a:ea typeface="黑体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solidFill>
                    <a:srgbClr val="FF0000"/>
                  </a:solidFill>
                  <a:latin typeface="微软雅黑" charset="0"/>
                  <a:ea typeface="微软雅黑" charset="0"/>
                </a:rPr>
                <a:t>Pruned supersets</a:t>
              </a:r>
              <a:endParaRPr lang="en-US" altLang="zh-CN" sz="2000" dirty="0">
                <a:solidFill>
                  <a:srgbClr val="FF0000"/>
                </a:solidFill>
                <a:latin typeface="微软雅黑" charset="0"/>
                <a:ea typeface="微软雅黑" charset="0"/>
                <a:sym typeface="Symbol" panose="05050102010706020507" pitchFamily="18" charset="2"/>
              </a:endParaRPr>
            </a:p>
          </p:txBody>
        </p:sp>
      </p:grpSp>
      <p:sp>
        <p:nvSpPr>
          <p:cNvPr id="11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矩形 1"/>
          <p:cNvSpPr>
            <a:spLocks noChangeArrowheads="1"/>
          </p:cNvSpPr>
          <p:nvPr/>
        </p:nvSpPr>
        <p:spPr bwMode="auto">
          <a:xfrm>
            <a:off x="467544" y="1340768"/>
            <a:ext cx="8405813" cy="427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908050" indent="-43688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ts val="600"/>
              </a:spcBef>
              <a:buClr>
                <a:srgbClr val="1557AE"/>
              </a:buClr>
              <a:buFont typeface="Wingdings" panose="05000000000000000000" pitchFamily="2" charset="2"/>
              <a:buChar char="Ø"/>
            </a:pP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A long pattern contains a combinatorial number of sub-patterns, e.g., {a</a:t>
            </a:r>
            <a:r>
              <a:rPr lang="en-US" altLang="zh-CN" sz="2000" b="0" baseline="-2500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1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, …, a</a:t>
            </a:r>
            <a:r>
              <a:rPr lang="en-US" altLang="zh-CN" sz="2000" b="0" baseline="-2500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100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} 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Wingdings" panose="05000000000000000000" pitchFamily="2" charset="2"/>
              </a:rPr>
              <a:t>contains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 (</a:t>
            </a:r>
            <a:r>
              <a:rPr lang="en-US" altLang="zh-CN" sz="2000" b="0" baseline="-2500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100</a:t>
            </a:r>
            <a:r>
              <a:rPr lang="en-US" altLang="zh-CN" sz="2000" b="0" baseline="3000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1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) + (</a:t>
            </a:r>
            <a:r>
              <a:rPr lang="en-US" altLang="zh-CN" sz="2000" b="0" baseline="-2500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100</a:t>
            </a:r>
            <a:r>
              <a:rPr lang="en-US" altLang="zh-CN" sz="2000" b="0" baseline="3000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2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) + … + (</a:t>
            </a:r>
            <a:r>
              <a:rPr lang="en-US" altLang="zh-CN" sz="2000" b="0" baseline="-2500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1</a:t>
            </a:r>
            <a:r>
              <a:rPr lang="en-US" altLang="zh-CN" sz="2000" b="0" baseline="3000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1</a:t>
            </a:r>
            <a:r>
              <a:rPr lang="en-US" altLang="zh-CN" sz="2000" b="0" baseline="-2500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0</a:t>
            </a:r>
            <a:r>
              <a:rPr lang="en-US" altLang="zh-CN" sz="2000" b="0" baseline="3000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0</a:t>
            </a:r>
            <a:r>
              <a:rPr lang="en-US" altLang="zh-CN" sz="2000" b="0" baseline="-2500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0</a:t>
            </a:r>
            <a:r>
              <a:rPr lang="en-US" altLang="zh-CN" sz="2000" b="0" baseline="3000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0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) = 2</a:t>
            </a:r>
            <a:r>
              <a:rPr lang="en-US" altLang="zh-CN" sz="2000" b="0" baseline="3000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100 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– 1 = 1.27*10</a:t>
            </a:r>
            <a:r>
              <a:rPr lang="en-US" altLang="zh-CN" sz="2000" b="0" baseline="3000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30 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sub-patterns!</a:t>
            </a:r>
            <a:endParaRPr lang="en-US" altLang="zh-CN" sz="20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eaLnBrk="1" hangingPunct="1">
              <a:lnSpc>
                <a:spcPct val="140000"/>
              </a:lnSpc>
              <a:spcBef>
                <a:spcPts val="600"/>
              </a:spcBef>
              <a:buClr>
                <a:srgbClr val="1557AE"/>
              </a:buClr>
              <a:buFont typeface="Wingdings" panose="05000000000000000000" pitchFamily="2" charset="2"/>
              <a:buChar char="Ø"/>
            </a:pP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Solution: </a:t>
            </a:r>
            <a:r>
              <a:rPr lang="en-US" altLang="zh-CN" sz="2000" b="0" i="1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Mine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closed patterns </a:t>
            </a:r>
            <a:r>
              <a:rPr lang="en-US" altLang="zh-CN" sz="2000" b="0" i="1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and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max-patterns </a:t>
            </a:r>
            <a:r>
              <a:rPr lang="en-US" altLang="zh-CN" sz="2000" b="0" i="1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instead</a:t>
            </a:r>
            <a:endParaRPr lang="en-US" altLang="zh-CN" sz="2000" b="0" i="1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eaLnBrk="1" hangingPunct="1">
              <a:lnSpc>
                <a:spcPct val="140000"/>
              </a:lnSpc>
              <a:spcBef>
                <a:spcPts val="600"/>
              </a:spcBef>
              <a:buClr>
                <a:srgbClr val="1557AE"/>
              </a:buClr>
              <a:buFont typeface="Wingdings" panose="05000000000000000000" pitchFamily="2" charset="2"/>
              <a:buChar char="Ø"/>
            </a:pP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An itemset X is 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closed</a:t>
            </a:r>
            <a:r>
              <a:rPr lang="en-US" altLang="zh-CN" sz="2000" b="0" dirty="0">
                <a:solidFill>
                  <a:srgbClr val="336699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if X is </a:t>
            </a:r>
            <a:r>
              <a:rPr lang="en-US" altLang="zh-CN" sz="2000" b="0" i="1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frequent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 and there exists </a:t>
            </a:r>
            <a:r>
              <a:rPr lang="en-US" altLang="zh-CN" sz="2000" b="0" i="1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no super-pattern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    Y </a:t>
            </a:r>
            <a:r>
              <a:rPr lang="he-IL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כ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 X , </a:t>
            </a:r>
            <a:r>
              <a:rPr lang="en-US" altLang="zh-CN" sz="2000" b="0" i="1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with  the same support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 as X</a:t>
            </a:r>
            <a:endParaRPr lang="en-US" altLang="zh-CN" sz="20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eaLnBrk="1" hangingPunct="1">
              <a:lnSpc>
                <a:spcPct val="140000"/>
              </a:lnSpc>
              <a:spcBef>
                <a:spcPts val="600"/>
              </a:spcBef>
              <a:buClr>
                <a:srgbClr val="1557AE"/>
              </a:buClr>
              <a:buFont typeface="Wingdings" panose="05000000000000000000" pitchFamily="2" charset="2"/>
              <a:buChar char="Ø"/>
            </a:pP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An itemset X is a 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max-pattern</a:t>
            </a:r>
            <a:r>
              <a:rPr lang="en-US" altLang="zh-CN" sz="2000" b="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if X is frequent and there exists no frequent super-pattern Y </a:t>
            </a:r>
            <a:r>
              <a:rPr lang="he-IL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כ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 X</a:t>
            </a:r>
            <a:endParaRPr lang="en-US" altLang="zh-CN" sz="20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eaLnBrk="1" hangingPunct="1">
              <a:lnSpc>
                <a:spcPct val="140000"/>
              </a:lnSpc>
              <a:spcBef>
                <a:spcPts val="600"/>
              </a:spcBef>
              <a:buClr>
                <a:srgbClr val="1557AE"/>
              </a:buClr>
              <a:buFont typeface="Wingdings" panose="05000000000000000000" pitchFamily="2" charset="2"/>
              <a:buChar char="Ø"/>
            </a:pP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Closed pattern is a lossless compression of freq. patterns</a:t>
            </a:r>
            <a:endParaRPr lang="en-US" altLang="zh-CN" sz="20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6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995" y="1196975"/>
            <a:ext cx="7572375" cy="50482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1052830"/>
            <a:ext cx="7667625" cy="52673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50" y="1340485"/>
            <a:ext cx="7562850" cy="32861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095" y="1090295"/>
            <a:ext cx="7785100" cy="489458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196752"/>
            <a:ext cx="8208962" cy="4267200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  <a:defRPr/>
            </a:pPr>
            <a:r>
              <a:rPr lang="en-US" altLang="zh-CN" sz="2400" b="0" dirty="0">
                <a:solidFill>
                  <a:srgbClr val="FF0000"/>
                </a:solidFill>
              </a:rPr>
              <a:t>Closed Patterns and Max-Patterns</a:t>
            </a:r>
            <a:endParaRPr lang="en-US" altLang="zh-CN" sz="2400" b="0" dirty="0">
              <a:solidFill>
                <a:srgbClr val="FF0000"/>
              </a:solidFill>
            </a:endParaRPr>
          </a:p>
          <a:p>
            <a:pPr eaLnBrk="1" hangingPunct="1">
              <a:lnSpc>
                <a:spcPct val="110000"/>
              </a:lnSpc>
              <a:buClr>
                <a:srgbClr val="1557AE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CN" sz="2400" b="0" dirty="0">
                <a:solidFill>
                  <a:srgbClr val="1557AE"/>
                </a:solidFill>
              </a:rPr>
              <a:t>a maximal itemset is a closed itemset but a closed itemset is not necessarily a maximal itemset. </a:t>
            </a:r>
            <a:endParaRPr lang="en-US" altLang="zh-CN" sz="2400" b="0" dirty="0">
              <a:solidFill>
                <a:srgbClr val="1557AE"/>
              </a:solidFill>
            </a:endParaRPr>
          </a:p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None/>
              <a:defRPr/>
            </a:pPr>
            <a:endParaRPr lang="zh-CN" altLang="en-US" sz="2400" b="0" dirty="0">
              <a:solidFill>
                <a:srgbClr val="C00000"/>
              </a:solidFill>
            </a:endParaRPr>
          </a:p>
        </p:txBody>
      </p:sp>
      <p:pic>
        <p:nvPicPr>
          <p:cNvPr id="53251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2780928"/>
            <a:ext cx="3727450" cy="352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492125" y="1412875"/>
            <a:ext cx="3159125" cy="469900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en-US" altLang="zh-CN" sz="2800" b="0">
                <a:solidFill>
                  <a:srgbClr val="FF0000"/>
                </a:solidFill>
                <a:cs typeface="微软雅黑" charset="0"/>
              </a:rPr>
              <a:t> Apriori</a:t>
            </a:r>
            <a:r>
              <a:rPr lang="zh-CN" altLang="en-US" sz="2800" b="0">
                <a:solidFill>
                  <a:srgbClr val="FF0000"/>
                </a:solidFill>
                <a:cs typeface="微软雅黑" charset="0"/>
              </a:rPr>
              <a:t>算法</a:t>
            </a:r>
            <a:endParaRPr lang="en-US" altLang="zh-CN" sz="2800" b="0">
              <a:solidFill>
                <a:srgbClr val="FF0000"/>
              </a:solidFill>
              <a:cs typeface="微软雅黑" charset="0"/>
            </a:endParaRPr>
          </a:p>
        </p:txBody>
      </p:sp>
      <p:sp>
        <p:nvSpPr>
          <p:cNvPr id="55300" name="Rectangle 3"/>
          <p:cNvSpPr>
            <a:spLocks noGrp="1" noChangeArrowheads="1"/>
          </p:cNvSpPr>
          <p:nvPr/>
        </p:nvSpPr>
        <p:spPr bwMode="auto">
          <a:xfrm>
            <a:off x="1042988" y="2060575"/>
            <a:ext cx="7581900" cy="348456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4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 C</a:t>
            </a:r>
            <a:r>
              <a:rPr lang="en-US" altLang="zh-CN" sz="2400" b="0" baseline="-25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k</a:t>
            </a:r>
            <a:r>
              <a:rPr lang="en-US" altLang="zh-CN" sz="24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: </a:t>
            </a:r>
            <a:r>
              <a:rPr lang="zh-CN" altLang="en-US" sz="24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候选</a:t>
            </a:r>
            <a:r>
              <a:rPr lang="en-US" altLang="zh-CN" sz="24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 k-</a:t>
            </a:r>
            <a:r>
              <a:rPr lang="zh-CN" altLang="en-US" sz="24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项集</a:t>
            </a:r>
            <a:endParaRPr lang="en-US" altLang="zh-CN" sz="24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indent="0" eaLnBrk="1" hangingPunct="1">
              <a:lnSpc>
                <a:spcPct val="150000"/>
              </a:lnSpc>
              <a:buClrTx/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solidFill>
                  <a:srgbClr val="0000FF"/>
                </a:solidFill>
                <a:latin typeface="微软雅黑" charset="0"/>
                <a:ea typeface="微软雅黑" charset="0"/>
                <a:cs typeface="微软雅黑" charset="0"/>
              </a:rPr>
              <a:t>     </a:t>
            </a:r>
            <a:r>
              <a:rPr lang="en-US" altLang="zh-CN" sz="24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 L</a:t>
            </a:r>
            <a:r>
              <a:rPr lang="en-US" altLang="zh-CN" sz="2400" b="0" baseline="-25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k</a:t>
            </a:r>
            <a:r>
              <a:rPr lang="en-US" altLang="zh-CN" sz="24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: </a:t>
            </a:r>
            <a:r>
              <a:rPr lang="zh-CN" altLang="en-US" sz="24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频繁</a:t>
            </a:r>
            <a:r>
              <a:rPr lang="en-US" altLang="zh-CN" sz="24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k-</a:t>
            </a:r>
            <a:r>
              <a:rPr lang="zh-CN" altLang="en-US" sz="24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项集</a:t>
            </a:r>
            <a:endParaRPr lang="en-US" altLang="zh-CN" sz="24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eaLnBrk="1" hangingPunct="1">
              <a:lnSpc>
                <a:spcPct val="150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4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Join </a:t>
            </a:r>
            <a:r>
              <a:rPr lang="zh-CN" altLang="en-US" sz="24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阶段</a:t>
            </a:r>
            <a:r>
              <a:rPr lang="en-US" altLang="zh-CN" sz="24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: </a:t>
            </a:r>
            <a:r>
              <a:rPr lang="en-US" altLang="zh-CN" sz="24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C</a:t>
            </a:r>
            <a:r>
              <a:rPr lang="en-US" altLang="zh-CN" sz="2400" b="0" baseline="-2500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k</a:t>
            </a:r>
            <a:r>
              <a:rPr lang="en-US" altLang="zh-CN" sz="24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zh-CN" altLang="en-US" sz="24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由</a:t>
            </a:r>
            <a:r>
              <a:rPr lang="en-US" altLang="zh-CN" sz="24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L</a:t>
            </a:r>
            <a:r>
              <a:rPr lang="en-US" altLang="zh-CN" sz="2400" b="0" baseline="-2500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k-1</a:t>
            </a:r>
            <a:r>
              <a:rPr lang="zh-CN" altLang="en-US" sz="24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链接而成</a:t>
            </a:r>
            <a:endParaRPr lang="en-US" altLang="zh-CN" sz="24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eaLnBrk="1" hangingPunct="1">
              <a:lnSpc>
                <a:spcPct val="150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4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Prune</a:t>
            </a:r>
            <a:r>
              <a:rPr lang="zh-CN" altLang="en-US" sz="24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阶段</a:t>
            </a:r>
            <a:r>
              <a:rPr lang="en-US" altLang="zh-CN" sz="24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:  </a:t>
            </a:r>
            <a:r>
              <a:rPr lang="zh-CN" altLang="en-US" sz="24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任何包含非频繁的</a:t>
            </a:r>
            <a:r>
              <a:rPr lang="en-US" altLang="zh-CN" sz="24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(k-1)-</a:t>
            </a:r>
            <a:r>
              <a:rPr lang="zh-CN" altLang="en-US" sz="24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项集都不可能是频繁的</a:t>
            </a:r>
            <a:r>
              <a:rPr lang="en-US" altLang="zh-CN" sz="24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k-</a:t>
            </a:r>
            <a:r>
              <a:rPr lang="zh-CN" altLang="en-US" sz="24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项集</a:t>
            </a:r>
            <a:endParaRPr lang="en-US" altLang="zh-CN" sz="24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636191" y="1196429"/>
            <a:ext cx="3159125" cy="469900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en-US" altLang="zh-CN" sz="2800">
                <a:solidFill>
                  <a:srgbClr val="FF0000"/>
                </a:solidFill>
                <a:cs typeface="微软雅黑" charset="0"/>
              </a:rPr>
              <a:t> Apriori</a:t>
            </a:r>
            <a:r>
              <a:rPr lang="zh-CN" altLang="en-US" sz="2800">
                <a:solidFill>
                  <a:srgbClr val="FF0000"/>
                </a:solidFill>
                <a:cs typeface="微软雅黑" charset="0"/>
              </a:rPr>
              <a:t>算法</a:t>
            </a:r>
            <a:endParaRPr lang="en-US" altLang="zh-CN" sz="2800">
              <a:solidFill>
                <a:srgbClr val="FF0000"/>
              </a:solidFill>
              <a:cs typeface="微软雅黑" charset="0"/>
            </a:endParaRPr>
          </a:p>
        </p:txBody>
      </p:sp>
      <p:sp>
        <p:nvSpPr>
          <p:cNvPr id="57347" name="Rectangle 3"/>
          <p:cNvSpPr>
            <a:spLocks noGrp="1" noChangeArrowheads="1"/>
          </p:cNvSpPr>
          <p:nvPr/>
        </p:nvSpPr>
        <p:spPr bwMode="auto">
          <a:xfrm>
            <a:off x="1115616" y="1556792"/>
            <a:ext cx="75819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742950" indent="-273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lvl="1" eaLnBrk="1" hangingPunct="1">
              <a:lnSpc>
                <a:spcPct val="90000"/>
              </a:lnSpc>
              <a:spcBef>
                <a:spcPts val="30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000">
              <a:latin typeface="微软雅黑" charset="0"/>
              <a:ea typeface="微软雅黑" charset="0"/>
              <a:cs typeface="微软雅黑" charset="0"/>
            </a:endParaRPr>
          </a:p>
          <a:p>
            <a:pPr eaLnBrk="1" hangingPunct="1">
              <a:lnSpc>
                <a:spcPct val="120000"/>
              </a:lnSpc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AutoNum type="arabicParenR"/>
            </a:pPr>
            <a:r>
              <a:rPr lang="en-US" altLang="zh-CN" sz="200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zh-CN" sz="2000" i="1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L</a:t>
            </a:r>
            <a:r>
              <a:rPr lang="en-US" altLang="zh-CN" sz="2000" baseline="-2500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1</a:t>
            </a:r>
            <a:r>
              <a:rPr lang="en-US" altLang="zh-CN" sz="200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 = {large 1-itemsets};</a:t>
            </a:r>
            <a:endParaRPr lang="en-US" altLang="zh-CN" sz="200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eaLnBrk="1" hangingPunct="1">
              <a:lnSpc>
                <a:spcPct val="120000"/>
              </a:lnSpc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AutoNum type="arabicParenR"/>
            </a:pPr>
            <a:r>
              <a:rPr lang="en-US" altLang="zh-CN" sz="200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 for </a:t>
            </a:r>
            <a:r>
              <a:rPr lang="en-US" altLang="zh-CN" sz="200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( </a:t>
            </a:r>
            <a:r>
              <a:rPr lang="en-US" altLang="zh-CN" sz="2000" i="1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k</a:t>
            </a:r>
            <a:r>
              <a:rPr lang="en-US" altLang="zh-CN" sz="200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 = 2; </a:t>
            </a:r>
            <a:r>
              <a:rPr lang="en-US" altLang="zh-CN" sz="2000" i="1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L</a:t>
            </a:r>
            <a:r>
              <a:rPr lang="en-US" altLang="zh-CN" sz="2000" i="1" baseline="-2500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k</a:t>
            </a:r>
            <a:r>
              <a:rPr lang="en-US" altLang="zh-CN" sz="2000" baseline="-2500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-1</a:t>
            </a:r>
            <a:r>
              <a:rPr lang="en-US" altLang="zh-CN" sz="200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zh-CN" sz="200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 </a:t>
            </a:r>
            <a:r>
              <a:rPr lang="en-US" altLang="zh-CN" sz="200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Ø; </a:t>
            </a:r>
            <a:r>
              <a:rPr lang="en-US" altLang="zh-CN" sz="2000" i="1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k</a:t>
            </a:r>
            <a:r>
              <a:rPr lang="en-US" altLang="zh-CN" sz="200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++ ) </a:t>
            </a:r>
            <a:r>
              <a:rPr lang="en-US" altLang="zh-CN" sz="200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do begin</a:t>
            </a:r>
            <a:endParaRPr lang="en-US" altLang="zh-CN" sz="200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AutoNum type="arabicParenR"/>
            </a:pPr>
            <a:r>
              <a:rPr lang="en-US" altLang="zh-CN" sz="2000"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	  </a:t>
            </a:r>
            <a:r>
              <a:rPr lang="en-US" altLang="zh-CN" sz="2000" i="1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C</a:t>
            </a:r>
            <a:r>
              <a:rPr lang="en-US" altLang="zh-CN" sz="2000" i="1" baseline="-2500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k</a:t>
            </a:r>
            <a:r>
              <a:rPr lang="en-US" altLang="zh-CN" sz="200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= apriori-gen(</a:t>
            </a:r>
            <a:r>
              <a:rPr lang="en-US" altLang="zh-CN" sz="2000" i="1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L</a:t>
            </a:r>
            <a:r>
              <a:rPr lang="en-US" altLang="zh-CN" sz="2000" i="1" baseline="-2500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k</a:t>
            </a:r>
            <a:r>
              <a:rPr lang="en-US" altLang="zh-CN" sz="2000" baseline="-2500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-1</a:t>
            </a:r>
            <a:r>
              <a:rPr lang="en-US" altLang="zh-CN" sz="200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);    // New candidates</a:t>
            </a:r>
            <a:endParaRPr lang="en-US" altLang="zh-CN" sz="200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AutoNum type="arabicParenR"/>
            </a:pPr>
            <a:r>
              <a:rPr lang="en-US" altLang="zh-CN" sz="2000"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	</a:t>
            </a:r>
            <a:r>
              <a:rPr lang="en-US" altLang="zh-CN" sz="200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 forall </a:t>
            </a:r>
            <a:r>
              <a:rPr lang="en-US" altLang="zh-CN" sz="200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transactions </a:t>
            </a:r>
            <a:r>
              <a:rPr lang="en-US" altLang="zh-CN" sz="2000" i="1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t</a:t>
            </a:r>
            <a:r>
              <a:rPr lang="en-US" altLang="zh-CN" sz="200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 </a:t>
            </a:r>
            <a:r>
              <a:rPr lang="en-US" altLang="zh-CN" sz="2000" i="1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D</a:t>
            </a:r>
            <a:r>
              <a:rPr lang="en-US" altLang="zh-CN" sz="200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</a:t>
            </a:r>
            <a:r>
              <a:rPr lang="en-US" altLang="zh-CN" sz="200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do begin</a:t>
            </a:r>
            <a:endParaRPr lang="en-US" altLang="zh-CN" sz="200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AutoNum type="arabicParenR"/>
            </a:pPr>
            <a:r>
              <a:rPr lang="en-US" altLang="zh-CN" sz="2000"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		</a:t>
            </a:r>
            <a:r>
              <a:rPr lang="en-US" altLang="zh-CN" sz="2000" i="1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C</a:t>
            </a:r>
            <a:r>
              <a:rPr lang="en-US" altLang="zh-CN" sz="2000" i="1" baseline="-2500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t</a:t>
            </a:r>
            <a:r>
              <a:rPr lang="en-US" altLang="zh-CN" sz="200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= subset(</a:t>
            </a:r>
            <a:r>
              <a:rPr lang="en-US" altLang="zh-CN" sz="2000" i="1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C</a:t>
            </a:r>
            <a:r>
              <a:rPr lang="en-US" altLang="zh-CN" sz="2000" i="1" baseline="-2500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k</a:t>
            </a:r>
            <a:r>
              <a:rPr lang="en-US" altLang="zh-CN" sz="200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, </a:t>
            </a:r>
            <a:r>
              <a:rPr lang="en-US" altLang="zh-CN" sz="2000" i="1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t</a:t>
            </a:r>
            <a:r>
              <a:rPr lang="en-US" altLang="zh-CN" sz="200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);   //Candidates contained in </a:t>
            </a:r>
            <a:r>
              <a:rPr lang="en-US" altLang="zh-CN" sz="2000" i="1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t</a:t>
            </a:r>
            <a:endParaRPr lang="en-US" altLang="zh-CN" sz="2000" i="1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AutoNum type="arabicParenR"/>
            </a:pPr>
            <a:r>
              <a:rPr lang="en-US" altLang="zh-CN" sz="2000"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		</a:t>
            </a:r>
            <a:r>
              <a:rPr lang="en-US" altLang="zh-CN" sz="200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forall </a:t>
            </a:r>
            <a:r>
              <a:rPr lang="en-US" altLang="zh-CN" sz="200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candidates </a:t>
            </a:r>
            <a:r>
              <a:rPr lang="en-US" altLang="zh-CN" sz="2000" i="1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c</a:t>
            </a:r>
            <a:r>
              <a:rPr lang="en-US" altLang="zh-CN" sz="200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 </a:t>
            </a:r>
            <a:r>
              <a:rPr lang="en-US" altLang="zh-CN" sz="2000" i="1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C</a:t>
            </a:r>
            <a:r>
              <a:rPr lang="en-US" altLang="zh-CN" sz="2000" i="1" baseline="-2500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t</a:t>
            </a:r>
            <a:r>
              <a:rPr lang="en-US" altLang="zh-CN" sz="200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</a:t>
            </a:r>
            <a:r>
              <a:rPr lang="en-US" altLang="zh-CN" sz="200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do</a:t>
            </a:r>
            <a:endParaRPr lang="en-US" altLang="zh-CN" sz="200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AutoNum type="arabicParenR"/>
            </a:pPr>
            <a:r>
              <a:rPr lang="en-US" altLang="zh-CN" sz="2000"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			</a:t>
            </a:r>
            <a:r>
              <a:rPr lang="en-US" altLang="zh-CN" sz="2000" i="1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c</a:t>
            </a:r>
            <a:r>
              <a:rPr lang="en-US" altLang="zh-CN" sz="200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.count++;</a:t>
            </a:r>
            <a:endParaRPr lang="en-US" altLang="zh-CN" sz="200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AutoNum type="arabicParenR"/>
            </a:pPr>
            <a:r>
              <a:rPr lang="en-US" altLang="zh-CN" sz="2000"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	  </a:t>
            </a:r>
            <a:r>
              <a:rPr lang="en-US" altLang="zh-CN" sz="200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end</a:t>
            </a:r>
            <a:endParaRPr lang="en-US" altLang="zh-CN" sz="200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AutoNum type="arabicParenR"/>
            </a:pPr>
            <a:r>
              <a:rPr lang="en-US" altLang="zh-CN" sz="2000"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	</a:t>
            </a:r>
            <a:r>
              <a:rPr lang="en-US" altLang="zh-CN" sz="200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 </a:t>
            </a:r>
            <a:r>
              <a:rPr lang="en-US" altLang="zh-CN" sz="2000" i="1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L</a:t>
            </a:r>
            <a:r>
              <a:rPr lang="en-US" altLang="zh-CN" sz="2000" i="1" baseline="-2500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k</a:t>
            </a:r>
            <a:r>
              <a:rPr lang="en-US" altLang="zh-CN" sz="200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= {</a:t>
            </a:r>
            <a:r>
              <a:rPr lang="en-US" altLang="zh-CN" sz="2000" i="1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c</a:t>
            </a:r>
            <a:r>
              <a:rPr lang="en-US" altLang="zh-CN" sz="200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 </a:t>
            </a:r>
            <a:r>
              <a:rPr lang="en-US" altLang="zh-CN" sz="2000" i="1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C</a:t>
            </a:r>
            <a:r>
              <a:rPr lang="en-US" altLang="zh-CN" sz="2000" i="1" baseline="-2500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k</a:t>
            </a:r>
            <a:r>
              <a:rPr lang="en-US" altLang="zh-CN" sz="200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| </a:t>
            </a:r>
            <a:r>
              <a:rPr lang="en-US" altLang="zh-CN" sz="2000" i="1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c</a:t>
            </a:r>
            <a:r>
              <a:rPr lang="en-US" altLang="zh-CN" sz="200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.count  minsup}</a:t>
            </a:r>
            <a:endParaRPr lang="en-US" altLang="zh-CN" sz="200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AutoNum type="arabicParenR"/>
            </a:pPr>
            <a:r>
              <a:rPr lang="en-US" altLang="zh-CN" sz="200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end</a:t>
            </a:r>
            <a:endParaRPr lang="en-US" altLang="zh-CN" sz="200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AutoNum type="arabicParenR"/>
            </a:pPr>
            <a:r>
              <a:rPr lang="en-US" altLang="zh-CN" sz="200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Answer = </a:t>
            </a:r>
            <a:r>
              <a:rPr lang="en-US" altLang="zh-CN" sz="2000" i="1" baseline="-2500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k</a:t>
            </a:r>
            <a:r>
              <a:rPr lang="en-US" altLang="zh-CN" sz="200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</a:t>
            </a:r>
            <a:r>
              <a:rPr lang="en-US" altLang="zh-CN" sz="2000" i="1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L</a:t>
            </a:r>
            <a:r>
              <a:rPr lang="en-US" altLang="zh-CN" sz="2000" i="1" baseline="-2500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k</a:t>
            </a:r>
            <a:r>
              <a:rPr lang="en-US" altLang="zh-CN" sz="200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;</a:t>
            </a:r>
            <a:endParaRPr lang="en-US" altLang="zh-CN" sz="200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</p:txBody>
      </p:sp>
      <p:sp>
        <p:nvSpPr>
          <p:cNvPr id="5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467544" y="1052736"/>
            <a:ext cx="4486275" cy="469900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en-US" altLang="zh-CN" sz="2800" b="0" dirty="0">
                <a:solidFill>
                  <a:srgbClr val="C00000"/>
                </a:solidFill>
                <a:cs typeface="微软雅黑" charset="0"/>
              </a:rPr>
              <a:t> </a:t>
            </a:r>
            <a:r>
              <a:rPr lang="en-US" altLang="zh-CN" sz="2800" b="0" dirty="0" err="1">
                <a:solidFill>
                  <a:srgbClr val="FF0000"/>
                </a:solidFill>
                <a:cs typeface="微软雅黑" charset="0"/>
              </a:rPr>
              <a:t>Apriori</a:t>
            </a:r>
            <a:r>
              <a:rPr lang="zh-CN" altLang="en-US" sz="2800" b="0" dirty="0">
                <a:solidFill>
                  <a:srgbClr val="FF0000"/>
                </a:solidFill>
                <a:cs typeface="微软雅黑" charset="0"/>
              </a:rPr>
              <a:t>候选集生成</a:t>
            </a:r>
            <a:endParaRPr lang="en-US" altLang="zh-CN" sz="2800" b="0" dirty="0">
              <a:solidFill>
                <a:srgbClr val="FF0000"/>
              </a:solidFill>
              <a:cs typeface="微软雅黑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83568" y="1628800"/>
            <a:ext cx="8064896" cy="459422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441325" indent="-44132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1pPr>
            <a:lvl2pPr marL="1259205" indent="-3492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CN" sz="2200" b="0" dirty="0" err="1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apriori</a:t>
            </a:r>
            <a:r>
              <a:rPr lang="en-US" altLang="zh-CN" sz="22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-gen </a:t>
            </a:r>
            <a:r>
              <a:rPr lang="zh-CN" altLang="en-US" sz="22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函数以所有的</a:t>
            </a:r>
            <a:r>
              <a:rPr lang="en-US" altLang="zh-CN" sz="22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zh-CN" sz="22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(</a:t>
            </a:r>
            <a:r>
              <a:rPr lang="en-US" altLang="zh-CN" sz="22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k </a:t>
            </a:r>
            <a:r>
              <a:rPr lang="en-US" altLang="zh-CN" sz="22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- 1) </a:t>
            </a:r>
            <a:r>
              <a:rPr lang="zh-CN" altLang="en-US" sz="22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项集</a:t>
            </a:r>
            <a:r>
              <a:rPr lang="zh-CN" altLang="en-US" sz="22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的集合</a:t>
            </a:r>
            <a:r>
              <a:rPr lang="en-US" altLang="zh-CN" sz="22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L</a:t>
            </a:r>
            <a:r>
              <a:rPr lang="en-US" altLang="zh-CN" sz="2200" b="0" i="1" baseline="-25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k</a:t>
            </a:r>
            <a:r>
              <a:rPr lang="en-US" altLang="zh-CN" sz="2200" b="0" baseline="-25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-1</a:t>
            </a:r>
            <a:r>
              <a:rPr lang="zh-CN" altLang="en-US" sz="22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为输入，返回所有</a:t>
            </a:r>
            <a:r>
              <a:rPr lang="en-US" altLang="zh-CN" sz="22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k</a:t>
            </a:r>
            <a:r>
              <a:rPr lang="en-US" altLang="zh-CN" sz="22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-</a:t>
            </a:r>
            <a:r>
              <a:rPr lang="zh-CN" altLang="en-US" sz="22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项集</a:t>
            </a:r>
            <a:r>
              <a:rPr lang="zh-CN" altLang="en-US" sz="22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的集合 </a:t>
            </a:r>
            <a:r>
              <a:rPr lang="en-US" altLang="zh-CN" sz="22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C</a:t>
            </a:r>
            <a:r>
              <a:rPr lang="en-US" altLang="zh-CN" sz="2200" b="0" i="1" baseline="-25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k </a:t>
            </a:r>
            <a:r>
              <a:rPr lang="en-US" altLang="zh-CN" sz="2200" b="0" dirty="0">
                <a:latin typeface="微软雅黑" charset="0"/>
                <a:ea typeface="微软雅黑" charset="0"/>
                <a:cs typeface="微软雅黑" charset="0"/>
              </a:rPr>
              <a:t>.</a:t>
            </a:r>
            <a:endParaRPr lang="en-US" altLang="zh-CN" sz="2200" b="0" dirty="0">
              <a:latin typeface="微软雅黑" charset="0"/>
              <a:ea typeface="微软雅黑" charset="0"/>
              <a:cs typeface="微软雅黑" charset="0"/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2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首先</a:t>
            </a:r>
            <a:r>
              <a:rPr lang="en-US" altLang="zh-CN" sz="22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, </a:t>
            </a:r>
            <a:r>
              <a:rPr lang="zh-CN" altLang="en-US" sz="22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在</a:t>
            </a:r>
            <a:r>
              <a:rPr lang="zh-CN" altLang="en-US" sz="2200" b="0" dirty="0"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zh-CN" sz="22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join</a:t>
            </a:r>
            <a:r>
              <a:rPr lang="en-US" altLang="zh-CN" sz="2200" b="0" dirty="0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zh-CN" altLang="en-US" sz="22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阶段</a:t>
            </a:r>
            <a:r>
              <a:rPr lang="en-US" altLang="zh-CN" sz="2200" b="0" dirty="0">
                <a:latin typeface="微软雅黑" charset="0"/>
                <a:ea typeface="微软雅黑" charset="0"/>
                <a:cs typeface="微软雅黑" charset="0"/>
              </a:rPr>
              <a:t>:</a:t>
            </a:r>
            <a:endParaRPr lang="en-US" altLang="zh-CN" sz="2200" b="0" dirty="0">
              <a:latin typeface="微软雅黑" charset="0"/>
              <a:ea typeface="微软雅黑" charset="0"/>
              <a:cs typeface="微软雅黑" charset="0"/>
            </a:endParaRPr>
          </a:p>
          <a:p>
            <a:pPr marL="909955" lvl="1" indent="0" eaLnBrk="1" hangingPunct="1"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18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insert into </a:t>
            </a:r>
            <a:r>
              <a:rPr lang="en-US" altLang="zh-CN" sz="18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C</a:t>
            </a:r>
            <a:r>
              <a:rPr lang="en-US" altLang="zh-CN" sz="1800" b="0" i="1" baseline="-25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k</a:t>
            </a:r>
            <a:endParaRPr lang="en-US" altLang="zh-CN" sz="1800" b="0" i="1" baseline="-25000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909955" lvl="1" indent="0" eaLnBrk="1" hangingPunct="1"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18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select </a:t>
            </a:r>
            <a:r>
              <a:rPr lang="en-US" altLang="zh-CN" sz="18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p</a:t>
            </a:r>
            <a:r>
              <a:rPr lang="en-US" altLang="zh-CN" sz="18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.item</a:t>
            </a:r>
            <a:r>
              <a:rPr lang="en-US" altLang="zh-CN" sz="1800" b="0" baseline="-25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1</a:t>
            </a:r>
            <a:r>
              <a:rPr lang="en-US" altLang="zh-CN" sz="18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, </a:t>
            </a:r>
            <a:r>
              <a:rPr lang="en-US" altLang="zh-CN" sz="18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p</a:t>
            </a:r>
            <a:r>
              <a:rPr lang="en-US" altLang="zh-CN" sz="18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.item</a:t>
            </a:r>
            <a:r>
              <a:rPr lang="en-US" altLang="zh-CN" sz="1800" b="0" baseline="-25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2</a:t>
            </a:r>
            <a:r>
              <a:rPr lang="en-US" altLang="zh-CN" sz="18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, …, </a:t>
            </a:r>
            <a:r>
              <a:rPr lang="en-US" altLang="zh-CN" sz="1800" b="0" i="1" dirty="0" err="1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p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.item</a:t>
            </a:r>
            <a:r>
              <a:rPr lang="en-US" altLang="zh-CN" sz="1800" b="0" i="1" baseline="-25000" dirty="0" err="1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k</a:t>
            </a:r>
            <a:r>
              <a:rPr lang="en-US" altLang="zh-CN" sz="1800" b="0" baseline="-25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–1</a:t>
            </a:r>
            <a:r>
              <a:rPr lang="en-US" altLang="zh-CN" sz="18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, </a:t>
            </a:r>
            <a:r>
              <a:rPr lang="en-US" altLang="zh-CN" sz="1800" b="0" i="1" dirty="0" err="1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q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.item</a:t>
            </a:r>
            <a:r>
              <a:rPr lang="en-US" altLang="zh-CN" sz="1800" b="0" i="1" baseline="-25000" dirty="0" err="1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k</a:t>
            </a:r>
            <a:r>
              <a:rPr lang="en-US" altLang="zh-CN" sz="1800" b="0" baseline="-25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–1</a:t>
            </a:r>
            <a:endParaRPr lang="en-US" altLang="zh-CN" sz="1800" b="0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909955" lvl="1" indent="0" eaLnBrk="1" hangingPunct="1"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18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from </a:t>
            </a:r>
            <a:r>
              <a:rPr lang="en-US" altLang="zh-CN" sz="18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L</a:t>
            </a:r>
            <a:r>
              <a:rPr lang="en-US" altLang="zh-CN" sz="1800" b="0" i="1" baseline="-25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k</a:t>
            </a:r>
            <a:r>
              <a:rPr lang="en-US" altLang="zh-CN" sz="1800" b="0" baseline="-25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–1 </a:t>
            </a:r>
            <a:r>
              <a:rPr lang="en-US" altLang="zh-CN" sz="18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p</a:t>
            </a:r>
            <a:r>
              <a:rPr lang="en-US" altLang="zh-CN" sz="18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, </a:t>
            </a:r>
            <a:r>
              <a:rPr lang="en-US" altLang="zh-CN" sz="18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L</a:t>
            </a:r>
            <a:r>
              <a:rPr lang="en-US" altLang="zh-CN" sz="1800" b="0" i="1" baseline="-25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k</a:t>
            </a:r>
            <a:r>
              <a:rPr lang="en-US" altLang="zh-CN" sz="1800" b="0" baseline="-25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–1</a:t>
            </a:r>
            <a:r>
              <a:rPr lang="en-US" altLang="zh-CN" sz="18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zh-CN" sz="18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q</a:t>
            </a:r>
            <a:endParaRPr lang="en-US" altLang="zh-CN" sz="1800" b="0" i="1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909955" lvl="1" indent="0" eaLnBrk="1" hangingPunct="1"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18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where </a:t>
            </a:r>
            <a:r>
              <a:rPr lang="en-US" altLang="zh-CN" sz="18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p</a:t>
            </a:r>
            <a:r>
              <a:rPr lang="en-US" altLang="zh-CN" sz="18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.item</a:t>
            </a:r>
            <a:r>
              <a:rPr lang="en-US" altLang="zh-CN" sz="1800" b="0" baseline="-25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1</a:t>
            </a:r>
            <a:r>
              <a:rPr lang="en-US" altLang="zh-CN" sz="18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 = </a:t>
            </a:r>
            <a:r>
              <a:rPr lang="en-US" altLang="zh-CN" sz="18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q</a:t>
            </a:r>
            <a:r>
              <a:rPr lang="en-US" altLang="zh-CN" sz="18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.item</a:t>
            </a:r>
            <a:r>
              <a:rPr lang="en-US" altLang="zh-CN" sz="1800" b="0" baseline="-25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1</a:t>
            </a:r>
            <a:r>
              <a:rPr lang="en-US" altLang="zh-CN" sz="18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, …, </a:t>
            </a:r>
            <a:r>
              <a:rPr lang="en-US" altLang="zh-CN" sz="1800" b="0" i="1" dirty="0" err="1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p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.item</a:t>
            </a:r>
            <a:r>
              <a:rPr lang="en-US" altLang="zh-CN" sz="1800" b="0" i="1" baseline="-25000" dirty="0" err="1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k</a:t>
            </a:r>
            <a:r>
              <a:rPr lang="en-US" altLang="zh-CN" sz="1800" b="0" baseline="-25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–2</a:t>
            </a:r>
            <a:r>
              <a:rPr lang="en-US" altLang="zh-CN" sz="18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 = </a:t>
            </a:r>
            <a:r>
              <a:rPr lang="en-US" altLang="zh-CN" sz="1800" b="0" i="1" dirty="0" err="1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q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.item</a:t>
            </a:r>
            <a:r>
              <a:rPr lang="en-US" altLang="zh-CN" sz="1800" b="0" i="1" baseline="-25000" dirty="0" err="1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k</a:t>
            </a:r>
            <a:r>
              <a:rPr lang="en-US" altLang="zh-CN" sz="1800" b="0" baseline="-25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–2, </a:t>
            </a:r>
            <a:r>
              <a:rPr lang="en-US" altLang="zh-CN" sz="1800" b="0" i="1" dirty="0" err="1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p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.item</a:t>
            </a:r>
            <a:r>
              <a:rPr lang="en-US" altLang="zh-CN" sz="1800" b="0" i="1" baseline="-25000" dirty="0" err="1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k</a:t>
            </a:r>
            <a:r>
              <a:rPr lang="en-US" altLang="zh-CN" sz="1800" b="0" baseline="-25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–1</a:t>
            </a:r>
            <a:r>
              <a:rPr lang="en-US" altLang="zh-CN" sz="18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zh-CN" sz="18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 </a:t>
            </a:r>
            <a:r>
              <a:rPr lang="en-US" altLang="zh-CN" sz="1800" b="0" i="1" dirty="0" err="1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q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.item</a:t>
            </a:r>
            <a:r>
              <a:rPr lang="en-US" altLang="zh-CN" sz="1800" b="0" i="1" baseline="-25000" dirty="0" err="1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k</a:t>
            </a:r>
            <a:r>
              <a:rPr lang="en-US" altLang="zh-CN" sz="1800" b="0" baseline="-25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–1</a:t>
            </a:r>
            <a:endParaRPr lang="en-US" altLang="zh-CN" sz="1800" b="0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2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其次</a:t>
            </a:r>
            <a:r>
              <a:rPr lang="en-US" altLang="zh-CN" sz="22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, </a:t>
            </a:r>
            <a:r>
              <a:rPr lang="zh-CN" altLang="en-US" sz="22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在 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prune</a:t>
            </a:r>
            <a:r>
              <a:rPr lang="en-US" altLang="zh-CN" sz="2000" b="0" dirty="0"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zh-CN" altLang="en-US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阶段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, </a:t>
            </a:r>
            <a:r>
              <a:rPr lang="zh-CN" altLang="en-US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删除所有的满足 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(</a:t>
            </a:r>
            <a:r>
              <a:rPr lang="en-US" altLang="zh-CN" sz="2000" b="0" i="1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k 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– 1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) </a:t>
            </a:r>
            <a:r>
              <a:rPr lang="zh-CN" altLang="en-US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子集不在 </a:t>
            </a:r>
            <a:r>
              <a:rPr lang="en-US" altLang="zh-CN" sz="2000" b="0" i="1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L</a:t>
            </a:r>
            <a:r>
              <a:rPr lang="en-US" altLang="zh-CN" sz="2000" b="0" i="1" baseline="-2500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k </a:t>
            </a:r>
            <a:r>
              <a:rPr lang="en-US" altLang="zh-CN" sz="2000" b="0" baseline="-2500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– 1 </a:t>
            </a:r>
            <a:r>
              <a:rPr lang="zh-CN" altLang="en-US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的项集 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c 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 </a:t>
            </a:r>
            <a:r>
              <a:rPr lang="en-US" altLang="zh-CN" sz="2000" b="0" i="1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C</a:t>
            </a:r>
            <a:r>
              <a:rPr lang="en-US" altLang="zh-CN" sz="2000" b="0" i="1" baseline="-2500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k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: </a:t>
            </a:r>
            <a:endParaRPr lang="en-US" altLang="zh-CN" sz="20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  <a:p>
            <a:pPr lvl="1" eaLnBrk="1" hangingPunct="1"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1800" b="0" dirty="0" err="1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forall</a:t>
            </a:r>
            <a:r>
              <a:rPr lang="en-US" altLang="zh-CN" sz="18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itemsets</a:t>
            </a:r>
            <a:r>
              <a:rPr lang="en-US" altLang="zh-CN" sz="18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 c </a:t>
            </a:r>
            <a:r>
              <a:rPr lang="en-US" altLang="zh-CN" sz="18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 </a:t>
            </a:r>
            <a:r>
              <a:rPr lang="en-US" altLang="zh-CN" sz="18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C</a:t>
            </a:r>
            <a:r>
              <a:rPr lang="en-US" altLang="zh-CN" sz="1800" b="0" i="1" baseline="-25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k</a:t>
            </a:r>
            <a:r>
              <a:rPr lang="en-US" altLang="zh-CN" sz="18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do</a:t>
            </a:r>
            <a:endParaRPr lang="en-US" altLang="zh-CN" sz="1800" b="0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  <a:p>
            <a:pPr lvl="1" eaLnBrk="1" hangingPunct="1"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18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	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forall</a:t>
            </a:r>
            <a:r>
              <a:rPr lang="en-US" altLang="zh-CN" sz="18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</a:t>
            </a:r>
            <a:r>
              <a:rPr lang="en-US" altLang="zh-CN" sz="18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(</a:t>
            </a:r>
            <a:r>
              <a:rPr lang="en-US" altLang="zh-CN" sz="18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k </a:t>
            </a:r>
            <a:r>
              <a:rPr lang="en-US" altLang="zh-CN" sz="18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– 1)-subsets s of c do</a:t>
            </a:r>
            <a:endParaRPr lang="en-US" altLang="zh-CN" sz="1800" b="0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1" eaLnBrk="1" hangingPunct="1"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18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		if (s </a:t>
            </a:r>
            <a:r>
              <a:rPr lang="en-US" altLang="zh-CN" sz="18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 </a:t>
            </a:r>
            <a:r>
              <a:rPr lang="en-US" altLang="zh-CN" sz="18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L</a:t>
            </a:r>
            <a:r>
              <a:rPr lang="en-US" altLang="zh-CN" sz="1800" b="0" i="1" baseline="-25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k </a:t>
            </a:r>
            <a:r>
              <a:rPr lang="en-US" altLang="zh-CN" sz="1800" b="0" baseline="-25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– 1</a:t>
            </a:r>
            <a:r>
              <a:rPr lang="en-US" altLang="zh-CN" sz="18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) then</a:t>
            </a:r>
            <a:endParaRPr lang="en-US" altLang="zh-CN" sz="1800" b="0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1" eaLnBrk="1" hangingPunct="1"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18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			delete c from </a:t>
            </a:r>
            <a:r>
              <a:rPr lang="en-US" altLang="zh-CN" sz="18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C</a:t>
            </a:r>
            <a:r>
              <a:rPr lang="en-US" altLang="zh-CN" sz="1800" b="0" i="1" baseline="-25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k</a:t>
            </a:r>
            <a:r>
              <a:rPr lang="en-US" altLang="zh-CN" sz="18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;</a:t>
            </a:r>
            <a:endParaRPr lang="en-US" altLang="zh-CN" sz="1800" b="0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</p:txBody>
      </p:sp>
      <p:sp>
        <p:nvSpPr>
          <p:cNvPr id="5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/>
          <p:cNvSpPr txBox="1">
            <a:spLocks noChangeArrowheads="1"/>
          </p:cNvSpPr>
          <p:nvPr/>
        </p:nvSpPr>
        <p:spPr bwMode="auto">
          <a:xfrm>
            <a:off x="684213" y="1700213"/>
            <a:ext cx="80772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400" i="1" dirty="0">
                <a:solidFill>
                  <a:srgbClr val="1557AE"/>
                </a:solidFill>
                <a:latin typeface="微软雅黑" charset="0"/>
                <a:ea typeface="微软雅黑" charset="0"/>
              </a:rPr>
              <a:t>L</a:t>
            </a:r>
            <a:r>
              <a:rPr lang="en-US" altLang="zh-CN" sz="2400" i="1" baseline="-25000" dirty="0">
                <a:solidFill>
                  <a:srgbClr val="1557AE"/>
                </a:solidFill>
                <a:latin typeface="微软雅黑" charset="0"/>
                <a:ea typeface="微软雅黑" charset="0"/>
              </a:rPr>
              <a:t>3</a:t>
            </a:r>
            <a:r>
              <a:rPr lang="en-US" altLang="zh-CN" sz="2400" i="1" dirty="0">
                <a:solidFill>
                  <a:srgbClr val="1557AE"/>
                </a:solidFill>
                <a:latin typeface="微软雅黑" charset="0"/>
                <a:ea typeface="微软雅黑" charset="0"/>
              </a:rPr>
              <a:t>= </a:t>
            </a:r>
            <a:r>
              <a:rPr lang="en-US" altLang="zh-CN" sz="2400" dirty="0">
                <a:solidFill>
                  <a:srgbClr val="1557AE"/>
                </a:solidFill>
                <a:latin typeface="微软雅黑" charset="0"/>
                <a:ea typeface="微软雅黑" charset="0"/>
              </a:rPr>
              <a:t>{</a:t>
            </a:r>
            <a:r>
              <a:rPr lang="en-US" altLang="zh-CN" sz="2400" i="1" dirty="0" err="1">
                <a:solidFill>
                  <a:srgbClr val="1557AE"/>
                </a:solidFill>
                <a:latin typeface="微软雅黑" charset="0"/>
                <a:ea typeface="微软雅黑" charset="0"/>
              </a:rPr>
              <a:t>abc</a:t>
            </a:r>
            <a:r>
              <a:rPr lang="en-US" altLang="zh-CN" sz="2400" i="1" dirty="0">
                <a:solidFill>
                  <a:srgbClr val="1557AE"/>
                </a:solidFill>
                <a:latin typeface="微软雅黑" charset="0"/>
                <a:ea typeface="微软雅黑" charset="0"/>
              </a:rPr>
              <a:t>, </a:t>
            </a:r>
            <a:r>
              <a:rPr lang="en-US" altLang="zh-CN" sz="2400" i="1" dirty="0" err="1">
                <a:solidFill>
                  <a:srgbClr val="1557AE"/>
                </a:solidFill>
                <a:latin typeface="微软雅黑" charset="0"/>
                <a:ea typeface="微软雅黑" charset="0"/>
              </a:rPr>
              <a:t>abd</a:t>
            </a:r>
            <a:r>
              <a:rPr lang="en-US" altLang="zh-CN" sz="2400" i="1" dirty="0">
                <a:solidFill>
                  <a:srgbClr val="1557AE"/>
                </a:solidFill>
                <a:latin typeface="微软雅黑" charset="0"/>
                <a:ea typeface="微软雅黑" charset="0"/>
              </a:rPr>
              <a:t>, </a:t>
            </a:r>
            <a:r>
              <a:rPr lang="en-US" altLang="zh-CN" sz="2400" i="1" dirty="0" err="1">
                <a:solidFill>
                  <a:srgbClr val="1557AE"/>
                </a:solidFill>
                <a:latin typeface="微软雅黑" charset="0"/>
                <a:ea typeface="微软雅黑" charset="0"/>
              </a:rPr>
              <a:t>acd</a:t>
            </a:r>
            <a:r>
              <a:rPr lang="en-US" altLang="zh-CN" sz="2400" i="1" dirty="0">
                <a:solidFill>
                  <a:srgbClr val="1557AE"/>
                </a:solidFill>
                <a:latin typeface="微软雅黑" charset="0"/>
                <a:ea typeface="微软雅黑" charset="0"/>
              </a:rPr>
              <a:t>, ace, </a:t>
            </a:r>
            <a:r>
              <a:rPr lang="en-US" altLang="zh-CN" sz="2400" i="1" dirty="0" err="1">
                <a:solidFill>
                  <a:srgbClr val="1557AE"/>
                </a:solidFill>
                <a:latin typeface="微软雅黑" charset="0"/>
                <a:ea typeface="微软雅黑" charset="0"/>
              </a:rPr>
              <a:t>bcd</a:t>
            </a:r>
            <a:r>
              <a:rPr lang="en-US" altLang="zh-CN" sz="2400" dirty="0">
                <a:solidFill>
                  <a:srgbClr val="1557AE"/>
                </a:solidFill>
                <a:latin typeface="微软雅黑" charset="0"/>
                <a:ea typeface="微软雅黑" charset="0"/>
              </a:rPr>
              <a:t>}</a:t>
            </a:r>
            <a:endParaRPr lang="en-US" altLang="zh-CN" sz="2400" dirty="0">
              <a:solidFill>
                <a:srgbClr val="1557AE"/>
              </a:solidFill>
              <a:latin typeface="微软雅黑" charset="0"/>
              <a:ea typeface="微软雅黑" charset="0"/>
            </a:endParaRPr>
          </a:p>
          <a:p>
            <a:pPr eaLnBrk="1" hangingPunct="1">
              <a:lnSpc>
                <a:spcPct val="14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latin typeface="微软雅黑" charset="0"/>
                <a:ea typeface="微软雅黑" charset="0"/>
              </a:rPr>
              <a:t>Self-joining: </a:t>
            </a:r>
            <a:r>
              <a:rPr lang="en-US" altLang="zh-CN" sz="2400" i="1" dirty="0">
                <a:solidFill>
                  <a:srgbClr val="1557AE"/>
                </a:solidFill>
                <a:latin typeface="微软雅黑" charset="0"/>
                <a:ea typeface="微软雅黑" charset="0"/>
              </a:rPr>
              <a:t>L</a:t>
            </a:r>
            <a:r>
              <a:rPr lang="en-US" altLang="zh-CN" sz="2400" i="1" baseline="-25000" dirty="0">
                <a:solidFill>
                  <a:srgbClr val="1557AE"/>
                </a:solidFill>
                <a:latin typeface="微软雅黑" charset="0"/>
                <a:ea typeface="微软雅黑" charset="0"/>
              </a:rPr>
              <a:t>3</a:t>
            </a:r>
            <a:r>
              <a:rPr lang="en-US" altLang="zh-CN" sz="2400" i="1" dirty="0">
                <a:solidFill>
                  <a:srgbClr val="1557AE"/>
                </a:solidFill>
                <a:latin typeface="微软雅黑" charset="0"/>
                <a:ea typeface="微软雅黑" charset="0"/>
              </a:rPr>
              <a:t>*L</a:t>
            </a:r>
            <a:r>
              <a:rPr lang="en-US" altLang="zh-CN" sz="2400" i="1" baseline="-25000" dirty="0">
                <a:solidFill>
                  <a:srgbClr val="1557AE"/>
                </a:solidFill>
                <a:latin typeface="微软雅黑" charset="0"/>
                <a:ea typeface="微软雅黑" charset="0"/>
              </a:rPr>
              <a:t>3</a:t>
            </a:r>
            <a:endParaRPr lang="en-US" altLang="zh-CN" sz="2400" i="1" dirty="0">
              <a:solidFill>
                <a:srgbClr val="1557AE"/>
              </a:solidFill>
              <a:latin typeface="微软雅黑" charset="0"/>
              <a:ea typeface="微软雅黑" charset="0"/>
            </a:endParaRPr>
          </a:p>
          <a:p>
            <a:pPr lvl="1" eaLnBrk="1" hangingPunct="1">
              <a:lnSpc>
                <a:spcPct val="140000"/>
              </a:lnSpc>
              <a:buClr>
                <a:schemeClr val="hlink"/>
              </a:buClr>
              <a:buSzPct val="55000"/>
            </a:pPr>
            <a:r>
              <a:rPr lang="en-US" altLang="zh-CN" sz="2400" i="1" dirty="0" err="1">
                <a:solidFill>
                  <a:srgbClr val="1557AE"/>
                </a:solidFill>
                <a:latin typeface="微软雅黑" charset="0"/>
                <a:ea typeface="微软雅黑" charset="0"/>
              </a:rPr>
              <a:t>abcd</a:t>
            </a:r>
            <a:r>
              <a:rPr lang="en-US" altLang="zh-CN" sz="2400" i="1" dirty="0">
                <a:solidFill>
                  <a:srgbClr val="1557AE"/>
                </a:solidFill>
                <a:latin typeface="微软雅黑" charset="0"/>
                <a:ea typeface="微软雅黑" charset="0"/>
              </a:rPr>
              <a:t>  </a:t>
            </a:r>
            <a:r>
              <a:rPr lang="en-US" altLang="zh-CN" sz="2400" dirty="0">
                <a:solidFill>
                  <a:srgbClr val="1557AE"/>
                </a:solidFill>
                <a:latin typeface="微软雅黑" charset="0"/>
                <a:ea typeface="微软雅黑" charset="0"/>
              </a:rPr>
              <a:t>from </a:t>
            </a:r>
            <a:r>
              <a:rPr lang="en-US" altLang="zh-CN" sz="2400" i="1" dirty="0" err="1">
                <a:solidFill>
                  <a:srgbClr val="1557AE"/>
                </a:solidFill>
                <a:latin typeface="微软雅黑" charset="0"/>
                <a:ea typeface="微软雅黑" charset="0"/>
              </a:rPr>
              <a:t>abc</a:t>
            </a:r>
            <a:r>
              <a:rPr lang="en-US" altLang="zh-CN" sz="2400" dirty="0">
                <a:solidFill>
                  <a:srgbClr val="1557AE"/>
                </a:solidFill>
                <a:latin typeface="微软雅黑" charset="0"/>
                <a:ea typeface="微软雅黑" charset="0"/>
              </a:rPr>
              <a:t> and </a:t>
            </a:r>
            <a:r>
              <a:rPr lang="en-US" altLang="zh-CN" sz="2400" i="1" dirty="0" err="1">
                <a:solidFill>
                  <a:srgbClr val="1557AE"/>
                </a:solidFill>
                <a:latin typeface="微软雅黑" charset="0"/>
                <a:ea typeface="微软雅黑" charset="0"/>
              </a:rPr>
              <a:t>abd</a:t>
            </a:r>
            <a:endParaRPr lang="en-US" altLang="zh-CN" sz="2400" i="1" dirty="0">
              <a:solidFill>
                <a:srgbClr val="1557AE"/>
              </a:solidFill>
              <a:latin typeface="微软雅黑" charset="0"/>
              <a:ea typeface="微软雅黑" charset="0"/>
            </a:endParaRPr>
          </a:p>
          <a:p>
            <a:pPr lvl="1" eaLnBrk="1" hangingPunct="1">
              <a:lnSpc>
                <a:spcPct val="140000"/>
              </a:lnSpc>
              <a:buClr>
                <a:schemeClr val="hlink"/>
              </a:buClr>
              <a:buSzPct val="55000"/>
            </a:pPr>
            <a:r>
              <a:rPr lang="en-US" altLang="zh-CN" sz="2400" i="1" dirty="0" err="1">
                <a:solidFill>
                  <a:srgbClr val="1557AE"/>
                </a:solidFill>
                <a:latin typeface="微软雅黑" charset="0"/>
                <a:ea typeface="微软雅黑" charset="0"/>
              </a:rPr>
              <a:t>acde</a:t>
            </a:r>
            <a:r>
              <a:rPr lang="en-US" altLang="zh-CN" sz="2400" dirty="0">
                <a:solidFill>
                  <a:srgbClr val="1557AE"/>
                </a:solidFill>
                <a:latin typeface="微软雅黑" charset="0"/>
                <a:ea typeface="微软雅黑" charset="0"/>
              </a:rPr>
              <a:t>  from </a:t>
            </a:r>
            <a:r>
              <a:rPr lang="en-US" altLang="zh-CN" sz="2400" i="1" dirty="0" err="1">
                <a:solidFill>
                  <a:srgbClr val="1557AE"/>
                </a:solidFill>
                <a:latin typeface="微软雅黑" charset="0"/>
                <a:ea typeface="微软雅黑" charset="0"/>
              </a:rPr>
              <a:t>acd</a:t>
            </a:r>
            <a:r>
              <a:rPr lang="en-US" altLang="zh-CN" sz="2400" dirty="0">
                <a:solidFill>
                  <a:srgbClr val="1557AE"/>
                </a:solidFill>
                <a:latin typeface="微软雅黑" charset="0"/>
                <a:ea typeface="微软雅黑" charset="0"/>
              </a:rPr>
              <a:t> and </a:t>
            </a:r>
            <a:r>
              <a:rPr lang="en-US" altLang="zh-CN" sz="2400" i="1" dirty="0">
                <a:solidFill>
                  <a:srgbClr val="1557AE"/>
                </a:solidFill>
                <a:latin typeface="微软雅黑" charset="0"/>
                <a:ea typeface="微软雅黑" charset="0"/>
              </a:rPr>
              <a:t>ace</a:t>
            </a:r>
            <a:endParaRPr lang="en-US" altLang="zh-CN" sz="2400" i="1" dirty="0">
              <a:solidFill>
                <a:srgbClr val="1557AE"/>
              </a:solidFill>
              <a:latin typeface="微软雅黑" charset="0"/>
              <a:ea typeface="微软雅黑" charset="0"/>
            </a:endParaRPr>
          </a:p>
          <a:p>
            <a:pPr eaLnBrk="1" hangingPunct="1">
              <a:lnSpc>
                <a:spcPct val="14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latin typeface="微软雅黑" charset="0"/>
                <a:ea typeface="微软雅黑" charset="0"/>
              </a:rPr>
              <a:t>Pruning:</a:t>
            </a:r>
            <a:endParaRPr lang="en-US" altLang="zh-CN" sz="2400" dirty="0">
              <a:solidFill>
                <a:srgbClr val="FF0000"/>
              </a:solidFill>
              <a:latin typeface="微软雅黑" charset="0"/>
              <a:ea typeface="微软雅黑" charset="0"/>
            </a:endParaRPr>
          </a:p>
          <a:p>
            <a:pPr lvl="1" eaLnBrk="1" hangingPunct="1">
              <a:lnSpc>
                <a:spcPct val="140000"/>
              </a:lnSpc>
              <a:buClr>
                <a:schemeClr val="hlink"/>
              </a:buClr>
              <a:buSzPct val="55000"/>
            </a:pPr>
            <a:r>
              <a:rPr lang="en-US" altLang="zh-CN" sz="2400" i="1" dirty="0" err="1">
                <a:solidFill>
                  <a:srgbClr val="1557AE"/>
                </a:solidFill>
                <a:latin typeface="微软雅黑" charset="0"/>
                <a:ea typeface="微软雅黑" charset="0"/>
              </a:rPr>
              <a:t>acde</a:t>
            </a:r>
            <a:r>
              <a:rPr lang="en-US" altLang="zh-CN" sz="2400" dirty="0">
                <a:solidFill>
                  <a:srgbClr val="1557AE"/>
                </a:solidFill>
                <a:latin typeface="微软雅黑" charset="0"/>
                <a:ea typeface="微软雅黑" charset="0"/>
              </a:rPr>
              <a:t> is removed because </a:t>
            </a:r>
            <a:r>
              <a:rPr lang="en-US" altLang="zh-CN" sz="2400" i="1" dirty="0" err="1">
                <a:solidFill>
                  <a:srgbClr val="1557AE"/>
                </a:solidFill>
                <a:latin typeface="微软雅黑" charset="0"/>
                <a:ea typeface="微软雅黑" charset="0"/>
              </a:rPr>
              <a:t>ade</a:t>
            </a:r>
            <a:r>
              <a:rPr lang="en-US" altLang="zh-CN" sz="2400" dirty="0">
                <a:solidFill>
                  <a:srgbClr val="1557AE"/>
                </a:solidFill>
                <a:latin typeface="微软雅黑" charset="0"/>
                <a:ea typeface="微软雅黑" charset="0"/>
              </a:rPr>
              <a:t> is not in </a:t>
            </a:r>
            <a:r>
              <a:rPr lang="en-US" altLang="zh-CN" sz="2400" i="1" dirty="0">
                <a:solidFill>
                  <a:srgbClr val="1557AE"/>
                </a:solidFill>
                <a:latin typeface="微软雅黑" charset="0"/>
                <a:ea typeface="微软雅黑" charset="0"/>
              </a:rPr>
              <a:t>L</a:t>
            </a:r>
            <a:r>
              <a:rPr lang="en-US" altLang="zh-CN" sz="2400" i="1" baseline="-25000" dirty="0">
                <a:solidFill>
                  <a:srgbClr val="1557AE"/>
                </a:solidFill>
                <a:latin typeface="微软雅黑" charset="0"/>
                <a:ea typeface="微软雅黑" charset="0"/>
              </a:rPr>
              <a:t>3</a:t>
            </a:r>
            <a:endParaRPr lang="en-US" altLang="zh-CN" sz="2400" i="1" baseline="-25000" dirty="0">
              <a:solidFill>
                <a:srgbClr val="1557AE"/>
              </a:solidFill>
              <a:latin typeface="微软雅黑" charset="0"/>
              <a:ea typeface="微软雅黑" charset="0"/>
            </a:endParaRPr>
          </a:p>
          <a:p>
            <a:pPr eaLnBrk="1" hangingPunct="1">
              <a:lnSpc>
                <a:spcPct val="14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400" i="1" dirty="0">
                <a:solidFill>
                  <a:srgbClr val="1557AE"/>
                </a:solidFill>
                <a:latin typeface="微软雅黑" charset="0"/>
                <a:ea typeface="微软雅黑" charset="0"/>
              </a:rPr>
              <a:t>C</a:t>
            </a:r>
            <a:r>
              <a:rPr lang="en-US" altLang="zh-CN" sz="2400" i="1" baseline="-25000" dirty="0">
                <a:solidFill>
                  <a:srgbClr val="1557AE"/>
                </a:solidFill>
                <a:latin typeface="微软雅黑" charset="0"/>
                <a:ea typeface="微软雅黑" charset="0"/>
              </a:rPr>
              <a:t>4</a:t>
            </a:r>
            <a:r>
              <a:rPr lang="en-US" altLang="zh-CN" sz="2400" dirty="0">
                <a:solidFill>
                  <a:srgbClr val="1557AE"/>
                </a:solidFill>
                <a:latin typeface="微软雅黑" charset="0"/>
                <a:ea typeface="微软雅黑" charset="0"/>
              </a:rPr>
              <a:t>={</a:t>
            </a:r>
            <a:r>
              <a:rPr lang="en-US" altLang="zh-CN" sz="2400" i="1" dirty="0" err="1">
                <a:solidFill>
                  <a:srgbClr val="1557AE"/>
                </a:solidFill>
                <a:latin typeface="微软雅黑" charset="0"/>
                <a:ea typeface="微软雅黑" charset="0"/>
              </a:rPr>
              <a:t>abcd</a:t>
            </a:r>
            <a:r>
              <a:rPr lang="en-US" altLang="zh-CN" sz="2400" dirty="0">
                <a:solidFill>
                  <a:srgbClr val="1557AE"/>
                </a:solidFill>
                <a:latin typeface="微软雅黑" charset="0"/>
                <a:ea typeface="微软雅黑" charset="0"/>
              </a:rPr>
              <a:t>}</a:t>
            </a:r>
            <a:endParaRPr lang="en-US" altLang="zh-CN" sz="2400" i="1" dirty="0">
              <a:solidFill>
                <a:srgbClr val="1557AE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467544" y="1039814"/>
            <a:ext cx="3432175" cy="469900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800" b="0">
                <a:solidFill>
                  <a:srgbClr val="C00000"/>
                </a:solidFill>
                <a:cs typeface="微软雅黑" charset="0"/>
              </a:rPr>
              <a:t> </a:t>
            </a:r>
            <a:r>
              <a:rPr lang="en-US" altLang="zh-CN" sz="2800" b="0">
                <a:solidFill>
                  <a:srgbClr val="FF0000"/>
                </a:solidFill>
                <a:cs typeface="微软雅黑" charset="0"/>
              </a:rPr>
              <a:t>Apriori</a:t>
            </a:r>
            <a:r>
              <a:rPr lang="zh-CN" altLang="en-US" sz="2800" b="0">
                <a:solidFill>
                  <a:srgbClr val="FF0000"/>
                </a:solidFill>
                <a:cs typeface="微软雅黑" charset="0"/>
              </a:rPr>
              <a:t>算法举例</a:t>
            </a:r>
            <a:endParaRPr lang="en-US" altLang="zh-CN" sz="2800" b="0">
              <a:solidFill>
                <a:srgbClr val="FF0000"/>
              </a:solidFill>
              <a:cs typeface="微软雅黑" charset="0"/>
            </a:endParaRPr>
          </a:p>
        </p:txBody>
      </p:sp>
      <p:graphicFrame>
        <p:nvGraphicFramePr>
          <p:cNvPr id="63491" name="Object 3"/>
          <p:cNvGraphicFramePr>
            <a:graphicFrameLocks noChangeAspect="1"/>
          </p:cNvGraphicFramePr>
          <p:nvPr/>
        </p:nvGraphicFramePr>
        <p:xfrm>
          <a:off x="661988" y="2100263"/>
          <a:ext cx="1866900" cy="147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54" name="工作表" r:id="rId1" imgW="2857500" imgH="2641600" progId="Excel.Sheet.8">
                  <p:embed/>
                </p:oleObj>
              </mc:Choice>
              <mc:Fallback>
                <p:oleObj name="工作表" r:id="rId1" imgW="2857500" imgH="2641600" progId="Excel.Shee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988" y="2100263"/>
                        <a:ext cx="1866900" cy="147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733425" y="1717675"/>
            <a:ext cx="1792288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rgbClr val="1557AE"/>
                </a:solidFill>
                <a:latin typeface="微软雅黑" charset="0"/>
                <a:ea typeface="微软雅黑" charset="0"/>
              </a:rPr>
              <a:t>Database D</a:t>
            </a:r>
            <a:endParaRPr lang="en-US" altLang="zh-CN" sz="2000" b="0">
              <a:solidFill>
                <a:srgbClr val="1557AE"/>
              </a:solidFill>
              <a:latin typeface="微软雅黑" charset="0"/>
              <a:ea typeface="微软雅黑" charset="0"/>
            </a:endParaRPr>
          </a:p>
        </p:txBody>
      </p:sp>
      <p:graphicFrame>
        <p:nvGraphicFramePr>
          <p:cNvPr id="65542" name="Object 5"/>
          <p:cNvGraphicFramePr>
            <a:graphicFrameLocks noChangeAspect="1"/>
          </p:cNvGraphicFramePr>
          <p:nvPr/>
        </p:nvGraphicFramePr>
        <p:xfrm>
          <a:off x="3621088" y="1585913"/>
          <a:ext cx="1870075" cy="177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55" name="工作表" r:id="rId3" imgW="2768600" imgH="3162300" progId="Excel.Sheet.8">
                  <p:embed/>
                </p:oleObj>
              </mc:Choice>
              <mc:Fallback>
                <p:oleObj name="工作表" r:id="rId3" imgW="2768600" imgH="3162300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1088" y="1585913"/>
                        <a:ext cx="1870075" cy="177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3" name="Object 6"/>
          <p:cNvGraphicFramePr>
            <a:graphicFrameLocks noChangeAspect="1"/>
          </p:cNvGraphicFramePr>
          <p:nvPr/>
        </p:nvGraphicFramePr>
        <p:xfrm>
          <a:off x="6418263" y="1677988"/>
          <a:ext cx="1824037" cy="1509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56" name="工作表" r:id="rId5" imgW="2768600" imgH="2641600" progId="Excel.Sheet.8">
                  <p:embed/>
                </p:oleObj>
              </mc:Choice>
              <mc:Fallback>
                <p:oleObj name="工作表" r:id="rId5" imgW="2768600" imgH="2641600" progId="Excel.Shee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8263" y="1677988"/>
                        <a:ext cx="1824037" cy="1509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5" name="Text Box 7"/>
          <p:cNvSpPr txBox="1">
            <a:spLocks noChangeArrowheads="1"/>
          </p:cNvSpPr>
          <p:nvPr/>
        </p:nvSpPr>
        <p:spPr bwMode="auto">
          <a:xfrm>
            <a:off x="2540000" y="2435225"/>
            <a:ext cx="1073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rgbClr val="FF0000"/>
                </a:solidFill>
                <a:latin typeface="微软雅黑" charset="0"/>
                <a:ea typeface="微软雅黑" charset="0"/>
              </a:rPr>
              <a:t>Scan D</a:t>
            </a:r>
            <a:endParaRPr lang="en-US" altLang="zh-CN" sz="1800" b="0">
              <a:solidFill>
                <a:srgbClr val="FF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63496" name="Line 8"/>
          <p:cNvSpPr>
            <a:spLocks noChangeShapeType="1"/>
          </p:cNvSpPr>
          <p:nvPr/>
        </p:nvSpPr>
        <p:spPr bwMode="auto">
          <a:xfrm>
            <a:off x="2655888" y="2836863"/>
            <a:ext cx="831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5546" name="Text Box 9"/>
          <p:cNvSpPr txBox="1">
            <a:spLocks noChangeArrowheads="1"/>
          </p:cNvSpPr>
          <p:nvPr/>
        </p:nvSpPr>
        <p:spPr bwMode="auto">
          <a:xfrm>
            <a:off x="3108325" y="1865313"/>
            <a:ext cx="508000" cy="401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000" b="0" i="1">
                <a:solidFill>
                  <a:srgbClr val="1557AE"/>
                </a:solidFill>
                <a:latin typeface="微软雅黑" charset="0"/>
                <a:ea typeface="微软雅黑" charset="0"/>
              </a:rPr>
              <a:t>C</a:t>
            </a:r>
            <a:r>
              <a:rPr lang="en-US" altLang="zh-CN" sz="2000" b="0" i="1" baseline="-25000">
                <a:solidFill>
                  <a:srgbClr val="1557AE"/>
                </a:solidFill>
                <a:latin typeface="微软雅黑" charset="0"/>
                <a:ea typeface="微软雅黑" charset="0"/>
              </a:rPr>
              <a:t>1</a:t>
            </a:r>
            <a:endParaRPr lang="en-US" altLang="zh-CN" sz="2000" b="0" i="1" baseline="-25000">
              <a:solidFill>
                <a:srgbClr val="1557AE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65547" name="Text Box 10"/>
          <p:cNvSpPr txBox="1">
            <a:spLocks noChangeArrowheads="1"/>
          </p:cNvSpPr>
          <p:nvPr/>
        </p:nvSpPr>
        <p:spPr bwMode="auto">
          <a:xfrm>
            <a:off x="5703888" y="1708150"/>
            <a:ext cx="458787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000" b="0" i="1">
                <a:solidFill>
                  <a:srgbClr val="1557AE"/>
                </a:solidFill>
                <a:latin typeface="微软雅黑" charset="0"/>
                <a:ea typeface="微软雅黑" charset="0"/>
              </a:rPr>
              <a:t>L</a:t>
            </a:r>
            <a:r>
              <a:rPr lang="en-US" altLang="zh-CN" sz="2000" b="0" i="1" baseline="-25000">
                <a:solidFill>
                  <a:srgbClr val="1557AE"/>
                </a:solidFill>
                <a:latin typeface="微软雅黑" charset="0"/>
                <a:ea typeface="微软雅黑" charset="0"/>
              </a:rPr>
              <a:t>1</a:t>
            </a:r>
            <a:endParaRPr lang="en-US" altLang="zh-CN" sz="2000" b="0" i="1" baseline="-25000">
              <a:solidFill>
                <a:srgbClr val="1557AE"/>
              </a:solidFill>
              <a:latin typeface="微软雅黑" charset="0"/>
              <a:ea typeface="微软雅黑" charset="0"/>
            </a:endParaRPr>
          </a:p>
        </p:txBody>
      </p:sp>
      <p:graphicFrame>
        <p:nvGraphicFramePr>
          <p:cNvPr id="65548" name="Object 11"/>
          <p:cNvGraphicFramePr>
            <a:graphicFrameLocks noChangeAspect="1"/>
          </p:cNvGraphicFramePr>
          <p:nvPr/>
        </p:nvGraphicFramePr>
        <p:xfrm>
          <a:off x="6969125" y="3465513"/>
          <a:ext cx="1146175" cy="212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57" name="工作表" r:id="rId7" imgW="1689100" imgH="3683000" progId="Excel.Sheet.8">
                  <p:embed/>
                </p:oleObj>
              </mc:Choice>
              <mc:Fallback>
                <p:oleObj name="工作表" r:id="rId7" imgW="1689100" imgH="3683000" progId="Excel.Shee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9125" y="3465513"/>
                        <a:ext cx="1146175" cy="212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9" name="Object 12"/>
          <p:cNvGraphicFramePr>
            <a:graphicFrameLocks noChangeAspect="1"/>
          </p:cNvGraphicFramePr>
          <p:nvPr/>
        </p:nvGraphicFramePr>
        <p:xfrm>
          <a:off x="3559175" y="3544888"/>
          <a:ext cx="1781175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58" name="工作表" r:id="rId9" imgW="2705100" imgH="3683000" progId="Excel.Sheet.8">
                  <p:embed/>
                </p:oleObj>
              </mc:Choice>
              <mc:Fallback>
                <p:oleObj name="工作表" r:id="rId9" imgW="2705100" imgH="3683000" progId="Excel.Sheet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9175" y="3544888"/>
                        <a:ext cx="1781175" cy="204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0" name="Object 13"/>
          <p:cNvGraphicFramePr>
            <a:graphicFrameLocks noChangeAspect="1"/>
          </p:cNvGraphicFramePr>
          <p:nvPr/>
        </p:nvGraphicFramePr>
        <p:xfrm>
          <a:off x="1171575" y="3914775"/>
          <a:ext cx="1649413" cy="153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59" name="工作表" r:id="rId11" imgW="2705100" imgH="2641600" progId="Excel.Sheet.8">
                  <p:embed/>
                </p:oleObj>
              </mc:Choice>
              <mc:Fallback>
                <p:oleObj name="工作表" r:id="rId11" imgW="2705100" imgH="2641600" progId="Excel.Sheet.8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1575" y="3914775"/>
                        <a:ext cx="1649413" cy="153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51" name="Text Box 14"/>
          <p:cNvSpPr txBox="1">
            <a:spLocks noChangeArrowheads="1"/>
          </p:cNvSpPr>
          <p:nvPr/>
        </p:nvSpPr>
        <p:spPr bwMode="auto">
          <a:xfrm>
            <a:off x="654050" y="3759200"/>
            <a:ext cx="468313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000" b="0" i="1">
                <a:solidFill>
                  <a:srgbClr val="1557AE"/>
                </a:solidFill>
                <a:latin typeface="微软雅黑" charset="0"/>
                <a:ea typeface="微软雅黑" charset="0"/>
              </a:rPr>
              <a:t>L</a:t>
            </a:r>
            <a:r>
              <a:rPr lang="en-US" altLang="zh-CN" sz="2000" b="0" i="1" baseline="-25000">
                <a:solidFill>
                  <a:srgbClr val="1557AE"/>
                </a:solidFill>
                <a:latin typeface="微软雅黑" charset="0"/>
                <a:ea typeface="微软雅黑" charset="0"/>
              </a:rPr>
              <a:t>2</a:t>
            </a:r>
            <a:endParaRPr lang="en-US" altLang="zh-CN" sz="2000" b="0" i="1" baseline="-25000">
              <a:solidFill>
                <a:srgbClr val="1557AE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65552" name="Text Box 15"/>
          <p:cNvSpPr txBox="1">
            <a:spLocks noChangeArrowheads="1"/>
          </p:cNvSpPr>
          <p:nvPr/>
        </p:nvSpPr>
        <p:spPr bwMode="auto">
          <a:xfrm>
            <a:off x="3074988" y="3362325"/>
            <a:ext cx="514350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000" b="0" i="1">
                <a:solidFill>
                  <a:srgbClr val="1557AE"/>
                </a:solidFill>
                <a:latin typeface="微软雅黑" charset="0"/>
                <a:ea typeface="微软雅黑" charset="0"/>
              </a:rPr>
              <a:t>C</a:t>
            </a:r>
            <a:r>
              <a:rPr lang="en-US" altLang="zh-CN" sz="2000" b="0" i="1" baseline="-25000">
                <a:solidFill>
                  <a:srgbClr val="1557AE"/>
                </a:solidFill>
                <a:latin typeface="微软雅黑" charset="0"/>
                <a:ea typeface="微软雅黑" charset="0"/>
              </a:rPr>
              <a:t>2</a:t>
            </a:r>
            <a:endParaRPr lang="en-US" altLang="zh-CN" sz="2000" b="0" i="1" baseline="-25000">
              <a:solidFill>
                <a:srgbClr val="1557AE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65553" name="Text Box 16"/>
          <p:cNvSpPr txBox="1">
            <a:spLocks noChangeArrowheads="1"/>
          </p:cNvSpPr>
          <p:nvPr/>
        </p:nvSpPr>
        <p:spPr bwMode="auto">
          <a:xfrm>
            <a:off x="6362700" y="3413125"/>
            <a:ext cx="514350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000" b="0" i="1">
                <a:solidFill>
                  <a:srgbClr val="1557AE"/>
                </a:solidFill>
                <a:latin typeface="微软雅黑" charset="0"/>
                <a:ea typeface="微软雅黑" charset="0"/>
              </a:rPr>
              <a:t>C</a:t>
            </a:r>
            <a:r>
              <a:rPr lang="en-US" altLang="zh-CN" sz="2000" b="0" i="1" baseline="-25000">
                <a:solidFill>
                  <a:srgbClr val="1557AE"/>
                </a:solidFill>
                <a:latin typeface="微软雅黑" charset="0"/>
                <a:ea typeface="微软雅黑" charset="0"/>
              </a:rPr>
              <a:t>2</a:t>
            </a:r>
            <a:endParaRPr lang="en-US" altLang="zh-CN" sz="2000" b="0" i="1" baseline="-25000">
              <a:solidFill>
                <a:srgbClr val="1557AE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65554" name="Line 17"/>
          <p:cNvSpPr>
            <a:spLocks noChangeShapeType="1"/>
          </p:cNvSpPr>
          <p:nvPr/>
        </p:nvSpPr>
        <p:spPr bwMode="auto">
          <a:xfrm flipH="1">
            <a:off x="5486400" y="4581525"/>
            <a:ext cx="11207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5555" name="Text Box 18"/>
          <p:cNvSpPr txBox="1">
            <a:spLocks noChangeArrowheads="1"/>
          </p:cNvSpPr>
          <p:nvPr/>
        </p:nvSpPr>
        <p:spPr bwMode="auto">
          <a:xfrm>
            <a:off x="5457825" y="4124325"/>
            <a:ext cx="11715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rgbClr val="FF0000"/>
                </a:solidFill>
                <a:latin typeface="微软雅黑" charset="0"/>
                <a:ea typeface="微软雅黑" charset="0"/>
              </a:rPr>
              <a:t>Scan D</a:t>
            </a:r>
            <a:endParaRPr lang="en-US" altLang="zh-CN" sz="2000" b="0">
              <a:solidFill>
                <a:srgbClr val="FF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65556" name="AutoShape 19"/>
          <p:cNvSpPr>
            <a:spLocks noChangeArrowheads="1"/>
          </p:cNvSpPr>
          <p:nvPr/>
        </p:nvSpPr>
        <p:spPr bwMode="auto">
          <a:xfrm>
            <a:off x="8220075" y="3317875"/>
            <a:ext cx="627063" cy="368300"/>
          </a:xfrm>
          <a:prstGeom prst="curvedLeftArrow">
            <a:avLst>
              <a:gd name="adj1" fmla="val 27287"/>
              <a:gd name="adj2" fmla="val 54583"/>
              <a:gd name="adj3" fmla="val 33429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65557" name="Line 20"/>
          <p:cNvSpPr>
            <a:spLocks noChangeShapeType="1"/>
          </p:cNvSpPr>
          <p:nvPr/>
        </p:nvSpPr>
        <p:spPr bwMode="auto">
          <a:xfrm>
            <a:off x="2894013" y="6237288"/>
            <a:ext cx="16922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5558" name="Text Box 21"/>
          <p:cNvSpPr txBox="1">
            <a:spLocks noChangeArrowheads="1"/>
          </p:cNvSpPr>
          <p:nvPr/>
        </p:nvSpPr>
        <p:spPr bwMode="auto">
          <a:xfrm>
            <a:off x="1044575" y="5832475"/>
            <a:ext cx="514350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000" b="0" i="1">
                <a:solidFill>
                  <a:srgbClr val="1557AE"/>
                </a:solidFill>
                <a:latin typeface="微软雅黑" charset="0"/>
                <a:ea typeface="微软雅黑" charset="0"/>
              </a:rPr>
              <a:t>C</a:t>
            </a:r>
            <a:r>
              <a:rPr lang="en-US" altLang="zh-CN" sz="2000" b="0" i="1" baseline="-25000">
                <a:solidFill>
                  <a:srgbClr val="1557AE"/>
                </a:solidFill>
                <a:latin typeface="微软雅黑" charset="0"/>
                <a:ea typeface="微软雅黑" charset="0"/>
              </a:rPr>
              <a:t>3</a:t>
            </a:r>
            <a:endParaRPr lang="en-US" altLang="zh-CN" sz="2000" b="0" i="1" baseline="-25000">
              <a:solidFill>
                <a:srgbClr val="1557AE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65559" name="Text Box 22"/>
          <p:cNvSpPr txBox="1">
            <a:spLocks noChangeArrowheads="1"/>
          </p:cNvSpPr>
          <p:nvPr/>
        </p:nvSpPr>
        <p:spPr bwMode="auto">
          <a:xfrm>
            <a:off x="4467225" y="5821363"/>
            <a:ext cx="468313" cy="401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000" b="0" i="1">
                <a:solidFill>
                  <a:srgbClr val="1557AE"/>
                </a:solidFill>
                <a:latin typeface="微软雅黑" charset="0"/>
                <a:ea typeface="微软雅黑" charset="0"/>
              </a:rPr>
              <a:t>L</a:t>
            </a:r>
            <a:r>
              <a:rPr lang="en-US" altLang="zh-CN" sz="2000" b="0" i="1" baseline="-25000">
                <a:solidFill>
                  <a:srgbClr val="1557AE"/>
                </a:solidFill>
                <a:latin typeface="微软雅黑" charset="0"/>
                <a:ea typeface="微软雅黑" charset="0"/>
              </a:rPr>
              <a:t>3</a:t>
            </a:r>
            <a:endParaRPr lang="en-US" altLang="zh-CN" sz="2000" b="0" i="1" baseline="-25000">
              <a:solidFill>
                <a:srgbClr val="1557AE"/>
              </a:solidFill>
              <a:latin typeface="微软雅黑" charset="0"/>
              <a:ea typeface="微软雅黑" charset="0"/>
            </a:endParaRPr>
          </a:p>
        </p:txBody>
      </p:sp>
      <p:graphicFrame>
        <p:nvGraphicFramePr>
          <p:cNvPr id="65560" name="Object 23"/>
          <p:cNvGraphicFramePr>
            <a:graphicFrameLocks noChangeAspect="1"/>
          </p:cNvGraphicFramePr>
          <p:nvPr/>
        </p:nvGraphicFramePr>
        <p:xfrm>
          <a:off x="1525588" y="5734050"/>
          <a:ext cx="1149350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60" name="工作表" r:id="rId13" imgW="1689100" imgH="1079500" progId="Excel.Sheet.8">
                  <p:embed/>
                </p:oleObj>
              </mc:Choice>
              <mc:Fallback>
                <p:oleObj name="工作表" r:id="rId13" imgW="1689100" imgH="1079500" progId="Excel.Sheet.8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588" y="5734050"/>
                        <a:ext cx="1149350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61" name="Text Box 24"/>
          <p:cNvSpPr txBox="1">
            <a:spLocks noChangeArrowheads="1"/>
          </p:cNvSpPr>
          <p:nvPr/>
        </p:nvSpPr>
        <p:spPr bwMode="auto">
          <a:xfrm>
            <a:off x="3041650" y="5911850"/>
            <a:ext cx="1171575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rgbClr val="FF0000"/>
                </a:solidFill>
                <a:latin typeface="微软雅黑" charset="0"/>
                <a:ea typeface="微软雅黑" charset="0"/>
              </a:rPr>
              <a:t>Scan D</a:t>
            </a:r>
            <a:endParaRPr lang="en-US" altLang="zh-CN" sz="2000" b="0">
              <a:solidFill>
                <a:srgbClr val="FF0000"/>
              </a:solidFill>
              <a:latin typeface="微软雅黑" charset="0"/>
              <a:ea typeface="微软雅黑" charset="0"/>
            </a:endParaRPr>
          </a:p>
        </p:txBody>
      </p:sp>
      <p:graphicFrame>
        <p:nvGraphicFramePr>
          <p:cNvPr id="65562" name="Object 25"/>
          <p:cNvGraphicFramePr>
            <a:graphicFrameLocks noChangeAspect="1"/>
          </p:cNvGraphicFramePr>
          <p:nvPr/>
        </p:nvGraphicFramePr>
        <p:xfrm>
          <a:off x="4927600" y="5789613"/>
          <a:ext cx="180022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61" name="工作表" r:id="rId15" imgW="2705100" imgH="1066800" progId="Excel.Sheet.8">
                  <p:embed/>
                </p:oleObj>
              </mc:Choice>
              <mc:Fallback>
                <p:oleObj name="工作表" r:id="rId15" imgW="2705100" imgH="1066800" progId="Excel.Sheet.8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7600" y="5789613"/>
                        <a:ext cx="1800225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63" name="AutoShape 26"/>
          <p:cNvSpPr>
            <a:spLocks noChangeArrowheads="1"/>
          </p:cNvSpPr>
          <p:nvPr/>
        </p:nvSpPr>
        <p:spPr bwMode="auto">
          <a:xfrm>
            <a:off x="688975" y="5291138"/>
            <a:ext cx="184150" cy="368300"/>
          </a:xfrm>
          <a:prstGeom prst="curvedRightArrow">
            <a:avLst>
              <a:gd name="adj1" fmla="val 56630"/>
              <a:gd name="adj2" fmla="val 113278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65564" name="Line 27"/>
          <p:cNvSpPr>
            <a:spLocks noChangeShapeType="1"/>
          </p:cNvSpPr>
          <p:nvPr/>
        </p:nvSpPr>
        <p:spPr bwMode="auto">
          <a:xfrm>
            <a:off x="5540375" y="2555875"/>
            <a:ext cx="5270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5565" name="Line 28"/>
          <p:cNvSpPr>
            <a:spLocks noChangeShapeType="1"/>
          </p:cNvSpPr>
          <p:nvPr/>
        </p:nvSpPr>
        <p:spPr bwMode="auto">
          <a:xfrm flipH="1">
            <a:off x="3025775" y="4651375"/>
            <a:ext cx="381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0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6" grpId="0"/>
      <p:bldP spid="65547" grpId="0"/>
      <p:bldP spid="65551" grpId="0"/>
      <p:bldP spid="65552" grpId="0"/>
      <p:bldP spid="65553" grpId="0"/>
      <p:bldP spid="65555" grpId="0"/>
      <p:bldP spid="65556" grpId="0" animBg="1"/>
      <p:bldP spid="65558" grpId="0"/>
      <p:bldP spid="65559" grpId="0"/>
      <p:bldP spid="65561" grpId="0"/>
      <p:bldP spid="6556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Grp="1" noChangeArrowheads="1"/>
          </p:cNvSpPr>
          <p:nvPr>
            <p:ph idx="1"/>
          </p:nvPr>
        </p:nvSpPr>
        <p:spPr>
          <a:xfrm>
            <a:off x="500063" y="1268413"/>
            <a:ext cx="8001000" cy="4267200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2800" b="0">
                <a:solidFill>
                  <a:srgbClr val="FF0000"/>
                </a:solidFill>
                <a:cs typeface="微软雅黑" charset="0"/>
              </a:rPr>
              <a:t>由频繁项集产生关联规则</a:t>
            </a:r>
            <a:endParaRPr lang="en-US" altLang="zh-CN" sz="2800" b="0">
              <a:solidFill>
                <a:srgbClr val="FF0000"/>
              </a:solidFill>
              <a:cs typeface="微软雅黑" charset="0"/>
            </a:endParaRPr>
          </a:p>
          <a:p>
            <a:pPr marL="342900" indent="-342900" eaLnBrk="1" hangingPunct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ü"/>
            </a:pPr>
            <a:r>
              <a:rPr lang="zh-CN" altLang="en-US" sz="2400" b="0">
                <a:solidFill>
                  <a:srgbClr val="1557AE"/>
                </a:solidFill>
                <a:cs typeface="微软雅黑" charset="0"/>
              </a:rPr>
              <a:t>同时满足最小支持度和最小置信度的才是强关联规则，从频繁项集产生的规则都满足支持度要求，而其置信度则可由以下公式计算：</a:t>
            </a:r>
            <a:endParaRPr lang="zh-CN" altLang="en-US" sz="2400" b="0">
              <a:solidFill>
                <a:srgbClr val="1557AE"/>
              </a:solidFill>
              <a:cs typeface="微软雅黑" charset="0"/>
            </a:endParaRPr>
          </a:p>
          <a:p>
            <a:pPr marL="342900" indent="-342900" eaLnBrk="1" hangingPunct="1"/>
            <a:endParaRPr lang="zh-CN" altLang="en-US" b="0">
              <a:cs typeface="微软雅黑" charset="0"/>
            </a:endParaRPr>
          </a:p>
          <a:p>
            <a:pPr marL="342900" indent="-342900" eaLnBrk="1" hangingPunct="1">
              <a:lnSpc>
                <a:spcPct val="120000"/>
              </a:lnSpc>
              <a:spcBef>
                <a:spcPts val="1800"/>
              </a:spcBef>
              <a:buClrTx/>
              <a:buFont typeface="Wingdings" panose="05000000000000000000" pitchFamily="2" charset="2"/>
              <a:buChar char="ü"/>
            </a:pPr>
            <a:r>
              <a:rPr lang="zh-CN" altLang="en-US" sz="2400" b="0">
                <a:solidFill>
                  <a:srgbClr val="FF0000"/>
                </a:solidFill>
                <a:cs typeface="微软雅黑" charset="0"/>
              </a:rPr>
              <a:t>每个关联规则可由如下过程产生：</a:t>
            </a:r>
            <a:endParaRPr lang="zh-CN" altLang="en-US" sz="2400" b="0">
              <a:solidFill>
                <a:srgbClr val="FF0000"/>
              </a:solidFill>
              <a:cs typeface="微软雅黑" charset="0"/>
            </a:endParaRPr>
          </a:p>
          <a:p>
            <a:pPr marL="800100" lvl="1" indent="-342900" eaLnBrk="1" hangingPunct="1">
              <a:lnSpc>
                <a:spcPct val="150000"/>
              </a:lnSpc>
              <a:spcBef>
                <a:spcPts val="600"/>
              </a:spcBef>
              <a:buClr>
                <a:schemeClr val="tx1"/>
              </a:buClr>
              <a:buFont typeface="Arial" panose="020B0604020202090204" pitchFamily="34" charset="0"/>
              <a:buChar char="•"/>
            </a:pPr>
            <a:r>
              <a:rPr lang="zh-CN" altLang="en-US" sz="2000" b="0">
                <a:solidFill>
                  <a:srgbClr val="1557AE"/>
                </a:solidFill>
                <a:cs typeface="微软雅黑" charset="0"/>
              </a:rPr>
              <a:t>对于每个频繁项集</a:t>
            </a:r>
            <a:r>
              <a:rPr lang="en-US" altLang="zh-CN" sz="2000" b="0">
                <a:solidFill>
                  <a:srgbClr val="1557AE"/>
                </a:solidFill>
                <a:cs typeface="微软雅黑" charset="0"/>
              </a:rPr>
              <a:t>l</a:t>
            </a:r>
            <a:r>
              <a:rPr lang="zh-CN" altLang="en-US" sz="2000" b="0">
                <a:solidFill>
                  <a:srgbClr val="1557AE"/>
                </a:solidFill>
                <a:cs typeface="微软雅黑" charset="0"/>
              </a:rPr>
              <a:t>，产生</a:t>
            </a:r>
            <a:r>
              <a:rPr lang="en-US" altLang="zh-CN" sz="2000" b="0">
                <a:solidFill>
                  <a:srgbClr val="1557AE"/>
                </a:solidFill>
                <a:cs typeface="微软雅黑" charset="0"/>
              </a:rPr>
              <a:t>l</a:t>
            </a:r>
            <a:r>
              <a:rPr lang="zh-CN" altLang="en-US" sz="2000" b="0">
                <a:solidFill>
                  <a:srgbClr val="1557AE"/>
                </a:solidFill>
                <a:cs typeface="微软雅黑" charset="0"/>
              </a:rPr>
              <a:t>的所有非空子集；</a:t>
            </a:r>
            <a:endParaRPr lang="zh-CN" altLang="en-US" sz="2000" b="0">
              <a:solidFill>
                <a:srgbClr val="1557AE"/>
              </a:solidFill>
              <a:cs typeface="微软雅黑" charset="0"/>
            </a:endParaRPr>
          </a:p>
          <a:p>
            <a:pPr marL="800100" lvl="1" indent="-342900" eaLnBrk="1" hangingPunct="1">
              <a:lnSpc>
                <a:spcPct val="150000"/>
              </a:lnSpc>
              <a:spcBef>
                <a:spcPts val="600"/>
              </a:spcBef>
              <a:buClr>
                <a:schemeClr val="tx1"/>
              </a:buClr>
              <a:buFont typeface="Arial" panose="020B0604020202090204" pitchFamily="34" charset="0"/>
              <a:buChar char="•"/>
            </a:pPr>
            <a:r>
              <a:rPr lang="zh-CN" altLang="en-US" sz="2000" b="0">
                <a:solidFill>
                  <a:srgbClr val="1557AE"/>
                </a:solidFill>
                <a:cs typeface="微软雅黑" charset="0"/>
              </a:rPr>
              <a:t>对于每个非空子集</a:t>
            </a:r>
            <a:r>
              <a:rPr lang="en-US" altLang="zh-CN" sz="2000" b="0">
                <a:solidFill>
                  <a:srgbClr val="1557AE"/>
                </a:solidFill>
                <a:cs typeface="微软雅黑" charset="0"/>
              </a:rPr>
              <a:t>s</a:t>
            </a:r>
            <a:r>
              <a:rPr lang="zh-CN" altLang="en-US" sz="2000" b="0">
                <a:solidFill>
                  <a:srgbClr val="1557AE"/>
                </a:solidFill>
                <a:cs typeface="微软雅黑" charset="0"/>
              </a:rPr>
              <a:t>，如果            	            	</a:t>
            </a:r>
            <a:endParaRPr lang="en-US" altLang="zh-CN" sz="2000" b="0">
              <a:solidFill>
                <a:srgbClr val="1557AE"/>
              </a:solidFill>
              <a:cs typeface="微软雅黑" charset="0"/>
            </a:endParaRPr>
          </a:p>
          <a:p>
            <a:pPr marL="800100" lvl="1" indent="-342900" eaLnBrk="1" hangingPunct="1">
              <a:lnSpc>
                <a:spcPct val="15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000" b="0">
                <a:solidFill>
                  <a:srgbClr val="1557AE"/>
                </a:solidFill>
                <a:cs typeface="微软雅黑" charset="0"/>
              </a:rPr>
              <a:t>       </a:t>
            </a:r>
            <a:r>
              <a:rPr lang="zh-CN" altLang="en-US" sz="2000" b="0">
                <a:solidFill>
                  <a:srgbClr val="1557AE"/>
                </a:solidFill>
                <a:cs typeface="微软雅黑" charset="0"/>
              </a:rPr>
              <a:t>则输出规则“       	       ”</a:t>
            </a:r>
            <a:endParaRPr lang="zh-CN" altLang="en-US" sz="2000" b="0">
              <a:solidFill>
                <a:srgbClr val="1557AE"/>
              </a:solidFill>
              <a:cs typeface="微软雅黑" charset="0"/>
            </a:endParaRPr>
          </a:p>
        </p:txBody>
      </p:sp>
      <p:graphicFrame>
        <p:nvGraphicFramePr>
          <p:cNvPr id="65540" name="对象 2"/>
          <p:cNvGraphicFramePr>
            <a:graphicFrameLocks noChangeAspect="1"/>
          </p:cNvGraphicFramePr>
          <p:nvPr/>
        </p:nvGraphicFramePr>
        <p:xfrm>
          <a:off x="4643438" y="5013325"/>
          <a:ext cx="360045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93" name="公式" r:id="rId1" imgW="2032000" imgH="431800" progId="Equation.3">
                  <p:embed/>
                </p:oleObj>
              </mc:Choice>
              <mc:Fallback>
                <p:oleObj name="公式" r:id="rId1" imgW="2032000" imgH="431800" progId="Equation.3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5013325"/>
                        <a:ext cx="3600450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1" name="对象 3"/>
          <p:cNvGraphicFramePr>
            <a:graphicFrameLocks noChangeAspect="1"/>
          </p:cNvGraphicFramePr>
          <p:nvPr/>
        </p:nvGraphicFramePr>
        <p:xfrm>
          <a:off x="3124200" y="5611813"/>
          <a:ext cx="1512888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94" name="公式" r:id="rId3" imgW="711200" imgH="203200" progId="Equation.3">
                  <p:embed/>
                </p:oleObj>
              </mc:Choice>
              <mc:Fallback>
                <p:oleObj name="公式" r:id="rId3" imgW="711200" imgH="203200" progId="Equation.3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5611813"/>
                        <a:ext cx="1512888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2" name="矩形 1"/>
          <p:cNvSpPr>
            <a:spLocks noChangeArrowheads="1"/>
          </p:cNvSpPr>
          <p:nvPr/>
        </p:nvSpPr>
        <p:spPr bwMode="auto">
          <a:xfrm>
            <a:off x="2747963" y="5997575"/>
            <a:ext cx="34321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r>
              <a:rPr lang="zh-CN" altLang="en-US" sz="2800" b="0">
                <a:solidFill>
                  <a:srgbClr val="FF0000"/>
                </a:solidFill>
                <a:latin typeface="微软雅黑" charset="0"/>
                <a:ea typeface="微软雅黑" charset="0"/>
              </a:rPr>
              <a:t>有多少个</a:t>
            </a:r>
            <a:r>
              <a:rPr lang="zh-CN" altLang="en-US" sz="2800" b="0">
                <a:solidFill>
                  <a:srgbClr val="FF0000"/>
                </a:solidFill>
                <a:latin typeface="微软雅黑" charset="0"/>
                <a:ea typeface="微软雅黑" charset="0"/>
                <a:sym typeface="Symbol" panose="05050102010706020507" pitchFamily="18" charset="2"/>
              </a:rPr>
              <a:t>候选规则</a:t>
            </a:r>
            <a:r>
              <a:rPr lang="zh-CN" altLang="en-US" sz="2800" b="0">
                <a:solidFill>
                  <a:srgbClr val="FF0000"/>
                </a:solidFill>
                <a:latin typeface="微软雅黑" charset="0"/>
                <a:ea typeface="微软雅黑" charset="0"/>
              </a:rPr>
              <a:t>？</a:t>
            </a:r>
            <a:endParaRPr lang="zh-CN" altLang="en-US" sz="2800" b="0">
              <a:solidFill>
                <a:srgbClr val="FF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8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66825" y="3357245"/>
            <a:ext cx="6218555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rgbClr val="DA1F28"/>
              </a:buClr>
              <a:buFont typeface="Wingdings 2" panose="05020102010507070707" pitchFamily="18" charset="2"/>
              <a:buChar char=""/>
            </a:pP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Confidence(A 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 B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)= P(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B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</a:t>
            </a:r>
            <a:r>
              <a:rPr lang="zh-CN" altLang="en-US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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A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)=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P(A</a:t>
            </a:r>
            <a:r>
              <a:rPr lang="zh-CN" altLang="en-US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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B)/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P(A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)</a:t>
            </a:r>
            <a:endParaRPr lang="en-US" altLang="zh-CN" sz="2000" b="0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295400"/>
            <a:ext cx="8001000" cy="4267200"/>
          </a:xfrm>
        </p:spPr>
        <p:txBody>
          <a:bodyPr/>
          <a:lstStyle/>
          <a:p>
            <a:pPr marL="342900" lvl="1" indent="-342900" eaLnBrk="1" hangingPunct="1">
              <a:lnSpc>
                <a:spcPct val="140000"/>
              </a:lnSpc>
              <a:buClrTx/>
            </a:pPr>
            <a:r>
              <a:rPr lang="zh-CN" altLang="en-US" sz="2800" b="0" dirty="0">
                <a:solidFill>
                  <a:srgbClr val="1557AE"/>
                </a:solidFill>
                <a:cs typeface="微软雅黑" charset="0"/>
                <a:sym typeface="Symbol" panose="05050102010706020507" pitchFamily="18" charset="2"/>
              </a:rPr>
              <a:t>如果</a:t>
            </a:r>
            <a:r>
              <a:rPr lang="en-US" altLang="zh-CN" sz="2800" b="0" dirty="0">
                <a:solidFill>
                  <a:srgbClr val="1557AE"/>
                </a:solidFill>
                <a:cs typeface="微软雅黑" charset="0"/>
                <a:sym typeface="Symbol" panose="05050102010706020507" pitchFamily="18" charset="2"/>
              </a:rPr>
              <a:t>{A,B,C,D} </a:t>
            </a:r>
            <a:r>
              <a:rPr lang="zh-CN" altLang="en-US" sz="2800" b="0" dirty="0">
                <a:solidFill>
                  <a:srgbClr val="1557AE"/>
                </a:solidFill>
                <a:cs typeface="微软雅黑" charset="0"/>
                <a:sym typeface="Symbol" panose="05050102010706020507" pitchFamily="18" charset="2"/>
              </a:rPr>
              <a:t>频繁项集，候选规则为</a:t>
            </a:r>
            <a:r>
              <a:rPr lang="en-US" altLang="zh-CN" sz="2800" b="0" dirty="0">
                <a:solidFill>
                  <a:srgbClr val="1557AE"/>
                </a:solidFill>
                <a:cs typeface="微软雅黑" charset="0"/>
                <a:sym typeface="Symbol" panose="05050102010706020507" pitchFamily="18" charset="2"/>
              </a:rPr>
              <a:t>:</a:t>
            </a:r>
            <a:endParaRPr lang="en-US" altLang="zh-CN" sz="2800" b="0" dirty="0">
              <a:solidFill>
                <a:srgbClr val="1557AE"/>
              </a:solidFill>
              <a:cs typeface="微软雅黑" charset="0"/>
              <a:sym typeface="Symbol" panose="05050102010706020507" pitchFamily="18" charset="2"/>
            </a:endParaRPr>
          </a:p>
          <a:p>
            <a:pPr marL="808355" lvl="2" indent="0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rgbClr val="1557AE"/>
                </a:solidFill>
                <a:cs typeface="微软雅黑" charset="0"/>
                <a:sym typeface="Symbol" panose="05050102010706020507" pitchFamily="18" charset="2"/>
              </a:rPr>
              <a:t>ABC D, 	ABD C, 	ACD B, 	BCD A, </a:t>
            </a:r>
            <a:br>
              <a:rPr lang="en-US" altLang="zh-CN" sz="2000" b="0" dirty="0">
                <a:solidFill>
                  <a:srgbClr val="1557AE"/>
                </a:solidFill>
                <a:cs typeface="微软雅黑" charset="0"/>
                <a:sym typeface="Symbol" panose="05050102010706020507" pitchFamily="18" charset="2"/>
              </a:rPr>
            </a:br>
            <a:r>
              <a:rPr lang="en-US" altLang="zh-CN" sz="2000" b="0" dirty="0">
                <a:solidFill>
                  <a:srgbClr val="1557AE"/>
                </a:solidFill>
                <a:cs typeface="微软雅黑" charset="0"/>
                <a:sym typeface="Symbol" panose="05050102010706020507" pitchFamily="18" charset="2"/>
              </a:rPr>
              <a:t>A BCD,	B ACD,	C ABD, 	D ABC</a:t>
            </a:r>
            <a:br>
              <a:rPr lang="en-US" altLang="zh-CN" sz="2000" b="0" dirty="0">
                <a:solidFill>
                  <a:srgbClr val="1557AE"/>
                </a:solidFill>
                <a:cs typeface="微软雅黑" charset="0"/>
                <a:sym typeface="Symbol" panose="05050102010706020507" pitchFamily="18" charset="2"/>
              </a:rPr>
            </a:br>
            <a:r>
              <a:rPr lang="en-US" altLang="zh-CN" sz="2000" b="0" dirty="0">
                <a:solidFill>
                  <a:srgbClr val="1557AE"/>
                </a:solidFill>
                <a:cs typeface="微软雅黑" charset="0"/>
                <a:sym typeface="Symbol" panose="05050102010706020507" pitchFamily="18" charset="2"/>
              </a:rPr>
              <a:t>AB CD,	AC  BD, 	AD  BC, 	BC AD, </a:t>
            </a:r>
            <a:br>
              <a:rPr lang="en-US" altLang="zh-CN" sz="2000" b="0" dirty="0">
                <a:solidFill>
                  <a:srgbClr val="1557AE"/>
                </a:solidFill>
                <a:cs typeface="微软雅黑" charset="0"/>
                <a:sym typeface="Symbol" panose="05050102010706020507" pitchFamily="18" charset="2"/>
              </a:rPr>
            </a:br>
            <a:r>
              <a:rPr lang="en-US" altLang="zh-CN" sz="2000" b="0" dirty="0">
                <a:solidFill>
                  <a:srgbClr val="1557AE"/>
                </a:solidFill>
                <a:cs typeface="微软雅黑" charset="0"/>
                <a:sym typeface="Symbol" panose="05050102010706020507" pitchFamily="18" charset="2"/>
              </a:rPr>
              <a:t>BD AC, 	CD AB</a:t>
            </a:r>
            <a:endParaRPr lang="en-US" altLang="zh-CN" sz="2000" b="0" dirty="0">
              <a:solidFill>
                <a:srgbClr val="1557AE"/>
              </a:solidFill>
              <a:cs typeface="微软雅黑" charset="0"/>
              <a:sym typeface="Symbol" panose="05050102010706020507" pitchFamily="18" charset="2"/>
            </a:endParaRPr>
          </a:p>
          <a:p>
            <a:pPr marL="342900" lvl="1" indent="-342900" eaLnBrk="1" hangingPunct="1">
              <a:lnSpc>
                <a:spcPct val="140000"/>
              </a:lnSpc>
              <a:buClrTx/>
            </a:pPr>
            <a:r>
              <a:rPr lang="zh-CN" altLang="en-US" sz="2800" b="0" dirty="0">
                <a:solidFill>
                  <a:srgbClr val="FF0000"/>
                </a:solidFill>
                <a:cs typeface="微软雅黑" charset="0"/>
              </a:rPr>
              <a:t>如果</a:t>
            </a:r>
            <a:r>
              <a:rPr lang="en-US" altLang="zh-CN" sz="2800" b="0" dirty="0">
                <a:solidFill>
                  <a:srgbClr val="FF0000"/>
                </a:solidFill>
                <a:cs typeface="微软雅黑" charset="0"/>
              </a:rPr>
              <a:t>|L| = k, </a:t>
            </a:r>
            <a:r>
              <a:rPr lang="zh-CN" altLang="en-US" sz="2800" b="0" dirty="0">
                <a:solidFill>
                  <a:srgbClr val="FF0000"/>
                </a:solidFill>
                <a:cs typeface="微软雅黑" charset="0"/>
              </a:rPr>
              <a:t>那么有</a:t>
            </a:r>
            <a:r>
              <a:rPr lang="en-US" altLang="zh-CN" sz="2800" b="0" dirty="0">
                <a:solidFill>
                  <a:srgbClr val="FF0000"/>
                </a:solidFill>
                <a:cs typeface="微软雅黑" charset="0"/>
              </a:rPr>
              <a:t>2</a:t>
            </a:r>
            <a:r>
              <a:rPr lang="en-US" altLang="zh-CN" sz="2800" b="0" baseline="30000" dirty="0">
                <a:solidFill>
                  <a:srgbClr val="FF0000"/>
                </a:solidFill>
                <a:cs typeface="微软雅黑" charset="0"/>
              </a:rPr>
              <a:t>k</a:t>
            </a:r>
            <a:r>
              <a:rPr lang="en-US" altLang="zh-CN" sz="2800" b="0" dirty="0">
                <a:solidFill>
                  <a:srgbClr val="FF0000"/>
                </a:solidFill>
                <a:cs typeface="微软雅黑" charset="0"/>
              </a:rPr>
              <a:t> – 2</a:t>
            </a:r>
            <a:r>
              <a:rPr lang="zh-CN" altLang="en-US" sz="2800" b="0" dirty="0">
                <a:solidFill>
                  <a:srgbClr val="FF0000"/>
                </a:solidFill>
                <a:cs typeface="微软雅黑" charset="0"/>
                <a:sym typeface="Symbol" panose="05050102010706020507" pitchFamily="18" charset="2"/>
              </a:rPr>
              <a:t>候选规则</a:t>
            </a:r>
            <a:r>
              <a:rPr lang="en-US" altLang="zh-CN" sz="2800" b="0" dirty="0">
                <a:solidFill>
                  <a:srgbClr val="FF0000"/>
                </a:solidFill>
                <a:cs typeface="微软雅黑" charset="0"/>
              </a:rPr>
              <a:t> </a:t>
            </a:r>
            <a:r>
              <a:rPr lang="en-US" altLang="zh-CN" sz="2800" b="0" dirty="0">
                <a:solidFill>
                  <a:srgbClr val="1557AE"/>
                </a:solidFill>
                <a:cs typeface="微软雅黑" charset="0"/>
              </a:rPr>
              <a:t>(</a:t>
            </a:r>
            <a:r>
              <a:rPr lang="zh-CN" altLang="en-US" sz="2800" b="0" dirty="0">
                <a:solidFill>
                  <a:srgbClr val="1557AE"/>
                </a:solidFill>
                <a:cs typeface="微软雅黑" charset="0"/>
              </a:rPr>
              <a:t>忽略</a:t>
            </a:r>
            <a:r>
              <a:rPr lang="en-US" altLang="zh-CN" sz="2800" b="0" dirty="0">
                <a:solidFill>
                  <a:srgbClr val="1557AE"/>
                </a:solidFill>
                <a:cs typeface="微软雅黑" charset="0"/>
              </a:rPr>
              <a:t>L </a:t>
            </a:r>
            <a:r>
              <a:rPr lang="en-US" altLang="zh-CN" sz="2800" b="0" dirty="0">
                <a:solidFill>
                  <a:srgbClr val="1557AE"/>
                </a:solidFill>
                <a:cs typeface="微软雅黑" charset="0"/>
                <a:sym typeface="Symbol" panose="05050102010706020507" pitchFamily="18" charset="2"/>
              </a:rPr>
              <a:t>  and   L)</a:t>
            </a:r>
            <a:endParaRPr lang="en-US" altLang="zh-CN" sz="2800" b="0" dirty="0">
              <a:solidFill>
                <a:srgbClr val="1557AE"/>
              </a:solidFill>
              <a:cs typeface="微软雅黑" charset="0"/>
              <a:sym typeface="Symbol" panose="05050102010706020507" pitchFamily="18" charset="2"/>
            </a:endParaRPr>
          </a:p>
          <a:p>
            <a:pPr marL="342900" lvl="1" indent="-342900" eaLnBrk="1" hangingPunct="1">
              <a:lnSpc>
                <a:spcPct val="140000"/>
              </a:lnSpc>
              <a:buClrTx/>
            </a:pPr>
            <a:r>
              <a:rPr lang="zh-CN" altLang="en-US" sz="2800" b="0" dirty="0">
                <a:solidFill>
                  <a:srgbClr val="1557AE"/>
                </a:solidFill>
                <a:cs typeface="微软雅黑" charset="0"/>
                <a:sym typeface="Symbol" panose="05050102010706020507" pitchFamily="18" charset="2"/>
              </a:rPr>
              <a:t>候选规则天生满足</a:t>
            </a:r>
            <a:r>
              <a:rPr lang="zh-CN" altLang="en-US" sz="2800" b="0" dirty="0">
                <a:solidFill>
                  <a:srgbClr val="FF0000"/>
                </a:solidFill>
                <a:cs typeface="微软雅黑" charset="0"/>
                <a:sym typeface="Symbol" panose="05050102010706020507" pitchFamily="18" charset="2"/>
              </a:rPr>
              <a:t>最小支持度</a:t>
            </a:r>
            <a:r>
              <a:rPr lang="zh-CN" altLang="en-US" sz="2800" b="0" dirty="0">
                <a:solidFill>
                  <a:srgbClr val="1557AE"/>
                </a:solidFill>
                <a:cs typeface="微软雅黑" charset="0"/>
                <a:sym typeface="Symbol" panose="05050102010706020507" pitchFamily="18" charset="2"/>
              </a:rPr>
              <a:t>，关键是需要判断是否满足</a:t>
            </a:r>
            <a:r>
              <a:rPr lang="zh-CN" altLang="en-US" sz="2800" b="0" dirty="0">
                <a:solidFill>
                  <a:srgbClr val="FF0000"/>
                </a:solidFill>
                <a:cs typeface="微软雅黑" charset="0"/>
                <a:sym typeface="Symbol" panose="05050102010706020507" pitchFamily="18" charset="2"/>
              </a:rPr>
              <a:t>最小置信度</a:t>
            </a:r>
            <a:endParaRPr lang="en-US" altLang="zh-CN" sz="2800" b="0" dirty="0">
              <a:solidFill>
                <a:srgbClr val="FF0000"/>
              </a:solidFill>
              <a:cs typeface="微软雅黑" charset="0"/>
              <a:sym typeface="Symbol" panose="05050102010706020507" pitchFamily="18" charset="2"/>
            </a:endParaRPr>
          </a:p>
          <a:p>
            <a:pPr marL="808355" lvl="2" indent="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1800" b="0" dirty="0">
              <a:cs typeface="微软雅黑" charset="0"/>
              <a:sym typeface="Symbol" panose="05050102010706020507" pitchFamily="18" charset="2"/>
            </a:endParaRPr>
          </a:p>
          <a:p>
            <a:pPr marL="808355" lvl="2" indent="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1800" b="0" dirty="0">
              <a:cs typeface="微软雅黑" charset="0"/>
              <a:sym typeface="Symbol" panose="05050102010706020507" pitchFamily="18" charset="2"/>
            </a:endParaRPr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3"/>
          <p:cNvSpPr txBox="1">
            <a:spLocks noChangeArrowheads="1"/>
          </p:cNvSpPr>
          <p:nvPr/>
        </p:nvSpPr>
        <p:spPr bwMode="auto">
          <a:xfrm>
            <a:off x="468313" y="1052513"/>
            <a:ext cx="8675687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lvl="1" eaLnBrk="1" hangingPunct="1">
              <a:lnSpc>
                <a:spcPct val="120000"/>
              </a:lnSpc>
              <a:buClrTx/>
            </a:pPr>
            <a:r>
              <a:rPr lang="zh-CN" altLang="en-US" sz="28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如何有效地从频繁项集生成关联规则</a:t>
            </a:r>
            <a:endParaRPr lang="en-US" altLang="zh-CN" sz="2800" b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150000"/>
              </a:lnSpc>
              <a:spcBef>
                <a:spcPts val="18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一般来说，置信度不具有反单调性</a:t>
            </a:r>
            <a:endParaRPr lang="en-US" altLang="zh-CN" sz="2400" b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200" b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c(ABC D) can be larger or smaller than c(AB D)</a:t>
            </a:r>
            <a:endParaRPr lang="en-US" altLang="zh-CN" sz="2200" b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200" b="0"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  </a:t>
            </a:r>
            <a:endParaRPr lang="en-US" altLang="zh-CN" sz="2200" b="0"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200" b="0"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</a:t>
            </a:r>
            <a:endParaRPr lang="en-US" altLang="zh-CN" sz="1800" b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405" y="3429000"/>
            <a:ext cx="7467600" cy="280987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3"/>
          <p:cNvSpPr txBox="1">
            <a:spLocks noChangeArrowheads="1"/>
          </p:cNvSpPr>
          <p:nvPr/>
        </p:nvSpPr>
        <p:spPr bwMode="auto">
          <a:xfrm>
            <a:off x="468313" y="1052513"/>
            <a:ext cx="8675687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lvl="1" eaLnBrk="1" hangingPunct="1">
              <a:lnSpc>
                <a:spcPct val="120000"/>
              </a:lnSpc>
              <a:buClrTx/>
            </a:pPr>
            <a:r>
              <a:rPr lang="zh-CN" altLang="en-US" sz="28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如何有效地从频繁项集生成关联规则</a:t>
            </a:r>
            <a:endParaRPr lang="en-US" altLang="zh-CN" sz="2800" b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150000"/>
              </a:lnSpc>
              <a:spcBef>
                <a:spcPts val="18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一般来说，置信度不具有反单调性</a:t>
            </a:r>
            <a:endParaRPr lang="en-US" altLang="zh-CN" sz="2400" b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200" b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c(ABC D) can be larger or smaller than c(AB D)</a:t>
            </a:r>
            <a:endParaRPr lang="en-US" altLang="zh-CN" sz="2200" b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150000"/>
              </a:lnSpc>
              <a:spcBef>
                <a:spcPts val="12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有相同项集生成的规则的置信度具有反单调性</a:t>
            </a:r>
            <a:endParaRPr lang="en-US" altLang="zh-CN" sz="2400" b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200" b="0"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 </a:t>
            </a:r>
            <a:endParaRPr lang="en-US" altLang="zh-CN" sz="2200" b="0"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200" b="0"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  </a:t>
            </a:r>
            <a:endParaRPr lang="en-US" altLang="zh-CN" sz="2200" b="0"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200" b="0"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</a:t>
            </a:r>
            <a:r>
              <a:rPr lang="en-US" altLang="zh-CN" sz="2200" b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e.g., L = {A,B,C,D}:  	</a:t>
            </a:r>
            <a:endParaRPr lang="en-US" altLang="zh-CN" sz="2200" b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200" b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              c(ABC  D)  c(AB  CD)  c(A  BCD)</a:t>
            </a:r>
            <a:endParaRPr lang="en-US" altLang="zh-CN" sz="2200" b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b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</a:t>
            </a:r>
            <a:endParaRPr lang="en-US" altLang="zh-CN" sz="1800" b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</p:txBody>
      </p:sp>
      <p:pic>
        <p:nvPicPr>
          <p:cNvPr id="67587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" y="3937000"/>
            <a:ext cx="8558213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758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50" y="4368800"/>
            <a:ext cx="4171950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7589" name="矩形 1"/>
          <p:cNvSpPr>
            <a:spLocks noChangeArrowheads="1"/>
          </p:cNvSpPr>
          <p:nvPr/>
        </p:nvSpPr>
        <p:spPr bwMode="auto">
          <a:xfrm>
            <a:off x="6516688" y="4941888"/>
            <a:ext cx="1627187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342900" indent="-3429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lvl="1" algn="ctr" eaLnBrk="1" hangingPunct="1">
              <a:lnSpc>
                <a:spcPct val="120000"/>
              </a:lnSpc>
              <a:buSzPct val="100000"/>
            </a:pPr>
            <a:r>
              <a:rPr lang="zh-CN" altLang="en-US" sz="2800" b="0">
                <a:solidFill>
                  <a:srgbClr val="FF0000"/>
                </a:solidFill>
                <a:latin typeface="微软雅黑" charset="0"/>
                <a:ea typeface="微软雅黑" charset="0"/>
                <a:sym typeface="Symbol" panose="05050102010706020507" pitchFamily="18" charset="2"/>
              </a:rPr>
              <a:t>为什么？</a:t>
            </a:r>
            <a:endParaRPr lang="zh-CN" altLang="en-US" sz="2800" b="0">
              <a:solidFill>
                <a:srgbClr val="FF0000"/>
              </a:solidFill>
              <a:latin typeface="微软雅黑" charset="0"/>
              <a:ea typeface="微软雅黑" charset="0"/>
              <a:sym typeface="Symbol" panose="05050102010706020507" pitchFamily="18" charset="2"/>
            </a:endParaRPr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3"/>
          <p:cNvSpPr txBox="1">
            <a:spLocks noChangeArrowheads="1"/>
          </p:cNvSpPr>
          <p:nvPr/>
        </p:nvSpPr>
        <p:spPr bwMode="auto">
          <a:xfrm>
            <a:off x="385837" y="1844824"/>
            <a:ext cx="4906888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441325" indent="-44132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对于频繁</a:t>
            </a:r>
            <a:r>
              <a:rPr lang="en-GB" altLang="zh-CN" sz="28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k-</a:t>
            </a:r>
            <a:r>
              <a:rPr lang="zh-CN" altLang="en-US" sz="28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项集 </a:t>
            </a:r>
            <a:r>
              <a:rPr lang="en-US" altLang="zh-CN" sz="28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(</a:t>
            </a:r>
            <a:r>
              <a:rPr lang="en-GB" altLang="zh-CN" sz="28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k &gt; 2)</a:t>
            </a:r>
            <a:endParaRPr lang="en-GB" altLang="zh-CN" sz="2800" b="0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计算规则头中只有一个项的规则的置信度</a:t>
            </a:r>
            <a:endParaRPr lang="en-US" altLang="zh-CN" sz="24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利用这些规则，迭代方法增加规则头中项集大小，计算置信度</a:t>
            </a:r>
            <a:endParaRPr lang="en-GB" altLang="zh-CN" sz="24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如果置信度小于阈值，则裁剪</a:t>
            </a:r>
            <a:endParaRPr lang="en-GB" altLang="zh-CN" sz="24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68611" name="Rectangle 4"/>
          <p:cNvSpPr txBox="1">
            <a:spLocks noChangeArrowheads="1"/>
          </p:cNvSpPr>
          <p:nvPr/>
        </p:nvSpPr>
        <p:spPr bwMode="auto">
          <a:xfrm>
            <a:off x="5292725" y="1268413"/>
            <a:ext cx="3960813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72000" bIns="72000"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GB" altLang="zh-CN" sz="22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{Bread, Milk, Diaper}</a:t>
            </a:r>
            <a:endParaRPr lang="en-GB" altLang="zh-CN" sz="22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2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1-item rules</a:t>
            </a:r>
            <a:endParaRPr lang="en-US" altLang="zh-CN" sz="22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2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	{Bread, Milk} </a:t>
            </a:r>
            <a:r>
              <a:rPr lang="en-US" altLang="zh-CN" sz="22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 {Diaper}</a:t>
            </a:r>
            <a:endParaRPr lang="en-GB" altLang="zh-CN" sz="22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2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	{Milk, Diaper} </a:t>
            </a:r>
            <a:r>
              <a:rPr lang="en-US" altLang="zh-CN" sz="22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 {Bread}</a:t>
            </a:r>
            <a:endParaRPr lang="en-US" altLang="zh-CN" sz="22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2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	{Diaper, Bread} </a:t>
            </a:r>
            <a:r>
              <a:rPr lang="en-US" altLang="zh-CN" sz="22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 {Milk} </a:t>
            </a:r>
            <a:endParaRPr lang="en-US" altLang="zh-CN" sz="22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2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2-item rules </a:t>
            </a:r>
            <a:endParaRPr lang="en-US" altLang="zh-CN" sz="22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2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	{Bread}  {Milk, Diaper} </a:t>
            </a:r>
            <a:br>
              <a:rPr lang="en-US" altLang="zh-CN" sz="22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</a:br>
            <a:r>
              <a:rPr lang="en-US" altLang="zh-CN" sz="22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{Diaper}  {Milk, Bread}  </a:t>
            </a:r>
            <a:endParaRPr lang="en-US" altLang="zh-CN" sz="22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2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	{Milk}  {Diaper, Bread}</a:t>
            </a:r>
            <a:endParaRPr lang="en-US" altLang="zh-CN" sz="22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3"/>
          <p:cNvSpPr txBox="1">
            <a:spLocks noChangeArrowheads="1"/>
          </p:cNvSpPr>
          <p:nvPr/>
        </p:nvSpPr>
        <p:spPr bwMode="auto">
          <a:xfrm>
            <a:off x="1475656" y="3284984"/>
            <a:ext cx="6707485" cy="74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marL="0" indent="0">
              <a:lnSpc>
                <a:spcPct val="90000"/>
              </a:lnSpc>
              <a:buClr>
                <a:srgbClr val="FF0000"/>
              </a:buClr>
              <a:buNone/>
            </a:pPr>
            <a:r>
              <a:rPr lang="zh-CN" altLang="en-US" sz="32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例子</a:t>
            </a:r>
            <a:r>
              <a:rPr lang="en-US" altLang="zh-CN" sz="32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(Association </a:t>
            </a:r>
            <a:r>
              <a:rPr lang="en-US" altLang="zh-CN" sz="3200" b="0" dirty="0" err="1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Rule.ipynb</a:t>
            </a:r>
            <a:r>
              <a:rPr lang="en-US" altLang="zh-CN" sz="32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)</a:t>
            </a:r>
            <a:endParaRPr lang="en-GB" altLang="zh-CN" sz="32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roup 30"/>
          <p:cNvGraphicFramePr>
            <a:graphicFrameLocks noGrp="1"/>
          </p:cNvGraphicFramePr>
          <p:nvPr/>
        </p:nvGraphicFramePr>
        <p:xfrm>
          <a:off x="1115616" y="2132856"/>
          <a:ext cx="7129463" cy="3582989"/>
        </p:xfrm>
        <a:graphic>
          <a:graphicData uri="http://schemas.openxmlformats.org/drawingml/2006/table">
            <a:tbl>
              <a:tblPr/>
              <a:tblGrid>
                <a:gridCol w="1817688"/>
                <a:gridCol w="5311775"/>
              </a:tblGrid>
              <a:tr h="57636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TID</a:t>
                      </a:r>
                      <a:endParaRPr kumimoji="0" lang="de-DE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List of Items</a:t>
                      </a:r>
                      <a:endParaRPr kumimoji="0" lang="de-DE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T="45728" marB="45728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0116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1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Beer,Diaper,Baby Powder,Bread,Umbrella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T="45728" marB="45728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7636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2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Diaper,Baby Powder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T="45728" marB="45728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7636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3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Beer,Diaper,Milk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T="45728" marB="45728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7636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4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Beer,Diaper,Detergent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T="45728" marB="45728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7636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5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Beer,Milk,Coca-Cola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T="45728" marB="45728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203848" y="1484784"/>
            <a:ext cx="32271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400" b="0" dirty="0" err="1">
                <a:solidFill>
                  <a:srgbClr val="FF0000"/>
                </a:solidFill>
                <a:latin typeface="微软雅黑" charset="0"/>
                <a:ea typeface="微软雅黑" charset="0"/>
                <a:cs typeface="Calibri" panose="020F0502020204030204" pitchFamily="34" charset="0"/>
              </a:rPr>
              <a:t>Min_sup</a:t>
            </a:r>
            <a:r>
              <a:rPr lang="en-US" altLang="zh-CN" sz="24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Calibri" panose="020F0502020204030204" pitchFamily="34" charset="0"/>
              </a:rPr>
              <a:t> 40% (2/5)</a:t>
            </a:r>
            <a:endParaRPr lang="en-US" altLang="zh-CN" sz="2400" b="0" dirty="0">
              <a:solidFill>
                <a:srgbClr val="FF0000"/>
              </a:solidFill>
              <a:latin typeface="微软雅黑" charset="0"/>
              <a:ea typeface="微软雅黑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57200" y="1196975"/>
            <a:ext cx="4546600" cy="7493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9pPr>
          </a:lstStyle>
          <a:p>
            <a:pPr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2800" b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charset="0"/>
                <a:ea typeface="微软雅黑" charset="0"/>
              </a:rPr>
              <a:t>例子</a:t>
            </a:r>
            <a:endParaRPr lang="zh-CN" altLang="en-US" sz="2800" b="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charset="0"/>
              <a:ea typeface="微软雅黑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912813" y="2060848"/>
            <a:ext cx="8110537" cy="373194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8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               C1 </a:t>
            </a:r>
            <a:r>
              <a:rPr lang="en-US" sz="2800" b="0" dirty="0">
                <a:latin typeface="微软雅黑" charset="0"/>
                <a:ea typeface="微软雅黑" charset="0"/>
                <a:cs typeface="微软雅黑" charset="0"/>
              </a:rPr>
              <a:t>                  </a:t>
            </a:r>
            <a:r>
              <a:rPr lang="en-US" sz="28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Wingdings" panose="05000000000000000000" pitchFamily="2" charset="2"/>
              </a:rPr>
              <a:t></a:t>
            </a:r>
            <a:r>
              <a:rPr lang="en-US" sz="28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                      L1</a:t>
            </a:r>
            <a:endParaRPr lang="en-US" sz="28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graphicFrame>
        <p:nvGraphicFramePr>
          <p:cNvPr id="9" name="Group 42"/>
          <p:cNvGraphicFramePr>
            <a:graphicFrameLocks noGrp="1"/>
          </p:cNvGraphicFramePr>
          <p:nvPr/>
        </p:nvGraphicFramePr>
        <p:xfrm>
          <a:off x="533400" y="2644775"/>
          <a:ext cx="4267200" cy="3571875"/>
        </p:xfrm>
        <a:graphic>
          <a:graphicData uri="http://schemas.openxmlformats.org/drawingml/2006/table">
            <a:tbl>
              <a:tblPr/>
              <a:tblGrid>
                <a:gridCol w="2454275"/>
                <a:gridCol w="1812925"/>
              </a:tblGrid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Item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Support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686" marB="45686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Beer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"4/5"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686" marB="45686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Diaper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"4/5"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686" marB="45686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Baby Powder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"2/5"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686" marB="45686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Bread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"1/5"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686" marB="45686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Umbrella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"1/5"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686" marB="45686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Milk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"2/5"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686" marB="45686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Detergent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"1/5"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686" marB="45686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Coca-Cola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"1/5"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686" marB="45686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Group 68"/>
          <p:cNvGraphicFramePr>
            <a:graphicFrameLocks noGrp="1"/>
          </p:cNvGraphicFramePr>
          <p:nvPr/>
        </p:nvGraphicFramePr>
        <p:xfrm>
          <a:off x="5292725" y="3170238"/>
          <a:ext cx="3527425" cy="2624190"/>
        </p:xfrm>
        <a:graphic>
          <a:graphicData uri="http://schemas.openxmlformats.org/drawingml/2006/table">
            <a:tbl>
              <a:tblPr/>
              <a:tblGrid>
                <a:gridCol w="1938033"/>
                <a:gridCol w="1589392"/>
              </a:tblGrid>
              <a:tr h="48079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Item</a:t>
                      </a:r>
                      <a:endParaRPr kumimoji="0" lang="de-DE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32" marR="91432" marT="45699" marB="45699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Support</a:t>
                      </a:r>
                      <a:endParaRPr kumimoji="0" lang="de-DE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32" marR="91432" marT="45699" marB="45699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8079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Beer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32" marR="91432" marT="45699" marB="45699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"4/5"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32" marR="91432" marT="45699" marB="45699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8079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Diaper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32" marR="91432" marT="45699" marB="45699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"4/5"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32" marR="91432" marT="45699" marB="45699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009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Baby Powder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32" marR="91432" marT="45699" marB="45699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"2/5"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32" marR="91432" marT="45699" marB="45699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8079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Milk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32" marR="91432" marT="45699" marB="45699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"2/5" 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32" marR="91432" marT="45699" marB="45699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3"/>
          <p:cNvSpPr txBox="1">
            <a:spLocks noChangeArrowheads="1"/>
          </p:cNvSpPr>
          <p:nvPr/>
        </p:nvSpPr>
        <p:spPr bwMode="auto">
          <a:xfrm>
            <a:off x="457200" y="1600200"/>
            <a:ext cx="4546600" cy="74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800" b="0">
                <a:solidFill>
                  <a:srgbClr val="FF0000"/>
                </a:solidFill>
                <a:latin typeface="微软雅黑" charset="0"/>
                <a:ea typeface="微软雅黑" charset="0"/>
              </a:rPr>
              <a:t>例子</a:t>
            </a:r>
            <a:endParaRPr lang="zh-CN" altLang="en-US" sz="2800" b="0">
              <a:solidFill>
                <a:srgbClr val="FF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71683" name="Rectangle 3"/>
          <p:cNvSpPr txBox="1">
            <a:spLocks noChangeArrowheads="1"/>
          </p:cNvSpPr>
          <p:nvPr/>
        </p:nvSpPr>
        <p:spPr bwMode="auto">
          <a:xfrm>
            <a:off x="1908175" y="2079625"/>
            <a:ext cx="6767513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  C2                   </a:t>
            </a:r>
            <a:r>
              <a:rPr lang="en-US" altLang="zh-CN" sz="2800" b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Wingdings" panose="05000000000000000000" pitchFamily="2" charset="2"/>
              </a:rPr>
              <a:t></a:t>
            </a:r>
            <a:r>
              <a:rPr lang="en-US" altLang="zh-CN" sz="2800" b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                      L2</a:t>
            </a:r>
            <a:endParaRPr lang="en-US" altLang="zh-CN" sz="2800" b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endParaRPr lang="en-US" altLang="zh-CN" b="0">
              <a:solidFill>
                <a:srgbClr val="0000FF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graphicFrame>
        <p:nvGraphicFramePr>
          <p:cNvPr id="11" name="Group 35"/>
          <p:cNvGraphicFramePr>
            <a:graphicFrameLocks noGrp="1"/>
          </p:cNvGraphicFramePr>
          <p:nvPr/>
        </p:nvGraphicFramePr>
        <p:xfrm>
          <a:off x="152400" y="2667000"/>
          <a:ext cx="4564063" cy="3511548"/>
        </p:xfrm>
        <a:graphic>
          <a:graphicData uri="http://schemas.openxmlformats.org/drawingml/2006/table">
            <a:tbl>
              <a:tblPr/>
              <a:tblGrid>
                <a:gridCol w="2906998"/>
                <a:gridCol w="1657065"/>
              </a:tblGrid>
              <a:tr h="46839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Item</a:t>
                      </a:r>
                      <a:endParaRPr kumimoji="0" lang="de-DE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9" marR="91449" marT="45728" marB="45728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Support</a:t>
                      </a:r>
                      <a:endParaRPr kumimoji="0" lang="de-DE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9" marR="91449"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6839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Beer, Diaper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9" marR="91449" marT="45728" marB="45728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"3/5"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9" marR="91449"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6839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Beer, Baby Powder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9" marR="91449" marT="45728" marB="45728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"1/5"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9" marR="91449"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6839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Beer, Milk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9" marR="91449" marT="45728" marB="45728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"2/5"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9" marR="91449"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0116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Diaper,Baby Powder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9" marR="91449" marT="45728" marB="45728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"2/5"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9" marR="91449"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6839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Diaper,Milk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9" marR="91449" marT="45728" marB="45728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"1/5"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9" marR="91449"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6839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Baby Powder,Milk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9" marR="91449" marT="45728" marB="45728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"0"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9" marR="91449"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Group 57"/>
          <p:cNvGraphicFramePr>
            <a:graphicFrameLocks noGrp="1"/>
          </p:cNvGraphicFramePr>
          <p:nvPr/>
        </p:nvGraphicFramePr>
        <p:xfrm>
          <a:off x="4889500" y="3284538"/>
          <a:ext cx="4254500" cy="2235199"/>
        </p:xfrm>
        <a:graphic>
          <a:graphicData uri="http://schemas.openxmlformats.org/drawingml/2006/table">
            <a:tbl>
              <a:tblPr/>
              <a:tblGrid>
                <a:gridCol w="2765837"/>
                <a:gridCol w="1488663"/>
              </a:tblGrid>
              <a:tr h="5113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Item</a:t>
                      </a:r>
                      <a:endParaRPr kumimoji="0" lang="de-DE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3" marR="91443" marT="45733" marB="45733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Support</a:t>
                      </a:r>
                      <a:endParaRPr kumimoji="0" lang="de-DE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3" marR="91443"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113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Beer, Diaper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3" marR="91443" marT="45733" marB="45733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"3/5"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3" marR="91443"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113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Beer, Milk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3" marR="91443" marT="45733" marB="45733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"2/5"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3" marR="91443"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0123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Diaper,Baby Powder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3" marR="91443" marT="45733" marB="45733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"2/5"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3" marR="91443"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3276600" y="3178175"/>
            <a:ext cx="1295400" cy="28543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8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3"/>
          <p:cNvSpPr txBox="1">
            <a:spLocks noChangeArrowheads="1"/>
          </p:cNvSpPr>
          <p:nvPr/>
        </p:nvSpPr>
        <p:spPr bwMode="auto">
          <a:xfrm>
            <a:off x="457200" y="1600200"/>
            <a:ext cx="4546600" cy="74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800" b="0">
                <a:solidFill>
                  <a:srgbClr val="FF0000"/>
                </a:solidFill>
                <a:latin typeface="微软雅黑" charset="0"/>
                <a:ea typeface="微软雅黑" charset="0"/>
              </a:rPr>
              <a:t>例子</a:t>
            </a:r>
            <a:endParaRPr lang="zh-CN" altLang="en-US" sz="2800" b="0">
              <a:solidFill>
                <a:srgbClr val="FF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72707" name="Rectangle 3"/>
          <p:cNvSpPr txBox="1">
            <a:spLocks noChangeArrowheads="1"/>
          </p:cNvSpPr>
          <p:nvPr/>
        </p:nvSpPr>
        <p:spPr bwMode="auto">
          <a:xfrm>
            <a:off x="2124075" y="2205038"/>
            <a:ext cx="6696075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zh-CN" sz="2800" b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C3                      </a:t>
            </a:r>
            <a:r>
              <a:rPr lang="en-US" altLang="zh-CN" sz="2800" b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Wingdings" panose="05000000000000000000" pitchFamily="2" charset="2"/>
              </a:rPr>
              <a:t></a:t>
            </a:r>
            <a:r>
              <a:rPr lang="en-US" altLang="zh-CN" sz="2800" b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                 empty</a:t>
            </a:r>
            <a:endParaRPr lang="en-US" altLang="zh-CN" sz="2800" b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endParaRPr lang="en-US" altLang="zh-CN" b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endParaRPr lang="en-US" altLang="zh-CN" b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endParaRPr lang="en-US" altLang="zh-CN" b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endParaRPr lang="en-US" altLang="zh-CN" b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endParaRPr lang="en-US" altLang="zh-CN" b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graphicFrame>
        <p:nvGraphicFramePr>
          <p:cNvPr id="9" name="Group 28"/>
          <p:cNvGraphicFramePr>
            <a:graphicFrameLocks noGrp="1"/>
          </p:cNvGraphicFramePr>
          <p:nvPr/>
        </p:nvGraphicFramePr>
        <p:xfrm>
          <a:off x="611188" y="3213100"/>
          <a:ext cx="5473700" cy="1600200"/>
        </p:xfrm>
        <a:graphic>
          <a:graphicData uri="http://schemas.openxmlformats.org/drawingml/2006/table">
            <a:tbl>
              <a:tblPr/>
              <a:tblGrid>
                <a:gridCol w="3910012"/>
                <a:gridCol w="1563688"/>
              </a:tblGrid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Item</a:t>
                      </a:r>
                      <a:endParaRPr kumimoji="0" lang="de-DE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Support</a:t>
                      </a:r>
                      <a:endParaRPr kumimoji="0" lang="de-DE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Beer, Diaper,Baby Powder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"1/5"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Beer, Diaper,Milk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  <a:cs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"1/5"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4665663" y="3789363"/>
            <a:ext cx="1295400" cy="863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3"/>
          <p:cNvSpPr txBox="1">
            <a:spLocks noChangeArrowheads="1"/>
          </p:cNvSpPr>
          <p:nvPr/>
        </p:nvSpPr>
        <p:spPr bwMode="auto">
          <a:xfrm>
            <a:off x="420688" y="1203325"/>
            <a:ext cx="4546600" cy="74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zh-CN" altLang="en-US" sz="2800" b="0">
                <a:solidFill>
                  <a:srgbClr val="FF0000"/>
                </a:solidFill>
                <a:latin typeface="微软雅黑" charset="0"/>
                <a:ea typeface="微软雅黑" charset="0"/>
              </a:rPr>
              <a:t>例子</a:t>
            </a:r>
            <a:endParaRPr lang="zh-CN" altLang="en-US" sz="2800" b="0">
              <a:solidFill>
                <a:srgbClr val="FF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73731" name="Rectangle 3"/>
          <p:cNvSpPr txBox="1">
            <a:spLocks noChangeArrowheads="1"/>
          </p:cNvSpPr>
          <p:nvPr/>
        </p:nvSpPr>
        <p:spPr bwMode="auto">
          <a:xfrm>
            <a:off x="912813" y="1962150"/>
            <a:ext cx="8110537" cy="3890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latin typeface="微软雅黑" charset="0"/>
                <a:ea typeface="微软雅黑" charset="0"/>
              </a:rPr>
              <a:t>min_sup=40%    min_conf=70%</a:t>
            </a:r>
            <a:endParaRPr lang="en-US" altLang="zh-CN" sz="2800" b="0">
              <a:solidFill>
                <a:srgbClr val="1557AE"/>
              </a:solidFill>
              <a:latin typeface="微软雅黑" charset="0"/>
              <a:ea typeface="微软雅黑" charset="0"/>
            </a:endParaRPr>
          </a:p>
        </p:txBody>
      </p:sp>
      <p:graphicFrame>
        <p:nvGraphicFramePr>
          <p:cNvPr id="10" name="Group 57"/>
          <p:cNvGraphicFramePr>
            <a:graphicFrameLocks noGrp="1"/>
          </p:cNvGraphicFramePr>
          <p:nvPr/>
        </p:nvGraphicFramePr>
        <p:xfrm>
          <a:off x="250825" y="2924175"/>
          <a:ext cx="8772525" cy="3044825"/>
        </p:xfrm>
        <a:graphic>
          <a:graphicData uri="http://schemas.openxmlformats.org/drawingml/2006/table">
            <a:tbl>
              <a:tblPr/>
              <a:tblGrid>
                <a:gridCol w="3344354"/>
                <a:gridCol w="2148722"/>
                <a:gridCol w="1557738"/>
                <a:gridCol w="1721711"/>
              </a:tblGrid>
              <a:tr h="434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Item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Support(A,B)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Suport A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Confidence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34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Beer, Diaper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60%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80%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75%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34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Beer, Milk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40%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80%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50%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34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Diaper,Baby Powder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40%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80%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50%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34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Diaper,Beer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60%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80%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75%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34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Milk,Beer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40%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40%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100%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34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Baby Powder, Diaper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40%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40%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804030504040204" pitchFamily="34" charset="0"/>
                          <a:ea typeface="黑体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100%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4319588" y="3429000"/>
            <a:ext cx="4284662" cy="2447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8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3"/>
          <p:cNvSpPr txBox="1">
            <a:spLocks noChangeArrowheads="1"/>
          </p:cNvSpPr>
          <p:nvPr/>
        </p:nvSpPr>
        <p:spPr bwMode="auto">
          <a:xfrm>
            <a:off x="457200" y="1600200"/>
            <a:ext cx="4546600" cy="74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zh-CN" altLang="en-US" sz="2800" b="0">
                <a:solidFill>
                  <a:srgbClr val="FF0000"/>
                </a:solidFill>
                <a:latin typeface="微软雅黑" charset="0"/>
                <a:ea typeface="微软雅黑" charset="0"/>
              </a:rPr>
              <a:t>例子</a:t>
            </a:r>
            <a:endParaRPr lang="zh-CN" altLang="en-US" sz="2800" b="0">
              <a:solidFill>
                <a:srgbClr val="FF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74755" name="Rectangle 3"/>
          <p:cNvSpPr txBox="1">
            <a:spLocks noChangeArrowheads="1"/>
          </p:cNvSpPr>
          <p:nvPr/>
        </p:nvSpPr>
        <p:spPr bwMode="auto">
          <a:xfrm>
            <a:off x="2222500" y="2133600"/>
            <a:ext cx="6237288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endParaRPr lang="en-US" altLang="zh-CN" sz="2800" b="0">
              <a:solidFill>
                <a:srgbClr val="1557AE"/>
              </a:solidFill>
              <a:latin typeface="微软雅黑" charset="0"/>
              <a:ea typeface="微软雅黑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latin typeface="微软雅黑" charset="0"/>
                <a:ea typeface="微软雅黑" charset="0"/>
              </a:rPr>
              <a:t>support 60%, confidence 75%</a:t>
            </a:r>
            <a:endParaRPr lang="en-US" altLang="zh-CN" sz="2800" b="0">
              <a:solidFill>
                <a:srgbClr val="1557AE"/>
              </a:solidFill>
              <a:latin typeface="微软雅黑" charset="0"/>
              <a:ea typeface="微软雅黑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800" b="0">
              <a:solidFill>
                <a:srgbClr val="1557AE"/>
              </a:solidFill>
              <a:latin typeface="微软雅黑" charset="0"/>
              <a:ea typeface="微软雅黑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latin typeface="微软雅黑" charset="0"/>
                <a:ea typeface="微软雅黑" charset="0"/>
              </a:rPr>
              <a:t>support 60%,  confidence 75%</a:t>
            </a:r>
            <a:endParaRPr lang="en-US" altLang="zh-CN" sz="2800" b="0">
              <a:solidFill>
                <a:srgbClr val="1557AE"/>
              </a:solidFill>
              <a:latin typeface="微软雅黑" charset="0"/>
              <a:ea typeface="微软雅黑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800" b="0">
              <a:solidFill>
                <a:srgbClr val="1557AE"/>
              </a:solidFill>
              <a:latin typeface="微软雅黑" charset="0"/>
              <a:ea typeface="微软雅黑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latin typeface="微软雅黑" charset="0"/>
                <a:ea typeface="微软雅黑" charset="0"/>
              </a:rPr>
              <a:t>support 40%, confidence 100%</a:t>
            </a:r>
            <a:endParaRPr lang="en-US" altLang="zh-CN" sz="2800" b="0">
              <a:solidFill>
                <a:srgbClr val="1557AE"/>
              </a:solidFill>
              <a:latin typeface="微软雅黑" charset="0"/>
              <a:ea typeface="微软雅黑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800" b="0">
              <a:solidFill>
                <a:srgbClr val="1557AE"/>
              </a:solidFill>
              <a:latin typeface="微软雅黑" charset="0"/>
              <a:ea typeface="微软雅黑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latin typeface="微软雅黑" charset="0"/>
                <a:ea typeface="微软雅黑" charset="0"/>
              </a:rPr>
              <a:t>support 40%, confidence 100%</a:t>
            </a:r>
            <a:endParaRPr lang="en-US" altLang="zh-CN" sz="2800" b="0">
              <a:solidFill>
                <a:srgbClr val="1557AE"/>
              </a:solidFill>
              <a:latin typeface="微软雅黑" charset="0"/>
              <a:ea typeface="微软雅黑" charset="0"/>
            </a:endParaRPr>
          </a:p>
        </p:txBody>
      </p:sp>
      <p:graphicFrame>
        <p:nvGraphicFramePr>
          <p:cNvPr id="74756" name="Object 4"/>
          <p:cNvGraphicFramePr>
            <a:graphicFrameLocks noChangeAspect="1"/>
          </p:cNvGraphicFramePr>
          <p:nvPr/>
        </p:nvGraphicFramePr>
        <p:xfrm>
          <a:off x="1614488" y="2209800"/>
          <a:ext cx="267017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25" name="Equation" r:id="rId1" imgW="990600" imgH="165100" progId="Equation.3">
                  <p:embed/>
                </p:oleObj>
              </mc:Choice>
              <mc:Fallback>
                <p:oleObj name="Equation" r:id="rId1" imgW="990600" imgH="165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4488" y="2209800"/>
                        <a:ext cx="2670175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7" name="Object 5"/>
          <p:cNvGraphicFramePr>
            <a:graphicFrameLocks noChangeAspect="1"/>
          </p:cNvGraphicFramePr>
          <p:nvPr/>
        </p:nvGraphicFramePr>
        <p:xfrm>
          <a:off x="1614488" y="3284538"/>
          <a:ext cx="267017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26" name="Equation" r:id="rId3" imgW="990600" imgH="165100" progId="Equation.3">
                  <p:embed/>
                </p:oleObj>
              </mc:Choice>
              <mc:Fallback>
                <p:oleObj name="Equation" r:id="rId3" imgW="990600" imgH="1651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4488" y="3284538"/>
                        <a:ext cx="2670175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8" name="Object 6"/>
          <p:cNvGraphicFramePr>
            <a:graphicFrameLocks noChangeAspect="1"/>
          </p:cNvGraphicFramePr>
          <p:nvPr/>
        </p:nvGraphicFramePr>
        <p:xfrm>
          <a:off x="1690688" y="4292600"/>
          <a:ext cx="230505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27" name="Equation" r:id="rId5" imgW="850900" imgH="139700" progId="Equation.3">
                  <p:embed/>
                </p:oleObj>
              </mc:Choice>
              <mc:Fallback>
                <p:oleObj name="Equation" r:id="rId5" imgW="850900" imgH="139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0688" y="4292600"/>
                        <a:ext cx="230505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9" name="Object 7"/>
          <p:cNvGraphicFramePr>
            <a:graphicFrameLocks noChangeAspect="1"/>
          </p:cNvGraphicFramePr>
          <p:nvPr/>
        </p:nvGraphicFramePr>
        <p:xfrm>
          <a:off x="1689100" y="5300663"/>
          <a:ext cx="432276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28" name="Equation" r:id="rId7" imgW="1612900" imgH="177800" progId="Equation.3">
                  <p:embed/>
                </p:oleObj>
              </mc:Choice>
              <mc:Fallback>
                <p:oleObj name="Equation" r:id="rId7" imgW="1612900" imgH="177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9100" y="5300663"/>
                        <a:ext cx="432276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3"/>
          <p:cNvSpPr>
            <a:spLocks noGrp="1" noChangeArrowheads="1"/>
          </p:cNvSpPr>
          <p:nvPr>
            <p:ph idx="1"/>
          </p:nvPr>
        </p:nvSpPr>
        <p:spPr>
          <a:xfrm>
            <a:off x="571500" y="981075"/>
            <a:ext cx="8392988" cy="4267200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  <a:defRPr/>
            </a:pPr>
            <a:r>
              <a:rPr lang="en-US" altLang="zh-CN" sz="2400" b="0" dirty="0" err="1">
                <a:solidFill>
                  <a:srgbClr val="FF0000"/>
                </a:solidFill>
                <a:cs typeface="微软雅黑" charset="0"/>
              </a:rPr>
              <a:t>Apriori</a:t>
            </a:r>
            <a:r>
              <a:rPr lang="zh-CN" altLang="en-US" sz="2400" b="0" dirty="0">
                <a:solidFill>
                  <a:srgbClr val="FF0000"/>
                </a:solidFill>
                <a:cs typeface="微软雅黑" charset="0"/>
              </a:rPr>
              <a:t>算法通常是可行的</a:t>
            </a:r>
            <a:r>
              <a:rPr lang="zh-CN" altLang="en-US" sz="2000" b="0" dirty="0">
                <a:solidFill>
                  <a:srgbClr val="1557AE"/>
                </a:solidFill>
                <a:cs typeface="微软雅黑" charset="0"/>
              </a:rPr>
              <a:t>（三个因素：单调性、稀疏性、支持度）</a:t>
            </a:r>
            <a:endParaRPr lang="en-US" altLang="zh-CN" sz="2400" b="0" dirty="0">
              <a:solidFill>
                <a:srgbClr val="1557AE"/>
              </a:solidFill>
              <a:cs typeface="微软雅黑" charset="0"/>
            </a:endParaRPr>
          </a:p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  <a:defRPr/>
            </a:pPr>
            <a:r>
              <a:rPr lang="zh-CN" altLang="en-US" sz="2400" b="0" dirty="0">
                <a:solidFill>
                  <a:srgbClr val="FF0000"/>
                </a:solidFill>
                <a:cs typeface="微软雅黑" charset="0"/>
              </a:rPr>
              <a:t>提高</a:t>
            </a:r>
            <a:r>
              <a:rPr lang="en-US" altLang="zh-CN" sz="2400" b="0" dirty="0" err="1">
                <a:solidFill>
                  <a:srgbClr val="FF0000"/>
                </a:solidFill>
                <a:cs typeface="微软雅黑" charset="0"/>
              </a:rPr>
              <a:t>Apriori</a:t>
            </a:r>
            <a:r>
              <a:rPr lang="zh-CN" altLang="en-US" sz="2400" b="0" dirty="0">
                <a:solidFill>
                  <a:srgbClr val="FF0000"/>
                </a:solidFill>
                <a:cs typeface="微软雅黑" charset="0"/>
              </a:rPr>
              <a:t>算法的有效性</a:t>
            </a:r>
            <a:endParaRPr lang="en-US" altLang="zh-CN" sz="2400" b="0" dirty="0">
              <a:solidFill>
                <a:srgbClr val="FF0000"/>
              </a:solidFill>
              <a:cs typeface="微软雅黑" charset="0"/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400" b="0" dirty="0" err="1">
                <a:solidFill>
                  <a:srgbClr val="FF0000"/>
                </a:solidFill>
                <a:cs typeface="微软雅黑" charset="0"/>
              </a:rPr>
              <a:t>Apriori</a:t>
            </a:r>
            <a:r>
              <a:rPr lang="zh-CN" altLang="en-US" sz="2400" b="0" dirty="0">
                <a:solidFill>
                  <a:srgbClr val="FF0000"/>
                </a:solidFill>
                <a:cs typeface="微软雅黑" charset="0"/>
              </a:rPr>
              <a:t>算法主要的挑战</a:t>
            </a:r>
            <a:endParaRPr lang="zh-CN" altLang="en-US" sz="2400" b="0" dirty="0">
              <a:solidFill>
                <a:srgbClr val="FF0000"/>
              </a:solidFill>
              <a:cs typeface="微软雅黑" charset="0"/>
            </a:endParaRPr>
          </a:p>
          <a:p>
            <a:pPr marL="8001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tx1"/>
              </a:buClr>
              <a:buFont typeface="Arial" panose="020B0604020202090204" pitchFamily="34" charset="0"/>
              <a:buChar char="•"/>
              <a:defRPr/>
            </a:pPr>
            <a:r>
              <a:rPr lang="zh-CN" altLang="en-US" sz="2000" b="0" dirty="0">
                <a:solidFill>
                  <a:srgbClr val="1557AE"/>
                </a:solidFill>
                <a:cs typeface="微软雅黑" charset="0"/>
              </a:rPr>
              <a:t>要对数据进行多次扫描；</a:t>
            </a:r>
            <a:endParaRPr lang="zh-CN" altLang="en-US" sz="2000" b="0" dirty="0">
              <a:solidFill>
                <a:srgbClr val="1557AE"/>
              </a:solidFill>
              <a:cs typeface="微软雅黑" charset="0"/>
            </a:endParaRPr>
          </a:p>
          <a:p>
            <a:pPr marL="8001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tx1"/>
              </a:buClr>
              <a:buFont typeface="Arial" panose="020B0604020202090204" pitchFamily="34" charset="0"/>
              <a:buChar char="•"/>
              <a:defRPr/>
            </a:pPr>
            <a:r>
              <a:rPr lang="zh-CN" altLang="en-US" sz="2000" b="0" dirty="0">
                <a:solidFill>
                  <a:srgbClr val="1557AE"/>
                </a:solidFill>
                <a:cs typeface="微软雅黑" charset="0"/>
              </a:rPr>
              <a:t>会产生大量的候选项集；</a:t>
            </a:r>
            <a:endParaRPr lang="zh-CN" altLang="en-US" sz="2000" b="0" dirty="0">
              <a:solidFill>
                <a:srgbClr val="1557AE"/>
              </a:solidFill>
              <a:cs typeface="微软雅黑" charset="0"/>
            </a:endParaRPr>
          </a:p>
          <a:p>
            <a:pPr marL="8001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tx1"/>
              </a:buClr>
              <a:buFont typeface="Arial" panose="020B0604020202090204" pitchFamily="34" charset="0"/>
              <a:buChar char="•"/>
              <a:defRPr/>
            </a:pPr>
            <a:r>
              <a:rPr lang="zh-CN" altLang="en-US" sz="2000" b="0" dirty="0">
                <a:solidFill>
                  <a:srgbClr val="1557AE"/>
                </a:solidFill>
                <a:cs typeface="微软雅黑" charset="0"/>
              </a:rPr>
              <a:t>对候选项集的支持度计算非常繁琐；</a:t>
            </a:r>
            <a:endParaRPr lang="zh-CN" altLang="en-US" sz="2000" b="0" dirty="0">
              <a:solidFill>
                <a:srgbClr val="1557AE"/>
              </a:solidFill>
              <a:cs typeface="微软雅黑" charset="0"/>
            </a:endParaRPr>
          </a:p>
        </p:txBody>
      </p:sp>
      <p:pic>
        <p:nvPicPr>
          <p:cNvPr id="75779" name="Picture 4" descr="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5363" y="3789363"/>
            <a:ext cx="4613275" cy="261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1412776"/>
            <a:ext cx="8001000" cy="4267200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  <a:defRPr/>
            </a:pPr>
            <a:r>
              <a:rPr lang="zh-CN" altLang="en-US" sz="2800" b="0" dirty="0">
                <a:solidFill>
                  <a:srgbClr val="FF0000"/>
                </a:solidFill>
                <a:cs typeface="微软雅黑" charset="0"/>
              </a:rPr>
              <a:t>提高</a:t>
            </a:r>
            <a:r>
              <a:rPr lang="en-US" altLang="zh-CN" sz="2800" b="0" dirty="0" err="1">
                <a:solidFill>
                  <a:srgbClr val="FF0000"/>
                </a:solidFill>
                <a:cs typeface="微软雅黑" charset="0"/>
              </a:rPr>
              <a:t>Apriori</a:t>
            </a:r>
            <a:r>
              <a:rPr lang="zh-CN" altLang="en-US" sz="2800" b="0" dirty="0">
                <a:solidFill>
                  <a:srgbClr val="FF0000"/>
                </a:solidFill>
                <a:cs typeface="微软雅黑" charset="0"/>
              </a:rPr>
              <a:t>算法的有效性</a:t>
            </a:r>
            <a:endParaRPr lang="en-US" altLang="zh-CN" sz="2800" b="0" dirty="0">
              <a:solidFill>
                <a:srgbClr val="FF0000"/>
              </a:solidFill>
              <a:cs typeface="微软雅黑" charset="0"/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b="0" dirty="0">
                <a:solidFill>
                  <a:srgbClr val="FF0000"/>
                </a:solidFill>
                <a:cs typeface="微软雅黑" charset="0"/>
              </a:rPr>
              <a:t>解决思路</a:t>
            </a:r>
            <a:endParaRPr lang="zh-CN" altLang="en-US" sz="2400" b="0" dirty="0">
              <a:solidFill>
                <a:srgbClr val="FF0000"/>
              </a:solidFill>
              <a:cs typeface="微软雅黑" charset="0"/>
            </a:endParaRPr>
          </a:p>
          <a:p>
            <a:pPr marL="8001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tx1"/>
              </a:buClr>
              <a:buFont typeface="Arial" panose="020B0604020202090204" pitchFamily="34" charset="0"/>
              <a:buChar char="•"/>
              <a:defRPr/>
            </a:pPr>
            <a:r>
              <a:rPr lang="zh-CN" altLang="en-US" sz="2000" b="0" dirty="0">
                <a:solidFill>
                  <a:srgbClr val="1557AE"/>
                </a:solidFill>
                <a:cs typeface="微软雅黑" charset="0"/>
              </a:rPr>
              <a:t>减少对数据的扫描次数；</a:t>
            </a:r>
            <a:endParaRPr lang="zh-CN" altLang="en-US" sz="2000" b="0" dirty="0">
              <a:solidFill>
                <a:srgbClr val="1557AE"/>
              </a:solidFill>
              <a:cs typeface="微软雅黑" charset="0"/>
            </a:endParaRPr>
          </a:p>
          <a:p>
            <a:pPr marL="8001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tx1"/>
              </a:buClr>
              <a:buFont typeface="Arial" panose="020B0604020202090204" pitchFamily="34" charset="0"/>
              <a:buChar char="•"/>
              <a:defRPr/>
            </a:pPr>
            <a:r>
              <a:rPr lang="zh-CN" altLang="en-US" sz="2000" b="0" dirty="0">
                <a:solidFill>
                  <a:srgbClr val="1557AE"/>
                </a:solidFill>
                <a:cs typeface="微软雅黑" charset="0"/>
              </a:rPr>
              <a:t>缩小产生的候选项集；</a:t>
            </a:r>
            <a:endParaRPr lang="zh-CN" altLang="en-US" sz="2000" b="0" dirty="0">
              <a:solidFill>
                <a:srgbClr val="1557AE"/>
              </a:solidFill>
              <a:cs typeface="微软雅黑" charset="0"/>
            </a:endParaRPr>
          </a:p>
          <a:p>
            <a:pPr marL="8001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tx1"/>
              </a:buClr>
              <a:buFont typeface="Arial" panose="020B0604020202090204" pitchFamily="34" charset="0"/>
              <a:buChar char="•"/>
              <a:defRPr/>
            </a:pPr>
            <a:r>
              <a:rPr lang="zh-CN" altLang="en-US" sz="2000" b="0" dirty="0">
                <a:solidFill>
                  <a:srgbClr val="1557AE"/>
                </a:solidFill>
                <a:cs typeface="微软雅黑" charset="0"/>
              </a:rPr>
              <a:t>改进对候选项集的支持度计算方法</a:t>
            </a:r>
            <a:endParaRPr lang="zh-CN" altLang="en-US" sz="2000" b="0" dirty="0">
              <a:solidFill>
                <a:srgbClr val="1557AE"/>
              </a:solidFill>
              <a:cs typeface="微软雅黑" charset="0"/>
            </a:endParaRPr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3"/>
          <p:cNvSpPr>
            <a:spLocks noGrp="1" noChangeArrowheads="1"/>
          </p:cNvSpPr>
          <p:nvPr>
            <p:ph idx="1"/>
          </p:nvPr>
        </p:nvSpPr>
        <p:spPr>
          <a:xfrm>
            <a:off x="570706" y="1340768"/>
            <a:ext cx="8001000" cy="4267200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en-US" altLang="zh-CN" sz="2800" b="0" dirty="0" err="1">
                <a:solidFill>
                  <a:srgbClr val="FF0000"/>
                </a:solidFill>
                <a:cs typeface="微软雅黑" charset="0"/>
              </a:rPr>
              <a:t>AprioriTid</a:t>
            </a:r>
            <a:r>
              <a:rPr lang="zh-CN" altLang="en-US" sz="2800" b="0" dirty="0">
                <a:solidFill>
                  <a:srgbClr val="FF0000"/>
                </a:solidFill>
                <a:cs typeface="微软雅黑" charset="0"/>
              </a:rPr>
              <a:t>算法</a:t>
            </a:r>
            <a:endParaRPr lang="en-US" altLang="zh-CN" sz="2800" b="0" dirty="0">
              <a:solidFill>
                <a:srgbClr val="FF0000"/>
              </a:solidFill>
              <a:cs typeface="微软雅黑" charset="0"/>
            </a:endParaRPr>
          </a:p>
          <a:p>
            <a:pPr lvl="1" eaLnBrk="1" hangingPunct="1">
              <a:lnSpc>
                <a:spcPct val="130000"/>
              </a:lnSpc>
              <a:spcBef>
                <a:spcPts val="600"/>
              </a:spcBef>
              <a:buFont typeface="Verdana" panose="020B0804030504040204" pitchFamily="34" charset="0"/>
              <a:buAutoNum type="arabicPeriod"/>
            </a:pPr>
            <a:r>
              <a:rPr lang="zh-CN" altLang="en-US" sz="2200" b="0" dirty="0">
                <a:solidFill>
                  <a:srgbClr val="1557AE"/>
                </a:solidFill>
                <a:cs typeface="微软雅黑" charset="0"/>
              </a:rPr>
              <a:t>同</a:t>
            </a:r>
            <a:r>
              <a:rPr lang="en-US" altLang="zh-CN" sz="2200" b="0" dirty="0" err="1">
                <a:solidFill>
                  <a:srgbClr val="1557AE"/>
                </a:solidFill>
                <a:cs typeface="微软雅黑" charset="0"/>
              </a:rPr>
              <a:t>Apriori</a:t>
            </a:r>
            <a:r>
              <a:rPr lang="en-US" altLang="zh-CN" sz="2200" b="0" dirty="0">
                <a:solidFill>
                  <a:srgbClr val="1557AE"/>
                </a:solidFill>
                <a:cs typeface="微软雅黑" charset="0"/>
              </a:rPr>
              <a:t> </a:t>
            </a:r>
            <a:r>
              <a:rPr lang="zh-CN" altLang="en-US" sz="2200" b="0" dirty="0">
                <a:solidFill>
                  <a:srgbClr val="1557AE"/>
                </a:solidFill>
                <a:cs typeface="微软雅黑" charset="0"/>
              </a:rPr>
              <a:t>算法一样利用</a:t>
            </a:r>
            <a:r>
              <a:rPr lang="en-US" altLang="zh-CN" sz="2200" b="0" dirty="0" err="1">
                <a:solidFill>
                  <a:srgbClr val="1557AE"/>
                </a:solidFill>
                <a:cs typeface="微软雅黑" charset="0"/>
              </a:rPr>
              <a:t>Apriori</a:t>
            </a:r>
            <a:r>
              <a:rPr lang="en-US" altLang="zh-CN" sz="2200" b="0" dirty="0">
                <a:solidFill>
                  <a:srgbClr val="1557AE"/>
                </a:solidFill>
                <a:cs typeface="微软雅黑" charset="0"/>
              </a:rPr>
              <a:t>-gen </a:t>
            </a:r>
            <a:r>
              <a:rPr lang="zh-CN" altLang="en-US" sz="2200" b="0" dirty="0">
                <a:solidFill>
                  <a:srgbClr val="1557AE"/>
                </a:solidFill>
                <a:cs typeface="微软雅黑" charset="0"/>
              </a:rPr>
              <a:t>过程生成候选项集；</a:t>
            </a:r>
            <a:endParaRPr lang="en-US" altLang="zh-CN" sz="2200" b="0" dirty="0">
              <a:solidFill>
                <a:srgbClr val="1557AE"/>
              </a:solidFill>
              <a:cs typeface="微软雅黑" charset="0"/>
            </a:endParaRPr>
          </a:p>
          <a:p>
            <a:pPr lvl="1" eaLnBrk="1" hangingPunct="1">
              <a:lnSpc>
                <a:spcPct val="130000"/>
              </a:lnSpc>
              <a:spcBef>
                <a:spcPts val="600"/>
              </a:spcBef>
              <a:buFont typeface="Verdana" panose="020B0804030504040204" pitchFamily="34" charset="0"/>
              <a:buAutoNum type="arabicPeriod"/>
            </a:pPr>
            <a:r>
              <a:rPr lang="zh-CN" altLang="en-US" sz="2200" b="0" dirty="0">
                <a:solidFill>
                  <a:srgbClr val="1557AE"/>
                </a:solidFill>
                <a:cs typeface="微软雅黑" charset="0"/>
              </a:rPr>
              <a:t>与</a:t>
            </a:r>
            <a:r>
              <a:rPr lang="en-US" altLang="zh-CN" sz="2200" b="0" dirty="0" err="1">
                <a:solidFill>
                  <a:srgbClr val="1557AE"/>
                </a:solidFill>
                <a:cs typeface="微软雅黑" charset="0"/>
              </a:rPr>
              <a:t>Apriori</a:t>
            </a:r>
            <a:r>
              <a:rPr lang="zh-CN" altLang="en-US" sz="2200" b="0" dirty="0">
                <a:solidFill>
                  <a:srgbClr val="1557AE"/>
                </a:solidFill>
                <a:cs typeface="微软雅黑" charset="0"/>
              </a:rPr>
              <a:t>算法的重要区别是支持度的确定：仅用扫描一次数据库</a:t>
            </a:r>
            <a:endParaRPr lang="en-US" altLang="zh-CN" sz="2200" b="0" dirty="0">
              <a:solidFill>
                <a:srgbClr val="1557AE"/>
              </a:solidFill>
              <a:cs typeface="微软雅黑" charset="0"/>
            </a:endParaRPr>
          </a:p>
          <a:p>
            <a:pPr lvl="1" eaLnBrk="1" hangingPunct="1">
              <a:lnSpc>
                <a:spcPct val="130000"/>
              </a:lnSpc>
              <a:spcBef>
                <a:spcPts val="600"/>
              </a:spcBef>
              <a:buFont typeface="Verdana" panose="020B0804030504040204" pitchFamily="34" charset="0"/>
              <a:buAutoNum type="arabicPeriod"/>
            </a:pPr>
            <a:r>
              <a:rPr lang="zh-CN" altLang="en-US" sz="2200" b="0" dirty="0">
                <a:solidFill>
                  <a:srgbClr val="1557AE"/>
                </a:solidFill>
                <a:cs typeface="微软雅黑" charset="0"/>
              </a:rPr>
              <a:t>用集合</a:t>
            </a:r>
            <a:r>
              <a:rPr lang="en-US" altLang="zh-CN" sz="2200" b="0" dirty="0" err="1">
                <a:solidFill>
                  <a:srgbClr val="1557AE"/>
                </a:solidFill>
                <a:cs typeface="微软雅黑" charset="0"/>
              </a:rPr>
              <a:t>C’k</a:t>
            </a:r>
            <a:r>
              <a:rPr lang="en-US" altLang="zh-CN" sz="2200" b="0" dirty="0">
                <a:solidFill>
                  <a:srgbClr val="1557AE"/>
                </a:solidFill>
                <a:cs typeface="微软雅黑" charset="0"/>
              </a:rPr>
              <a:t> </a:t>
            </a:r>
            <a:r>
              <a:rPr lang="zh-CN" altLang="en-US" sz="2200" b="0" dirty="0">
                <a:solidFill>
                  <a:srgbClr val="1557AE"/>
                </a:solidFill>
                <a:cs typeface="微软雅黑" charset="0"/>
              </a:rPr>
              <a:t>代替数据库</a:t>
            </a:r>
            <a:r>
              <a:rPr lang="en-US" altLang="zh-CN" sz="2200" b="0" dirty="0">
                <a:solidFill>
                  <a:srgbClr val="1557AE"/>
                </a:solidFill>
                <a:cs typeface="微软雅黑" charset="0"/>
              </a:rPr>
              <a:t> </a:t>
            </a:r>
            <a:endParaRPr lang="en-US" altLang="zh-CN" sz="2200" b="0" dirty="0">
              <a:solidFill>
                <a:srgbClr val="1557AE"/>
              </a:solidFill>
              <a:cs typeface="微软雅黑" charset="0"/>
            </a:endParaRPr>
          </a:p>
          <a:p>
            <a:pPr lvl="1" eaLnBrk="1" hangingPunct="1">
              <a:lnSpc>
                <a:spcPct val="130000"/>
              </a:lnSpc>
              <a:spcBef>
                <a:spcPts val="600"/>
              </a:spcBef>
              <a:buFont typeface="Verdana" panose="020B0804030504040204" pitchFamily="34" charset="0"/>
              <a:buAutoNum type="arabicPeriod"/>
            </a:pPr>
            <a:r>
              <a:rPr lang="zh-CN" altLang="en-US" sz="2200" b="0" dirty="0">
                <a:solidFill>
                  <a:srgbClr val="1557AE"/>
                </a:solidFill>
                <a:cs typeface="微软雅黑" charset="0"/>
              </a:rPr>
              <a:t>每个</a:t>
            </a:r>
            <a:r>
              <a:rPr lang="en-US" altLang="zh-CN" sz="2200" b="0" dirty="0" err="1">
                <a:solidFill>
                  <a:srgbClr val="1557AE"/>
                </a:solidFill>
                <a:cs typeface="微软雅黑" charset="0"/>
              </a:rPr>
              <a:t>C’k</a:t>
            </a:r>
            <a:r>
              <a:rPr lang="zh-CN" altLang="en-US" sz="2200" b="0" dirty="0">
                <a:solidFill>
                  <a:srgbClr val="1557AE"/>
                </a:solidFill>
                <a:cs typeface="微软雅黑" charset="0"/>
              </a:rPr>
              <a:t>的元素形如</a:t>
            </a:r>
            <a:r>
              <a:rPr lang="en-US" altLang="zh-CN" sz="2200" b="0" dirty="0">
                <a:solidFill>
                  <a:srgbClr val="1557AE"/>
                </a:solidFill>
                <a:cs typeface="微软雅黑" charset="0"/>
              </a:rPr>
              <a:t>&lt;TID, {</a:t>
            </a:r>
            <a:r>
              <a:rPr lang="en-US" altLang="zh-CN" sz="2200" b="0" dirty="0" err="1">
                <a:solidFill>
                  <a:srgbClr val="1557AE"/>
                </a:solidFill>
                <a:cs typeface="微软雅黑" charset="0"/>
              </a:rPr>
              <a:t>X</a:t>
            </a:r>
            <a:r>
              <a:rPr lang="en-US" altLang="zh-CN" sz="2200" b="0" baseline="-25000" dirty="0" err="1">
                <a:solidFill>
                  <a:srgbClr val="1557AE"/>
                </a:solidFill>
                <a:cs typeface="微软雅黑" charset="0"/>
              </a:rPr>
              <a:t>k</a:t>
            </a:r>
            <a:r>
              <a:rPr lang="en-US" altLang="zh-CN" sz="2200" b="0" dirty="0">
                <a:solidFill>
                  <a:srgbClr val="1557AE"/>
                </a:solidFill>
                <a:cs typeface="微软雅黑" charset="0"/>
              </a:rPr>
              <a:t>} &gt;</a:t>
            </a:r>
            <a:r>
              <a:rPr lang="zh-CN" altLang="en-US" sz="2200" b="0" dirty="0">
                <a:solidFill>
                  <a:srgbClr val="1557AE"/>
                </a:solidFill>
                <a:cs typeface="微软雅黑" charset="0"/>
              </a:rPr>
              <a:t>，</a:t>
            </a:r>
            <a:r>
              <a:rPr lang="en-US" altLang="zh-CN" sz="2200" b="0" dirty="0">
                <a:solidFill>
                  <a:srgbClr val="1557AE"/>
                </a:solidFill>
                <a:cs typeface="微软雅黑" charset="0"/>
              </a:rPr>
              <a:t> </a:t>
            </a:r>
            <a:r>
              <a:rPr lang="zh-CN" altLang="en-US" sz="2200" b="0" dirty="0">
                <a:solidFill>
                  <a:srgbClr val="1557AE"/>
                </a:solidFill>
                <a:cs typeface="微软雅黑" charset="0"/>
              </a:rPr>
              <a:t>每个</a:t>
            </a:r>
            <a:r>
              <a:rPr lang="en-US" altLang="zh-CN" sz="2200" b="0" dirty="0" err="1">
                <a:solidFill>
                  <a:srgbClr val="1557AE"/>
                </a:solidFill>
                <a:cs typeface="微软雅黑" charset="0"/>
              </a:rPr>
              <a:t>X</a:t>
            </a:r>
            <a:r>
              <a:rPr lang="en-US" altLang="zh-CN" sz="2200" b="0" baseline="-25000" dirty="0" err="1">
                <a:solidFill>
                  <a:srgbClr val="1557AE"/>
                </a:solidFill>
                <a:cs typeface="微软雅黑" charset="0"/>
              </a:rPr>
              <a:t>k</a:t>
            </a:r>
            <a:r>
              <a:rPr lang="en-US" altLang="zh-CN" sz="2200" b="0" baseline="-25000" dirty="0">
                <a:solidFill>
                  <a:srgbClr val="1557AE"/>
                </a:solidFill>
                <a:cs typeface="微软雅黑" charset="0"/>
              </a:rPr>
              <a:t> </a:t>
            </a:r>
            <a:r>
              <a:rPr lang="zh-CN" altLang="en-US" sz="2200" b="0" dirty="0">
                <a:solidFill>
                  <a:srgbClr val="1557AE"/>
                </a:solidFill>
                <a:cs typeface="微软雅黑" charset="0"/>
              </a:rPr>
              <a:t>是事务</a:t>
            </a:r>
            <a:r>
              <a:rPr lang="en-US" altLang="zh-CN" sz="2200" b="0" dirty="0">
                <a:solidFill>
                  <a:srgbClr val="1557AE"/>
                </a:solidFill>
                <a:cs typeface="微软雅黑" charset="0"/>
              </a:rPr>
              <a:t> TID</a:t>
            </a:r>
            <a:r>
              <a:rPr lang="zh-CN" altLang="en-US" sz="2200" b="0" dirty="0">
                <a:solidFill>
                  <a:srgbClr val="1557AE"/>
                </a:solidFill>
                <a:cs typeface="微软雅黑" charset="0"/>
              </a:rPr>
              <a:t>包含的</a:t>
            </a:r>
            <a:r>
              <a:rPr lang="en-US" altLang="zh-CN" sz="2200" b="0" dirty="0">
                <a:solidFill>
                  <a:srgbClr val="1557AE"/>
                </a:solidFill>
                <a:cs typeface="微软雅黑" charset="0"/>
              </a:rPr>
              <a:t>k</a:t>
            </a:r>
            <a:r>
              <a:rPr lang="zh-CN" altLang="en-US" sz="2200" b="0" dirty="0">
                <a:solidFill>
                  <a:srgbClr val="1557AE"/>
                </a:solidFill>
                <a:cs typeface="微软雅黑" charset="0"/>
              </a:rPr>
              <a:t>项集</a:t>
            </a:r>
            <a:endParaRPr lang="en-US" altLang="zh-CN" sz="2200" b="0" dirty="0">
              <a:solidFill>
                <a:srgbClr val="1557AE"/>
              </a:solidFill>
              <a:cs typeface="微软雅黑" charset="0"/>
            </a:endParaRPr>
          </a:p>
          <a:p>
            <a:pPr lvl="1" eaLnBrk="1" hangingPunct="1">
              <a:lnSpc>
                <a:spcPct val="130000"/>
              </a:lnSpc>
              <a:spcBef>
                <a:spcPts val="600"/>
              </a:spcBef>
              <a:buFont typeface="Verdana" panose="020B0804030504040204" pitchFamily="34" charset="0"/>
              <a:buAutoNum type="arabicPeriod"/>
            </a:pPr>
            <a:r>
              <a:rPr lang="en-US" altLang="zh-CN" sz="2200" b="0" dirty="0">
                <a:solidFill>
                  <a:srgbClr val="1557AE"/>
                </a:solidFill>
                <a:cs typeface="微软雅黑" charset="0"/>
              </a:rPr>
              <a:t>C’1 </a:t>
            </a:r>
            <a:r>
              <a:rPr lang="zh-CN" altLang="en-US" sz="2200" b="0" dirty="0">
                <a:solidFill>
                  <a:srgbClr val="1557AE"/>
                </a:solidFill>
                <a:cs typeface="微软雅黑" charset="0"/>
              </a:rPr>
              <a:t>对应于数据库</a:t>
            </a:r>
            <a:r>
              <a:rPr lang="en-US" altLang="zh-CN" sz="2200" b="0" dirty="0">
                <a:solidFill>
                  <a:srgbClr val="1557AE"/>
                </a:solidFill>
                <a:cs typeface="微软雅黑" charset="0"/>
              </a:rPr>
              <a:t> D.</a:t>
            </a:r>
            <a:endParaRPr lang="en-US" altLang="zh-CN" sz="2200" b="0" dirty="0">
              <a:solidFill>
                <a:srgbClr val="1557AE"/>
              </a:solidFill>
              <a:cs typeface="微软雅黑" charset="0"/>
            </a:endParaRPr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22" name="Group 2"/>
          <p:cNvGraphicFramePr>
            <a:graphicFrameLocks noGrp="1"/>
          </p:cNvGraphicFramePr>
          <p:nvPr/>
        </p:nvGraphicFramePr>
        <p:xfrm>
          <a:off x="611188" y="692150"/>
          <a:ext cx="1600200" cy="1676400"/>
        </p:xfrm>
        <a:graphic>
          <a:graphicData uri="http://schemas.openxmlformats.org/drawingml/2006/table">
            <a:tbl>
              <a:tblPr/>
              <a:tblGrid>
                <a:gridCol w="990600"/>
                <a:gridCol w="609600"/>
              </a:tblGrid>
              <a:tr h="223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Items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TID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3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1 3 4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100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2 3 5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200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3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1 2 3 5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300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3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2 5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400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91544" name="Group 24"/>
          <p:cNvGraphicFramePr>
            <a:graphicFrameLocks noGrp="1"/>
          </p:cNvGraphicFramePr>
          <p:nvPr/>
        </p:nvGraphicFramePr>
        <p:xfrm>
          <a:off x="3048000" y="609600"/>
          <a:ext cx="2362200" cy="1920876"/>
        </p:xfrm>
        <a:graphic>
          <a:graphicData uri="http://schemas.openxmlformats.org/drawingml/2006/table">
            <a:tbl>
              <a:tblPr/>
              <a:tblGrid>
                <a:gridCol w="1711325"/>
                <a:gridCol w="650875"/>
              </a:tblGrid>
              <a:tr h="5793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Set-of-itemsets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TID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{ {1},{3},{4} }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100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{ {2},{3},{5} }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200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{ {1},{2},{3},{5} }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300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{ {2},{5} }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400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91566" name="Group 46"/>
          <p:cNvGraphicFramePr>
            <a:graphicFrameLocks noGrp="1"/>
          </p:cNvGraphicFramePr>
          <p:nvPr/>
        </p:nvGraphicFramePr>
        <p:xfrm>
          <a:off x="6400800" y="609600"/>
          <a:ext cx="1981200" cy="1676400"/>
        </p:xfrm>
        <a:graphic>
          <a:graphicData uri="http://schemas.openxmlformats.org/drawingml/2006/table">
            <a:tbl>
              <a:tblPr/>
              <a:tblGrid>
                <a:gridCol w="990600"/>
                <a:gridCol w="990600"/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Support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Itemset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2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{1}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3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{2}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3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{3}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3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{5}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91586" name="Group 66"/>
          <p:cNvGraphicFramePr>
            <a:graphicFrameLocks noGrp="1"/>
          </p:cNvGraphicFramePr>
          <p:nvPr/>
        </p:nvGraphicFramePr>
        <p:xfrm>
          <a:off x="755650" y="3141663"/>
          <a:ext cx="1219200" cy="2346344"/>
        </p:xfrm>
        <a:graphic>
          <a:graphicData uri="http://schemas.openxmlformats.org/drawingml/2006/table">
            <a:tbl>
              <a:tblPr/>
              <a:tblGrid>
                <a:gridCol w="1219200"/>
              </a:tblGrid>
              <a:tr h="3351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itemset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676" marB="4567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1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{1 2}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676" marB="4567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1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{1 3}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676" marB="4567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1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{1 5}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676" marB="4567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1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{2 3}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676" marB="4567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1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{2 5}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676" marB="4567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1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{3 5}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676" marB="4567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91604" name="Group 84"/>
          <p:cNvGraphicFramePr>
            <a:graphicFrameLocks noGrp="1"/>
          </p:cNvGraphicFramePr>
          <p:nvPr/>
        </p:nvGraphicFramePr>
        <p:xfrm>
          <a:off x="2971800" y="3200400"/>
          <a:ext cx="2667000" cy="1968518"/>
        </p:xfrm>
        <a:graphic>
          <a:graphicData uri="http://schemas.openxmlformats.org/drawingml/2006/table">
            <a:tbl>
              <a:tblPr/>
              <a:tblGrid>
                <a:gridCol w="1976437"/>
                <a:gridCol w="690563"/>
              </a:tblGrid>
              <a:tr h="3351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Set-of-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itemsets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671" marB="4567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TID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671" marB="456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1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{ {1 3} }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671" marB="4567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100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671" marB="456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1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{ {2 3},{2 5} {3 5} }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671" marB="4567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200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671" marB="456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77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{ {1 2},{1 3},{1 5},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{2 3}, {2 5}, {3 5} }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671" marB="4567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300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671" marB="456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1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{ {2 5} }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671" marB="4567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400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671" marB="456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91626" name="Group 106"/>
          <p:cNvGraphicFramePr>
            <a:graphicFrameLocks noGrp="1"/>
          </p:cNvGraphicFramePr>
          <p:nvPr/>
        </p:nvGraphicFramePr>
        <p:xfrm>
          <a:off x="6477000" y="3276600"/>
          <a:ext cx="1981200" cy="1676400"/>
        </p:xfrm>
        <a:graphic>
          <a:graphicData uri="http://schemas.openxmlformats.org/drawingml/2006/table">
            <a:tbl>
              <a:tblPr/>
              <a:tblGrid>
                <a:gridCol w="990600"/>
                <a:gridCol w="990600"/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Support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Itemset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2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{1 3}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3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{2 3}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3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{2 5}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2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{3 5}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91646" name="Group 126"/>
          <p:cNvGraphicFramePr>
            <a:graphicFrameLocks noGrp="1"/>
          </p:cNvGraphicFramePr>
          <p:nvPr/>
        </p:nvGraphicFramePr>
        <p:xfrm>
          <a:off x="684213" y="5949950"/>
          <a:ext cx="1219200" cy="669932"/>
        </p:xfrm>
        <a:graphic>
          <a:graphicData uri="http://schemas.openxmlformats.org/drawingml/2006/table">
            <a:tbl>
              <a:tblPr/>
              <a:tblGrid>
                <a:gridCol w="1219200"/>
              </a:tblGrid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itemset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563" marB="4556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{2 3 5}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563" marB="4556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91654" name="Group 134"/>
          <p:cNvGraphicFramePr>
            <a:graphicFrameLocks noGrp="1"/>
          </p:cNvGraphicFramePr>
          <p:nvPr/>
        </p:nvGraphicFramePr>
        <p:xfrm>
          <a:off x="2895600" y="5638800"/>
          <a:ext cx="2667000" cy="1006476"/>
        </p:xfrm>
        <a:graphic>
          <a:graphicData uri="http://schemas.openxmlformats.org/drawingml/2006/table">
            <a:tbl>
              <a:tblPr/>
              <a:tblGrid>
                <a:gridCol w="1976437"/>
                <a:gridCol w="690563"/>
              </a:tblGrid>
              <a:tr h="3354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Set-of-itemsets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749" marB="457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TID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4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{ {2 3 5} }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749" marB="457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200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4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{ {2 3 5} }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749" marB="457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300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91670" name="Group 150"/>
          <p:cNvGraphicFramePr>
            <a:graphicFrameLocks noGrp="1"/>
          </p:cNvGraphicFramePr>
          <p:nvPr/>
        </p:nvGraphicFramePr>
        <p:xfrm>
          <a:off x="6477000" y="5791200"/>
          <a:ext cx="1981200" cy="669932"/>
        </p:xfrm>
        <a:graphic>
          <a:graphicData uri="http://schemas.openxmlformats.org/drawingml/2006/table">
            <a:tbl>
              <a:tblPr/>
              <a:tblGrid>
                <a:gridCol w="990600"/>
                <a:gridCol w="990600"/>
              </a:tblGrid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Support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563" marB="4556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Itemset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563" marB="4556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2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563" marB="4556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{2 3 5}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T="45563" marB="4556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9001" name="Text Box 161"/>
          <p:cNvSpPr txBox="1">
            <a:spLocks noChangeArrowheads="1"/>
          </p:cNvSpPr>
          <p:nvPr/>
        </p:nvSpPr>
        <p:spPr bwMode="auto">
          <a:xfrm>
            <a:off x="323850" y="188913"/>
            <a:ext cx="1600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lang="en-US" altLang="zh-CN" sz="1800" b="0">
                <a:solidFill>
                  <a:srgbClr val="006699"/>
                </a:solidFill>
                <a:latin typeface="微软雅黑" charset="0"/>
                <a:ea typeface="微软雅黑" charset="0"/>
              </a:rPr>
              <a:t>Database</a:t>
            </a:r>
            <a:endParaRPr lang="en-US" altLang="zh-CN" sz="1800" b="0">
              <a:solidFill>
                <a:srgbClr val="00669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79002" name="Text Box 162"/>
          <p:cNvSpPr txBox="1">
            <a:spLocks noChangeArrowheads="1"/>
          </p:cNvSpPr>
          <p:nvPr/>
        </p:nvSpPr>
        <p:spPr bwMode="auto">
          <a:xfrm>
            <a:off x="3203575" y="188913"/>
            <a:ext cx="1295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1800" b="0">
                <a:solidFill>
                  <a:srgbClr val="006699"/>
                </a:solidFill>
                <a:latin typeface="微软雅黑" charset="0"/>
                <a:ea typeface="微软雅黑" charset="0"/>
              </a:rPr>
              <a:t>C^</a:t>
            </a:r>
            <a:r>
              <a:rPr lang="en-US" altLang="zh-CN" sz="1800" b="0" baseline="-25000">
                <a:solidFill>
                  <a:srgbClr val="006699"/>
                </a:solidFill>
                <a:latin typeface="微软雅黑" charset="0"/>
                <a:ea typeface="微软雅黑" charset="0"/>
              </a:rPr>
              <a:t>1</a:t>
            </a:r>
            <a:endParaRPr lang="en-US" altLang="zh-CN" sz="1800" b="0" baseline="-25000">
              <a:solidFill>
                <a:srgbClr val="00669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491683" name="Text Box 163"/>
          <p:cNvSpPr txBox="1">
            <a:spLocks noChangeArrowheads="1"/>
          </p:cNvSpPr>
          <p:nvPr/>
        </p:nvSpPr>
        <p:spPr bwMode="auto">
          <a:xfrm>
            <a:off x="6877050" y="27813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1800" b="0">
                <a:solidFill>
                  <a:srgbClr val="006699"/>
                </a:solidFill>
                <a:latin typeface="微软雅黑" charset="0"/>
                <a:ea typeface="微软雅黑" charset="0"/>
              </a:rPr>
              <a:t>L</a:t>
            </a:r>
            <a:r>
              <a:rPr lang="en-US" altLang="zh-CN" sz="1800" b="0" baseline="-25000">
                <a:solidFill>
                  <a:srgbClr val="006699"/>
                </a:solidFill>
                <a:latin typeface="微软雅黑" charset="0"/>
                <a:ea typeface="微软雅黑" charset="0"/>
              </a:rPr>
              <a:t>2</a:t>
            </a:r>
            <a:endParaRPr lang="en-US" altLang="zh-CN" sz="1800" b="0" baseline="-25000">
              <a:solidFill>
                <a:srgbClr val="00669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491684" name="Text Box 164"/>
          <p:cNvSpPr txBox="1">
            <a:spLocks noChangeArrowheads="1"/>
          </p:cNvSpPr>
          <p:nvPr/>
        </p:nvSpPr>
        <p:spPr bwMode="auto">
          <a:xfrm>
            <a:off x="755650" y="2636838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rtl="1" eaLnBrk="1" hangingPunct="1">
              <a:spcBef>
                <a:spcPct val="50000"/>
              </a:spcBef>
              <a:buFontTx/>
              <a:buNone/>
            </a:pPr>
            <a:r>
              <a:rPr lang="en-US" altLang="zh-CN" sz="1800" b="0">
                <a:solidFill>
                  <a:srgbClr val="006699"/>
                </a:solidFill>
                <a:latin typeface="微软雅黑" charset="0"/>
                <a:ea typeface="微软雅黑" charset="0"/>
              </a:rPr>
              <a:t>C</a:t>
            </a:r>
            <a:r>
              <a:rPr lang="en-US" altLang="zh-CN" sz="1800" b="0" baseline="-25000">
                <a:solidFill>
                  <a:srgbClr val="006699"/>
                </a:solidFill>
                <a:latin typeface="微软雅黑" charset="0"/>
                <a:ea typeface="微软雅黑" charset="0"/>
              </a:rPr>
              <a:t>2</a:t>
            </a:r>
            <a:endParaRPr lang="en-US" altLang="zh-CN" sz="1800" b="0" baseline="-25000">
              <a:solidFill>
                <a:srgbClr val="00669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491685" name="Rectangle 165"/>
          <p:cNvSpPr>
            <a:spLocks noChangeArrowheads="1"/>
          </p:cNvSpPr>
          <p:nvPr/>
        </p:nvSpPr>
        <p:spPr bwMode="auto">
          <a:xfrm>
            <a:off x="3467100" y="2708275"/>
            <a:ext cx="5016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zh-CN" sz="1800" b="0">
                <a:solidFill>
                  <a:srgbClr val="006699"/>
                </a:solidFill>
                <a:latin typeface="微软雅黑" charset="0"/>
                <a:ea typeface="微软雅黑" charset="0"/>
              </a:rPr>
              <a:t>C^</a:t>
            </a:r>
            <a:r>
              <a:rPr lang="en-US" altLang="zh-CN" sz="1800" b="0" baseline="-25000">
                <a:solidFill>
                  <a:srgbClr val="006699"/>
                </a:solidFill>
                <a:latin typeface="微软雅黑" charset="0"/>
                <a:ea typeface="微软雅黑" charset="0"/>
              </a:rPr>
              <a:t>2</a:t>
            </a:r>
            <a:endParaRPr lang="en-US" altLang="zh-CN" sz="1800" b="0" baseline="-25000">
              <a:solidFill>
                <a:srgbClr val="00669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491686" name="Rectangle 166"/>
          <p:cNvSpPr>
            <a:spLocks noChangeArrowheads="1"/>
          </p:cNvSpPr>
          <p:nvPr/>
        </p:nvSpPr>
        <p:spPr bwMode="auto">
          <a:xfrm>
            <a:off x="3400425" y="5257800"/>
            <a:ext cx="5016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zh-CN" sz="1800" b="0">
                <a:solidFill>
                  <a:srgbClr val="006699"/>
                </a:solidFill>
                <a:latin typeface="微软雅黑" charset="0"/>
                <a:ea typeface="微软雅黑" charset="0"/>
              </a:rPr>
              <a:t>C^</a:t>
            </a:r>
            <a:r>
              <a:rPr lang="en-US" altLang="zh-CN" sz="1800" b="0" baseline="-25000">
                <a:solidFill>
                  <a:srgbClr val="006699"/>
                </a:solidFill>
                <a:latin typeface="微软雅黑" charset="0"/>
                <a:ea typeface="微软雅黑" charset="0"/>
              </a:rPr>
              <a:t>3</a:t>
            </a:r>
            <a:endParaRPr lang="en-US" altLang="zh-CN" sz="1800" b="0" baseline="-25000">
              <a:solidFill>
                <a:srgbClr val="00669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79007" name="Text Box 167"/>
          <p:cNvSpPr txBox="1">
            <a:spLocks noChangeArrowheads="1"/>
          </p:cNvSpPr>
          <p:nvPr/>
        </p:nvSpPr>
        <p:spPr bwMode="auto">
          <a:xfrm>
            <a:off x="6804025" y="188913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1800" b="0">
                <a:solidFill>
                  <a:srgbClr val="006699"/>
                </a:solidFill>
                <a:latin typeface="微软雅黑" charset="0"/>
                <a:ea typeface="微软雅黑" charset="0"/>
              </a:rPr>
              <a:t>L</a:t>
            </a:r>
            <a:r>
              <a:rPr lang="en-US" altLang="zh-CN" sz="1800" b="0" baseline="-25000">
                <a:solidFill>
                  <a:srgbClr val="006699"/>
                </a:solidFill>
                <a:latin typeface="微软雅黑" charset="0"/>
                <a:ea typeface="微软雅黑" charset="0"/>
              </a:rPr>
              <a:t>1</a:t>
            </a:r>
            <a:endParaRPr lang="en-US" altLang="zh-CN" sz="1800" b="0" baseline="-25000">
              <a:solidFill>
                <a:srgbClr val="00669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491688" name="Text Box 168"/>
          <p:cNvSpPr txBox="1">
            <a:spLocks noChangeArrowheads="1"/>
          </p:cNvSpPr>
          <p:nvPr/>
        </p:nvSpPr>
        <p:spPr bwMode="auto">
          <a:xfrm>
            <a:off x="6781800" y="5257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1800" b="0">
                <a:solidFill>
                  <a:srgbClr val="006699"/>
                </a:solidFill>
                <a:latin typeface="微软雅黑" charset="0"/>
                <a:ea typeface="微软雅黑" charset="0"/>
              </a:rPr>
              <a:t>L</a:t>
            </a:r>
            <a:r>
              <a:rPr lang="en-US" altLang="zh-CN" sz="1800" b="0" baseline="-25000">
                <a:solidFill>
                  <a:srgbClr val="006699"/>
                </a:solidFill>
                <a:latin typeface="微软雅黑" charset="0"/>
                <a:ea typeface="微软雅黑" charset="0"/>
              </a:rPr>
              <a:t>3</a:t>
            </a:r>
            <a:endParaRPr lang="en-US" altLang="zh-CN" sz="1800" b="0" baseline="-25000">
              <a:solidFill>
                <a:srgbClr val="00669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491689" name="Text Box 169"/>
          <p:cNvSpPr txBox="1">
            <a:spLocks noChangeArrowheads="1"/>
          </p:cNvSpPr>
          <p:nvPr/>
        </p:nvSpPr>
        <p:spPr bwMode="auto">
          <a:xfrm>
            <a:off x="755650" y="5516563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rtl="1" eaLnBrk="1" hangingPunct="1">
              <a:spcBef>
                <a:spcPct val="50000"/>
              </a:spcBef>
              <a:buFontTx/>
              <a:buNone/>
            </a:pPr>
            <a:r>
              <a:rPr lang="en-US" altLang="zh-CN" sz="1800" b="0">
                <a:solidFill>
                  <a:srgbClr val="006699"/>
                </a:solidFill>
                <a:latin typeface="微软雅黑" charset="0"/>
                <a:ea typeface="微软雅黑" charset="0"/>
              </a:rPr>
              <a:t>C</a:t>
            </a:r>
            <a:r>
              <a:rPr lang="en-US" altLang="zh-CN" sz="1800" b="0" baseline="-25000">
                <a:solidFill>
                  <a:srgbClr val="006699"/>
                </a:solidFill>
                <a:latin typeface="微软雅黑" charset="0"/>
                <a:ea typeface="微软雅黑" charset="0"/>
              </a:rPr>
              <a:t>3</a:t>
            </a:r>
            <a:endParaRPr lang="en-US" altLang="zh-CN" sz="1800" b="0" baseline="-25000">
              <a:solidFill>
                <a:srgbClr val="006699"/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1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1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91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91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91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91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91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91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91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91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91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91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916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91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91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91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916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916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916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91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0"/>
                            </p:stCondLst>
                            <p:childTnLst>
                              <p:par>
                                <p:cTn id="6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916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916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683" grpId="0" autoUpdateAnimBg="0"/>
      <p:bldP spid="491684" grpId="0" autoUpdateAnimBg="0"/>
      <p:bldP spid="491685" grpId="0" autoUpdateAnimBg="0"/>
      <p:bldP spid="491686" grpId="0" autoUpdateAnimBg="0"/>
      <p:bldP spid="491688" grpId="0" autoUpdateAnimBg="0"/>
      <p:bldP spid="491689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412875"/>
            <a:ext cx="8353425" cy="4267200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Tx/>
              <a:buFont typeface="Wingdings" panose="05000000000000000000" pitchFamily="2" charset="2"/>
              <a:buChar char="n"/>
            </a:pPr>
            <a:r>
              <a:rPr lang="en-US" altLang="zh-CN" sz="2800" b="0" dirty="0" err="1">
                <a:solidFill>
                  <a:srgbClr val="FF0000"/>
                </a:solidFill>
                <a:cs typeface="微软雅黑" charset="0"/>
              </a:rPr>
              <a:t>Apriori</a:t>
            </a:r>
            <a:r>
              <a:rPr lang="zh-CN" altLang="en-US" sz="2800" b="0" dirty="0">
                <a:solidFill>
                  <a:srgbClr val="FF0000"/>
                </a:solidFill>
                <a:cs typeface="微软雅黑" charset="0"/>
              </a:rPr>
              <a:t>算法</a:t>
            </a:r>
            <a:endParaRPr lang="en-US" altLang="zh-CN" sz="2800" b="0" dirty="0">
              <a:solidFill>
                <a:srgbClr val="FF0000"/>
              </a:solidFill>
              <a:cs typeface="微软雅黑" charset="0"/>
            </a:endParaRPr>
          </a:p>
          <a:p>
            <a:pPr marL="838200" lvl="2" indent="-441325" eaLnBrk="1" hangingPunct="1">
              <a:lnSpc>
                <a:spcPct val="15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rgbClr val="1557AE"/>
                </a:solidFill>
                <a:cs typeface="微软雅黑" charset="0"/>
              </a:rPr>
              <a:t>计算项集的支持度需要花费大量时间，需要检查数据库中的每个事务，涉及大量</a:t>
            </a:r>
            <a:r>
              <a:rPr lang="en-US" altLang="zh-CN" sz="2400" b="0" dirty="0">
                <a:solidFill>
                  <a:srgbClr val="1557AE"/>
                </a:solidFill>
                <a:cs typeface="微软雅黑" charset="0"/>
              </a:rPr>
              <a:t>I/O</a:t>
            </a:r>
            <a:r>
              <a:rPr lang="zh-CN" altLang="en-US" sz="2400" b="0" dirty="0">
                <a:solidFill>
                  <a:srgbClr val="1557AE"/>
                </a:solidFill>
                <a:cs typeface="微软雅黑" charset="0"/>
              </a:rPr>
              <a:t>资源</a:t>
            </a:r>
            <a:endParaRPr lang="en-US" altLang="zh-CN" sz="2400" b="0" dirty="0">
              <a:solidFill>
                <a:srgbClr val="1557AE"/>
              </a:solidFill>
              <a:cs typeface="微软雅黑" charset="0"/>
            </a:endParaRPr>
          </a:p>
          <a:p>
            <a:pPr marL="342900" indent="-342900" eaLnBrk="1" hangingPunct="1">
              <a:lnSpc>
                <a:spcPct val="150000"/>
              </a:lnSpc>
              <a:buClrTx/>
              <a:buFont typeface="Wingdings" panose="05000000000000000000" pitchFamily="2" charset="2"/>
              <a:buChar char="n"/>
            </a:pPr>
            <a:r>
              <a:rPr lang="en-US" altLang="zh-CN" sz="2800" b="0" dirty="0" err="1">
                <a:solidFill>
                  <a:srgbClr val="FF0000"/>
                </a:solidFill>
                <a:cs typeface="微软雅黑" charset="0"/>
              </a:rPr>
              <a:t>AprioriTid</a:t>
            </a:r>
            <a:r>
              <a:rPr lang="zh-CN" altLang="en-US" sz="2800" b="0" dirty="0">
                <a:solidFill>
                  <a:srgbClr val="FF0000"/>
                </a:solidFill>
                <a:cs typeface="微软雅黑" charset="0"/>
              </a:rPr>
              <a:t>算法</a:t>
            </a:r>
            <a:endParaRPr lang="en-US" altLang="zh-CN" sz="2800" b="0" dirty="0">
              <a:solidFill>
                <a:srgbClr val="FF0000"/>
              </a:solidFill>
              <a:cs typeface="微软雅黑" charset="0"/>
            </a:endParaRPr>
          </a:p>
          <a:p>
            <a:pPr marL="838200" lvl="2" indent="-441325" eaLnBrk="1" hangingPunct="1">
              <a:lnSpc>
                <a:spcPct val="15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rgbClr val="1557AE"/>
                </a:solidFill>
                <a:cs typeface="微软雅黑" charset="0"/>
              </a:rPr>
              <a:t>初始阶段候选项集较大</a:t>
            </a:r>
            <a:r>
              <a:rPr lang="en-US" altLang="zh-CN" sz="2400" b="0" dirty="0">
                <a:solidFill>
                  <a:srgbClr val="1557AE"/>
                </a:solidFill>
                <a:cs typeface="微软雅黑" charset="0"/>
              </a:rPr>
              <a:t>.</a:t>
            </a:r>
            <a:r>
              <a:rPr lang="zh-CN" altLang="en-US" sz="2400" b="0" dirty="0">
                <a:solidFill>
                  <a:srgbClr val="1557AE"/>
                </a:solidFill>
                <a:cs typeface="微软雅黑" charset="0"/>
              </a:rPr>
              <a:t>时间开销和</a:t>
            </a:r>
            <a:r>
              <a:rPr lang="en-US" altLang="zh-CN" sz="2400" b="0" dirty="0">
                <a:solidFill>
                  <a:srgbClr val="1557AE"/>
                </a:solidFill>
                <a:cs typeface="微软雅黑" charset="0"/>
              </a:rPr>
              <a:t> </a:t>
            </a:r>
            <a:r>
              <a:rPr lang="en-US" altLang="zh-CN" sz="2400" b="0" dirty="0" err="1">
                <a:solidFill>
                  <a:srgbClr val="1557AE"/>
                </a:solidFill>
                <a:cs typeface="微软雅黑" charset="0"/>
              </a:rPr>
              <a:t>Apriori</a:t>
            </a:r>
            <a:r>
              <a:rPr lang="en-US" altLang="zh-CN" sz="2400" b="0" dirty="0">
                <a:solidFill>
                  <a:srgbClr val="1557AE"/>
                </a:solidFill>
                <a:cs typeface="微软雅黑" charset="0"/>
              </a:rPr>
              <a:t> </a:t>
            </a:r>
            <a:r>
              <a:rPr lang="zh-CN" altLang="en-US" sz="2400" b="0" dirty="0">
                <a:solidFill>
                  <a:srgbClr val="1557AE"/>
                </a:solidFill>
                <a:cs typeface="微软雅黑" charset="0"/>
              </a:rPr>
              <a:t>相当，并且要占用大量的内存开销</a:t>
            </a:r>
            <a:endParaRPr lang="en-US" altLang="zh-CN" sz="2400" b="0" dirty="0">
              <a:solidFill>
                <a:srgbClr val="1557AE"/>
              </a:solidFill>
              <a:cs typeface="微软雅黑" charset="0"/>
            </a:endParaRPr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484313"/>
            <a:ext cx="8353425" cy="4267200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Tx/>
              <a:buFont typeface="Wingdings" panose="05000000000000000000" pitchFamily="2" charset="2"/>
              <a:buChar char="n"/>
            </a:pPr>
            <a:r>
              <a:rPr lang="en-US" altLang="zh-CN" sz="2800" b="0">
                <a:solidFill>
                  <a:srgbClr val="FF0000"/>
                </a:solidFill>
                <a:cs typeface="微软雅黑" charset="0"/>
              </a:rPr>
              <a:t>Apriori Hybrid</a:t>
            </a:r>
            <a:r>
              <a:rPr lang="zh-CN" altLang="en-US" sz="2800" b="0">
                <a:solidFill>
                  <a:srgbClr val="FF0000"/>
                </a:solidFill>
                <a:cs typeface="微软雅黑" charset="0"/>
              </a:rPr>
              <a:t>算法</a:t>
            </a:r>
            <a:endParaRPr lang="en-US" altLang="zh-CN" sz="2800" b="0">
              <a:solidFill>
                <a:srgbClr val="FF0000"/>
              </a:solidFill>
              <a:cs typeface="微软雅黑" charset="0"/>
            </a:endParaRPr>
          </a:p>
          <a:p>
            <a:pPr marL="838200" lvl="2" indent="-441325" eaLnBrk="1" hangingPunct="1">
              <a:lnSpc>
                <a:spcPct val="15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ü"/>
            </a:pPr>
            <a:r>
              <a:rPr lang="zh-CN" altLang="en-US" sz="2400" b="0">
                <a:solidFill>
                  <a:srgbClr val="1557AE"/>
                </a:solidFill>
                <a:cs typeface="微软雅黑" charset="0"/>
              </a:rPr>
              <a:t>初始阶段</a:t>
            </a:r>
            <a:r>
              <a:rPr lang="en-US" altLang="zh-CN" sz="2400" b="0">
                <a:solidFill>
                  <a:srgbClr val="1557AE"/>
                </a:solidFill>
                <a:cs typeface="微软雅黑" charset="0"/>
              </a:rPr>
              <a:t>: </a:t>
            </a:r>
            <a:r>
              <a:rPr lang="en-US" altLang="zh-CN" sz="2400" b="0">
                <a:solidFill>
                  <a:srgbClr val="FF0000"/>
                </a:solidFill>
                <a:cs typeface="微软雅黑" charset="0"/>
              </a:rPr>
              <a:t>Apriori </a:t>
            </a:r>
            <a:r>
              <a:rPr lang="en-US" altLang="zh-CN" sz="2400" b="0">
                <a:solidFill>
                  <a:srgbClr val="0000FF"/>
                </a:solidFill>
                <a:cs typeface="微软雅黑" charset="0"/>
              </a:rPr>
              <a:t> </a:t>
            </a:r>
            <a:r>
              <a:rPr lang="zh-CN" altLang="en-US" sz="2400" b="0">
                <a:solidFill>
                  <a:srgbClr val="1557AE"/>
                </a:solidFill>
                <a:cs typeface="微软雅黑" charset="0"/>
              </a:rPr>
              <a:t>性能较好</a:t>
            </a:r>
            <a:endParaRPr lang="en-US" altLang="zh-CN" sz="2400" b="0">
              <a:solidFill>
                <a:srgbClr val="1557AE"/>
              </a:solidFill>
              <a:cs typeface="微软雅黑" charset="0"/>
            </a:endParaRPr>
          </a:p>
          <a:p>
            <a:pPr marL="838200" lvl="2" indent="-441325" eaLnBrk="1" hangingPunct="1">
              <a:lnSpc>
                <a:spcPct val="15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ü"/>
            </a:pPr>
            <a:r>
              <a:rPr lang="zh-CN" altLang="en-US" sz="2400" b="0">
                <a:solidFill>
                  <a:srgbClr val="1557AE"/>
                </a:solidFill>
                <a:cs typeface="微软雅黑" charset="0"/>
              </a:rPr>
              <a:t>后续阶段</a:t>
            </a:r>
            <a:r>
              <a:rPr lang="en-US" altLang="zh-CN" sz="2400" b="0">
                <a:solidFill>
                  <a:srgbClr val="1557AE"/>
                </a:solidFill>
                <a:cs typeface="微软雅黑" charset="0"/>
              </a:rPr>
              <a:t>: </a:t>
            </a:r>
            <a:r>
              <a:rPr lang="en-US" altLang="zh-CN" sz="2400" b="0">
                <a:solidFill>
                  <a:srgbClr val="FF0000"/>
                </a:solidFill>
                <a:cs typeface="微软雅黑" charset="0"/>
              </a:rPr>
              <a:t>AprioriTid</a:t>
            </a:r>
            <a:r>
              <a:rPr lang="zh-CN" altLang="en-US" sz="2400" b="0">
                <a:solidFill>
                  <a:srgbClr val="1557AE"/>
                </a:solidFill>
                <a:cs typeface="微软雅黑" charset="0"/>
              </a:rPr>
              <a:t>性能较好</a:t>
            </a:r>
            <a:endParaRPr lang="en-US" altLang="zh-CN" sz="2400" b="0">
              <a:solidFill>
                <a:srgbClr val="1557AE"/>
              </a:solidFill>
              <a:cs typeface="微软雅黑" charset="0"/>
            </a:endParaRPr>
          </a:p>
          <a:p>
            <a:pPr marL="838200" lvl="2" indent="-441325" eaLnBrk="1" hangingPunct="1">
              <a:lnSpc>
                <a:spcPct val="15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2400" b="0">
                <a:solidFill>
                  <a:srgbClr val="FF0000"/>
                </a:solidFill>
                <a:cs typeface="微软雅黑" charset="0"/>
              </a:rPr>
              <a:t>Apriori Hybrid:</a:t>
            </a:r>
            <a:endParaRPr lang="en-US" altLang="zh-CN" sz="2400" b="0">
              <a:solidFill>
                <a:srgbClr val="FF0000"/>
              </a:solidFill>
              <a:cs typeface="微软雅黑" charset="0"/>
            </a:endParaRPr>
          </a:p>
          <a:p>
            <a:pPr lvl="1" eaLnBrk="1" hangingPunct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 b="0">
                <a:solidFill>
                  <a:srgbClr val="1557AE"/>
                </a:solidFill>
                <a:cs typeface="微软雅黑" charset="0"/>
              </a:rPr>
              <a:t>在初始阶段使用</a:t>
            </a:r>
            <a:r>
              <a:rPr lang="en-US" altLang="zh-CN" sz="2000" b="0">
                <a:solidFill>
                  <a:srgbClr val="FF0000"/>
                </a:solidFill>
                <a:cs typeface="微软雅黑" charset="0"/>
              </a:rPr>
              <a:t>Apriori</a:t>
            </a:r>
            <a:r>
              <a:rPr lang="zh-CN" altLang="en-US" sz="2000" b="0">
                <a:solidFill>
                  <a:srgbClr val="1557AE"/>
                </a:solidFill>
                <a:cs typeface="微软雅黑" charset="0"/>
              </a:rPr>
              <a:t>算法，后续使用</a:t>
            </a:r>
            <a:r>
              <a:rPr lang="en-US" altLang="zh-CN" sz="2000" b="0">
                <a:solidFill>
                  <a:srgbClr val="FF0000"/>
                </a:solidFill>
                <a:cs typeface="微软雅黑" charset="0"/>
              </a:rPr>
              <a:t>AprioriTid</a:t>
            </a:r>
            <a:r>
              <a:rPr lang="zh-CN" altLang="en-US" sz="2000" b="0">
                <a:solidFill>
                  <a:srgbClr val="1557AE"/>
                </a:solidFill>
                <a:cs typeface="微软雅黑" charset="0"/>
              </a:rPr>
              <a:t>算法</a:t>
            </a:r>
            <a:endParaRPr lang="en-US" altLang="zh-CN" sz="2000" b="0">
              <a:solidFill>
                <a:srgbClr val="1557AE"/>
              </a:solidFill>
              <a:cs typeface="微软雅黑" charset="0"/>
            </a:endParaRPr>
          </a:p>
          <a:p>
            <a:pPr lvl="1" eaLnBrk="1" hangingPunct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 b="0">
                <a:solidFill>
                  <a:srgbClr val="1557AE"/>
                </a:solidFill>
                <a:cs typeface="微软雅黑" charset="0"/>
              </a:rPr>
              <a:t>缺点</a:t>
            </a:r>
            <a:r>
              <a:rPr lang="en-US" altLang="zh-CN" sz="2000" b="0">
                <a:solidFill>
                  <a:srgbClr val="1557AE"/>
                </a:solidFill>
                <a:cs typeface="微软雅黑" charset="0"/>
              </a:rPr>
              <a:t>: </a:t>
            </a:r>
            <a:r>
              <a:rPr lang="en-US" altLang="zh-CN" sz="2000" b="0">
                <a:solidFill>
                  <a:srgbClr val="FF0000"/>
                </a:solidFill>
                <a:cs typeface="微软雅黑" charset="0"/>
              </a:rPr>
              <a:t>Apriori </a:t>
            </a:r>
            <a:r>
              <a:rPr lang="zh-CN" altLang="en-US" sz="2000" b="0">
                <a:solidFill>
                  <a:srgbClr val="1557AE"/>
                </a:solidFill>
                <a:cs typeface="微软雅黑" charset="0"/>
              </a:rPr>
              <a:t>向</a:t>
            </a:r>
            <a:r>
              <a:rPr lang="en-US" altLang="zh-CN" sz="2000" b="0">
                <a:solidFill>
                  <a:srgbClr val="FF0000"/>
                </a:solidFill>
                <a:cs typeface="微软雅黑" charset="0"/>
              </a:rPr>
              <a:t>AprioriTid</a:t>
            </a:r>
            <a:r>
              <a:rPr lang="zh-CN" altLang="en-US" sz="2000" b="0">
                <a:solidFill>
                  <a:srgbClr val="1557AE"/>
                </a:solidFill>
                <a:cs typeface="微软雅黑" charset="0"/>
              </a:rPr>
              <a:t>过度会带来额外开销</a:t>
            </a:r>
            <a:endParaRPr lang="en-US" altLang="zh-CN" sz="2000" b="0">
              <a:solidFill>
                <a:srgbClr val="1557AE"/>
              </a:solidFill>
              <a:cs typeface="微软雅黑" charset="0"/>
            </a:endParaRPr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557338"/>
            <a:ext cx="8001000" cy="4267200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  <a:defRPr/>
            </a:pPr>
            <a:r>
              <a:rPr lang="zh-CN" altLang="en-US" sz="2800" b="0" dirty="0">
                <a:solidFill>
                  <a:srgbClr val="FF0000"/>
                </a:solidFill>
                <a:cs typeface="微软雅黑" charset="0"/>
              </a:rPr>
              <a:t>关联规则的兴趣度度量</a:t>
            </a:r>
            <a:endParaRPr lang="en-US" altLang="zh-CN" sz="2800" b="0" dirty="0">
              <a:solidFill>
                <a:srgbClr val="FF0000"/>
              </a:solidFill>
              <a:cs typeface="微软雅黑" charset="0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b="0" dirty="0">
                <a:solidFill>
                  <a:srgbClr val="FF0000"/>
                </a:solidFill>
                <a:cs typeface="微软雅黑" charset="0"/>
              </a:rPr>
              <a:t>客观度量</a:t>
            </a:r>
            <a:r>
              <a:rPr lang="en-US" altLang="zh-CN" sz="2400" b="0" dirty="0">
                <a:solidFill>
                  <a:srgbClr val="FF0000"/>
                </a:solidFill>
                <a:cs typeface="微软雅黑" charset="0"/>
              </a:rPr>
              <a:t>: </a:t>
            </a:r>
            <a:r>
              <a:rPr lang="zh-CN" altLang="en-US" sz="2000" b="0" dirty="0">
                <a:solidFill>
                  <a:srgbClr val="1557AE"/>
                </a:solidFill>
                <a:cs typeface="微软雅黑" charset="0"/>
              </a:rPr>
              <a:t>支持度、置信度</a:t>
            </a:r>
            <a:endParaRPr lang="zh-CN" altLang="en-US" sz="2000" b="0" dirty="0">
              <a:solidFill>
                <a:srgbClr val="1557AE"/>
              </a:solidFill>
              <a:cs typeface="微软雅黑" charset="0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b="0" dirty="0">
                <a:solidFill>
                  <a:srgbClr val="FF0000"/>
                </a:solidFill>
                <a:cs typeface="微软雅黑" charset="0"/>
              </a:rPr>
              <a:t>主观度量：</a:t>
            </a:r>
            <a:r>
              <a:rPr lang="zh-CN" altLang="en-US" sz="2000" b="0" dirty="0">
                <a:solidFill>
                  <a:srgbClr val="1557AE"/>
                </a:solidFill>
                <a:cs typeface="微软雅黑" charset="0"/>
              </a:rPr>
              <a:t>最终，只有用户才能确定一个规则是否有趣的，而且这种判断是主观的，因不同的用户而异；通常认为一个规则（模式）是有趣的，如果：</a:t>
            </a:r>
            <a:endParaRPr lang="zh-CN" altLang="en-US" sz="2000" b="0" dirty="0">
              <a:solidFill>
                <a:srgbClr val="1557AE"/>
              </a:solidFill>
              <a:cs typeface="微软雅黑" charset="0"/>
            </a:endParaRPr>
          </a:p>
          <a:p>
            <a:pPr lvl="2" eaLnBrk="1" hangingPunct="1">
              <a:lnSpc>
                <a:spcPct val="120000"/>
              </a:lnSpc>
              <a:spcBef>
                <a:spcPts val="600"/>
              </a:spcBef>
              <a:buFont typeface="Arial" panose="020B0604020202090204" pitchFamily="34" charset="0"/>
              <a:buChar char="•"/>
              <a:defRPr/>
            </a:pPr>
            <a:r>
              <a:rPr lang="zh-CN" altLang="en-US" sz="2000" b="0" dirty="0">
                <a:solidFill>
                  <a:srgbClr val="1557AE"/>
                </a:solidFill>
                <a:cs typeface="微软雅黑" charset="0"/>
              </a:rPr>
              <a:t>它是出人意料的</a:t>
            </a:r>
            <a:endParaRPr lang="zh-CN" altLang="en-US" sz="2000" b="0" dirty="0">
              <a:solidFill>
                <a:srgbClr val="1557AE"/>
              </a:solidFill>
              <a:cs typeface="微软雅黑" charset="0"/>
            </a:endParaRPr>
          </a:p>
          <a:p>
            <a:pPr lvl="2" eaLnBrk="1" hangingPunct="1">
              <a:lnSpc>
                <a:spcPct val="120000"/>
              </a:lnSpc>
              <a:spcBef>
                <a:spcPts val="600"/>
              </a:spcBef>
              <a:buFont typeface="Arial" panose="020B0604020202090204" pitchFamily="34" charset="0"/>
              <a:buChar char="•"/>
              <a:defRPr/>
            </a:pPr>
            <a:r>
              <a:rPr lang="zh-CN" altLang="en-US" sz="2000" b="0" dirty="0">
                <a:solidFill>
                  <a:srgbClr val="1557AE"/>
                </a:solidFill>
                <a:cs typeface="微软雅黑" charset="0"/>
              </a:rPr>
              <a:t>可行动的（用户可以使用该规则做某些事情）</a:t>
            </a:r>
            <a:endParaRPr lang="zh-CN" altLang="en-US" sz="2000" b="0" dirty="0">
              <a:solidFill>
                <a:srgbClr val="1557AE"/>
              </a:solidFill>
              <a:cs typeface="微软雅黑" charset="0"/>
            </a:endParaRPr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412875"/>
            <a:ext cx="8353425" cy="4267200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  <a:defRPr/>
            </a:pPr>
            <a:r>
              <a:rPr lang="zh-CN" altLang="en-US" sz="2800" b="0" dirty="0">
                <a:solidFill>
                  <a:srgbClr val="FF0000"/>
                </a:solidFill>
              </a:rPr>
              <a:t>关联规则可视化</a:t>
            </a:r>
            <a:endParaRPr lang="en-US" altLang="zh-CN" sz="2800" b="0" dirty="0">
              <a:solidFill>
                <a:srgbClr val="FF0000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b="0" dirty="0">
                <a:solidFill>
                  <a:srgbClr val="FF0000"/>
                </a:solidFill>
              </a:rPr>
              <a:t>表格</a:t>
            </a:r>
            <a:endParaRPr lang="zh-CN" altLang="en-US" sz="2400" b="0" dirty="0">
              <a:solidFill>
                <a:srgbClr val="FF0000"/>
              </a:solidFill>
            </a:endParaRPr>
          </a:p>
        </p:txBody>
      </p:sp>
      <p:pic>
        <p:nvPicPr>
          <p:cNvPr id="83971" name="table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578100"/>
            <a:ext cx="8135938" cy="217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972" name="AutoShape 1060"/>
          <p:cNvSpPr>
            <a:spLocks noChangeArrowheads="1"/>
          </p:cNvSpPr>
          <p:nvPr/>
        </p:nvSpPr>
        <p:spPr bwMode="auto">
          <a:xfrm>
            <a:off x="2843213" y="3314700"/>
            <a:ext cx="431800" cy="288925"/>
          </a:xfrm>
          <a:prstGeom prst="rightArrow">
            <a:avLst>
              <a:gd name="adj1" fmla="val 50000"/>
              <a:gd name="adj2" fmla="val 37363"/>
            </a:avLst>
          </a:prstGeom>
          <a:noFill/>
          <a:ln w="254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latin typeface="微软雅黑" charset="0"/>
              <a:ea typeface="微软雅黑" charset="0"/>
            </a:endParaRPr>
          </a:p>
        </p:txBody>
      </p:sp>
      <p:sp>
        <p:nvSpPr>
          <p:cNvPr id="83973" name="AutoShape 1061"/>
          <p:cNvSpPr>
            <a:spLocks noChangeArrowheads="1"/>
          </p:cNvSpPr>
          <p:nvPr/>
        </p:nvSpPr>
        <p:spPr bwMode="auto">
          <a:xfrm>
            <a:off x="2844800" y="3860800"/>
            <a:ext cx="431800" cy="288925"/>
          </a:xfrm>
          <a:prstGeom prst="rightArrow">
            <a:avLst>
              <a:gd name="adj1" fmla="val 50000"/>
              <a:gd name="adj2" fmla="val 37363"/>
            </a:avLst>
          </a:prstGeom>
          <a:noFill/>
          <a:ln w="254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latin typeface="微软雅黑" charset="0"/>
              <a:ea typeface="微软雅黑" charset="0"/>
            </a:endParaRPr>
          </a:p>
        </p:txBody>
      </p:sp>
      <p:sp>
        <p:nvSpPr>
          <p:cNvPr id="83974" name="AutoShape 1062"/>
          <p:cNvSpPr>
            <a:spLocks noChangeArrowheads="1"/>
          </p:cNvSpPr>
          <p:nvPr/>
        </p:nvSpPr>
        <p:spPr bwMode="auto">
          <a:xfrm>
            <a:off x="2844800" y="4365625"/>
            <a:ext cx="431800" cy="288925"/>
          </a:xfrm>
          <a:prstGeom prst="rightArrow">
            <a:avLst>
              <a:gd name="adj1" fmla="val 50000"/>
              <a:gd name="adj2" fmla="val 37363"/>
            </a:avLst>
          </a:prstGeom>
          <a:noFill/>
          <a:ln w="254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latin typeface="微软雅黑" charset="0"/>
              <a:ea typeface="微软雅黑" charset="0"/>
            </a:endParaRPr>
          </a:p>
        </p:txBody>
      </p:sp>
      <p:sp>
        <p:nvSpPr>
          <p:cNvPr id="8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3"/>
          <p:cNvSpPr>
            <a:spLocks noGrp="1" noChangeArrowheads="1"/>
          </p:cNvSpPr>
          <p:nvPr>
            <p:ph idx="1"/>
          </p:nvPr>
        </p:nvSpPr>
        <p:spPr>
          <a:xfrm>
            <a:off x="496680" y="1268760"/>
            <a:ext cx="8353425" cy="4267200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  <a:defRPr/>
            </a:pPr>
            <a:r>
              <a:rPr lang="zh-CN" altLang="en-US" sz="2800" b="0" dirty="0">
                <a:solidFill>
                  <a:srgbClr val="FF0000"/>
                </a:solidFill>
              </a:rPr>
              <a:t>关联规则可视化</a:t>
            </a:r>
            <a:endParaRPr lang="en-US" altLang="zh-CN" sz="2800" b="0" dirty="0">
              <a:solidFill>
                <a:srgbClr val="FF0000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b="0" dirty="0">
                <a:solidFill>
                  <a:srgbClr val="FF0000"/>
                </a:solidFill>
              </a:rPr>
              <a:t>有向图</a:t>
            </a:r>
            <a:endParaRPr lang="zh-CN" altLang="en-US" sz="2400" b="0" dirty="0">
              <a:solidFill>
                <a:srgbClr val="FF0000"/>
              </a:solidFill>
            </a:endParaRPr>
          </a:p>
        </p:txBody>
      </p:sp>
      <p:sp>
        <p:nvSpPr>
          <p:cNvPr id="84995" name="AutoShape 4"/>
          <p:cNvSpPr>
            <a:spLocks noChangeArrowheads="1"/>
          </p:cNvSpPr>
          <p:nvPr/>
        </p:nvSpPr>
        <p:spPr bwMode="auto">
          <a:xfrm>
            <a:off x="744330" y="2324448"/>
            <a:ext cx="707214" cy="576262"/>
          </a:xfrm>
          <a:prstGeom prst="flowChartConnector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latin typeface="微软雅黑" charset="0"/>
              <a:ea typeface="微软雅黑" charset="0"/>
            </a:endParaRPr>
          </a:p>
        </p:txBody>
      </p:sp>
      <p:sp>
        <p:nvSpPr>
          <p:cNvPr id="84996" name="AutoShape 5"/>
          <p:cNvSpPr>
            <a:spLocks noChangeArrowheads="1"/>
          </p:cNvSpPr>
          <p:nvPr/>
        </p:nvSpPr>
        <p:spPr bwMode="auto">
          <a:xfrm>
            <a:off x="744330" y="4700935"/>
            <a:ext cx="707214" cy="576263"/>
          </a:xfrm>
          <a:prstGeom prst="flowChartConnector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latin typeface="微软雅黑" charset="0"/>
              <a:ea typeface="微软雅黑" charset="0"/>
            </a:endParaRPr>
          </a:p>
        </p:txBody>
      </p:sp>
      <p:sp>
        <p:nvSpPr>
          <p:cNvPr id="84997" name="AutoShape 6"/>
          <p:cNvSpPr>
            <a:spLocks noChangeArrowheads="1"/>
          </p:cNvSpPr>
          <p:nvPr/>
        </p:nvSpPr>
        <p:spPr bwMode="auto">
          <a:xfrm>
            <a:off x="2976355" y="2900710"/>
            <a:ext cx="707214" cy="576263"/>
          </a:xfrm>
          <a:prstGeom prst="flowChartConnector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latin typeface="微软雅黑" charset="0"/>
              <a:ea typeface="微软雅黑" charset="0"/>
            </a:endParaRPr>
          </a:p>
        </p:txBody>
      </p:sp>
      <p:sp>
        <p:nvSpPr>
          <p:cNvPr id="84998" name="AutoShape 7"/>
          <p:cNvSpPr>
            <a:spLocks noChangeArrowheads="1"/>
          </p:cNvSpPr>
          <p:nvPr/>
        </p:nvSpPr>
        <p:spPr bwMode="auto">
          <a:xfrm>
            <a:off x="2976355" y="4196110"/>
            <a:ext cx="707214" cy="576263"/>
          </a:xfrm>
          <a:prstGeom prst="flowChartConnector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latin typeface="微软雅黑" charset="0"/>
              <a:ea typeface="微软雅黑" charset="0"/>
            </a:endParaRPr>
          </a:p>
        </p:txBody>
      </p:sp>
      <p:sp>
        <p:nvSpPr>
          <p:cNvPr id="84999" name="Text Box 8"/>
          <p:cNvSpPr txBox="1">
            <a:spLocks noChangeArrowheads="1"/>
          </p:cNvSpPr>
          <p:nvPr/>
        </p:nvSpPr>
        <p:spPr bwMode="auto">
          <a:xfrm>
            <a:off x="815768" y="2900710"/>
            <a:ext cx="133642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1557AE"/>
                </a:solidFill>
                <a:latin typeface="微软雅黑" charset="0"/>
                <a:ea typeface="微软雅黑" charset="0"/>
              </a:rPr>
              <a:t>PC	</a:t>
            </a:r>
            <a:endParaRPr lang="en-US" altLang="zh-CN" sz="2400" b="0">
              <a:solidFill>
                <a:srgbClr val="1557AE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85000" name="Text Box 9"/>
          <p:cNvSpPr txBox="1">
            <a:spLocks noChangeArrowheads="1"/>
          </p:cNvSpPr>
          <p:nvPr/>
        </p:nvSpPr>
        <p:spPr bwMode="auto">
          <a:xfrm>
            <a:off x="2760455" y="3476973"/>
            <a:ext cx="133642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1557AE"/>
                </a:solidFill>
                <a:latin typeface="微软雅黑" charset="0"/>
                <a:ea typeface="微软雅黑" charset="0"/>
              </a:rPr>
              <a:t>Printer</a:t>
            </a:r>
            <a:endParaRPr lang="en-US" altLang="zh-CN" sz="2400" b="0">
              <a:solidFill>
                <a:srgbClr val="1557AE"/>
              </a:solidFill>
              <a:latin typeface="微软雅黑" charset="0"/>
              <a:ea typeface="微软雅黑" charset="0"/>
            </a:endParaRPr>
          </a:p>
        </p:txBody>
      </p:sp>
      <p:cxnSp>
        <p:nvCxnSpPr>
          <p:cNvPr id="85001" name="AutoShape 10"/>
          <p:cNvCxnSpPr>
            <a:cxnSpLocks noChangeShapeType="1"/>
            <a:stCxn id="84995" idx="6"/>
            <a:endCxn id="84997" idx="2"/>
          </p:cNvCxnSpPr>
          <p:nvPr/>
        </p:nvCxnSpPr>
        <p:spPr bwMode="auto">
          <a:xfrm>
            <a:off x="1451544" y="2612579"/>
            <a:ext cx="1524811" cy="57626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02" name="Text Box 11"/>
          <p:cNvSpPr txBox="1">
            <a:spLocks noChangeArrowheads="1"/>
          </p:cNvSpPr>
          <p:nvPr/>
        </p:nvSpPr>
        <p:spPr bwMode="auto">
          <a:xfrm>
            <a:off x="2760455" y="4748560"/>
            <a:ext cx="133642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1557AE"/>
                </a:solidFill>
                <a:latin typeface="微软雅黑" charset="0"/>
                <a:ea typeface="微软雅黑" charset="0"/>
              </a:rPr>
              <a:t>Printer</a:t>
            </a:r>
            <a:endParaRPr lang="en-US" altLang="zh-CN" sz="2400" b="0">
              <a:solidFill>
                <a:srgbClr val="1557AE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85003" name="Text Box 12"/>
          <p:cNvSpPr txBox="1">
            <a:spLocks noChangeArrowheads="1"/>
          </p:cNvSpPr>
          <p:nvPr/>
        </p:nvSpPr>
        <p:spPr bwMode="auto">
          <a:xfrm>
            <a:off x="815768" y="5324823"/>
            <a:ext cx="133642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1557AE"/>
                </a:solidFill>
                <a:latin typeface="微软雅黑" charset="0"/>
                <a:ea typeface="微软雅黑" charset="0"/>
              </a:rPr>
              <a:t>PC </a:t>
            </a:r>
            <a:endParaRPr lang="en-US" altLang="zh-CN" sz="2400" b="0">
              <a:solidFill>
                <a:srgbClr val="1557AE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85004" name="AutoShape 13"/>
          <p:cNvSpPr>
            <a:spLocks noChangeArrowheads="1"/>
          </p:cNvSpPr>
          <p:nvPr/>
        </p:nvSpPr>
        <p:spPr bwMode="auto">
          <a:xfrm>
            <a:off x="2976355" y="5277198"/>
            <a:ext cx="707214" cy="576262"/>
          </a:xfrm>
          <a:prstGeom prst="flowChartConnector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latin typeface="微软雅黑" charset="0"/>
              <a:ea typeface="微软雅黑" charset="0"/>
            </a:endParaRPr>
          </a:p>
        </p:txBody>
      </p:sp>
      <p:sp>
        <p:nvSpPr>
          <p:cNvPr id="85005" name="Text Box 14"/>
          <p:cNvSpPr txBox="1">
            <a:spLocks noChangeArrowheads="1"/>
          </p:cNvSpPr>
          <p:nvPr/>
        </p:nvSpPr>
        <p:spPr bwMode="auto">
          <a:xfrm>
            <a:off x="2689018" y="5828060"/>
            <a:ext cx="14941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1557AE"/>
                </a:solidFill>
                <a:latin typeface="微软雅黑" charset="0"/>
                <a:ea typeface="微软雅黑" charset="0"/>
              </a:rPr>
              <a:t>Monitor</a:t>
            </a:r>
            <a:endParaRPr lang="en-US" altLang="zh-CN" sz="2400" b="0">
              <a:solidFill>
                <a:srgbClr val="1557AE"/>
              </a:solidFill>
              <a:latin typeface="微软雅黑" charset="0"/>
              <a:ea typeface="微软雅黑" charset="0"/>
            </a:endParaRPr>
          </a:p>
        </p:txBody>
      </p:sp>
      <p:cxnSp>
        <p:nvCxnSpPr>
          <p:cNvPr id="85006" name="AutoShape 15"/>
          <p:cNvCxnSpPr>
            <a:cxnSpLocks noChangeShapeType="1"/>
            <a:stCxn id="84996" idx="6"/>
            <a:endCxn id="84998" idx="2"/>
          </p:cNvCxnSpPr>
          <p:nvPr/>
        </p:nvCxnSpPr>
        <p:spPr bwMode="auto">
          <a:xfrm flipV="1">
            <a:off x="1451544" y="4484242"/>
            <a:ext cx="1524811" cy="50482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7" name="AutoShape 16"/>
          <p:cNvCxnSpPr>
            <a:cxnSpLocks noChangeShapeType="1"/>
            <a:stCxn id="84996" idx="6"/>
            <a:endCxn id="85004" idx="2"/>
          </p:cNvCxnSpPr>
          <p:nvPr/>
        </p:nvCxnSpPr>
        <p:spPr bwMode="auto">
          <a:xfrm>
            <a:off x="1451544" y="4989067"/>
            <a:ext cx="1524811" cy="5762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08" name="Text Box 17"/>
          <p:cNvSpPr txBox="1">
            <a:spLocks noChangeArrowheads="1"/>
          </p:cNvSpPr>
          <p:nvPr/>
        </p:nvSpPr>
        <p:spPr bwMode="auto">
          <a:xfrm>
            <a:off x="7584868" y="4269135"/>
            <a:ext cx="133642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1557AE"/>
                </a:solidFill>
                <a:latin typeface="微软雅黑" charset="0"/>
                <a:ea typeface="微软雅黑" charset="0"/>
              </a:rPr>
              <a:t>PC</a:t>
            </a:r>
            <a:endParaRPr lang="en-US" altLang="zh-CN" sz="2400" b="0">
              <a:solidFill>
                <a:srgbClr val="1557AE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85009" name="AutoShape 18"/>
          <p:cNvSpPr>
            <a:spLocks noChangeArrowheads="1"/>
          </p:cNvSpPr>
          <p:nvPr/>
        </p:nvSpPr>
        <p:spPr bwMode="auto">
          <a:xfrm>
            <a:off x="7800768" y="3621435"/>
            <a:ext cx="707214" cy="576263"/>
          </a:xfrm>
          <a:prstGeom prst="flowChartConnector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latin typeface="微软雅黑" charset="0"/>
              <a:ea typeface="微软雅黑" charset="0"/>
            </a:endParaRPr>
          </a:p>
        </p:txBody>
      </p:sp>
      <p:sp>
        <p:nvSpPr>
          <p:cNvPr id="85010" name="AutoShape 19"/>
          <p:cNvSpPr>
            <a:spLocks noChangeArrowheads="1"/>
          </p:cNvSpPr>
          <p:nvPr/>
        </p:nvSpPr>
        <p:spPr bwMode="auto">
          <a:xfrm>
            <a:off x="5136943" y="3116610"/>
            <a:ext cx="707214" cy="576263"/>
          </a:xfrm>
          <a:prstGeom prst="flowChartConnector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latin typeface="微软雅黑" charset="0"/>
              <a:ea typeface="微软雅黑" charset="0"/>
            </a:endParaRPr>
          </a:p>
        </p:txBody>
      </p:sp>
      <p:sp>
        <p:nvSpPr>
          <p:cNvPr id="85011" name="AutoShape 20"/>
          <p:cNvSpPr>
            <a:spLocks noChangeArrowheads="1"/>
          </p:cNvSpPr>
          <p:nvPr/>
        </p:nvSpPr>
        <p:spPr bwMode="auto">
          <a:xfrm>
            <a:off x="5136943" y="4269135"/>
            <a:ext cx="707214" cy="576263"/>
          </a:xfrm>
          <a:prstGeom prst="flowChartConnector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latin typeface="微软雅黑" charset="0"/>
              <a:ea typeface="微软雅黑" charset="0"/>
            </a:endParaRPr>
          </a:p>
        </p:txBody>
      </p:sp>
      <p:sp>
        <p:nvSpPr>
          <p:cNvPr id="85012" name="Text Box 21"/>
          <p:cNvSpPr txBox="1">
            <a:spLocks noChangeArrowheads="1"/>
          </p:cNvSpPr>
          <p:nvPr/>
        </p:nvSpPr>
        <p:spPr bwMode="auto">
          <a:xfrm>
            <a:off x="4848018" y="3692873"/>
            <a:ext cx="157216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1557AE"/>
                </a:solidFill>
                <a:latin typeface="微软雅黑" charset="0"/>
                <a:ea typeface="微软雅黑" charset="0"/>
              </a:rPr>
              <a:t>Monitor </a:t>
            </a:r>
            <a:endParaRPr lang="en-US" altLang="zh-CN" sz="2400" b="0">
              <a:solidFill>
                <a:srgbClr val="1557AE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85013" name="Text Box 22"/>
          <p:cNvSpPr txBox="1">
            <a:spLocks noChangeArrowheads="1"/>
          </p:cNvSpPr>
          <p:nvPr/>
        </p:nvSpPr>
        <p:spPr bwMode="auto">
          <a:xfrm>
            <a:off x="4921043" y="4845398"/>
            <a:ext cx="133642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1557AE"/>
                </a:solidFill>
                <a:latin typeface="微软雅黑" charset="0"/>
                <a:ea typeface="微软雅黑" charset="0"/>
              </a:rPr>
              <a:t>Printer</a:t>
            </a:r>
            <a:endParaRPr lang="en-US" altLang="zh-CN" sz="2400" b="0">
              <a:solidFill>
                <a:srgbClr val="1557AE"/>
              </a:solidFill>
              <a:latin typeface="微软雅黑" charset="0"/>
              <a:ea typeface="微软雅黑" charset="0"/>
            </a:endParaRPr>
          </a:p>
        </p:txBody>
      </p:sp>
      <p:cxnSp>
        <p:nvCxnSpPr>
          <p:cNvPr id="85014" name="AutoShape 23"/>
          <p:cNvCxnSpPr>
            <a:cxnSpLocks noChangeShapeType="1"/>
            <a:stCxn id="85010" idx="6"/>
            <a:endCxn id="85009" idx="2"/>
          </p:cNvCxnSpPr>
          <p:nvPr/>
        </p:nvCxnSpPr>
        <p:spPr bwMode="auto">
          <a:xfrm>
            <a:off x="5844157" y="3404742"/>
            <a:ext cx="1956611" cy="50482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5" name="AutoShape 24"/>
          <p:cNvCxnSpPr>
            <a:cxnSpLocks noChangeShapeType="1"/>
            <a:stCxn id="85011" idx="6"/>
            <a:endCxn id="85009" idx="2"/>
          </p:cNvCxnSpPr>
          <p:nvPr/>
        </p:nvCxnSpPr>
        <p:spPr bwMode="auto">
          <a:xfrm flipV="1">
            <a:off x="5844157" y="3909567"/>
            <a:ext cx="1956611" cy="6477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6" name="AutoShape 25"/>
          <p:cNvSpPr>
            <a:spLocks noChangeArrowheads="1"/>
          </p:cNvSpPr>
          <p:nvPr/>
        </p:nvSpPr>
        <p:spPr bwMode="auto">
          <a:xfrm>
            <a:off x="744330" y="3405535"/>
            <a:ext cx="707214" cy="576263"/>
          </a:xfrm>
          <a:prstGeom prst="flowChartConnector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latin typeface="微软雅黑" charset="0"/>
              <a:ea typeface="微软雅黑" charset="0"/>
            </a:endParaRPr>
          </a:p>
        </p:txBody>
      </p:sp>
      <p:sp>
        <p:nvSpPr>
          <p:cNvPr id="85017" name="Text Box 26"/>
          <p:cNvSpPr txBox="1">
            <a:spLocks noChangeArrowheads="1"/>
          </p:cNvSpPr>
          <p:nvPr/>
        </p:nvSpPr>
        <p:spPr bwMode="auto">
          <a:xfrm>
            <a:off x="528430" y="3981798"/>
            <a:ext cx="1494163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1557AE"/>
                </a:solidFill>
                <a:latin typeface="微软雅黑" charset="0"/>
                <a:ea typeface="微软雅黑" charset="0"/>
              </a:rPr>
              <a:t>Monitor	</a:t>
            </a:r>
            <a:endParaRPr lang="en-US" altLang="zh-CN" sz="2400" b="0">
              <a:solidFill>
                <a:srgbClr val="1557AE"/>
              </a:solidFill>
              <a:latin typeface="微软雅黑" charset="0"/>
              <a:ea typeface="微软雅黑" charset="0"/>
            </a:endParaRPr>
          </a:p>
        </p:txBody>
      </p:sp>
      <p:cxnSp>
        <p:nvCxnSpPr>
          <p:cNvPr id="85018" name="AutoShape 27"/>
          <p:cNvCxnSpPr>
            <a:cxnSpLocks noChangeShapeType="1"/>
            <a:stCxn id="85016" idx="6"/>
            <a:endCxn id="84997" idx="2"/>
          </p:cNvCxnSpPr>
          <p:nvPr/>
        </p:nvCxnSpPr>
        <p:spPr bwMode="auto">
          <a:xfrm flipV="1">
            <a:off x="1451544" y="3188842"/>
            <a:ext cx="1524811" cy="50482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74675" y="304800"/>
            <a:ext cx="8001000" cy="892175"/>
          </a:xfrm>
        </p:spPr>
        <p:txBody>
          <a:bodyPr/>
          <a:lstStyle/>
          <a:p>
            <a:pPr eaLnBrk="1" hangingPunct="1"/>
            <a:endParaRPr lang="zh-CN" altLang="zh-CN">
              <a:ea typeface="宋体" pitchFamily="2" charset="-122"/>
            </a:endParaRP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itchFamily="2" charset="-122"/>
            </a:endParaRPr>
          </a:p>
        </p:txBody>
      </p:sp>
      <p:pic>
        <p:nvPicPr>
          <p:cNvPr id="86020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314641"/>
            <a:ext cx="8136135" cy="6103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en-US" b="0"/>
          </a:p>
        </p:txBody>
      </p:sp>
      <p:pic>
        <p:nvPicPr>
          <p:cNvPr id="88067" name="Picture 1027" descr="mmm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998538"/>
            <a:ext cx="8256587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8" name="Rectangle 3"/>
          <p:cNvSpPr txBox="1">
            <a:spLocks noChangeArrowheads="1"/>
          </p:cNvSpPr>
          <p:nvPr/>
        </p:nvSpPr>
        <p:spPr bwMode="auto">
          <a:xfrm>
            <a:off x="539750" y="981075"/>
            <a:ext cx="8353425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28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关联规则可视化</a:t>
            </a:r>
            <a:endParaRPr lang="en-US" altLang="zh-CN" sz="2800" b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400" b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3D</a:t>
            </a:r>
            <a:r>
              <a:rPr lang="zh-CN" altLang="en-US" sz="2400" b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可视化</a:t>
            </a:r>
            <a:endParaRPr lang="zh-CN" altLang="en-US" sz="2400" b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571500" y="-100013"/>
            <a:ext cx="8001000" cy="892176"/>
          </a:xfrm>
        </p:spPr>
        <p:txBody>
          <a:bodyPr/>
          <a:lstStyle/>
          <a:p>
            <a:pPr algn="ctr" eaLnBrk="1" hangingPunct="1"/>
            <a:r>
              <a:rPr lang="zh-CN" altLang="en-US" sz="3600">
                <a:solidFill>
                  <a:srgbClr val="1557AE"/>
                </a:solidFill>
              </a:rPr>
              <a:t>本章内容</a:t>
            </a:r>
            <a:endParaRPr lang="zh-CN" altLang="en-US" sz="3600">
              <a:solidFill>
                <a:srgbClr val="1557AE"/>
              </a:solidFill>
            </a:endParaRPr>
          </a:p>
        </p:txBody>
      </p:sp>
      <p:sp>
        <p:nvSpPr>
          <p:cNvPr id="8909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755650" y="1628775"/>
            <a:ext cx="7780338" cy="3024188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 dirty="0">
                <a:solidFill>
                  <a:srgbClr val="1557AE"/>
                </a:solidFill>
                <a:cs typeface="微软雅黑" charset="0"/>
              </a:rPr>
              <a:t>3.1  </a:t>
            </a:r>
            <a:r>
              <a:rPr lang="zh-CN" altLang="zh-CN" sz="2800" b="0" dirty="0">
                <a:solidFill>
                  <a:srgbClr val="1557AE"/>
                </a:solidFill>
                <a:cs typeface="微软雅黑" charset="0"/>
              </a:rPr>
              <a:t>关联规则挖掘的基本概念</a:t>
            </a:r>
            <a:endParaRPr lang="zh-CN" altLang="zh-CN" sz="2800" b="0" dirty="0">
              <a:solidFill>
                <a:srgbClr val="1557AE"/>
              </a:solidFill>
              <a:cs typeface="微软雅黑" charset="0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 dirty="0">
                <a:solidFill>
                  <a:srgbClr val="1557AE"/>
                </a:solidFill>
                <a:cs typeface="微软雅黑" charset="0"/>
              </a:rPr>
              <a:t>3.2  </a:t>
            </a:r>
            <a:r>
              <a:rPr lang="zh-CN" altLang="zh-CN" sz="2800" b="0" dirty="0">
                <a:solidFill>
                  <a:srgbClr val="1557AE"/>
                </a:solidFill>
                <a:cs typeface="微软雅黑" charset="0"/>
              </a:rPr>
              <a:t>由事务数据库挖掘单维布尔关联规则</a:t>
            </a:r>
            <a:endParaRPr lang="zh-CN" altLang="zh-CN" sz="2800" b="0" dirty="0">
              <a:solidFill>
                <a:srgbClr val="1557AE"/>
              </a:solidFill>
              <a:cs typeface="微软雅黑" charset="0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 dirty="0">
                <a:solidFill>
                  <a:srgbClr val="FF0000"/>
                </a:solidFill>
                <a:cs typeface="微软雅黑" charset="0"/>
              </a:rPr>
              <a:t>3.3  </a:t>
            </a:r>
            <a:r>
              <a:rPr lang="zh-CN" altLang="zh-CN" sz="2800" b="0" dirty="0">
                <a:solidFill>
                  <a:srgbClr val="FF0000"/>
                </a:solidFill>
                <a:cs typeface="微软雅黑" charset="0"/>
              </a:rPr>
              <a:t>多层关联规则挖掘</a:t>
            </a:r>
            <a:endParaRPr lang="zh-CN" altLang="zh-CN" sz="2800" b="0" dirty="0">
              <a:solidFill>
                <a:srgbClr val="FF0000"/>
              </a:solidFill>
              <a:cs typeface="微软雅黑" charset="0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 dirty="0">
                <a:solidFill>
                  <a:srgbClr val="1557AE"/>
                </a:solidFill>
                <a:cs typeface="微软雅黑" charset="0"/>
              </a:rPr>
              <a:t>3.4  </a:t>
            </a:r>
            <a:r>
              <a:rPr lang="zh-CN" altLang="en-US" sz="2800" b="0" dirty="0">
                <a:solidFill>
                  <a:srgbClr val="1557AE"/>
                </a:solidFill>
                <a:cs typeface="微软雅黑" charset="0"/>
              </a:rPr>
              <a:t>多维关联规则</a:t>
            </a:r>
            <a:r>
              <a:rPr lang="zh-CN" altLang="zh-CN" sz="2800" b="0" dirty="0">
                <a:solidFill>
                  <a:srgbClr val="1557AE"/>
                </a:solidFill>
                <a:cs typeface="微软雅黑" charset="0"/>
              </a:rPr>
              <a:t>挖掘</a:t>
            </a:r>
            <a:endParaRPr lang="en-US" altLang="zh-CN" sz="2800" b="0" dirty="0">
              <a:solidFill>
                <a:srgbClr val="1557AE"/>
              </a:solidFill>
              <a:cs typeface="微软雅黑" charset="0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 dirty="0">
                <a:solidFill>
                  <a:srgbClr val="1557AE"/>
                </a:solidFill>
                <a:cs typeface="微软雅黑" charset="0"/>
              </a:rPr>
              <a:t>3.5  </a:t>
            </a:r>
            <a:r>
              <a:rPr lang="zh-CN" altLang="en-US" sz="2800" b="0" dirty="0">
                <a:solidFill>
                  <a:srgbClr val="1557AE"/>
                </a:solidFill>
                <a:cs typeface="微软雅黑" charset="0"/>
              </a:rPr>
              <a:t>关联规则、相关性、因果关系的区别</a:t>
            </a:r>
            <a:endParaRPr lang="zh-CN" altLang="en-US" sz="2800" b="0" dirty="0">
              <a:solidFill>
                <a:srgbClr val="1557AE"/>
              </a:solidFill>
              <a:cs typeface="微软雅黑" charset="0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endParaRPr lang="zh-CN" altLang="en-US" sz="2800" b="0" dirty="0">
              <a:solidFill>
                <a:srgbClr val="1557AE"/>
              </a:solidFill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571500" y="-100013"/>
            <a:ext cx="8001000" cy="892176"/>
          </a:xfrm>
        </p:spPr>
        <p:txBody>
          <a:bodyPr/>
          <a:lstStyle/>
          <a:p>
            <a:pPr algn="ctr" eaLnBrk="1" hangingPunct="1"/>
            <a:r>
              <a:rPr lang="en-US" altLang="zh-CN" sz="3600">
                <a:solidFill>
                  <a:srgbClr val="1557AE"/>
                </a:solidFill>
                <a:cs typeface="微软雅黑" charset="0"/>
              </a:rPr>
              <a:t>3.3  </a:t>
            </a:r>
            <a:r>
              <a:rPr lang="zh-CN" altLang="en-US" sz="3600">
                <a:solidFill>
                  <a:srgbClr val="1557AE"/>
                </a:solidFill>
                <a:cs typeface="微软雅黑" charset="0"/>
              </a:rPr>
              <a:t>多层关联规则挖掘</a:t>
            </a:r>
            <a:endParaRPr lang="zh-CN" altLang="en-US" sz="3600">
              <a:solidFill>
                <a:srgbClr val="1557AE"/>
              </a:solidFill>
              <a:cs typeface="微软雅黑" charset="0"/>
            </a:endParaRPr>
          </a:p>
        </p:txBody>
      </p:sp>
      <p:sp>
        <p:nvSpPr>
          <p:cNvPr id="91139" name="Rectangle 3"/>
          <p:cNvSpPr txBox="1">
            <a:spLocks noChangeArrowheads="1"/>
          </p:cNvSpPr>
          <p:nvPr/>
        </p:nvSpPr>
        <p:spPr bwMode="auto">
          <a:xfrm>
            <a:off x="395288" y="1319213"/>
            <a:ext cx="3700462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2800" b="0">
                <a:solidFill>
                  <a:srgbClr val="1557AE"/>
                </a:solidFill>
                <a:latin typeface="微软雅黑" charset="0"/>
                <a:ea typeface="微软雅黑" charset="0"/>
              </a:rPr>
              <a:t>数据项中经常会形成</a:t>
            </a:r>
            <a:r>
              <a:rPr lang="zh-CN" altLang="en-US" sz="2800" b="0">
                <a:solidFill>
                  <a:srgbClr val="FF0000"/>
                </a:solidFill>
                <a:latin typeface="微软雅黑" charset="0"/>
                <a:ea typeface="微软雅黑" charset="0"/>
              </a:rPr>
              <a:t>概念分层</a:t>
            </a:r>
            <a:endParaRPr lang="zh-CN" altLang="en-US" sz="2800" b="0">
              <a:solidFill>
                <a:srgbClr val="FF0000"/>
              </a:solidFill>
              <a:latin typeface="微软雅黑" charset="0"/>
              <a:ea typeface="微软雅黑" charset="0"/>
            </a:endParaRPr>
          </a:p>
          <a:p>
            <a:pPr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2800" b="0">
                <a:solidFill>
                  <a:srgbClr val="1557AE"/>
                </a:solidFill>
                <a:latin typeface="微软雅黑" charset="0"/>
                <a:ea typeface="微软雅黑" charset="0"/>
              </a:rPr>
              <a:t>底层数据项，其支持度往往也较低</a:t>
            </a:r>
            <a:endParaRPr lang="zh-CN" altLang="en-US" sz="2800" b="0">
              <a:solidFill>
                <a:srgbClr val="1557AE"/>
              </a:solidFill>
              <a:latin typeface="微软雅黑" charset="0"/>
              <a:ea typeface="微软雅黑" charset="0"/>
            </a:endParaRPr>
          </a:p>
          <a:p>
            <a:pPr lvl="1" eaLnBrk="1" hangingPunct="1"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b="0">
                <a:solidFill>
                  <a:srgbClr val="1557AE"/>
                </a:solidFill>
                <a:latin typeface="微软雅黑" charset="0"/>
                <a:ea typeface="微软雅黑" charset="0"/>
              </a:rPr>
              <a:t>挖掘底层数据项之间的关联规则必须定义不同的支持度</a:t>
            </a:r>
            <a:endParaRPr lang="zh-CN" altLang="en-US" sz="2400" b="0">
              <a:solidFill>
                <a:srgbClr val="1557AE"/>
              </a:solidFill>
              <a:latin typeface="微软雅黑" charset="0"/>
              <a:ea typeface="微软雅黑" charset="0"/>
            </a:endParaRPr>
          </a:p>
        </p:txBody>
      </p:sp>
      <p:grpSp>
        <p:nvGrpSpPr>
          <p:cNvPr id="91140" name="组合 5"/>
          <p:cNvGrpSpPr/>
          <p:nvPr/>
        </p:nvGrpSpPr>
        <p:grpSpPr bwMode="auto">
          <a:xfrm>
            <a:off x="3978275" y="981075"/>
            <a:ext cx="5091113" cy="3111500"/>
            <a:chOff x="3915990" y="533968"/>
            <a:chExt cx="5368485" cy="3351936"/>
          </a:xfrm>
        </p:grpSpPr>
        <p:sp>
          <p:nvSpPr>
            <p:cNvPr id="91197" name="Rectangle 4"/>
            <p:cNvSpPr>
              <a:spLocks noChangeArrowheads="1"/>
            </p:cNvSpPr>
            <p:nvPr/>
          </p:nvSpPr>
          <p:spPr bwMode="auto">
            <a:xfrm>
              <a:off x="6587466" y="533968"/>
              <a:ext cx="641080" cy="4973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2400" b="0">
                  <a:latin typeface="微软雅黑" charset="0"/>
                  <a:ea typeface="微软雅黑" charset="0"/>
                </a:rPr>
                <a:t>All</a:t>
              </a:r>
              <a:endParaRPr lang="en-US" altLang="zh-CN" sz="2400" b="0">
                <a:latin typeface="微软雅黑" charset="0"/>
                <a:ea typeface="微软雅黑" charset="0"/>
              </a:endParaRPr>
            </a:p>
          </p:txBody>
        </p:sp>
        <p:sp>
          <p:nvSpPr>
            <p:cNvPr id="91198" name="Rectangle 5"/>
            <p:cNvSpPr>
              <a:spLocks noChangeArrowheads="1"/>
            </p:cNvSpPr>
            <p:nvPr/>
          </p:nvSpPr>
          <p:spPr bwMode="auto">
            <a:xfrm>
              <a:off x="7694980" y="1245531"/>
              <a:ext cx="1388330" cy="6299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1600" b="0">
                  <a:latin typeface="微软雅黑" charset="0"/>
                  <a:ea typeface="微软雅黑" charset="0"/>
                </a:rPr>
                <a:t>Computer</a:t>
              </a:r>
              <a:endParaRPr lang="en-US" altLang="zh-CN" sz="1600" b="0">
                <a:latin typeface="微软雅黑" charset="0"/>
                <a:ea typeface="微软雅黑" charset="0"/>
              </a:endParaRPr>
            </a:p>
            <a:p>
              <a:pPr algn="ctr"/>
              <a:r>
                <a:rPr lang="en-US" altLang="zh-CN" sz="1600" b="0">
                  <a:latin typeface="微软雅黑" charset="0"/>
                  <a:ea typeface="微软雅黑" charset="0"/>
                </a:rPr>
                <a:t>accessory</a:t>
              </a:r>
              <a:endParaRPr lang="en-US" altLang="zh-CN" sz="1600" b="0">
                <a:latin typeface="微软雅黑" charset="0"/>
                <a:ea typeface="微软雅黑" charset="0"/>
              </a:endParaRPr>
            </a:p>
          </p:txBody>
        </p:sp>
        <p:sp>
          <p:nvSpPr>
            <p:cNvPr id="91199" name="Rectangle 6"/>
            <p:cNvSpPr>
              <a:spLocks noChangeArrowheads="1"/>
            </p:cNvSpPr>
            <p:nvPr/>
          </p:nvSpPr>
          <p:spPr bwMode="auto">
            <a:xfrm>
              <a:off x="5684578" y="1392442"/>
              <a:ext cx="1200672" cy="3647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1600" b="0">
                  <a:latin typeface="微软雅黑" charset="0"/>
                  <a:ea typeface="微软雅黑" charset="0"/>
                </a:rPr>
                <a:t>software</a:t>
              </a:r>
              <a:endParaRPr lang="en-US" altLang="zh-CN" sz="1600" b="0">
                <a:latin typeface="微软雅黑" charset="0"/>
                <a:ea typeface="微软雅黑" charset="0"/>
              </a:endParaRPr>
            </a:p>
          </p:txBody>
        </p:sp>
        <p:sp>
          <p:nvSpPr>
            <p:cNvPr id="91200" name="Rectangle 7"/>
            <p:cNvSpPr>
              <a:spLocks noChangeArrowheads="1"/>
            </p:cNvSpPr>
            <p:nvPr/>
          </p:nvSpPr>
          <p:spPr bwMode="auto">
            <a:xfrm>
              <a:off x="4844690" y="2313896"/>
              <a:ext cx="813523" cy="3315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1400" b="0">
                  <a:latin typeface="微软雅黑" charset="0"/>
                  <a:ea typeface="微软雅黑" charset="0"/>
                </a:rPr>
                <a:t>laptop</a:t>
              </a:r>
              <a:endParaRPr lang="en-US" altLang="zh-CN" sz="1400" b="0">
                <a:latin typeface="微软雅黑" charset="0"/>
                <a:ea typeface="微软雅黑" charset="0"/>
              </a:endParaRPr>
            </a:p>
          </p:txBody>
        </p:sp>
        <p:sp>
          <p:nvSpPr>
            <p:cNvPr id="91201" name="Rectangle 8"/>
            <p:cNvSpPr>
              <a:spLocks noChangeArrowheads="1"/>
            </p:cNvSpPr>
            <p:nvPr/>
          </p:nvSpPr>
          <p:spPr bwMode="auto">
            <a:xfrm>
              <a:off x="5541147" y="2313896"/>
              <a:ext cx="1036682" cy="3315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1400" b="0">
                  <a:latin typeface="微软雅黑" charset="0"/>
                  <a:ea typeface="微软雅黑" charset="0"/>
                </a:rPr>
                <a:t>financial</a:t>
              </a:r>
              <a:endParaRPr lang="en-US" altLang="zh-CN" sz="1400" b="0">
                <a:latin typeface="微软雅黑" charset="0"/>
                <a:ea typeface="微软雅黑" charset="0"/>
              </a:endParaRPr>
            </a:p>
          </p:txBody>
        </p:sp>
        <p:sp>
          <p:nvSpPr>
            <p:cNvPr id="91202" name="Line 9"/>
            <p:cNvSpPr>
              <a:spLocks noChangeShapeType="1"/>
            </p:cNvSpPr>
            <p:nvPr/>
          </p:nvSpPr>
          <p:spPr bwMode="auto">
            <a:xfrm flipH="1">
              <a:off x="6300788" y="981075"/>
              <a:ext cx="503237" cy="4318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1203" name="Line 10"/>
            <p:cNvSpPr>
              <a:spLocks noChangeShapeType="1"/>
            </p:cNvSpPr>
            <p:nvPr/>
          </p:nvSpPr>
          <p:spPr bwMode="auto">
            <a:xfrm>
              <a:off x="7148513" y="1000125"/>
              <a:ext cx="1239837" cy="268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1204" name="Line 11"/>
            <p:cNvSpPr>
              <a:spLocks noChangeShapeType="1"/>
            </p:cNvSpPr>
            <p:nvPr/>
          </p:nvSpPr>
          <p:spPr bwMode="auto">
            <a:xfrm>
              <a:off x="5219700" y="1773238"/>
              <a:ext cx="73025" cy="5762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1205" name="Line 12"/>
            <p:cNvSpPr>
              <a:spLocks noChangeShapeType="1"/>
            </p:cNvSpPr>
            <p:nvPr/>
          </p:nvSpPr>
          <p:spPr bwMode="auto">
            <a:xfrm flipH="1">
              <a:off x="6011863" y="1700213"/>
              <a:ext cx="144462" cy="5762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1206" name="Line 13"/>
            <p:cNvSpPr>
              <a:spLocks noChangeShapeType="1"/>
            </p:cNvSpPr>
            <p:nvPr/>
          </p:nvSpPr>
          <p:spPr bwMode="auto">
            <a:xfrm flipH="1">
              <a:off x="7524750" y="1773238"/>
              <a:ext cx="0" cy="5032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1207" name="Rectangle 14"/>
            <p:cNvSpPr>
              <a:spLocks noChangeArrowheads="1"/>
            </p:cNvSpPr>
            <p:nvPr/>
          </p:nvSpPr>
          <p:spPr bwMode="auto">
            <a:xfrm>
              <a:off x="7767907" y="2313896"/>
              <a:ext cx="871003" cy="3315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1400" b="0">
                  <a:latin typeface="微软雅黑" charset="0"/>
                  <a:ea typeface="微软雅黑" charset="0"/>
                </a:rPr>
                <a:t>mouse</a:t>
              </a:r>
              <a:endParaRPr lang="en-US" altLang="zh-CN" sz="1400" b="0">
                <a:latin typeface="微软雅黑" charset="0"/>
                <a:ea typeface="微软雅黑" charset="0"/>
              </a:endParaRPr>
            </a:p>
          </p:txBody>
        </p:sp>
        <p:sp>
          <p:nvSpPr>
            <p:cNvPr id="91208" name="Rectangle 15"/>
            <p:cNvSpPr>
              <a:spLocks noChangeArrowheads="1"/>
            </p:cNvSpPr>
            <p:nvPr/>
          </p:nvSpPr>
          <p:spPr bwMode="auto">
            <a:xfrm>
              <a:off x="7184254" y="2313896"/>
              <a:ext cx="696870" cy="3315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1400" b="0">
                  <a:latin typeface="微软雅黑" charset="0"/>
                  <a:ea typeface="微软雅黑" charset="0"/>
                </a:rPr>
                <a:t>color</a:t>
              </a:r>
              <a:endParaRPr lang="en-US" altLang="zh-CN" sz="1400" b="0">
                <a:latin typeface="微软雅黑" charset="0"/>
                <a:ea typeface="微软雅黑" charset="0"/>
              </a:endParaRPr>
            </a:p>
          </p:txBody>
        </p:sp>
        <p:sp>
          <p:nvSpPr>
            <p:cNvPr id="91209" name="Line 16"/>
            <p:cNvSpPr>
              <a:spLocks noChangeShapeType="1"/>
            </p:cNvSpPr>
            <p:nvPr/>
          </p:nvSpPr>
          <p:spPr bwMode="auto">
            <a:xfrm>
              <a:off x="8101013" y="1844675"/>
              <a:ext cx="0" cy="5048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1210" name="Line 17"/>
            <p:cNvSpPr>
              <a:spLocks noChangeShapeType="1"/>
            </p:cNvSpPr>
            <p:nvPr/>
          </p:nvSpPr>
          <p:spPr bwMode="auto">
            <a:xfrm flipH="1">
              <a:off x="5003800" y="2636838"/>
              <a:ext cx="144463" cy="5048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1211" name="Rectangle 18"/>
            <p:cNvSpPr>
              <a:spLocks noChangeArrowheads="1"/>
            </p:cNvSpPr>
            <p:nvPr/>
          </p:nvSpPr>
          <p:spPr bwMode="auto">
            <a:xfrm>
              <a:off x="6821610" y="1387680"/>
              <a:ext cx="953843" cy="3647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1600" b="0">
                  <a:latin typeface="微软雅黑" charset="0"/>
                  <a:ea typeface="微软雅黑" charset="0"/>
                </a:rPr>
                <a:t>printer</a:t>
              </a:r>
              <a:endParaRPr lang="en-US" altLang="zh-CN" sz="1600" b="0">
                <a:latin typeface="微软雅黑" charset="0"/>
                <a:ea typeface="微软雅黑" charset="0"/>
              </a:endParaRPr>
            </a:p>
          </p:txBody>
        </p:sp>
        <p:sp>
          <p:nvSpPr>
            <p:cNvPr id="91212" name="Rectangle 19"/>
            <p:cNvSpPr>
              <a:spLocks noChangeArrowheads="1"/>
            </p:cNvSpPr>
            <p:nvPr/>
          </p:nvSpPr>
          <p:spPr bwMode="auto">
            <a:xfrm>
              <a:off x="4387496" y="1401968"/>
              <a:ext cx="1281821" cy="3647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1600" b="0">
                  <a:latin typeface="微软雅黑" charset="0"/>
                  <a:ea typeface="微软雅黑" charset="0"/>
                </a:rPr>
                <a:t>computer</a:t>
              </a:r>
              <a:endParaRPr lang="en-US" altLang="zh-CN" sz="1600" b="0">
                <a:latin typeface="微软雅黑" charset="0"/>
                <a:ea typeface="微软雅黑" charset="0"/>
              </a:endParaRPr>
            </a:p>
          </p:txBody>
        </p:sp>
        <p:sp>
          <p:nvSpPr>
            <p:cNvPr id="91213" name="Line 20"/>
            <p:cNvSpPr>
              <a:spLocks noChangeShapeType="1"/>
            </p:cNvSpPr>
            <p:nvPr/>
          </p:nvSpPr>
          <p:spPr bwMode="auto">
            <a:xfrm flipH="1">
              <a:off x="5076825" y="981075"/>
              <a:ext cx="1541463" cy="4318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1214" name="Line 21"/>
            <p:cNvSpPr>
              <a:spLocks noChangeShapeType="1"/>
            </p:cNvSpPr>
            <p:nvPr/>
          </p:nvSpPr>
          <p:spPr bwMode="auto">
            <a:xfrm>
              <a:off x="7019925" y="1052513"/>
              <a:ext cx="288925" cy="3603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1215" name="Rectangle 22"/>
            <p:cNvSpPr>
              <a:spLocks noChangeArrowheads="1"/>
            </p:cNvSpPr>
            <p:nvPr/>
          </p:nvSpPr>
          <p:spPr bwMode="auto">
            <a:xfrm>
              <a:off x="3915990" y="2313896"/>
              <a:ext cx="996107" cy="3315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1400" b="0">
                  <a:latin typeface="微软雅黑" charset="0"/>
                  <a:ea typeface="微软雅黑" charset="0"/>
                </a:rPr>
                <a:t>desktop</a:t>
              </a:r>
              <a:endParaRPr lang="en-US" altLang="zh-CN" sz="1400" b="0">
                <a:latin typeface="微软雅黑" charset="0"/>
                <a:ea typeface="微软雅黑" charset="0"/>
              </a:endParaRPr>
            </a:p>
          </p:txBody>
        </p:sp>
        <p:sp>
          <p:nvSpPr>
            <p:cNvPr id="91216" name="Line 23"/>
            <p:cNvSpPr>
              <a:spLocks noChangeShapeType="1"/>
            </p:cNvSpPr>
            <p:nvPr/>
          </p:nvSpPr>
          <p:spPr bwMode="auto">
            <a:xfrm flipH="1">
              <a:off x="4527550" y="1773238"/>
              <a:ext cx="260350" cy="5508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1217" name="Rectangle 24"/>
            <p:cNvSpPr>
              <a:spLocks noChangeArrowheads="1"/>
            </p:cNvSpPr>
            <p:nvPr/>
          </p:nvSpPr>
          <p:spPr bwMode="auto">
            <a:xfrm>
              <a:off x="4673385" y="3133046"/>
              <a:ext cx="600505" cy="3315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1400" b="0">
                  <a:latin typeface="微软雅黑" charset="0"/>
                  <a:ea typeface="微软雅黑" charset="0"/>
                </a:rPr>
                <a:t>IBM</a:t>
              </a:r>
              <a:endParaRPr lang="en-US" altLang="zh-CN" sz="1400" b="0">
                <a:latin typeface="微软雅黑" charset="0"/>
                <a:ea typeface="微软雅黑" charset="0"/>
              </a:endParaRPr>
            </a:p>
          </p:txBody>
        </p:sp>
        <p:sp>
          <p:nvSpPr>
            <p:cNvPr id="91218" name="Rectangle 25"/>
            <p:cNvSpPr>
              <a:spLocks noChangeArrowheads="1"/>
            </p:cNvSpPr>
            <p:nvPr/>
          </p:nvSpPr>
          <p:spPr bwMode="auto">
            <a:xfrm>
              <a:off x="6462951" y="2313896"/>
              <a:ext cx="637699" cy="3315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1400" b="0">
                  <a:latin typeface="微软雅黑" charset="0"/>
                  <a:ea typeface="微软雅黑" charset="0"/>
                </a:rPr>
                <a:t>edu.</a:t>
              </a:r>
              <a:endParaRPr lang="en-US" altLang="zh-CN" sz="1400" b="0">
                <a:latin typeface="微软雅黑" charset="0"/>
                <a:ea typeface="微软雅黑" charset="0"/>
              </a:endParaRPr>
            </a:p>
          </p:txBody>
        </p:sp>
        <p:sp>
          <p:nvSpPr>
            <p:cNvPr id="91219" name="Line 26"/>
            <p:cNvSpPr>
              <a:spLocks noChangeShapeType="1"/>
            </p:cNvSpPr>
            <p:nvPr/>
          </p:nvSpPr>
          <p:spPr bwMode="auto">
            <a:xfrm>
              <a:off x="6443663" y="1700213"/>
              <a:ext cx="288925" cy="5762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1220" name="Line 27"/>
            <p:cNvSpPr>
              <a:spLocks noChangeShapeType="1"/>
            </p:cNvSpPr>
            <p:nvPr/>
          </p:nvSpPr>
          <p:spPr bwMode="auto">
            <a:xfrm flipH="1">
              <a:off x="5880100" y="2636838"/>
              <a:ext cx="144463" cy="5048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1221" name="Rectangle 28"/>
            <p:cNvSpPr>
              <a:spLocks noChangeArrowheads="1"/>
            </p:cNvSpPr>
            <p:nvPr/>
          </p:nvSpPr>
          <p:spPr bwMode="auto">
            <a:xfrm>
              <a:off x="5284054" y="3133046"/>
              <a:ext cx="1138119" cy="3315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1400" b="0">
                  <a:latin typeface="微软雅黑" charset="0"/>
                  <a:ea typeface="微软雅黑" charset="0"/>
                </a:rPr>
                <a:t>Microsoft</a:t>
              </a:r>
              <a:endParaRPr lang="en-US" altLang="zh-CN" sz="1400" b="0">
                <a:latin typeface="微软雅黑" charset="0"/>
                <a:ea typeface="微软雅黑" charset="0"/>
              </a:endParaRPr>
            </a:p>
          </p:txBody>
        </p:sp>
        <p:sp>
          <p:nvSpPr>
            <p:cNvPr id="91222" name="Rectangle 29"/>
            <p:cNvSpPr>
              <a:spLocks noChangeArrowheads="1"/>
            </p:cNvSpPr>
            <p:nvPr/>
          </p:nvSpPr>
          <p:spPr bwMode="auto">
            <a:xfrm>
              <a:off x="6885681" y="2699658"/>
              <a:ext cx="544715" cy="3315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1400" b="0">
                  <a:latin typeface="微软雅黑" charset="0"/>
                  <a:ea typeface="微软雅黑" charset="0"/>
                </a:rPr>
                <a:t>b/w</a:t>
              </a:r>
              <a:endParaRPr lang="en-US" altLang="zh-CN" sz="1400" b="0">
                <a:latin typeface="微软雅黑" charset="0"/>
                <a:ea typeface="微软雅黑" charset="0"/>
              </a:endParaRPr>
            </a:p>
          </p:txBody>
        </p:sp>
        <p:sp>
          <p:nvSpPr>
            <p:cNvPr id="91223" name="Line 30"/>
            <p:cNvSpPr>
              <a:spLocks noChangeShapeType="1"/>
            </p:cNvSpPr>
            <p:nvPr/>
          </p:nvSpPr>
          <p:spPr bwMode="auto">
            <a:xfrm>
              <a:off x="7092950" y="1773238"/>
              <a:ext cx="0" cy="9350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1224" name="Line 31"/>
            <p:cNvSpPr>
              <a:spLocks noChangeShapeType="1"/>
            </p:cNvSpPr>
            <p:nvPr/>
          </p:nvSpPr>
          <p:spPr bwMode="auto">
            <a:xfrm flipH="1">
              <a:off x="6858000" y="2997200"/>
              <a:ext cx="161925" cy="1444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1225" name="Rectangle 32"/>
            <p:cNvSpPr>
              <a:spLocks noChangeArrowheads="1"/>
            </p:cNvSpPr>
            <p:nvPr/>
          </p:nvSpPr>
          <p:spPr bwMode="auto">
            <a:xfrm>
              <a:off x="6574975" y="3133046"/>
              <a:ext cx="504141" cy="3315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1400" b="0">
                  <a:latin typeface="微软雅黑" charset="0"/>
                  <a:ea typeface="微软雅黑" charset="0"/>
                </a:rPr>
                <a:t>HP</a:t>
              </a:r>
              <a:endParaRPr lang="en-US" altLang="zh-CN" sz="1400" b="0">
                <a:latin typeface="微软雅黑" charset="0"/>
                <a:ea typeface="微软雅黑" charset="0"/>
              </a:endParaRPr>
            </a:p>
          </p:txBody>
        </p:sp>
        <p:sp>
          <p:nvSpPr>
            <p:cNvPr id="91226" name="Line 33"/>
            <p:cNvSpPr>
              <a:spLocks noChangeShapeType="1"/>
            </p:cNvSpPr>
            <p:nvPr/>
          </p:nvSpPr>
          <p:spPr bwMode="auto">
            <a:xfrm>
              <a:off x="7451725" y="2636838"/>
              <a:ext cx="36513" cy="5048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1227" name="Rectangle 34"/>
            <p:cNvSpPr>
              <a:spLocks noChangeArrowheads="1"/>
            </p:cNvSpPr>
            <p:nvPr/>
          </p:nvSpPr>
          <p:spPr bwMode="auto">
            <a:xfrm>
              <a:off x="7100447" y="3133046"/>
              <a:ext cx="712086" cy="3315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1400" b="0">
                  <a:latin typeface="微软雅黑" charset="0"/>
                  <a:ea typeface="微软雅黑" charset="0"/>
                </a:rPr>
                <a:t>Sony</a:t>
              </a:r>
              <a:endParaRPr lang="en-US" altLang="zh-CN" sz="1400" b="0">
                <a:latin typeface="微软雅黑" charset="0"/>
                <a:ea typeface="微软雅黑" charset="0"/>
              </a:endParaRPr>
            </a:p>
          </p:txBody>
        </p:sp>
        <p:sp>
          <p:nvSpPr>
            <p:cNvPr id="91228" name="Rectangle 35"/>
            <p:cNvSpPr>
              <a:spLocks noChangeArrowheads="1"/>
            </p:cNvSpPr>
            <p:nvPr/>
          </p:nvSpPr>
          <p:spPr bwMode="auto">
            <a:xfrm>
              <a:off x="8538906" y="2558212"/>
              <a:ext cx="679964" cy="56365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1400" b="0">
                  <a:latin typeface="微软雅黑" charset="0"/>
                  <a:ea typeface="微软雅黑" charset="0"/>
                </a:rPr>
                <a:t>wrist</a:t>
              </a:r>
              <a:endParaRPr lang="en-US" altLang="zh-CN" sz="1400" b="0">
                <a:latin typeface="微软雅黑" charset="0"/>
                <a:ea typeface="微软雅黑" charset="0"/>
              </a:endParaRPr>
            </a:p>
            <a:p>
              <a:pPr algn="ctr"/>
              <a:r>
                <a:rPr lang="en-US" altLang="zh-CN" sz="1400" b="0">
                  <a:latin typeface="微软雅黑" charset="0"/>
                  <a:ea typeface="微软雅黑" charset="0"/>
                </a:rPr>
                <a:t>pad</a:t>
              </a:r>
              <a:endParaRPr lang="en-US" altLang="zh-CN" sz="1400" b="0">
                <a:latin typeface="微软雅黑" charset="0"/>
                <a:ea typeface="微软雅黑" charset="0"/>
              </a:endParaRPr>
            </a:p>
          </p:txBody>
        </p:sp>
        <p:sp>
          <p:nvSpPr>
            <p:cNvPr id="91229" name="Line 36"/>
            <p:cNvSpPr>
              <a:spLocks noChangeShapeType="1"/>
            </p:cNvSpPr>
            <p:nvPr/>
          </p:nvSpPr>
          <p:spPr bwMode="auto">
            <a:xfrm>
              <a:off x="8748713" y="1844675"/>
              <a:ext cx="0" cy="7207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1230" name="Line 37"/>
            <p:cNvSpPr>
              <a:spLocks noChangeShapeType="1"/>
            </p:cNvSpPr>
            <p:nvPr/>
          </p:nvSpPr>
          <p:spPr bwMode="auto">
            <a:xfrm>
              <a:off x="8248650" y="2636838"/>
              <a:ext cx="36513" cy="5048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1231" name="Rectangle 38"/>
            <p:cNvSpPr>
              <a:spLocks noChangeArrowheads="1"/>
            </p:cNvSpPr>
            <p:nvPr/>
          </p:nvSpPr>
          <p:spPr bwMode="auto">
            <a:xfrm>
              <a:off x="7728207" y="3133046"/>
              <a:ext cx="1053589" cy="3315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1400" b="0">
                  <a:latin typeface="微软雅黑" charset="0"/>
                  <a:ea typeface="微软雅黑" charset="0"/>
                </a:rPr>
                <a:t>Logitech</a:t>
              </a:r>
              <a:endParaRPr lang="en-US" altLang="zh-CN" sz="1400" b="0">
                <a:latin typeface="微软雅黑" charset="0"/>
                <a:ea typeface="微软雅黑" charset="0"/>
              </a:endParaRPr>
            </a:p>
          </p:txBody>
        </p:sp>
        <p:sp>
          <p:nvSpPr>
            <p:cNvPr id="91232" name="Line 110"/>
            <p:cNvSpPr>
              <a:spLocks noChangeShapeType="1"/>
            </p:cNvSpPr>
            <p:nvPr/>
          </p:nvSpPr>
          <p:spPr bwMode="auto">
            <a:xfrm flipH="1">
              <a:off x="8795542" y="3068637"/>
              <a:ext cx="24607" cy="4943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1233" name="Rectangle 111"/>
            <p:cNvSpPr>
              <a:spLocks noChangeArrowheads="1"/>
            </p:cNvSpPr>
            <p:nvPr/>
          </p:nvSpPr>
          <p:spPr bwMode="auto">
            <a:xfrm>
              <a:off x="8197075" y="3554344"/>
              <a:ext cx="1087400" cy="3315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1400" b="0">
                  <a:latin typeface="微软雅黑" charset="0"/>
                  <a:ea typeface="微软雅黑" charset="0"/>
                </a:rPr>
                <a:t>Ergoway</a:t>
              </a:r>
              <a:endParaRPr lang="en-US" altLang="zh-CN" sz="1400" b="0">
                <a:latin typeface="微软雅黑" charset="0"/>
                <a:ea typeface="微软雅黑" charset="0"/>
              </a:endParaRPr>
            </a:p>
          </p:txBody>
        </p:sp>
      </p:grpSp>
      <p:sp>
        <p:nvSpPr>
          <p:cNvPr id="91141" name="Rectangle 40"/>
          <p:cNvSpPr>
            <a:spLocks noChangeArrowheads="1"/>
          </p:cNvSpPr>
          <p:nvPr/>
        </p:nvSpPr>
        <p:spPr bwMode="auto">
          <a:xfrm>
            <a:off x="4343400" y="4186238"/>
            <a:ext cx="614363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2500" b="0">
                <a:solidFill>
                  <a:srgbClr val="000000"/>
                </a:solidFill>
                <a:latin typeface="微软雅黑" charset="0"/>
                <a:ea typeface="微软雅黑" charset="0"/>
              </a:rPr>
              <a:t>TID</a:t>
            </a:r>
            <a:endParaRPr lang="en-US" altLang="zh-CN" sz="2500" b="0">
              <a:solidFill>
                <a:srgbClr val="0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91142" name="Rectangle 41"/>
          <p:cNvSpPr>
            <a:spLocks noChangeArrowheads="1"/>
          </p:cNvSpPr>
          <p:nvPr/>
        </p:nvSpPr>
        <p:spPr bwMode="auto">
          <a:xfrm>
            <a:off x="4984750" y="4186238"/>
            <a:ext cx="94297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2500" b="0">
                <a:solidFill>
                  <a:srgbClr val="000000"/>
                </a:solidFill>
                <a:latin typeface="微软雅黑" charset="0"/>
                <a:ea typeface="微软雅黑" charset="0"/>
              </a:rPr>
              <a:t>Items</a:t>
            </a:r>
            <a:endParaRPr lang="en-US" altLang="zh-CN" sz="2500" b="0">
              <a:solidFill>
                <a:srgbClr val="0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91143" name="Rectangle 42"/>
          <p:cNvSpPr>
            <a:spLocks noChangeArrowheads="1"/>
          </p:cNvSpPr>
          <p:nvPr/>
        </p:nvSpPr>
        <p:spPr bwMode="auto">
          <a:xfrm>
            <a:off x="4248150" y="4164013"/>
            <a:ext cx="6350" cy="11112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91144" name="Rectangle 43"/>
          <p:cNvSpPr>
            <a:spLocks noChangeArrowheads="1"/>
          </p:cNvSpPr>
          <p:nvPr/>
        </p:nvSpPr>
        <p:spPr bwMode="auto">
          <a:xfrm>
            <a:off x="4248150" y="4164013"/>
            <a:ext cx="6350" cy="63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91145" name="Rectangle 44"/>
          <p:cNvSpPr>
            <a:spLocks noChangeArrowheads="1"/>
          </p:cNvSpPr>
          <p:nvPr/>
        </p:nvSpPr>
        <p:spPr bwMode="auto">
          <a:xfrm>
            <a:off x="4254500" y="4164013"/>
            <a:ext cx="714375" cy="63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91146" name="Rectangle 47"/>
          <p:cNvSpPr>
            <a:spLocks noChangeArrowheads="1"/>
          </p:cNvSpPr>
          <p:nvPr/>
        </p:nvSpPr>
        <p:spPr bwMode="auto">
          <a:xfrm>
            <a:off x="4975225" y="4164013"/>
            <a:ext cx="3517900" cy="63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91147" name="Rectangle 48"/>
          <p:cNvSpPr>
            <a:spLocks noChangeArrowheads="1"/>
          </p:cNvSpPr>
          <p:nvPr/>
        </p:nvSpPr>
        <p:spPr bwMode="auto">
          <a:xfrm>
            <a:off x="8493125" y="4164013"/>
            <a:ext cx="6350" cy="11112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91148" name="Rectangle 49"/>
          <p:cNvSpPr>
            <a:spLocks noChangeArrowheads="1"/>
          </p:cNvSpPr>
          <p:nvPr/>
        </p:nvSpPr>
        <p:spPr bwMode="auto">
          <a:xfrm>
            <a:off x="8493125" y="4164013"/>
            <a:ext cx="6350" cy="63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91149" name="Rectangle 50"/>
          <p:cNvSpPr>
            <a:spLocks noChangeArrowheads="1"/>
          </p:cNvSpPr>
          <p:nvPr/>
        </p:nvSpPr>
        <p:spPr bwMode="auto">
          <a:xfrm>
            <a:off x="4248150" y="4175125"/>
            <a:ext cx="6350" cy="363538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91150" name="Rectangle 52"/>
          <p:cNvSpPr>
            <a:spLocks noChangeArrowheads="1"/>
          </p:cNvSpPr>
          <p:nvPr/>
        </p:nvSpPr>
        <p:spPr bwMode="auto">
          <a:xfrm>
            <a:off x="8493125" y="4175125"/>
            <a:ext cx="6350" cy="363538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91151" name="Rectangle 53"/>
          <p:cNvSpPr>
            <a:spLocks noChangeArrowheads="1"/>
          </p:cNvSpPr>
          <p:nvPr/>
        </p:nvSpPr>
        <p:spPr bwMode="auto">
          <a:xfrm>
            <a:off x="4349750" y="4562475"/>
            <a:ext cx="4286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2500" b="0">
                <a:solidFill>
                  <a:srgbClr val="000000"/>
                </a:solidFill>
                <a:latin typeface="微软雅黑" charset="0"/>
                <a:ea typeface="微软雅黑" charset="0"/>
              </a:rPr>
              <a:t>T1</a:t>
            </a:r>
            <a:endParaRPr lang="en-US" altLang="zh-CN" sz="2500" b="0">
              <a:solidFill>
                <a:srgbClr val="0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91152" name="Rectangle 54"/>
          <p:cNvSpPr>
            <a:spLocks noChangeArrowheads="1"/>
          </p:cNvSpPr>
          <p:nvPr/>
        </p:nvSpPr>
        <p:spPr bwMode="auto">
          <a:xfrm>
            <a:off x="5032375" y="4562475"/>
            <a:ext cx="28035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2500" b="0">
                <a:solidFill>
                  <a:srgbClr val="000000"/>
                </a:solidFill>
                <a:latin typeface="微软雅黑" charset="0"/>
                <a:ea typeface="微软雅黑" charset="0"/>
              </a:rPr>
              <a:t>{</a:t>
            </a:r>
            <a:r>
              <a:rPr lang="en-US" altLang="zh-CN" sz="2000" b="0">
                <a:solidFill>
                  <a:srgbClr val="000000"/>
                </a:solidFill>
                <a:latin typeface="微软雅黑" charset="0"/>
                <a:ea typeface="微软雅黑" charset="0"/>
              </a:rPr>
              <a:t>IBM D/C, Sony b/w</a:t>
            </a:r>
            <a:r>
              <a:rPr lang="en-US" altLang="zh-CN" sz="2500" b="0">
                <a:solidFill>
                  <a:srgbClr val="000000"/>
                </a:solidFill>
                <a:latin typeface="微软雅黑" charset="0"/>
                <a:ea typeface="微软雅黑" charset="0"/>
              </a:rPr>
              <a:t>}</a:t>
            </a:r>
            <a:endParaRPr lang="en-US" altLang="zh-CN" b="0">
              <a:latin typeface="微软雅黑" charset="0"/>
              <a:ea typeface="微软雅黑" charset="0"/>
            </a:endParaRPr>
          </a:p>
        </p:txBody>
      </p:sp>
      <p:sp>
        <p:nvSpPr>
          <p:cNvPr id="91153" name="Rectangle 55"/>
          <p:cNvSpPr>
            <a:spLocks noChangeArrowheads="1"/>
          </p:cNvSpPr>
          <p:nvPr/>
        </p:nvSpPr>
        <p:spPr bwMode="auto">
          <a:xfrm>
            <a:off x="4248150" y="4538663"/>
            <a:ext cx="6350" cy="11112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91154" name="Rectangle 56"/>
          <p:cNvSpPr>
            <a:spLocks noChangeArrowheads="1"/>
          </p:cNvSpPr>
          <p:nvPr/>
        </p:nvSpPr>
        <p:spPr bwMode="auto">
          <a:xfrm>
            <a:off x="4254500" y="4538663"/>
            <a:ext cx="714375" cy="63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91155" name="Rectangle 58"/>
          <p:cNvSpPr>
            <a:spLocks noChangeArrowheads="1"/>
          </p:cNvSpPr>
          <p:nvPr/>
        </p:nvSpPr>
        <p:spPr bwMode="auto">
          <a:xfrm>
            <a:off x="4975225" y="4538663"/>
            <a:ext cx="3517900" cy="63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91156" name="Rectangle 59"/>
          <p:cNvSpPr>
            <a:spLocks noChangeArrowheads="1"/>
          </p:cNvSpPr>
          <p:nvPr/>
        </p:nvSpPr>
        <p:spPr bwMode="auto">
          <a:xfrm>
            <a:off x="8493125" y="4538663"/>
            <a:ext cx="6350" cy="11112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91157" name="Rectangle 60"/>
          <p:cNvSpPr>
            <a:spLocks noChangeArrowheads="1"/>
          </p:cNvSpPr>
          <p:nvPr/>
        </p:nvSpPr>
        <p:spPr bwMode="auto">
          <a:xfrm>
            <a:off x="4248150" y="4549775"/>
            <a:ext cx="6350" cy="363538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91158" name="Rectangle 62"/>
          <p:cNvSpPr>
            <a:spLocks noChangeArrowheads="1"/>
          </p:cNvSpPr>
          <p:nvPr/>
        </p:nvSpPr>
        <p:spPr bwMode="auto">
          <a:xfrm>
            <a:off x="8493125" y="4549775"/>
            <a:ext cx="6350" cy="363538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91159" name="Rectangle 63"/>
          <p:cNvSpPr>
            <a:spLocks noChangeArrowheads="1"/>
          </p:cNvSpPr>
          <p:nvPr/>
        </p:nvSpPr>
        <p:spPr bwMode="auto">
          <a:xfrm>
            <a:off x="4343400" y="4937125"/>
            <a:ext cx="4413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2500" b="0">
                <a:solidFill>
                  <a:srgbClr val="000000"/>
                </a:solidFill>
                <a:latin typeface="微软雅黑" charset="0"/>
                <a:ea typeface="微软雅黑" charset="0"/>
              </a:rPr>
              <a:t>T2</a:t>
            </a:r>
            <a:endParaRPr lang="en-US" altLang="zh-CN" sz="2500" b="0">
              <a:solidFill>
                <a:srgbClr val="0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91160" name="Rectangle 64"/>
          <p:cNvSpPr>
            <a:spLocks noChangeArrowheads="1"/>
          </p:cNvSpPr>
          <p:nvPr/>
        </p:nvSpPr>
        <p:spPr bwMode="auto">
          <a:xfrm>
            <a:off x="4957763" y="4927600"/>
            <a:ext cx="39084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2500" b="0">
                <a:solidFill>
                  <a:srgbClr val="000000"/>
                </a:solidFill>
                <a:latin typeface="微软雅黑" charset="0"/>
                <a:ea typeface="微软雅黑" charset="0"/>
              </a:rPr>
              <a:t>{</a:t>
            </a:r>
            <a:r>
              <a:rPr lang="en-US" altLang="zh-CN" sz="2000" b="0">
                <a:solidFill>
                  <a:srgbClr val="000000"/>
                </a:solidFill>
                <a:latin typeface="微软雅黑" charset="0"/>
                <a:ea typeface="微软雅黑" charset="0"/>
              </a:rPr>
              <a:t>Ms. edu. Sw., Ms. fin. Sw.</a:t>
            </a:r>
            <a:r>
              <a:rPr lang="en-US" altLang="zh-CN" sz="2500" b="0">
                <a:solidFill>
                  <a:srgbClr val="000000"/>
                </a:solidFill>
                <a:latin typeface="微软雅黑" charset="0"/>
                <a:ea typeface="微软雅黑" charset="0"/>
              </a:rPr>
              <a:t>}</a:t>
            </a:r>
            <a:endParaRPr lang="en-US" altLang="zh-CN" b="0">
              <a:latin typeface="微软雅黑" charset="0"/>
              <a:ea typeface="微软雅黑" charset="0"/>
            </a:endParaRPr>
          </a:p>
        </p:txBody>
      </p:sp>
      <p:sp>
        <p:nvSpPr>
          <p:cNvPr id="91161" name="Rectangle 65"/>
          <p:cNvSpPr>
            <a:spLocks noChangeArrowheads="1"/>
          </p:cNvSpPr>
          <p:nvPr/>
        </p:nvSpPr>
        <p:spPr bwMode="auto">
          <a:xfrm>
            <a:off x="4248150" y="4913313"/>
            <a:ext cx="6350" cy="127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91162" name="Rectangle 66"/>
          <p:cNvSpPr>
            <a:spLocks noChangeArrowheads="1"/>
          </p:cNvSpPr>
          <p:nvPr/>
        </p:nvSpPr>
        <p:spPr bwMode="auto">
          <a:xfrm>
            <a:off x="4254500" y="4913313"/>
            <a:ext cx="714375" cy="63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91163" name="Rectangle 68"/>
          <p:cNvSpPr>
            <a:spLocks noChangeArrowheads="1"/>
          </p:cNvSpPr>
          <p:nvPr/>
        </p:nvSpPr>
        <p:spPr bwMode="auto">
          <a:xfrm>
            <a:off x="4975225" y="4913313"/>
            <a:ext cx="3517900" cy="63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91164" name="Rectangle 69"/>
          <p:cNvSpPr>
            <a:spLocks noChangeArrowheads="1"/>
          </p:cNvSpPr>
          <p:nvPr/>
        </p:nvSpPr>
        <p:spPr bwMode="auto">
          <a:xfrm>
            <a:off x="8493125" y="4913313"/>
            <a:ext cx="6350" cy="127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91165" name="Rectangle 70"/>
          <p:cNvSpPr>
            <a:spLocks noChangeArrowheads="1"/>
          </p:cNvSpPr>
          <p:nvPr/>
        </p:nvSpPr>
        <p:spPr bwMode="auto">
          <a:xfrm>
            <a:off x="4248150" y="4926013"/>
            <a:ext cx="6350" cy="363537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91166" name="Rectangle 72"/>
          <p:cNvSpPr>
            <a:spLocks noChangeArrowheads="1"/>
          </p:cNvSpPr>
          <p:nvPr/>
        </p:nvSpPr>
        <p:spPr bwMode="auto">
          <a:xfrm>
            <a:off x="8493125" y="4926013"/>
            <a:ext cx="6350" cy="363537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91167" name="Rectangle 73"/>
          <p:cNvSpPr>
            <a:spLocks noChangeArrowheads="1"/>
          </p:cNvSpPr>
          <p:nvPr/>
        </p:nvSpPr>
        <p:spPr bwMode="auto">
          <a:xfrm>
            <a:off x="4343400" y="5311775"/>
            <a:ext cx="442913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2500" b="0">
                <a:solidFill>
                  <a:srgbClr val="000000"/>
                </a:solidFill>
                <a:latin typeface="微软雅黑" charset="0"/>
                <a:ea typeface="微软雅黑" charset="0"/>
              </a:rPr>
              <a:t>T3</a:t>
            </a:r>
            <a:endParaRPr lang="en-US" altLang="zh-CN" sz="2500" b="0">
              <a:solidFill>
                <a:srgbClr val="0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91168" name="Rectangle 74"/>
          <p:cNvSpPr>
            <a:spLocks noChangeArrowheads="1"/>
          </p:cNvSpPr>
          <p:nvPr/>
        </p:nvSpPr>
        <p:spPr bwMode="auto">
          <a:xfrm>
            <a:off x="4913313" y="5302250"/>
            <a:ext cx="43275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2500" b="0">
                <a:solidFill>
                  <a:srgbClr val="000000"/>
                </a:solidFill>
                <a:latin typeface="微软雅黑" charset="0"/>
                <a:ea typeface="微软雅黑" charset="0"/>
              </a:rPr>
              <a:t>{</a:t>
            </a:r>
            <a:r>
              <a:rPr lang="en-US" altLang="zh-CN" b="0">
                <a:solidFill>
                  <a:srgbClr val="000000"/>
                </a:solidFill>
                <a:latin typeface="微软雅黑" charset="0"/>
                <a:ea typeface="微软雅黑" charset="0"/>
              </a:rPr>
              <a:t>Logi. mouse, Ergoway wrist pad</a:t>
            </a:r>
            <a:r>
              <a:rPr lang="en-US" altLang="zh-CN" sz="2500" b="0">
                <a:solidFill>
                  <a:srgbClr val="000000"/>
                </a:solidFill>
                <a:latin typeface="微软雅黑" charset="0"/>
                <a:ea typeface="微软雅黑" charset="0"/>
              </a:rPr>
              <a:t>}</a:t>
            </a:r>
            <a:endParaRPr lang="en-US" altLang="zh-CN" b="0">
              <a:latin typeface="微软雅黑" charset="0"/>
              <a:ea typeface="微软雅黑" charset="0"/>
            </a:endParaRPr>
          </a:p>
        </p:txBody>
      </p:sp>
      <p:sp>
        <p:nvSpPr>
          <p:cNvPr id="91169" name="Rectangle 75"/>
          <p:cNvSpPr>
            <a:spLocks noChangeArrowheads="1"/>
          </p:cNvSpPr>
          <p:nvPr/>
        </p:nvSpPr>
        <p:spPr bwMode="auto">
          <a:xfrm>
            <a:off x="4248150" y="5289550"/>
            <a:ext cx="6350" cy="11113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91170" name="Rectangle 76"/>
          <p:cNvSpPr>
            <a:spLocks noChangeArrowheads="1"/>
          </p:cNvSpPr>
          <p:nvPr/>
        </p:nvSpPr>
        <p:spPr bwMode="auto">
          <a:xfrm>
            <a:off x="4254500" y="5289550"/>
            <a:ext cx="714375" cy="4763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91171" name="Rectangle 78"/>
          <p:cNvSpPr>
            <a:spLocks noChangeArrowheads="1"/>
          </p:cNvSpPr>
          <p:nvPr/>
        </p:nvSpPr>
        <p:spPr bwMode="auto">
          <a:xfrm>
            <a:off x="4975225" y="5289550"/>
            <a:ext cx="3517900" cy="4763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91172" name="Rectangle 79"/>
          <p:cNvSpPr>
            <a:spLocks noChangeArrowheads="1"/>
          </p:cNvSpPr>
          <p:nvPr/>
        </p:nvSpPr>
        <p:spPr bwMode="auto">
          <a:xfrm>
            <a:off x="8493125" y="5289550"/>
            <a:ext cx="6350" cy="11113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91173" name="Rectangle 80"/>
          <p:cNvSpPr>
            <a:spLocks noChangeArrowheads="1"/>
          </p:cNvSpPr>
          <p:nvPr/>
        </p:nvSpPr>
        <p:spPr bwMode="auto">
          <a:xfrm>
            <a:off x="4248150" y="5300663"/>
            <a:ext cx="6350" cy="363537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91174" name="Rectangle 82"/>
          <p:cNvSpPr>
            <a:spLocks noChangeArrowheads="1"/>
          </p:cNvSpPr>
          <p:nvPr/>
        </p:nvSpPr>
        <p:spPr bwMode="auto">
          <a:xfrm>
            <a:off x="8493125" y="5300663"/>
            <a:ext cx="6350" cy="363537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91175" name="Rectangle 83"/>
          <p:cNvSpPr>
            <a:spLocks noChangeArrowheads="1"/>
          </p:cNvSpPr>
          <p:nvPr/>
        </p:nvSpPr>
        <p:spPr bwMode="auto">
          <a:xfrm>
            <a:off x="4340225" y="5686425"/>
            <a:ext cx="44767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2500" b="0">
                <a:solidFill>
                  <a:srgbClr val="000000"/>
                </a:solidFill>
                <a:latin typeface="微软雅黑" charset="0"/>
                <a:ea typeface="微软雅黑" charset="0"/>
              </a:rPr>
              <a:t>T4</a:t>
            </a:r>
            <a:endParaRPr lang="en-US" altLang="zh-CN" sz="2500" b="0">
              <a:solidFill>
                <a:srgbClr val="0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91176" name="Rectangle 84"/>
          <p:cNvSpPr>
            <a:spLocks noChangeArrowheads="1"/>
          </p:cNvSpPr>
          <p:nvPr/>
        </p:nvSpPr>
        <p:spPr bwMode="auto">
          <a:xfrm>
            <a:off x="5046663" y="5748338"/>
            <a:ext cx="2879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b="0">
                <a:solidFill>
                  <a:srgbClr val="000000"/>
                </a:solidFill>
                <a:latin typeface="微软雅黑" charset="0"/>
                <a:ea typeface="微软雅黑" charset="0"/>
              </a:rPr>
              <a:t>{IBM D/C, Ms. Fin. Sw.}</a:t>
            </a:r>
            <a:endParaRPr lang="en-US" altLang="zh-CN" b="0">
              <a:solidFill>
                <a:srgbClr val="0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91177" name="Rectangle 85"/>
          <p:cNvSpPr>
            <a:spLocks noChangeArrowheads="1"/>
          </p:cNvSpPr>
          <p:nvPr/>
        </p:nvSpPr>
        <p:spPr bwMode="auto">
          <a:xfrm>
            <a:off x="4248150" y="5664200"/>
            <a:ext cx="6350" cy="11113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91178" name="Rectangle 86"/>
          <p:cNvSpPr>
            <a:spLocks noChangeArrowheads="1"/>
          </p:cNvSpPr>
          <p:nvPr/>
        </p:nvSpPr>
        <p:spPr bwMode="auto">
          <a:xfrm>
            <a:off x="4254500" y="5664200"/>
            <a:ext cx="714375" cy="4763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91179" name="Rectangle 88"/>
          <p:cNvSpPr>
            <a:spLocks noChangeArrowheads="1"/>
          </p:cNvSpPr>
          <p:nvPr/>
        </p:nvSpPr>
        <p:spPr bwMode="auto">
          <a:xfrm>
            <a:off x="4975225" y="5664200"/>
            <a:ext cx="3517900" cy="4763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91180" name="Rectangle 89"/>
          <p:cNvSpPr>
            <a:spLocks noChangeArrowheads="1"/>
          </p:cNvSpPr>
          <p:nvPr/>
        </p:nvSpPr>
        <p:spPr bwMode="auto">
          <a:xfrm>
            <a:off x="8493125" y="5664200"/>
            <a:ext cx="6350" cy="11113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91181" name="Rectangle 90"/>
          <p:cNvSpPr>
            <a:spLocks noChangeArrowheads="1"/>
          </p:cNvSpPr>
          <p:nvPr/>
        </p:nvSpPr>
        <p:spPr bwMode="auto">
          <a:xfrm>
            <a:off x="4248150" y="5675313"/>
            <a:ext cx="6350" cy="363537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91182" name="Rectangle 92"/>
          <p:cNvSpPr>
            <a:spLocks noChangeArrowheads="1"/>
          </p:cNvSpPr>
          <p:nvPr/>
        </p:nvSpPr>
        <p:spPr bwMode="auto">
          <a:xfrm>
            <a:off x="8493125" y="5675313"/>
            <a:ext cx="6350" cy="363537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91183" name="Rectangle 93"/>
          <p:cNvSpPr>
            <a:spLocks noChangeArrowheads="1"/>
          </p:cNvSpPr>
          <p:nvPr/>
        </p:nvSpPr>
        <p:spPr bwMode="auto">
          <a:xfrm>
            <a:off x="4341813" y="6061075"/>
            <a:ext cx="4460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2500" b="0">
                <a:solidFill>
                  <a:srgbClr val="000000"/>
                </a:solidFill>
                <a:latin typeface="微软雅黑" charset="0"/>
                <a:ea typeface="微软雅黑" charset="0"/>
              </a:rPr>
              <a:t>T5</a:t>
            </a:r>
            <a:endParaRPr lang="en-US" altLang="zh-CN" sz="2500" b="0">
              <a:solidFill>
                <a:srgbClr val="0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91184" name="Rectangle 94"/>
          <p:cNvSpPr>
            <a:spLocks noChangeArrowheads="1"/>
          </p:cNvSpPr>
          <p:nvPr/>
        </p:nvSpPr>
        <p:spPr bwMode="auto">
          <a:xfrm>
            <a:off x="5807075" y="6061075"/>
            <a:ext cx="13477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2000" b="0">
                <a:solidFill>
                  <a:srgbClr val="000000"/>
                </a:solidFill>
                <a:latin typeface="微软雅黑" charset="0"/>
                <a:ea typeface="微软雅黑" charset="0"/>
              </a:rPr>
              <a:t>{IBM D/C}</a:t>
            </a:r>
            <a:endParaRPr lang="en-US" altLang="zh-CN" sz="2000" b="0">
              <a:solidFill>
                <a:srgbClr val="0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91185" name="Rectangle 95"/>
          <p:cNvSpPr>
            <a:spLocks noChangeArrowheads="1"/>
          </p:cNvSpPr>
          <p:nvPr/>
        </p:nvSpPr>
        <p:spPr bwMode="auto">
          <a:xfrm>
            <a:off x="4248150" y="6038850"/>
            <a:ext cx="6350" cy="11113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91186" name="Rectangle 96"/>
          <p:cNvSpPr>
            <a:spLocks noChangeArrowheads="1"/>
          </p:cNvSpPr>
          <p:nvPr/>
        </p:nvSpPr>
        <p:spPr bwMode="auto">
          <a:xfrm>
            <a:off x="4254500" y="6038850"/>
            <a:ext cx="714375" cy="63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91187" name="Rectangle 98"/>
          <p:cNvSpPr>
            <a:spLocks noChangeArrowheads="1"/>
          </p:cNvSpPr>
          <p:nvPr/>
        </p:nvSpPr>
        <p:spPr bwMode="auto">
          <a:xfrm>
            <a:off x="4975225" y="6038850"/>
            <a:ext cx="3517900" cy="63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91188" name="Rectangle 99"/>
          <p:cNvSpPr>
            <a:spLocks noChangeArrowheads="1"/>
          </p:cNvSpPr>
          <p:nvPr/>
        </p:nvSpPr>
        <p:spPr bwMode="auto">
          <a:xfrm>
            <a:off x="8493125" y="6038850"/>
            <a:ext cx="6350" cy="11113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91189" name="Rectangle 100"/>
          <p:cNvSpPr>
            <a:spLocks noChangeArrowheads="1"/>
          </p:cNvSpPr>
          <p:nvPr/>
        </p:nvSpPr>
        <p:spPr bwMode="auto">
          <a:xfrm>
            <a:off x="4248150" y="6049963"/>
            <a:ext cx="6350" cy="363537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91190" name="Rectangle 101"/>
          <p:cNvSpPr>
            <a:spLocks noChangeArrowheads="1"/>
          </p:cNvSpPr>
          <p:nvPr/>
        </p:nvSpPr>
        <p:spPr bwMode="auto">
          <a:xfrm>
            <a:off x="4248150" y="6413500"/>
            <a:ext cx="6350" cy="63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91191" name="Rectangle 102"/>
          <p:cNvSpPr>
            <a:spLocks noChangeArrowheads="1"/>
          </p:cNvSpPr>
          <p:nvPr/>
        </p:nvSpPr>
        <p:spPr bwMode="auto">
          <a:xfrm>
            <a:off x="4248150" y="6413500"/>
            <a:ext cx="6350" cy="63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91192" name="Rectangle 103"/>
          <p:cNvSpPr>
            <a:spLocks noChangeArrowheads="1"/>
          </p:cNvSpPr>
          <p:nvPr/>
        </p:nvSpPr>
        <p:spPr bwMode="auto">
          <a:xfrm>
            <a:off x="4254500" y="6413500"/>
            <a:ext cx="714375" cy="63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91193" name="Rectangle 106"/>
          <p:cNvSpPr>
            <a:spLocks noChangeArrowheads="1"/>
          </p:cNvSpPr>
          <p:nvPr/>
        </p:nvSpPr>
        <p:spPr bwMode="auto">
          <a:xfrm>
            <a:off x="4975225" y="6413500"/>
            <a:ext cx="3517900" cy="63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91194" name="Rectangle 107"/>
          <p:cNvSpPr>
            <a:spLocks noChangeArrowheads="1"/>
          </p:cNvSpPr>
          <p:nvPr/>
        </p:nvSpPr>
        <p:spPr bwMode="auto">
          <a:xfrm>
            <a:off x="8493125" y="6049963"/>
            <a:ext cx="6350" cy="363537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91195" name="Rectangle 108"/>
          <p:cNvSpPr>
            <a:spLocks noChangeArrowheads="1"/>
          </p:cNvSpPr>
          <p:nvPr/>
        </p:nvSpPr>
        <p:spPr bwMode="auto">
          <a:xfrm>
            <a:off x="8493125" y="6413500"/>
            <a:ext cx="6350" cy="63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91196" name="Rectangle 109"/>
          <p:cNvSpPr>
            <a:spLocks noChangeArrowheads="1"/>
          </p:cNvSpPr>
          <p:nvPr/>
        </p:nvSpPr>
        <p:spPr bwMode="auto">
          <a:xfrm>
            <a:off x="8493125" y="6413500"/>
            <a:ext cx="6350" cy="63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81075"/>
            <a:ext cx="8229600" cy="4525963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rgbClr val="FF0000"/>
                </a:solidFill>
              </a:rPr>
              <a:t>在适当的等级挖掘出来的数据项间的关联规则可能是非常有用的</a:t>
            </a:r>
            <a:endParaRPr lang="zh-CN" altLang="en-US" sz="2800" b="0" dirty="0">
              <a:solidFill>
                <a:srgbClr val="FF0000"/>
              </a:solidFill>
            </a:endParaRPr>
          </a:p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rgbClr val="1557AE"/>
                </a:solidFill>
              </a:rPr>
              <a:t>事务数据库中的数据也是根据</a:t>
            </a:r>
            <a:r>
              <a:rPr lang="zh-CN" altLang="en-US" sz="2800" b="0" dirty="0">
                <a:solidFill>
                  <a:srgbClr val="FF0000"/>
                </a:solidFill>
              </a:rPr>
              <a:t>维</a:t>
            </a:r>
            <a:r>
              <a:rPr lang="zh-CN" altLang="en-US" sz="2800" b="0" dirty="0">
                <a:solidFill>
                  <a:srgbClr val="1557AE"/>
                </a:solidFill>
              </a:rPr>
              <a:t>和</a:t>
            </a:r>
            <a:r>
              <a:rPr lang="zh-CN" altLang="en-US" sz="2800" b="0" dirty="0">
                <a:solidFill>
                  <a:srgbClr val="FF0000"/>
                </a:solidFill>
              </a:rPr>
              <a:t>概念</a:t>
            </a:r>
            <a:r>
              <a:rPr lang="zh-CN" altLang="en-US" sz="2800" b="0" dirty="0">
                <a:solidFill>
                  <a:srgbClr val="1557AE"/>
                </a:solidFill>
              </a:rPr>
              <a:t>分层来进行储存的</a:t>
            </a:r>
            <a:endParaRPr lang="zh-CN" altLang="en-US" sz="2800" b="0" dirty="0">
              <a:solidFill>
                <a:srgbClr val="1557AE"/>
              </a:solidFill>
            </a:endParaRPr>
          </a:p>
          <a:p>
            <a:pPr lvl="1" eaLnBrk="1" hangingPunct="1"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rgbClr val="1557AE"/>
                </a:solidFill>
              </a:rPr>
              <a:t>这为从事务数据库中挖掘不同层次的关联规则提供了可能。</a:t>
            </a:r>
            <a:endParaRPr lang="zh-CN" altLang="en-US" sz="2400" b="0" dirty="0">
              <a:solidFill>
                <a:srgbClr val="1557AE"/>
              </a:solidFill>
            </a:endParaRPr>
          </a:p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rgbClr val="1557AE"/>
                </a:solidFill>
              </a:rPr>
              <a:t>在多个抽象层挖掘关联规则，并在不同的抽象层进行转化，是数据挖掘系统应该提供的能力</a:t>
            </a:r>
            <a:endParaRPr lang="zh-CN" altLang="en-US" sz="2800" b="0" dirty="0">
              <a:solidFill>
                <a:srgbClr val="1557AE"/>
              </a:solidFill>
            </a:endParaRPr>
          </a:p>
        </p:txBody>
      </p:sp>
      <p:sp>
        <p:nvSpPr>
          <p:cNvPr id="5" name="Rectangle 6"/>
          <p:cNvSpPr txBox="1">
            <a:spLocks noChangeArrowheads="1"/>
          </p:cNvSpPr>
          <p:nvPr/>
        </p:nvSpPr>
        <p:spPr bwMode="auto">
          <a:xfrm>
            <a:off x="571500" y="-100013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3.3 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多层关联规则挖掘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96752"/>
            <a:ext cx="8229600" cy="4525962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rgbClr val="1557AE"/>
                </a:solidFill>
                <a:cs typeface="微软雅黑" charset="0"/>
              </a:rPr>
              <a:t>多层关联规则的挖掘还是使用</a:t>
            </a:r>
            <a:r>
              <a:rPr lang="zh-CN" altLang="en-US" sz="2800" b="0" dirty="0">
                <a:solidFill>
                  <a:srgbClr val="FF0000"/>
                </a:solidFill>
                <a:cs typeface="微软雅黑" charset="0"/>
              </a:rPr>
              <a:t>置信度－支持度框架</a:t>
            </a:r>
            <a:r>
              <a:rPr lang="zh-CN" altLang="en-US" sz="2800" b="0" dirty="0">
                <a:solidFill>
                  <a:srgbClr val="1557AE"/>
                </a:solidFill>
                <a:cs typeface="微软雅黑" charset="0"/>
              </a:rPr>
              <a:t>，可以采用</a:t>
            </a:r>
            <a:r>
              <a:rPr lang="zh-CN" altLang="en-US" sz="2800" b="0" dirty="0">
                <a:solidFill>
                  <a:srgbClr val="FF0000"/>
                </a:solidFill>
                <a:cs typeface="微软雅黑" charset="0"/>
              </a:rPr>
              <a:t>自顶向下策略</a:t>
            </a:r>
            <a:endParaRPr lang="zh-CN" altLang="en-US" sz="2800" b="0" dirty="0">
              <a:solidFill>
                <a:srgbClr val="FF0000"/>
              </a:solidFill>
              <a:cs typeface="微软雅黑" charset="0"/>
            </a:endParaRP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rgbClr val="1557AE"/>
                </a:solidFill>
                <a:cs typeface="微软雅黑" charset="0"/>
              </a:rPr>
              <a:t>概念分层中，一个节点的支持度肯定不小于该节点的任何子节点的支持度（为什么？）</a:t>
            </a:r>
            <a:endParaRPr lang="zh-CN" altLang="en-US" sz="2400" b="0" dirty="0">
              <a:solidFill>
                <a:srgbClr val="1557AE"/>
              </a:solidFill>
              <a:cs typeface="微软雅黑" charset="0"/>
            </a:endParaRP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rgbClr val="1557AE"/>
                </a:solidFill>
                <a:cs typeface="微软雅黑" charset="0"/>
              </a:rPr>
              <a:t>由概念层</a:t>
            </a:r>
            <a:r>
              <a:rPr lang="en-US" altLang="zh-CN" sz="2400" b="0" dirty="0">
                <a:solidFill>
                  <a:srgbClr val="1557AE"/>
                </a:solidFill>
                <a:cs typeface="微软雅黑" charset="0"/>
              </a:rPr>
              <a:t>1</a:t>
            </a:r>
            <a:r>
              <a:rPr lang="zh-CN" altLang="en-US" sz="2400" b="0" dirty="0">
                <a:solidFill>
                  <a:srgbClr val="1557AE"/>
                </a:solidFill>
                <a:cs typeface="微软雅黑" charset="0"/>
              </a:rPr>
              <a:t>开始向下，到较低的更特定的概念层，对每个概念层的频繁项计算累加计数</a:t>
            </a:r>
            <a:endParaRPr lang="zh-CN" altLang="en-US" sz="2400" b="0" dirty="0">
              <a:solidFill>
                <a:srgbClr val="1557AE"/>
              </a:solidFill>
              <a:cs typeface="微软雅黑" charset="0"/>
            </a:endParaRP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rgbClr val="1557AE"/>
                </a:solidFill>
                <a:cs typeface="微软雅黑" charset="0"/>
              </a:rPr>
              <a:t>每一层的关联规则挖掘可以使用</a:t>
            </a:r>
            <a:r>
              <a:rPr lang="en-US" altLang="zh-CN" sz="2400" b="0" dirty="0" err="1">
                <a:solidFill>
                  <a:srgbClr val="1557AE"/>
                </a:solidFill>
                <a:cs typeface="微软雅黑" charset="0"/>
              </a:rPr>
              <a:t>Apriori</a:t>
            </a:r>
            <a:r>
              <a:rPr lang="zh-CN" altLang="en-US" sz="2400" b="0" dirty="0">
                <a:solidFill>
                  <a:srgbClr val="1557AE"/>
                </a:solidFill>
                <a:cs typeface="微软雅黑" charset="0"/>
              </a:rPr>
              <a:t>等多种方法</a:t>
            </a:r>
            <a:endParaRPr lang="zh-CN" altLang="en-US" sz="2400" b="0" dirty="0">
              <a:solidFill>
                <a:srgbClr val="1557AE"/>
              </a:solidFill>
              <a:cs typeface="微软雅黑" charset="0"/>
            </a:endParaRP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rgbClr val="1557AE"/>
                </a:solidFill>
                <a:cs typeface="微软雅黑" charset="0"/>
              </a:rPr>
              <a:t>例如：</a:t>
            </a:r>
            <a:endParaRPr lang="zh-CN" altLang="en-US" sz="2400" b="0" dirty="0">
              <a:solidFill>
                <a:srgbClr val="1557AE"/>
              </a:solidFill>
              <a:cs typeface="微软雅黑" charset="0"/>
            </a:endParaRPr>
          </a:p>
          <a:p>
            <a:pPr marL="1196975" lvl="2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Arial" panose="020B0604020202090204" pitchFamily="34" charset="0"/>
              <a:buChar char="•"/>
            </a:pPr>
            <a:r>
              <a:rPr lang="zh-CN" altLang="en-US" sz="2000" b="0" dirty="0">
                <a:solidFill>
                  <a:srgbClr val="1557AE"/>
                </a:solidFill>
                <a:cs typeface="微软雅黑" charset="0"/>
              </a:rPr>
              <a:t>先找高层的关联规则：</a:t>
            </a:r>
            <a:r>
              <a:rPr lang="en-US" altLang="zh-CN" sz="2000" b="0" dirty="0">
                <a:solidFill>
                  <a:srgbClr val="1557AE"/>
                </a:solidFill>
                <a:cs typeface="微软雅黑" charset="0"/>
              </a:rPr>
              <a:t>computer -&gt; printer [20%, 60%]</a:t>
            </a:r>
            <a:endParaRPr lang="en-US" altLang="zh-CN" sz="2000" b="0" dirty="0">
              <a:solidFill>
                <a:srgbClr val="1557AE"/>
              </a:solidFill>
              <a:cs typeface="微软雅黑" charset="0"/>
            </a:endParaRPr>
          </a:p>
          <a:p>
            <a:pPr marL="1196975" lvl="2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Arial" panose="020B0604020202090204" pitchFamily="34" charset="0"/>
              <a:buChar char="•"/>
            </a:pPr>
            <a:r>
              <a:rPr lang="zh-CN" altLang="en-US" sz="2000" b="0" dirty="0">
                <a:solidFill>
                  <a:srgbClr val="1557AE"/>
                </a:solidFill>
                <a:cs typeface="微软雅黑" charset="0"/>
              </a:rPr>
              <a:t>再找较低层的关联规则：</a:t>
            </a:r>
            <a:r>
              <a:rPr lang="en-US" altLang="zh-CN" sz="2000" b="0" dirty="0">
                <a:solidFill>
                  <a:srgbClr val="1557AE"/>
                </a:solidFill>
                <a:cs typeface="微软雅黑" charset="0"/>
              </a:rPr>
              <a:t>laptop -&gt; color printer [10%, 50%]</a:t>
            </a:r>
            <a:endParaRPr lang="en-US" altLang="zh-CN" sz="2000" b="0" dirty="0">
              <a:solidFill>
                <a:srgbClr val="1557AE"/>
              </a:solidFill>
              <a:cs typeface="微软雅黑" charset="0"/>
            </a:endParaRPr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 bwMode="auto">
          <a:xfrm>
            <a:off x="571500" y="-100013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3.3 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多层关联规则挖掘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81138"/>
            <a:ext cx="8229600" cy="4525962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n"/>
            </a:pPr>
            <a:r>
              <a:rPr lang="zh-CN" altLang="en-US" sz="2800" b="0">
                <a:solidFill>
                  <a:srgbClr val="FF0000"/>
                </a:solidFill>
              </a:rPr>
              <a:t>一致支持度：</a:t>
            </a:r>
            <a:r>
              <a:rPr lang="zh-CN" altLang="en-US" sz="2800" b="0">
                <a:solidFill>
                  <a:srgbClr val="1557AE"/>
                </a:solidFill>
              </a:rPr>
              <a:t>对所有层都使用一致的最小支持度</a:t>
            </a:r>
            <a:endParaRPr lang="zh-CN" altLang="en-US" sz="2800" b="0">
              <a:solidFill>
                <a:srgbClr val="1557AE"/>
              </a:solidFill>
            </a:endParaRPr>
          </a:p>
          <a:p>
            <a:pPr lvl="1" eaLnBrk="1" hangingPunct="1">
              <a:lnSpc>
                <a:spcPct val="15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b="0">
                <a:solidFill>
                  <a:srgbClr val="FF0000"/>
                </a:solidFill>
              </a:rPr>
              <a:t>优点：</a:t>
            </a:r>
            <a:r>
              <a:rPr lang="zh-CN" altLang="en-US" sz="2400" b="0">
                <a:solidFill>
                  <a:srgbClr val="1557AE"/>
                </a:solidFill>
              </a:rPr>
              <a:t>搜索时容易采用优化策略，即一个项如果不满足最小支持度，它的所有子项都可以不用搜索</a:t>
            </a:r>
            <a:endParaRPr lang="zh-CN" altLang="en-US" sz="2400" b="0">
              <a:solidFill>
                <a:srgbClr val="1557AE"/>
              </a:solidFill>
            </a:endParaRPr>
          </a:p>
          <a:p>
            <a:pPr lvl="1" eaLnBrk="1" hangingPunct="1">
              <a:lnSpc>
                <a:spcPct val="15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b="0">
                <a:solidFill>
                  <a:srgbClr val="FF0000"/>
                </a:solidFill>
              </a:rPr>
              <a:t>缺点：</a:t>
            </a:r>
            <a:r>
              <a:rPr lang="zh-CN" altLang="en-US" sz="2400" b="0">
                <a:solidFill>
                  <a:srgbClr val="1557AE"/>
                </a:solidFill>
              </a:rPr>
              <a:t>最小支持度值设置困难</a:t>
            </a:r>
            <a:endParaRPr lang="zh-CN" altLang="en-US" sz="2400" b="0">
              <a:solidFill>
                <a:srgbClr val="1557AE"/>
              </a:solidFill>
            </a:endParaRPr>
          </a:p>
          <a:p>
            <a:pPr marL="1196975" lvl="2" indent="-342900" eaLnBrk="1" hangingPunct="1">
              <a:lnSpc>
                <a:spcPct val="150000"/>
              </a:lnSpc>
              <a:spcBef>
                <a:spcPts val="600"/>
              </a:spcBef>
              <a:buClr>
                <a:schemeClr val="tx1"/>
              </a:buClr>
              <a:buFont typeface="Arial" panose="020B0604020202090204" pitchFamily="34" charset="0"/>
              <a:buChar char="•"/>
            </a:pPr>
            <a:r>
              <a:rPr lang="zh-CN" altLang="en-US" sz="2000" b="0">
                <a:solidFill>
                  <a:srgbClr val="1557AE"/>
                </a:solidFill>
              </a:rPr>
              <a:t>太高：将丢掉出现在较低抽象层中有意义的关联规则</a:t>
            </a:r>
            <a:endParaRPr lang="zh-CN" altLang="en-US" sz="2000" b="0">
              <a:solidFill>
                <a:srgbClr val="1557AE"/>
              </a:solidFill>
            </a:endParaRPr>
          </a:p>
          <a:p>
            <a:pPr marL="1196975" lvl="2" indent="-342900" eaLnBrk="1" hangingPunct="1">
              <a:lnSpc>
                <a:spcPct val="150000"/>
              </a:lnSpc>
              <a:spcBef>
                <a:spcPts val="600"/>
              </a:spcBef>
              <a:buClr>
                <a:schemeClr val="tx1"/>
              </a:buClr>
              <a:buFont typeface="Arial" panose="020B0604020202090204" pitchFamily="34" charset="0"/>
              <a:buChar char="•"/>
            </a:pPr>
            <a:r>
              <a:rPr lang="zh-CN" altLang="en-US" sz="2000" b="0">
                <a:solidFill>
                  <a:srgbClr val="1557AE"/>
                </a:solidFill>
              </a:rPr>
              <a:t>太低：会在较高层产生太多的无兴趣的规则</a:t>
            </a:r>
            <a:endParaRPr lang="zh-CN" altLang="en-US" sz="2000" b="0">
              <a:solidFill>
                <a:srgbClr val="1557AE"/>
              </a:solidFill>
            </a:endParaRPr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 bwMode="auto">
          <a:xfrm>
            <a:off x="571500" y="-100013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3.3 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多层关联规则挖掘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3"/>
          <p:cNvSpPr txBox="1">
            <a:spLocks noChangeArrowheads="1"/>
          </p:cNvSpPr>
          <p:nvPr/>
        </p:nvSpPr>
        <p:spPr bwMode="auto">
          <a:xfrm>
            <a:off x="395536" y="1273175"/>
            <a:ext cx="433705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rgbClr val="FF0000"/>
                </a:solidFill>
                <a:latin typeface="微软雅黑" charset="0"/>
                <a:ea typeface="微软雅黑" charset="0"/>
              </a:rPr>
              <a:t>使用递减支持度</a:t>
            </a:r>
            <a:r>
              <a:rPr lang="zh-CN" altLang="en-US" sz="2800" b="0" dirty="0">
                <a:solidFill>
                  <a:srgbClr val="1557AE"/>
                </a:solidFill>
                <a:latin typeface="微软雅黑" charset="0"/>
                <a:ea typeface="微软雅黑" charset="0"/>
              </a:rPr>
              <a:t>，可以解决使用一致支持度时在最小支持度值上设定的困难</a:t>
            </a:r>
            <a:endParaRPr lang="zh-CN" altLang="en-US" sz="2800" b="0" dirty="0">
              <a:solidFill>
                <a:srgbClr val="1557AE"/>
              </a:solidFill>
              <a:latin typeface="微软雅黑" charset="0"/>
              <a:ea typeface="微软雅黑" charset="0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rgbClr val="FF0000"/>
                </a:solidFill>
                <a:latin typeface="微软雅黑" charset="0"/>
                <a:ea typeface="微软雅黑" charset="0"/>
              </a:rPr>
              <a:t>递减支持度：</a:t>
            </a:r>
            <a:r>
              <a:rPr lang="zh-CN" altLang="en-US" sz="2800" b="0" dirty="0">
                <a:solidFill>
                  <a:srgbClr val="1557AE"/>
                </a:solidFill>
                <a:latin typeface="微软雅黑" charset="0"/>
                <a:ea typeface="微软雅黑" charset="0"/>
              </a:rPr>
              <a:t>在较低层使用递减的最小支持度</a:t>
            </a:r>
            <a:endParaRPr lang="zh-CN" altLang="en-US" sz="2800" b="0" dirty="0">
              <a:solidFill>
                <a:srgbClr val="1557AE"/>
              </a:solidFill>
              <a:latin typeface="微软雅黑" charset="0"/>
              <a:ea typeface="微软雅黑" charset="0"/>
            </a:endParaRP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rgbClr val="FF0000"/>
                </a:solidFill>
                <a:latin typeface="微软雅黑" charset="0"/>
                <a:ea typeface="微软雅黑" charset="0"/>
              </a:rPr>
              <a:t>每一层都有自己的一个独立的最小支持度</a:t>
            </a:r>
            <a:endParaRPr lang="zh-CN" altLang="en-US" sz="2400" b="0" dirty="0">
              <a:solidFill>
                <a:srgbClr val="FF0000"/>
              </a:solidFill>
              <a:latin typeface="微软雅黑" charset="0"/>
              <a:ea typeface="微软雅黑" charset="0"/>
            </a:endParaRP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rgbClr val="FF0000"/>
                </a:solidFill>
                <a:latin typeface="微软雅黑" charset="0"/>
                <a:ea typeface="微软雅黑" charset="0"/>
              </a:rPr>
              <a:t>抽象层越低，对应的最小支持度越小</a:t>
            </a:r>
            <a:endParaRPr lang="zh-CN" altLang="en-US" sz="2400" b="0" dirty="0">
              <a:solidFill>
                <a:srgbClr val="FF0000"/>
              </a:solidFill>
              <a:latin typeface="微软雅黑" charset="0"/>
              <a:ea typeface="微软雅黑" charset="0"/>
            </a:endParaRPr>
          </a:p>
        </p:txBody>
      </p:sp>
      <p:graphicFrame>
        <p:nvGraphicFramePr>
          <p:cNvPr id="3" name="图示 2"/>
          <p:cNvGraphicFramePr/>
          <p:nvPr/>
        </p:nvGraphicFramePr>
        <p:xfrm>
          <a:off x="5353050" y="2437284"/>
          <a:ext cx="3611438" cy="26598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99332" name="Text Box 11"/>
          <p:cNvSpPr txBox="1">
            <a:spLocks noChangeArrowheads="1"/>
          </p:cNvSpPr>
          <p:nvPr/>
        </p:nvSpPr>
        <p:spPr bwMode="auto">
          <a:xfrm>
            <a:off x="4859338" y="3538538"/>
            <a:ext cx="1871662" cy="369887"/>
          </a:xfrm>
          <a:prstGeom prst="rect">
            <a:avLst/>
          </a:prstGeom>
          <a:solidFill>
            <a:srgbClr val="CC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sz="1800" b="0">
                <a:latin typeface="微软雅黑" charset="0"/>
                <a:ea typeface="微软雅黑" charset="0"/>
              </a:rPr>
              <a:t>min_sup = 5%</a:t>
            </a:r>
            <a:endParaRPr lang="en-US" altLang="zh-CN" sz="1800" b="0">
              <a:latin typeface="微软雅黑" charset="0"/>
              <a:ea typeface="微软雅黑" charset="0"/>
            </a:endParaRPr>
          </a:p>
        </p:txBody>
      </p:sp>
      <p:sp>
        <p:nvSpPr>
          <p:cNvPr id="99333" name="Text Box 12"/>
          <p:cNvSpPr txBox="1">
            <a:spLocks noChangeArrowheads="1"/>
          </p:cNvSpPr>
          <p:nvPr/>
        </p:nvSpPr>
        <p:spPr bwMode="auto">
          <a:xfrm>
            <a:off x="4860925" y="4841875"/>
            <a:ext cx="1871663" cy="369888"/>
          </a:xfrm>
          <a:prstGeom prst="rect">
            <a:avLst/>
          </a:prstGeom>
          <a:solidFill>
            <a:srgbClr val="CC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sz="1800" b="0">
                <a:latin typeface="微软雅黑" charset="0"/>
                <a:ea typeface="微软雅黑" charset="0"/>
              </a:rPr>
              <a:t>min_sup = 5%</a:t>
            </a:r>
            <a:endParaRPr lang="en-US" altLang="zh-CN" sz="1800" b="0">
              <a:latin typeface="微软雅黑" charset="0"/>
              <a:ea typeface="微软雅黑" charset="0"/>
            </a:endParaRPr>
          </a:p>
        </p:txBody>
      </p:sp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4860925" y="4841875"/>
            <a:ext cx="1871663" cy="369888"/>
          </a:xfrm>
          <a:prstGeom prst="rect">
            <a:avLst/>
          </a:prstGeom>
          <a:solidFill>
            <a:srgbClr val="CC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sz="1800" b="0">
                <a:latin typeface="微软雅黑" charset="0"/>
                <a:ea typeface="微软雅黑" charset="0"/>
              </a:rPr>
              <a:t>min_sup = </a:t>
            </a:r>
            <a:r>
              <a:rPr lang="en-US" altLang="zh-CN" sz="1800" b="0">
                <a:solidFill>
                  <a:srgbClr val="CC0000"/>
                </a:solidFill>
                <a:latin typeface="微软雅黑" charset="0"/>
                <a:ea typeface="微软雅黑" charset="0"/>
              </a:rPr>
              <a:t>3%</a:t>
            </a:r>
            <a:endParaRPr lang="en-US" altLang="zh-CN" sz="1800" b="0">
              <a:solidFill>
                <a:srgbClr val="CC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8" name="Rectangle 6"/>
          <p:cNvSpPr txBox="1">
            <a:spLocks noChangeArrowheads="1"/>
          </p:cNvSpPr>
          <p:nvPr/>
        </p:nvSpPr>
        <p:spPr bwMode="auto">
          <a:xfrm>
            <a:off x="571500" y="-100013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3.3 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多层关联规则挖掘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81138"/>
            <a:ext cx="8229600" cy="4525962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n"/>
            </a:pPr>
            <a:r>
              <a:rPr lang="zh-CN" altLang="en-US" sz="2800" b="0">
                <a:solidFill>
                  <a:srgbClr val="FF0000"/>
                </a:solidFill>
                <a:cs typeface="微软雅黑" charset="0"/>
              </a:rPr>
              <a:t>多层关联</a:t>
            </a:r>
            <a:r>
              <a:rPr lang="en-US" altLang="zh-CN" sz="2800" b="0">
                <a:solidFill>
                  <a:srgbClr val="FF0000"/>
                </a:solidFill>
                <a:cs typeface="微软雅黑" charset="0"/>
              </a:rPr>
              <a:t>——</a:t>
            </a:r>
            <a:r>
              <a:rPr lang="zh-CN" altLang="en-US" sz="2800" b="0">
                <a:solidFill>
                  <a:srgbClr val="FF0000"/>
                </a:solidFill>
                <a:cs typeface="微软雅黑" charset="0"/>
              </a:rPr>
              <a:t>基于分组的支持度</a:t>
            </a:r>
            <a:endParaRPr lang="en-US" altLang="zh-CN" sz="2800" b="0">
              <a:solidFill>
                <a:srgbClr val="FF0000"/>
              </a:solidFill>
              <a:cs typeface="微软雅黑" charset="0"/>
            </a:endParaRPr>
          </a:p>
          <a:p>
            <a:pPr lvl="1" eaLnBrk="1" hangingPunct="1">
              <a:lnSpc>
                <a:spcPct val="15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b="0">
                <a:solidFill>
                  <a:srgbClr val="1557AE"/>
                </a:solidFill>
                <a:cs typeface="微软雅黑" charset="0"/>
              </a:rPr>
              <a:t>用户和专家清楚哪些分组比其他分组更加重要，在挖掘多层关联规则时，使用用户指定的基于项或者基于分组的最小支持度阈值</a:t>
            </a:r>
            <a:endParaRPr lang="en-US" altLang="zh-CN" sz="2400" b="0">
              <a:solidFill>
                <a:srgbClr val="1557AE"/>
              </a:solidFill>
              <a:cs typeface="微软雅黑" charset="0"/>
            </a:endParaRPr>
          </a:p>
          <a:p>
            <a:pPr marL="1196975" lvl="2" indent="-342900" eaLnBrk="1" hangingPunct="1">
              <a:lnSpc>
                <a:spcPct val="150000"/>
              </a:lnSpc>
              <a:spcBef>
                <a:spcPts val="600"/>
              </a:spcBef>
              <a:buClr>
                <a:schemeClr val="tx1"/>
              </a:buClr>
              <a:buFont typeface="Arial" panose="020B0604020202090204" pitchFamily="34" charset="0"/>
              <a:buChar char="•"/>
            </a:pPr>
            <a:r>
              <a:rPr lang="en-US" altLang="zh-CN" sz="2000" b="0">
                <a:solidFill>
                  <a:srgbClr val="1557AE"/>
                </a:solidFill>
                <a:cs typeface="微软雅黑" charset="0"/>
              </a:rPr>
              <a:t>E.g. </a:t>
            </a:r>
            <a:r>
              <a:rPr lang="zh-CN" altLang="en-US" sz="2000" b="0">
                <a:solidFill>
                  <a:srgbClr val="1557AE"/>
                </a:solidFill>
                <a:cs typeface="微软雅黑" charset="0"/>
              </a:rPr>
              <a:t>对</a:t>
            </a:r>
            <a:r>
              <a:rPr lang="en-US" altLang="zh-CN" sz="2000" b="0">
                <a:solidFill>
                  <a:srgbClr val="1557AE"/>
                </a:solidFill>
                <a:cs typeface="微软雅黑" charset="0"/>
              </a:rPr>
              <a:t>laptop_computer</a:t>
            </a:r>
            <a:r>
              <a:rPr lang="zh-CN" altLang="en-US" sz="2000" b="0">
                <a:solidFill>
                  <a:srgbClr val="1557AE"/>
                </a:solidFill>
                <a:cs typeface="微软雅黑" charset="0"/>
              </a:rPr>
              <a:t>或者</a:t>
            </a:r>
            <a:r>
              <a:rPr lang="en-US" altLang="zh-CN" sz="2000" b="0">
                <a:solidFill>
                  <a:srgbClr val="1557AE"/>
                </a:solidFill>
                <a:cs typeface="微软雅黑" charset="0"/>
              </a:rPr>
              <a:t>flash_drives</a:t>
            </a:r>
            <a:r>
              <a:rPr lang="zh-CN" altLang="en-US" sz="2000" b="0">
                <a:solidFill>
                  <a:srgbClr val="1557AE"/>
                </a:solidFill>
                <a:cs typeface="微软雅黑" charset="0"/>
              </a:rPr>
              <a:t>设置特别低的支持度阈值，以便特别关注这类商品的管理模式</a:t>
            </a:r>
            <a:endParaRPr lang="zh-CN" altLang="en-US" sz="2000" b="0">
              <a:solidFill>
                <a:srgbClr val="1557AE"/>
              </a:solidFill>
              <a:cs typeface="微软雅黑" charset="0"/>
            </a:endParaRPr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 bwMode="auto">
          <a:xfrm>
            <a:off x="571500" y="-100013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3.3 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多层关联规则挖掘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426" name="Object 5"/>
          <p:cNvGraphicFramePr>
            <a:graphicFrameLocks noChangeAspect="1"/>
          </p:cNvGraphicFramePr>
          <p:nvPr/>
        </p:nvGraphicFramePr>
        <p:xfrm>
          <a:off x="990600" y="2590800"/>
          <a:ext cx="7643813" cy="364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45" name="Document" r:id="rId1" imgW="5629910" imgH="2685415" progId="Word.Document.8">
                  <p:embed/>
                </p:oleObj>
              </mc:Choice>
              <mc:Fallback>
                <p:oleObj name="Document" r:id="rId1" imgW="5629910" imgH="2685415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590800"/>
                        <a:ext cx="7643813" cy="3646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27" name="Text Box 6"/>
          <p:cNvSpPr txBox="1">
            <a:spLocks noChangeArrowheads="1"/>
          </p:cNvSpPr>
          <p:nvPr/>
        </p:nvSpPr>
        <p:spPr bwMode="auto">
          <a:xfrm>
            <a:off x="1498600" y="1676400"/>
            <a:ext cx="5594350" cy="829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2400" b="0">
                <a:solidFill>
                  <a:srgbClr val="1557AE"/>
                </a:solidFill>
                <a:latin typeface="微软雅黑" charset="0"/>
                <a:ea typeface="微软雅黑" charset="0"/>
              </a:rPr>
              <a:t>Hierarchy-information encoded </a:t>
            </a:r>
            <a:endParaRPr lang="en-US" altLang="zh-CN" sz="2400" b="0">
              <a:solidFill>
                <a:srgbClr val="1557AE"/>
              </a:solidFill>
              <a:latin typeface="微软雅黑" charset="0"/>
              <a:ea typeface="微软雅黑" charset="0"/>
            </a:endParaRPr>
          </a:p>
          <a:p>
            <a:pPr algn="ctr" eaLnBrk="1" hangingPunct="1"/>
            <a:r>
              <a:rPr lang="en-US" altLang="zh-CN" sz="2400" b="0">
                <a:solidFill>
                  <a:srgbClr val="1557AE"/>
                </a:solidFill>
                <a:latin typeface="微软雅黑" charset="0"/>
                <a:ea typeface="微软雅黑" charset="0"/>
              </a:rPr>
              <a:t>transaction table: T[1] </a:t>
            </a:r>
            <a:endParaRPr lang="en-US" altLang="zh-CN" sz="2400" b="0">
              <a:solidFill>
                <a:srgbClr val="1557AE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" name="Rectangle 6"/>
          <p:cNvSpPr txBox="1">
            <a:spLocks noChangeArrowheads="1"/>
          </p:cNvSpPr>
          <p:nvPr/>
        </p:nvSpPr>
        <p:spPr bwMode="auto">
          <a:xfrm>
            <a:off x="571500" y="-100013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3.3 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多层关联规则挖掘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ext Box 2"/>
          <p:cNvSpPr txBox="1">
            <a:spLocks noChangeArrowheads="1"/>
          </p:cNvSpPr>
          <p:nvPr/>
        </p:nvSpPr>
        <p:spPr bwMode="auto">
          <a:xfrm>
            <a:off x="608013" y="1508125"/>
            <a:ext cx="5867400" cy="39878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2000">
                <a:solidFill>
                  <a:srgbClr val="1557AE"/>
                </a:solidFill>
                <a:latin typeface="微软雅黑" charset="0"/>
                <a:ea typeface="微软雅黑" charset="0"/>
              </a:rPr>
              <a:t>minsup[1] = 4</a:t>
            </a:r>
            <a:endParaRPr lang="en-US" altLang="zh-CN" sz="2000">
              <a:solidFill>
                <a:srgbClr val="1557AE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05475" name="Text Box 3"/>
          <p:cNvSpPr txBox="1">
            <a:spLocks noChangeArrowheads="1"/>
          </p:cNvSpPr>
          <p:nvPr/>
        </p:nvSpPr>
        <p:spPr bwMode="auto">
          <a:xfrm>
            <a:off x="4763" y="2422525"/>
            <a:ext cx="3703637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600">
                <a:solidFill>
                  <a:srgbClr val="1557AE"/>
                </a:solidFill>
                <a:latin typeface="微软雅黑" charset="0"/>
                <a:ea typeface="微软雅黑" charset="0"/>
              </a:rPr>
              <a:t>Level-1 large 1-itemsets: L[1, 1]</a:t>
            </a:r>
            <a:endParaRPr lang="en-US" altLang="zh-CN" sz="1600">
              <a:solidFill>
                <a:srgbClr val="1557AE"/>
              </a:solidFill>
              <a:latin typeface="微软雅黑" charset="0"/>
              <a:ea typeface="微软雅黑" charset="0"/>
            </a:endParaRPr>
          </a:p>
        </p:txBody>
      </p:sp>
      <p:graphicFrame>
        <p:nvGraphicFramePr>
          <p:cNvPr id="105476" name="Object 4"/>
          <p:cNvGraphicFramePr>
            <a:graphicFrameLocks noChangeAspect="1"/>
          </p:cNvGraphicFramePr>
          <p:nvPr/>
        </p:nvGraphicFramePr>
        <p:xfrm>
          <a:off x="608013" y="2571574"/>
          <a:ext cx="5630862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26" name="Document" r:id="rId1" imgW="5629910" imgH="1047750" progId="Word.Document.8">
                  <p:embed/>
                </p:oleObj>
              </mc:Choice>
              <mc:Fallback>
                <p:oleObj name="Document" r:id="rId1" imgW="5629910" imgH="104775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013" y="2571574"/>
                        <a:ext cx="5630862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77" name="Text Box 5"/>
          <p:cNvSpPr txBox="1">
            <a:spLocks noChangeArrowheads="1"/>
          </p:cNvSpPr>
          <p:nvPr/>
        </p:nvSpPr>
        <p:spPr bwMode="auto">
          <a:xfrm>
            <a:off x="3995936" y="2429493"/>
            <a:ext cx="3719513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600" dirty="0">
                <a:solidFill>
                  <a:srgbClr val="1557AE"/>
                </a:solidFill>
                <a:latin typeface="微软雅黑" charset="0"/>
                <a:ea typeface="微软雅黑" charset="0"/>
              </a:rPr>
              <a:t>Level-1 large 2-itemsets: L[1, 2]</a:t>
            </a:r>
            <a:endParaRPr lang="en-US" altLang="zh-CN" sz="1600" dirty="0">
              <a:solidFill>
                <a:srgbClr val="1557AE"/>
              </a:solidFill>
              <a:latin typeface="微软雅黑" charset="0"/>
              <a:ea typeface="微软雅黑" charset="0"/>
            </a:endParaRPr>
          </a:p>
        </p:txBody>
      </p:sp>
      <p:graphicFrame>
        <p:nvGraphicFramePr>
          <p:cNvPr id="105478" name="Object 7"/>
          <p:cNvGraphicFramePr>
            <a:graphicFrameLocks noChangeAspect="1"/>
          </p:cNvGraphicFramePr>
          <p:nvPr/>
        </p:nvGraphicFramePr>
        <p:xfrm>
          <a:off x="671538" y="4496594"/>
          <a:ext cx="5630862" cy="210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27" name="Document" r:id="rId3" imgW="5629910" imgH="1891030" progId="Word.Document.8">
                  <p:embed/>
                </p:oleObj>
              </mc:Choice>
              <mc:Fallback>
                <p:oleObj name="Document" r:id="rId3" imgW="5629910" imgH="189103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538" y="4496594"/>
                        <a:ext cx="5630862" cy="210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79" name="Text Box 8"/>
          <p:cNvSpPr txBox="1">
            <a:spLocks noChangeArrowheads="1"/>
          </p:cNvSpPr>
          <p:nvPr/>
        </p:nvSpPr>
        <p:spPr bwMode="auto">
          <a:xfrm>
            <a:off x="307975" y="4327525"/>
            <a:ext cx="3459163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600">
                <a:solidFill>
                  <a:srgbClr val="1557AE"/>
                </a:solidFill>
                <a:latin typeface="微软雅黑" charset="0"/>
                <a:ea typeface="微软雅黑" charset="0"/>
              </a:rPr>
              <a:t>Filtered transaction table: T[2]</a:t>
            </a:r>
            <a:endParaRPr lang="en-US" altLang="zh-CN" sz="1600">
              <a:solidFill>
                <a:srgbClr val="1557AE"/>
              </a:solidFill>
              <a:latin typeface="微软雅黑" charset="0"/>
              <a:ea typeface="微软雅黑" charset="0"/>
            </a:endParaRPr>
          </a:p>
        </p:txBody>
      </p:sp>
      <p:grpSp>
        <p:nvGrpSpPr>
          <p:cNvPr id="105480" name="Group 17"/>
          <p:cNvGrpSpPr/>
          <p:nvPr/>
        </p:nvGrpSpPr>
        <p:grpSpPr bwMode="auto">
          <a:xfrm>
            <a:off x="4189413" y="2017713"/>
            <a:ext cx="382587" cy="431800"/>
            <a:chOff x="4440" y="2352"/>
            <a:chExt cx="241" cy="272"/>
          </a:xfrm>
        </p:grpSpPr>
        <p:sp>
          <p:nvSpPr>
            <p:cNvPr id="105490" name="Oval 12"/>
            <p:cNvSpPr>
              <a:spLocks noChangeArrowheads="1"/>
            </p:cNvSpPr>
            <p:nvPr/>
          </p:nvSpPr>
          <p:spPr bwMode="auto">
            <a:xfrm>
              <a:off x="4440" y="238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 sz="1600">
                <a:solidFill>
                  <a:srgbClr val="1557AE"/>
                </a:solidFill>
                <a:latin typeface="微软雅黑" charset="0"/>
                <a:ea typeface="微软雅黑" charset="0"/>
              </a:endParaRPr>
            </a:p>
          </p:txBody>
        </p:sp>
        <p:sp>
          <p:nvSpPr>
            <p:cNvPr id="15" name="Text Box 11"/>
            <p:cNvSpPr txBox="1">
              <a:spLocks noChangeArrowheads="1"/>
            </p:cNvSpPr>
            <p:nvPr/>
          </p:nvSpPr>
          <p:spPr bwMode="auto">
            <a:xfrm>
              <a:off x="4459" y="2352"/>
              <a:ext cx="222" cy="2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000" dirty="0">
                  <a:solidFill>
                    <a:srgbClr val="1557AE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charset="0"/>
                  <a:ea typeface="微软雅黑" charset="0"/>
                  <a:cs typeface="Calibri" panose="020F0502020204030204" pitchFamily="34" charset="0"/>
                </a:rPr>
                <a:t>3</a:t>
              </a:r>
              <a:endParaRPr lang="en-US" altLang="zh-CN" sz="2000" dirty="0">
                <a:solidFill>
                  <a:srgbClr val="1557A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charset="0"/>
                <a:ea typeface="微软雅黑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05481" name="Group 18"/>
          <p:cNvGrpSpPr/>
          <p:nvPr/>
        </p:nvGrpSpPr>
        <p:grpSpPr bwMode="auto">
          <a:xfrm>
            <a:off x="531813" y="3794125"/>
            <a:ext cx="381000" cy="444500"/>
            <a:chOff x="4040" y="1968"/>
            <a:chExt cx="240" cy="280"/>
          </a:xfrm>
        </p:grpSpPr>
        <p:sp>
          <p:nvSpPr>
            <p:cNvPr id="17" name="Text Box 10"/>
            <p:cNvSpPr txBox="1">
              <a:spLocks noChangeArrowheads="1"/>
            </p:cNvSpPr>
            <p:nvPr/>
          </p:nvSpPr>
          <p:spPr bwMode="auto">
            <a:xfrm>
              <a:off x="4055" y="1968"/>
              <a:ext cx="221" cy="2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000" dirty="0">
                  <a:solidFill>
                    <a:srgbClr val="1557AE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charset="0"/>
                  <a:ea typeface="微软雅黑" charset="0"/>
                  <a:cs typeface="Calibri" panose="020F0502020204030204" pitchFamily="34" charset="0"/>
                </a:rPr>
                <a:t>2</a:t>
              </a:r>
              <a:endParaRPr lang="en-US" altLang="zh-CN" sz="2000" dirty="0">
                <a:solidFill>
                  <a:srgbClr val="1557A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charset="0"/>
                <a:ea typeface="微软雅黑" charset="0"/>
                <a:cs typeface="Calibri" panose="020F0502020204030204" pitchFamily="34" charset="0"/>
              </a:endParaRPr>
            </a:p>
          </p:txBody>
        </p:sp>
        <p:sp>
          <p:nvSpPr>
            <p:cNvPr id="105489" name="Oval 15"/>
            <p:cNvSpPr>
              <a:spLocks noChangeArrowheads="1"/>
            </p:cNvSpPr>
            <p:nvPr/>
          </p:nvSpPr>
          <p:spPr bwMode="auto">
            <a:xfrm>
              <a:off x="4040" y="2008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1557AE"/>
                </a:solidFill>
                <a:latin typeface="微软雅黑" charset="0"/>
                <a:ea typeface="微软雅黑" charset="0"/>
              </a:endParaRPr>
            </a:p>
          </p:txBody>
        </p:sp>
      </p:grpSp>
      <p:grpSp>
        <p:nvGrpSpPr>
          <p:cNvPr id="105482" name="Group 19"/>
          <p:cNvGrpSpPr/>
          <p:nvPr/>
        </p:nvGrpSpPr>
        <p:grpSpPr bwMode="auto">
          <a:xfrm>
            <a:off x="608013" y="1965325"/>
            <a:ext cx="381000" cy="431800"/>
            <a:chOff x="3912" y="2688"/>
            <a:chExt cx="240" cy="272"/>
          </a:xfrm>
        </p:grpSpPr>
        <p:sp>
          <p:nvSpPr>
            <p:cNvPr id="20" name="Text Box 9"/>
            <p:cNvSpPr txBox="1">
              <a:spLocks noChangeArrowheads="1"/>
            </p:cNvSpPr>
            <p:nvPr/>
          </p:nvSpPr>
          <p:spPr bwMode="auto">
            <a:xfrm>
              <a:off x="3934" y="2688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000" dirty="0">
                  <a:solidFill>
                    <a:srgbClr val="1557AE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charset="0"/>
                  <a:ea typeface="微软雅黑" charset="0"/>
                  <a:cs typeface="Calibri" panose="020F0502020204030204" pitchFamily="34" charset="0"/>
                </a:rPr>
                <a:t>1</a:t>
              </a:r>
              <a:endParaRPr lang="en-US" altLang="zh-CN" sz="2000" dirty="0">
                <a:solidFill>
                  <a:srgbClr val="1557A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charset="0"/>
                <a:ea typeface="微软雅黑" charset="0"/>
                <a:cs typeface="Calibri" panose="020F0502020204030204" pitchFamily="34" charset="0"/>
              </a:endParaRPr>
            </a:p>
          </p:txBody>
        </p:sp>
        <p:sp>
          <p:nvSpPr>
            <p:cNvPr id="105487" name="Oval 16"/>
            <p:cNvSpPr>
              <a:spLocks noChangeArrowheads="1"/>
            </p:cNvSpPr>
            <p:nvPr/>
          </p:nvSpPr>
          <p:spPr bwMode="auto">
            <a:xfrm>
              <a:off x="3912" y="272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 sz="1600">
                <a:solidFill>
                  <a:srgbClr val="1557AE"/>
                </a:solidFill>
                <a:latin typeface="微软雅黑" charset="0"/>
                <a:ea typeface="微软雅黑" charset="0"/>
              </a:endParaRPr>
            </a:p>
          </p:txBody>
        </p:sp>
      </p:grpSp>
      <p:sp>
        <p:nvSpPr>
          <p:cNvPr id="105483" name="Text Box 20"/>
          <p:cNvSpPr txBox="1">
            <a:spLocks noChangeArrowheads="1"/>
          </p:cNvSpPr>
          <p:nvPr/>
        </p:nvSpPr>
        <p:spPr bwMode="auto">
          <a:xfrm>
            <a:off x="4942344" y="4274059"/>
            <a:ext cx="3640460" cy="191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b="0" dirty="0">
                <a:solidFill>
                  <a:srgbClr val="1557AE"/>
                </a:solidFill>
                <a:latin typeface="微软雅黑" charset="0"/>
                <a:ea typeface="微软雅黑" charset="0"/>
              </a:rPr>
              <a:t>L[1,1] is used to filter:</a:t>
            </a:r>
            <a:endParaRPr lang="en-US" altLang="zh-CN" b="0" dirty="0">
              <a:solidFill>
                <a:srgbClr val="1557AE"/>
              </a:solidFill>
              <a:latin typeface="微软雅黑" charset="0"/>
              <a:ea typeface="微软雅黑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0" dirty="0">
                <a:solidFill>
                  <a:srgbClr val="1557AE"/>
                </a:solidFill>
                <a:latin typeface="微软雅黑" charset="0"/>
                <a:ea typeface="微软雅黑" charset="0"/>
              </a:rPr>
              <a:t>(1) any item which is not large in a transaction</a:t>
            </a:r>
            <a:endParaRPr lang="en-US" altLang="zh-CN" b="0" dirty="0">
              <a:solidFill>
                <a:srgbClr val="1557AE"/>
              </a:solidFill>
              <a:latin typeface="微软雅黑" charset="0"/>
              <a:ea typeface="微软雅黑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0" dirty="0">
                <a:solidFill>
                  <a:srgbClr val="1557AE"/>
                </a:solidFill>
                <a:latin typeface="微软雅黑" charset="0"/>
                <a:ea typeface="微软雅黑" charset="0"/>
              </a:rPr>
              <a:t>(2) the transactions in T[1] which contain only small items</a:t>
            </a:r>
            <a:endParaRPr lang="en-US" altLang="zh-CN" b="0" dirty="0">
              <a:solidFill>
                <a:srgbClr val="1557AE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05484" name="Text Box 21"/>
          <p:cNvSpPr txBox="1">
            <a:spLocks noChangeArrowheads="1"/>
          </p:cNvSpPr>
          <p:nvPr/>
        </p:nvSpPr>
        <p:spPr bwMode="auto">
          <a:xfrm>
            <a:off x="3805238" y="2973388"/>
            <a:ext cx="2414587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600" b="0">
                <a:solidFill>
                  <a:srgbClr val="1557AE"/>
                </a:solidFill>
                <a:latin typeface="微软雅黑" charset="0"/>
                <a:ea typeface="微软雅黑" charset="0"/>
              </a:rPr>
              <a:t>- Use L[1,1] and T[2]</a:t>
            </a:r>
            <a:endParaRPr lang="en-US" altLang="zh-CN" sz="1600" b="0">
              <a:solidFill>
                <a:srgbClr val="1557AE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1" name="Rectangle 6"/>
          <p:cNvSpPr txBox="1">
            <a:spLocks noChangeArrowheads="1"/>
          </p:cNvSpPr>
          <p:nvPr/>
        </p:nvSpPr>
        <p:spPr bwMode="auto">
          <a:xfrm>
            <a:off x="571500" y="-100013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3.3 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多层关联规则挖掘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ext Box 2"/>
          <p:cNvSpPr txBox="1">
            <a:spLocks noChangeArrowheads="1"/>
          </p:cNvSpPr>
          <p:nvPr/>
        </p:nvSpPr>
        <p:spPr bwMode="auto">
          <a:xfrm>
            <a:off x="757238" y="1712913"/>
            <a:ext cx="7910512" cy="30670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>
                <a:solidFill>
                  <a:srgbClr val="1557AE"/>
                </a:solidFill>
                <a:latin typeface="微软雅黑" charset="0"/>
                <a:ea typeface="微软雅黑" charset="0"/>
              </a:rPr>
              <a:t>minsup[2] = 3</a:t>
            </a:r>
            <a:endParaRPr lang="en-US" altLang="zh-CN" sz="1400">
              <a:solidFill>
                <a:srgbClr val="1557AE"/>
              </a:solidFill>
              <a:latin typeface="微软雅黑" charset="0"/>
              <a:ea typeface="微软雅黑" charset="0"/>
            </a:endParaRPr>
          </a:p>
        </p:txBody>
      </p:sp>
      <p:graphicFrame>
        <p:nvGraphicFramePr>
          <p:cNvPr id="107523" name="Object 3"/>
          <p:cNvGraphicFramePr>
            <a:graphicFrameLocks noChangeAspect="1"/>
          </p:cNvGraphicFramePr>
          <p:nvPr/>
        </p:nvGraphicFramePr>
        <p:xfrm>
          <a:off x="699096" y="2566988"/>
          <a:ext cx="6494462" cy="169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89" name="Document" r:id="rId1" imgW="5629910" imgH="1469390" progId="Word.Document.8">
                  <p:embed/>
                </p:oleObj>
              </mc:Choice>
              <mc:Fallback>
                <p:oleObj name="Document" r:id="rId1" imgW="5629910" imgH="146939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096" y="2566988"/>
                        <a:ext cx="6494462" cy="169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24" name="Text Box 4"/>
          <p:cNvSpPr txBox="1">
            <a:spLocks noChangeArrowheads="1"/>
          </p:cNvSpPr>
          <p:nvPr/>
        </p:nvSpPr>
        <p:spPr bwMode="auto">
          <a:xfrm>
            <a:off x="542925" y="2060575"/>
            <a:ext cx="26685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0">
                <a:solidFill>
                  <a:srgbClr val="1557AE"/>
                </a:solidFill>
                <a:latin typeface="微软雅黑" charset="0"/>
                <a:ea typeface="微软雅黑" charset="0"/>
              </a:rPr>
              <a:t>Level-2 large 1-itemsets: </a:t>
            </a:r>
            <a:endParaRPr lang="en-US" altLang="zh-CN" sz="1400" b="0">
              <a:solidFill>
                <a:srgbClr val="1557AE"/>
              </a:solidFill>
              <a:latin typeface="微软雅黑" charset="0"/>
              <a:ea typeface="微软雅黑" charset="0"/>
            </a:endParaRPr>
          </a:p>
          <a:p>
            <a:pPr algn="ctr" eaLnBrk="1" hangingPunct="1"/>
            <a:r>
              <a:rPr lang="en-US" altLang="zh-CN" sz="1400" b="0">
                <a:solidFill>
                  <a:srgbClr val="1557AE"/>
                </a:solidFill>
                <a:latin typeface="微软雅黑" charset="0"/>
                <a:ea typeface="微软雅黑" charset="0"/>
              </a:rPr>
              <a:t>L[2, 1] </a:t>
            </a:r>
            <a:r>
              <a:rPr lang="en-US" altLang="zh-CN" sz="1400" b="0" baseline="30000">
                <a:solidFill>
                  <a:srgbClr val="1557AE"/>
                </a:solidFill>
                <a:latin typeface="微软雅黑" charset="0"/>
                <a:ea typeface="微软雅黑" charset="0"/>
              </a:rPr>
              <a:t>(Note 1)</a:t>
            </a:r>
            <a:endParaRPr lang="en-US" altLang="zh-CN" sz="1400" b="0">
              <a:solidFill>
                <a:srgbClr val="1557AE"/>
              </a:solidFill>
              <a:latin typeface="微软雅黑" charset="0"/>
              <a:ea typeface="微软雅黑" charset="0"/>
            </a:endParaRPr>
          </a:p>
        </p:txBody>
      </p:sp>
      <p:graphicFrame>
        <p:nvGraphicFramePr>
          <p:cNvPr id="107525" name="Object 5"/>
          <p:cNvGraphicFramePr>
            <a:graphicFrameLocks noChangeAspect="1"/>
          </p:cNvGraphicFramePr>
          <p:nvPr/>
        </p:nvGraphicFramePr>
        <p:xfrm>
          <a:off x="2843808" y="2584450"/>
          <a:ext cx="6494463" cy="193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90" name="Document" r:id="rId3" imgW="5629910" imgH="1680210" progId="Word.Document.8">
                  <p:embed/>
                </p:oleObj>
              </mc:Choice>
              <mc:Fallback>
                <p:oleObj name="Document" r:id="rId3" imgW="5629910" imgH="168021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2584450"/>
                        <a:ext cx="6494463" cy="193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26" name="Text Box 6"/>
          <p:cNvSpPr txBox="1">
            <a:spLocks noChangeArrowheads="1"/>
          </p:cNvSpPr>
          <p:nvPr/>
        </p:nvSpPr>
        <p:spPr bwMode="auto">
          <a:xfrm>
            <a:off x="3049588" y="2073275"/>
            <a:ext cx="267493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0">
                <a:solidFill>
                  <a:srgbClr val="1557AE"/>
                </a:solidFill>
                <a:latin typeface="微软雅黑" charset="0"/>
                <a:ea typeface="微软雅黑" charset="0"/>
              </a:rPr>
              <a:t>Level-2 large 2-itemsets: </a:t>
            </a:r>
            <a:endParaRPr lang="en-US" altLang="zh-CN" sz="1400" b="0">
              <a:solidFill>
                <a:srgbClr val="1557AE"/>
              </a:solidFill>
              <a:latin typeface="微软雅黑" charset="0"/>
              <a:ea typeface="微软雅黑" charset="0"/>
            </a:endParaRPr>
          </a:p>
          <a:p>
            <a:pPr algn="ctr" eaLnBrk="1" hangingPunct="1"/>
            <a:r>
              <a:rPr lang="en-US" altLang="zh-CN" sz="1400" b="0">
                <a:solidFill>
                  <a:srgbClr val="1557AE"/>
                </a:solidFill>
                <a:latin typeface="微软雅黑" charset="0"/>
                <a:ea typeface="微软雅黑" charset="0"/>
              </a:rPr>
              <a:t>L[2, 2] </a:t>
            </a:r>
            <a:r>
              <a:rPr lang="en-US" altLang="zh-CN" sz="1400" b="0" baseline="30000">
                <a:solidFill>
                  <a:srgbClr val="1557AE"/>
                </a:solidFill>
                <a:latin typeface="微软雅黑" charset="0"/>
                <a:ea typeface="微软雅黑" charset="0"/>
              </a:rPr>
              <a:t>(Note 2)</a:t>
            </a:r>
            <a:endParaRPr lang="en-US" altLang="zh-CN" sz="1400" b="0" baseline="30000">
              <a:solidFill>
                <a:srgbClr val="1557AE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07527" name="Text Box 8"/>
          <p:cNvSpPr txBox="1">
            <a:spLocks noChangeArrowheads="1"/>
          </p:cNvSpPr>
          <p:nvPr/>
        </p:nvSpPr>
        <p:spPr bwMode="auto">
          <a:xfrm>
            <a:off x="5568950" y="2093913"/>
            <a:ext cx="26749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0">
                <a:solidFill>
                  <a:srgbClr val="1557AE"/>
                </a:solidFill>
                <a:latin typeface="微软雅黑" charset="0"/>
                <a:ea typeface="微软雅黑" charset="0"/>
              </a:rPr>
              <a:t>Level-2 large 3-itemsets: </a:t>
            </a:r>
            <a:endParaRPr lang="en-US" altLang="zh-CN" sz="1400" b="0">
              <a:solidFill>
                <a:srgbClr val="1557AE"/>
              </a:solidFill>
              <a:latin typeface="微软雅黑" charset="0"/>
              <a:ea typeface="微软雅黑" charset="0"/>
            </a:endParaRPr>
          </a:p>
          <a:p>
            <a:pPr algn="ctr" eaLnBrk="1" hangingPunct="1"/>
            <a:r>
              <a:rPr lang="en-US" altLang="zh-CN" sz="1400" b="0">
                <a:solidFill>
                  <a:srgbClr val="1557AE"/>
                </a:solidFill>
                <a:latin typeface="微软雅黑" charset="0"/>
                <a:ea typeface="微软雅黑" charset="0"/>
              </a:rPr>
              <a:t>L[2, 3] </a:t>
            </a:r>
            <a:r>
              <a:rPr lang="en-US" altLang="zh-CN" sz="1400" b="0" baseline="30000">
                <a:solidFill>
                  <a:srgbClr val="1557AE"/>
                </a:solidFill>
                <a:latin typeface="微软雅黑" charset="0"/>
                <a:ea typeface="微软雅黑" charset="0"/>
              </a:rPr>
              <a:t>(Note 3)</a:t>
            </a:r>
            <a:endParaRPr lang="en-US" altLang="zh-CN" sz="1400" b="0" baseline="30000">
              <a:solidFill>
                <a:srgbClr val="1557AE"/>
              </a:solidFill>
              <a:latin typeface="微软雅黑" charset="0"/>
              <a:ea typeface="微软雅黑" charset="0"/>
            </a:endParaRPr>
          </a:p>
        </p:txBody>
      </p:sp>
      <p:graphicFrame>
        <p:nvGraphicFramePr>
          <p:cNvPr id="107534" name="对象 1"/>
          <p:cNvGraphicFramePr>
            <a:graphicFrameLocks noChangeAspect="1"/>
          </p:cNvGraphicFramePr>
          <p:nvPr/>
        </p:nvGraphicFramePr>
        <p:xfrm>
          <a:off x="5292081" y="2852936"/>
          <a:ext cx="6408712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91" name="Document" r:id="rId5" imgW="5629910" imgH="784860" progId="Word.Document.8">
                  <p:embed/>
                </p:oleObj>
              </mc:Choice>
              <mc:Fallback>
                <p:oleObj name="Document" r:id="rId5" imgW="5629910" imgH="784860" progId="Word.Document.8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081" y="2852936"/>
                        <a:ext cx="6408712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6"/>
          <p:cNvSpPr txBox="1">
            <a:spLocks noChangeArrowheads="1"/>
          </p:cNvSpPr>
          <p:nvPr/>
        </p:nvSpPr>
        <p:spPr bwMode="auto">
          <a:xfrm>
            <a:off x="571500" y="-100013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3.3 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多层关联规则挖掘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graphicFrame>
        <p:nvGraphicFramePr>
          <p:cNvPr id="10" name="Object 7"/>
          <p:cNvGraphicFramePr>
            <a:graphicFrameLocks noChangeAspect="1"/>
          </p:cNvGraphicFramePr>
          <p:nvPr/>
        </p:nvGraphicFramePr>
        <p:xfrm>
          <a:off x="671538" y="4496594"/>
          <a:ext cx="5630862" cy="210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92" name="Document" r:id="rId7" imgW="5632450" imgH="1889760" progId="Word.Document.8">
                  <p:embed/>
                </p:oleObj>
              </mc:Choice>
              <mc:Fallback>
                <p:oleObj name="Document" r:id="rId7" imgW="5632450" imgH="188976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538" y="4496594"/>
                        <a:ext cx="5630862" cy="210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ext Box 2"/>
          <p:cNvSpPr txBox="1">
            <a:spLocks noChangeArrowheads="1"/>
          </p:cNvSpPr>
          <p:nvPr/>
        </p:nvSpPr>
        <p:spPr bwMode="auto">
          <a:xfrm>
            <a:off x="1143000" y="1593850"/>
            <a:ext cx="5867400" cy="39878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2000">
                <a:solidFill>
                  <a:srgbClr val="1557AE"/>
                </a:solidFill>
                <a:latin typeface="微软雅黑" charset="0"/>
                <a:ea typeface="微软雅黑" charset="0"/>
              </a:rPr>
              <a:t>minsup[3] = 3</a:t>
            </a:r>
            <a:endParaRPr lang="en-US" altLang="zh-CN" sz="2000">
              <a:solidFill>
                <a:srgbClr val="1557AE"/>
              </a:solidFill>
              <a:latin typeface="微软雅黑" charset="0"/>
              <a:ea typeface="微软雅黑" charset="0"/>
            </a:endParaRPr>
          </a:p>
        </p:txBody>
      </p:sp>
      <p:graphicFrame>
        <p:nvGraphicFramePr>
          <p:cNvPr id="109571" name="Object 3"/>
          <p:cNvGraphicFramePr>
            <a:graphicFrameLocks noChangeAspect="1"/>
          </p:cNvGraphicFramePr>
          <p:nvPr/>
        </p:nvGraphicFramePr>
        <p:xfrm>
          <a:off x="1120775" y="2692400"/>
          <a:ext cx="6475413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17" name="Document" r:id="rId1" imgW="5629910" imgH="1258570" progId="Word.Document.8">
                  <p:embed/>
                </p:oleObj>
              </mc:Choice>
              <mc:Fallback>
                <p:oleObj name="Document" r:id="rId1" imgW="5629910" imgH="125857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0775" y="2692400"/>
                        <a:ext cx="6475413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72" name="Text Box 4"/>
          <p:cNvSpPr txBox="1">
            <a:spLocks noChangeArrowheads="1"/>
          </p:cNvSpPr>
          <p:nvPr/>
        </p:nvSpPr>
        <p:spPr bwMode="auto">
          <a:xfrm>
            <a:off x="361950" y="2205038"/>
            <a:ext cx="3446463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b="0">
                <a:solidFill>
                  <a:srgbClr val="1557AE"/>
                </a:solidFill>
                <a:latin typeface="微软雅黑" charset="0"/>
                <a:ea typeface="微软雅黑" charset="0"/>
              </a:rPr>
              <a:t>Level-3  large 1-itemsets: </a:t>
            </a:r>
            <a:endParaRPr lang="en-US" altLang="zh-CN" b="0">
              <a:solidFill>
                <a:srgbClr val="1557AE"/>
              </a:solidFill>
              <a:latin typeface="微软雅黑" charset="0"/>
              <a:ea typeface="微软雅黑" charset="0"/>
            </a:endParaRPr>
          </a:p>
          <a:p>
            <a:pPr algn="ctr" eaLnBrk="1" hangingPunct="1"/>
            <a:r>
              <a:rPr lang="en-US" altLang="zh-CN" b="0">
                <a:solidFill>
                  <a:srgbClr val="1557AE"/>
                </a:solidFill>
                <a:latin typeface="微软雅黑" charset="0"/>
                <a:ea typeface="微软雅黑" charset="0"/>
              </a:rPr>
              <a:t>L[3, 1] </a:t>
            </a:r>
            <a:r>
              <a:rPr lang="en-US" altLang="zh-CN" b="0" baseline="30000">
                <a:solidFill>
                  <a:srgbClr val="1557AE"/>
                </a:solidFill>
                <a:latin typeface="微软雅黑" charset="0"/>
                <a:ea typeface="微软雅黑" charset="0"/>
              </a:rPr>
              <a:t>(Note 1)</a:t>
            </a:r>
            <a:endParaRPr lang="en-US" altLang="zh-CN" b="0" baseline="30000">
              <a:solidFill>
                <a:srgbClr val="1557AE"/>
              </a:solidFill>
              <a:latin typeface="微软雅黑" charset="0"/>
              <a:ea typeface="微软雅黑" charset="0"/>
            </a:endParaRPr>
          </a:p>
        </p:txBody>
      </p:sp>
      <p:graphicFrame>
        <p:nvGraphicFramePr>
          <p:cNvPr id="109573" name="Object 5"/>
          <p:cNvGraphicFramePr>
            <a:graphicFrameLocks noChangeAspect="1"/>
          </p:cNvGraphicFramePr>
          <p:nvPr/>
        </p:nvGraphicFramePr>
        <p:xfrm>
          <a:off x="4090988" y="2692400"/>
          <a:ext cx="6894512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18" name="Document" r:id="rId3" imgW="5629910" imgH="836930" progId="Word.Document.8">
                  <p:embed/>
                </p:oleObj>
              </mc:Choice>
              <mc:Fallback>
                <p:oleObj name="Document" r:id="rId3" imgW="5629910" imgH="83693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0988" y="2692400"/>
                        <a:ext cx="6894512" cy="1023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74" name="Text Box 6"/>
          <p:cNvSpPr txBox="1">
            <a:spLocks noChangeArrowheads="1"/>
          </p:cNvSpPr>
          <p:nvPr/>
        </p:nvSpPr>
        <p:spPr bwMode="auto">
          <a:xfrm>
            <a:off x="3625850" y="2278063"/>
            <a:ext cx="3452813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b="0" dirty="0">
                <a:solidFill>
                  <a:srgbClr val="1557AE"/>
                </a:solidFill>
                <a:latin typeface="微软雅黑" charset="0"/>
                <a:ea typeface="微软雅黑" charset="0"/>
              </a:rPr>
              <a:t>Level-3  large 2-itemsets: </a:t>
            </a:r>
            <a:endParaRPr lang="en-US" altLang="zh-CN" b="0" dirty="0">
              <a:solidFill>
                <a:srgbClr val="1557AE"/>
              </a:solidFill>
              <a:latin typeface="微软雅黑" charset="0"/>
              <a:ea typeface="微软雅黑" charset="0"/>
            </a:endParaRPr>
          </a:p>
          <a:p>
            <a:pPr algn="ctr" eaLnBrk="1" hangingPunct="1"/>
            <a:r>
              <a:rPr lang="en-US" altLang="zh-CN" b="0" dirty="0">
                <a:solidFill>
                  <a:srgbClr val="1557AE"/>
                </a:solidFill>
                <a:latin typeface="微软雅黑" charset="0"/>
                <a:ea typeface="微软雅黑" charset="0"/>
              </a:rPr>
              <a:t>L[3, 2]</a:t>
            </a:r>
            <a:endParaRPr lang="en-US" altLang="zh-CN" b="0" baseline="30000" dirty="0">
              <a:solidFill>
                <a:srgbClr val="1557AE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3" name="Rectangle 6"/>
          <p:cNvSpPr txBox="1">
            <a:spLocks noChangeArrowheads="1"/>
          </p:cNvSpPr>
          <p:nvPr/>
        </p:nvSpPr>
        <p:spPr bwMode="auto">
          <a:xfrm>
            <a:off x="571500" y="-100013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3.3 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多层关联规则挖掘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graphicFrame>
        <p:nvGraphicFramePr>
          <p:cNvPr id="9" name="Object 7"/>
          <p:cNvGraphicFramePr>
            <a:graphicFrameLocks noChangeAspect="1"/>
          </p:cNvGraphicFramePr>
          <p:nvPr/>
        </p:nvGraphicFramePr>
        <p:xfrm>
          <a:off x="671538" y="4496594"/>
          <a:ext cx="5630862" cy="210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19" name="Document" r:id="rId5" imgW="5632450" imgH="1889760" progId="Word.Document.8">
                  <p:embed/>
                </p:oleObj>
              </mc:Choice>
              <mc:Fallback>
                <p:oleObj name="Document" r:id="rId5" imgW="5632450" imgH="188976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538" y="4496594"/>
                        <a:ext cx="5630862" cy="210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571500" y="-100013"/>
            <a:ext cx="8001000" cy="892176"/>
          </a:xfrm>
        </p:spPr>
        <p:txBody>
          <a:bodyPr/>
          <a:lstStyle/>
          <a:p>
            <a:pPr algn="ctr" eaLnBrk="1" hangingPunct="1"/>
            <a:r>
              <a:rPr lang="zh-CN" altLang="en-US" sz="3600">
                <a:solidFill>
                  <a:srgbClr val="1557AE"/>
                </a:solidFill>
              </a:rPr>
              <a:t>本章内容</a:t>
            </a:r>
            <a:endParaRPr lang="zh-CN" altLang="en-US" sz="3600">
              <a:solidFill>
                <a:srgbClr val="1557AE"/>
              </a:solidFill>
            </a:endParaRPr>
          </a:p>
        </p:txBody>
      </p:sp>
      <p:sp>
        <p:nvSpPr>
          <p:cNvPr id="11161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755650" y="1628775"/>
            <a:ext cx="7780338" cy="3024188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cs typeface="微软雅黑" charset="0"/>
              </a:rPr>
              <a:t>3.1  </a:t>
            </a:r>
            <a:r>
              <a:rPr lang="zh-CN" altLang="zh-CN" sz="2800" b="0">
                <a:solidFill>
                  <a:srgbClr val="1557AE"/>
                </a:solidFill>
                <a:cs typeface="微软雅黑" charset="0"/>
              </a:rPr>
              <a:t>关联规则挖掘的基本概念</a:t>
            </a:r>
            <a:endParaRPr lang="zh-CN" altLang="zh-CN" sz="2800" b="0">
              <a:solidFill>
                <a:srgbClr val="1557AE"/>
              </a:solidFill>
              <a:cs typeface="微软雅黑" charset="0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cs typeface="微软雅黑" charset="0"/>
              </a:rPr>
              <a:t>3.2  </a:t>
            </a:r>
            <a:r>
              <a:rPr lang="zh-CN" altLang="zh-CN" sz="2800" b="0">
                <a:solidFill>
                  <a:srgbClr val="1557AE"/>
                </a:solidFill>
                <a:cs typeface="微软雅黑" charset="0"/>
              </a:rPr>
              <a:t>由事务数据库挖掘单维布尔关联规则</a:t>
            </a:r>
            <a:endParaRPr lang="zh-CN" altLang="zh-CN" sz="2800" b="0">
              <a:solidFill>
                <a:srgbClr val="1557AE"/>
              </a:solidFill>
              <a:cs typeface="微软雅黑" charset="0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cs typeface="微软雅黑" charset="0"/>
              </a:rPr>
              <a:t>3.3  </a:t>
            </a:r>
            <a:r>
              <a:rPr lang="zh-CN" altLang="zh-CN" sz="2800" b="0">
                <a:solidFill>
                  <a:srgbClr val="1557AE"/>
                </a:solidFill>
                <a:cs typeface="微软雅黑" charset="0"/>
              </a:rPr>
              <a:t>多层关联规则挖掘</a:t>
            </a:r>
            <a:endParaRPr lang="zh-CN" altLang="zh-CN" sz="2800" b="0">
              <a:solidFill>
                <a:srgbClr val="1557AE"/>
              </a:solidFill>
              <a:cs typeface="微软雅黑" charset="0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FF0000"/>
                </a:solidFill>
                <a:cs typeface="微软雅黑" charset="0"/>
              </a:rPr>
              <a:t>3.4  </a:t>
            </a:r>
            <a:r>
              <a:rPr lang="zh-CN" altLang="en-US" sz="2800" b="0">
                <a:solidFill>
                  <a:srgbClr val="FF0000"/>
                </a:solidFill>
                <a:cs typeface="微软雅黑" charset="0"/>
              </a:rPr>
              <a:t>多维关联规则</a:t>
            </a:r>
            <a:r>
              <a:rPr lang="zh-CN" altLang="zh-CN" sz="2800" b="0">
                <a:solidFill>
                  <a:srgbClr val="FF0000"/>
                </a:solidFill>
                <a:cs typeface="微软雅黑" charset="0"/>
              </a:rPr>
              <a:t>挖掘</a:t>
            </a:r>
            <a:endParaRPr lang="en-US" altLang="zh-CN" sz="2800" b="0">
              <a:solidFill>
                <a:srgbClr val="FF0000"/>
              </a:solidFill>
              <a:cs typeface="微软雅黑" charset="0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cs typeface="微软雅黑" charset="0"/>
              </a:rPr>
              <a:t>3.5  </a:t>
            </a:r>
            <a:r>
              <a:rPr lang="zh-CN" altLang="en-US" sz="2800" b="0">
                <a:solidFill>
                  <a:srgbClr val="1557AE"/>
                </a:solidFill>
                <a:cs typeface="微软雅黑" charset="0"/>
              </a:rPr>
              <a:t>关联规则、相关性、因果关系的区别</a:t>
            </a:r>
            <a:endParaRPr lang="zh-CN" altLang="en-US" sz="2800" b="0">
              <a:solidFill>
                <a:srgbClr val="1557AE"/>
              </a:solidFill>
              <a:cs typeface="微软雅黑" charset="0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endParaRPr lang="zh-CN" altLang="en-US" sz="2800" b="0">
              <a:solidFill>
                <a:srgbClr val="1557AE"/>
              </a:solidFill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571500" y="-122238"/>
            <a:ext cx="8001000" cy="892176"/>
          </a:xfrm>
        </p:spPr>
        <p:txBody>
          <a:bodyPr/>
          <a:lstStyle/>
          <a:p>
            <a:pPr algn="ctr" eaLnBrk="1" hangingPunct="1"/>
            <a:r>
              <a:rPr lang="en-US" altLang="zh-CN" sz="3600">
                <a:solidFill>
                  <a:srgbClr val="1557AE"/>
                </a:solidFill>
                <a:cs typeface="微软雅黑" charset="0"/>
              </a:rPr>
              <a:t>3.4 </a:t>
            </a:r>
            <a:r>
              <a:rPr lang="zh-CN" altLang="en-US" sz="3600">
                <a:solidFill>
                  <a:srgbClr val="1557AE"/>
                </a:solidFill>
                <a:cs typeface="微软雅黑" charset="0"/>
              </a:rPr>
              <a:t>多维关联规则挖掘</a:t>
            </a:r>
            <a:endParaRPr lang="zh-CN" altLang="en-US" sz="3600">
              <a:solidFill>
                <a:srgbClr val="1557AE"/>
              </a:solidFill>
              <a:cs typeface="微软雅黑" charset="0"/>
            </a:endParaRPr>
          </a:p>
        </p:txBody>
      </p:sp>
      <p:sp>
        <p:nvSpPr>
          <p:cNvPr id="113667" name="Rectangle 3"/>
          <p:cNvSpPr txBox="1">
            <a:spLocks noChangeArrowheads="1"/>
          </p:cNvSpPr>
          <p:nvPr/>
        </p:nvSpPr>
        <p:spPr bwMode="auto">
          <a:xfrm>
            <a:off x="467544" y="1052736"/>
            <a:ext cx="8435975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n"/>
            </a:pPr>
            <a:r>
              <a:rPr lang="zh-CN" altLang="en-US" sz="24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单维关联规则：</a:t>
            </a:r>
            <a:endParaRPr lang="zh-CN" altLang="en-US" sz="2400" b="0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buys(X, “milk”) </a:t>
            </a:r>
            <a:r>
              <a:rPr lang="zh-CN" altLang="en-US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＝ </a:t>
            </a: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buys(X, “bread”)</a:t>
            </a:r>
            <a:endParaRPr lang="en-US" altLang="zh-CN" sz="2000" b="0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n"/>
            </a:pPr>
            <a:r>
              <a:rPr lang="zh-CN" altLang="en-US" sz="24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多维关联规则：</a:t>
            </a:r>
            <a:r>
              <a:rPr lang="zh-CN" altLang="en-US" sz="24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涉及两个或多个维或谓词的关联规则</a:t>
            </a:r>
            <a:endParaRPr lang="zh-CN" altLang="en-US" sz="24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维间关联规则：</a:t>
            </a:r>
            <a:r>
              <a:rPr lang="zh-CN" altLang="en-US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不包含重复的谓词</a:t>
            </a:r>
            <a:endParaRPr lang="zh-CN" altLang="en-US" sz="20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2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"/>
            </a:pPr>
            <a:r>
              <a:rPr lang="en-US" altLang="zh-CN" sz="18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age(X,”19-25”) ∧occupation(</a:t>
            </a:r>
            <a:r>
              <a:rPr lang="en-US" altLang="zh-CN" sz="1800" b="0" dirty="0" err="1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X,“student</a:t>
            </a:r>
            <a:r>
              <a:rPr lang="en-US" altLang="zh-CN" sz="18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”) =&gt; buys(</a:t>
            </a:r>
            <a:r>
              <a:rPr lang="en-US" altLang="zh-CN" sz="1800" b="0" dirty="0" err="1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X,“coke</a:t>
            </a:r>
            <a:r>
              <a:rPr lang="en-US" altLang="zh-CN" sz="18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”)</a:t>
            </a:r>
            <a:endParaRPr lang="en-US" altLang="zh-CN" sz="18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混合维关联规则：包含某些谓词的多次出现</a:t>
            </a:r>
            <a:endParaRPr lang="zh-CN" altLang="en-US" sz="2000" b="0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2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"/>
            </a:pPr>
            <a:r>
              <a:rPr lang="en-US" altLang="zh-CN" sz="18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age(X,”19-25”) ∧buys(X, “popcorn”) =&gt; buys(X, “coke”)</a:t>
            </a:r>
            <a:endParaRPr lang="en-US" altLang="zh-CN" sz="18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n"/>
            </a:pPr>
            <a:r>
              <a:rPr lang="zh-CN" altLang="en-US" sz="24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在多维关联规则挖掘中，搜索的不是频繁项集，而是频繁谓词集。</a:t>
            </a:r>
            <a:r>
              <a:rPr lang="en-US" altLang="zh-CN" sz="24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k-</a:t>
            </a:r>
            <a:r>
              <a:rPr lang="zh-CN" altLang="en-US" sz="24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谓词集是包含</a:t>
            </a:r>
            <a:r>
              <a:rPr lang="en-US" altLang="zh-CN" sz="24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k</a:t>
            </a:r>
            <a:r>
              <a:rPr lang="zh-CN" altLang="en-US" sz="24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个合取谓词的集合。</a:t>
            </a:r>
            <a:endParaRPr lang="zh-CN" altLang="en-US" sz="2400" b="0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例如：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{age, occupation, buys}</a:t>
            </a:r>
            <a:r>
              <a:rPr lang="zh-CN" altLang="en-US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是一个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3-</a:t>
            </a:r>
            <a:r>
              <a:rPr lang="zh-CN" altLang="en-US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谓词集</a:t>
            </a:r>
            <a:endParaRPr lang="zh-CN" altLang="en-US" sz="20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3"/>
          <p:cNvSpPr txBox="1">
            <a:spLocks noChangeArrowheads="1"/>
          </p:cNvSpPr>
          <p:nvPr/>
        </p:nvSpPr>
        <p:spPr bwMode="auto">
          <a:xfrm>
            <a:off x="354013" y="1181100"/>
            <a:ext cx="8435975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n"/>
            </a:pPr>
            <a:r>
              <a:rPr lang="zh-CN" altLang="en-US" sz="26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数据属性可以分为类别属性和数值属性</a:t>
            </a:r>
            <a:endParaRPr lang="zh-CN" altLang="en-US" sz="2600" b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类别属性</a:t>
            </a:r>
            <a:r>
              <a:rPr lang="en-US" altLang="zh-CN" sz="24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: </a:t>
            </a:r>
            <a:r>
              <a:rPr lang="zh-CN" altLang="en-US" sz="2200" b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具有有限个不同值，值之间无序</a:t>
            </a:r>
            <a:endParaRPr lang="zh-CN" altLang="en-US" sz="2200" b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数值属性</a:t>
            </a:r>
            <a:r>
              <a:rPr lang="en-US" altLang="zh-CN" sz="24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: </a:t>
            </a:r>
            <a:r>
              <a:rPr lang="zh-CN" altLang="en-US" sz="2200" b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数值类型，并且值之间有一个隐含的序</a:t>
            </a:r>
            <a:endParaRPr lang="zh-CN" altLang="en-US" sz="2200" b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n"/>
            </a:pPr>
            <a:r>
              <a:rPr lang="zh-CN" altLang="en-US" sz="26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对量化属性的处理：</a:t>
            </a:r>
            <a:endParaRPr lang="zh-CN" altLang="en-US" sz="2600" b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4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1. </a:t>
            </a:r>
            <a:r>
              <a:rPr lang="zh-CN" altLang="en-US" sz="24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静态离散化：</a:t>
            </a:r>
            <a:r>
              <a:rPr lang="zh-CN" altLang="en-US" sz="2400" b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使用预定义的概念分层对数值属性进行静态地离散化</a:t>
            </a:r>
            <a:endParaRPr lang="zh-CN" altLang="en-US" sz="2400" b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4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2. </a:t>
            </a:r>
            <a:r>
              <a:rPr lang="zh-CN" altLang="en-US" sz="24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量化关联规则：</a:t>
            </a:r>
            <a:r>
              <a:rPr lang="zh-CN" altLang="en-US" sz="2400" b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根据数据的分布，将数值属性离散化到“箱”</a:t>
            </a:r>
            <a:endParaRPr lang="zh-CN" altLang="en-US" sz="2400" b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4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3. </a:t>
            </a:r>
            <a:r>
              <a:rPr lang="zh-CN" altLang="en-US" sz="24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基于距离的关联规则：</a:t>
            </a:r>
            <a:r>
              <a:rPr lang="zh-CN" altLang="en-US" sz="2400" b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考虑数据点之间的距离，动态地离散化量化</a:t>
            </a:r>
            <a:endParaRPr lang="zh-CN" altLang="en-US" sz="2400" b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 bwMode="auto">
          <a:xfrm>
            <a:off x="571500" y="-122238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3.4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多维关联规则挖掘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5"/>
          <p:cNvSpPr txBox="1">
            <a:spLocks noChangeArrowheads="1"/>
          </p:cNvSpPr>
          <p:nvPr/>
        </p:nvSpPr>
        <p:spPr bwMode="auto">
          <a:xfrm>
            <a:off x="11113" y="4868863"/>
            <a:ext cx="104902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1557AE"/>
              </a:buClr>
              <a:buFont typeface="Wingdings" panose="05000000000000000000" pitchFamily="2" charset="2"/>
              <a:buChar char="Ø"/>
            </a:pPr>
            <a:r>
              <a:rPr lang="en-US" altLang="zh-CN" sz="2400" b="0">
                <a:solidFill>
                  <a:srgbClr val="1557AE"/>
                </a:solidFill>
                <a:latin typeface="微软雅黑" charset="0"/>
                <a:ea typeface="微软雅黑" charset="0"/>
              </a:rPr>
              <a:t>&lt;Age: 30..39&gt; and &lt;Married: Yes&gt; =&gt; &lt;NumCars: 2&gt;</a:t>
            </a:r>
            <a:endParaRPr lang="en-US" altLang="zh-CN" sz="2400" b="0">
              <a:solidFill>
                <a:srgbClr val="1557AE"/>
              </a:solidFill>
              <a:latin typeface="微软雅黑" charset="0"/>
              <a:ea typeface="微软雅黑" charset="0"/>
            </a:endParaRPr>
          </a:p>
          <a:p>
            <a:pPr eaLnBrk="1" hangingPunct="1">
              <a:lnSpc>
                <a:spcPct val="120000"/>
              </a:lnSpc>
              <a:buClr>
                <a:srgbClr val="1557AE"/>
              </a:buClr>
              <a:buFont typeface="Wingdings" panose="05000000000000000000" pitchFamily="2" charset="2"/>
              <a:buChar char="Ø"/>
            </a:pPr>
            <a:r>
              <a:rPr lang="en-US" altLang="zh-CN" sz="2400" b="0">
                <a:solidFill>
                  <a:srgbClr val="1557AE"/>
                </a:solidFill>
                <a:latin typeface="微软雅黑" charset="0"/>
                <a:ea typeface="微软雅黑" charset="0"/>
              </a:rPr>
              <a:t>Support = 40%, Conf = 100%</a:t>
            </a:r>
            <a:endParaRPr lang="en-US" altLang="zh-CN" sz="2400" b="0">
              <a:solidFill>
                <a:srgbClr val="1557AE"/>
              </a:solidFill>
              <a:latin typeface="微软雅黑" charset="0"/>
              <a:ea typeface="微软雅黑" charset="0"/>
            </a:endParaRPr>
          </a:p>
        </p:txBody>
      </p:sp>
      <p:graphicFrame>
        <p:nvGraphicFramePr>
          <p:cNvPr id="14" name="Group 57"/>
          <p:cNvGraphicFramePr>
            <a:graphicFrameLocks noGrp="1"/>
          </p:cNvGraphicFramePr>
          <p:nvPr>
            <p:ph sz="half" idx="1"/>
          </p:nvPr>
        </p:nvGraphicFramePr>
        <p:xfrm>
          <a:off x="476250" y="1557338"/>
          <a:ext cx="8191500" cy="2925792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1979850"/>
                <a:gridCol w="1673243"/>
                <a:gridCol w="1827339"/>
                <a:gridCol w="2711068"/>
              </a:tblGrid>
              <a:tr h="4876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RecordID</a:t>
                      </a:r>
                      <a:endParaRPr kumimoji="0" lang="en-US" sz="2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Age</a:t>
                      </a:r>
                      <a:endParaRPr kumimoji="0" 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Married</a:t>
                      </a:r>
                      <a:endParaRPr kumimoji="0" 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NumCars</a:t>
                      </a:r>
                      <a:endParaRPr kumimoji="0" lang="en-US" sz="2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</a:tr>
              <a:tr h="4876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100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23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No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1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</a:tr>
              <a:tr h="4876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200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25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Yes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1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</a:tr>
              <a:tr h="4876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300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29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No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0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</a:tr>
              <a:tr h="4876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400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u="none" strike="noStrike" cap="none" normalizeH="0" baseline="0" dirty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34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Yes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2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</a:tr>
              <a:tr h="4876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500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u="none" strike="noStrike" cap="none" normalizeH="0" baseline="0" dirty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38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Yes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u="none" strike="noStrike" cap="none" normalizeH="0" baseline="0" dirty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2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</a:tr>
            </a:tbl>
          </a:graphicData>
        </a:graphic>
      </p:graphicFrame>
      <p:sp>
        <p:nvSpPr>
          <p:cNvPr id="5" name="Rectangle 6"/>
          <p:cNvSpPr txBox="1">
            <a:spLocks noChangeArrowheads="1"/>
          </p:cNvSpPr>
          <p:nvPr/>
        </p:nvSpPr>
        <p:spPr bwMode="auto">
          <a:xfrm>
            <a:off x="571500" y="-122238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3.4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多维关联规则挖掘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矩形 3"/>
          <p:cNvSpPr>
            <a:spLocks noChangeArrowheads="1"/>
          </p:cNvSpPr>
          <p:nvPr/>
        </p:nvSpPr>
        <p:spPr bwMode="auto">
          <a:xfrm>
            <a:off x="88900" y="1081088"/>
            <a:ext cx="8966200" cy="164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914400" indent="-4572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  <a:buSzPct val="100000"/>
              <a:buFont typeface="Wingdings" panose="05000000000000000000" pitchFamily="2" charset="2"/>
              <a:buChar char="n"/>
            </a:pPr>
            <a:r>
              <a:rPr lang="zh-CN" altLang="en-US" sz="28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基本思路：</a:t>
            </a:r>
            <a:r>
              <a:rPr lang="zh-CN" altLang="en-US" sz="2800" b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将数值型关联规则挖掘转化为布尔型关联规则挖掘</a:t>
            </a:r>
            <a:endParaRPr lang="en-US" altLang="zh-CN" sz="2800" b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引入</a:t>
            </a:r>
            <a:r>
              <a:rPr lang="en-US" altLang="zh-CN" sz="24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&lt;attribute: value&gt; </a:t>
            </a:r>
            <a:r>
              <a:rPr lang="zh-CN" altLang="en-US" sz="2400" b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作为新属性，这个属性是布尔型</a:t>
            </a:r>
            <a:endParaRPr lang="zh-CN" altLang="en-US" sz="2800" b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graphicFrame>
        <p:nvGraphicFramePr>
          <p:cNvPr id="9" name="Group 104"/>
          <p:cNvGraphicFramePr>
            <a:graphicFrameLocks noGrp="1"/>
          </p:cNvGraphicFramePr>
          <p:nvPr>
            <p:ph sz="half" idx="4294967295"/>
          </p:nvPr>
        </p:nvGraphicFramePr>
        <p:xfrm>
          <a:off x="198438" y="3008313"/>
          <a:ext cx="8747126" cy="2952751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1080891"/>
                <a:gridCol w="1038037"/>
                <a:gridCol w="1039624"/>
                <a:gridCol w="1263421"/>
                <a:gridCol w="1261833"/>
                <a:gridCol w="1539596"/>
                <a:gridCol w="1523724"/>
              </a:tblGrid>
              <a:tr h="7717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ID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Age: 20..29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Age: 30..39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Married: Yes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Married: No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NumCars</a:t>
                      </a: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: 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NumCars</a:t>
                      </a: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: 1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</a:tr>
              <a:tr h="4362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100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</a:tr>
              <a:tr h="4362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200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</a:tr>
              <a:tr h="4362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300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</a:tr>
              <a:tr h="4362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400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</a:tr>
              <a:tr h="4362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500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charset="0"/>
                          <a:ea typeface="微软雅黑" charset="0"/>
                          <a:cs typeface="Calibri" panose="020F0502020204030204" pitchFamily="34" charset="0"/>
                        </a:rPr>
                        <a:t>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</a:tr>
            </a:tbl>
          </a:graphicData>
        </a:graphic>
      </p:graphicFrame>
      <p:sp>
        <p:nvSpPr>
          <p:cNvPr id="5" name="Rectangle 6"/>
          <p:cNvSpPr txBox="1">
            <a:spLocks noChangeArrowheads="1"/>
          </p:cNvSpPr>
          <p:nvPr/>
        </p:nvSpPr>
        <p:spPr bwMode="auto">
          <a:xfrm>
            <a:off x="571500" y="-122238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3.4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多维关联规则挖掘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3"/>
          <p:cNvSpPr txBox="1">
            <a:spLocks noChangeArrowheads="1"/>
          </p:cNvSpPr>
          <p:nvPr/>
        </p:nvSpPr>
        <p:spPr bwMode="auto">
          <a:xfrm>
            <a:off x="207925" y="1124744"/>
            <a:ext cx="8291512" cy="456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74295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聚焦于以下形式的</a:t>
            </a:r>
            <a:r>
              <a:rPr lang="en-US" altLang="zh-CN" sz="24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2-</a:t>
            </a:r>
            <a:r>
              <a:rPr lang="zh-CN" altLang="en-US" sz="24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维量化关联规则</a:t>
            </a:r>
            <a:r>
              <a:rPr lang="zh-CN" altLang="en-US" sz="2400" b="0" dirty="0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：</a:t>
            </a:r>
            <a:endParaRPr lang="en-US" altLang="zh-CN" sz="2400" b="0" dirty="0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两个量化属性和一个分类属性间的关联：</a:t>
            </a:r>
            <a:endParaRPr lang="en-US" altLang="zh-CN" sz="2200" b="0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1" eaLnBrk="1" hangingPunct="1">
              <a:lnSpc>
                <a:spcPct val="120000"/>
              </a:lnSpc>
              <a:buClr>
                <a:srgbClr val="0000FF"/>
              </a:buClr>
              <a:buFontTx/>
              <a:buNone/>
            </a:pPr>
            <a:r>
              <a:rPr lang="en-US" altLang="zh-CN" sz="2200" b="0" i="1" dirty="0">
                <a:solidFill>
                  <a:srgbClr val="0000FF"/>
                </a:solidFill>
                <a:latin typeface="微软雅黑" charset="0"/>
                <a:ea typeface="微软雅黑" charset="0"/>
                <a:cs typeface="微软雅黑" charset="0"/>
              </a:rPr>
              <a:t>      </a:t>
            </a:r>
            <a:r>
              <a:rPr lang="en-US" altLang="zh-CN" sz="2200" b="0" i="1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A</a:t>
            </a:r>
            <a:r>
              <a:rPr lang="en-US" altLang="zh-CN" sz="2200" b="0" i="1" baseline="-2500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quan1</a:t>
            </a:r>
            <a:r>
              <a:rPr lang="en-US" altLang="zh-CN" sz="2200" b="0" i="1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zh-CN" sz="2200" b="0" i="1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 A</a:t>
            </a:r>
            <a:r>
              <a:rPr lang="en-US" altLang="zh-CN" sz="2200" b="0" i="1" baseline="-2500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quan2 </a:t>
            </a:r>
            <a:r>
              <a:rPr lang="en-US" altLang="zh-CN" sz="2200" b="0" i="1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 </a:t>
            </a:r>
            <a:r>
              <a:rPr lang="en-US" altLang="zh-CN" sz="2200" b="0" i="1" dirty="0" err="1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A</a:t>
            </a:r>
            <a:r>
              <a:rPr lang="en-US" altLang="zh-CN" sz="2200" b="0" i="1" baseline="-25000" dirty="0" err="1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cat</a:t>
            </a:r>
            <a:endParaRPr lang="en-US" altLang="zh-CN" sz="2200" b="0" i="1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如： </a:t>
            </a:r>
            <a:r>
              <a:rPr lang="en-US" altLang="zh-CN" sz="22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age(X,”30-39”) </a:t>
            </a:r>
            <a:r>
              <a:rPr lang="en-US" altLang="zh-CN" sz="22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 income(X,”42K - 48K”)  buys(</a:t>
            </a:r>
            <a:r>
              <a:rPr lang="en-US" altLang="zh-CN" sz="2200" b="0" i="1" dirty="0" err="1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X,”high</a:t>
            </a:r>
            <a:r>
              <a:rPr lang="en-US" altLang="zh-CN" sz="2200" b="0" i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 resolution TV”)</a:t>
            </a:r>
            <a:endParaRPr lang="en-US" altLang="zh-CN" sz="2200" b="0" i="1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</p:txBody>
      </p:sp>
      <p:sp>
        <p:nvSpPr>
          <p:cNvPr id="121859" name="Rectangle 3"/>
          <p:cNvSpPr>
            <a:spLocks noChangeArrowheads="1"/>
          </p:cNvSpPr>
          <p:nvPr/>
        </p:nvSpPr>
        <p:spPr bwMode="auto">
          <a:xfrm>
            <a:off x="179388" y="3551238"/>
            <a:ext cx="9002712" cy="280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n"/>
            </a:pPr>
            <a:r>
              <a:rPr lang="zh-CN" altLang="en-US" sz="24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关联规则聚类系统 </a:t>
            </a:r>
            <a:r>
              <a:rPr lang="en-US" altLang="zh-CN" sz="24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(Association Rule Clustering System, ARCS)</a:t>
            </a:r>
            <a:endParaRPr lang="en-US" altLang="zh-CN" sz="24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</p:txBody>
      </p:sp>
      <p:pic>
        <p:nvPicPr>
          <p:cNvPr id="12186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8588" y="4149725"/>
            <a:ext cx="3736975" cy="207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35496" y="4622800"/>
            <a:ext cx="5279454" cy="28067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742950" lvl="1" indent="-342900" eaLnBrk="1" hangingPunct="1">
              <a:lnSpc>
                <a:spcPct val="120000"/>
              </a:lnSpc>
              <a:spcBef>
                <a:spcPct val="20000"/>
              </a:spcBef>
              <a:buClr>
                <a:srgbClr val="1557AE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200" b="0" kern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源于图像处理技术，该技术将量化属性对映射到满足给定分类属性条件的</a:t>
            </a:r>
            <a:r>
              <a:rPr lang="en-US" altLang="zh-CN" sz="2200" b="0" kern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2-D</a:t>
            </a:r>
            <a:r>
              <a:rPr lang="zh-CN" altLang="en-US" sz="2200" b="0" kern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  <a:sym typeface="Symbol" panose="05050102010706020507" pitchFamily="18" charset="2"/>
              </a:rPr>
              <a:t>栅格上，然后通过搜索栅格点的聚类而产生关联规则</a:t>
            </a:r>
            <a:endParaRPr lang="zh-CN" altLang="en-US" sz="22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571500" y="-122238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3.4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多维关联规则挖掘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3"/>
          <p:cNvSpPr txBox="1">
            <a:spLocks noChangeArrowheads="1"/>
          </p:cNvSpPr>
          <p:nvPr/>
        </p:nvSpPr>
        <p:spPr bwMode="auto">
          <a:xfrm>
            <a:off x="323850" y="1628775"/>
            <a:ext cx="8496300" cy="456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8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ARCS</a:t>
            </a:r>
            <a:r>
              <a:rPr lang="zh-CN" altLang="en-US" sz="28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过程</a:t>
            </a:r>
            <a:r>
              <a:rPr lang="en-US" altLang="zh-CN" sz="28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:</a:t>
            </a:r>
            <a:endParaRPr lang="zh-CN" altLang="en-US" sz="2800" b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graphicFrame>
        <p:nvGraphicFramePr>
          <p:cNvPr id="123907" name="对象 1"/>
          <p:cNvGraphicFramePr>
            <a:graphicFrameLocks noChangeAspect="1"/>
          </p:cNvGraphicFramePr>
          <p:nvPr/>
        </p:nvGraphicFramePr>
        <p:xfrm>
          <a:off x="3759200" y="1987550"/>
          <a:ext cx="4764088" cy="420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26" name="Paint Shop Pro Image" r:id="rId1" imgW="6614795" imgH="7393305" progId="PaintShopPro">
                  <p:embed/>
                </p:oleObj>
              </mc:Choice>
              <mc:Fallback>
                <p:oleObj name="Paint Shop Pro Image" r:id="rId1" imgW="6614795" imgH="7393305" progId="PaintShopPro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9200" y="1987550"/>
                        <a:ext cx="4764088" cy="420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08" name="Rectangle 5"/>
          <p:cNvSpPr txBox="1">
            <a:spLocks noChangeArrowheads="1"/>
          </p:cNvSpPr>
          <p:nvPr/>
        </p:nvSpPr>
        <p:spPr bwMode="auto">
          <a:xfrm>
            <a:off x="350838" y="2378075"/>
            <a:ext cx="3429000" cy="381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 b="0">
              <a:latin typeface="微软雅黑" charset="0"/>
              <a:ea typeface="微软雅黑" charset="0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0">
                <a:solidFill>
                  <a:srgbClr val="1557AE"/>
                </a:solidFill>
                <a:latin typeface="微软雅黑" charset="0"/>
                <a:ea typeface="微软雅黑" charset="0"/>
                <a:sym typeface="Symbol" panose="05050102010706020507" pitchFamily="18" charset="2"/>
              </a:rPr>
              <a:t>1. Binning</a:t>
            </a:r>
            <a:endParaRPr lang="en-US" altLang="zh-CN" sz="2400" b="0">
              <a:solidFill>
                <a:srgbClr val="1557AE"/>
              </a:solidFill>
              <a:latin typeface="微软雅黑" charset="0"/>
              <a:ea typeface="微软雅黑" charset="0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b="0">
              <a:solidFill>
                <a:srgbClr val="1557AE"/>
              </a:solidFill>
              <a:latin typeface="微软雅黑" charset="0"/>
              <a:ea typeface="微软雅黑" charset="0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0">
                <a:solidFill>
                  <a:srgbClr val="1557AE"/>
                </a:solidFill>
                <a:latin typeface="微软雅黑" charset="0"/>
                <a:ea typeface="微软雅黑" charset="0"/>
                <a:sym typeface="Symbol" panose="05050102010706020507" pitchFamily="18" charset="2"/>
              </a:rPr>
              <a:t>2. Find frequent predicateset</a:t>
            </a:r>
            <a:endParaRPr lang="en-US" altLang="zh-CN" sz="2400" b="0">
              <a:solidFill>
                <a:srgbClr val="1557AE"/>
              </a:solidFill>
              <a:latin typeface="微软雅黑" charset="0"/>
              <a:ea typeface="微软雅黑" charset="0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b="0">
              <a:solidFill>
                <a:srgbClr val="1557AE"/>
              </a:solidFill>
              <a:latin typeface="微软雅黑" charset="0"/>
              <a:ea typeface="微软雅黑" charset="0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0">
                <a:solidFill>
                  <a:srgbClr val="1557AE"/>
                </a:solidFill>
                <a:latin typeface="微软雅黑" charset="0"/>
                <a:ea typeface="微软雅黑" charset="0"/>
                <a:sym typeface="Symbol" panose="05050102010706020507" pitchFamily="18" charset="2"/>
              </a:rPr>
              <a:t>3. Clustering</a:t>
            </a:r>
            <a:endParaRPr lang="en-US" altLang="zh-CN" sz="2400" b="0">
              <a:solidFill>
                <a:srgbClr val="1557AE"/>
              </a:solidFill>
              <a:latin typeface="微软雅黑" charset="0"/>
              <a:ea typeface="微软雅黑" charset="0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b="0">
              <a:solidFill>
                <a:srgbClr val="1557AE"/>
              </a:solidFill>
              <a:latin typeface="微软雅黑" charset="0"/>
              <a:ea typeface="微软雅黑" charset="0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0">
                <a:solidFill>
                  <a:srgbClr val="1557AE"/>
                </a:solidFill>
                <a:latin typeface="微软雅黑" charset="0"/>
                <a:ea typeface="微软雅黑" charset="0"/>
                <a:sym typeface="Symbol" panose="05050102010706020507" pitchFamily="18" charset="2"/>
              </a:rPr>
              <a:t>4. Optimize</a:t>
            </a:r>
            <a:endParaRPr lang="en-US" altLang="zh-CN" sz="2800" b="0">
              <a:solidFill>
                <a:srgbClr val="1557AE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6" name="Rectangle 6"/>
          <p:cNvSpPr txBox="1">
            <a:spLocks noChangeArrowheads="1"/>
          </p:cNvSpPr>
          <p:nvPr/>
        </p:nvSpPr>
        <p:spPr bwMode="auto">
          <a:xfrm>
            <a:off x="571500" y="-122238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3.4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多维关联规则挖掘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3"/>
          <p:cNvSpPr txBox="1">
            <a:spLocks noChangeArrowheads="1"/>
          </p:cNvSpPr>
          <p:nvPr/>
        </p:nvSpPr>
        <p:spPr bwMode="auto">
          <a:xfrm>
            <a:off x="251520" y="1268760"/>
            <a:ext cx="8712646" cy="456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85725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8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ARCS</a:t>
            </a:r>
            <a:r>
              <a:rPr lang="zh-CN" altLang="en-US" sz="28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过程</a:t>
            </a:r>
            <a:r>
              <a:rPr lang="en-US" altLang="zh-CN" sz="28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:</a:t>
            </a:r>
            <a:endParaRPr lang="zh-CN" altLang="en-US" sz="2800" b="0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1" eaLnBrk="1" hangingPunct="1">
              <a:lnSpc>
                <a:spcPct val="150000"/>
              </a:lnSpc>
              <a:buClr>
                <a:srgbClr val="FF0000"/>
              </a:buClr>
              <a:buFont typeface="Verdana" panose="020B0804030504040204" pitchFamily="34" charset="0"/>
              <a:buAutoNum type="arabicPeriod"/>
            </a:pPr>
            <a:r>
              <a:rPr lang="zh-CN" altLang="en-US" sz="22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分箱（根据不同分箱方法创建一个</a:t>
            </a:r>
            <a:r>
              <a:rPr lang="en-US" altLang="zh-CN" sz="22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2-D</a:t>
            </a:r>
            <a:r>
              <a:rPr lang="zh-CN" altLang="en-US" sz="22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数组），</a:t>
            </a:r>
            <a:r>
              <a:rPr lang="zh-CN" altLang="en-US" sz="22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目的在于减少量化属性相对应的巨大的值个数，使得</a:t>
            </a:r>
            <a:r>
              <a:rPr lang="en-US" altLang="zh-CN" sz="22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2-D</a:t>
            </a:r>
            <a:r>
              <a:rPr lang="zh-CN" altLang="en-US" sz="22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栅格的大小可控</a:t>
            </a:r>
            <a:endParaRPr lang="zh-CN" altLang="en-US" sz="22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2" eaLnBrk="1" hangingPunct="1">
              <a:lnSpc>
                <a:spcPct val="150000"/>
              </a:lnSpc>
              <a:buClr>
                <a:schemeClr val="tx2"/>
              </a:buClr>
              <a:buFontTx/>
              <a:buChar char="•"/>
            </a:pPr>
            <a:r>
              <a:rPr lang="zh-CN" altLang="en-US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等宽分箱</a:t>
            </a:r>
            <a:endParaRPr lang="zh-CN" altLang="en-US" sz="20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2" eaLnBrk="1" hangingPunct="1">
              <a:lnSpc>
                <a:spcPct val="150000"/>
              </a:lnSpc>
              <a:buClr>
                <a:schemeClr val="tx2"/>
              </a:buClr>
              <a:buFontTx/>
              <a:buChar char="•"/>
            </a:pPr>
            <a:r>
              <a:rPr lang="zh-CN" altLang="en-US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等深分箱</a:t>
            </a:r>
            <a:endParaRPr lang="zh-CN" altLang="en-US" sz="20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2" eaLnBrk="1" hangingPunct="1">
              <a:lnSpc>
                <a:spcPct val="150000"/>
              </a:lnSpc>
              <a:buClr>
                <a:schemeClr val="tx2"/>
              </a:buClr>
              <a:buFontTx/>
              <a:buChar char="•"/>
            </a:pPr>
            <a:r>
              <a:rPr lang="zh-CN" altLang="en-US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基于同质的分箱（每个箱中元组一致分布）</a:t>
            </a:r>
            <a:endParaRPr lang="zh-CN" altLang="en-US" sz="20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1" eaLnBrk="1" hangingPunct="1">
              <a:lnSpc>
                <a:spcPct val="150000"/>
              </a:lnSpc>
              <a:buClr>
                <a:srgbClr val="FF0000"/>
              </a:buClr>
              <a:buFont typeface="Verdana" panose="020B0804030504040204" pitchFamily="34" charset="0"/>
              <a:buAutoNum type="arabicPeriod"/>
            </a:pPr>
            <a:r>
              <a:rPr lang="zh-CN" altLang="en-US" sz="22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找出频繁谓词集</a:t>
            </a:r>
            <a:endParaRPr lang="zh-CN" altLang="en-US" sz="2200" b="0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2" eaLnBrk="1" hangingPunct="1">
              <a:lnSpc>
                <a:spcPct val="150000"/>
              </a:lnSpc>
              <a:buClr>
                <a:schemeClr val="tx2"/>
              </a:buClr>
              <a:buFontTx/>
              <a:buChar char="•"/>
            </a:pPr>
            <a:r>
              <a:rPr lang="zh-CN" altLang="en-US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扫描分箱后形成的</a:t>
            </a:r>
            <a:r>
              <a:rPr lang="en-US" altLang="zh-CN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2-D</a:t>
            </a:r>
            <a:r>
              <a:rPr lang="zh-CN" altLang="en-US" sz="2000" b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数组，找出满足最小支持度和置信度的频繁谓词集</a:t>
            </a:r>
            <a:endParaRPr lang="zh-CN" altLang="en-US" sz="2000" b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1" eaLnBrk="1" hangingPunct="1">
              <a:lnSpc>
                <a:spcPct val="120000"/>
              </a:lnSpc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200" b="0" i="1" dirty="0">
              <a:solidFill>
                <a:srgbClr val="0000FF"/>
              </a:solidFill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 bwMode="auto">
          <a:xfrm>
            <a:off x="571500" y="-122238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3.4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多维关联规则挖掘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3"/>
          <p:cNvSpPr txBox="1">
            <a:spLocks noChangeArrowheads="1"/>
          </p:cNvSpPr>
          <p:nvPr/>
        </p:nvSpPr>
        <p:spPr bwMode="auto">
          <a:xfrm>
            <a:off x="323850" y="1052513"/>
            <a:ext cx="8496300" cy="456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85725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8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ARCS</a:t>
            </a:r>
            <a:r>
              <a:rPr lang="zh-CN" altLang="en-US" sz="28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过程</a:t>
            </a:r>
            <a:r>
              <a:rPr lang="en-US" altLang="zh-CN" sz="28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:</a:t>
            </a:r>
            <a:endParaRPr lang="zh-CN" altLang="en-US" sz="2800" b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Verdana" panose="020B0804030504040204" pitchFamily="34" charset="0"/>
              <a:buAutoNum type="arabicPeriod" startAt="3"/>
            </a:pPr>
            <a:r>
              <a:rPr lang="zh-CN" altLang="en-US" sz="22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关联规则聚类</a:t>
            </a:r>
            <a:endParaRPr lang="zh-CN" altLang="en-US" sz="2200" b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2" eaLnBrk="1" hangingPunct="1">
              <a:lnSpc>
                <a:spcPct val="120000"/>
              </a:lnSpc>
              <a:buClr>
                <a:schemeClr val="tx2"/>
              </a:buClr>
              <a:buFontTx/>
              <a:buChar char="•"/>
            </a:pPr>
            <a:r>
              <a:rPr lang="zh-CN" altLang="en-US" sz="2000" b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将上一步得到的强关联规则映射到</a:t>
            </a:r>
            <a:r>
              <a:rPr lang="en-US" altLang="zh-CN" sz="2000" b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2-D</a:t>
            </a:r>
            <a:r>
              <a:rPr lang="zh-CN" altLang="en-US" sz="2000" b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栅格上，使用聚类算法，扫描栅格，搜索规则的矩形聚类</a:t>
            </a:r>
            <a:endParaRPr lang="zh-CN" altLang="en-US" sz="2000" b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1" eaLnBrk="1" hangingPunct="1">
              <a:lnSpc>
                <a:spcPct val="120000"/>
              </a:lnSpc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200" b="0" i="1">
              <a:solidFill>
                <a:srgbClr val="0000FF"/>
              </a:solidFill>
              <a:latin typeface="微软雅黑" charset="0"/>
              <a:ea typeface="微软雅黑" charset="0"/>
              <a:cs typeface="微软雅黑" charset="0"/>
              <a:sym typeface="Symbol" panose="05050102010706020507" pitchFamily="18" charset="2"/>
            </a:endParaRPr>
          </a:p>
        </p:txBody>
      </p:sp>
      <p:sp>
        <p:nvSpPr>
          <p:cNvPr id="128003" name="Rectangle 4"/>
          <p:cNvSpPr>
            <a:spLocks noChangeArrowheads="1"/>
          </p:cNvSpPr>
          <p:nvPr/>
        </p:nvSpPr>
        <p:spPr bwMode="auto">
          <a:xfrm>
            <a:off x="4657725" y="2838450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128004" name="Rectangle 6"/>
          <p:cNvSpPr>
            <a:spLocks noChangeArrowheads="1"/>
          </p:cNvSpPr>
          <p:nvPr/>
        </p:nvSpPr>
        <p:spPr bwMode="auto">
          <a:xfrm>
            <a:off x="4657725" y="2838450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128005" name="Rectangle 8"/>
          <p:cNvSpPr>
            <a:spLocks noChangeArrowheads="1"/>
          </p:cNvSpPr>
          <p:nvPr/>
        </p:nvSpPr>
        <p:spPr bwMode="auto">
          <a:xfrm>
            <a:off x="4657725" y="2838450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128006" name="AutoShape 12"/>
          <p:cNvSpPr>
            <a:spLocks noChangeArrowheads="1"/>
          </p:cNvSpPr>
          <p:nvPr/>
        </p:nvSpPr>
        <p:spPr bwMode="auto">
          <a:xfrm>
            <a:off x="7216775" y="3046413"/>
            <a:ext cx="541338" cy="1036637"/>
          </a:xfrm>
          <a:prstGeom prst="rightArrowCallout">
            <a:avLst>
              <a:gd name="adj1" fmla="val 38636"/>
              <a:gd name="adj2" fmla="val 44984"/>
              <a:gd name="adj3" fmla="val 16667"/>
              <a:gd name="adj4" fmla="val 15431"/>
            </a:avLst>
          </a:prstGeom>
          <a:solidFill>
            <a:srgbClr val="800000"/>
          </a:solidFill>
          <a:ln w="12700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graphicFrame>
        <p:nvGraphicFramePr>
          <p:cNvPr id="128007" name="Object 13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238625" y="4171950"/>
          <a:ext cx="4038600" cy="224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95" name="Image" r:id="rId1" imgW="5372100" imgH="2984500" progId="Photoshop.Image.5">
                  <p:embed/>
                </p:oleObj>
              </mc:Choice>
              <mc:Fallback>
                <p:oleObj name="Image" r:id="rId1" imgW="5372100" imgH="2984500" progId="Photoshop.Image.5">
                  <p:embed/>
                  <p:pic>
                    <p:nvPicPr>
                      <p:cNvPr id="0" name="Object 1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8625" y="4171950"/>
                        <a:ext cx="4038600" cy="2243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08" name="AutoShape 14"/>
          <p:cNvSpPr>
            <a:spLocks noChangeArrowheads="1"/>
          </p:cNvSpPr>
          <p:nvPr/>
        </p:nvSpPr>
        <p:spPr bwMode="auto">
          <a:xfrm rot="4863239">
            <a:off x="7966075" y="3867151"/>
            <a:ext cx="1057275" cy="431800"/>
          </a:xfrm>
          <a:prstGeom prst="curvedDownArrow">
            <a:avLst>
              <a:gd name="adj1" fmla="val 48971"/>
              <a:gd name="adj2" fmla="val 97941"/>
              <a:gd name="adj3" fmla="val 33333"/>
            </a:avLst>
          </a:prstGeom>
          <a:solidFill>
            <a:srgbClr val="800000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sp>
        <p:nvSpPr>
          <p:cNvPr id="128009" name="AutoShape 17"/>
          <p:cNvSpPr>
            <a:spLocks noChangeArrowheads="1"/>
          </p:cNvSpPr>
          <p:nvPr/>
        </p:nvSpPr>
        <p:spPr bwMode="auto">
          <a:xfrm rot="3761063">
            <a:off x="3634582" y="4814094"/>
            <a:ext cx="431800" cy="649287"/>
          </a:xfrm>
          <a:prstGeom prst="downArrow">
            <a:avLst>
              <a:gd name="adj1" fmla="val 50000"/>
              <a:gd name="adj2" fmla="val 37592"/>
            </a:avLst>
          </a:prstGeom>
          <a:solidFill>
            <a:srgbClr val="800000"/>
          </a:solidFill>
          <a:ln w="12700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charset="0"/>
              <a:ea typeface="微软雅黑" charset="0"/>
            </a:endParaRPr>
          </a:p>
        </p:txBody>
      </p:sp>
      <p:graphicFrame>
        <p:nvGraphicFramePr>
          <p:cNvPr id="128010" name="对象 1"/>
          <p:cNvGraphicFramePr>
            <a:graphicFrameLocks noChangeAspect="1"/>
          </p:cNvGraphicFramePr>
          <p:nvPr/>
        </p:nvGraphicFramePr>
        <p:xfrm>
          <a:off x="323850" y="3124200"/>
          <a:ext cx="65532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96" name="公式" r:id="rId3" imgW="5080000" imgH="215900" progId="Equation.3">
                  <p:embed/>
                </p:oleObj>
              </mc:Choice>
              <mc:Fallback>
                <p:oleObj name="公式" r:id="rId3" imgW="5080000" imgH="215900" progId="Equation.3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3124200"/>
                        <a:ext cx="65532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11" name="对象 2"/>
          <p:cNvGraphicFramePr>
            <a:graphicFrameLocks noChangeAspect="1"/>
          </p:cNvGraphicFramePr>
          <p:nvPr/>
        </p:nvGraphicFramePr>
        <p:xfrm>
          <a:off x="341313" y="3448050"/>
          <a:ext cx="6534150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97" name="公式" r:id="rId5" imgW="5092700" imgH="215900" progId="Equation.3">
                  <p:embed/>
                </p:oleObj>
              </mc:Choice>
              <mc:Fallback>
                <p:oleObj name="公式" r:id="rId5" imgW="5092700" imgH="215900" progId="Equation.3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313" y="3448050"/>
                        <a:ext cx="6534150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12" name="对象 15"/>
          <p:cNvGraphicFramePr>
            <a:graphicFrameLocks noChangeAspect="1"/>
          </p:cNvGraphicFramePr>
          <p:nvPr/>
        </p:nvGraphicFramePr>
        <p:xfrm>
          <a:off x="177800" y="5480050"/>
          <a:ext cx="365442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98" name="公式" r:id="rId7" imgW="2933700" imgH="457200" progId="Equation.3">
                  <p:embed/>
                </p:oleObj>
              </mc:Choice>
              <mc:Fallback>
                <p:oleObj name="公式" r:id="rId7" imgW="2933700" imgH="457200" progId="Equation.3">
                  <p:embed/>
                  <p:pic>
                    <p:nvPicPr>
                      <p:cNvPr id="0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00" y="5480050"/>
                        <a:ext cx="365442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13" name="对象 17"/>
          <p:cNvGraphicFramePr>
            <a:graphicFrameLocks noChangeAspect="1"/>
          </p:cNvGraphicFramePr>
          <p:nvPr/>
        </p:nvGraphicFramePr>
        <p:xfrm>
          <a:off x="355600" y="3808413"/>
          <a:ext cx="6303963" cy="27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99" name="公式" r:id="rId9" imgW="5080000" imgH="215900" progId="Equation.3">
                  <p:embed/>
                </p:oleObj>
              </mc:Choice>
              <mc:Fallback>
                <p:oleObj name="公式" r:id="rId9" imgW="5080000" imgH="215900" progId="Equation.3">
                  <p:embed/>
                  <p:pic>
                    <p:nvPicPr>
                      <p:cNvPr id="0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600" y="3808413"/>
                        <a:ext cx="6303963" cy="274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6"/>
          <p:cNvSpPr txBox="1">
            <a:spLocks noChangeArrowheads="1"/>
          </p:cNvSpPr>
          <p:nvPr/>
        </p:nvSpPr>
        <p:spPr bwMode="auto">
          <a:xfrm>
            <a:off x="571500" y="-122238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3.4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多维关联规则挖掘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3"/>
          <p:cNvSpPr txBox="1">
            <a:spLocks noChangeArrowheads="1"/>
          </p:cNvSpPr>
          <p:nvPr/>
        </p:nvSpPr>
        <p:spPr bwMode="auto">
          <a:xfrm>
            <a:off x="323850" y="1484313"/>
            <a:ext cx="8496300" cy="456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8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ARCS</a:t>
            </a:r>
            <a:r>
              <a:rPr lang="zh-CN" altLang="en-US" sz="28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的局限性</a:t>
            </a:r>
            <a:r>
              <a:rPr lang="en-US" altLang="zh-CN" sz="28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:</a:t>
            </a:r>
            <a:endParaRPr lang="zh-CN" altLang="en-US" sz="2800" b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ü"/>
            </a:pPr>
            <a:r>
              <a:rPr lang="zh-CN" altLang="en-US" sz="24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规则的左手边只能有两个量化属性（</a:t>
            </a:r>
            <a:r>
              <a:rPr lang="en-US" altLang="zh-CN" sz="24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2-D</a:t>
            </a:r>
            <a:r>
              <a:rPr lang="zh-CN" altLang="en-US" sz="24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栅格的限制）</a:t>
            </a:r>
            <a:endParaRPr lang="zh-CN" altLang="en-US" sz="2400" b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 bwMode="auto">
          <a:xfrm>
            <a:off x="571500" y="-122238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3.4 </a:t>
            </a:r>
            <a:r>
              <a:rPr lang="zh-CN" altLang="en-US" sz="3600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多维关联规则挖掘</a:t>
            </a:r>
            <a:endParaRPr lang="zh-CN" altLang="en-US" sz="3600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571500" y="-100013"/>
            <a:ext cx="8001000" cy="892176"/>
          </a:xfrm>
        </p:spPr>
        <p:txBody>
          <a:bodyPr/>
          <a:lstStyle/>
          <a:p>
            <a:pPr algn="ctr" eaLnBrk="1" hangingPunct="1"/>
            <a:r>
              <a:rPr lang="zh-CN" altLang="en-US" sz="3600">
                <a:solidFill>
                  <a:srgbClr val="1557AE"/>
                </a:solidFill>
              </a:rPr>
              <a:t>本章内容</a:t>
            </a:r>
            <a:endParaRPr lang="zh-CN" altLang="en-US" sz="3600">
              <a:solidFill>
                <a:srgbClr val="1557AE"/>
              </a:solidFill>
            </a:endParaRPr>
          </a:p>
        </p:txBody>
      </p:sp>
      <p:sp>
        <p:nvSpPr>
          <p:cNvPr id="13414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755650" y="1628775"/>
            <a:ext cx="7780338" cy="3024188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cs typeface="微软雅黑" charset="0"/>
              </a:rPr>
              <a:t>3.1  </a:t>
            </a:r>
            <a:r>
              <a:rPr lang="zh-CN" altLang="zh-CN" sz="2800" b="0">
                <a:solidFill>
                  <a:srgbClr val="1557AE"/>
                </a:solidFill>
                <a:cs typeface="微软雅黑" charset="0"/>
              </a:rPr>
              <a:t>关联规则挖掘的基本概念</a:t>
            </a:r>
            <a:endParaRPr lang="zh-CN" altLang="zh-CN" sz="2800" b="0">
              <a:solidFill>
                <a:srgbClr val="1557AE"/>
              </a:solidFill>
              <a:cs typeface="微软雅黑" charset="0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cs typeface="微软雅黑" charset="0"/>
              </a:rPr>
              <a:t>3.2  </a:t>
            </a:r>
            <a:r>
              <a:rPr lang="zh-CN" altLang="zh-CN" sz="2800" b="0">
                <a:solidFill>
                  <a:srgbClr val="1557AE"/>
                </a:solidFill>
                <a:cs typeface="微软雅黑" charset="0"/>
              </a:rPr>
              <a:t>由事务数据库挖掘单维布尔关联规则</a:t>
            </a:r>
            <a:endParaRPr lang="zh-CN" altLang="zh-CN" sz="2800" b="0">
              <a:solidFill>
                <a:srgbClr val="1557AE"/>
              </a:solidFill>
              <a:cs typeface="微软雅黑" charset="0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cs typeface="微软雅黑" charset="0"/>
              </a:rPr>
              <a:t>3.3  </a:t>
            </a:r>
            <a:r>
              <a:rPr lang="zh-CN" altLang="zh-CN" sz="2800" b="0">
                <a:solidFill>
                  <a:srgbClr val="1557AE"/>
                </a:solidFill>
                <a:cs typeface="微软雅黑" charset="0"/>
              </a:rPr>
              <a:t>多层关联规则挖掘</a:t>
            </a:r>
            <a:endParaRPr lang="zh-CN" altLang="zh-CN" sz="2800" b="0">
              <a:solidFill>
                <a:srgbClr val="1557AE"/>
              </a:solidFill>
              <a:cs typeface="微软雅黑" charset="0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cs typeface="微软雅黑" charset="0"/>
              </a:rPr>
              <a:t>3.4  </a:t>
            </a:r>
            <a:r>
              <a:rPr lang="zh-CN" altLang="en-US" sz="2800" b="0">
                <a:solidFill>
                  <a:srgbClr val="1557AE"/>
                </a:solidFill>
                <a:cs typeface="微软雅黑" charset="0"/>
              </a:rPr>
              <a:t>多维关联规则</a:t>
            </a:r>
            <a:r>
              <a:rPr lang="zh-CN" altLang="zh-CN" sz="2800" b="0">
                <a:solidFill>
                  <a:srgbClr val="1557AE"/>
                </a:solidFill>
                <a:cs typeface="微软雅黑" charset="0"/>
              </a:rPr>
              <a:t>挖掘</a:t>
            </a:r>
            <a:endParaRPr lang="en-US" altLang="zh-CN" sz="2800" b="0">
              <a:solidFill>
                <a:srgbClr val="1557AE"/>
              </a:solidFill>
              <a:cs typeface="微软雅黑" charset="0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FF0000"/>
                </a:solidFill>
                <a:cs typeface="微软雅黑" charset="0"/>
              </a:rPr>
              <a:t>3.5  </a:t>
            </a:r>
            <a:r>
              <a:rPr lang="zh-CN" altLang="en-US" sz="2800" b="0">
                <a:solidFill>
                  <a:srgbClr val="FF0000"/>
                </a:solidFill>
                <a:cs typeface="微软雅黑" charset="0"/>
              </a:rPr>
              <a:t>关联规则、相关性、因果关系的区别</a:t>
            </a:r>
            <a:endParaRPr lang="zh-CN" altLang="en-US" sz="2800" b="0">
              <a:solidFill>
                <a:srgbClr val="FF0000"/>
              </a:solidFill>
              <a:cs typeface="微软雅黑" charset="0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endParaRPr lang="zh-CN" altLang="en-US" sz="2800" b="0"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557338"/>
            <a:ext cx="8280400" cy="4267200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3200" b="0">
                <a:solidFill>
                  <a:srgbClr val="FF0000"/>
                </a:solidFill>
                <a:cs typeface="微软雅黑" charset="0"/>
              </a:rPr>
              <a:t>问题</a:t>
            </a:r>
            <a:r>
              <a:rPr lang="en-US" altLang="zh-CN" sz="3200" b="0">
                <a:solidFill>
                  <a:srgbClr val="FF0000"/>
                </a:solidFill>
                <a:cs typeface="微软雅黑" charset="0"/>
              </a:rPr>
              <a:t>1</a:t>
            </a:r>
            <a:r>
              <a:rPr lang="zh-CN" altLang="en-US" sz="3200" b="0">
                <a:solidFill>
                  <a:srgbClr val="FF0000"/>
                </a:solidFill>
                <a:cs typeface="微软雅黑" charset="0"/>
              </a:rPr>
              <a:t>：强关联规则是否是正相关的？</a:t>
            </a:r>
            <a:endParaRPr lang="en-US" altLang="zh-CN" sz="3200" b="0">
              <a:solidFill>
                <a:srgbClr val="FF0000"/>
              </a:solidFill>
              <a:cs typeface="微软雅黑" charset="0"/>
            </a:endParaRPr>
          </a:p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3200" b="0">
                <a:solidFill>
                  <a:srgbClr val="FF0000"/>
                </a:solidFill>
                <a:cs typeface="微软雅黑" charset="0"/>
              </a:rPr>
              <a:t>问题</a:t>
            </a:r>
            <a:r>
              <a:rPr lang="en-US" altLang="zh-CN" sz="3200" b="0">
                <a:solidFill>
                  <a:srgbClr val="FF0000"/>
                </a:solidFill>
                <a:cs typeface="微软雅黑" charset="0"/>
              </a:rPr>
              <a:t>2</a:t>
            </a:r>
            <a:r>
              <a:rPr lang="zh-CN" altLang="en-US" sz="3200" b="0">
                <a:solidFill>
                  <a:srgbClr val="FF0000"/>
                </a:solidFill>
                <a:cs typeface="微软雅黑" charset="0"/>
              </a:rPr>
              <a:t>：强关联规则是否存在因果关系？</a:t>
            </a:r>
            <a:endParaRPr lang="en-US" altLang="zh-CN" sz="3200" b="0">
              <a:solidFill>
                <a:srgbClr val="FF0000"/>
              </a:solidFill>
              <a:cs typeface="微软雅黑" charset="0"/>
            </a:endParaRPr>
          </a:p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3200" b="0">
                <a:solidFill>
                  <a:srgbClr val="FF0000"/>
                </a:solidFill>
                <a:cs typeface="微软雅黑" charset="0"/>
              </a:rPr>
              <a:t>问题</a:t>
            </a:r>
            <a:r>
              <a:rPr lang="en-US" altLang="zh-CN" sz="3200" b="0">
                <a:solidFill>
                  <a:srgbClr val="FF0000"/>
                </a:solidFill>
                <a:cs typeface="微软雅黑" charset="0"/>
              </a:rPr>
              <a:t>3</a:t>
            </a:r>
            <a:r>
              <a:rPr lang="zh-CN" altLang="en-US" sz="3200" b="0">
                <a:solidFill>
                  <a:srgbClr val="FF0000"/>
                </a:solidFill>
                <a:cs typeface="微软雅黑" charset="0"/>
              </a:rPr>
              <a:t>：相关性是否意味着因果关系？</a:t>
            </a:r>
            <a:endParaRPr lang="en-US" altLang="zh-CN" sz="3200" b="0">
              <a:solidFill>
                <a:srgbClr val="FF0000"/>
              </a:solidFill>
              <a:cs typeface="微软雅黑" charset="0"/>
            </a:endParaRPr>
          </a:p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3200" b="0">
                <a:solidFill>
                  <a:srgbClr val="FF0000"/>
                </a:solidFill>
                <a:cs typeface="微软雅黑" charset="0"/>
              </a:rPr>
              <a:t>问题</a:t>
            </a:r>
            <a:r>
              <a:rPr lang="en-US" altLang="zh-CN" sz="3200" b="0">
                <a:solidFill>
                  <a:srgbClr val="FF0000"/>
                </a:solidFill>
                <a:cs typeface="微软雅黑" charset="0"/>
              </a:rPr>
              <a:t>4</a:t>
            </a:r>
            <a:r>
              <a:rPr lang="zh-CN" altLang="en-US" sz="3200" b="0">
                <a:solidFill>
                  <a:srgbClr val="FF0000"/>
                </a:solidFill>
                <a:cs typeface="微软雅黑" charset="0"/>
              </a:rPr>
              <a:t>：如何定义因果关系？</a:t>
            </a:r>
            <a:endParaRPr lang="en-US" altLang="zh-CN" sz="3200" b="0">
              <a:solidFill>
                <a:srgbClr val="FF0000"/>
              </a:solidFill>
              <a:cs typeface="微软雅黑" charset="0"/>
            </a:endParaRPr>
          </a:p>
        </p:txBody>
      </p:sp>
      <p:sp>
        <p:nvSpPr>
          <p:cNvPr id="13619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161925" y="-100013"/>
            <a:ext cx="9036050" cy="892176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1557AE"/>
                </a:solidFill>
                <a:cs typeface="微软雅黑" charset="0"/>
              </a:rPr>
              <a:t>3.5 </a:t>
            </a:r>
            <a:r>
              <a:rPr lang="zh-CN" altLang="en-US">
                <a:solidFill>
                  <a:srgbClr val="1557AE"/>
                </a:solidFill>
                <a:cs typeface="微软雅黑" charset="0"/>
              </a:rPr>
              <a:t>关联规则、相关性、因果关系的区别</a:t>
            </a:r>
            <a:endParaRPr lang="zh-CN" altLang="en-US">
              <a:solidFill>
                <a:srgbClr val="1557AE"/>
              </a:solidFill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557338"/>
            <a:ext cx="8280400" cy="4267200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spcBef>
                <a:spcPts val="1200"/>
              </a:spcBef>
              <a:buClrTx/>
              <a:buFont typeface="Wingdings" panose="05000000000000000000" pitchFamily="2" charset="2"/>
              <a:buChar char="n"/>
            </a:pPr>
            <a:r>
              <a:rPr lang="zh-CN" altLang="en-US" sz="3200" b="0">
                <a:solidFill>
                  <a:srgbClr val="FF0000"/>
                </a:solidFill>
                <a:cs typeface="微软雅黑" charset="0"/>
              </a:rPr>
              <a:t>问题</a:t>
            </a:r>
            <a:r>
              <a:rPr lang="en-US" altLang="zh-CN" sz="3200" b="0">
                <a:solidFill>
                  <a:srgbClr val="FF0000"/>
                </a:solidFill>
                <a:cs typeface="微软雅黑" charset="0"/>
              </a:rPr>
              <a:t>1</a:t>
            </a:r>
            <a:r>
              <a:rPr lang="zh-CN" altLang="en-US" sz="3200" b="0">
                <a:solidFill>
                  <a:srgbClr val="FF0000"/>
                </a:solidFill>
                <a:cs typeface="微软雅黑" charset="0"/>
              </a:rPr>
              <a:t>：强关联规则是否是正相关的？</a:t>
            </a:r>
            <a:endParaRPr lang="en-US" altLang="zh-CN" sz="3200" b="0">
              <a:solidFill>
                <a:srgbClr val="FF0000"/>
              </a:solidFill>
              <a:cs typeface="微软雅黑" charset="0"/>
            </a:endParaRPr>
          </a:p>
          <a:p>
            <a:pPr marL="342900" indent="-342900" eaLnBrk="1" hangingPunct="1">
              <a:lnSpc>
                <a:spcPct val="120000"/>
              </a:lnSpc>
              <a:spcBef>
                <a:spcPts val="1200"/>
              </a:spcBef>
              <a:buClrTx/>
              <a:buFont typeface="Wingdings" panose="05000000000000000000" pitchFamily="2" charset="2"/>
              <a:buChar char="n"/>
            </a:pPr>
            <a:r>
              <a:rPr lang="zh-CN" altLang="en-US" sz="3200" b="0">
                <a:solidFill>
                  <a:srgbClr val="FF0000"/>
                </a:solidFill>
                <a:cs typeface="微软雅黑" charset="0"/>
              </a:rPr>
              <a:t>相关性：</a:t>
            </a:r>
            <a:r>
              <a:rPr lang="zh-CN" altLang="en-US" sz="3200" b="0">
                <a:solidFill>
                  <a:srgbClr val="1557AE"/>
                </a:solidFill>
                <a:cs typeface="微软雅黑" charset="0"/>
              </a:rPr>
              <a:t>两个变量存在联系，一个变量会随着另一个变量变化，分为正相关和负相关</a:t>
            </a:r>
            <a:endParaRPr lang="en-US" altLang="zh-CN" sz="3200" b="0">
              <a:solidFill>
                <a:srgbClr val="1557AE"/>
              </a:solidFill>
              <a:cs typeface="微软雅黑" charset="0"/>
            </a:endParaRPr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 bwMode="auto">
          <a:xfrm>
            <a:off x="161925" y="-100013"/>
            <a:ext cx="903605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3.5 </a:t>
            </a:r>
            <a:r>
              <a:rPr lang="zh-CN" altLang="en-US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关联规则、相关性、因果关系的区别</a:t>
            </a:r>
            <a:endParaRPr lang="zh-CN" altLang="en-US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2465388"/>
            <a:ext cx="8218488" cy="2879725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2800" b="0">
                <a:solidFill>
                  <a:srgbClr val="FF0000"/>
                </a:solidFill>
                <a:cs typeface="微软雅黑" charset="0"/>
              </a:rPr>
              <a:t>例：</a:t>
            </a:r>
            <a:r>
              <a:rPr lang="en-US" altLang="zh-CN" sz="2800" b="0">
                <a:solidFill>
                  <a:srgbClr val="FF0000"/>
                </a:solidFill>
                <a:cs typeface="微软雅黑" charset="0"/>
              </a:rPr>
              <a:t>(Aggarwal &amp; Yu, PODS98)</a:t>
            </a:r>
            <a:endParaRPr lang="en-US" altLang="zh-CN" sz="2800" b="0">
              <a:solidFill>
                <a:srgbClr val="FF0000"/>
              </a:solidFill>
              <a:cs typeface="微软雅黑" charset="0"/>
            </a:endParaRPr>
          </a:p>
          <a:p>
            <a:pPr marL="441325" lvl="1" indent="-441325" eaLnBrk="1" hangingPunct="1">
              <a:lnSpc>
                <a:spcPct val="120000"/>
              </a:lnSpc>
              <a:spcBef>
                <a:spcPts val="600"/>
              </a:spcBef>
              <a:buClr>
                <a:srgbClr val="1557AE"/>
              </a:buClr>
              <a:buFont typeface="Wingdings" panose="05000000000000000000" pitchFamily="2" charset="2"/>
              <a:buChar char="Ø"/>
            </a:pPr>
            <a:r>
              <a:rPr lang="zh-CN" altLang="en-US" sz="2200" b="0">
                <a:solidFill>
                  <a:srgbClr val="FF0000"/>
                </a:solidFill>
                <a:cs typeface="微软雅黑" charset="0"/>
              </a:rPr>
              <a:t>在</a:t>
            </a:r>
            <a:r>
              <a:rPr lang="en-US" altLang="zh-CN" sz="2200" b="0">
                <a:solidFill>
                  <a:srgbClr val="FF0000"/>
                </a:solidFill>
                <a:cs typeface="微软雅黑" charset="0"/>
              </a:rPr>
              <a:t>5000</a:t>
            </a:r>
            <a:r>
              <a:rPr lang="zh-CN" altLang="en-US" sz="2200" b="0">
                <a:solidFill>
                  <a:srgbClr val="FF0000"/>
                </a:solidFill>
                <a:cs typeface="微软雅黑" charset="0"/>
              </a:rPr>
              <a:t>个学生中</a:t>
            </a:r>
            <a:endParaRPr lang="zh-CN" altLang="en-US" sz="2200" b="0">
              <a:solidFill>
                <a:srgbClr val="FF0000"/>
              </a:solidFill>
              <a:cs typeface="微软雅黑" charset="0"/>
            </a:endParaRPr>
          </a:p>
          <a:p>
            <a:pPr lvl="2" eaLnBrk="1" hangingPunct="1">
              <a:lnSpc>
                <a:spcPct val="120000"/>
              </a:lnSpc>
              <a:spcBef>
                <a:spcPct val="0"/>
              </a:spcBef>
              <a:buFont typeface="Arial" panose="020B0604020202090204" pitchFamily="34" charset="0"/>
              <a:buChar char="•"/>
            </a:pPr>
            <a:r>
              <a:rPr lang="en-US" altLang="zh-CN" sz="2000" b="0">
                <a:solidFill>
                  <a:srgbClr val="1557AE"/>
                </a:solidFill>
                <a:cs typeface="微软雅黑" charset="0"/>
              </a:rPr>
              <a:t>3000</a:t>
            </a:r>
            <a:r>
              <a:rPr lang="zh-CN" altLang="en-US" sz="2000" b="0">
                <a:solidFill>
                  <a:srgbClr val="1557AE"/>
                </a:solidFill>
                <a:cs typeface="微软雅黑" charset="0"/>
              </a:rPr>
              <a:t>个打篮球</a:t>
            </a:r>
            <a:endParaRPr lang="zh-CN" altLang="en-US" sz="2000" b="0">
              <a:solidFill>
                <a:srgbClr val="1557AE"/>
              </a:solidFill>
              <a:cs typeface="微软雅黑" charset="0"/>
            </a:endParaRPr>
          </a:p>
          <a:p>
            <a:pPr lvl="2" eaLnBrk="1" hangingPunct="1">
              <a:lnSpc>
                <a:spcPct val="120000"/>
              </a:lnSpc>
              <a:spcBef>
                <a:spcPct val="0"/>
              </a:spcBef>
              <a:buFont typeface="Arial" panose="020B0604020202090204" pitchFamily="34" charset="0"/>
              <a:buChar char="•"/>
            </a:pPr>
            <a:r>
              <a:rPr lang="en-US" altLang="zh-CN" sz="2000" b="0">
                <a:solidFill>
                  <a:srgbClr val="1557AE"/>
                </a:solidFill>
                <a:cs typeface="微软雅黑" charset="0"/>
              </a:rPr>
              <a:t>3750</a:t>
            </a:r>
            <a:r>
              <a:rPr lang="zh-CN" altLang="en-US" sz="2000" b="0">
                <a:solidFill>
                  <a:srgbClr val="1557AE"/>
                </a:solidFill>
                <a:cs typeface="微软雅黑" charset="0"/>
              </a:rPr>
              <a:t>个喝麦片粥</a:t>
            </a:r>
            <a:endParaRPr lang="zh-CN" altLang="en-US" sz="2000" b="0">
              <a:solidFill>
                <a:srgbClr val="1557AE"/>
              </a:solidFill>
              <a:cs typeface="微软雅黑" charset="0"/>
            </a:endParaRPr>
          </a:p>
          <a:p>
            <a:pPr lvl="2" eaLnBrk="1" hangingPunct="1">
              <a:lnSpc>
                <a:spcPct val="120000"/>
              </a:lnSpc>
              <a:spcBef>
                <a:spcPct val="0"/>
              </a:spcBef>
              <a:buFont typeface="Arial" panose="020B0604020202090204" pitchFamily="34" charset="0"/>
              <a:buChar char="•"/>
            </a:pPr>
            <a:r>
              <a:rPr lang="en-US" altLang="zh-CN" sz="2000" b="0">
                <a:solidFill>
                  <a:srgbClr val="1557AE"/>
                </a:solidFill>
                <a:cs typeface="微软雅黑" charset="0"/>
              </a:rPr>
              <a:t>2000</a:t>
            </a:r>
            <a:r>
              <a:rPr lang="zh-CN" altLang="en-US" sz="2000" b="0">
                <a:solidFill>
                  <a:srgbClr val="1557AE"/>
                </a:solidFill>
                <a:cs typeface="微软雅黑" charset="0"/>
              </a:rPr>
              <a:t>个学生既打篮球又喝麦片粥</a:t>
            </a:r>
            <a:endParaRPr lang="zh-CN" altLang="en-US" sz="2000" b="0">
              <a:solidFill>
                <a:srgbClr val="1557AE"/>
              </a:solidFill>
              <a:cs typeface="微软雅黑" charset="0"/>
            </a:endParaRPr>
          </a:p>
          <a:p>
            <a:pPr marL="441325" lvl="1" indent="-441325" eaLnBrk="1" hangingPunct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200" b="0">
                <a:solidFill>
                  <a:srgbClr val="1557AE"/>
                </a:solidFill>
                <a:cs typeface="微软雅黑" charset="0"/>
              </a:rPr>
              <a:t>然而，</a:t>
            </a:r>
            <a:r>
              <a:rPr lang="zh-CN" altLang="en-US" sz="2200" b="0">
                <a:solidFill>
                  <a:srgbClr val="FF0000"/>
                </a:solidFill>
                <a:cs typeface="微软雅黑" charset="0"/>
              </a:rPr>
              <a:t>打篮球 </a:t>
            </a:r>
            <a:r>
              <a:rPr lang="en-US" altLang="zh-CN" sz="2200" b="0">
                <a:solidFill>
                  <a:srgbClr val="FF0000"/>
                </a:solidFill>
                <a:cs typeface="微软雅黑" charset="0"/>
              </a:rPr>
              <a:t>=&gt; </a:t>
            </a:r>
            <a:r>
              <a:rPr lang="zh-CN" altLang="en-US" sz="2200" b="0">
                <a:solidFill>
                  <a:srgbClr val="FF0000"/>
                </a:solidFill>
                <a:cs typeface="微软雅黑" charset="0"/>
              </a:rPr>
              <a:t>喝麦片粥 </a:t>
            </a:r>
            <a:r>
              <a:rPr lang="en-US" altLang="zh-CN" sz="2200" b="0">
                <a:solidFill>
                  <a:srgbClr val="FF0000"/>
                </a:solidFill>
                <a:cs typeface="微软雅黑" charset="0"/>
              </a:rPr>
              <a:t>[</a:t>
            </a:r>
            <a:r>
              <a:rPr lang="zh-CN" altLang="en-US" sz="2200" b="0">
                <a:solidFill>
                  <a:srgbClr val="FF0000"/>
                </a:solidFill>
                <a:cs typeface="微软雅黑" charset="0"/>
              </a:rPr>
              <a:t>？</a:t>
            </a:r>
            <a:r>
              <a:rPr lang="en-US" altLang="zh-CN" sz="2200" b="0">
                <a:solidFill>
                  <a:srgbClr val="FF0000"/>
                </a:solidFill>
                <a:cs typeface="微软雅黑" charset="0"/>
              </a:rPr>
              <a:t>%, </a:t>
            </a:r>
            <a:r>
              <a:rPr lang="zh-CN" altLang="en-US" sz="2200" b="0">
                <a:solidFill>
                  <a:srgbClr val="FF0000"/>
                </a:solidFill>
                <a:cs typeface="微软雅黑" charset="0"/>
              </a:rPr>
              <a:t>？</a:t>
            </a:r>
            <a:r>
              <a:rPr lang="en-US" altLang="zh-CN" sz="2200" b="0">
                <a:solidFill>
                  <a:srgbClr val="FF0000"/>
                </a:solidFill>
                <a:cs typeface="微软雅黑" charset="0"/>
              </a:rPr>
              <a:t>%]</a:t>
            </a:r>
            <a:r>
              <a:rPr lang="zh-CN" altLang="en-US" sz="2200" b="0">
                <a:solidFill>
                  <a:srgbClr val="1557AE"/>
                </a:solidFill>
                <a:cs typeface="微软雅黑" charset="0"/>
              </a:rPr>
              <a:t>是无趣的，因为全部学生中喝麦片粥的比率是</a:t>
            </a:r>
            <a:r>
              <a:rPr lang="en-US" altLang="zh-CN" sz="2200" b="0">
                <a:solidFill>
                  <a:srgbClr val="FF0000"/>
                </a:solidFill>
                <a:cs typeface="微软雅黑" charset="0"/>
              </a:rPr>
              <a:t>75%</a:t>
            </a:r>
            <a:r>
              <a:rPr lang="zh-CN" altLang="en-US" sz="2200" b="0">
                <a:solidFill>
                  <a:srgbClr val="FF0000"/>
                </a:solidFill>
                <a:cs typeface="微软雅黑" charset="0"/>
              </a:rPr>
              <a:t>，</a:t>
            </a:r>
            <a:r>
              <a:rPr lang="zh-CN" altLang="en-US" sz="2200" b="0">
                <a:solidFill>
                  <a:srgbClr val="1557AE"/>
                </a:solidFill>
                <a:cs typeface="微软雅黑" charset="0"/>
              </a:rPr>
              <a:t>比打篮球学生的</a:t>
            </a:r>
            <a:r>
              <a:rPr lang="en-US" altLang="zh-CN" sz="2200" b="0">
                <a:solidFill>
                  <a:srgbClr val="FF0000"/>
                </a:solidFill>
                <a:cs typeface="微软雅黑" charset="0"/>
              </a:rPr>
              <a:t>66.7%</a:t>
            </a:r>
            <a:r>
              <a:rPr lang="zh-CN" altLang="en-US" sz="2200" b="0">
                <a:solidFill>
                  <a:srgbClr val="1557AE"/>
                </a:solidFill>
                <a:cs typeface="微软雅黑" charset="0"/>
              </a:rPr>
              <a:t>要高</a:t>
            </a:r>
            <a:endParaRPr lang="zh-CN" altLang="en-US" sz="2200" b="0">
              <a:solidFill>
                <a:srgbClr val="1557AE"/>
              </a:solidFill>
              <a:cs typeface="微软雅黑" charset="0"/>
            </a:endParaRPr>
          </a:p>
          <a:p>
            <a:pPr marL="441325" lvl="1" indent="-441325" eaLnBrk="1" hangingPunct="1">
              <a:lnSpc>
                <a:spcPct val="120000"/>
              </a:lnSpc>
              <a:spcBef>
                <a:spcPts val="600"/>
              </a:spcBef>
              <a:buClr>
                <a:srgbClr val="1557AE"/>
              </a:buClr>
              <a:buFont typeface="Wingdings" panose="05000000000000000000" pitchFamily="2" charset="2"/>
              <a:buChar char="Ø"/>
            </a:pPr>
            <a:r>
              <a:rPr lang="zh-CN" altLang="en-US" sz="2200" b="0">
                <a:solidFill>
                  <a:srgbClr val="FF0000"/>
                </a:solidFill>
                <a:cs typeface="微软雅黑" charset="0"/>
              </a:rPr>
              <a:t>打篮球 </a:t>
            </a:r>
            <a:r>
              <a:rPr lang="en-US" altLang="zh-CN" sz="2200" b="0">
                <a:solidFill>
                  <a:srgbClr val="FF0000"/>
                </a:solidFill>
                <a:cs typeface="微软雅黑" charset="0"/>
              </a:rPr>
              <a:t>=&gt; </a:t>
            </a:r>
            <a:r>
              <a:rPr lang="zh-CN" altLang="en-US" sz="2200" b="0">
                <a:solidFill>
                  <a:srgbClr val="FF0000"/>
                </a:solidFill>
                <a:cs typeface="微软雅黑" charset="0"/>
              </a:rPr>
              <a:t>不喝麦片粥 </a:t>
            </a:r>
            <a:r>
              <a:rPr lang="en-US" altLang="zh-CN" sz="2200" b="0">
                <a:solidFill>
                  <a:srgbClr val="FF0000"/>
                </a:solidFill>
                <a:cs typeface="微软雅黑" charset="0"/>
              </a:rPr>
              <a:t>[20%, 33.3%]</a:t>
            </a:r>
            <a:r>
              <a:rPr lang="zh-CN" altLang="en-US" sz="2200" b="0">
                <a:solidFill>
                  <a:srgbClr val="1557AE"/>
                </a:solidFill>
                <a:cs typeface="微软雅黑" charset="0"/>
              </a:rPr>
              <a:t>这个规则远比上面那个要精确，尽管支持度和置信度都要低的多</a:t>
            </a:r>
            <a:endParaRPr lang="zh-CN" altLang="en-US" sz="2200" b="0">
              <a:solidFill>
                <a:srgbClr val="1557AE"/>
              </a:solidFill>
              <a:cs typeface="微软雅黑" charset="0"/>
            </a:endParaRPr>
          </a:p>
        </p:txBody>
      </p:sp>
      <p:graphicFrame>
        <p:nvGraphicFramePr>
          <p:cNvPr id="138243" name="Object 2"/>
          <p:cNvGraphicFramePr>
            <a:graphicFrameLocks noGrp="1" noChangeAspect="1"/>
          </p:cNvGraphicFramePr>
          <p:nvPr>
            <p:ph sz="half" idx="2"/>
          </p:nvPr>
        </p:nvGraphicFramePr>
        <p:xfrm>
          <a:off x="1763713" y="1125538"/>
          <a:ext cx="5337175" cy="1322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61" name="Worksheet" r:id="rId1" imgW="3691255" imgH="914400" progId="Excel.Sheet.8">
                  <p:embed/>
                </p:oleObj>
              </mc:Choice>
              <mc:Fallback>
                <p:oleObj name="Worksheet" r:id="rId1" imgW="3691255" imgH="914400" progId="Excel.Sheet.8">
                  <p:embed/>
                  <p:pic>
                    <p:nvPicPr>
                      <p:cNvPr id="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125538"/>
                        <a:ext cx="5337175" cy="1322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6"/>
          <p:cNvSpPr txBox="1">
            <a:spLocks noChangeArrowheads="1"/>
          </p:cNvSpPr>
          <p:nvPr/>
        </p:nvSpPr>
        <p:spPr bwMode="auto">
          <a:xfrm>
            <a:off x="161925" y="-100013"/>
            <a:ext cx="903605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3.5 </a:t>
            </a:r>
            <a:r>
              <a:rPr lang="zh-CN" altLang="en-US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关联规则、相关性、因果关系的区别</a:t>
            </a:r>
            <a:endParaRPr lang="zh-CN" altLang="en-US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2565400"/>
            <a:ext cx="5108575" cy="1895475"/>
          </a:xfrm>
        </p:spPr>
        <p:txBody>
          <a:bodyPr/>
          <a:lstStyle/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endParaRPr lang="en-US" altLang="zh-CN" sz="2400" b="0">
              <a:cs typeface="微软雅黑" charset="0"/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</a:pPr>
            <a:r>
              <a:rPr lang="en-US" altLang="zh-CN" sz="2400" b="0">
                <a:solidFill>
                  <a:srgbClr val="FF0000"/>
                </a:solidFill>
                <a:cs typeface="微软雅黑" charset="0"/>
                <a:sym typeface="Symbol" panose="05050102010706020507" pitchFamily="18" charset="2"/>
              </a:rPr>
              <a:t>X and Y</a:t>
            </a:r>
            <a:r>
              <a:rPr lang="zh-CN" altLang="en-US" sz="2400" b="0">
                <a:solidFill>
                  <a:srgbClr val="FF0000"/>
                </a:solidFill>
                <a:cs typeface="微软雅黑" charset="0"/>
                <a:sym typeface="Symbol" panose="05050102010706020507" pitchFamily="18" charset="2"/>
              </a:rPr>
              <a:t>：正相关</a:t>
            </a:r>
            <a:endParaRPr lang="en-US" altLang="zh-CN" sz="2400" b="0">
              <a:solidFill>
                <a:srgbClr val="FF0000"/>
              </a:solidFill>
              <a:cs typeface="微软雅黑" charset="0"/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</a:pPr>
            <a:r>
              <a:rPr lang="en-US" altLang="zh-CN" sz="2400" b="0">
                <a:solidFill>
                  <a:srgbClr val="FF0000"/>
                </a:solidFill>
                <a:cs typeface="微软雅黑" charset="0"/>
                <a:sym typeface="Symbol" panose="05050102010706020507" pitchFamily="18" charset="2"/>
              </a:rPr>
              <a:t>X and Z</a:t>
            </a:r>
            <a:r>
              <a:rPr lang="zh-CN" altLang="en-US" sz="2400" b="0">
                <a:solidFill>
                  <a:srgbClr val="FF0000"/>
                </a:solidFill>
                <a:cs typeface="微软雅黑" charset="0"/>
                <a:sym typeface="Symbol" panose="05050102010706020507" pitchFamily="18" charset="2"/>
              </a:rPr>
              <a:t>：负相关</a:t>
            </a:r>
            <a:endParaRPr lang="en-US" altLang="zh-CN" sz="2400" b="0">
              <a:solidFill>
                <a:srgbClr val="FF0000"/>
              </a:solidFill>
              <a:cs typeface="微软雅黑" charset="0"/>
              <a:sym typeface="Symbol" panose="05050102010706020507" pitchFamily="18" charset="2"/>
            </a:endParaRPr>
          </a:p>
          <a:p>
            <a:pPr lvl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400" b="0">
              <a:cs typeface="微软雅黑" charset="0"/>
              <a:sym typeface="Symbol" panose="05050102010706020507" pitchFamily="18" charset="2"/>
            </a:endParaRPr>
          </a:p>
        </p:txBody>
      </p:sp>
      <p:graphicFrame>
        <p:nvGraphicFramePr>
          <p:cNvPr id="139267" name="Object 4"/>
          <p:cNvGraphicFramePr>
            <a:graphicFrameLocks noChangeAspect="1"/>
          </p:cNvGraphicFramePr>
          <p:nvPr/>
        </p:nvGraphicFramePr>
        <p:xfrm>
          <a:off x="4211638" y="2276475"/>
          <a:ext cx="3659187" cy="143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03" name="工作表" r:id="rId1" imgW="4699000" imgH="1854200" progId="Excel.Sheet.8">
                  <p:embed/>
                </p:oleObj>
              </mc:Choice>
              <mc:Fallback>
                <p:oleObj name="工作表" r:id="rId1" imgW="4699000" imgH="1854200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2276475"/>
                        <a:ext cx="3659187" cy="143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68" name="Object 5"/>
          <p:cNvGraphicFramePr>
            <a:graphicFrameLocks noChangeAspect="1"/>
          </p:cNvGraphicFramePr>
          <p:nvPr/>
        </p:nvGraphicFramePr>
        <p:xfrm>
          <a:off x="4211638" y="4076700"/>
          <a:ext cx="4083050" cy="12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04" name="工作表" r:id="rId3" imgW="5943600" imgH="1854200" progId="Excel.Sheet.8">
                  <p:embed/>
                </p:oleObj>
              </mc:Choice>
              <mc:Fallback>
                <p:oleObj name="工作表" r:id="rId3" imgW="5943600" imgH="1854200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4076700"/>
                        <a:ext cx="4083050" cy="1254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269" name="矩形 1"/>
          <p:cNvSpPr>
            <a:spLocks noChangeArrowheads="1"/>
          </p:cNvSpPr>
          <p:nvPr/>
        </p:nvSpPr>
        <p:spPr bwMode="auto">
          <a:xfrm>
            <a:off x="1870075" y="5330825"/>
            <a:ext cx="5619750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buSzPct val="100000"/>
            </a:pPr>
            <a:r>
              <a:rPr lang="zh-CN" altLang="en-US" sz="40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强关联规则 ≠ 正相关！</a:t>
            </a:r>
            <a:endParaRPr lang="zh-CN" altLang="en-US" sz="4000" b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161925" y="-100013"/>
            <a:ext cx="903605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3.5 </a:t>
            </a:r>
            <a:r>
              <a:rPr lang="zh-CN" altLang="en-US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关联规则、相关性、因果关系的区别</a:t>
            </a:r>
            <a:endParaRPr lang="zh-CN" altLang="en-US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47495" y="6151880"/>
            <a:ext cx="6553835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24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陷阱：高置信度规则</a:t>
            </a:r>
            <a:r>
              <a:rPr lang="en-US" altLang="zh-CN" sz="24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 </a:t>
            </a:r>
            <a:r>
              <a:rPr lang="en-US" altLang="zh-CN" sz="2000" b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A → B</a:t>
            </a:r>
            <a:r>
              <a:rPr lang="en-US" altLang="zh-CN" sz="24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 </a:t>
            </a:r>
            <a:r>
              <a:rPr lang="zh-CN" altLang="en-US" sz="24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可能具有误导性。</a:t>
            </a:r>
            <a:endParaRPr lang="zh-CN" altLang="en-US" sz="2400" b="0" i="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314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2133600"/>
            <a:ext cx="6840537" cy="440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1315" name="Rectangle 4"/>
          <p:cNvSpPr>
            <a:spLocks noChangeArrowheads="1"/>
          </p:cNvSpPr>
          <p:nvPr/>
        </p:nvSpPr>
        <p:spPr bwMode="auto">
          <a:xfrm>
            <a:off x="4067175" y="4005263"/>
            <a:ext cx="4032250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zh-CN" altLang="en-US" sz="32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关联规则</a:t>
            </a:r>
            <a:br>
              <a:rPr lang="zh-CN" altLang="en-US" sz="32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32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（未去除无趣规则）</a:t>
            </a:r>
            <a:endParaRPr lang="zh-CN" altLang="en-US" sz="3200" b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41316" name="Rectangle 5"/>
          <p:cNvSpPr>
            <a:spLocks noChangeArrowheads="1"/>
          </p:cNvSpPr>
          <p:nvPr/>
        </p:nvSpPr>
        <p:spPr bwMode="auto">
          <a:xfrm>
            <a:off x="2700338" y="3284538"/>
            <a:ext cx="1944687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zh-CN" altLang="en-US" sz="3200" b="0">
                <a:solidFill>
                  <a:srgbClr val="FF0000"/>
                </a:solidFill>
                <a:latin typeface="微软雅黑" charset="0"/>
                <a:ea typeface="微软雅黑" charset="0"/>
                <a:cs typeface="Arial Unicode MS" panose="020B0604020202020204" charset="-122"/>
              </a:rPr>
              <a:t>正相关</a:t>
            </a:r>
            <a:endParaRPr lang="zh-CN" altLang="en-US" sz="3200" b="0">
              <a:solidFill>
                <a:srgbClr val="FF0000"/>
              </a:solidFill>
              <a:latin typeface="微软雅黑" charset="0"/>
              <a:ea typeface="微软雅黑" charset="0"/>
              <a:cs typeface="Arial Unicode MS" panose="020B0604020202020204" charset="-122"/>
            </a:endParaRPr>
          </a:p>
        </p:txBody>
      </p:sp>
      <p:sp>
        <p:nvSpPr>
          <p:cNvPr id="141317" name="Rectangle 6"/>
          <p:cNvSpPr>
            <a:spLocks noChangeArrowheads="1"/>
          </p:cNvSpPr>
          <p:nvPr/>
        </p:nvSpPr>
        <p:spPr bwMode="auto">
          <a:xfrm>
            <a:off x="2268538" y="5084763"/>
            <a:ext cx="2447925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zh-CN" altLang="en-US" sz="3200" b="0">
                <a:solidFill>
                  <a:srgbClr val="FF0000"/>
                </a:solidFill>
                <a:latin typeface="微软雅黑" charset="0"/>
                <a:ea typeface="微软雅黑" charset="0"/>
                <a:cs typeface="Arial Unicode MS" panose="020B0604020202020204" charset="-122"/>
              </a:rPr>
              <a:t>负相关</a:t>
            </a:r>
            <a:endParaRPr lang="zh-CN" altLang="en-US" sz="3200" b="0">
              <a:solidFill>
                <a:srgbClr val="FF0000"/>
              </a:solidFill>
              <a:latin typeface="微软雅黑" charset="0"/>
              <a:ea typeface="微软雅黑" charset="0"/>
              <a:cs typeface="Arial Unicode MS" panose="020B0604020202020204" charset="-122"/>
            </a:endParaRPr>
          </a:p>
        </p:txBody>
      </p:sp>
      <p:sp>
        <p:nvSpPr>
          <p:cNvPr id="141318" name="Rectangle 7"/>
          <p:cNvSpPr>
            <a:spLocks noChangeArrowheads="1"/>
          </p:cNvSpPr>
          <p:nvPr/>
        </p:nvSpPr>
        <p:spPr bwMode="auto">
          <a:xfrm>
            <a:off x="468313" y="1557338"/>
            <a:ext cx="3887787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zh-CN" altLang="en-US" sz="3200" b="0">
                <a:solidFill>
                  <a:srgbClr val="1557AE"/>
                </a:solidFill>
                <a:latin typeface="微软雅黑" charset="0"/>
                <a:ea typeface="微软雅黑" charset="0"/>
                <a:cs typeface="Arial Unicode MS" panose="020B0604020202020204" charset="-122"/>
              </a:rPr>
              <a:t>关联规则与相关性</a:t>
            </a:r>
            <a:endParaRPr lang="zh-CN" altLang="en-US" sz="3200" b="0">
              <a:solidFill>
                <a:srgbClr val="1557AE"/>
              </a:solidFill>
              <a:latin typeface="微软雅黑" charset="0"/>
              <a:ea typeface="微软雅黑" charset="0"/>
              <a:cs typeface="Arial Unicode MS" panose="020B0604020202020204" charset="-122"/>
            </a:endParaRPr>
          </a:p>
        </p:txBody>
      </p:sp>
      <p:sp>
        <p:nvSpPr>
          <p:cNvPr id="8" name="Rectangle 6"/>
          <p:cNvSpPr txBox="1">
            <a:spLocks noChangeArrowheads="1"/>
          </p:cNvSpPr>
          <p:nvPr/>
        </p:nvSpPr>
        <p:spPr bwMode="auto">
          <a:xfrm>
            <a:off x="161925" y="-100013"/>
            <a:ext cx="903605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3.5 </a:t>
            </a:r>
            <a:r>
              <a:rPr lang="zh-CN" altLang="en-US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关联规则、相关性、因果关系的区别</a:t>
            </a:r>
            <a:endParaRPr lang="zh-CN" altLang="en-US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4724400"/>
            <a:ext cx="8505825" cy="1717675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2600" b="0">
                <a:solidFill>
                  <a:srgbClr val="1557AE"/>
                </a:solidFill>
                <a:cs typeface="微软雅黑" charset="0"/>
              </a:rPr>
              <a:t>可使用</a:t>
            </a:r>
            <a:r>
              <a:rPr lang="zh-CN" altLang="en-US" sz="2600" b="0">
                <a:solidFill>
                  <a:srgbClr val="FF0000"/>
                </a:solidFill>
                <a:cs typeface="微软雅黑" charset="0"/>
              </a:rPr>
              <a:t>相关度</a:t>
            </a:r>
            <a:r>
              <a:rPr lang="zh-CN" altLang="en-US" sz="2600" b="0">
                <a:solidFill>
                  <a:srgbClr val="1557AE"/>
                </a:solidFill>
                <a:cs typeface="微软雅黑" charset="0"/>
              </a:rPr>
              <a:t>来扩充关联规则的</a:t>
            </a:r>
            <a:r>
              <a:rPr lang="zh-CN" altLang="en-US" sz="2600" b="0">
                <a:solidFill>
                  <a:srgbClr val="FF0000"/>
                </a:solidFill>
                <a:cs typeface="微软雅黑" charset="0"/>
              </a:rPr>
              <a:t>支持度</a:t>
            </a:r>
            <a:r>
              <a:rPr lang="en-US" altLang="zh-CN" sz="2600" b="0">
                <a:solidFill>
                  <a:srgbClr val="FF0000"/>
                </a:solidFill>
                <a:cs typeface="微软雅黑" charset="0"/>
              </a:rPr>
              <a:t>---</a:t>
            </a:r>
            <a:r>
              <a:rPr lang="zh-CN" altLang="en-US" sz="2600" b="0">
                <a:solidFill>
                  <a:srgbClr val="FF0000"/>
                </a:solidFill>
                <a:cs typeface="微软雅黑" charset="0"/>
              </a:rPr>
              <a:t>置信度</a:t>
            </a:r>
            <a:r>
              <a:rPr lang="zh-CN" altLang="en-US" sz="2600" b="0">
                <a:solidFill>
                  <a:srgbClr val="1557AE"/>
                </a:solidFill>
                <a:cs typeface="微软雅黑" charset="0"/>
              </a:rPr>
              <a:t>框架</a:t>
            </a:r>
            <a:endParaRPr lang="en-US" altLang="zh-CN" sz="2600" b="0">
              <a:solidFill>
                <a:srgbClr val="1557AE"/>
              </a:solidFill>
              <a:cs typeface="微软雅黑" charset="0"/>
            </a:endParaRPr>
          </a:p>
          <a:p>
            <a:pPr marL="342900" indent="-342900" eaLnBrk="1" hangingPunct="1">
              <a:lnSpc>
                <a:spcPct val="90000"/>
              </a:lnSpc>
            </a:pPr>
            <a:endParaRPr lang="en-US" altLang="zh-CN" sz="2100" b="0">
              <a:solidFill>
                <a:srgbClr val="1557AE"/>
              </a:solidFill>
              <a:cs typeface="微软雅黑" charset="0"/>
            </a:endParaRPr>
          </a:p>
          <a:p>
            <a:pPr marL="342900" indent="-342900" eaLnBrk="1" hangingPunct="1">
              <a:lnSpc>
                <a:spcPct val="120000"/>
              </a:lnSpc>
              <a:spcBef>
                <a:spcPts val="2400"/>
              </a:spcBef>
              <a:buClrTx/>
              <a:buFont typeface="Wingdings" panose="05000000000000000000" pitchFamily="2" charset="2"/>
              <a:buChar char="n"/>
            </a:pPr>
            <a:r>
              <a:rPr lang="zh-CN" altLang="en-US" sz="2600" b="0">
                <a:solidFill>
                  <a:srgbClr val="1557AE"/>
                </a:solidFill>
                <a:cs typeface="微软雅黑" charset="0"/>
              </a:rPr>
              <a:t>需要一种度量事件间的相关性或者是依赖性的指标</a:t>
            </a:r>
            <a:endParaRPr lang="zh-CN" altLang="en-US" sz="2600" b="0">
              <a:solidFill>
                <a:srgbClr val="1557AE"/>
              </a:solidFill>
              <a:cs typeface="微软雅黑" charset="0"/>
            </a:endParaRPr>
          </a:p>
          <a:p>
            <a:pPr marL="342900" indent="-342900" eaLnBrk="1" hangingPunct="1">
              <a:lnSpc>
                <a:spcPct val="90000"/>
              </a:lnSpc>
            </a:pPr>
            <a:endParaRPr lang="zh-CN" altLang="en-US" sz="2100" b="0">
              <a:cs typeface="微软雅黑" charset="0"/>
            </a:endParaRPr>
          </a:p>
        </p:txBody>
      </p:sp>
      <p:graphicFrame>
        <p:nvGraphicFramePr>
          <p:cNvPr id="143363" name="对象 3"/>
          <p:cNvGraphicFramePr>
            <a:graphicFrameLocks noChangeAspect="1"/>
          </p:cNvGraphicFramePr>
          <p:nvPr/>
        </p:nvGraphicFramePr>
        <p:xfrm>
          <a:off x="1630363" y="5373688"/>
          <a:ext cx="53689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2" name="Equation" r:id="rId1" imgW="2527300" imgH="203200" progId="Equation.3">
                  <p:embed/>
                </p:oleObj>
              </mc:Choice>
              <mc:Fallback>
                <p:oleObj name="Equation" r:id="rId1" imgW="2527300" imgH="203200" progId="Equation.3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0363" y="5373688"/>
                        <a:ext cx="53689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336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1557338"/>
            <a:ext cx="5184775" cy="312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6"/>
          <p:cNvSpPr txBox="1">
            <a:spLocks noChangeArrowheads="1"/>
          </p:cNvSpPr>
          <p:nvPr/>
        </p:nvSpPr>
        <p:spPr bwMode="auto">
          <a:xfrm>
            <a:off x="161925" y="-100013"/>
            <a:ext cx="903605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3.5 </a:t>
            </a:r>
            <a:r>
              <a:rPr lang="zh-CN" altLang="en-US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关联规则、相关性、因果关系的区别</a:t>
            </a:r>
            <a:endParaRPr lang="zh-CN" altLang="en-US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12875"/>
            <a:ext cx="8507413" cy="4525963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spcBef>
                <a:spcPts val="2400"/>
              </a:spcBef>
              <a:buClrTx/>
              <a:buFont typeface="Wingdings" panose="05000000000000000000" pitchFamily="2" charset="2"/>
              <a:buChar char="n"/>
            </a:pPr>
            <a:r>
              <a:rPr lang="zh-CN" altLang="en-US" sz="2600" b="0">
                <a:solidFill>
                  <a:srgbClr val="FF0000"/>
                </a:solidFill>
                <a:cs typeface="微软雅黑" charset="0"/>
              </a:rPr>
              <a:t>提升度指标（</a:t>
            </a:r>
            <a:r>
              <a:rPr lang="en-US" altLang="zh-CN" sz="2600" b="0">
                <a:solidFill>
                  <a:srgbClr val="FF0000"/>
                </a:solidFill>
                <a:cs typeface="微软雅黑" charset="0"/>
              </a:rPr>
              <a:t>lift</a:t>
            </a:r>
            <a:r>
              <a:rPr lang="zh-CN" altLang="en-US" sz="2600" b="0">
                <a:solidFill>
                  <a:srgbClr val="FF0000"/>
                </a:solidFill>
                <a:cs typeface="微软雅黑" charset="0"/>
              </a:rPr>
              <a:t>）</a:t>
            </a:r>
            <a:endParaRPr lang="zh-CN" altLang="en-US" sz="2600" b="0">
              <a:solidFill>
                <a:srgbClr val="FF0000"/>
              </a:solidFill>
              <a:cs typeface="微软雅黑" charset="0"/>
            </a:endParaRPr>
          </a:p>
          <a:p>
            <a:pPr marL="342900" indent="-342900" eaLnBrk="1" hangingPunct="1">
              <a:lnSpc>
                <a:spcPct val="90000"/>
              </a:lnSpc>
            </a:pPr>
            <a:endParaRPr lang="zh-CN" altLang="en-US" sz="2100" b="0">
              <a:cs typeface="微软雅黑" charset="0"/>
            </a:endParaRPr>
          </a:p>
          <a:p>
            <a:pPr marL="342900" indent="-342900" eaLnBrk="1" hangingPunct="1">
              <a:lnSpc>
                <a:spcPct val="90000"/>
              </a:lnSpc>
            </a:pPr>
            <a:endParaRPr lang="zh-CN" altLang="en-US" sz="2100" b="0">
              <a:cs typeface="微软雅黑" charset="0"/>
            </a:endParaRPr>
          </a:p>
          <a:p>
            <a:pPr marL="342900" indent="-342900" eaLnBrk="1" hangingPunct="1">
              <a:lnSpc>
                <a:spcPct val="90000"/>
              </a:lnSpc>
            </a:pPr>
            <a:endParaRPr lang="zh-CN" altLang="en-US" sz="2100" b="0">
              <a:cs typeface="微软雅黑" charset="0"/>
            </a:endParaRPr>
          </a:p>
          <a:p>
            <a:pPr marL="342900" indent="-342900" eaLnBrk="1" hangingPunct="1">
              <a:lnSpc>
                <a:spcPct val="12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n"/>
            </a:pPr>
            <a:r>
              <a:rPr lang="zh-CN" altLang="en-US" sz="2600" b="0">
                <a:solidFill>
                  <a:srgbClr val="1557AE"/>
                </a:solidFill>
                <a:cs typeface="微软雅黑" charset="0"/>
              </a:rPr>
              <a:t>当项集</a:t>
            </a:r>
            <a:r>
              <a:rPr lang="en-US" altLang="zh-CN" sz="2600" b="0">
                <a:solidFill>
                  <a:srgbClr val="1557AE"/>
                </a:solidFill>
                <a:cs typeface="微软雅黑" charset="0"/>
              </a:rPr>
              <a:t>A</a:t>
            </a:r>
            <a:r>
              <a:rPr lang="zh-CN" altLang="en-US" sz="2600" b="0">
                <a:solidFill>
                  <a:srgbClr val="1557AE"/>
                </a:solidFill>
                <a:cs typeface="微软雅黑" charset="0"/>
              </a:rPr>
              <a:t>的出现独立于项集</a:t>
            </a:r>
            <a:r>
              <a:rPr lang="en-US" altLang="zh-CN" sz="2600" b="0">
                <a:solidFill>
                  <a:srgbClr val="1557AE"/>
                </a:solidFill>
                <a:cs typeface="微软雅黑" charset="0"/>
              </a:rPr>
              <a:t>B</a:t>
            </a:r>
            <a:r>
              <a:rPr lang="zh-CN" altLang="en-US" sz="2600" b="0">
                <a:solidFill>
                  <a:srgbClr val="1557AE"/>
                </a:solidFill>
                <a:cs typeface="微软雅黑" charset="0"/>
              </a:rPr>
              <a:t>时，</a:t>
            </a:r>
            <a:r>
              <a:rPr lang="en-US" altLang="zh-CN" sz="2600" b="0">
                <a:solidFill>
                  <a:srgbClr val="FF0000"/>
                </a:solidFill>
                <a:cs typeface="微软雅黑" charset="0"/>
              </a:rPr>
              <a:t>P(A∪B)=P(A)P(B)</a:t>
            </a:r>
            <a:r>
              <a:rPr lang="zh-CN" altLang="en-US" sz="2600" b="0">
                <a:solidFill>
                  <a:srgbClr val="1557AE"/>
                </a:solidFill>
                <a:cs typeface="微软雅黑" charset="0"/>
              </a:rPr>
              <a:t>，即</a:t>
            </a:r>
            <a:r>
              <a:rPr lang="en-US" altLang="zh-CN" sz="2600" b="0">
                <a:solidFill>
                  <a:srgbClr val="FF0000"/>
                </a:solidFill>
                <a:cs typeface="微软雅黑" charset="0"/>
              </a:rPr>
              <a:t>lift(A,B)</a:t>
            </a:r>
            <a:r>
              <a:rPr lang="zh-CN" altLang="en-US" sz="2600" b="0">
                <a:solidFill>
                  <a:srgbClr val="FF0000"/>
                </a:solidFill>
                <a:cs typeface="微软雅黑" charset="0"/>
              </a:rPr>
              <a:t>＝</a:t>
            </a:r>
            <a:r>
              <a:rPr lang="en-US" altLang="zh-CN" sz="2600" b="0">
                <a:solidFill>
                  <a:srgbClr val="FF0000"/>
                </a:solidFill>
                <a:cs typeface="微软雅黑" charset="0"/>
              </a:rPr>
              <a:t>1</a:t>
            </a:r>
            <a:r>
              <a:rPr lang="zh-CN" altLang="en-US" sz="2600" b="0">
                <a:solidFill>
                  <a:srgbClr val="1557AE"/>
                </a:solidFill>
                <a:cs typeface="微软雅黑" charset="0"/>
              </a:rPr>
              <a:t>，表明</a:t>
            </a:r>
            <a:r>
              <a:rPr lang="en-US" altLang="zh-CN" sz="2600" b="0">
                <a:solidFill>
                  <a:srgbClr val="1557AE"/>
                </a:solidFill>
                <a:cs typeface="微软雅黑" charset="0"/>
              </a:rPr>
              <a:t>A</a:t>
            </a:r>
            <a:r>
              <a:rPr lang="zh-CN" altLang="en-US" sz="2600" b="0">
                <a:solidFill>
                  <a:srgbClr val="1557AE"/>
                </a:solidFill>
                <a:cs typeface="微软雅黑" charset="0"/>
              </a:rPr>
              <a:t>与</a:t>
            </a:r>
            <a:r>
              <a:rPr lang="en-US" altLang="zh-CN" sz="2600" b="0">
                <a:solidFill>
                  <a:srgbClr val="1557AE"/>
                </a:solidFill>
                <a:cs typeface="微软雅黑" charset="0"/>
              </a:rPr>
              <a:t>B</a:t>
            </a:r>
            <a:r>
              <a:rPr lang="zh-CN" altLang="en-US" sz="2600" b="0">
                <a:solidFill>
                  <a:srgbClr val="1557AE"/>
                </a:solidFill>
                <a:cs typeface="微软雅黑" charset="0"/>
              </a:rPr>
              <a:t>无关，</a:t>
            </a:r>
            <a:r>
              <a:rPr lang="en-US" altLang="zh-CN" sz="2600" b="0">
                <a:solidFill>
                  <a:srgbClr val="1557AE"/>
                </a:solidFill>
                <a:cs typeface="微软雅黑" charset="0"/>
              </a:rPr>
              <a:t> </a:t>
            </a:r>
            <a:r>
              <a:rPr lang="en-US" altLang="zh-CN" sz="2600" b="0">
                <a:solidFill>
                  <a:srgbClr val="FF0000"/>
                </a:solidFill>
                <a:cs typeface="微软雅黑" charset="0"/>
              </a:rPr>
              <a:t>lift(A,B) &gt;1</a:t>
            </a:r>
            <a:r>
              <a:rPr lang="zh-CN" altLang="en-US" sz="2600" b="0">
                <a:solidFill>
                  <a:srgbClr val="1557AE"/>
                </a:solidFill>
                <a:cs typeface="微软雅黑" charset="0"/>
              </a:rPr>
              <a:t>表明</a:t>
            </a:r>
            <a:r>
              <a:rPr lang="en-US" altLang="zh-CN" sz="2600" b="0">
                <a:solidFill>
                  <a:srgbClr val="1557AE"/>
                </a:solidFill>
                <a:cs typeface="微软雅黑" charset="0"/>
              </a:rPr>
              <a:t>A</a:t>
            </a:r>
            <a:r>
              <a:rPr lang="zh-CN" altLang="en-US" sz="2600" b="0">
                <a:solidFill>
                  <a:srgbClr val="1557AE"/>
                </a:solidFill>
                <a:cs typeface="微软雅黑" charset="0"/>
              </a:rPr>
              <a:t>与</a:t>
            </a:r>
            <a:r>
              <a:rPr lang="en-US" altLang="zh-CN" sz="2600" b="0">
                <a:solidFill>
                  <a:srgbClr val="1557AE"/>
                </a:solidFill>
                <a:cs typeface="微软雅黑" charset="0"/>
              </a:rPr>
              <a:t>B</a:t>
            </a:r>
            <a:r>
              <a:rPr lang="zh-CN" altLang="en-US" sz="2600" b="0">
                <a:solidFill>
                  <a:srgbClr val="1557AE"/>
                </a:solidFill>
                <a:cs typeface="微软雅黑" charset="0"/>
              </a:rPr>
              <a:t>正相关， </a:t>
            </a:r>
            <a:r>
              <a:rPr lang="en-US" altLang="zh-CN" sz="2600" b="0">
                <a:solidFill>
                  <a:srgbClr val="FF0000"/>
                </a:solidFill>
                <a:cs typeface="微软雅黑" charset="0"/>
              </a:rPr>
              <a:t>lift(A,B) &lt;1</a:t>
            </a:r>
            <a:r>
              <a:rPr lang="zh-CN" altLang="en-US" sz="2600" b="0">
                <a:solidFill>
                  <a:srgbClr val="1557AE"/>
                </a:solidFill>
                <a:cs typeface="微软雅黑" charset="0"/>
              </a:rPr>
              <a:t>表明</a:t>
            </a:r>
            <a:r>
              <a:rPr lang="en-US" altLang="zh-CN" sz="2600" b="0">
                <a:solidFill>
                  <a:srgbClr val="1557AE"/>
                </a:solidFill>
                <a:cs typeface="微软雅黑" charset="0"/>
              </a:rPr>
              <a:t>A</a:t>
            </a:r>
            <a:r>
              <a:rPr lang="zh-CN" altLang="en-US" sz="2600" b="0">
                <a:solidFill>
                  <a:srgbClr val="1557AE"/>
                </a:solidFill>
                <a:cs typeface="微软雅黑" charset="0"/>
              </a:rPr>
              <a:t>与</a:t>
            </a:r>
            <a:r>
              <a:rPr lang="en-US" altLang="zh-CN" sz="2600" b="0">
                <a:solidFill>
                  <a:srgbClr val="1557AE"/>
                </a:solidFill>
                <a:cs typeface="微软雅黑" charset="0"/>
              </a:rPr>
              <a:t>B</a:t>
            </a:r>
            <a:r>
              <a:rPr lang="zh-CN" altLang="en-US" sz="2600" b="0">
                <a:solidFill>
                  <a:srgbClr val="1557AE"/>
                </a:solidFill>
                <a:cs typeface="微软雅黑" charset="0"/>
              </a:rPr>
              <a:t>负相关</a:t>
            </a:r>
            <a:endParaRPr lang="zh-CN" altLang="en-US" sz="2600" b="0">
              <a:solidFill>
                <a:srgbClr val="1557AE"/>
              </a:solidFill>
              <a:cs typeface="微软雅黑" charset="0"/>
            </a:endParaRPr>
          </a:p>
        </p:txBody>
      </p:sp>
      <p:graphicFrame>
        <p:nvGraphicFramePr>
          <p:cNvPr id="145411" name="对象 4"/>
          <p:cNvGraphicFramePr>
            <a:graphicFrameLocks noChangeAspect="1"/>
          </p:cNvGraphicFramePr>
          <p:nvPr/>
        </p:nvGraphicFramePr>
        <p:xfrm>
          <a:off x="971550" y="2133600"/>
          <a:ext cx="692785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29" name="Equation" r:id="rId1" imgW="3657600" imgH="419100" progId="Equation.3">
                  <p:embed/>
                </p:oleObj>
              </mc:Choice>
              <mc:Fallback>
                <p:oleObj name="Equation" r:id="rId1" imgW="3657600" imgH="419100" progId="Equation.3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133600"/>
                        <a:ext cx="6927850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6"/>
          <p:cNvSpPr txBox="1">
            <a:spLocks noChangeArrowheads="1"/>
          </p:cNvSpPr>
          <p:nvPr/>
        </p:nvSpPr>
        <p:spPr bwMode="auto">
          <a:xfrm>
            <a:off x="161925" y="-100013"/>
            <a:ext cx="903605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3.5 </a:t>
            </a:r>
            <a:r>
              <a:rPr lang="zh-CN" altLang="en-US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关联规则、相关性、因果关系的区别</a:t>
            </a:r>
            <a:endParaRPr lang="zh-CN" altLang="en-US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7458" name="Object 4"/>
          <p:cNvGraphicFramePr>
            <a:graphicFrameLocks noChangeAspect="1"/>
          </p:cNvGraphicFramePr>
          <p:nvPr/>
        </p:nvGraphicFramePr>
        <p:xfrm>
          <a:off x="2124075" y="1700213"/>
          <a:ext cx="4751388" cy="185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493" name="工作表" r:id="rId1" imgW="4699000" imgH="1854200" progId="Excel.Sheet.8">
                  <p:embed/>
                </p:oleObj>
              </mc:Choice>
              <mc:Fallback>
                <p:oleObj name="工作表" r:id="rId1" imgW="4699000" imgH="1854200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1700213"/>
                        <a:ext cx="4751388" cy="185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6"/>
          <p:cNvSpPr txBox="1">
            <a:spLocks noChangeArrowheads="1"/>
          </p:cNvSpPr>
          <p:nvPr/>
        </p:nvSpPr>
        <p:spPr bwMode="auto">
          <a:xfrm>
            <a:off x="161925" y="-100013"/>
            <a:ext cx="903605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 b="0" kern="0">
                <a:solidFill>
                  <a:srgbClr val="1557AE"/>
                </a:solidFill>
                <a:latin typeface="方正兰亭中黑_GBK" panose="02000000000000000000" pitchFamily="2" charset="-122"/>
                <a:ea typeface="方正兰亭中黑_GBK" panose="02000000000000000000" pitchFamily="2" charset="-122"/>
              </a:rPr>
              <a:t>3.5 </a:t>
            </a:r>
            <a:r>
              <a:rPr lang="zh-CN" altLang="en-US" b="0" kern="0">
                <a:solidFill>
                  <a:srgbClr val="1557AE"/>
                </a:solidFill>
                <a:latin typeface="方正兰亭中黑_GBK" panose="02000000000000000000" pitchFamily="2" charset="-122"/>
                <a:ea typeface="方正兰亭中黑_GBK" panose="02000000000000000000" pitchFamily="2" charset="-122"/>
              </a:rPr>
              <a:t>关联规则、相关性、因果关系的区别</a:t>
            </a:r>
            <a:endParaRPr lang="zh-CN" altLang="en-US" b="0" kern="0" dirty="0">
              <a:solidFill>
                <a:srgbClr val="1557AE"/>
              </a:solidFill>
              <a:latin typeface="方正兰亭中黑_GBK" panose="02000000000000000000" pitchFamily="2" charset="-122"/>
              <a:ea typeface="方正兰亭中黑_GBK" panose="02000000000000000000" pitchFamily="2" charset="-122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1547495" y="4509135"/>
          <a:ext cx="5751830" cy="1562100"/>
        </p:xfrm>
        <a:graphic>
          <a:graphicData uri="http://schemas.openxmlformats.org/drawingml/2006/table">
            <a:tbl>
              <a:tblPr/>
              <a:tblGrid>
                <a:gridCol w="1698625"/>
                <a:gridCol w="2235200"/>
                <a:gridCol w="1817688"/>
              </a:tblGrid>
              <a:tr h="3556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Itemset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Support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lift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3937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200"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X,Y</a:t>
                      </a:r>
                      <a:endParaRPr lang="en-US" altLang="en-US" sz="2200" b="1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200"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25%</a:t>
                      </a:r>
                      <a:endParaRPr lang="en-US" altLang="en-US" sz="2200" b="1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200"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2</a:t>
                      </a:r>
                      <a:endParaRPr lang="en-US" altLang="en-US" sz="2200" b="1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</a:tr>
              <a:tr h="4064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200"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X,Z</a:t>
                      </a:r>
                      <a:endParaRPr lang="en-US" altLang="en-US" sz="2200" b="1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200"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37.50%</a:t>
                      </a:r>
                      <a:endParaRPr lang="en-US" altLang="en-US" sz="2200" b="1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200"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0.9</a:t>
                      </a:r>
                      <a:endParaRPr lang="en-US" altLang="en-US" sz="2200" b="1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</a:tr>
              <a:tr h="4064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200"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Y,Z</a:t>
                      </a:r>
                      <a:endParaRPr lang="en-US" altLang="en-US" sz="2200" b="1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200"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12.50%</a:t>
                      </a:r>
                      <a:endParaRPr lang="en-US" altLang="en-US" sz="2200" b="1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200"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0.57</a:t>
                      </a:r>
                      <a:endParaRPr lang="en-US" altLang="en-US" sz="2200" b="1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557338"/>
            <a:ext cx="8280400" cy="4267200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3200" b="0">
                <a:solidFill>
                  <a:srgbClr val="FF0000"/>
                </a:solidFill>
                <a:cs typeface="微软雅黑" charset="0"/>
              </a:rPr>
              <a:t>问题</a:t>
            </a:r>
            <a:r>
              <a:rPr lang="en-US" altLang="zh-CN" sz="3200" b="0">
                <a:solidFill>
                  <a:srgbClr val="FF0000"/>
                </a:solidFill>
                <a:cs typeface="微软雅黑" charset="0"/>
              </a:rPr>
              <a:t>2</a:t>
            </a:r>
            <a:r>
              <a:rPr lang="zh-CN" altLang="en-US" sz="3200" b="0">
                <a:solidFill>
                  <a:srgbClr val="FF0000"/>
                </a:solidFill>
                <a:cs typeface="微软雅黑" charset="0"/>
              </a:rPr>
              <a:t>：强关联规则是否存在因果关系？</a:t>
            </a:r>
            <a:endParaRPr lang="en-US" altLang="zh-CN" sz="3200" b="0">
              <a:solidFill>
                <a:srgbClr val="FF0000"/>
              </a:solidFill>
              <a:cs typeface="微软雅黑" charset="0"/>
            </a:endParaRPr>
          </a:p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3200" b="0">
                <a:solidFill>
                  <a:srgbClr val="FF0000"/>
                </a:solidFill>
                <a:cs typeface="微软雅黑" charset="0"/>
              </a:rPr>
              <a:t>因果关系：</a:t>
            </a:r>
            <a:r>
              <a:rPr lang="zh-CN" altLang="zh-CN" sz="3200" b="0">
                <a:solidFill>
                  <a:srgbClr val="1557AE"/>
                </a:solidFill>
                <a:cs typeface="微软雅黑" charset="0"/>
              </a:rPr>
              <a:t>变量或事件之间的直接作用关系</a:t>
            </a:r>
            <a:endParaRPr lang="en-US" altLang="zh-CN" sz="3200" b="0">
              <a:solidFill>
                <a:srgbClr val="1557AE"/>
              </a:solidFill>
              <a:cs typeface="微软雅黑" charset="0"/>
            </a:endParaRPr>
          </a:p>
        </p:txBody>
      </p:sp>
      <p:sp>
        <p:nvSpPr>
          <p:cNvPr id="149507" name="矩形 1"/>
          <p:cNvSpPr>
            <a:spLocks noChangeArrowheads="1"/>
          </p:cNvSpPr>
          <p:nvPr/>
        </p:nvSpPr>
        <p:spPr bwMode="auto">
          <a:xfrm>
            <a:off x="1558925" y="5181600"/>
            <a:ext cx="6134100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buSzPct val="100000"/>
            </a:pPr>
            <a:r>
              <a:rPr lang="zh-CN" altLang="en-US" sz="40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强关联规则 ≠ 因果关系！</a:t>
            </a:r>
            <a:endParaRPr lang="zh-CN" altLang="en-US" sz="4000" b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49508" name="矩形 1"/>
          <p:cNvSpPr>
            <a:spLocks noChangeArrowheads="1"/>
          </p:cNvSpPr>
          <p:nvPr/>
        </p:nvSpPr>
        <p:spPr bwMode="auto">
          <a:xfrm>
            <a:off x="3003550" y="3409950"/>
            <a:ext cx="7413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r>
              <a:rPr lang="en-US" altLang="zh-CN" sz="3200" b="0">
                <a:solidFill>
                  <a:srgbClr val="FF0000"/>
                </a:solidFill>
                <a:latin typeface="微软雅黑" charset="0"/>
                <a:ea typeface="微软雅黑" charset="0"/>
              </a:rPr>
              <a:t>=&gt;</a:t>
            </a:r>
            <a:endParaRPr lang="en-US" altLang="zh-CN" sz="3200" b="0">
              <a:solidFill>
                <a:srgbClr val="FF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49509" name="矩形 7"/>
          <p:cNvSpPr>
            <a:spLocks noChangeArrowheads="1"/>
          </p:cNvSpPr>
          <p:nvPr/>
        </p:nvSpPr>
        <p:spPr bwMode="auto">
          <a:xfrm>
            <a:off x="3780155" y="3216910"/>
            <a:ext cx="1420813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r>
              <a:rPr lang="zh-CN" altLang="en-US" sz="3200" b="0">
                <a:solidFill>
                  <a:srgbClr val="FF0000"/>
                </a:solidFill>
                <a:latin typeface="微软雅黑" charset="0"/>
                <a:ea typeface="微软雅黑" charset="0"/>
              </a:rPr>
              <a:t>太阳东</a:t>
            </a:r>
            <a:endParaRPr lang="en-US" altLang="zh-CN" sz="3200" b="0">
              <a:solidFill>
                <a:srgbClr val="FF0000"/>
              </a:solidFill>
              <a:latin typeface="微软雅黑" charset="0"/>
              <a:ea typeface="微软雅黑" charset="0"/>
            </a:endParaRPr>
          </a:p>
          <a:p>
            <a:r>
              <a:rPr lang="zh-CN" altLang="en-US" sz="3200" b="0">
                <a:solidFill>
                  <a:srgbClr val="FF0000"/>
                </a:solidFill>
                <a:latin typeface="微软雅黑" charset="0"/>
                <a:ea typeface="微软雅黑" charset="0"/>
              </a:rPr>
              <a:t>方升起</a:t>
            </a:r>
            <a:endParaRPr lang="zh-CN" altLang="en-US" sz="3200" b="0">
              <a:solidFill>
                <a:srgbClr val="FF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49510" name="矩形 8"/>
          <p:cNvSpPr>
            <a:spLocks noChangeArrowheads="1"/>
          </p:cNvSpPr>
          <p:nvPr/>
        </p:nvSpPr>
        <p:spPr bwMode="auto">
          <a:xfrm>
            <a:off x="5568950" y="3398838"/>
            <a:ext cx="25796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r>
              <a:rPr lang="en-US" altLang="zh-CN" sz="3200" b="0">
                <a:solidFill>
                  <a:srgbClr val="FF0000"/>
                </a:solidFill>
                <a:latin typeface="微软雅黑" charset="0"/>
                <a:ea typeface="微软雅黑" charset="0"/>
              </a:rPr>
              <a:t>[1/7, 100%]</a:t>
            </a:r>
            <a:endParaRPr lang="en-US" altLang="zh-CN" sz="3200" b="0">
              <a:solidFill>
                <a:srgbClr val="FF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49511" name="矩形 9"/>
          <p:cNvSpPr>
            <a:spLocks noChangeArrowheads="1"/>
          </p:cNvSpPr>
          <p:nvPr/>
        </p:nvSpPr>
        <p:spPr bwMode="auto">
          <a:xfrm>
            <a:off x="1486833" y="3216275"/>
            <a:ext cx="1415772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32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周一上</a:t>
            </a:r>
            <a:endParaRPr lang="en-US" altLang="zh-CN" sz="3200" b="0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en-US" altLang="zh-CN" sz="32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DM</a:t>
            </a:r>
            <a:r>
              <a:rPr lang="zh-CN" altLang="en-US" sz="32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课</a:t>
            </a:r>
            <a:endParaRPr lang="zh-CN" altLang="en-US" sz="3200" b="0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Rectangle 6"/>
          <p:cNvSpPr txBox="1">
            <a:spLocks noChangeArrowheads="1"/>
          </p:cNvSpPr>
          <p:nvPr/>
        </p:nvSpPr>
        <p:spPr bwMode="auto">
          <a:xfrm>
            <a:off x="161925" y="-100013"/>
            <a:ext cx="903605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3.5 </a:t>
            </a:r>
            <a:r>
              <a:rPr lang="zh-CN" altLang="en-US" b="0" kern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关联规则、相关性、因果关系的区别</a:t>
            </a:r>
            <a:endParaRPr lang="zh-CN" altLang="en-US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412875"/>
            <a:ext cx="8118475" cy="4267200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3200" b="0">
                <a:solidFill>
                  <a:srgbClr val="FF0000"/>
                </a:solidFill>
                <a:cs typeface="微软雅黑" charset="0"/>
              </a:rPr>
              <a:t> 相关性有助于为发现因果关系提供线索</a:t>
            </a:r>
            <a:endParaRPr lang="zh-CN" altLang="en-US" sz="3200" b="0">
              <a:solidFill>
                <a:srgbClr val="FF0000"/>
              </a:solidFill>
              <a:cs typeface="微软雅黑" charset="0"/>
            </a:endParaRPr>
          </a:p>
        </p:txBody>
      </p:sp>
      <p:sp>
        <p:nvSpPr>
          <p:cNvPr id="3" name="椭圆 2"/>
          <p:cNvSpPr/>
          <p:nvPr/>
        </p:nvSpPr>
        <p:spPr bwMode="auto">
          <a:xfrm>
            <a:off x="2457450" y="3213100"/>
            <a:ext cx="1223963" cy="1152525"/>
          </a:xfrm>
          <a:prstGeom prst="ellipse">
            <a:avLst/>
          </a:prstGeom>
          <a:solidFill>
            <a:srgbClr val="FFFFCC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/>
        </p:spPr>
        <p:txBody>
          <a:bodyPr lIns="0" tIns="0" rIns="0" bIns="0" anchor="ctr" anchorCtr="1"/>
          <a:lstStyle/>
          <a:p>
            <a:pPr algn="ctr" eaLnBrk="1" hangingPunct="1">
              <a:defRPr/>
            </a:pPr>
            <a:r>
              <a:rPr lang="en-US" altLang="zh-CN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LRRK2</a:t>
            </a:r>
            <a:endParaRPr lang="en-US" altLang="zh-CN" sz="2000" b="0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ctr" eaLnBrk="1" hangingPunct="1">
              <a:defRPr/>
            </a:pPr>
            <a:r>
              <a:rPr lang="zh-CN" altLang="en-US" sz="20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携带者</a:t>
            </a:r>
            <a:endParaRPr lang="zh-CN" altLang="en-US" sz="2000" b="0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" name="线形标注 2(无边框) 4"/>
          <p:cNvSpPr/>
          <p:nvPr/>
        </p:nvSpPr>
        <p:spPr bwMode="auto">
          <a:xfrm>
            <a:off x="4302125" y="2767013"/>
            <a:ext cx="1944688" cy="500062"/>
          </a:xfrm>
          <a:prstGeom prst="callout2">
            <a:avLst>
              <a:gd name="adj1" fmla="val 18750"/>
              <a:gd name="adj2" fmla="val 60287"/>
              <a:gd name="adj3" fmla="val 18750"/>
              <a:gd name="adj4" fmla="val -16667"/>
              <a:gd name="adj5" fmla="val 112500"/>
              <a:gd name="adj6" fmla="val -46667"/>
            </a:avLst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  <a:effectLst/>
        </p:spPr>
        <p:txBody>
          <a:bodyPr lIns="0" tIns="0" rIns="0" bIns="0" anchor="ctr" anchorCtr="1"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000" b="0">
              <a:latin typeface="微软雅黑" charset="0"/>
              <a:ea typeface="微软雅黑" charset="0"/>
            </a:endParaRPr>
          </a:p>
        </p:txBody>
      </p:sp>
      <p:sp>
        <p:nvSpPr>
          <p:cNvPr id="157701" name="矩形 5"/>
          <p:cNvSpPr>
            <a:spLocks noChangeArrowheads="1"/>
          </p:cNvSpPr>
          <p:nvPr/>
        </p:nvSpPr>
        <p:spPr bwMode="auto">
          <a:xfrm>
            <a:off x="3968750" y="2492375"/>
            <a:ext cx="180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r>
              <a:rPr lang="en-US" altLang="zh-CN" sz="2000" b="0">
                <a:solidFill>
                  <a:schemeClr val="accent2"/>
                </a:solidFill>
                <a:latin typeface="微软雅黑" charset="0"/>
                <a:ea typeface="微软雅黑" charset="0"/>
                <a:cs typeface="微软雅黑" charset="0"/>
              </a:rPr>
              <a:t>G2029S</a:t>
            </a:r>
            <a:r>
              <a:rPr lang="zh-CN" altLang="en-US" sz="2000" b="0">
                <a:solidFill>
                  <a:schemeClr val="accent2"/>
                </a:solidFill>
                <a:latin typeface="微软雅黑" charset="0"/>
                <a:ea typeface="微软雅黑" charset="0"/>
                <a:cs typeface="微软雅黑" charset="0"/>
              </a:rPr>
              <a:t>变异</a:t>
            </a:r>
            <a:endParaRPr lang="zh-CN" altLang="en-US" sz="2000" b="0">
              <a:solidFill>
                <a:schemeClr val="accent2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57702" name="圆角矩形 7"/>
          <p:cNvSpPr>
            <a:spLocks noChangeArrowheads="1"/>
          </p:cNvSpPr>
          <p:nvPr/>
        </p:nvSpPr>
        <p:spPr bwMode="auto">
          <a:xfrm>
            <a:off x="5803900" y="2441575"/>
            <a:ext cx="2376488" cy="720725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9525">
            <a:solidFill>
              <a:srgbClr val="00B050"/>
            </a:solidFill>
            <a:round/>
          </a:ln>
        </p:spPr>
        <p:txBody>
          <a:bodyPr lIns="0" tIns="0" rIns="0" bIns="0" anchor="ctr" anchorCtr="1"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2400" b="0">
                <a:solidFill>
                  <a:srgbClr val="00B050"/>
                </a:solidFill>
                <a:latin typeface="微软雅黑" charset="0"/>
                <a:ea typeface="微软雅黑" charset="0"/>
              </a:rPr>
              <a:t>患帕金森病</a:t>
            </a:r>
            <a:endParaRPr lang="zh-CN" altLang="en-US" sz="2400" b="0">
              <a:solidFill>
                <a:srgbClr val="00B05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9" name="线形标注 2(无边框) 8"/>
          <p:cNvSpPr/>
          <p:nvPr/>
        </p:nvSpPr>
        <p:spPr bwMode="auto">
          <a:xfrm>
            <a:off x="4454525" y="2919413"/>
            <a:ext cx="1944688" cy="500062"/>
          </a:xfrm>
          <a:prstGeom prst="callout2">
            <a:avLst>
              <a:gd name="adj1" fmla="val 373177"/>
              <a:gd name="adj2" fmla="val 52577"/>
              <a:gd name="adj3" fmla="val 373177"/>
              <a:gd name="adj4" fmla="val -23606"/>
              <a:gd name="adj5" fmla="val 283706"/>
              <a:gd name="adj6" fmla="val -56690"/>
            </a:avLst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  <a:effectLst/>
        </p:spPr>
        <p:txBody>
          <a:bodyPr lIns="0" tIns="0" rIns="0" bIns="0" anchor="ctr" anchorCtr="1"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000" b="0">
              <a:latin typeface="微软雅黑" charset="0"/>
              <a:ea typeface="微软雅黑" charset="0"/>
            </a:endParaRPr>
          </a:p>
        </p:txBody>
      </p:sp>
      <p:sp>
        <p:nvSpPr>
          <p:cNvPr id="10" name="圆角矩形 9"/>
          <p:cNvSpPr/>
          <p:nvPr/>
        </p:nvSpPr>
        <p:spPr bwMode="auto">
          <a:xfrm>
            <a:off x="5805488" y="4381500"/>
            <a:ext cx="2376487" cy="72072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  <a:effectLst/>
        </p:spPr>
        <p:txBody>
          <a:bodyPr lIns="0" tIns="0" rIns="0" bIns="0" anchor="ctr" anchorCtr="1"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400" b="0" dirty="0">
                <a:solidFill>
                  <a:srgbClr val="8B0000"/>
                </a:solidFill>
                <a:latin typeface="微软雅黑" charset="0"/>
                <a:ea typeface="微软雅黑" charset="0"/>
              </a:rPr>
              <a:t>不患帕金森病</a:t>
            </a:r>
            <a:endParaRPr lang="zh-CN" altLang="en-US" sz="2400" b="0" dirty="0">
              <a:solidFill>
                <a:srgbClr val="8B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57705" name="矩形 10"/>
          <p:cNvSpPr>
            <a:spLocks noChangeArrowheads="1"/>
          </p:cNvSpPr>
          <p:nvPr/>
        </p:nvSpPr>
        <p:spPr bwMode="auto">
          <a:xfrm>
            <a:off x="4211638" y="4422775"/>
            <a:ext cx="954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r>
              <a:rPr lang="zh-CN" altLang="en-US" sz="2000" b="0">
                <a:solidFill>
                  <a:schemeClr val="accent2"/>
                </a:solidFill>
                <a:latin typeface="微软雅黑" charset="0"/>
                <a:ea typeface="微软雅黑" charset="0"/>
              </a:rPr>
              <a:t>未变异</a:t>
            </a:r>
            <a:endParaRPr lang="zh-CN" altLang="en-US" sz="2000" b="0">
              <a:solidFill>
                <a:schemeClr val="accent2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57706" name="流程图: 汇总连接 12"/>
          <p:cNvSpPr>
            <a:spLocks noChangeArrowheads="1"/>
          </p:cNvSpPr>
          <p:nvPr/>
        </p:nvSpPr>
        <p:spPr bwMode="auto">
          <a:xfrm>
            <a:off x="3198813" y="2751138"/>
            <a:ext cx="287337" cy="287337"/>
          </a:xfrm>
          <a:prstGeom prst="flowChartSummingJunction">
            <a:avLst/>
          </a:prstGeom>
          <a:solidFill>
            <a:srgbClr val="CCFFFF"/>
          </a:solidFill>
          <a:ln w="9525">
            <a:solidFill>
              <a:srgbClr val="00B050"/>
            </a:solidFill>
            <a:round/>
          </a:ln>
        </p:spPr>
        <p:txBody>
          <a:bodyPr lIns="0" tIns="0" rIns="0" bIns="0" anchor="ctr" anchorCtr="1"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sz="2400" b="0">
              <a:solidFill>
                <a:srgbClr val="00B05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57707" name="流程图: 汇总连接 13"/>
          <p:cNvSpPr>
            <a:spLocks noChangeArrowheads="1"/>
          </p:cNvSpPr>
          <p:nvPr/>
        </p:nvSpPr>
        <p:spPr bwMode="auto">
          <a:xfrm>
            <a:off x="2670175" y="2776538"/>
            <a:ext cx="288925" cy="287337"/>
          </a:xfrm>
          <a:prstGeom prst="flowChartSummingJunction">
            <a:avLst/>
          </a:prstGeom>
          <a:solidFill>
            <a:srgbClr val="CCFFFF"/>
          </a:solidFill>
          <a:ln w="9525">
            <a:solidFill>
              <a:srgbClr val="00B050"/>
            </a:solidFill>
            <a:round/>
          </a:ln>
        </p:spPr>
        <p:txBody>
          <a:bodyPr lIns="0" tIns="0" rIns="0" bIns="0" anchor="ctr" anchorCtr="1"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sz="2400" b="0">
              <a:solidFill>
                <a:srgbClr val="00B05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57708" name="流程图: 汇总连接 14"/>
          <p:cNvSpPr>
            <a:spLocks noChangeArrowheads="1"/>
          </p:cNvSpPr>
          <p:nvPr/>
        </p:nvSpPr>
        <p:spPr bwMode="auto">
          <a:xfrm>
            <a:off x="2236788" y="2949575"/>
            <a:ext cx="287337" cy="287338"/>
          </a:xfrm>
          <a:prstGeom prst="flowChartSummingJunction">
            <a:avLst/>
          </a:prstGeom>
          <a:solidFill>
            <a:srgbClr val="CCFFFF"/>
          </a:solidFill>
          <a:ln w="9525">
            <a:solidFill>
              <a:srgbClr val="00B050"/>
            </a:solidFill>
            <a:round/>
          </a:ln>
        </p:spPr>
        <p:txBody>
          <a:bodyPr lIns="0" tIns="0" rIns="0" bIns="0" anchor="ctr" anchorCtr="1"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sz="2400" b="0">
              <a:solidFill>
                <a:srgbClr val="00B05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57709" name="流程图: 汇总连接 15"/>
          <p:cNvSpPr>
            <a:spLocks noChangeArrowheads="1"/>
          </p:cNvSpPr>
          <p:nvPr/>
        </p:nvSpPr>
        <p:spPr bwMode="auto">
          <a:xfrm>
            <a:off x="1927225" y="3305175"/>
            <a:ext cx="288925" cy="288925"/>
          </a:xfrm>
          <a:prstGeom prst="flowChartSummingJunction">
            <a:avLst/>
          </a:prstGeom>
          <a:solidFill>
            <a:srgbClr val="CCFFFF"/>
          </a:solidFill>
          <a:ln w="9525">
            <a:solidFill>
              <a:srgbClr val="00B050"/>
            </a:solidFill>
            <a:round/>
          </a:ln>
        </p:spPr>
        <p:txBody>
          <a:bodyPr lIns="0" tIns="0" rIns="0" bIns="0" anchor="ctr" anchorCtr="1"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sz="2400" b="0">
              <a:solidFill>
                <a:srgbClr val="00B050"/>
              </a:solidFill>
              <a:latin typeface="微软雅黑" charset="0"/>
              <a:ea typeface="微软雅黑" charset="0"/>
            </a:endParaRPr>
          </a:p>
        </p:txBody>
      </p:sp>
      <p:cxnSp>
        <p:nvCxnSpPr>
          <p:cNvPr id="157710" name="直接连接符 17"/>
          <p:cNvCxnSpPr>
            <a:cxnSpLocks noChangeShapeType="1"/>
            <a:stCxn id="157709" idx="5"/>
          </p:cNvCxnSpPr>
          <p:nvPr/>
        </p:nvCxnSpPr>
        <p:spPr bwMode="auto">
          <a:xfrm>
            <a:off x="2173288" y="3551238"/>
            <a:ext cx="309562" cy="42862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7711" name="直接连接符 24"/>
          <p:cNvCxnSpPr>
            <a:cxnSpLocks noChangeShapeType="1"/>
            <a:stCxn id="157708" idx="5"/>
            <a:endCxn id="3" idx="1"/>
          </p:cNvCxnSpPr>
          <p:nvPr/>
        </p:nvCxnSpPr>
        <p:spPr bwMode="auto">
          <a:xfrm>
            <a:off x="2482850" y="3195638"/>
            <a:ext cx="153988" cy="185737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7712" name="直接连接符 29"/>
          <p:cNvCxnSpPr>
            <a:cxnSpLocks noChangeShapeType="1"/>
            <a:stCxn id="157707" idx="5"/>
          </p:cNvCxnSpPr>
          <p:nvPr/>
        </p:nvCxnSpPr>
        <p:spPr bwMode="auto">
          <a:xfrm>
            <a:off x="2916238" y="3022600"/>
            <a:ext cx="3175" cy="214313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7713" name="直接连接符 35"/>
          <p:cNvCxnSpPr>
            <a:cxnSpLocks noChangeShapeType="1"/>
            <a:stCxn id="157706" idx="4"/>
          </p:cNvCxnSpPr>
          <p:nvPr/>
        </p:nvCxnSpPr>
        <p:spPr bwMode="auto">
          <a:xfrm flipH="1">
            <a:off x="3232150" y="3038475"/>
            <a:ext cx="111125" cy="198438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流程图: 联系 38"/>
          <p:cNvSpPr/>
          <p:nvPr/>
        </p:nvSpPr>
        <p:spPr bwMode="auto">
          <a:xfrm>
            <a:off x="2124075" y="4221163"/>
            <a:ext cx="307975" cy="309562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  <a:effectLst/>
        </p:spPr>
        <p:txBody>
          <a:bodyPr lIns="0" tIns="0" rIns="0" bIns="0" anchor="ctr" anchorCtr="1"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 b="0">
              <a:solidFill>
                <a:srgbClr val="8B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42" name="流程图: 联系 41"/>
          <p:cNvSpPr/>
          <p:nvPr/>
        </p:nvSpPr>
        <p:spPr bwMode="auto">
          <a:xfrm>
            <a:off x="2573338" y="4506913"/>
            <a:ext cx="307975" cy="309562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  <a:effectLst/>
        </p:spPr>
        <p:txBody>
          <a:bodyPr lIns="0" tIns="0" rIns="0" bIns="0" anchor="ctr" anchorCtr="1"/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 b="0">
              <a:solidFill>
                <a:srgbClr val="8B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43" name="流程图: 联系 42"/>
          <p:cNvSpPr/>
          <p:nvPr/>
        </p:nvSpPr>
        <p:spPr bwMode="auto">
          <a:xfrm>
            <a:off x="3133725" y="4510088"/>
            <a:ext cx="306388" cy="309562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  <a:effectLst/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zh-CN" altLang="en-US" sz="2400" b="0">
              <a:solidFill>
                <a:srgbClr val="8B0000"/>
              </a:solidFill>
              <a:latin typeface="微软雅黑" charset="0"/>
              <a:ea typeface="微软雅黑" charset="0"/>
            </a:endParaRPr>
          </a:p>
        </p:txBody>
      </p:sp>
      <p:cxnSp>
        <p:nvCxnSpPr>
          <p:cNvPr id="44" name="直接连接符 43"/>
          <p:cNvCxnSpPr>
            <a:stCxn id="39" idx="7"/>
          </p:cNvCxnSpPr>
          <p:nvPr/>
        </p:nvCxnSpPr>
        <p:spPr bwMode="auto">
          <a:xfrm flipV="1">
            <a:off x="2386013" y="4121150"/>
            <a:ext cx="187325" cy="146050"/>
          </a:xfrm>
          <a:prstGeom prst="lin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  <a:effectLst/>
        </p:spPr>
      </p:cxnSp>
      <p:cxnSp>
        <p:nvCxnSpPr>
          <p:cNvPr id="47" name="直接连接符 46"/>
          <p:cNvCxnSpPr>
            <a:stCxn id="42" idx="0"/>
          </p:cNvCxnSpPr>
          <p:nvPr/>
        </p:nvCxnSpPr>
        <p:spPr bwMode="auto">
          <a:xfrm flipV="1">
            <a:off x="2727325" y="4365625"/>
            <a:ext cx="179388" cy="141288"/>
          </a:xfrm>
          <a:prstGeom prst="lin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  <a:effectLst/>
        </p:spPr>
      </p:cxnSp>
      <p:cxnSp>
        <p:nvCxnSpPr>
          <p:cNvPr id="50" name="直接连接符 49"/>
          <p:cNvCxnSpPr>
            <a:endCxn id="43" idx="0"/>
          </p:cNvCxnSpPr>
          <p:nvPr/>
        </p:nvCxnSpPr>
        <p:spPr bwMode="auto">
          <a:xfrm>
            <a:off x="3198813" y="4365625"/>
            <a:ext cx="88900" cy="144463"/>
          </a:xfrm>
          <a:prstGeom prst="lin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  <a:effectLst/>
        </p:spPr>
      </p:cxnSp>
      <p:sp>
        <p:nvSpPr>
          <p:cNvPr id="157720" name="Rectangle 3"/>
          <p:cNvSpPr>
            <a:spLocks noGrp="1" noChangeArrowheads="1"/>
          </p:cNvSpPr>
          <p:nvPr>
            <p:ph idx="1"/>
          </p:nvPr>
        </p:nvSpPr>
        <p:spPr>
          <a:xfrm>
            <a:off x="177800" y="2698750"/>
            <a:ext cx="1735138" cy="3663950"/>
          </a:xfrm>
        </p:spPr>
        <p:txBody>
          <a:bodyPr/>
          <a:lstStyle/>
          <a:p>
            <a:pPr marL="0" indent="0" algn="ctr" eaLnBrk="1" hangingPunct="1">
              <a:lnSpc>
                <a:spcPct val="120000"/>
              </a:lnSpc>
              <a:buClrTx/>
              <a:buFont typeface="Wingdings" panose="05000000000000000000" pitchFamily="2" charset="2"/>
              <a:buNone/>
            </a:pPr>
            <a:r>
              <a:rPr lang="zh-CN" altLang="en-US" sz="2000" b="0">
                <a:solidFill>
                  <a:srgbClr val="FF0000"/>
                </a:solidFill>
                <a:cs typeface="微软雅黑" charset="0"/>
              </a:rPr>
              <a:t>饮食</a:t>
            </a:r>
            <a:endParaRPr lang="en-US" altLang="zh-CN" sz="2000" b="0">
              <a:solidFill>
                <a:srgbClr val="FF0000"/>
              </a:solidFill>
              <a:cs typeface="微软雅黑" charset="0"/>
            </a:endParaRPr>
          </a:p>
          <a:p>
            <a:pPr marL="0" indent="0" algn="ctr" eaLnBrk="1" hangingPunct="1">
              <a:lnSpc>
                <a:spcPct val="120000"/>
              </a:lnSpc>
              <a:buClrTx/>
              <a:buFont typeface="Wingdings" panose="05000000000000000000" pitchFamily="2" charset="2"/>
              <a:buNone/>
            </a:pPr>
            <a:r>
              <a:rPr lang="zh-CN" altLang="en-US" sz="2000" b="0">
                <a:solidFill>
                  <a:srgbClr val="FF0000"/>
                </a:solidFill>
                <a:cs typeface="微软雅黑" charset="0"/>
              </a:rPr>
              <a:t>除草剂</a:t>
            </a:r>
            <a:endParaRPr lang="en-US" altLang="zh-CN" sz="2000" b="0">
              <a:solidFill>
                <a:srgbClr val="FF0000"/>
              </a:solidFill>
              <a:cs typeface="微软雅黑" charset="0"/>
            </a:endParaRPr>
          </a:p>
          <a:p>
            <a:pPr marL="0" indent="0" algn="ctr" eaLnBrk="1" hangingPunct="1">
              <a:lnSpc>
                <a:spcPct val="120000"/>
              </a:lnSpc>
              <a:buClrTx/>
              <a:buFont typeface="Wingdings" panose="05000000000000000000" pitchFamily="2" charset="2"/>
              <a:buNone/>
            </a:pPr>
            <a:r>
              <a:rPr lang="zh-CN" altLang="en-US" sz="2000" b="0">
                <a:solidFill>
                  <a:srgbClr val="FF0000"/>
                </a:solidFill>
                <a:cs typeface="微软雅黑" charset="0"/>
              </a:rPr>
              <a:t>锻炼</a:t>
            </a:r>
            <a:endParaRPr lang="en-US" altLang="zh-CN" sz="2000" b="0">
              <a:solidFill>
                <a:srgbClr val="FF0000"/>
              </a:solidFill>
              <a:cs typeface="微软雅黑" charset="0"/>
            </a:endParaRPr>
          </a:p>
          <a:p>
            <a:pPr marL="0" indent="0" algn="ctr" eaLnBrk="1" hangingPunct="1">
              <a:lnSpc>
                <a:spcPct val="120000"/>
              </a:lnSpc>
              <a:buClrTx/>
              <a:buFont typeface="Wingdings" panose="05000000000000000000" pitchFamily="2" charset="2"/>
              <a:buNone/>
            </a:pPr>
            <a:r>
              <a:rPr lang="zh-CN" altLang="en-US" sz="2000" b="0">
                <a:solidFill>
                  <a:srgbClr val="FF0000"/>
                </a:solidFill>
                <a:cs typeface="微软雅黑" charset="0"/>
              </a:rPr>
              <a:t>咖啡</a:t>
            </a:r>
            <a:endParaRPr lang="en-US" altLang="zh-CN" sz="2000" b="0">
              <a:solidFill>
                <a:srgbClr val="FF0000"/>
              </a:solidFill>
              <a:cs typeface="微软雅黑" charset="0"/>
            </a:endParaRPr>
          </a:p>
          <a:p>
            <a:pPr marL="0" indent="0" algn="ctr" eaLnBrk="1" hangingPunct="1">
              <a:lnSpc>
                <a:spcPct val="120000"/>
              </a:lnSpc>
              <a:buClrTx/>
              <a:buFont typeface="Wingdings" panose="05000000000000000000" pitchFamily="2" charset="2"/>
              <a:buNone/>
            </a:pPr>
            <a:r>
              <a:rPr lang="en-US" altLang="zh-CN" sz="2000" b="0">
                <a:solidFill>
                  <a:srgbClr val="FF0000"/>
                </a:solidFill>
                <a:cs typeface="微软雅黑" charset="0"/>
              </a:rPr>
              <a:t>……</a:t>
            </a:r>
            <a:endParaRPr lang="en-US" altLang="zh-CN" sz="2000" b="0">
              <a:solidFill>
                <a:srgbClr val="FF0000"/>
              </a:solidFill>
              <a:cs typeface="微软雅黑" charset="0"/>
            </a:endParaRPr>
          </a:p>
        </p:txBody>
      </p:sp>
      <p:sp>
        <p:nvSpPr>
          <p:cNvPr id="157721" name="矩形 57"/>
          <p:cNvSpPr>
            <a:spLocks noChangeArrowheads="1"/>
          </p:cNvSpPr>
          <p:nvPr/>
        </p:nvSpPr>
        <p:spPr bwMode="auto">
          <a:xfrm>
            <a:off x="395288" y="5483225"/>
            <a:ext cx="82089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r>
              <a:rPr lang="en-US" altLang="zh-CN" sz="2000" b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LRRK2</a:t>
            </a:r>
            <a:r>
              <a:rPr lang="zh-CN" altLang="en-US" sz="2000" b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携带者患帕金森的几率达到</a:t>
            </a:r>
            <a:r>
              <a:rPr lang="zh-CN" altLang="en-US" sz="2000" b="0"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zh-CN" sz="20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30%-75%</a:t>
            </a:r>
            <a:r>
              <a:rPr lang="zh-CN" altLang="en-US" sz="2000" b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，普通患症的几率只有</a:t>
            </a:r>
            <a:r>
              <a:rPr lang="en-US" altLang="zh-CN" sz="2000" b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1%</a:t>
            </a:r>
            <a:endParaRPr lang="zh-CN" altLang="en-US" sz="2000" b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7" name="Rectangle 6"/>
          <p:cNvSpPr txBox="1">
            <a:spLocks noChangeArrowheads="1"/>
          </p:cNvSpPr>
          <p:nvPr/>
        </p:nvSpPr>
        <p:spPr bwMode="auto">
          <a:xfrm>
            <a:off x="161925" y="-100013"/>
            <a:ext cx="903605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 b="0" kern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3.5 </a:t>
            </a:r>
            <a:r>
              <a:rPr lang="zh-CN" altLang="en-US" b="0" kern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关联规则、相关性、因果关系的区别</a:t>
            </a:r>
            <a:endParaRPr lang="zh-CN" altLang="en-US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557338"/>
            <a:ext cx="5976938" cy="4267200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3200" b="0">
                <a:solidFill>
                  <a:srgbClr val="FF0000"/>
                </a:solidFill>
                <a:cs typeface="微软雅黑" charset="0"/>
              </a:rPr>
              <a:t>问题</a:t>
            </a:r>
            <a:r>
              <a:rPr lang="en-US" altLang="zh-CN" sz="3200" b="0">
                <a:solidFill>
                  <a:srgbClr val="FF0000"/>
                </a:solidFill>
                <a:cs typeface="微软雅黑" charset="0"/>
              </a:rPr>
              <a:t>4</a:t>
            </a:r>
            <a:r>
              <a:rPr lang="zh-CN" altLang="en-US" sz="3200" b="0">
                <a:solidFill>
                  <a:srgbClr val="FF0000"/>
                </a:solidFill>
                <a:cs typeface="微软雅黑" charset="0"/>
              </a:rPr>
              <a:t>：如何定义因果关系？</a:t>
            </a:r>
            <a:endParaRPr lang="en-US" altLang="zh-CN" sz="3200" b="0">
              <a:solidFill>
                <a:srgbClr val="FF0000"/>
              </a:solidFill>
              <a:cs typeface="微软雅黑" charset="0"/>
            </a:endParaRPr>
          </a:p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en-US" altLang="zh-CN" sz="3200" b="0">
                <a:solidFill>
                  <a:srgbClr val="FF0000"/>
                </a:solidFill>
                <a:cs typeface="微软雅黑" charset="0"/>
              </a:rPr>
              <a:t>Granger</a:t>
            </a:r>
            <a:r>
              <a:rPr lang="zh-CN" altLang="en-US" sz="3200" b="0">
                <a:solidFill>
                  <a:srgbClr val="FF0000"/>
                </a:solidFill>
                <a:cs typeface="微软雅黑" charset="0"/>
              </a:rPr>
              <a:t>因果关系</a:t>
            </a:r>
            <a:r>
              <a:rPr lang="en-US" altLang="zh-CN" sz="3200" b="0">
                <a:solidFill>
                  <a:srgbClr val="FF0000"/>
                </a:solidFill>
                <a:cs typeface="微软雅黑" charset="0"/>
              </a:rPr>
              <a:t>: </a:t>
            </a:r>
            <a:r>
              <a:rPr lang="zh-CN" altLang="en-US" sz="2800" b="0">
                <a:solidFill>
                  <a:srgbClr val="1557AE"/>
                </a:solidFill>
                <a:cs typeface="微软雅黑" charset="0"/>
              </a:rPr>
              <a:t>若在包含了变量</a:t>
            </a:r>
            <a:r>
              <a:rPr lang="en-US" altLang="zh-CN" sz="2800" b="0">
                <a:solidFill>
                  <a:srgbClr val="1557AE"/>
                </a:solidFill>
                <a:cs typeface="微软雅黑" charset="0"/>
              </a:rPr>
              <a:t>X</a:t>
            </a:r>
            <a:r>
              <a:rPr lang="zh-CN" altLang="en-US" sz="2800" b="0">
                <a:solidFill>
                  <a:srgbClr val="1557AE"/>
                </a:solidFill>
                <a:cs typeface="微软雅黑" charset="0"/>
              </a:rPr>
              <a:t>、</a:t>
            </a:r>
            <a:r>
              <a:rPr lang="en-US" altLang="zh-CN" sz="2800" b="0">
                <a:solidFill>
                  <a:srgbClr val="1557AE"/>
                </a:solidFill>
                <a:cs typeface="微软雅黑" charset="0"/>
              </a:rPr>
              <a:t>Y</a:t>
            </a:r>
            <a:r>
              <a:rPr lang="zh-CN" altLang="en-US" sz="2800" b="0">
                <a:solidFill>
                  <a:srgbClr val="1557AE"/>
                </a:solidFill>
                <a:cs typeface="微软雅黑" charset="0"/>
              </a:rPr>
              <a:t>的过去信息的条件下，对变量</a:t>
            </a:r>
            <a:r>
              <a:rPr lang="en-US" altLang="zh-CN" sz="2800" b="0">
                <a:solidFill>
                  <a:srgbClr val="1557AE"/>
                </a:solidFill>
                <a:cs typeface="微软雅黑" charset="0"/>
              </a:rPr>
              <a:t>Y</a:t>
            </a:r>
            <a:r>
              <a:rPr lang="zh-CN" altLang="en-US" sz="2800" b="0">
                <a:solidFill>
                  <a:srgbClr val="1557AE"/>
                </a:solidFill>
                <a:cs typeface="微软雅黑" charset="0"/>
              </a:rPr>
              <a:t>的预测效果要优于只单独由</a:t>
            </a:r>
            <a:r>
              <a:rPr lang="en-US" altLang="zh-CN" sz="2800" b="0">
                <a:solidFill>
                  <a:srgbClr val="1557AE"/>
                </a:solidFill>
                <a:cs typeface="微软雅黑" charset="0"/>
              </a:rPr>
              <a:t>Y</a:t>
            </a:r>
            <a:r>
              <a:rPr lang="zh-CN" altLang="en-US" sz="2800" b="0">
                <a:solidFill>
                  <a:srgbClr val="1557AE"/>
                </a:solidFill>
                <a:cs typeface="微软雅黑" charset="0"/>
              </a:rPr>
              <a:t>的过去信息对</a:t>
            </a:r>
            <a:r>
              <a:rPr lang="en-US" altLang="zh-CN" sz="2800" b="0">
                <a:solidFill>
                  <a:srgbClr val="1557AE"/>
                </a:solidFill>
                <a:cs typeface="微软雅黑" charset="0"/>
              </a:rPr>
              <a:t>Y</a:t>
            </a:r>
            <a:r>
              <a:rPr lang="zh-CN" altLang="en-US" sz="2800" b="0">
                <a:solidFill>
                  <a:srgbClr val="1557AE"/>
                </a:solidFill>
                <a:cs typeface="微软雅黑" charset="0"/>
              </a:rPr>
              <a:t>的预测效果，即变量</a:t>
            </a:r>
            <a:r>
              <a:rPr lang="en-US" altLang="zh-CN" sz="2800" b="0">
                <a:solidFill>
                  <a:srgbClr val="1557AE"/>
                </a:solidFill>
                <a:cs typeface="微软雅黑" charset="0"/>
              </a:rPr>
              <a:t>X</a:t>
            </a:r>
            <a:r>
              <a:rPr lang="zh-CN" altLang="en-US" sz="2800" b="0">
                <a:solidFill>
                  <a:srgbClr val="1557AE"/>
                </a:solidFill>
                <a:cs typeface="微软雅黑" charset="0"/>
              </a:rPr>
              <a:t> 、</a:t>
            </a:r>
            <a:r>
              <a:rPr lang="en-US" altLang="zh-CN" sz="2800" b="0">
                <a:solidFill>
                  <a:srgbClr val="1557AE"/>
                </a:solidFill>
                <a:cs typeface="微软雅黑" charset="0"/>
              </a:rPr>
              <a:t>Y</a:t>
            </a:r>
            <a:r>
              <a:rPr lang="zh-CN" altLang="en-US" sz="2800" b="0">
                <a:solidFill>
                  <a:srgbClr val="1557AE"/>
                </a:solidFill>
                <a:cs typeface="微软雅黑" charset="0"/>
              </a:rPr>
              <a:t>有</a:t>
            </a:r>
            <a:r>
              <a:rPr lang="zh-CN" altLang="en-US" sz="2800" b="0">
                <a:solidFill>
                  <a:srgbClr val="FF0000"/>
                </a:solidFill>
                <a:cs typeface="微软雅黑" charset="0"/>
              </a:rPr>
              <a:t>因果关系</a:t>
            </a:r>
            <a:r>
              <a:rPr lang="zh-CN" altLang="en-US" sz="2800" b="0">
                <a:solidFill>
                  <a:srgbClr val="1557AE"/>
                </a:solidFill>
                <a:cs typeface="微软雅黑" charset="0"/>
              </a:rPr>
              <a:t>，变量</a:t>
            </a:r>
            <a:r>
              <a:rPr lang="en-US" altLang="zh-CN" sz="2800" b="0">
                <a:solidFill>
                  <a:srgbClr val="1557AE"/>
                </a:solidFill>
                <a:cs typeface="微软雅黑" charset="0"/>
              </a:rPr>
              <a:t>X</a:t>
            </a:r>
            <a:r>
              <a:rPr lang="zh-CN" altLang="en-US" sz="2800" b="0">
                <a:solidFill>
                  <a:srgbClr val="1557AE"/>
                </a:solidFill>
                <a:cs typeface="微软雅黑" charset="0"/>
              </a:rPr>
              <a:t>是变量</a:t>
            </a:r>
            <a:r>
              <a:rPr lang="en-US" altLang="zh-CN" sz="2800" b="0">
                <a:solidFill>
                  <a:srgbClr val="1557AE"/>
                </a:solidFill>
                <a:cs typeface="微软雅黑" charset="0"/>
              </a:rPr>
              <a:t>Y</a:t>
            </a:r>
            <a:r>
              <a:rPr lang="zh-CN" altLang="en-US" sz="2800" b="0">
                <a:solidFill>
                  <a:srgbClr val="1557AE"/>
                </a:solidFill>
                <a:cs typeface="微软雅黑" charset="0"/>
              </a:rPr>
              <a:t>的</a:t>
            </a:r>
            <a:r>
              <a:rPr lang="en-US" altLang="zh-CN" sz="2800" b="0">
                <a:solidFill>
                  <a:srgbClr val="FF0000"/>
                </a:solidFill>
                <a:cs typeface="微软雅黑" charset="0"/>
              </a:rPr>
              <a:t>Granger</a:t>
            </a:r>
            <a:r>
              <a:rPr lang="zh-CN" altLang="en-US" sz="2800" b="0">
                <a:solidFill>
                  <a:srgbClr val="FF0000"/>
                </a:solidFill>
                <a:cs typeface="微软雅黑" charset="0"/>
              </a:rPr>
              <a:t>原因</a:t>
            </a:r>
            <a:endParaRPr lang="en-US" altLang="zh-CN" sz="2800" b="0">
              <a:solidFill>
                <a:srgbClr val="FF0000"/>
              </a:solidFill>
              <a:cs typeface="微软雅黑" charset="0"/>
            </a:endParaRPr>
          </a:p>
        </p:txBody>
      </p:sp>
      <p:pic>
        <p:nvPicPr>
          <p:cNvPr id="159747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563" y="1584325"/>
            <a:ext cx="2089150" cy="310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9748" name="矩形 3"/>
          <p:cNvSpPr>
            <a:spLocks noChangeArrowheads="1"/>
          </p:cNvSpPr>
          <p:nvPr/>
        </p:nvSpPr>
        <p:spPr bwMode="auto">
          <a:xfrm>
            <a:off x="6197600" y="4799013"/>
            <a:ext cx="29146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b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Clive W.J.Granger</a:t>
            </a:r>
            <a:endParaRPr lang="en-US" altLang="zh-CN" b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zh-CN" altLang="en-US" b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诺贝尔经济学奖获奖者</a:t>
            </a:r>
            <a:endParaRPr lang="zh-CN" altLang="en-US" b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0" name="Rectangle 6"/>
          <p:cNvSpPr txBox="1">
            <a:spLocks noChangeArrowheads="1"/>
          </p:cNvSpPr>
          <p:nvPr/>
        </p:nvSpPr>
        <p:spPr bwMode="auto">
          <a:xfrm>
            <a:off x="161925" y="-100013"/>
            <a:ext cx="903605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  <a:cs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804030504040204" pitchFamily="34" charset="0"/>
                <a:ea typeface="黑体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 b="0" kern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3.5 </a:t>
            </a:r>
            <a:r>
              <a:rPr lang="zh-CN" altLang="en-US" b="0" kern="0" dirty="0">
                <a:solidFill>
                  <a:srgbClr val="1557AE"/>
                </a:solidFill>
                <a:latin typeface="微软雅黑" charset="0"/>
                <a:ea typeface="微软雅黑" charset="0"/>
                <a:cs typeface="微软雅黑" charset="0"/>
              </a:rPr>
              <a:t>关联规则、相关性、因果关系的区别</a:t>
            </a:r>
            <a:endParaRPr lang="zh-CN" altLang="en-US" b="0" kern="0" dirty="0">
              <a:solidFill>
                <a:srgbClr val="1557A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标题 1"/>
          <p:cNvSpPr>
            <a:spLocks noGrp="1" noChangeArrowheads="1"/>
          </p:cNvSpPr>
          <p:nvPr>
            <p:ph type="title" idx="4294967295"/>
          </p:nvPr>
        </p:nvSpPr>
        <p:spPr>
          <a:xfrm>
            <a:off x="539750" y="-100013"/>
            <a:ext cx="8001000" cy="892176"/>
          </a:xfrm>
        </p:spPr>
        <p:txBody>
          <a:bodyPr/>
          <a:lstStyle/>
          <a:p>
            <a:pPr algn="ctr"/>
            <a:r>
              <a:rPr lang="zh-CN" altLang="en-US" sz="3600">
                <a:solidFill>
                  <a:srgbClr val="1557AE"/>
                </a:solidFill>
              </a:rPr>
              <a:t>总结</a:t>
            </a:r>
            <a:endParaRPr lang="zh-CN" altLang="en-US" sz="3600">
              <a:solidFill>
                <a:srgbClr val="1557AE"/>
              </a:solidFill>
            </a:endParaRPr>
          </a:p>
        </p:txBody>
      </p:sp>
      <p:sp>
        <p:nvSpPr>
          <p:cNvPr id="161795" name="内容占位符 2"/>
          <p:cNvSpPr>
            <a:spLocks noGrp="1" noChangeArrowheads="1"/>
          </p:cNvSpPr>
          <p:nvPr>
            <p:ph idx="1"/>
          </p:nvPr>
        </p:nvSpPr>
        <p:spPr>
          <a:xfrm>
            <a:off x="571500" y="1412875"/>
            <a:ext cx="8248972" cy="42672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n"/>
            </a:pPr>
            <a:r>
              <a:rPr lang="en-US" altLang="zh-CN" sz="2000" b="0" dirty="0">
                <a:solidFill>
                  <a:srgbClr val="FF0000"/>
                </a:solidFill>
              </a:rPr>
              <a:t>Association rule mining consists of first finding frequent </a:t>
            </a:r>
            <a:r>
              <a:rPr lang="en-US" altLang="zh-CN" sz="2000" b="0" dirty="0" err="1">
                <a:solidFill>
                  <a:srgbClr val="FF0000"/>
                </a:solidFill>
              </a:rPr>
              <a:t>itemsets</a:t>
            </a:r>
            <a:r>
              <a:rPr lang="en-US" altLang="zh-CN" sz="2000" b="0" dirty="0">
                <a:solidFill>
                  <a:srgbClr val="FF0000"/>
                </a:solidFill>
              </a:rPr>
              <a:t>, from which strong association are generated. </a:t>
            </a:r>
            <a:r>
              <a:rPr lang="en-US" altLang="zh-CN" sz="2000" b="0" dirty="0">
                <a:solidFill>
                  <a:srgbClr val="1557AE"/>
                </a:solidFill>
              </a:rPr>
              <a:t>Associations can be further analyzed to uncover correlation rules, which convey statistical correlations between </a:t>
            </a:r>
            <a:r>
              <a:rPr lang="en-US" altLang="zh-CN" sz="2000" b="0" dirty="0" err="1">
                <a:solidFill>
                  <a:srgbClr val="1557AE"/>
                </a:solidFill>
              </a:rPr>
              <a:t>itemsets</a:t>
            </a:r>
            <a:r>
              <a:rPr lang="en-US" altLang="zh-CN" sz="2000" b="0" dirty="0">
                <a:solidFill>
                  <a:srgbClr val="1557AE"/>
                </a:solidFill>
              </a:rPr>
              <a:t> A and B.</a:t>
            </a:r>
            <a:endParaRPr lang="zh-CN" altLang="zh-CN" sz="2000" b="0" dirty="0">
              <a:solidFill>
                <a:srgbClr val="1557AE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n"/>
            </a:pPr>
            <a:r>
              <a:rPr lang="en-US" altLang="zh-CN" sz="2000" b="0" dirty="0">
                <a:solidFill>
                  <a:srgbClr val="FF0000"/>
                </a:solidFill>
              </a:rPr>
              <a:t>The </a:t>
            </a:r>
            <a:r>
              <a:rPr lang="en-US" altLang="zh-CN" sz="2000" b="0" dirty="0" err="1">
                <a:solidFill>
                  <a:srgbClr val="FF0000"/>
                </a:solidFill>
              </a:rPr>
              <a:t>Apriori</a:t>
            </a:r>
            <a:r>
              <a:rPr lang="en-US" altLang="zh-CN" sz="2000" b="0" dirty="0">
                <a:solidFill>
                  <a:srgbClr val="FF0000"/>
                </a:solidFill>
              </a:rPr>
              <a:t> algorithm </a:t>
            </a:r>
            <a:r>
              <a:rPr lang="en-US" altLang="zh-CN" sz="2000" b="0" dirty="0">
                <a:solidFill>
                  <a:srgbClr val="1557AE"/>
                </a:solidFill>
              </a:rPr>
              <a:t>is a seminal algorithm for mining frequent item sets for Boolean association rules.</a:t>
            </a:r>
            <a:endParaRPr lang="zh-CN" altLang="zh-CN" sz="2000" b="0" dirty="0">
              <a:solidFill>
                <a:srgbClr val="1557AE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n"/>
            </a:pPr>
            <a:r>
              <a:rPr lang="en-US" altLang="zh-CN" sz="2000" b="0" dirty="0">
                <a:solidFill>
                  <a:srgbClr val="1557AE"/>
                </a:solidFill>
              </a:rPr>
              <a:t>Mining frequent </a:t>
            </a:r>
            <a:r>
              <a:rPr lang="en-US" altLang="zh-CN" sz="2000" b="0" dirty="0" err="1">
                <a:solidFill>
                  <a:srgbClr val="1557AE"/>
                </a:solidFill>
              </a:rPr>
              <a:t>itemsets</a:t>
            </a:r>
            <a:r>
              <a:rPr lang="en-US" altLang="zh-CN" sz="2000" b="0" dirty="0">
                <a:solidFill>
                  <a:srgbClr val="1557AE"/>
                </a:solidFill>
              </a:rPr>
              <a:t> and associations has been extended in various ways to include mining multilevel association rules and multidimensional association rules.</a:t>
            </a:r>
            <a:endParaRPr lang="zh-CN" altLang="zh-CN" sz="2000" b="0" dirty="0">
              <a:solidFill>
                <a:srgbClr val="1557AE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n"/>
            </a:pPr>
            <a:r>
              <a:rPr lang="en-US" altLang="zh-CN" sz="2000" b="0" dirty="0">
                <a:solidFill>
                  <a:srgbClr val="FF0000"/>
                </a:solidFill>
              </a:rPr>
              <a:t>Not all strong association rules are interesting. </a:t>
            </a:r>
            <a:endParaRPr lang="zh-CN" altLang="zh-CN" sz="2000" b="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Angl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80403050404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804030504040204" pitchFamily="34" charset="0"/>
            <a:ea typeface="宋体" pitchFamily="2" charset="-122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alloons">
  <a:themeElements>
    <a:clrScheme name="Balloons 8">
      <a:dk1>
        <a:srgbClr val="006699"/>
      </a:dk1>
      <a:lt1>
        <a:srgbClr val="FFFFFF"/>
      </a:lt1>
      <a:dk2>
        <a:srgbClr val="006666"/>
      </a:dk2>
      <a:lt2>
        <a:srgbClr val="FFFFCC"/>
      </a:lt2>
      <a:accent1>
        <a:srgbClr val="EDFAD2"/>
      </a:accent1>
      <a:accent2>
        <a:srgbClr val="EBF7FF"/>
      </a:accent2>
      <a:accent3>
        <a:srgbClr val="FFFFFF"/>
      </a:accent3>
      <a:accent4>
        <a:srgbClr val="005682"/>
      </a:accent4>
      <a:accent5>
        <a:srgbClr val="F4FCE5"/>
      </a:accent5>
      <a:accent6>
        <a:srgbClr val="D5E0E7"/>
      </a:accent6>
      <a:hlink>
        <a:srgbClr val="CC99FF"/>
      </a:hlink>
      <a:folHlink>
        <a:srgbClr val="F2DFFD"/>
      </a:folHlink>
    </a:clrScheme>
    <a:fontScheme name="Angl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Balloons 1">
        <a:dk1>
          <a:srgbClr val="9900CC"/>
        </a:dk1>
        <a:lt1>
          <a:srgbClr val="FFFFCC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660066"/>
        </a:accent2>
        <a:accent3>
          <a:srgbClr val="AAAAAA"/>
        </a:accent3>
        <a:accent4>
          <a:srgbClr val="DADAAE"/>
        </a:accent4>
        <a:accent5>
          <a:srgbClr val="B8B8CA"/>
        </a:accent5>
        <a:accent6>
          <a:srgbClr val="5C005C"/>
        </a:accent6>
        <a:hlink>
          <a:srgbClr val="CC00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2">
        <a:dk1>
          <a:srgbClr val="990033"/>
        </a:dk1>
        <a:lt1>
          <a:srgbClr val="FFFFFF"/>
        </a:lt1>
        <a:dk2>
          <a:srgbClr val="000000"/>
        </a:dk2>
        <a:lt2>
          <a:srgbClr val="FFFFFF"/>
        </a:lt2>
        <a:accent1>
          <a:srgbClr val="FF33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FFADAA"/>
        </a:accent5>
        <a:accent6>
          <a:srgbClr val="E78A00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3">
        <a:dk1>
          <a:srgbClr val="CCCCFF"/>
        </a:dk1>
        <a:lt1>
          <a:srgbClr val="FFFFCC"/>
        </a:lt1>
        <a:dk2>
          <a:srgbClr val="000000"/>
        </a:dk2>
        <a:lt2>
          <a:srgbClr val="FFFFFF"/>
        </a:lt2>
        <a:accent1>
          <a:srgbClr val="9999FF"/>
        </a:accent1>
        <a:accent2>
          <a:srgbClr val="33CCCC"/>
        </a:accent2>
        <a:accent3>
          <a:srgbClr val="AAAAAA"/>
        </a:accent3>
        <a:accent4>
          <a:srgbClr val="DADAAE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4">
        <a:dk1>
          <a:srgbClr val="000000"/>
        </a:dk1>
        <a:lt1>
          <a:srgbClr val="F8F8F8"/>
        </a:lt1>
        <a:dk2>
          <a:srgbClr val="800000"/>
        </a:dk2>
        <a:lt2>
          <a:srgbClr val="FFFFFF"/>
        </a:lt2>
        <a:accent1>
          <a:srgbClr val="FF3300"/>
        </a:accent1>
        <a:accent2>
          <a:srgbClr val="FF5050"/>
        </a:accent2>
        <a:accent3>
          <a:srgbClr val="C0AAAA"/>
        </a:accent3>
        <a:accent4>
          <a:srgbClr val="D4D4D4"/>
        </a:accent4>
        <a:accent5>
          <a:srgbClr val="FFADAA"/>
        </a:accent5>
        <a:accent6>
          <a:srgbClr val="E74848"/>
        </a:accent6>
        <a:hlink>
          <a:srgbClr val="FF99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5">
        <a:dk1>
          <a:srgbClr val="666699"/>
        </a:dk1>
        <a:lt1>
          <a:srgbClr val="FFFFFF"/>
        </a:lt1>
        <a:dk2>
          <a:srgbClr val="000066"/>
        </a:dk2>
        <a:lt2>
          <a:srgbClr val="CCECFF"/>
        </a:lt2>
        <a:accent1>
          <a:srgbClr val="009999"/>
        </a:accent1>
        <a:accent2>
          <a:srgbClr val="0099CC"/>
        </a:accent2>
        <a:accent3>
          <a:srgbClr val="AAAAB8"/>
        </a:accent3>
        <a:accent4>
          <a:srgbClr val="DADADA"/>
        </a:accent4>
        <a:accent5>
          <a:srgbClr val="AACACA"/>
        </a:accent5>
        <a:accent6>
          <a:srgbClr val="008AB9"/>
        </a:accent6>
        <a:hlink>
          <a:srgbClr val="CC99FF"/>
        </a:hlink>
        <a:folHlink>
          <a:srgbClr val="3366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6">
        <a:dk1>
          <a:srgbClr val="99CC00"/>
        </a:dk1>
        <a:lt1>
          <a:srgbClr val="FFFFFF"/>
        </a:lt1>
        <a:dk2>
          <a:srgbClr val="009900"/>
        </a:dk2>
        <a:lt2>
          <a:srgbClr val="FFFF99"/>
        </a:lt2>
        <a:accent1>
          <a:srgbClr val="336600"/>
        </a:accent1>
        <a:accent2>
          <a:srgbClr val="008000"/>
        </a:accent2>
        <a:accent3>
          <a:srgbClr val="AACAAA"/>
        </a:accent3>
        <a:accent4>
          <a:srgbClr val="DADADA"/>
        </a:accent4>
        <a:accent5>
          <a:srgbClr val="ADB8AA"/>
        </a:accent5>
        <a:accent6>
          <a:srgbClr val="007300"/>
        </a:accent6>
        <a:hlink>
          <a:srgbClr val="CCCC00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7">
        <a:dk1>
          <a:srgbClr val="000066"/>
        </a:dk1>
        <a:lt1>
          <a:srgbClr val="E1F4FF"/>
        </a:lt1>
        <a:dk2>
          <a:srgbClr val="000066"/>
        </a:dk2>
        <a:lt2>
          <a:srgbClr val="CCCCFF"/>
        </a:lt2>
        <a:accent1>
          <a:srgbClr val="9999FF"/>
        </a:accent1>
        <a:accent2>
          <a:srgbClr val="33CCCC"/>
        </a:accent2>
        <a:accent3>
          <a:srgbClr val="EEF8FF"/>
        </a:accent3>
        <a:accent4>
          <a:srgbClr val="000056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loons 8">
        <a:dk1>
          <a:srgbClr val="006699"/>
        </a:dk1>
        <a:lt1>
          <a:srgbClr val="FFFFFF"/>
        </a:lt1>
        <a:dk2>
          <a:srgbClr val="006666"/>
        </a:dk2>
        <a:lt2>
          <a:srgbClr val="FFFFCC"/>
        </a:lt2>
        <a:accent1>
          <a:srgbClr val="EDFAD2"/>
        </a:accent1>
        <a:accent2>
          <a:srgbClr val="EBF7FF"/>
        </a:accent2>
        <a:accent3>
          <a:srgbClr val="FFFFFF"/>
        </a:accent3>
        <a:accent4>
          <a:srgbClr val="005682"/>
        </a:accent4>
        <a:accent5>
          <a:srgbClr val="F4FCE5"/>
        </a:accent5>
        <a:accent6>
          <a:srgbClr val="D5E0E7"/>
        </a:accent6>
        <a:hlink>
          <a:srgbClr val="CC99FF"/>
        </a:hlink>
        <a:folHlink>
          <a:srgbClr val="F2DF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loons 9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9900"/>
        </a:accent1>
        <a:accent2>
          <a:srgbClr val="FF99CC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B9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默认设计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ngl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90204" pitchFamily="34" charset="0"/>
          <a:buNone/>
          <a:defRPr kumimoji="0" lang="zh-CN" sz="18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黑体" pitchFamily="49" charset="-122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90204" pitchFamily="34" charset="0"/>
          <a:buNone/>
          <a:defRPr kumimoji="0" lang="zh-CN" sz="18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黑体" pitchFamily="49" charset="-122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0</TotalTime>
  <Words>13163</Words>
  <Application>WPS 文字</Application>
  <PresentationFormat>全屏显示(4:3)</PresentationFormat>
  <Paragraphs>1340</Paragraphs>
  <Slides>82</Slides>
  <Notes>52</Notes>
  <HiddenSlides>0</HiddenSlides>
  <MMClips>0</MMClips>
  <ScaleCrop>false</ScaleCrop>
  <HeadingPairs>
    <vt:vector size="8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41</vt:i4>
      </vt:variant>
      <vt:variant>
        <vt:lpstr>幻灯片标题</vt:lpstr>
      </vt:variant>
      <vt:variant>
        <vt:i4>82</vt:i4>
      </vt:variant>
    </vt:vector>
  </HeadingPairs>
  <TitlesOfParts>
    <vt:vector size="153" baseType="lpstr">
      <vt:lpstr>Arial</vt:lpstr>
      <vt:lpstr>宋体</vt:lpstr>
      <vt:lpstr>Wingdings</vt:lpstr>
      <vt:lpstr>Verdana</vt:lpstr>
      <vt:lpstr>汉仪书宋二KW</vt:lpstr>
      <vt:lpstr>微软雅黑</vt:lpstr>
      <vt:lpstr>黑体</vt:lpstr>
      <vt:lpstr>Tahoma</vt:lpstr>
      <vt:lpstr>Symbol</vt:lpstr>
      <vt:lpstr>Kingsoft Sign</vt:lpstr>
      <vt:lpstr>Wingdings 2</vt:lpstr>
      <vt:lpstr>宋体</vt:lpstr>
      <vt:lpstr>Franklin Gothic Medium</vt:lpstr>
      <vt:lpstr>苹方-简</vt:lpstr>
      <vt:lpstr>微软雅黑</vt:lpstr>
      <vt:lpstr>Arial Unicode MS</vt:lpstr>
      <vt:lpstr>Calibri</vt:lpstr>
      <vt:lpstr>Times New Roman</vt:lpstr>
      <vt:lpstr>方正兰亭中黑_GBK</vt:lpstr>
      <vt:lpstr>Franklin Gothic Book</vt:lpstr>
      <vt:lpstr>隶书</vt:lpstr>
      <vt:lpstr>报隶-简</vt:lpstr>
      <vt:lpstr>Symbol</vt:lpstr>
      <vt:lpstr>Wingdings</vt:lpstr>
      <vt:lpstr>Wingdings 2</vt:lpstr>
      <vt:lpstr>黑体</vt:lpstr>
      <vt:lpstr>宋体-简</vt:lpstr>
      <vt:lpstr>Profile</vt:lpstr>
      <vt:lpstr>Balloons</vt:lpstr>
      <vt:lpstr>默认设计模板</vt:lpstr>
      <vt:lpstr>Excel.Sheet.8</vt:lpstr>
      <vt:lpstr>Excel.Sheet.8</vt:lpstr>
      <vt:lpstr>Excel.Sheet.8</vt:lpstr>
      <vt:lpstr>Excel.Sheet.8</vt:lpstr>
      <vt:lpstr>Excel.Sheet.8</vt:lpstr>
      <vt:lpstr>Equation.3</vt:lpstr>
      <vt:lpstr>Equation.3</vt:lpstr>
      <vt:lpstr>Equation.3</vt:lpstr>
      <vt:lpstr>Equation.3</vt:lpstr>
      <vt:lpstr>Equation.3</vt:lpstr>
      <vt:lpstr>Equation.3</vt:lpstr>
      <vt:lpstr>Equation.Ribbit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Equation.3</vt:lpstr>
      <vt:lpstr>PaintShopPro</vt:lpstr>
      <vt:lpstr>Photoshop.Image.5</vt:lpstr>
      <vt:lpstr>Equation.3</vt:lpstr>
      <vt:lpstr>Equation.3</vt:lpstr>
      <vt:lpstr>Equation.3</vt:lpstr>
      <vt:lpstr>Equation.3</vt:lpstr>
      <vt:lpstr>Excel.Sheet.8</vt:lpstr>
      <vt:lpstr>Excel.Sheet.8</vt:lpstr>
      <vt:lpstr>Excel.Sheet.8</vt:lpstr>
      <vt:lpstr>Equation.3</vt:lpstr>
      <vt:lpstr>Visio.Drawing.6</vt:lpstr>
      <vt:lpstr>Equation.3</vt:lpstr>
      <vt:lpstr>Excel.Sheet.8</vt:lpstr>
      <vt:lpstr>Visio.Drawing.6</vt:lpstr>
      <vt:lpstr>Excel.Sheet.8</vt:lpstr>
      <vt:lpstr>Excel.Sheet.8</vt:lpstr>
      <vt:lpstr>Excel.Sheet.8</vt:lpstr>
      <vt:lpstr>Excel.Sheet.8</vt:lpstr>
      <vt:lpstr>PowerPoint 演示文稿</vt:lpstr>
      <vt:lpstr>PowerPoint 演示文稿</vt:lpstr>
      <vt:lpstr>本章内容</vt:lpstr>
      <vt:lpstr>3.1  基本概念</vt:lpstr>
      <vt:lpstr>3.1  基本概念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3.2 由事务数据库挖掘布尔关联规则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本章内容</vt:lpstr>
      <vt:lpstr>3.3  多层关联规则挖掘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本章内容</vt:lpstr>
      <vt:lpstr>3.4 多维关联规则挖掘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本章内容</vt:lpstr>
      <vt:lpstr>3.5 关联规则、相关性、因果关系的区别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总结</vt:lpstr>
    </vt:vector>
  </TitlesOfParts>
  <Company>CCNU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知识服务的内涵与模式</dc:title>
  <dc:creator>CCNUITBXL</dc:creator>
  <cp:lastModifiedBy>铭</cp:lastModifiedBy>
  <cp:revision>816</cp:revision>
  <dcterms:created xsi:type="dcterms:W3CDTF">2025-11-23T03:52:43Z</dcterms:created>
  <dcterms:modified xsi:type="dcterms:W3CDTF">2025-11-23T03:52:43Z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E0E9E0075863A5B7CFA5E26604E615E1_42</vt:lpwstr>
  </property>
  <property fmtid="{D5CDD505-2E9C-101B-9397-08002B2CF9AE}" pid="3" name="KSOProductBuildVer">
    <vt:lpwstr>2052-12.1.23540.23540</vt:lpwstr>
  </property>
</Properties>
</file>